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43.xml" ContentType="application/vnd.openxmlformats-officedocument.drawingml.chart+xml"/>
  <Override PartName="/ppt/charts/chart4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1.xml" ContentType="application/vnd.ms-office.chartcolorstyle+xml"/>
  <Override PartName="/ppt/charts/colors12.xml" ContentType="application/vnd.ms-office.chartcolorstyle+xml"/>
  <Override PartName="/ppt/charts/colors13.xml" ContentType="application/vnd.ms-office.chartcolorstyle+xml"/>
  <Override PartName="/ppt/charts/colors14.xml" ContentType="application/vnd.ms-office.chartcolorstyle+xml"/>
  <Override PartName="/ppt/charts/style11.xml" ContentType="application/vnd.ms-office.chartstyle+xml"/>
  <Override PartName="/ppt/charts/style12.xml" ContentType="application/vnd.ms-office.chartstyle+xml"/>
  <Override PartName="/ppt/charts/style13.xml" ContentType="application/vnd.ms-office.chartstyle+xml"/>
  <Override PartName="/ppt/charts/style14.xml" ContentType="application/vnd.ms-office.chartstyle+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5" r:id="rId2"/>
  </p:sldMasterIdLst>
  <p:notesMasterIdLst>
    <p:notesMasterId r:id="rId117"/>
  </p:notesMasterIdLst>
  <p:sldIdLst>
    <p:sldId id="256" r:id="rId3"/>
    <p:sldId id="313" r:id="rId7"/>
    <p:sldId id="260" r:id="rId4"/>
    <p:sldId id="404" r:id="rId124"/>
    <p:sldId id="405" r:id="rId125"/>
    <p:sldId id="335" r:id="rId51"/>
    <p:sldId id="406" r:id="rId126"/>
    <p:sldId id="325" r:id="rId25"/>
    <p:sldId id="407" r:id="rId127"/>
    <p:sldId id="408" r:id="rId128"/>
    <p:sldId id="409" r:id="rId129"/>
    <p:sldId id="369" r:id="rId109"/>
    <p:sldId id="361" r:id="rId85"/>
    <p:sldId id="410" r:id="rId130"/>
    <p:sldId id="330" r:id="rId41"/>
    <p:sldId id="411" r:id="rId131"/>
    <p:sldId id="412" r:id="rId132"/>
    <p:sldId id="413" r:id="rId133"/>
    <p:sldId id="414" r:id="rId134"/>
    <p:sldId id="415" r:id="rId135"/>
    <p:sldId id="416" r:id="rId136"/>
    <p:sldId id="417" r:id="rId137"/>
    <p:sldId id="418" r:id="rId138"/>
    <p:sldId id="419" r:id="rId139"/>
    <p:sldId id="420" r:id="rId140"/>
    <p:sldId id="421" r:id="rId141"/>
    <p:sldId id="422" r:id="rId142"/>
    <p:sldId id="423" r:id="rId143"/>
    <p:sldId id="424" r:id="rId144"/>
    <p:sldId id="425" r:id="rId145"/>
    <p:sldId id="312" r:id="rId11"/>
    <p:sldId id="426" r:id="rId146"/>
    <p:sldId id="427" r:id="rId147"/>
    <p:sldId id="428" r:id="rId148"/>
    <p:sldId id="429" r:id="rId149"/>
    <p:sldId id="430" r:id="rId150"/>
    <p:sldId id="431" r:id="rId151"/>
    <p:sldId id="316" r:id="rId15"/>
    <p:sldId id="432" r:id="rId152"/>
    <p:sldId id="433" r:id="rId153"/>
    <p:sldId id="434" r:id="rId154"/>
    <p:sldId id="435" r:id="rId155"/>
    <p:sldId id="436" r:id="rId156"/>
    <p:sldId id="437" r:id="rId157"/>
    <p:sldId id="438" r:id="rId158"/>
    <p:sldId id="439" r:id="rId159"/>
    <p:sldId id="440" r:id="rId160"/>
    <p:sldId id="441" r:id="rId161"/>
    <p:sldId id="442" r:id="rId162"/>
    <p:sldId id="443" r:id="rId163"/>
    <p:sldId id="444" r:id="rId164"/>
    <p:sldId id="445" r:id="rId165"/>
    <p:sldId id="446" r:id="rId166"/>
    <p:sldId id="447" r:id="rId167"/>
    <p:sldId id="448" r:id="rId168"/>
    <p:sldId id="449" r:id="rId169"/>
    <p:sldId id="450" r:id="rId170"/>
    <p:sldId id="451" r:id="rId171"/>
    <p:sldId id="452" r:id="rId172"/>
    <p:sldId id="453" r:id="rId173"/>
    <p:sldId id="454" r:id="rId174"/>
    <p:sldId id="455" r:id="rId175"/>
    <p:sldId id="456" r:id="rId176"/>
    <p:sldId id="457" r:id="rId177"/>
    <p:sldId id="458" r:id="rId178"/>
    <p:sldId id="459" r:id="rId179"/>
    <p:sldId id="460" r:id="rId180"/>
    <p:sldId id="461" r:id="rId181"/>
    <p:sldId id="462" r:id="rId182"/>
    <p:sldId id="463" r:id="rId183"/>
    <p:sldId id="464" r:id="rId184"/>
    <p:sldId id="465" r:id="rId185"/>
    <p:sldId id="466" r:id="rId186"/>
    <p:sldId id="467" r:id="rId187"/>
    <p:sldId id="468" r:id="rId188"/>
    <p:sldId id="469" r:id="rId189"/>
    <p:sldId id="470" r:id="rId190"/>
    <p:sldId id="471" r:id="rId191"/>
    <p:sldId id="472" r:id="rId192"/>
    <p:sldId id="473" r:id="rId193"/>
    <p:sldId id="474" r:id="rId194"/>
    <p:sldId id="475" r:id="rId195"/>
    <p:sldId id="476" r:id="rId196"/>
    <p:sldId id="477" r:id="rId197"/>
    <p:sldId id="478" r:id="rId198"/>
    <p:sldId id="479" r:id="rId199"/>
    <p:sldId id="480" r:id="rId200"/>
    <p:sldId id="481" r:id="rId201"/>
    <p:sldId id="482" r:id="rId202"/>
    <p:sldId id="483" r:id="rId203"/>
    <p:sldId id="484" r:id="rId204"/>
    <p:sldId id="485" r:id="rId205"/>
    <p:sldId id="486" r:id="rId206"/>
    <p:sldId id="487" r:id="rId207"/>
    <p:sldId id="488" r:id="rId208"/>
    <p:sldId id="489" r:id="rId209"/>
    <p:sldId id="490" r:id="rId210"/>
    <p:sldId id="491" r:id="rId211"/>
    <p:sldId id="492" r:id="rId212"/>
    <p:sldId id="493" r:id="rId213"/>
    <p:sldId id="494" r:id="rId214"/>
    <p:sldId id="495" r:id="rId215"/>
    <p:sldId id="496" r:id="rId216"/>
    <p:sldId id="497" r:id="rId217"/>
    <p:sldId id="498" r:id="rId218"/>
    <p:sldId id="499" r:id="rId219"/>
    <p:sldId id="500" r:id="rId220"/>
    <p:sldId id="501" r:id="rId221"/>
    <p:sldId id="502" r:id="rId222"/>
    <p:sldId id="503" r:id="rId223"/>
    <p:sldId id="504" r:id="rId224"/>
    <p:sldId id="505" r:id="rId225"/>
    <p:sldId id="506" r:id="rId226"/>
    <p:sldId id="507" r:id="rId227"/>
    <p:sldId id="508" r:id="rId228"/>
    <p:sldId id="509" r:id="rId229"/>
    <p:sldId id="510" r:id="rId230"/>
    <p:sldId id="511" r:id="rId231"/>
    <p:sldId id="512" r:id="rId232"/>
    <p:sldId id="513" r:id="rId233"/>
    <p:sldId id="514" r:id="rId234"/>
    <p:sldId id="515" r:id="rId235"/>
    <p:sldId id="516" r:id="rId236"/>
    <p:sldId id="517" r:id="rId237"/>
    <p:sldId id="518" r:id="rId238"/>
    <p:sldId id="519" r:id="rId239"/>
    <p:sldId id="520" r:id="rId240"/>
    <p:sldId id="521" r:id="rId241"/>
    <p:sldId id="522" r:id="rId242"/>
    <p:sldId id="523" r:id="rId243"/>
    <p:sldId id="524" r:id="rId244"/>
    <p:sldId id="525" r:id="rId245"/>
    <p:sldId id="526" r:id="rId246"/>
    <p:sldId id="527" r:id="rId247"/>
    <p:sldId id="528" r:id="rId248"/>
    <p:sldId id="399" r:id="rId33"/>
    <p:sldId id="529" r:id="rId249"/>
    <p:sldId id="530" r:id="rId250"/>
    <p:sldId id="329" r:id="rId31"/>
    <p:sldId id="531" r:id="rId251"/>
    <p:sldId id="532" r:id="rId252"/>
    <p:sldId id="533" r:id="rId253"/>
    <p:sldId id="534" r:id="rId254"/>
    <p:sldId id="535" r:id="rId255"/>
    <p:sldId id="536" r:id="rId256"/>
    <p:sldId id="537" r:id="rId257"/>
    <p:sldId id="538" r:id="rId258"/>
    <p:sldId id="539" r:id="rId259"/>
    <p:sldId id="540" r:id="rId260"/>
    <p:sldId id="541" r:id="rId261"/>
    <p:sldId id="542" r:id="rId262"/>
    <p:sldId id="543" r:id="rId263"/>
    <p:sldId id="544" r:id="rId264"/>
    <p:sldId id="545" r:id="rId265"/>
    <p:sldId id="546" r:id="rId266"/>
    <p:sldId id="547" r:id="rId267"/>
    <p:sldId id="548" r:id="rId268"/>
    <p:sldId id="549" r:id="rId269"/>
    <p:sldId id="550" r:id="rId270"/>
    <p:sldId id="551" r:id="rId271"/>
    <p:sldId id="552" r:id="rId272"/>
    <p:sldId id="553" r:id="rId273"/>
    <p:sldId id="554" r:id="rId274"/>
    <p:sldId id="555" r:id="rId275"/>
    <p:sldId id="556" r:id="rId276"/>
    <p:sldId id="557" r:id="rId277"/>
    <p:sldId id="558" r:id="rId278"/>
    <p:sldId id="559" r:id="rId279"/>
    <p:sldId id="560" r:id="rId280"/>
    <p:sldId id="561" r:id="rId281"/>
    <p:sldId id="562" r:id="rId282"/>
    <p:sldId id="563" r:id="rId283"/>
    <p:sldId id="564" r:id="rId284"/>
    <p:sldId id="565" r:id="rId285"/>
    <p:sldId id="566" r:id="rId286"/>
    <p:sldId id="567" r:id="rId287"/>
    <p:sldId id="568" r:id="rId288"/>
    <p:sldId id="569" r:id="rId289"/>
    <p:sldId id="570" r:id="rId290"/>
    <p:sldId id="571" r:id="rId291"/>
    <p:sldId id="572" r:id="rId292"/>
    <p:sldId id="573" r:id="rId293"/>
    <p:sldId id="574" r:id="rId294"/>
    <p:sldId id="575" r:id="rId295"/>
    <p:sldId id="576" r:id="rId296"/>
    <p:sldId id="577" r:id="rId297"/>
    <p:sldId id="578" r:id="rId298"/>
    <p:sldId id="332" r:id="rId43"/>
    <p:sldId id="579" r:id="rId299"/>
    <p:sldId id="580" r:id="rId300"/>
    <p:sldId id="581" r:id="rId301"/>
    <p:sldId id="582" r:id="rId302"/>
    <p:sldId id="583" r:id="rId303"/>
    <p:sldId id="584" r:id="rId304"/>
    <p:sldId id="585" r:id="rId305"/>
    <p:sldId id="586" r:id="rId306"/>
    <p:sldId id="587" r:id="rId307"/>
    <p:sldId id="588" r:id="rId308"/>
    <p:sldId id="589" r:id="rId309"/>
    <p:sldId id="590" r:id="rId310"/>
    <p:sldId id="591" r:id="rId311"/>
    <p:sldId id="592" r:id="rId312"/>
    <p:sldId id="593" r:id="rId313"/>
    <p:sldId id="594" r:id="rId314"/>
    <p:sldId id="595" r:id="rId315"/>
    <p:sldId id="596" r:id="rId316"/>
    <p:sldId id="597" r:id="rId317"/>
    <p:sldId id="598" r:id="rId318"/>
    <p:sldId id="599" r:id="rId319"/>
    <p:sldId id="600" r:id="rId320"/>
    <p:sldId id="601" r:id="rId321"/>
    <p:sldId id="602" r:id="rId322"/>
    <p:sldId id="603" r:id="rId323"/>
    <p:sldId id="604" r:id="rId324"/>
    <p:sldId id="605" r:id="rId325"/>
    <p:sldId id="606" r:id="rId326"/>
    <p:sldId id="607" r:id="rId327"/>
    <p:sldId id="608" r:id="rId328"/>
    <p:sldId id="609" r:id="rId329"/>
    <p:sldId id="610" r:id="rId330"/>
    <p:sldId id="611" r:id="rId331"/>
    <p:sldId id="612" r:id="rId332"/>
    <p:sldId id="613" r:id="rId333"/>
    <p:sldId id="614" r:id="rId334"/>
    <p:sldId id="615" r:id="rId335"/>
    <p:sldId id="616" r:id="rId336"/>
    <p:sldId id="617" r:id="rId337"/>
    <p:sldId id="618" r:id="rId338"/>
    <p:sldId id="619" r:id="rId339"/>
    <p:sldId id="620" r:id="rId340"/>
    <p:sldId id="621" r:id="rId341"/>
    <p:sldId id="622" r:id="rId342"/>
    <p:sldId id="328" r:id="rId11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uverture" id="{9C8FC9B7-AD45-409C-8017-02DEBDF9C938}">
          <p14:sldIdLst>
            <p14:sldId id="256"/>
          </p14:sldIdLst>
        </p14:section>
        <p14:section name="Contenu" id="{41430ABC-712C-4A41-8691-5284113E2CD9}">
          <p14:sldIdLst>
            <p14:sldId id="260"/>
            <p14:sldId id="261"/>
            <p14:sldId id="310"/>
            <p14:sldId id="313"/>
            <p14:sldId id="403"/>
            <p14:sldId id="402"/>
            <p14:sldId id="291"/>
            <p14:sldId id="312"/>
            <p14:sldId id="314"/>
            <p14:sldId id="317"/>
            <p14:sldId id="315"/>
            <p14:sldId id="316"/>
            <p14:sldId id="323"/>
            <p14:sldId id="324"/>
            <p14:sldId id="321"/>
            <p14:sldId id="322"/>
            <p14:sldId id="264"/>
            <p14:sldId id="318"/>
            <p14:sldId id="319"/>
            <p14:sldId id="320"/>
            <p14:sldId id="326"/>
            <p14:sldId id="325"/>
            <p14:sldId id="266"/>
            <p14:sldId id="327"/>
            <p14:sldId id="268"/>
            <p14:sldId id="271"/>
            <p14:sldId id="287"/>
            <p14:sldId id="329"/>
            <p14:sldId id="398"/>
            <p14:sldId id="399"/>
            <p14:sldId id="391"/>
            <p14:sldId id="397"/>
            <p14:sldId id="395"/>
            <p14:sldId id="396"/>
            <p14:sldId id="393"/>
            <p14:sldId id="392"/>
            <p14:sldId id="270"/>
            <p14:sldId id="330"/>
            <p14:sldId id="331"/>
            <p14:sldId id="332"/>
            <p14:sldId id="272"/>
            <p14:sldId id="333"/>
            <p14:sldId id="289"/>
            <p14:sldId id="334"/>
            <p14:sldId id="277"/>
            <p14:sldId id="278"/>
            <p14:sldId id="274"/>
            <p14:sldId id="335"/>
            <p14:sldId id="336"/>
            <p14:sldId id="348"/>
            <p14:sldId id="341"/>
            <p14:sldId id="349"/>
            <p14:sldId id="342"/>
            <p14:sldId id="350"/>
            <p14:sldId id="343"/>
            <p14:sldId id="351"/>
            <p14:sldId id="344"/>
            <p14:sldId id="352"/>
            <p14:sldId id="345"/>
            <p14:sldId id="353"/>
            <p14:sldId id="346"/>
            <p14:sldId id="354"/>
            <p14:sldId id="347"/>
            <p14:sldId id="355"/>
            <p14:sldId id="338"/>
            <p14:sldId id="356"/>
            <p14:sldId id="337"/>
            <p14:sldId id="357"/>
            <p14:sldId id="276"/>
            <p14:sldId id="358"/>
            <p14:sldId id="339"/>
            <p14:sldId id="359"/>
            <p14:sldId id="381"/>
            <p14:sldId id="385"/>
            <p14:sldId id="382"/>
            <p14:sldId id="400"/>
            <p14:sldId id="294"/>
            <p14:sldId id="360"/>
            <p14:sldId id="285"/>
            <p14:sldId id="286"/>
            <p14:sldId id="299"/>
            <p14:sldId id="361"/>
            <p14:sldId id="362"/>
            <p14:sldId id="283"/>
            <p14:sldId id="297"/>
            <p14:sldId id="365"/>
            <p14:sldId id="364"/>
            <p14:sldId id="363"/>
            <p14:sldId id="366"/>
            <p14:sldId id="367"/>
            <p14:sldId id="368"/>
            <p14:sldId id="370"/>
            <p14:sldId id="374"/>
            <p14:sldId id="375"/>
          </p14:sldIdLst>
        </p14:section>
        <p14:section name="Graphs" id="{551B27DB-FB3B-4066-9154-1B46F0A65216}">
          <p14:sldIdLst>
            <p14:sldId id="301"/>
            <p14:sldId id="304"/>
            <p14:sldId id="303"/>
            <p14:sldId id="302"/>
            <p14:sldId id="305"/>
            <p14:sldId id="306"/>
            <p14:sldId id="378"/>
            <p14:sldId id="376"/>
            <p14:sldId id="379"/>
            <p14:sldId id="388"/>
            <p14:sldId id="307"/>
            <p14:sldId id="369"/>
            <p14:sldId id="389"/>
            <p14:sldId id="390"/>
          </p14:sldIdLst>
        </p14:section>
        <p14:section name="Merci" id="{DE1A67E5-D1FE-41AF-88BB-A85595BA690B}">
          <p14:sldIdLst>
            <p14:sldId id="328"/>
          </p14:sldIdLst>
        </p14:section>
        <p14:section name="Symboles" id="{49175908-295D-4406-8512-BB62EA88444D}">
          <p14:sldIdLst>
            <p14:sldId id="371"/>
            <p14:sldId id="373"/>
            <p14:sldId id="401"/>
            <p14:sldId id="3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AC62"/>
    <a:srgbClr val="060606"/>
    <a:srgbClr val="112A4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4BD68B-DEB5-4C72-B758-AA0E2A02C403}" v="4" dt="2026-09-23T09:25:47.7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3.xml"/><Relationship Id="rId7" Type="http://schemas.openxmlformats.org/officeDocument/2006/relationships/slide" Target="slides/slide2.xml"/><Relationship Id="rId11" Type="http://schemas.openxmlformats.org/officeDocument/2006/relationships/slide" Target="slides/slide31.xml"/><Relationship Id="rId15" Type="http://schemas.openxmlformats.org/officeDocument/2006/relationships/slide" Target="slides/slide38.xml"/><Relationship Id="rId25" Type="http://schemas.openxmlformats.org/officeDocument/2006/relationships/slide" Target="slides/slide8.xml"/><Relationship Id="rId31" Type="http://schemas.openxmlformats.org/officeDocument/2006/relationships/slide" Target="slides/slide139.xml"/><Relationship Id="rId33" Type="http://schemas.openxmlformats.org/officeDocument/2006/relationships/slide" Target="slides/slide136.xml"/><Relationship Id="rId41" Type="http://schemas.openxmlformats.org/officeDocument/2006/relationships/slide" Target="slides/slide15.xml"/><Relationship Id="rId43" Type="http://schemas.openxmlformats.org/officeDocument/2006/relationships/slide" Target="slides/slide188.xml"/><Relationship Id="rId51" Type="http://schemas.openxmlformats.org/officeDocument/2006/relationships/slide" Target="slides/slide6.xml"/><Relationship Id="rId85" Type="http://schemas.openxmlformats.org/officeDocument/2006/relationships/slide" Target="slides/slide13.xml"/><Relationship Id="rId109" Type="http://schemas.openxmlformats.org/officeDocument/2006/relationships/slide" Target="slides/slide12.xml"/><Relationship Id="rId112" Type="http://schemas.openxmlformats.org/officeDocument/2006/relationships/slide" Target="slides/slide233.xml"/><Relationship Id="rId117" Type="http://schemas.openxmlformats.org/officeDocument/2006/relationships/notesMaster" Target="notesMasters/notesMaster1.xml"/><Relationship Id="rId118" Type="http://schemas.openxmlformats.org/officeDocument/2006/relationships/presProps" Target="presProps.xml"/><Relationship Id="rId119" Type="http://schemas.openxmlformats.org/officeDocument/2006/relationships/viewProps" Target="viewProps.xml"/><Relationship Id="rId120" Type="http://schemas.openxmlformats.org/officeDocument/2006/relationships/theme" Target="theme/theme1.xml"/><Relationship Id="rId121" Type="http://schemas.openxmlformats.org/officeDocument/2006/relationships/tableStyles" Target="tableStyles.xml"/><Relationship Id="rId122" Type="http://schemas.microsoft.com/office/2016/11/relationships/changesInfo" Target="changesInfos/changesInfo1.xml"/><Relationship Id="rId123" Type="http://schemas.microsoft.com/office/2015/10/relationships/revisionInfo" Target="revisionInfo.xml"/><Relationship Id="rId124" Type="http://schemas.openxmlformats.org/officeDocument/2006/relationships/slide" Target="slides/slide4.xml"/><Relationship Id="rId125" Type="http://schemas.openxmlformats.org/officeDocument/2006/relationships/slide" Target="slides/slide5.xml"/><Relationship Id="rId126" Type="http://schemas.openxmlformats.org/officeDocument/2006/relationships/slide" Target="slides/slide7.xml"/><Relationship Id="rId127" Type="http://schemas.openxmlformats.org/officeDocument/2006/relationships/slide" Target="slides/slide9.xml"/><Relationship Id="rId128" Type="http://schemas.openxmlformats.org/officeDocument/2006/relationships/slide" Target="slides/slide10.xml"/><Relationship Id="rId129" Type="http://schemas.openxmlformats.org/officeDocument/2006/relationships/slide" Target="slides/slide11.xml"/><Relationship Id="rId130" Type="http://schemas.openxmlformats.org/officeDocument/2006/relationships/slide" Target="slides/slide14.xml"/><Relationship Id="rId131" Type="http://schemas.openxmlformats.org/officeDocument/2006/relationships/slide" Target="slides/slide16.xml"/><Relationship Id="rId132" Type="http://schemas.openxmlformats.org/officeDocument/2006/relationships/slide" Target="slides/slide17.xml"/><Relationship Id="rId133" Type="http://schemas.openxmlformats.org/officeDocument/2006/relationships/slide" Target="slides/slide18.xml"/><Relationship Id="rId134" Type="http://schemas.openxmlformats.org/officeDocument/2006/relationships/slide" Target="slides/slide19.xml"/><Relationship Id="rId135" Type="http://schemas.openxmlformats.org/officeDocument/2006/relationships/slide" Target="slides/slide20.xml"/><Relationship Id="rId136" Type="http://schemas.openxmlformats.org/officeDocument/2006/relationships/slide" Target="slides/slide21.xml"/><Relationship Id="rId137" Type="http://schemas.openxmlformats.org/officeDocument/2006/relationships/slide" Target="slides/slide22.xml"/><Relationship Id="rId138" Type="http://schemas.openxmlformats.org/officeDocument/2006/relationships/slide" Target="slides/slide23.xml"/><Relationship Id="rId139" Type="http://schemas.openxmlformats.org/officeDocument/2006/relationships/slide" Target="slides/slide24.xml"/><Relationship Id="rId140" Type="http://schemas.openxmlformats.org/officeDocument/2006/relationships/slide" Target="slides/slide25.xml"/><Relationship Id="rId141" Type="http://schemas.openxmlformats.org/officeDocument/2006/relationships/slide" Target="slides/slide26.xml"/><Relationship Id="rId142" Type="http://schemas.openxmlformats.org/officeDocument/2006/relationships/slide" Target="slides/slide27.xml"/><Relationship Id="rId143" Type="http://schemas.openxmlformats.org/officeDocument/2006/relationships/slide" Target="slides/slide28.xml"/><Relationship Id="rId144" Type="http://schemas.openxmlformats.org/officeDocument/2006/relationships/slide" Target="slides/slide29.xml"/><Relationship Id="rId145" Type="http://schemas.openxmlformats.org/officeDocument/2006/relationships/slide" Target="slides/slide30.xml"/><Relationship Id="rId146" Type="http://schemas.openxmlformats.org/officeDocument/2006/relationships/slide" Target="slides/slide32.xml"/><Relationship Id="rId147" Type="http://schemas.openxmlformats.org/officeDocument/2006/relationships/slide" Target="slides/slide33.xml"/><Relationship Id="rId148" Type="http://schemas.openxmlformats.org/officeDocument/2006/relationships/slide" Target="slides/slide34.xml"/><Relationship Id="rId149" Type="http://schemas.openxmlformats.org/officeDocument/2006/relationships/slide" Target="slides/slide35.xml"/><Relationship Id="rId150" Type="http://schemas.openxmlformats.org/officeDocument/2006/relationships/slide" Target="slides/slide36.xml"/><Relationship Id="rId151" Type="http://schemas.openxmlformats.org/officeDocument/2006/relationships/slide" Target="slides/slide37.xml"/><Relationship Id="rId152" Type="http://schemas.openxmlformats.org/officeDocument/2006/relationships/slide" Target="slides/slide39.xml"/><Relationship Id="rId153" Type="http://schemas.openxmlformats.org/officeDocument/2006/relationships/slide" Target="slides/slide40.xml"/><Relationship Id="rId154" Type="http://schemas.openxmlformats.org/officeDocument/2006/relationships/slide" Target="slides/slide41.xml"/><Relationship Id="rId155" Type="http://schemas.openxmlformats.org/officeDocument/2006/relationships/slide" Target="slides/slide42.xml"/><Relationship Id="rId156" Type="http://schemas.openxmlformats.org/officeDocument/2006/relationships/slide" Target="slides/slide43.xml"/><Relationship Id="rId157" Type="http://schemas.openxmlformats.org/officeDocument/2006/relationships/slide" Target="slides/slide44.xml"/><Relationship Id="rId158" Type="http://schemas.openxmlformats.org/officeDocument/2006/relationships/slide" Target="slides/slide45.xml"/><Relationship Id="rId159" Type="http://schemas.openxmlformats.org/officeDocument/2006/relationships/slide" Target="slides/slide46.xml"/><Relationship Id="rId160" Type="http://schemas.openxmlformats.org/officeDocument/2006/relationships/slide" Target="slides/slide47.xml"/><Relationship Id="rId161" Type="http://schemas.openxmlformats.org/officeDocument/2006/relationships/slide" Target="slides/slide48.xml"/><Relationship Id="rId162" Type="http://schemas.openxmlformats.org/officeDocument/2006/relationships/slide" Target="slides/slide49.xml"/><Relationship Id="rId163" Type="http://schemas.openxmlformats.org/officeDocument/2006/relationships/slide" Target="slides/slide50.xml"/><Relationship Id="rId164" Type="http://schemas.openxmlformats.org/officeDocument/2006/relationships/slide" Target="slides/slide51.xml"/><Relationship Id="rId165" Type="http://schemas.openxmlformats.org/officeDocument/2006/relationships/slide" Target="slides/slide52.xml"/><Relationship Id="rId166" Type="http://schemas.openxmlformats.org/officeDocument/2006/relationships/slide" Target="slides/slide53.xml"/><Relationship Id="rId167" Type="http://schemas.openxmlformats.org/officeDocument/2006/relationships/slide" Target="slides/slide54.xml"/><Relationship Id="rId168" Type="http://schemas.openxmlformats.org/officeDocument/2006/relationships/slide" Target="slides/slide55.xml"/><Relationship Id="rId169" Type="http://schemas.openxmlformats.org/officeDocument/2006/relationships/slide" Target="slides/slide56.xml"/><Relationship Id="rId170" Type="http://schemas.openxmlformats.org/officeDocument/2006/relationships/slide" Target="slides/slide57.xml"/><Relationship Id="rId171" Type="http://schemas.openxmlformats.org/officeDocument/2006/relationships/slide" Target="slides/slide58.xml"/><Relationship Id="rId172" Type="http://schemas.openxmlformats.org/officeDocument/2006/relationships/slide" Target="slides/slide59.xml"/><Relationship Id="rId173" Type="http://schemas.openxmlformats.org/officeDocument/2006/relationships/slide" Target="slides/slide60.xml"/><Relationship Id="rId174" Type="http://schemas.openxmlformats.org/officeDocument/2006/relationships/slide" Target="slides/slide61.xml"/><Relationship Id="rId175" Type="http://schemas.openxmlformats.org/officeDocument/2006/relationships/slide" Target="slides/slide62.xml"/><Relationship Id="rId176" Type="http://schemas.openxmlformats.org/officeDocument/2006/relationships/slide" Target="slides/slide63.xml"/><Relationship Id="rId177" Type="http://schemas.openxmlformats.org/officeDocument/2006/relationships/slide" Target="slides/slide64.xml"/><Relationship Id="rId178" Type="http://schemas.openxmlformats.org/officeDocument/2006/relationships/slide" Target="slides/slide65.xml"/><Relationship Id="rId179" Type="http://schemas.openxmlformats.org/officeDocument/2006/relationships/slide" Target="slides/slide66.xml"/><Relationship Id="rId180" Type="http://schemas.openxmlformats.org/officeDocument/2006/relationships/slide" Target="slides/slide67.xml"/><Relationship Id="rId181" Type="http://schemas.openxmlformats.org/officeDocument/2006/relationships/slide" Target="slides/slide68.xml"/><Relationship Id="rId182" Type="http://schemas.openxmlformats.org/officeDocument/2006/relationships/slide" Target="slides/slide69.xml"/><Relationship Id="rId183" Type="http://schemas.openxmlformats.org/officeDocument/2006/relationships/slide" Target="slides/slide70.xml"/><Relationship Id="rId184" Type="http://schemas.openxmlformats.org/officeDocument/2006/relationships/slide" Target="slides/slide71.xml"/><Relationship Id="rId185" Type="http://schemas.openxmlformats.org/officeDocument/2006/relationships/slide" Target="slides/slide72.xml"/><Relationship Id="rId186" Type="http://schemas.openxmlformats.org/officeDocument/2006/relationships/slide" Target="slides/slide73.xml"/><Relationship Id="rId187" Type="http://schemas.openxmlformats.org/officeDocument/2006/relationships/slide" Target="slides/slide74.xml"/><Relationship Id="rId188" Type="http://schemas.openxmlformats.org/officeDocument/2006/relationships/slide" Target="slides/slide75.xml"/><Relationship Id="rId189" Type="http://schemas.openxmlformats.org/officeDocument/2006/relationships/slide" Target="slides/slide76.xml"/><Relationship Id="rId190" Type="http://schemas.openxmlformats.org/officeDocument/2006/relationships/slide" Target="slides/slide77.xml"/><Relationship Id="rId191" Type="http://schemas.openxmlformats.org/officeDocument/2006/relationships/slide" Target="slides/slide78.xml"/><Relationship Id="rId192" Type="http://schemas.openxmlformats.org/officeDocument/2006/relationships/slide" Target="slides/slide79.xml"/><Relationship Id="rId193" Type="http://schemas.openxmlformats.org/officeDocument/2006/relationships/slide" Target="slides/slide80.xml"/><Relationship Id="rId194" Type="http://schemas.openxmlformats.org/officeDocument/2006/relationships/slide" Target="slides/slide81.xml"/><Relationship Id="rId195" Type="http://schemas.openxmlformats.org/officeDocument/2006/relationships/slide" Target="slides/slide82.xml"/><Relationship Id="rId196" Type="http://schemas.openxmlformats.org/officeDocument/2006/relationships/slide" Target="slides/slide83.xml"/><Relationship Id="rId197" Type="http://schemas.openxmlformats.org/officeDocument/2006/relationships/slide" Target="slides/slide84.xml"/><Relationship Id="rId198" Type="http://schemas.openxmlformats.org/officeDocument/2006/relationships/slide" Target="slides/slide85.xml"/><Relationship Id="rId199" Type="http://schemas.openxmlformats.org/officeDocument/2006/relationships/slide" Target="slides/slide86.xml"/><Relationship Id="rId200" Type="http://schemas.openxmlformats.org/officeDocument/2006/relationships/slide" Target="slides/slide87.xml"/><Relationship Id="rId201" Type="http://schemas.openxmlformats.org/officeDocument/2006/relationships/slide" Target="slides/slide88.xml"/><Relationship Id="rId202" Type="http://schemas.openxmlformats.org/officeDocument/2006/relationships/slide" Target="slides/slide89.xml"/><Relationship Id="rId203" Type="http://schemas.openxmlformats.org/officeDocument/2006/relationships/slide" Target="slides/slide90.xml"/><Relationship Id="rId204" Type="http://schemas.openxmlformats.org/officeDocument/2006/relationships/slide" Target="slides/slide91.xml"/><Relationship Id="rId205" Type="http://schemas.openxmlformats.org/officeDocument/2006/relationships/slide" Target="slides/slide92.xml"/><Relationship Id="rId206" Type="http://schemas.openxmlformats.org/officeDocument/2006/relationships/slide" Target="slides/slide93.xml"/><Relationship Id="rId207" Type="http://schemas.openxmlformats.org/officeDocument/2006/relationships/slide" Target="slides/slide94.xml"/><Relationship Id="rId208" Type="http://schemas.openxmlformats.org/officeDocument/2006/relationships/slide" Target="slides/slide95.xml"/><Relationship Id="rId209" Type="http://schemas.openxmlformats.org/officeDocument/2006/relationships/slide" Target="slides/slide96.xml"/><Relationship Id="rId210" Type="http://schemas.openxmlformats.org/officeDocument/2006/relationships/slide" Target="slides/slide97.xml"/><Relationship Id="rId211" Type="http://schemas.openxmlformats.org/officeDocument/2006/relationships/slide" Target="slides/slide98.xml"/><Relationship Id="rId212" Type="http://schemas.openxmlformats.org/officeDocument/2006/relationships/slide" Target="slides/slide99.xml"/><Relationship Id="rId213" Type="http://schemas.openxmlformats.org/officeDocument/2006/relationships/slide" Target="slides/slide100.xml"/><Relationship Id="rId214" Type="http://schemas.openxmlformats.org/officeDocument/2006/relationships/slide" Target="slides/slide101.xml"/><Relationship Id="rId215" Type="http://schemas.openxmlformats.org/officeDocument/2006/relationships/slide" Target="slides/slide102.xml"/><Relationship Id="rId216" Type="http://schemas.openxmlformats.org/officeDocument/2006/relationships/slide" Target="slides/slide103.xml"/><Relationship Id="rId217" Type="http://schemas.openxmlformats.org/officeDocument/2006/relationships/slide" Target="slides/slide104.xml"/><Relationship Id="rId218" Type="http://schemas.openxmlformats.org/officeDocument/2006/relationships/slide" Target="slides/slide105.xml"/><Relationship Id="rId219" Type="http://schemas.openxmlformats.org/officeDocument/2006/relationships/slide" Target="slides/slide106.xml"/><Relationship Id="rId220" Type="http://schemas.openxmlformats.org/officeDocument/2006/relationships/slide" Target="slides/slide107.xml"/><Relationship Id="rId221" Type="http://schemas.openxmlformats.org/officeDocument/2006/relationships/slide" Target="slides/slide108.xml"/><Relationship Id="rId222" Type="http://schemas.openxmlformats.org/officeDocument/2006/relationships/slide" Target="slides/slide109.xml"/><Relationship Id="rId223" Type="http://schemas.openxmlformats.org/officeDocument/2006/relationships/slide" Target="slides/slide110.xml"/><Relationship Id="rId224" Type="http://schemas.openxmlformats.org/officeDocument/2006/relationships/slide" Target="slides/slide111.xml"/><Relationship Id="rId225" Type="http://schemas.openxmlformats.org/officeDocument/2006/relationships/slide" Target="slides/slide112.xml"/><Relationship Id="rId226" Type="http://schemas.openxmlformats.org/officeDocument/2006/relationships/slide" Target="slides/slide113.xml"/><Relationship Id="rId227" Type="http://schemas.openxmlformats.org/officeDocument/2006/relationships/slide" Target="slides/slide114.xml"/><Relationship Id="rId228" Type="http://schemas.openxmlformats.org/officeDocument/2006/relationships/slide" Target="slides/slide115.xml"/><Relationship Id="rId229" Type="http://schemas.openxmlformats.org/officeDocument/2006/relationships/slide" Target="slides/slide116.xml"/><Relationship Id="rId230" Type="http://schemas.openxmlformats.org/officeDocument/2006/relationships/slide" Target="slides/slide117.xml"/><Relationship Id="rId231" Type="http://schemas.openxmlformats.org/officeDocument/2006/relationships/slide" Target="slides/slide118.xml"/><Relationship Id="rId232" Type="http://schemas.openxmlformats.org/officeDocument/2006/relationships/slide" Target="slides/slide119.xml"/><Relationship Id="rId233" Type="http://schemas.openxmlformats.org/officeDocument/2006/relationships/slide" Target="slides/slide120.xml"/><Relationship Id="rId234" Type="http://schemas.openxmlformats.org/officeDocument/2006/relationships/slide" Target="slides/slide121.xml"/><Relationship Id="rId235" Type="http://schemas.openxmlformats.org/officeDocument/2006/relationships/slide" Target="slides/slide122.xml"/><Relationship Id="rId236" Type="http://schemas.openxmlformats.org/officeDocument/2006/relationships/slide" Target="slides/slide123.xml"/><Relationship Id="rId237" Type="http://schemas.openxmlformats.org/officeDocument/2006/relationships/slide" Target="slides/slide124.xml"/><Relationship Id="rId238" Type="http://schemas.openxmlformats.org/officeDocument/2006/relationships/slide" Target="slides/slide125.xml"/><Relationship Id="rId239" Type="http://schemas.openxmlformats.org/officeDocument/2006/relationships/slide" Target="slides/slide126.xml"/><Relationship Id="rId240" Type="http://schemas.openxmlformats.org/officeDocument/2006/relationships/slide" Target="slides/slide127.xml"/><Relationship Id="rId241" Type="http://schemas.openxmlformats.org/officeDocument/2006/relationships/slide" Target="slides/slide128.xml"/><Relationship Id="rId242" Type="http://schemas.openxmlformats.org/officeDocument/2006/relationships/slide" Target="slides/slide129.xml"/><Relationship Id="rId243" Type="http://schemas.openxmlformats.org/officeDocument/2006/relationships/slide" Target="slides/slide130.xml"/><Relationship Id="rId244" Type="http://schemas.openxmlformats.org/officeDocument/2006/relationships/slide" Target="slides/slide131.xml"/><Relationship Id="rId245" Type="http://schemas.openxmlformats.org/officeDocument/2006/relationships/slide" Target="slides/slide132.xml"/><Relationship Id="rId246" Type="http://schemas.openxmlformats.org/officeDocument/2006/relationships/slide" Target="slides/slide133.xml"/><Relationship Id="rId247" Type="http://schemas.openxmlformats.org/officeDocument/2006/relationships/slide" Target="slides/slide134.xml"/><Relationship Id="rId248" Type="http://schemas.openxmlformats.org/officeDocument/2006/relationships/slide" Target="slides/slide135.xml"/><Relationship Id="rId249" Type="http://schemas.openxmlformats.org/officeDocument/2006/relationships/slide" Target="slides/slide137.xml"/><Relationship Id="rId250" Type="http://schemas.openxmlformats.org/officeDocument/2006/relationships/slide" Target="slides/slide138.xml"/><Relationship Id="rId251" Type="http://schemas.openxmlformats.org/officeDocument/2006/relationships/slide" Target="slides/slide140.xml"/><Relationship Id="rId252" Type="http://schemas.openxmlformats.org/officeDocument/2006/relationships/slide" Target="slides/slide141.xml"/><Relationship Id="rId253" Type="http://schemas.openxmlformats.org/officeDocument/2006/relationships/slide" Target="slides/slide142.xml"/><Relationship Id="rId254" Type="http://schemas.openxmlformats.org/officeDocument/2006/relationships/slide" Target="slides/slide143.xml"/><Relationship Id="rId255" Type="http://schemas.openxmlformats.org/officeDocument/2006/relationships/slide" Target="slides/slide144.xml"/><Relationship Id="rId256" Type="http://schemas.openxmlformats.org/officeDocument/2006/relationships/slide" Target="slides/slide145.xml"/><Relationship Id="rId257" Type="http://schemas.openxmlformats.org/officeDocument/2006/relationships/slide" Target="slides/slide146.xml"/><Relationship Id="rId258" Type="http://schemas.openxmlformats.org/officeDocument/2006/relationships/slide" Target="slides/slide147.xml"/><Relationship Id="rId259" Type="http://schemas.openxmlformats.org/officeDocument/2006/relationships/slide" Target="slides/slide148.xml"/><Relationship Id="rId260" Type="http://schemas.openxmlformats.org/officeDocument/2006/relationships/slide" Target="slides/slide149.xml"/><Relationship Id="rId261" Type="http://schemas.openxmlformats.org/officeDocument/2006/relationships/slide" Target="slides/slide150.xml"/><Relationship Id="rId262" Type="http://schemas.openxmlformats.org/officeDocument/2006/relationships/slide" Target="slides/slide151.xml"/><Relationship Id="rId263" Type="http://schemas.openxmlformats.org/officeDocument/2006/relationships/slide" Target="slides/slide152.xml"/><Relationship Id="rId264" Type="http://schemas.openxmlformats.org/officeDocument/2006/relationships/slide" Target="slides/slide153.xml"/><Relationship Id="rId265" Type="http://schemas.openxmlformats.org/officeDocument/2006/relationships/slide" Target="slides/slide154.xml"/><Relationship Id="rId266" Type="http://schemas.openxmlformats.org/officeDocument/2006/relationships/slide" Target="slides/slide155.xml"/><Relationship Id="rId267" Type="http://schemas.openxmlformats.org/officeDocument/2006/relationships/slide" Target="slides/slide156.xml"/><Relationship Id="rId268" Type="http://schemas.openxmlformats.org/officeDocument/2006/relationships/slide" Target="slides/slide157.xml"/><Relationship Id="rId269" Type="http://schemas.openxmlformats.org/officeDocument/2006/relationships/slide" Target="slides/slide158.xml"/><Relationship Id="rId270" Type="http://schemas.openxmlformats.org/officeDocument/2006/relationships/slide" Target="slides/slide159.xml"/><Relationship Id="rId271" Type="http://schemas.openxmlformats.org/officeDocument/2006/relationships/slide" Target="slides/slide160.xml"/><Relationship Id="rId272" Type="http://schemas.openxmlformats.org/officeDocument/2006/relationships/slide" Target="slides/slide161.xml"/><Relationship Id="rId273" Type="http://schemas.openxmlformats.org/officeDocument/2006/relationships/slide" Target="slides/slide162.xml"/><Relationship Id="rId274" Type="http://schemas.openxmlformats.org/officeDocument/2006/relationships/slide" Target="slides/slide163.xml"/><Relationship Id="rId275" Type="http://schemas.openxmlformats.org/officeDocument/2006/relationships/slide" Target="slides/slide164.xml"/><Relationship Id="rId276" Type="http://schemas.openxmlformats.org/officeDocument/2006/relationships/slide" Target="slides/slide165.xml"/><Relationship Id="rId277" Type="http://schemas.openxmlformats.org/officeDocument/2006/relationships/slide" Target="slides/slide166.xml"/><Relationship Id="rId278" Type="http://schemas.openxmlformats.org/officeDocument/2006/relationships/slide" Target="slides/slide167.xml"/><Relationship Id="rId279" Type="http://schemas.openxmlformats.org/officeDocument/2006/relationships/slide" Target="slides/slide168.xml"/><Relationship Id="rId280" Type="http://schemas.openxmlformats.org/officeDocument/2006/relationships/slide" Target="slides/slide169.xml"/><Relationship Id="rId281" Type="http://schemas.openxmlformats.org/officeDocument/2006/relationships/slide" Target="slides/slide170.xml"/><Relationship Id="rId282" Type="http://schemas.openxmlformats.org/officeDocument/2006/relationships/slide" Target="slides/slide171.xml"/><Relationship Id="rId283" Type="http://schemas.openxmlformats.org/officeDocument/2006/relationships/slide" Target="slides/slide172.xml"/><Relationship Id="rId284" Type="http://schemas.openxmlformats.org/officeDocument/2006/relationships/slide" Target="slides/slide173.xml"/><Relationship Id="rId285" Type="http://schemas.openxmlformats.org/officeDocument/2006/relationships/slide" Target="slides/slide174.xml"/><Relationship Id="rId286" Type="http://schemas.openxmlformats.org/officeDocument/2006/relationships/slide" Target="slides/slide175.xml"/><Relationship Id="rId287" Type="http://schemas.openxmlformats.org/officeDocument/2006/relationships/slide" Target="slides/slide176.xml"/><Relationship Id="rId288" Type="http://schemas.openxmlformats.org/officeDocument/2006/relationships/slide" Target="slides/slide177.xml"/><Relationship Id="rId289" Type="http://schemas.openxmlformats.org/officeDocument/2006/relationships/slide" Target="slides/slide178.xml"/><Relationship Id="rId290" Type="http://schemas.openxmlformats.org/officeDocument/2006/relationships/slide" Target="slides/slide179.xml"/><Relationship Id="rId291" Type="http://schemas.openxmlformats.org/officeDocument/2006/relationships/slide" Target="slides/slide180.xml"/><Relationship Id="rId292" Type="http://schemas.openxmlformats.org/officeDocument/2006/relationships/slide" Target="slides/slide181.xml"/><Relationship Id="rId293" Type="http://schemas.openxmlformats.org/officeDocument/2006/relationships/slide" Target="slides/slide182.xml"/><Relationship Id="rId294" Type="http://schemas.openxmlformats.org/officeDocument/2006/relationships/slide" Target="slides/slide183.xml"/><Relationship Id="rId295" Type="http://schemas.openxmlformats.org/officeDocument/2006/relationships/slide" Target="slides/slide184.xml"/><Relationship Id="rId296" Type="http://schemas.openxmlformats.org/officeDocument/2006/relationships/slide" Target="slides/slide185.xml"/><Relationship Id="rId297" Type="http://schemas.openxmlformats.org/officeDocument/2006/relationships/slide" Target="slides/slide186.xml"/><Relationship Id="rId298" Type="http://schemas.openxmlformats.org/officeDocument/2006/relationships/slide" Target="slides/slide187.xml"/><Relationship Id="rId299" Type="http://schemas.openxmlformats.org/officeDocument/2006/relationships/slide" Target="slides/slide189.xml"/><Relationship Id="rId300" Type="http://schemas.openxmlformats.org/officeDocument/2006/relationships/slide" Target="slides/slide190.xml"/><Relationship Id="rId301" Type="http://schemas.openxmlformats.org/officeDocument/2006/relationships/slide" Target="slides/slide191.xml"/><Relationship Id="rId302" Type="http://schemas.openxmlformats.org/officeDocument/2006/relationships/slide" Target="slides/slide192.xml"/><Relationship Id="rId303" Type="http://schemas.openxmlformats.org/officeDocument/2006/relationships/slide" Target="slides/slide193.xml"/><Relationship Id="rId304" Type="http://schemas.openxmlformats.org/officeDocument/2006/relationships/slide" Target="slides/slide194.xml"/><Relationship Id="rId305" Type="http://schemas.openxmlformats.org/officeDocument/2006/relationships/slide" Target="slides/slide195.xml"/><Relationship Id="rId306" Type="http://schemas.openxmlformats.org/officeDocument/2006/relationships/slide" Target="slides/slide196.xml"/><Relationship Id="rId307" Type="http://schemas.openxmlformats.org/officeDocument/2006/relationships/slide" Target="slides/slide197.xml"/><Relationship Id="rId308" Type="http://schemas.openxmlformats.org/officeDocument/2006/relationships/slide" Target="slides/slide198.xml"/><Relationship Id="rId309" Type="http://schemas.openxmlformats.org/officeDocument/2006/relationships/slide" Target="slides/slide199.xml"/><Relationship Id="rId310" Type="http://schemas.openxmlformats.org/officeDocument/2006/relationships/slide" Target="slides/slide200.xml"/><Relationship Id="rId311" Type="http://schemas.openxmlformats.org/officeDocument/2006/relationships/slide" Target="slides/slide201.xml"/><Relationship Id="rId312" Type="http://schemas.openxmlformats.org/officeDocument/2006/relationships/slide" Target="slides/slide202.xml"/><Relationship Id="rId313" Type="http://schemas.openxmlformats.org/officeDocument/2006/relationships/slide" Target="slides/slide203.xml"/><Relationship Id="rId314" Type="http://schemas.openxmlformats.org/officeDocument/2006/relationships/slide" Target="slides/slide204.xml"/><Relationship Id="rId315" Type="http://schemas.openxmlformats.org/officeDocument/2006/relationships/slide" Target="slides/slide205.xml"/><Relationship Id="rId316" Type="http://schemas.openxmlformats.org/officeDocument/2006/relationships/slide" Target="slides/slide206.xml"/><Relationship Id="rId317" Type="http://schemas.openxmlformats.org/officeDocument/2006/relationships/slide" Target="slides/slide207.xml"/><Relationship Id="rId318" Type="http://schemas.openxmlformats.org/officeDocument/2006/relationships/slide" Target="slides/slide208.xml"/><Relationship Id="rId319" Type="http://schemas.openxmlformats.org/officeDocument/2006/relationships/slide" Target="slides/slide209.xml"/><Relationship Id="rId320" Type="http://schemas.openxmlformats.org/officeDocument/2006/relationships/slide" Target="slides/slide210.xml"/><Relationship Id="rId321" Type="http://schemas.openxmlformats.org/officeDocument/2006/relationships/slide" Target="slides/slide211.xml"/><Relationship Id="rId322" Type="http://schemas.openxmlformats.org/officeDocument/2006/relationships/slide" Target="slides/slide212.xml"/><Relationship Id="rId323" Type="http://schemas.openxmlformats.org/officeDocument/2006/relationships/slide" Target="slides/slide213.xml"/><Relationship Id="rId324" Type="http://schemas.openxmlformats.org/officeDocument/2006/relationships/slide" Target="slides/slide214.xml"/><Relationship Id="rId325" Type="http://schemas.openxmlformats.org/officeDocument/2006/relationships/slide" Target="slides/slide215.xml"/><Relationship Id="rId326" Type="http://schemas.openxmlformats.org/officeDocument/2006/relationships/slide" Target="slides/slide216.xml"/><Relationship Id="rId327" Type="http://schemas.openxmlformats.org/officeDocument/2006/relationships/slide" Target="slides/slide217.xml"/><Relationship Id="rId328" Type="http://schemas.openxmlformats.org/officeDocument/2006/relationships/slide" Target="slides/slide218.xml"/><Relationship Id="rId329" Type="http://schemas.openxmlformats.org/officeDocument/2006/relationships/slide" Target="slides/slide219.xml"/><Relationship Id="rId330" Type="http://schemas.openxmlformats.org/officeDocument/2006/relationships/slide" Target="slides/slide220.xml"/><Relationship Id="rId331" Type="http://schemas.openxmlformats.org/officeDocument/2006/relationships/slide" Target="slides/slide221.xml"/><Relationship Id="rId332" Type="http://schemas.openxmlformats.org/officeDocument/2006/relationships/slide" Target="slides/slide222.xml"/><Relationship Id="rId333" Type="http://schemas.openxmlformats.org/officeDocument/2006/relationships/slide" Target="slides/slide223.xml"/><Relationship Id="rId334" Type="http://schemas.openxmlformats.org/officeDocument/2006/relationships/slide" Target="slides/slide224.xml"/><Relationship Id="rId335" Type="http://schemas.openxmlformats.org/officeDocument/2006/relationships/slide" Target="slides/slide225.xml"/><Relationship Id="rId336" Type="http://schemas.openxmlformats.org/officeDocument/2006/relationships/slide" Target="slides/slide226.xml"/><Relationship Id="rId337" Type="http://schemas.openxmlformats.org/officeDocument/2006/relationships/slide" Target="slides/slide227.xml"/><Relationship Id="rId338" Type="http://schemas.openxmlformats.org/officeDocument/2006/relationships/slide" Target="slides/slide228.xml"/><Relationship Id="rId339" Type="http://schemas.openxmlformats.org/officeDocument/2006/relationships/slide" Target="slides/slide229.xml"/><Relationship Id="rId340" Type="http://schemas.openxmlformats.org/officeDocument/2006/relationships/slide" Target="slides/slide230.xml"/><Relationship Id="rId341" Type="http://schemas.openxmlformats.org/officeDocument/2006/relationships/slide" Target="slides/slide231.xml"/><Relationship Id="rId342" Type="http://schemas.openxmlformats.org/officeDocument/2006/relationships/slide" Target="slides/slide23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an-Noel Sialou" userId="08acc5d2-3819-4be4-97e6-d593a92e8e16" providerId="ADAL" clId="{DC5A2AD4-2AC1-4F5C-A6BF-541681F7EFA2}"/>
    <pc:docChg chg="undo custSel modSld">
      <pc:chgData name="Jean-Noel Sialou" userId="08acc5d2-3819-4be4-97e6-d593a92e8e16" providerId="ADAL" clId="{DC5A2AD4-2AC1-4F5C-A6BF-541681F7EFA2}" dt="2026-09-07T10:18:25.187" v="38" actId="571"/>
      <pc:docMkLst>
        <pc:docMk/>
      </pc:docMkLst>
      <pc:sldChg chg="addSp delSp modSp mod">
        <pc:chgData name="Jean-Noel Sialou" userId="08acc5d2-3819-4be4-97e6-d593a92e8e16" providerId="ADAL" clId="{DC5A2AD4-2AC1-4F5C-A6BF-541681F7EFA2}" dt="2026-09-07T10:18:25.187" v="38" actId="571"/>
        <pc:sldMkLst>
          <pc:docMk/>
          <pc:sldMk cId="2102837376" sldId="358"/>
        </pc:sldMkLst>
        <pc:spChg chg="mod">
          <ac:chgData name="Jean-Noel Sialou" userId="08acc5d2-3819-4be4-97e6-d593a92e8e16" providerId="ADAL" clId="{DC5A2AD4-2AC1-4F5C-A6BF-541681F7EFA2}" dt="2026-09-07T10:18:15.089" v="35" actId="164"/>
          <ac:spMkLst>
            <pc:docMk/>
            <pc:sldMk cId="2102837376" sldId="358"/>
            <ac:spMk id="48"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49"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61"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64" creationId="{00000000-0000-0000-0000-000000000000}"/>
          </ac:spMkLst>
        </pc:spChg>
        <pc:grpChg chg="add mod">
          <ac:chgData name="Jean-Noel Sialou" userId="08acc5d2-3819-4be4-97e6-d593a92e8e16" providerId="ADAL" clId="{DC5A2AD4-2AC1-4F5C-A6BF-541681F7EFA2}" dt="2026-09-07T10:18:17.535" v="36" actId="164"/>
          <ac:grpSpMkLst>
            <pc:docMk/>
            <pc:sldMk cId="2102837376" sldId="358"/>
            <ac:grpSpMk id="3" creationId="{C9290073-F4B9-4E89-EC47-0D4815D405F9}"/>
          </ac:grpSpMkLst>
        </pc:grpChg>
        <pc:grpChg chg="add mod">
          <ac:chgData name="Jean-Noel Sialou" userId="08acc5d2-3819-4be4-97e6-d593a92e8e16" providerId="ADAL" clId="{DC5A2AD4-2AC1-4F5C-A6BF-541681F7EFA2}" dt="2026-09-07T10:18:17.535" v="36" actId="164"/>
          <ac:grpSpMkLst>
            <pc:docMk/>
            <pc:sldMk cId="2102837376" sldId="358"/>
            <ac:grpSpMk id="7" creationId="{D520CB44-6CB8-26BA-C481-1E6C90DCE023}"/>
          </ac:grpSpMkLst>
        </pc:grpChg>
        <pc:picChg chg="add mod">
          <ac:chgData name="Jean-Noel Sialou" userId="08acc5d2-3819-4be4-97e6-d593a92e8e16" providerId="ADAL" clId="{DC5A2AD4-2AC1-4F5C-A6BF-541681F7EFA2}" dt="2026-09-07T10:18:17.535" v="36" actId="164"/>
          <ac:picMkLst>
            <pc:docMk/>
            <pc:sldMk cId="2102837376" sldId="358"/>
            <ac:picMk id="5" creationId="{A59C829E-ED12-0019-96D2-4C72AF995693}"/>
          </ac:picMkLst>
        </pc:picChg>
        <pc:picChg chg="mod">
          <ac:chgData name="Jean-Noel Sialou" userId="08acc5d2-3819-4be4-97e6-d593a92e8e16" providerId="ADAL" clId="{DC5A2AD4-2AC1-4F5C-A6BF-541681F7EFA2}" dt="2026-09-07T10:18:15.089" v="35" actId="164"/>
          <ac:picMkLst>
            <pc:docMk/>
            <pc:sldMk cId="2102837376" sldId="358"/>
            <ac:picMk id="31" creationId="{00000000-0000-0000-0000-000000000000}"/>
          </ac:picMkLst>
        </pc:picChg>
        <pc:picChg chg="mod">
          <ac:chgData name="Jean-Noel Sialou" userId="08acc5d2-3819-4be4-97e6-d593a92e8e16" providerId="ADAL" clId="{DC5A2AD4-2AC1-4F5C-A6BF-541681F7EFA2}" dt="2026-09-07T10:18:17.535" v="36" actId="164"/>
          <ac:picMkLst>
            <pc:docMk/>
            <pc:sldMk cId="2102837376" sldId="358"/>
            <ac:picMk id="47"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50"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54"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65" creationId="{00000000-0000-0000-0000-000000000000}"/>
          </ac:picMkLst>
        </pc:picChg>
      </pc:sldChg>
    </pc:docChg>
  </pc:docChgLst>
  <pc:docChgLst>
    <pc:chgData name="Jean-Noel Sialou" userId="08acc5d2-3819-4be4-97e6-d593a92e8e16" providerId="ADAL" clId="{3E2E487B-B21A-43C3-A4E4-C31B8823D31F}"/>
    <pc:docChg chg="modSld">
      <pc:chgData name="Jean-Noel Sialou" userId="08acc5d2-3819-4be4-97e6-d593a92e8e16" providerId="ADAL" clId="{3E2E487B-B21A-43C3-A4E4-C31B8823D31F}" dt="2026-09-23T09:25:47.775" v="6" actId="164"/>
      <pc:docMkLst>
        <pc:docMk/>
      </pc:docMkLst>
      <pc:sldChg chg="modSp mod modAnim">
        <pc:chgData name="Jean-Noel Sialou" userId="08acc5d2-3819-4be4-97e6-d593a92e8e16" providerId="ADAL" clId="{3E2E487B-B21A-43C3-A4E4-C31B8823D31F}" dt="2026-09-15T10:14:35.637" v="5" actId="208"/>
        <pc:sldMkLst>
          <pc:docMk/>
          <pc:sldMk cId="2102837376" sldId="358"/>
        </pc:sldMkLst>
        <pc:spChg chg="mod">
          <ac:chgData name="Jean-Noel Sialou" userId="08acc5d2-3819-4be4-97e6-d593a92e8e16" providerId="ADAL" clId="{3E2E487B-B21A-43C3-A4E4-C31B8823D31F}" dt="2026-09-15T10:14:31.481" v="4" actId="207"/>
          <ac:spMkLst>
            <pc:docMk/>
            <pc:sldMk cId="2102837376" sldId="358"/>
            <ac:spMk id="40" creationId="{00000000-0000-0000-0000-000000000000}"/>
          </ac:spMkLst>
        </pc:spChg>
        <pc:spChg chg="mod">
          <ac:chgData name="Jean-Noel Sialou" userId="08acc5d2-3819-4be4-97e6-d593a92e8e16" providerId="ADAL" clId="{3E2E487B-B21A-43C3-A4E4-C31B8823D31F}" dt="2026-09-15T10:14:31.481" v="4" actId="207"/>
          <ac:spMkLst>
            <pc:docMk/>
            <pc:sldMk cId="2102837376" sldId="358"/>
            <ac:spMk id="41" creationId="{00000000-0000-0000-0000-000000000000}"/>
          </ac:spMkLst>
        </pc:spChg>
        <pc:grpChg chg="mod">
          <ac:chgData name="Jean-Noel Sialou" userId="08acc5d2-3819-4be4-97e6-d593a92e8e16" providerId="ADAL" clId="{3E2E487B-B21A-43C3-A4E4-C31B8823D31F}" dt="2026-09-15T10:14:06.017" v="1" actId="1076"/>
          <ac:grpSpMkLst>
            <pc:docMk/>
            <pc:sldMk cId="2102837376" sldId="358"/>
            <ac:grpSpMk id="7" creationId="{D520CB44-6CB8-26BA-C481-1E6C90DCE023}"/>
          </ac:grpSpMkLst>
        </pc:grpChg>
        <pc:cxnChg chg="mod">
          <ac:chgData name="Jean-Noel Sialou" userId="08acc5d2-3819-4be4-97e6-d593a92e8e16" providerId="ADAL" clId="{3E2E487B-B21A-43C3-A4E4-C31B8823D31F}" dt="2026-09-15T10:14:35.637" v="5" actId="208"/>
          <ac:cxnSpMkLst>
            <pc:docMk/>
            <pc:sldMk cId="2102837376" sldId="358"/>
            <ac:cxnSpMk id="77" creationId="{00000000-0000-0000-0000-000000000000}"/>
          </ac:cxnSpMkLst>
        </pc:cxnChg>
      </pc:sldChg>
      <pc:sldChg chg="addSp modSp modAnim">
        <pc:chgData name="Jean-Noel Sialou" userId="08acc5d2-3819-4be4-97e6-d593a92e8e16" providerId="ADAL" clId="{3E2E487B-B21A-43C3-A4E4-C31B8823D31F}" dt="2026-09-23T09:25:47.775" v="6" actId="164"/>
        <pc:sldMkLst>
          <pc:docMk/>
          <pc:sldMk cId="135173498" sldId="359"/>
        </pc:sldMkLst>
        <pc:spChg chg="mod">
          <ac:chgData name="Jean-Noel Sialou" userId="08acc5d2-3819-4be4-97e6-d593a92e8e16" providerId="ADAL" clId="{3E2E487B-B21A-43C3-A4E4-C31B8823D31F}" dt="2026-09-23T09:25:47.775" v="6" actId="164"/>
          <ac:spMkLst>
            <pc:docMk/>
            <pc:sldMk cId="135173498" sldId="359"/>
            <ac:spMk id="34"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36"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37"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0"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1"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4"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9"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51"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52"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66"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7.xml.rels><?xml version='1.0' encoding='UTF-8' standalone='yes'?>
<Relationships xmlns="http://schemas.openxmlformats.org/package/2006/relationships"><Relationship Id="rId1" Type="http://schemas.microsoft.com/office/2011/relationships/chartStyle" Target="style11.xml"/><Relationship Id="rId2" Type="http://schemas.microsoft.com/office/2011/relationships/chartColorStyle" Target="colors11.xml"/><Relationship Id="rId3"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microsoft.com/office/2011/relationships/chartStyle" Target="style12.xml"/><Relationship Id="rId2" Type="http://schemas.microsoft.com/office/2011/relationships/chartColorStyle" Target="colors12.xml"/><Relationship Id="rId3"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microsoft.com/office/2011/relationships/chartStyle" Target="style13.xml"/><Relationship Id="rId2" Type="http://schemas.microsoft.com/office/2011/relationships/chartColorStyle" Target="colors13.xml"/><Relationship Id="rId3"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microsoft.com/office/2011/relationships/chartStyle" Target="style14.xml"/><Relationship Id="rId2" Type="http://schemas.microsoft.com/office/2011/relationships/chartColorStyle" Target="colors14.xml"/><Relationship Id="rId3"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Sheet20.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Sheet21.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Sheet22.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Sheet23.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Sheet24.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Sheet25.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Sheet26.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Sheet27.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Sheet28.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Sheet29.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Sheet30.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Sheet31.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Sheet32.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Sheet33.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Sheet34.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Sheet35.xlsx"/></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Sheet36.xlsx"/></Relationships>
</file>

<file path=ppt/charts/_rels/chart41.xml.rels><?xml version='1.0' encoding='UTF-8' standalone='yes'?>
<Relationships xmlns="http://schemas.openxmlformats.org/package/2006/relationships"><Relationship Id="rId1" Type="http://schemas.openxmlformats.org/officeDocument/2006/relationships/package" Target="../embeddings/Microsoft_Excel_Sheet37.xlsx"/></Relationships>
</file>

<file path=ppt/charts/_rels/chart42.xml.rels><?xml version='1.0' encoding='UTF-8' standalone='yes'?>
<Relationships xmlns="http://schemas.openxmlformats.org/package/2006/relationships"><Relationship Id="rId1" Type="http://schemas.openxmlformats.org/officeDocument/2006/relationships/package" Target="../embeddings/Microsoft_Excel_Sheet38.xlsx"/></Relationships>
</file>

<file path=ppt/charts/_rels/chart43.xml.rels><?xml version='1.0' encoding='UTF-8' standalone='yes'?>
<Relationships xmlns="http://schemas.openxmlformats.org/package/2006/relationships"><Relationship Id="rId1" Type="http://schemas.openxmlformats.org/officeDocument/2006/relationships/package" Target="../embeddings/Microsoft_Excel_Sheet39.xlsx"/></Relationships>
</file>

<file path=ppt/charts/_rels/chart44.xml.rels><?xml version='1.0' encoding='UTF-8' standalone='yes'?>
<Relationships xmlns="http://schemas.openxmlformats.org/package/2006/relationships"><Relationship Id="rId1" Type="http://schemas.openxmlformats.org/officeDocument/2006/relationships/package" Target="../embeddings/Microsoft_Excel_Sheet40.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Texte (global)</c:v>
                </c:pt>
              </c:strCache>
            </c:strRef>
          </c:tx>
          <c:spPr>
            <a:ln w="28575">
              <a:solidFill>
                <a:srgbClr val="060606"/>
              </a:solidFill>
            </a:ln>
          </c:spPr>
          <c:marker>
            <c:spPr>
              <a:solidFill>
                <a:srgbClr val="060606"/>
              </a:solidFill>
              <a:ln>
                <a:solidFill>
                  <a:srgbClr val="060606"/>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8.92</c:v>
                </c:pt>
                <c:pt idx="1">
                  <c:v>20.77</c:v>
                </c:pt>
                <c:pt idx="2">
                  <c:v>9.06</c:v>
                </c:pt>
                <c:pt idx="3">
                  <c:v>24.56</c:v>
                </c:pt>
                <c:pt idx="4">
                  <c:v>40.34</c:v>
                </c:pt>
                <c:pt idx="5">
                  <c:v>57.48</c:v>
                </c:pt>
                <c:pt idx="6">
                  <c:v>75.2</c:v>
                </c:pt>
              </c:numCache>
            </c:numRef>
          </c:val>
          <c:smooth val="0"/>
        </c:ser>
        <c:ser>
          <c:idx val="1"/>
          <c:order val="1"/>
          <c:tx>
            <c:strRef>
              <c:f>Sheet1!$C$1</c:f>
              <c:strCache>
                <c:ptCount val="1"/>
                <c:pt idx="0">
                  <c:v>Maladie</c:v>
                </c:pt>
              </c:strCache>
            </c:strRef>
          </c:tx>
          <c:spPr>
            <a:ln w="28575">
              <a:solidFill>
                <a:srgbClr val="112A40"/>
              </a:solidFill>
            </a:ln>
          </c:spPr>
          <c:marker>
            <c:spPr>
              <a:solidFill>
                <a:srgbClr val="112A40"/>
              </a:solidFill>
              <a:ln>
                <a:solidFill>
                  <a:srgbClr val="112A40"/>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0.00</c:formatCode>
                <c:ptCount val="7"/>
                <c:pt idx="0">
                  <c:v>12.54</c:v>
                </c:pt>
                <c:pt idx="1">
                  <c:v>6.0</c:v>
                </c:pt>
                <c:pt idx="2">
                  <c:v>6.47</c:v>
                </c:pt>
                <c:pt idx="3">
                  <c:v>26.91</c:v>
                </c:pt>
                <c:pt idx="4">
                  <c:v>48.13</c:v>
                </c:pt>
                <c:pt idx="5">
                  <c:v>73.53</c:v>
                </c:pt>
                <c:pt idx="6">
                  <c:v>97.4</c:v>
                </c:pt>
              </c:numCache>
            </c:numRef>
          </c:val>
          <c:smooth val="0"/>
        </c:ser>
        <c:ser>
          <c:idx val="2"/>
          <c:order val="2"/>
          <c:tx>
            <c:strRef>
              <c:f>Sheet1!$D$1</c:f>
              <c:strCache>
                <c:ptCount val="1"/>
                <c:pt idx="0">
                  <c:v>Décès</c:v>
                </c:pt>
              </c:strCache>
            </c:strRef>
          </c:tx>
          <c:spPr>
            <a:ln w="28575">
              <a:solidFill>
                <a:srgbClr val="EFAC62"/>
              </a:solidFill>
            </a:ln>
          </c:spPr>
          <c:marker>
            <c:spPr>
              <a:solidFill>
                <a:srgbClr val="EFAC62"/>
              </a:solidFill>
              <a:ln>
                <a:solidFill>
                  <a:srgbClr val="EFAC62"/>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Sheet1!$D$2:$D$8</c:f>
              <c:numCache>
                <c:formatCode>0.00</c:formatCode>
                <c:ptCount val="7"/>
                <c:pt idx="0">
                  <c:v>0.56</c:v>
                </c:pt>
                <c:pt idx="1">
                  <c:v>55.42</c:v>
                </c:pt>
                <c:pt idx="2">
                  <c:v>15.21</c:v>
                </c:pt>
                <c:pt idx="3">
                  <c:v>17.05</c:v>
                </c:pt>
                <c:pt idx="4">
                  <c:v>21.81</c:v>
                </c:pt>
                <c:pt idx="5">
                  <c:v>19.16</c:v>
                </c:pt>
                <c:pt idx="6">
                  <c:v>21.76</c:v>
                </c:pt>
              </c:numCache>
            </c:numRef>
          </c:val>
          <c:smooth val="0"/>
        </c:ser>
        <c:ser>
          <c:idx val="3"/>
          <c:order val="3"/>
          <c:tx>
            <c:strRef>
              <c:f>Sheet1!$E$1</c:f>
              <c:strCache>
                <c:ptCount val="1"/>
                <c:pt idx="0">
                  <c:v>Texte sans bons de prise en charge</c:v>
                </c:pt>
              </c:strCache>
            </c:strRef>
          </c:tx>
          <c:spPr>
            <a:ln w="28575">
              <a:solidFill>
                <a:srgbClr val="BBBCBC"/>
              </a:solidFill>
            </a:ln>
          </c:spPr>
          <c:marker>
            <c:spPr>
              <a:solidFill>
                <a:srgbClr val="BBBCBC"/>
              </a:solidFill>
              <a:ln>
                <a:solidFill>
                  <a:srgbClr val="BBBCBC"/>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Sheet1!$E$2:$E$8</c:f>
              <c:numCache>
                <c:formatCode>0.00</c:formatCode>
                <c:ptCount val="7"/>
                <c:pt idx="0">
                  <c:v>8.92</c:v>
                </c:pt>
                <c:pt idx="1">
                  <c:v>20.77</c:v>
                </c:pt>
                <c:pt idx="2">
                  <c:v>8.56</c:v>
                </c:pt>
                <c:pt idx="3">
                  <c:v>23.23</c:v>
                </c:pt>
                <c:pt idx="4">
                  <c:v>38.87</c:v>
                </c:pt>
                <c:pt idx="5">
                  <c:v>56.55</c:v>
                </c:pt>
                <c:pt idx="6">
                  <c:v>75.2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Maladie</c:v>
                </c:pt>
              </c:strCache>
            </c:strRef>
          </c:tx>
          <c:spPr>
            <a:ln w="28575">
              <a:solidFill>
                <a:srgbClr val="112A40"/>
              </a:solidFill>
            </a:ln>
          </c:spPr>
          <c:marker>
            <c:spPr>
              <a:solidFill>
                <a:srgbClr val="112A40"/>
              </a:solidFill>
              <a:ln>
                <a:solidFill>
                  <a:srgbClr val="112A40"/>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12.54</c:v>
                </c:pt>
                <c:pt idx="1">
                  <c:v>6.0</c:v>
                </c:pt>
                <c:pt idx="2">
                  <c:v>6.47</c:v>
                </c:pt>
                <c:pt idx="3">
                  <c:v>26.91</c:v>
                </c:pt>
                <c:pt idx="4">
                  <c:v>48.13</c:v>
                </c:pt>
                <c:pt idx="5">
                  <c:v>73.53</c:v>
                </c:pt>
                <c:pt idx="6">
                  <c:v>97.4</c:v>
                </c:pt>
              </c:numCache>
            </c:numRef>
          </c:val>
          <c:smooth val="0"/>
        </c:ser>
        <c:ser>
          <c:idx val="1"/>
          <c:order val="1"/>
          <c:tx>
            <c:strRef>
              <c:f>Sheet1!$C$1</c:f>
              <c:strCache>
                <c:ptCount val="1"/>
                <c:pt idx="0">
                  <c:v>Décès (prime d'assurance incluse en 2020)</c:v>
                </c:pt>
              </c:strCache>
            </c:strRef>
          </c:tx>
          <c:spPr>
            <a:ln w="28575">
              <a:solidFill>
                <a:srgbClr val="EFAC62"/>
              </a:solidFill>
            </a:ln>
          </c:spPr>
          <c:marker>
            <c:spPr>
              <a:solidFill>
                <a:srgbClr val="EFAC62"/>
              </a:solidFill>
              <a:ln>
                <a:solidFill>
                  <a:srgbClr val="EFAC62"/>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0.00</c:formatCode>
                <c:ptCount val="7"/>
                <c:pt idx="0">
                  <c:v>82.23</c:v>
                </c:pt>
                <c:pt idx="1">
                  <c:v>55.42</c:v>
                </c:pt>
                <c:pt idx="2">
                  <c:v>15.21</c:v>
                </c:pt>
                <c:pt idx="3">
                  <c:v>17.05</c:v>
                </c:pt>
                <c:pt idx="4">
                  <c:v>21.81</c:v>
                </c:pt>
                <c:pt idx="5">
                  <c:v>19.16</c:v>
                </c:pt>
                <c:pt idx="6">
                  <c:v>21.76</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Maladie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1641320172</c:v>
                </c:pt>
                <c:pt idx="1">
                  <c:v>1691332910</c:v>
                </c:pt>
                <c:pt idx="2">
                  <c:v>1781124043</c:v>
                </c:pt>
                <c:pt idx="3">
                  <c:v>1935844374</c:v>
                </c:pt>
                <c:pt idx="4">
                  <c:v>2203312180</c:v>
                </c:pt>
                <c:pt idx="5">
                  <c:v>2409281030</c:v>
                </c:pt>
                <c:pt idx="6">
                  <c:v>1690007290</c:v>
                </c:pt>
              </c:numCache>
            </c:numRef>
          </c:val>
        </c:ser>
        <c:ser>
          <c:idx val="1"/>
          <c:order val="1"/>
          <c:tx>
            <c:strRef>
              <c:f>Sheet1!$C$1</c:f>
              <c:strCache>
                <c:ptCount val="1"/>
                <c:pt idx="0">
                  <c:v>Décès</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703298329</c:v>
                </c:pt>
                <c:pt idx="1">
                  <c:v>725124908</c:v>
                </c:pt>
                <c:pt idx="2">
                  <c:v>763338861</c:v>
                </c:pt>
                <c:pt idx="3">
                  <c:v>829647591</c:v>
                </c:pt>
                <c:pt idx="4">
                  <c:v>934555069</c:v>
                </c:pt>
                <c:pt idx="5">
                  <c:v>1008270692</c:v>
                </c:pt>
                <c:pt idx="6">
                  <c:v>702190056</c:v>
                </c:pt>
              </c:numCache>
            </c:numRef>
          </c:val>
        </c:ser>
        <c:dLbls>
          <c:numFmt formatCode="# ##0,," sourceLinked="0"/>
          <c:txPr>
            <a:bodyPr/>
            <a:lstStyle/>
            <a:p>
              <a:pPr>
                <a:defRPr sz="1000">
                  <a:solidFill>
                    <a:srgbClr val="FFFFFF"/>
                  </a:solidFill>
                </a:defRPr>
              </a:pPr>
            </a:p>
          </c:txP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Nominales</c:v>
                </c:pt>
              </c:strCache>
            </c:strRef>
          </c:tx>
          <c:spPr>
            <a:ln w="28575">
              <a:solidFill>
                <a:srgbClr val="112A40"/>
              </a:solidFill>
            </a:ln>
          </c:spPr>
          <c:marker>
            <c:spPr>
              <a:solidFill>
                <a:srgbClr val="112A40"/>
              </a:solidFill>
              <a:ln>
                <a:solidFill>
                  <a:srgbClr val="112A40"/>
                </a:solidFill>
              </a:ln>
            </c:spPr>
          </c:marker>
          <c:cat>
            <c:strRef>
              <c:f>Sheet1!$A$2:$A$7</c:f>
              <c:strCache>
                <c:ptCount val="6"/>
                <c:pt idx="0">
                  <c:v>2020</c:v>
                </c:pt>
                <c:pt idx="1">
                  <c:v>2021</c:v>
                </c:pt>
                <c:pt idx="2">
                  <c:v>2022</c:v>
                </c:pt>
                <c:pt idx="3">
                  <c:v>2023</c:v>
                </c:pt>
                <c:pt idx="4">
                  <c:v>2024</c:v>
                </c:pt>
                <c:pt idx="5">
                  <c:v>2025</c:v>
                </c:pt>
              </c:strCache>
            </c:strRef>
          </c:cat>
          <c:val>
            <c:numRef>
              <c:f>Sheet1!$B$2:$B$7</c:f>
              <c:numCache>
                <c:formatCode># ##0,,</c:formatCode>
                <c:ptCount val="6"/>
                <c:pt idx="0">
                  <c:v>2344618501</c:v>
                </c:pt>
                <c:pt idx="1">
                  <c:v>2416457818</c:v>
                </c:pt>
                <c:pt idx="2">
                  <c:v>2544462904</c:v>
                </c:pt>
                <c:pt idx="3">
                  <c:v>2765491965</c:v>
                </c:pt>
                <c:pt idx="4">
                  <c:v>3137867249</c:v>
                </c:pt>
                <c:pt idx="5">
                  <c:v>3417551722</c:v>
                </c:pt>
              </c:numCache>
            </c:numRef>
          </c:val>
          <c:smooth val="0"/>
        </c:ser>
        <c:ser>
          <c:idx val="1"/>
          <c:order val="1"/>
          <c:tx>
            <c:strRef>
              <c:f>Sheet1!$C$1</c:f>
              <c:strCache>
                <c:ptCount val="1"/>
                <c:pt idx="0">
                  <c:v>Réelles (francs de 2020)</c:v>
                </c:pt>
              </c:strCache>
            </c:strRef>
          </c:tx>
          <c:spPr>
            <a:ln w="28575">
              <a:solidFill>
                <a:srgbClr val="EFAC62"/>
              </a:solidFill>
            </a:ln>
          </c:spPr>
          <c:marker>
            <c:spPr>
              <a:solidFill>
                <a:srgbClr val="EFAC62"/>
              </a:solidFill>
              <a:ln>
                <a:solidFill>
                  <a:srgbClr val="EFAC62"/>
                </a:solidFill>
              </a:ln>
            </c:spPr>
          </c:marker>
          <c:cat>
            <c:strRef>
              <c:f>Sheet1!$A$2:$A$7</c:f>
              <c:strCache>
                <c:ptCount val="6"/>
                <c:pt idx="0">
                  <c:v>2020</c:v>
                </c:pt>
                <c:pt idx="1">
                  <c:v>2021</c:v>
                </c:pt>
                <c:pt idx="2">
                  <c:v>2022</c:v>
                </c:pt>
                <c:pt idx="3">
                  <c:v>2023</c:v>
                </c:pt>
                <c:pt idx="4">
                  <c:v>2024</c:v>
                </c:pt>
                <c:pt idx="5">
                  <c:v>2025</c:v>
                </c:pt>
              </c:strCache>
            </c:strRef>
          </c:cat>
          <c:val>
            <c:numRef>
              <c:f>Sheet1!$C$2:$C$7</c:f>
              <c:numCache>
                <c:formatCode># ##0,,</c:formatCode>
                <c:ptCount val="6"/>
                <c:pt idx="0">
                  <c:v>2344618501</c:v>
                </c:pt>
                <c:pt idx="1">
                  <c:v>2319965877</c:v>
                </c:pt>
                <c:pt idx="2">
                  <c:v>2321370010</c:v>
                </c:pt>
                <c:pt idx="3">
                  <c:v>2417386641</c:v>
                </c:pt>
                <c:pt idx="4">
                  <c:v>2651401893</c:v>
                </c:pt>
                <c:pt idx="5">
                  <c:v>2884120453</c:v>
                </c:pt>
              </c:numCache>
            </c:numRef>
          </c:val>
          <c:smooth val="0"/>
        </c:ser>
        <c:dLbls>
          <c:numFmt formatCode="# ##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 ##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S/C maladie</c:v>
                </c:pt>
              </c:strCache>
            </c:strRef>
          </c:tx>
          <c:spPr>
            <a:ln w="28575">
              <a:solidFill>
                <a:srgbClr val="112A40"/>
              </a:solidFill>
            </a:ln>
          </c:spPr>
          <c:marker>
            <c:spPr>
              <a:solidFill>
                <a:srgbClr val="112A40"/>
              </a:solidFill>
              <a:ln>
                <a:solidFill>
                  <a:srgbClr val="112A40"/>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12.54</c:v>
                </c:pt>
                <c:pt idx="1">
                  <c:v>6.0</c:v>
                </c:pt>
                <c:pt idx="2">
                  <c:v>6.47</c:v>
                </c:pt>
                <c:pt idx="3">
                  <c:v>26.91</c:v>
                </c:pt>
                <c:pt idx="4">
                  <c:v>48.13</c:v>
                </c:pt>
                <c:pt idx="5">
                  <c:v>73.53</c:v>
                </c:pt>
                <c:pt idx="6">
                  <c:v>97.4</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Épargne PEP et EFC</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10828205640</c:v>
                </c:pt>
                <c:pt idx="1">
                  <c:v>10147421276</c:v>
                </c:pt>
                <c:pt idx="2">
                  <c:v>9364845293</c:v>
                </c:pt>
                <c:pt idx="3">
                  <c:v>9121576576</c:v>
                </c:pt>
                <c:pt idx="4">
                  <c:v>10785064432</c:v>
                </c:pt>
                <c:pt idx="5">
                  <c:v>13814066964</c:v>
                </c:pt>
                <c:pt idx="6">
                  <c:v>15743516391</c:v>
                </c:pt>
              </c:numCache>
            </c:numRef>
          </c:val>
        </c:ser>
        <c:ser>
          <c:idx val="1"/>
          <c:order val="1"/>
          <c:tx>
            <c:strRef>
              <c:f>Sheet1!$C$1</c:f>
              <c:strCache>
                <c:ptCount val="1"/>
                <c:pt idx="0">
                  <c:v>Actifs réservés</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714042784</c:v>
                </c:pt>
                <c:pt idx="1">
                  <c:v>1957211038</c:v>
                </c:pt>
                <c:pt idx="2">
                  <c:v>888844233</c:v>
                </c:pt>
                <c:pt idx="3">
                  <c:v>839212069</c:v>
                </c:pt>
                <c:pt idx="4">
                  <c:v>699925787</c:v>
                </c:pt>
                <c:pt idx="5">
                  <c:v>1608155525</c:v>
                </c:pt>
                <c:pt idx="6">
                  <c:v>2562885661</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Fonds propres</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-6743081733</c:v>
                </c:pt>
                <c:pt idx="1">
                  <c:v>-4659173531</c:v>
                </c:pt>
                <c:pt idx="2">
                  <c:v>-2598840854</c:v>
                </c:pt>
                <c:pt idx="3">
                  <c:v>-1668211752</c:v>
                </c:pt>
                <c:pt idx="4">
                  <c:v>-876142111</c:v>
                </c:pt>
                <c:pt idx="5">
                  <c:v>-438242200</c:v>
                </c:pt>
                <c:pt idx="6">
                  <c:v>-879498700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Encours</c:v>
                </c:pt>
              </c:strCache>
            </c:strRef>
          </c:tx>
          <c:spPr>
            <a:solidFill>
              <a:srgbClr val="EFAC62"/>
            </a:solidFill>
          </c:spPr>
          <c:cat>
            <c:strRef>
              <c:f>Sheet1!$A$2:$A$7</c:f>
              <c:strCache>
                <c:ptCount val="6"/>
                <c:pt idx="0">
                  <c:v>31/12/2021</c:v>
                </c:pt>
                <c:pt idx="1">
                  <c:v>31/12/2022</c:v>
                </c:pt>
                <c:pt idx="2">
                  <c:v>31/12/2023</c:v>
                </c:pt>
                <c:pt idx="3">
                  <c:v>31/12/2024</c:v>
                </c:pt>
                <c:pt idx="4">
                  <c:v>31/12/2025</c:v>
                </c:pt>
                <c:pt idx="5">
                  <c:v>31/08/2026</c:v>
                </c:pt>
              </c:strCache>
            </c:strRef>
          </c:cat>
          <c:val>
            <c:numRef>
              <c:f>Sheet1!$B$2:$B$7</c:f>
              <c:numCache>
                <c:formatCode># ##0,,</c:formatCode>
                <c:ptCount val="6"/>
                <c:pt idx="0">
                  <c:v>7900000</c:v>
                </c:pt>
                <c:pt idx="1">
                  <c:v>182555907</c:v>
                </c:pt>
                <c:pt idx="2">
                  <c:v>375172174</c:v>
                </c:pt>
                <c:pt idx="3">
                  <c:v>566643134</c:v>
                </c:pt>
                <c:pt idx="4">
                  <c:v>829623319</c:v>
                </c:pt>
                <c:pt idx="5">
                  <c:v>1044302107</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2025</c:v>
                </c:pt>
              </c:strCache>
            </c:strRef>
          </c:tx>
          <c:spPr>
            <a:solidFill>
              <a:srgbClr val="112A40"/>
            </a:solidFill>
          </c:spPr>
          <c:cat>
            <c:strRef>
              <c:f>Sheet1!$A$2:$A$7</c:f>
              <c:strCache>
                <c:ptCount val="6"/>
                <c:pt idx="0">
                  <c:v>Cotisations maladie</c:v>
                </c:pt>
                <c:pt idx="1">
                  <c:v>Cotisations décès</c:v>
                </c:pt>
                <c:pt idx="2">
                  <c:v>Prestations maladie</c:v>
                </c:pt>
                <c:pt idx="3">
                  <c:v>Prestations décès</c:v>
                </c:pt>
                <c:pt idx="4">
                  <c:v>Frais de gestion</c:v>
                </c:pt>
                <c:pt idx="5">
                  <c:v>Résultat</c:v>
                </c:pt>
              </c:strCache>
            </c:strRef>
          </c:cat>
          <c:val>
            <c:numRef>
              <c:f>Sheet1!$B$2:$B$7</c:f>
              <c:numCache>
                <c:formatCode># ##0,,</c:formatCode>
                <c:ptCount val="6"/>
                <c:pt idx="0">
                  <c:v>2409281030</c:v>
                </c:pt>
                <c:pt idx="1">
                  <c:v>1008270692</c:v>
                </c:pt>
                <c:pt idx="2">
                  <c:v>1771635361</c:v>
                </c:pt>
                <c:pt idx="3">
                  <c:v>193136666</c:v>
                </c:pt>
                <c:pt idx="4">
                  <c:v>1101350021</c:v>
                </c:pt>
                <c:pt idx="5">
                  <c:v>437899911</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Mois reçus</c:v>
                </c:pt>
              </c:strCache>
            </c:strRef>
          </c:tx>
          <c:spPr>
            <a:solidFill>
              <a:srgbClr val="112A40"/>
            </a:solidFill>
          </c:spPr>
          <c:cat>
            <c:strRef>
              <c:f>Sheet1!$A$2:$A$11</c:f>
              <c:strCache>
                <c:ptCount val="10"/>
                <c:pt idx="0">
                  <c:v>Prestations décès et santé</c:v>
                </c:pt>
                <c:pt idx="1">
                  <c:v>MEDOC 8Z7 retour</c:v>
                </c:pt>
                <c:pt idx="2">
                  <c:v>Décès 8Z6</c:v>
                </c:pt>
                <c:pt idx="3">
                  <c:v>Retraités CGRAE retour</c:v>
                </c:pt>
                <c:pt idx="4">
                  <c:v>Maladie 936</c:v>
                </c:pt>
                <c:pt idx="5">
                  <c:v>Flotte 9W3 retour</c:v>
                </c:pt>
                <c:pt idx="6">
                  <c:v>Grenier 9X4 retour</c:v>
                </c:pt>
                <c:pt idx="7">
                  <c:v>EFC 870 retour</c:v>
                </c:pt>
                <c:pt idx="8">
                  <c:v>PEP 998 retour</c:v>
                </c:pt>
                <c:pt idx="9">
                  <c:v>Comptabilité (balances)</c:v>
                </c:pt>
              </c:strCache>
            </c:strRef>
          </c:cat>
          <c:val>
            <c:numRef>
              <c:f>Sheet1!$B$2:$B$11</c:f>
              <c:numCache>
                <c:formatCode>0</c:formatCode>
                <c:ptCount val="10"/>
                <c:pt idx="0">
                  <c:v>0</c:v>
                </c:pt>
                <c:pt idx="1">
                  <c:v>6</c:v>
                </c:pt>
                <c:pt idx="2">
                  <c:v>24</c:v>
                </c:pt>
                <c:pt idx="3">
                  <c:v>30</c:v>
                </c:pt>
                <c:pt idx="4">
                  <c:v>31</c:v>
                </c:pt>
                <c:pt idx="5">
                  <c:v>37</c:v>
                </c:pt>
                <c:pt idx="6">
                  <c:v>43</c:v>
                </c:pt>
                <c:pt idx="7">
                  <c:v>43</c:v>
                </c:pt>
                <c:pt idx="8">
                  <c:v>80</c:v>
                </c:pt>
                <c:pt idx="9">
                  <c:v>80</c:v>
                </c:pt>
              </c:numCache>
            </c:numRef>
          </c:val>
        </c:ser>
        <c:dLbls>
          <c:numFmt formatCode="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b"/>
        <c:numFmt formatCode="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Taux moyen</c:v>
                </c:pt>
              </c:strCache>
            </c:strRef>
          </c:tx>
          <c:spPr>
            <a:solidFill>
              <a:srgbClr val="112A40"/>
            </a:solidFill>
          </c:spPr>
          <c:cat>
            <c:strRef>
              <c:f>Sheet1!$A$2:$A$7</c:f>
              <c:strCache>
                <c:ptCount val="6"/>
                <c:pt idx="0">
                  <c:v>EFC 870</c:v>
                </c:pt>
                <c:pt idx="1">
                  <c:v>PEP 998</c:v>
                </c:pt>
                <c:pt idx="2">
                  <c:v>Grenier 9X4</c:v>
                </c:pt>
                <c:pt idx="3">
                  <c:v>Flotte 9W3</c:v>
                </c:pt>
                <c:pt idx="4">
                  <c:v>Retraités CGRAE</c:v>
                </c:pt>
                <c:pt idx="5">
                  <c:v>MEDOC 8Z7</c:v>
                </c:pt>
              </c:strCache>
            </c:strRef>
          </c:cat>
          <c:val>
            <c:numRef>
              <c:f>Sheet1!$B$2:$B$7</c:f>
              <c:numCache>
                <c:formatCode>0.00</c:formatCode>
                <c:ptCount val="6"/>
                <c:pt idx="0">
                  <c:v>97.58</c:v>
                </c:pt>
                <c:pt idx="1">
                  <c:v>97.73</c:v>
                </c:pt>
                <c:pt idx="2">
                  <c:v>98.15</c:v>
                </c:pt>
                <c:pt idx="3">
                  <c:v>98.86</c:v>
                </c:pt>
                <c:pt idx="4">
                  <c:v>100.19</c:v>
                </c:pt>
                <c:pt idx="5">
                  <c:v>97.41</c:v>
                </c:pt>
              </c:numCache>
            </c:numRef>
          </c:val>
        </c:ser>
        <c:ser>
          <c:idx val="1"/>
          <c:order val="1"/>
          <c:tx>
            <c:strRef>
              <c:f>Sheet1!$C$1</c:f>
              <c:strCache>
                <c:ptCount val="1"/>
                <c:pt idx="0">
                  <c:v>Mois le plus bas</c:v>
                </c:pt>
              </c:strCache>
            </c:strRef>
          </c:tx>
          <c:spPr>
            <a:solidFill>
              <a:srgbClr val="EFAC62"/>
            </a:solidFill>
          </c:spPr>
          <c:cat>
            <c:strRef>
              <c:f>Sheet1!$A$2:$A$7</c:f>
              <c:strCache>
                <c:ptCount val="6"/>
                <c:pt idx="0">
                  <c:v>EFC 870</c:v>
                </c:pt>
                <c:pt idx="1">
                  <c:v>PEP 998</c:v>
                </c:pt>
                <c:pt idx="2">
                  <c:v>Grenier 9X4</c:v>
                </c:pt>
                <c:pt idx="3">
                  <c:v>Flotte 9W3</c:v>
                </c:pt>
                <c:pt idx="4">
                  <c:v>Retraités CGRAE</c:v>
                </c:pt>
                <c:pt idx="5">
                  <c:v>MEDOC 8Z7</c:v>
                </c:pt>
              </c:strCache>
            </c:strRef>
          </c:cat>
          <c:val>
            <c:numRef>
              <c:f>Sheet1!$C$2:$C$7</c:f>
              <c:numCache>
                <c:formatCode>0.00</c:formatCode>
                <c:ptCount val="6"/>
                <c:pt idx="0">
                  <c:v>95.97</c:v>
                </c:pt>
                <c:pt idx="1">
                  <c:v>76.96</c:v>
                </c:pt>
                <c:pt idx="2">
                  <c:v>69.19</c:v>
                </c:pt>
                <c:pt idx="3">
                  <c:v>82.2</c:v>
                </c:pt>
                <c:pt idx="4">
                  <c:v>96.62</c:v>
                </c:pt>
                <c:pt idx="5">
                  <c:v>96.64</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Cotisants</c:v>
                </c:pt>
              </c:strCache>
            </c:strRef>
          </c:tx>
          <c:spPr>
            <a:ln w="28575">
              <a:solidFill>
                <a:srgbClr val="112A40"/>
              </a:solidFill>
            </a:ln>
          </c:spPr>
          <c:marker>
            <c:spPr>
              <a:solidFill>
                <a:srgbClr val="112A40"/>
              </a:solidFill>
              <a:ln>
                <a:solidFill>
                  <a:srgbClr val="112A40"/>
                </a:solidFill>
              </a:ln>
            </c:spPr>
          </c:marker>
          <c:cat>
            <c:strRef>
              <c:f>Sheet1!$A$2:$A$33</c:f>
              <c:strCache>
                <c:ptCount val="32"/>
                <c:pt idx="0">
                  <c:v>janv. 24</c:v>
                </c:pt>
                <c:pt idx="1">
                  <c:v>févr. 24</c:v>
                </c:pt>
                <c:pt idx="2">
                  <c:v>mars 24</c:v>
                </c:pt>
                <c:pt idx="3">
                  <c:v>avr. 24</c:v>
                </c:pt>
                <c:pt idx="4">
                  <c:v>mai 24</c:v>
                </c:pt>
                <c:pt idx="5">
                  <c:v>juin 24</c:v>
                </c:pt>
                <c:pt idx="6">
                  <c:v>juil. 24</c:v>
                </c:pt>
                <c:pt idx="7">
                  <c:v>août 24</c:v>
                </c:pt>
                <c:pt idx="8">
                  <c:v>sept. 24</c:v>
                </c:pt>
                <c:pt idx="9">
                  <c:v>oct. 24</c:v>
                </c:pt>
                <c:pt idx="10">
                  <c:v>nov. 24</c:v>
                </c:pt>
                <c:pt idx="11">
                  <c:v>déc. 24</c:v>
                </c:pt>
                <c:pt idx="12">
                  <c:v>janv. 25</c:v>
                </c:pt>
                <c:pt idx="13">
                  <c:v>févr. 25</c:v>
                </c:pt>
                <c:pt idx="14">
                  <c:v>mars 25</c:v>
                </c:pt>
                <c:pt idx="15">
                  <c:v>avr. 25</c:v>
                </c:pt>
                <c:pt idx="16">
                  <c:v>mai 25</c:v>
                </c:pt>
                <c:pt idx="17">
                  <c:v>juin 25</c:v>
                </c:pt>
                <c:pt idx="18">
                  <c:v>juil. 25</c:v>
                </c:pt>
                <c:pt idx="19">
                  <c:v>août 25</c:v>
                </c:pt>
                <c:pt idx="20">
                  <c:v>sept. 25</c:v>
                </c:pt>
                <c:pt idx="21">
                  <c:v>oct. 25</c:v>
                </c:pt>
                <c:pt idx="22">
                  <c:v>nov. 25</c:v>
                </c:pt>
                <c:pt idx="23">
                  <c:v>déc. 25</c:v>
                </c:pt>
                <c:pt idx="24">
                  <c:v>janv. 26</c:v>
                </c:pt>
                <c:pt idx="25">
                  <c:v>févr. 26</c:v>
                </c:pt>
                <c:pt idx="26">
                  <c:v>mars 26</c:v>
                </c:pt>
                <c:pt idx="27">
                  <c:v>avr. 26</c:v>
                </c:pt>
                <c:pt idx="28">
                  <c:v>mai 26</c:v>
                </c:pt>
                <c:pt idx="29">
                  <c:v>juin 26</c:v>
                </c:pt>
                <c:pt idx="30">
                  <c:v>juil. 26</c:v>
                </c:pt>
                <c:pt idx="31">
                  <c:v>août 26</c:v>
                </c:pt>
              </c:strCache>
            </c:strRef>
          </c:cat>
          <c:val>
            <c:numRef>
              <c:f>Sheet1!$B$2:$B$33</c:f>
              <c:numCache>
                <c:formatCode># ##0</c:formatCode>
                <c:ptCount val="32"/>
                <c:pt idx="0">
                  <c:v>23119.0</c:v>
                </c:pt>
                <c:pt idx="1">
                  <c:v>23129.0</c:v>
                </c:pt>
                <c:pt idx="2">
                  <c:v>23123.0</c:v>
                </c:pt>
                <c:pt idx="3">
                  <c:v>23126.0</c:v>
                </c:pt>
                <c:pt idx="4">
                  <c:v>23416.0</c:v>
                </c:pt>
                <c:pt idx="5">
                  <c:v>23411.0</c:v>
                </c:pt>
                <c:pt idx="6">
                  <c:v>27698.0</c:v>
                </c:pt>
                <c:pt idx="7">
                  <c:v>27682.0</c:v>
                </c:pt>
                <c:pt idx="8">
                  <c:v>27670.0</c:v>
                </c:pt>
                <c:pt idx="9">
                  <c:v>28168.0</c:v>
                </c:pt>
                <c:pt idx="10">
                  <c:v>27606.0</c:v>
                </c:pt>
                <c:pt idx="12">
                  <c:v>27866.0</c:v>
                </c:pt>
                <c:pt idx="13">
                  <c:v>27858.0</c:v>
                </c:pt>
                <c:pt idx="14">
                  <c:v>27851.0</c:v>
                </c:pt>
                <c:pt idx="15">
                  <c:v>27758.0</c:v>
                </c:pt>
                <c:pt idx="16">
                  <c:v>27702.0</c:v>
                </c:pt>
                <c:pt idx="17">
                  <c:v>27642.0</c:v>
                </c:pt>
                <c:pt idx="18">
                  <c:v>31724.0</c:v>
                </c:pt>
                <c:pt idx="19">
                  <c:v>31716.0</c:v>
                </c:pt>
                <c:pt idx="20">
                  <c:v>31683.0</c:v>
                </c:pt>
                <c:pt idx="21">
                  <c:v>31683.0</c:v>
                </c:pt>
                <c:pt idx="22">
                  <c:v>31647.0</c:v>
                </c:pt>
                <c:pt idx="23">
                  <c:v>31676.0</c:v>
                </c:pt>
                <c:pt idx="24">
                  <c:v>31269.0</c:v>
                </c:pt>
                <c:pt idx="25">
                  <c:v>31260.0</c:v>
                </c:pt>
                <c:pt idx="26">
                  <c:v>31248.0</c:v>
                </c:pt>
                <c:pt idx="27">
                  <c:v>31238.0</c:v>
                </c:pt>
                <c:pt idx="28">
                  <c:v>31242.0</c:v>
                </c:pt>
                <c:pt idx="29">
                  <c:v>31232.0</c:v>
                </c:pt>
                <c:pt idx="30">
                  <c:v>31221.0</c:v>
                </c:pt>
                <c:pt idx="31">
                  <c:v>31198.0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min val="20000.0"/>
        </c:scaling>
        <c:delete val="0"/>
        <c:axPos val="l"/>
        <c:numFmt formatCode="# ##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Entrées</c:v>
                </c:pt>
              </c:strCache>
            </c:strRef>
          </c:tx>
          <c:spPr>
            <a:solidFill>
              <a:srgbClr val="112A40"/>
            </a:solidFill>
          </c:spPr>
          <c:cat>
            <c:strRef>
              <c:f>Sheet1!$A$2:$A$30</c:f>
              <c:strCache>
                <c:ptCount val="29"/>
                <c:pt idx="0">
                  <c:v>févr. 24</c:v>
                </c:pt>
                <c:pt idx="1">
                  <c:v>mars 24</c:v>
                </c:pt>
                <c:pt idx="2">
                  <c:v>avr. 24</c:v>
                </c:pt>
                <c:pt idx="3">
                  <c:v>mai 24</c:v>
                </c:pt>
                <c:pt idx="4">
                  <c:v>juin 24</c:v>
                </c:pt>
                <c:pt idx="5">
                  <c:v>juil. 24</c:v>
                </c:pt>
                <c:pt idx="6">
                  <c:v>août 24</c:v>
                </c:pt>
                <c:pt idx="7">
                  <c:v>sept. 24</c:v>
                </c:pt>
                <c:pt idx="8">
                  <c:v>oct. 24</c:v>
                </c:pt>
                <c:pt idx="9">
                  <c:v>nov. 24</c:v>
                </c:pt>
                <c:pt idx="10">
                  <c:v>févr. 25</c:v>
                </c:pt>
                <c:pt idx="11">
                  <c:v>mars 25</c:v>
                </c:pt>
                <c:pt idx="12">
                  <c:v>avr. 25</c:v>
                </c:pt>
                <c:pt idx="13">
                  <c:v>mai 25</c:v>
                </c:pt>
                <c:pt idx="14">
                  <c:v>juin 25</c:v>
                </c:pt>
                <c:pt idx="15">
                  <c:v>juil. 25</c:v>
                </c:pt>
                <c:pt idx="16">
                  <c:v>août 25</c:v>
                </c:pt>
                <c:pt idx="17">
                  <c:v>sept. 25</c:v>
                </c:pt>
                <c:pt idx="18">
                  <c:v>oct. 25</c:v>
                </c:pt>
                <c:pt idx="19">
                  <c:v>nov. 25</c:v>
                </c:pt>
                <c:pt idx="20">
                  <c:v>déc. 25</c:v>
                </c:pt>
                <c:pt idx="21">
                  <c:v>janv. 26</c:v>
                </c:pt>
                <c:pt idx="22">
                  <c:v>févr. 26</c:v>
                </c:pt>
                <c:pt idx="23">
                  <c:v>mars 26</c:v>
                </c:pt>
                <c:pt idx="24">
                  <c:v>avr. 26</c:v>
                </c:pt>
                <c:pt idx="25">
                  <c:v>mai 26</c:v>
                </c:pt>
                <c:pt idx="26">
                  <c:v>juin 26</c:v>
                </c:pt>
                <c:pt idx="27">
                  <c:v>juil. 26</c:v>
                </c:pt>
                <c:pt idx="28">
                  <c:v>août 26</c:v>
                </c:pt>
              </c:strCache>
            </c:strRef>
          </c:cat>
          <c:val>
            <c:numRef>
              <c:f>Sheet1!$B$2:$B$30</c:f>
              <c:numCache>
                <c:formatCode># ##0</c:formatCode>
                <c:ptCount val="29"/>
                <c:pt idx="0">
                  <c:v>26</c:v>
                </c:pt>
                <c:pt idx="1">
                  <c:v>4</c:v>
                </c:pt>
                <c:pt idx="2">
                  <c:v>17</c:v>
                </c:pt>
                <c:pt idx="3">
                  <c:v>640</c:v>
                </c:pt>
                <c:pt idx="4">
                  <c:v>3</c:v>
                </c:pt>
                <c:pt idx="5">
                  <c:v>4926</c:v>
                </c:pt>
                <c:pt idx="6">
                  <c:v>4</c:v>
                </c:pt>
                <c:pt idx="7">
                  <c:v>3</c:v>
                </c:pt>
                <c:pt idx="8">
                  <c:v>583</c:v>
                </c:pt>
                <c:pt idx="9">
                  <c:v>34</c:v>
                </c:pt>
                <c:pt idx="10">
                  <c:v>4</c:v>
                </c:pt>
                <c:pt idx="11">
                  <c:v>5</c:v>
                </c:pt>
                <c:pt idx="12">
                  <c:v>8</c:v>
                </c:pt>
                <c:pt idx="13">
                  <c:v>2</c:v>
                </c:pt>
                <c:pt idx="14">
                  <c:v>4</c:v>
                </c:pt>
                <c:pt idx="15">
                  <c:v>4127</c:v>
                </c:pt>
                <c:pt idx="16">
                  <c:v>13</c:v>
                </c:pt>
                <c:pt idx="17">
                  <c:v>9</c:v>
                </c:pt>
                <c:pt idx="18">
                  <c:v>33</c:v>
                </c:pt>
                <c:pt idx="19">
                  <c:v>19</c:v>
                </c:pt>
                <c:pt idx="20">
                  <c:v>50</c:v>
                </c:pt>
                <c:pt idx="21">
                  <c:v>35</c:v>
                </c:pt>
                <c:pt idx="22">
                  <c:v>9</c:v>
                </c:pt>
                <c:pt idx="23">
                  <c:v>1</c:v>
                </c:pt>
                <c:pt idx="24">
                  <c:v>14</c:v>
                </c:pt>
                <c:pt idx="25">
                  <c:v>22</c:v>
                </c:pt>
                <c:pt idx="26">
                  <c:v>10</c:v>
                </c:pt>
                <c:pt idx="27">
                  <c:v>7</c:v>
                </c:pt>
                <c:pt idx="28">
                  <c:v>1</c:v>
                </c:pt>
              </c:numCache>
            </c:numRef>
          </c:val>
        </c:ser>
        <c:ser>
          <c:idx val="1"/>
          <c:order val="1"/>
          <c:tx>
            <c:strRef>
              <c:f>Sheet1!$C$1</c:f>
              <c:strCache>
                <c:ptCount val="1"/>
                <c:pt idx="0">
                  <c:v>Sorties</c:v>
                </c:pt>
              </c:strCache>
            </c:strRef>
          </c:tx>
          <c:spPr>
            <a:solidFill>
              <a:srgbClr val="EFAC62"/>
            </a:solidFill>
          </c:spPr>
          <c:cat>
            <c:strRef>
              <c:f>Sheet1!$A$2:$A$30</c:f>
              <c:strCache>
                <c:ptCount val="29"/>
                <c:pt idx="0">
                  <c:v>févr. 24</c:v>
                </c:pt>
                <c:pt idx="1">
                  <c:v>mars 24</c:v>
                </c:pt>
                <c:pt idx="2">
                  <c:v>avr. 24</c:v>
                </c:pt>
                <c:pt idx="3">
                  <c:v>mai 24</c:v>
                </c:pt>
                <c:pt idx="4">
                  <c:v>juin 24</c:v>
                </c:pt>
                <c:pt idx="5">
                  <c:v>juil. 24</c:v>
                </c:pt>
                <c:pt idx="6">
                  <c:v>août 24</c:v>
                </c:pt>
                <c:pt idx="7">
                  <c:v>sept. 24</c:v>
                </c:pt>
                <c:pt idx="8">
                  <c:v>oct. 24</c:v>
                </c:pt>
                <c:pt idx="9">
                  <c:v>nov. 24</c:v>
                </c:pt>
                <c:pt idx="10">
                  <c:v>févr. 25</c:v>
                </c:pt>
                <c:pt idx="11">
                  <c:v>mars 25</c:v>
                </c:pt>
                <c:pt idx="12">
                  <c:v>avr. 25</c:v>
                </c:pt>
                <c:pt idx="13">
                  <c:v>mai 25</c:v>
                </c:pt>
                <c:pt idx="14">
                  <c:v>juin 25</c:v>
                </c:pt>
                <c:pt idx="15">
                  <c:v>juil. 25</c:v>
                </c:pt>
                <c:pt idx="16">
                  <c:v>août 25</c:v>
                </c:pt>
                <c:pt idx="17">
                  <c:v>sept. 25</c:v>
                </c:pt>
                <c:pt idx="18">
                  <c:v>oct. 25</c:v>
                </c:pt>
                <c:pt idx="19">
                  <c:v>nov. 25</c:v>
                </c:pt>
                <c:pt idx="20">
                  <c:v>déc. 25</c:v>
                </c:pt>
                <c:pt idx="21">
                  <c:v>janv. 26</c:v>
                </c:pt>
                <c:pt idx="22">
                  <c:v>févr. 26</c:v>
                </c:pt>
                <c:pt idx="23">
                  <c:v>mars 26</c:v>
                </c:pt>
                <c:pt idx="24">
                  <c:v>avr. 26</c:v>
                </c:pt>
                <c:pt idx="25">
                  <c:v>mai 26</c:v>
                </c:pt>
                <c:pt idx="26">
                  <c:v>juin 26</c:v>
                </c:pt>
                <c:pt idx="27">
                  <c:v>juil. 26</c:v>
                </c:pt>
                <c:pt idx="28">
                  <c:v>août 26</c:v>
                </c:pt>
              </c:strCache>
            </c:strRef>
          </c:cat>
          <c:val>
            <c:numRef>
              <c:f>Sheet1!$C$2:$C$30</c:f>
              <c:numCache>
                <c:formatCode># ##0</c:formatCode>
                <c:ptCount val="29"/>
                <c:pt idx="0">
                  <c:v>16</c:v>
                </c:pt>
                <c:pt idx="1">
                  <c:v>10</c:v>
                </c:pt>
                <c:pt idx="2">
                  <c:v>14</c:v>
                </c:pt>
                <c:pt idx="3">
                  <c:v>350</c:v>
                </c:pt>
                <c:pt idx="4">
                  <c:v>8</c:v>
                </c:pt>
                <c:pt idx="5">
                  <c:v>639</c:v>
                </c:pt>
                <c:pt idx="6">
                  <c:v>20</c:v>
                </c:pt>
                <c:pt idx="7">
                  <c:v>15</c:v>
                </c:pt>
                <c:pt idx="8">
                  <c:v>85</c:v>
                </c:pt>
                <c:pt idx="9">
                  <c:v>596</c:v>
                </c:pt>
                <c:pt idx="10">
                  <c:v>12</c:v>
                </c:pt>
                <c:pt idx="11">
                  <c:v>12</c:v>
                </c:pt>
                <c:pt idx="12">
                  <c:v>101</c:v>
                </c:pt>
                <c:pt idx="13">
                  <c:v>58</c:v>
                </c:pt>
                <c:pt idx="14">
                  <c:v>64</c:v>
                </c:pt>
                <c:pt idx="15">
                  <c:v>45</c:v>
                </c:pt>
                <c:pt idx="16">
                  <c:v>21</c:v>
                </c:pt>
                <c:pt idx="17">
                  <c:v>42</c:v>
                </c:pt>
                <c:pt idx="18">
                  <c:v>33</c:v>
                </c:pt>
                <c:pt idx="19">
                  <c:v>55</c:v>
                </c:pt>
                <c:pt idx="20">
                  <c:v>21</c:v>
                </c:pt>
                <c:pt idx="21">
                  <c:v>442</c:v>
                </c:pt>
                <c:pt idx="22">
                  <c:v>18</c:v>
                </c:pt>
                <c:pt idx="23">
                  <c:v>13</c:v>
                </c:pt>
                <c:pt idx="24">
                  <c:v>24</c:v>
                </c:pt>
                <c:pt idx="25">
                  <c:v>18</c:v>
                </c:pt>
                <c:pt idx="26">
                  <c:v>20</c:v>
                </c:pt>
                <c:pt idx="27">
                  <c:v>18</c:v>
                </c:pt>
                <c:pt idx="28">
                  <c:v>24</c:v>
                </c:pt>
              </c:numCache>
            </c:numRef>
          </c:val>
        </c:ser>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Agents</c:v>
                </c:pt>
              </c:strCache>
            </c:strRef>
          </c:tx>
          <c:spPr>
            <a:solidFill>
              <a:srgbClr val="112A40"/>
            </a:solidFill>
          </c:spPr>
          <c:cat>
            <c:strRef>
              <c:f>Sheet1!$A$2:$A$9</c:f>
              <c:strCache>
                <c:ptCount val="8"/>
                <c:pt idx="0">
                  <c:v>0-5 ans</c:v>
                </c:pt>
                <c:pt idx="1">
                  <c:v>5-10</c:v>
                </c:pt>
                <c:pt idx="2">
                  <c:v>10-15</c:v>
                </c:pt>
                <c:pt idx="3">
                  <c:v>15-20</c:v>
                </c:pt>
                <c:pt idx="4">
                  <c:v>20-25</c:v>
                </c:pt>
                <c:pt idx="5">
                  <c:v>25-30</c:v>
                </c:pt>
                <c:pt idx="6">
                  <c:v>30-35</c:v>
                </c:pt>
                <c:pt idx="7">
                  <c:v>35 ans et +</c:v>
                </c:pt>
              </c:strCache>
            </c:strRef>
          </c:cat>
          <c:val>
            <c:numRef>
              <c:f>Sheet1!$B$2:$B$9</c:f>
              <c:numCache>
                <c:formatCode># ##0</c:formatCode>
                <c:ptCount val="8"/>
                <c:pt idx="0">
                  <c:v>11103</c:v>
                </c:pt>
                <c:pt idx="1">
                  <c:v>4735</c:v>
                </c:pt>
                <c:pt idx="2">
                  <c:v>1496</c:v>
                </c:pt>
                <c:pt idx="3">
                  <c:v>4585</c:v>
                </c:pt>
                <c:pt idx="4">
                  <c:v>3998</c:v>
                </c:pt>
                <c:pt idx="5">
                  <c:v>1817</c:v>
                </c:pt>
                <c:pt idx="6">
                  <c:v>139</c:v>
                </c:pt>
                <c:pt idx="7">
                  <c:v>2</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Maladie</c:v>
                </c:pt>
              </c:strCache>
            </c:strRef>
          </c:tx>
          <c:spPr>
            <a:solidFill>
              <a:srgbClr val="112A40"/>
            </a:solidFill>
          </c:spPr>
          <c:cat>
            <c:strRef>
              <c:f>Sheet1!$A$2:$A$4</c:f>
              <c:strCache>
                <c:ptCount val="3"/>
                <c:pt idx="0">
                  <c:v>Barème indiqué en entretien</c:v>
                </c:pt>
                <c:pt idx="1">
                  <c:v>Précompte Solde</c:v>
                </c:pt>
                <c:pt idx="2">
                  <c:v>Comptabilité 2025</c:v>
                </c:pt>
              </c:strCache>
            </c:strRef>
          </c:cat>
          <c:val>
            <c:numRef>
              <c:f>Sheet1!$B$2:$B$4</c:f>
              <c:numCache>
                <c:formatCode>0.00</c:formatCode>
                <c:ptCount val="3"/>
                <c:pt idx="0">
                  <c:v>3.5</c:v>
                </c:pt>
                <c:pt idx="1">
                  <c:v>3.77</c:v>
                </c:pt>
                <c:pt idx="2">
                  <c:v>3.52</c:v>
                </c:pt>
              </c:numCache>
            </c:numRef>
          </c:val>
        </c:ser>
        <c:ser>
          <c:idx val="1"/>
          <c:order val="1"/>
          <c:tx>
            <c:strRef>
              <c:f>Sheet1!$C$1</c:f>
              <c:strCache>
                <c:ptCount val="1"/>
                <c:pt idx="0">
                  <c:v>Décès</c:v>
                </c:pt>
              </c:strCache>
            </c:strRef>
          </c:tx>
          <c:spPr>
            <a:solidFill>
              <a:srgbClr val="EFAC62"/>
            </a:solidFill>
          </c:spPr>
          <c:cat>
            <c:strRef>
              <c:f>Sheet1!$A$2:$A$4</c:f>
              <c:strCache>
                <c:ptCount val="3"/>
                <c:pt idx="0">
                  <c:v>Barème indiqué en entretien</c:v>
                </c:pt>
                <c:pt idx="1">
                  <c:v>Précompte Solde</c:v>
                </c:pt>
                <c:pt idx="2">
                  <c:v>Comptabilité 2025</c:v>
                </c:pt>
              </c:strCache>
            </c:strRef>
          </c:cat>
          <c:val>
            <c:numRef>
              <c:f>Sheet1!$C$2:$C$4</c:f>
              <c:numCache>
                <c:formatCode>0.00</c:formatCode>
                <c:ptCount val="3"/>
                <c:pt idx="0">
                  <c:v>1.5</c:v>
                </c:pt>
                <c:pt idx="1">
                  <c:v>1.23</c:v>
                </c:pt>
                <c:pt idx="2">
                  <c:v>1.48</c:v>
                </c:pt>
              </c:numCache>
            </c:numRef>
          </c:val>
        </c:ser>
        <c:dLbls>
          <c:numFmt formatCode="0.00" sourceLinked="0"/>
          <c:txPr>
            <a:bodyPr/>
            <a:lstStyle/>
            <a:p>
              <a:pPr>
                <a:defRPr sz="1000">
                  <a:solidFill>
                    <a:srgbClr val="FFFFFF"/>
                  </a:solidFill>
                </a:defRPr>
              </a:pPr>
            </a:p>
          </c:txP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S/C maladie</c:v>
                </c:pt>
              </c:strCache>
            </c:strRef>
          </c:tx>
          <c:spPr>
            <a:solidFill>
              <a:srgbClr val="112A40"/>
            </a:solidFill>
          </c:spPr>
          <c:cat>
            <c:strRef>
              <c:f>Sheet1!$A$2:$A$4</c:f>
              <c:strCache>
                <c:ptCount val="3"/>
                <c:pt idx="0">
                  <c:v>Clé comptable</c:v>
                </c:pt>
                <c:pt idx="1">
                  <c:v>Clé de la Solde (3,77 / 1,23)</c:v>
                </c:pt>
                <c:pt idx="2">
                  <c:v>Barème des statuts (3,5 / 1,5)</c:v>
                </c:pt>
              </c:strCache>
            </c:strRef>
          </c:cat>
          <c:val>
            <c:numRef>
              <c:f>Sheet1!$B$2:$B$4</c:f>
              <c:numCache>
                <c:formatCode>0.00</c:formatCode>
                <c:ptCount val="3"/>
                <c:pt idx="0">
                  <c:v>73.53</c:v>
                </c:pt>
                <c:pt idx="1">
                  <c:v>68.75</c:v>
                </c:pt>
                <c:pt idx="2">
                  <c:v>74.06</c:v>
                </c:pt>
              </c:numCache>
            </c:numRef>
          </c:val>
        </c:ser>
        <c:ser>
          <c:idx val="1"/>
          <c:order val="1"/>
          <c:tx>
            <c:strRef>
              <c:f>Sheet1!$C$1</c:f>
              <c:strCache>
                <c:ptCount val="1"/>
                <c:pt idx="0">
                  <c:v>S/C décès</c:v>
                </c:pt>
              </c:strCache>
            </c:strRef>
          </c:tx>
          <c:spPr>
            <a:solidFill>
              <a:srgbClr val="EFAC62"/>
            </a:solidFill>
          </c:spPr>
          <c:cat>
            <c:strRef>
              <c:f>Sheet1!$A$2:$A$4</c:f>
              <c:strCache>
                <c:ptCount val="3"/>
                <c:pt idx="0">
                  <c:v>Clé comptable</c:v>
                </c:pt>
                <c:pt idx="1">
                  <c:v>Clé de la Solde (3,77 / 1,23)</c:v>
                </c:pt>
                <c:pt idx="2">
                  <c:v>Barème des statuts (3,5 / 1,5)</c:v>
                </c:pt>
              </c:strCache>
            </c:strRef>
          </c:cat>
          <c:val>
            <c:numRef>
              <c:f>Sheet1!$C$2:$C$4</c:f>
              <c:numCache>
                <c:formatCode>0.00</c:formatCode>
                <c:ptCount val="3"/>
                <c:pt idx="0">
                  <c:v>19.16</c:v>
                </c:pt>
                <c:pt idx="1">
                  <c:v>22.97</c:v>
                </c:pt>
                <c:pt idx="2">
                  <c:v>18.84</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021A-48FF-9FB3-982F078F5DD6}"/>
              </c:ext>
            </c:extLst>
          </c:dPt>
          <c:dPt>
            <c:idx val="1"/>
            <c:bubble3D val="0"/>
            <c:spPr>
              <a:solidFill>
                <a:srgbClr val="112A40"/>
              </a:solidFill>
              <a:ln w="19050">
                <a:noFill/>
              </a:ln>
              <a:effectLst/>
            </c:spPr>
            <c:extLst>
              <c:ext xmlns:c16="http://schemas.microsoft.com/office/drawing/2014/chart" uri="{C3380CC4-5D6E-409C-BE32-E72D297353CC}">
                <c16:uniqueId val="{00000003-021A-48FF-9FB3-982F078F5DD6}"/>
              </c:ext>
            </c:extLst>
          </c:dPt>
          <c:cat>
            <c:strRef>
              <c:f>Sheet1!$A$2:$A$3</c:f>
              <c:strCache>
                <c:ptCount val="2"/>
                <c:pt idx="0">
                  <c:v>Valeur</c:v>
                </c:pt>
                <c:pt idx="1">
                  <c:v>Reste</c:v>
                </c:pt>
              </c:strCache>
            </c:strRef>
          </c:cat>
          <c:val>
            <c:numRef>
              <c:f>Sheet1!$B$2:$B$3</c:f>
              <c:numCache>
                <c:formatCode>General</c:formatCode>
                <c:ptCount val="2"/>
                <c:pt idx="0">
                  <c:v>73.53</c:v>
                </c:pt>
                <c:pt idx="1">
                  <c:v>26.47</c:v>
                </c:pt>
              </c:numCache>
            </c:numRef>
          </c:val>
          <c:extLst>
            <c:ext xmlns:c16="http://schemas.microsoft.com/office/drawing/2014/chart" uri="{C3380CC4-5D6E-409C-BE32-E72D297353CC}">
              <c16:uniqueId val="{00000004-021A-48FF-9FB3-982F078F5DD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706D-4F64-BD6B-61C00E14F388}"/>
              </c:ext>
            </c:extLst>
          </c:dPt>
          <c:dPt>
            <c:idx val="1"/>
            <c:bubble3D val="0"/>
            <c:spPr>
              <a:solidFill>
                <a:srgbClr val="112A40"/>
              </a:solidFill>
              <a:ln w="19050">
                <a:noFill/>
              </a:ln>
              <a:effectLst/>
            </c:spPr>
            <c:extLst>
              <c:ext xmlns:c16="http://schemas.microsoft.com/office/drawing/2014/chart" uri="{C3380CC4-5D6E-409C-BE32-E72D297353CC}">
                <c16:uniqueId val="{00000003-706D-4F64-BD6B-61C00E14F388}"/>
              </c:ext>
            </c:extLst>
          </c:dPt>
          <c:cat>
            <c:strRef>
              <c:f>Sheet1!$A$2:$A$3</c:f>
              <c:strCache>
                <c:ptCount val="2"/>
                <c:pt idx="0">
                  <c:v>Valeur</c:v>
                </c:pt>
                <c:pt idx="1">
                  <c:v>Reste</c:v>
                </c:pt>
              </c:strCache>
            </c:strRef>
          </c:cat>
          <c:val>
            <c:numRef>
              <c:f>Sheet1!$B$2:$B$3</c:f>
              <c:numCache>
                <c:formatCode>General</c:formatCode>
                <c:ptCount val="2"/>
                <c:pt idx="0">
                  <c:v>16.28</c:v>
                </c:pt>
                <c:pt idx="1">
                  <c:v>83.72</c:v>
                </c:pt>
              </c:numCache>
            </c:numRef>
          </c:val>
          <c:extLst>
            <c:ext xmlns:c16="http://schemas.microsoft.com/office/drawing/2014/chart" uri="{C3380CC4-5D6E-409C-BE32-E72D297353CC}">
              <c16:uniqueId val="{00000004-706D-4F64-BD6B-61C00E14F388}"/>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750D-4441-85D1-EEC67D758551}"/>
              </c:ext>
            </c:extLst>
          </c:dPt>
          <c:dPt>
            <c:idx val="1"/>
            <c:bubble3D val="0"/>
            <c:spPr>
              <a:solidFill>
                <a:srgbClr val="112A40"/>
              </a:solidFill>
              <a:ln w="19050">
                <a:noFill/>
              </a:ln>
              <a:effectLst/>
            </c:spPr>
            <c:extLst>
              <c:ext xmlns:c16="http://schemas.microsoft.com/office/drawing/2014/chart" uri="{C3380CC4-5D6E-409C-BE32-E72D297353CC}">
                <c16:uniqueId val="{00000003-750D-4441-85D1-EEC67D758551}"/>
              </c:ext>
            </c:extLst>
          </c:dPt>
          <c:cat>
            <c:strRef>
              <c:f>Sheet1!$A$2:$A$3</c:f>
              <c:strCache>
                <c:ptCount val="2"/>
                <c:pt idx="0">
                  <c:v>Valeur</c:v>
                </c:pt>
                <c:pt idx="1">
                  <c:v>Reste</c:v>
                </c:pt>
              </c:strCache>
            </c:strRef>
          </c:cat>
          <c:val>
            <c:numRef>
              <c:f>Sheet1!$B$2:$B$3</c:f>
              <c:numCache>
                <c:formatCode>General</c:formatCode>
                <c:ptCount val="2"/>
                <c:pt idx="0">
                  <c:v>5.07</c:v>
                </c:pt>
                <c:pt idx="1">
                  <c:v>94.93</c:v>
                </c:pt>
              </c:numCache>
            </c:numRef>
          </c:val>
          <c:extLst>
            <c:ext xmlns:c16="http://schemas.microsoft.com/office/drawing/2014/chart" uri="{C3380CC4-5D6E-409C-BE32-E72D297353CC}">
              <c16:uniqueId val="{00000004-750D-4441-85D1-EEC67D758551}"/>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82E9-4DDD-8BC6-295B0F874A85}"/>
              </c:ext>
            </c:extLst>
          </c:dPt>
          <c:dPt>
            <c:idx val="1"/>
            <c:bubble3D val="0"/>
            <c:spPr>
              <a:solidFill>
                <a:srgbClr val="112A40"/>
              </a:solidFill>
              <a:ln w="19050">
                <a:noFill/>
              </a:ln>
              <a:effectLst/>
            </c:spPr>
            <c:extLst>
              <c:ext xmlns:c16="http://schemas.microsoft.com/office/drawing/2014/chart" uri="{C3380CC4-5D6E-409C-BE32-E72D297353CC}">
                <c16:uniqueId val="{00000003-82E9-4DDD-8BC6-295B0F874A85}"/>
              </c:ext>
            </c:extLst>
          </c:dPt>
          <c:cat>
            <c:strRef>
              <c:f>Sheet1!$A$2:$A$3</c:f>
              <c:strCache>
                <c:ptCount val="2"/>
                <c:pt idx="0">
                  <c:v>Valeur</c:v>
                </c:pt>
                <c:pt idx="1">
                  <c:v>Reste</c:v>
                </c:pt>
              </c:strCache>
            </c:strRef>
          </c:cat>
          <c:val>
            <c:numRef>
              <c:f>Sheet1!$B$2:$B$3</c:f>
              <c:numCache>
                <c:formatCode>General</c:formatCode>
                <c:ptCount val="2"/>
                <c:pt idx="0">
                  <c:v>21.34</c:v>
                </c:pt>
                <c:pt idx="1">
                  <c:v>78.66</c:v>
                </c:pt>
              </c:numCache>
            </c:numRef>
          </c:val>
          <c:extLst>
            <c:ext xmlns:c16="http://schemas.microsoft.com/office/drawing/2014/chart" uri="{C3380CC4-5D6E-409C-BE32-E72D297353CC}">
              <c16:uniqueId val="{00000004-82E9-4DDD-8BC6-295B0F874A85}"/>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Pharmacie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26107586</c:v>
                </c:pt>
                <c:pt idx="1">
                  <c:v>25313112</c:v>
                </c:pt>
                <c:pt idx="2">
                  <c:v>13055215</c:v>
                </c:pt>
                <c:pt idx="3">
                  <c:v>22869440</c:v>
                </c:pt>
                <c:pt idx="4">
                  <c:v>32549138</c:v>
                </c:pt>
                <c:pt idx="5">
                  <c:v>38076031</c:v>
                </c:pt>
                <c:pt idx="6">
                  <c:v>85750869</c:v>
                </c:pt>
              </c:numCache>
            </c:numRef>
          </c:val>
        </c:ser>
        <c:ser>
          <c:idx val="1"/>
          <c:order val="1"/>
          <c:tx>
            <c:strRef>
              <c:f>Sheet1!$C$1</c:f>
              <c:strCache>
                <c:ptCount val="1"/>
                <c:pt idx="0">
                  <c:v>Consultations</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9838300</c:v>
                </c:pt>
                <c:pt idx="1">
                  <c:v>9569200</c:v>
                </c:pt>
                <c:pt idx="2">
                  <c:v>4288328</c:v>
                </c:pt>
                <c:pt idx="3">
                  <c:v>53402204</c:v>
                </c:pt>
                <c:pt idx="4">
                  <c:v>154053302</c:v>
                </c:pt>
                <c:pt idx="5">
                  <c:v>173759919</c:v>
                </c:pt>
                <c:pt idx="6">
                  <c:v>223956736</c:v>
                </c:pt>
              </c:numCache>
            </c:numRef>
          </c:val>
        </c:ser>
        <c:ser>
          <c:idx val="2"/>
          <c:order val="2"/>
          <c:tx>
            <c:strRef>
              <c:f>Sheet1!$D$1</c:f>
              <c:strCache>
                <c:ptCount val="1"/>
                <c:pt idx="0">
                  <c:v>Hospitalisations</c:v>
                </c:pt>
              </c:strCache>
            </c:strRef>
          </c:tx>
          <c:spPr>
            <a:solidFill>
              <a:srgbClr val="BBBCBC"/>
            </a:solidFill>
          </c:spPr>
          <c:cat>
            <c:strRef>
              <c:f>Sheet1!$A$2:$A$8</c:f>
              <c:strCache>
                <c:ptCount val="7"/>
                <c:pt idx="0">
                  <c:v>2020</c:v>
                </c:pt>
                <c:pt idx="1">
                  <c:v>2021</c:v>
                </c:pt>
                <c:pt idx="2">
                  <c:v>2022</c:v>
                </c:pt>
                <c:pt idx="3">
                  <c:v>2023</c:v>
                </c:pt>
                <c:pt idx="4">
                  <c:v>2024</c:v>
                </c:pt>
                <c:pt idx="5">
                  <c:v>2025</c:v>
                </c:pt>
                <c:pt idx="6">
                  <c:v>2026 (8 mois)</c:v>
                </c:pt>
              </c:strCache>
            </c:strRef>
          </c:cat>
          <c:val>
            <c:numRef>
              <c:f>Sheet1!$D$2:$D$8</c:f>
              <c:numCache>
                <c:formatCode># ##0,,</c:formatCode>
                <c:ptCount val="7"/>
                <c:pt idx="0">
                  <c:v>11748500</c:v>
                </c:pt>
                <c:pt idx="1">
                  <c:v>12702282</c:v>
                </c:pt>
                <c:pt idx="2">
                  <c:v>6383100</c:v>
                </c:pt>
                <c:pt idx="3">
                  <c:v>32598428</c:v>
                </c:pt>
                <c:pt idx="4">
                  <c:v>10815234</c:v>
                </c:pt>
                <c:pt idx="5">
                  <c:v>23247618</c:v>
                </c:pt>
                <c:pt idx="6">
                  <c:v>36938840</c:v>
                </c:pt>
              </c:numCache>
            </c:numRef>
          </c:val>
        </c:ser>
        <c:ser>
          <c:idx val="3"/>
          <c:order val="3"/>
          <c:tx>
            <c:strRef>
              <c:f>Sheet1!$E$1</c:f>
              <c:strCache>
                <c:ptCount val="1"/>
                <c:pt idx="0">
                  <c:v>Analyses médicales</c:v>
                </c:pt>
              </c:strCache>
            </c:strRef>
          </c:tx>
          <c:spPr>
            <a:solidFill>
              <a:srgbClr val="060606"/>
            </a:solidFill>
          </c:spPr>
          <c:cat>
            <c:strRef>
              <c:f>Sheet1!$A$2:$A$8</c:f>
              <c:strCache>
                <c:ptCount val="7"/>
                <c:pt idx="0">
                  <c:v>2020</c:v>
                </c:pt>
                <c:pt idx="1">
                  <c:v>2021</c:v>
                </c:pt>
                <c:pt idx="2">
                  <c:v>2022</c:v>
                </c:pt>
                <c:pt idx="3">
                  <c:v>2023</c:v>
                </c:pt>
                <c:pt idx="4">
                  <c:v>2024</c:v>
                </c:pt>
                <c:pt idx="5">
                  <c:v>2025</c:v>
                </c:pt>
                <c:pt idx="6">
                  <c:v>2026 (8 mois)</c:v>
                </c:pt>
              </c:strCache>
            </c:strRef>
          </c:cat>
          <c:val>
            <c:numRef>
              <c:f>Sheet1!$E$2:$E$8</c:f>
              <c:numCache>
                <c:formatCode># ##0,,</c:formatCode>
                <c:ptCount val="7"/>
                <c:pt idx="0">
                  <c:v>23155760</c:v>
                </c:pt>
                <c:pt idx="1">
                  <c:v>15394010</c:v>
                </c:pt>
                <c:pt idx="2">
                  <c:v>10313251</c:v>
                </c:pt>
                <c:pt idx="3">
                  <c:v>73194458</c:v>
                </c:pt>
                <c:pt idx="4">
                  <c:v>142781059</c:v>
                </c:pt>
                <c:pt idx="5">
                  <c:v>234266144</c:v>
                </c:pt>
                <c:pt idx="6">
                  <c:v>214752158</c:v>
                </c:pt>
              </c:numCache>
            </c:numRef>
          </c:val>
        </c:ser>
        <c:ser>
          <c:idx val="4"/>
          <c:order val="4"/>
          <c:tx>
            <c:strRef>
              <c:f>Sheet1!$F$1</c:f>
              <c:strCache>
                <c:ptCount val="1"/>
                <c:pt idx="0">
                  <c:v>Radio et imagerie</c:v>
                </c:pt>
              </c:strCache>
            </c:strRef>
          </c:tx>
          <c:spPr>
            <a:solidFill>
              <a:srgbClr val="53565A"/>
            </a:solidFill>
          </c:spPr>
          <c:cat>
            <c:strRef>
              <c:f>Sheet1!$A$2:$A$8</c:f>
              <c:strCache>
                <c:ptCount val="7"/>
                <c:pt idx="0">
                  <c:v>2020</c:v>
                </c:pt>
                <c:pt idx="1">
                  <c:v>2021</c:v>
                </c:pt>
                <c:pt idx="2">
                  <c:v>2022</c:v>
                </c:pt>
                <c:pt idx="3">
                  <c:v>2023</c:v>
                </c:pt>
                <c:pt idx="4">
                  <c:v>2024</c:v>
                </c:pt>
                <c:pt idx="5">
                  <c:v>2025</c:v>
                </c:pt>
                <c:pt idx="6">
                  <c:v>2026 (8 mois)</c:v>
                </c:pt>
              </c:strCache>
            </c:strRef>
          </c:cat>
          <c:val>
            <c:numRef>
              <c:f>Sheet1!$F$2:$F$8</c:f>
              <c:numCache>
                <c:formatCode># ##0,,</c:formatCode>
                <c:ptCount val="7"/>
                <c:pt idx="0">
                  <c:v>11304893</c:v>
                </c:pt>
                <c:pt idx="1">
                  <c:v>6463050</c:v>
                </c:pt>
                <c:pt idx="2">
                  <c:v>15365475</c:v>
                </c:pt>
                <c:pt idx="3">
                  <c:v>65166228</c:v>
                </c:pt>
                <c:pt idx="4">
                  <c:v>147686479</c:v>
                </c:pt>
                <c:pt idx="5">
                  <c:v>249812169</c:v>
                </c:pt>
                <c:pt idx="6">
                  <c:v>391563218</c:v>
                </c:pt>
              </c:numCache>
            </c:numRef>
          </c:val>
        </c:ser>
        <c:ser>
          <c:idx val="5"/>
          <c:order val="5"/>
          <c:tx>
            <c:strRef>
              <c:f>Sheet1!$G$1</c:f>
              <c:strCache>
                <c:ptCount val="1"/>
                <c:pt idx="0">
                  <c:v>Autres prestations maladie</c:v>
                </c:pt>
              </c:strCache>
            </c:strRef>
          </c:tx>
          <c:spPr>
            <a:solidFill>
              <a:srgbClr val="F6D3A8"/>
            </a:solidFill>
          </c:spPr>
          <c:cat>
            <c:strRef>
              <c:f>Sheet1!$A$2:$A$8</c:f>
              <c:strCache>
                <c:ptCount val="7"/>
                <c:pt idx="0">
                  <c:v>2020</c:v>
                </c:pt>
                <c:pt idx="1">
                  <c:v>2021</c:v>
                </c:pt>
                <c:pt idx="2">
                  <c:v>2022</c:v>
                </c:pt>
                <c:pt idx="3">
                  <c:v>2023</c:v>
                </c:pt>
                <c:pt idx="4">
                  <c:v>2024</c:v>
                </c:pt>
                <c:pt idx="5">
                  <c:v>2025</c:v>
                </c:pt>
                <c:pt idx="6">
                  <c:v>2026 (8 mois)</c:v>
                </c:pt>
              </c:strCache>
            </c:strRef>
          </c:cat>
          <c:val>
            <c:numRef>
              <c:f>Sheet1!$G$2:$G$8</c:f>
              <c:numCache>
                <c:formatCode># ##0,,</c:formatCode>
                <c:ptCount val="7"/>
                <c:pt idx="0">
                  <c:v>110679822</c:v>
                </c:pt>
                <c:pt idx="1">
                  <c:v>23379217</c:v>
                </c:pt>
                <c:pt idx="2">
                  <c:v>50185972</c:v>
                </c:pt>
                <c:pt idx="3">
                  <c:v>241125951</c:v>
                </c:pt>
                <c:pt idx="4">
                  <c:v>508863835</c:v>
                </c:pt>
                <c:pt idx="5">
                  <c:v>995311355</c:v>
                </c:pt>
                <c:pt idx="6">
                  <c:v>584656222</c:v>
                </c:pt>
              </c:numCache>
            </c:numRef>
          </c:val>
        </c:ser>
        <c:ser>
          <c:idx val="6"/>
          <c:order val="6"/>
          <c:tx>
            <c:strRef>
              <c:f>Sheet1!$H$1</c:f>
              <c:strCache>
                <c:ptCount val="1"/>
                <c:pt idx="0">
                  <c:v>Autres (transport, rééducation, bons)</c:v>
                </c:pt>
              </c:strCache>
            </c:strRef>
          </c:tx>
          <c:spPr>
            <a:solidFill>
              <a:srgbClr val="5B7A99"/>
            </a:solidFill>
          </c:spPr>
          <c:cat>
            <c:strRef>
              <c:f>Sheet1!$A$2:$A$8</c:f>
              <c:strCache>
                <c:ptCount val="7"/>
                <c:pt idx="0">
                  <c:v>2020</c:v>
                </c:pt>
                <c:pt idx="1">
                  <c:v>2021</c:v>
                </c:pt>
                <c:pt idx="2">
                  <c:v>2022</c:v>
                </c:pt>
                <c:pt idx="3">
                  <c:v>2023</c:v>
                </c:pt>
                <c:pt idx="4">
                  <c:v>2024</c:v>
                </c:pt>
                <c:pt idx="5">
                  <c:v>2025</c:v>
                </c:pt>
                <c:pt idx="6">
                  <c:v>2026 (8 mois)</c:v>
                </c:pt>
              </c:strCache>
            </c:strRef>
          </c:cat>
          <c:val>
            <c:numRef>
              <c:f>Sheet1!$H$2:$H$8</c:f>
              <c:numCache>
                <c:formatCode># ##0,,</c:formatCode>
                <c:ptCount val="7"/>
                <c:pt idx="0">
                  <c:v>12977195</c:v>
                </c:pt>
                <c:pt idx="1">
                  <c:v>8632300</c:v>
                </c:pt>
                <c:pt idx="2">
                  <c:v>15646432</c:v>
                </c:pt>
                <c:pt idx="3">
                  <c:v>32647653</c:v>
                </c:pt>
                <c:pt idx="4">
                  <c:v>63670580</c:v>
                </c:pt>
                <c:pt idx="5">
                  <c:v>57162125</c:v>
                </c:pt>
                <c:pt idx="6">
                  <c:v>108421074</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Frais de gestion</c:v>
                </c:pt>
              </c:strCache>
            </c:strRef>
          </c:tx>
          <c:spPr>
            <a:solidFill>
              <a:srgbClr val="BBBCBC"/>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1210624559</c:v>
                </c:pt>
                <c:pt idx="1">
                  <c:v>961975477</c:v>
                </c:pt>
                <c:pt idx="2">
                  <c:v>1020461388</c:v>
                </c:pt>
                <c:pt idx="3">
                  <c:v>1039977199</c:v>
                </c:pt>
                <c:pt idx="4">
                  <c:v>987308865</c:v>
                </c:pt>
                <c:pt idx="5">
                  <c:v>1101350021</c:v>
                </c:pt>
                <c:pt idx="6">
                  <c:v>1055460837</c:v>
                </c:pt>
              </c:numCache>
            </c:numRef>
          </c:val>
        </c:ser>
        <c:ser>
          <c:idx val="1"/>
          <c:order val="1"/>
          <c:tx>
            <c:strRef>
              <c:f>Sheet1!$C$1</c:f>
              <c:strCache>
                <c:ptCount val="1"/>
                <c:pt idx="0">
                  <c:v>Résultat net</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1018579699</c:v>
                </c:pt>
                <c:pt idx="1">
                  <c:v>2083908202</c:v>
                </c:pt>
                <c:pt idx="2">
                  <c:v>2060332677</c:v>
                </c:pt>
                <c:pt idx="3">
                  <c:v>930629102</c:v>
                </c:pt>
                <c:pt idx="4">
                  <c:v>792069641</c:v>
                </c:pt>
                <c:pt idx="5">
                  <c:v>437899911</c:v>
                </c:pt>
                <c:pt idx="6">
                  <c:v>-441256500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Formule du rapport</c:v>
                </c:pt>
              </c:strCache>
            </c:strRef>
          </c:tx>
          <c:spPr>
            <a:solidFill>
              <a:srgbClr val="BBBCBC"/>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51.63</c:v>
                </c:pt>
                <c:pt idx="1">
                  <c:v>39.81</c:v>
                </c:pt>
                <c:pt idx="2">
                  <c:v>40.11</c:v>
                </c:pt>
                <c:pt idx="3">
                  <c:v>37.61</c:v>
                </c:pt>
                <c:pt idx="4">
                  <c:v>31.46</c:v>
                </c:pt>
                <c:pt idx="5">
                  <c:v>32.23</c:v>
                </c:pt>
                <c:pt idx="6">
                  <c:v>44.12</c:v>
                </c:pt>
              </c:numCache>
            </c:numRef>
          </c:val>
        </c:ser>
        <c:ser>
          <c:idx val="1"/>
          <c:order val="1"/>
          <c:tx>
            <c:strRef>
              <c:f>Sheet1!$C$1</c:f>
              <c:strCache>
                <c:ptCount val="1"/>
                <c:pt idx="0">
                  <c:v>Formule du texte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0.00</c:formatCode>
                <c:ptCount val="7"/>
                <c:pt idx="0">
                  <c:v>84.31</c:v>
                </c:pt>
                <c:pt idx="1">
                  <c:v>48.0</c:v>
                </c:pt>
                <c:pt idx="2">
                  <c:v>47.35</c:v>
                </c:pt>
                <c:pt idx="3">
                  <c:v>44.82</c:v>
                </c:pt>
                <c:pt idx="4">
                  <c:v>36.07</c:v>
                </c:pt>
                <c:pt idx="5">
                  <c:v>36.34</c:v>
                </c:pt>
                <c:pt idx="6">
                  <c:v>44.12</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Épargne PEP et EFC</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10828205640</c:v>
                </c:pt>
                <c:pt idx="1">
                  <c:v>10147421276</c:v>
                </c:pt>
                <c:pt idx="2">
                  <c:v>9364845293</c:v>
                </c:pt>
                <c:pt idx="3">
                  <c:v>9121576576</c:v>
                </c:pt>
                <c:pt idx="4">
                  <c:v>10785064432</c:v>
                </c:pt>
                <c:pt idx="5">
                  <c:v>13814066964</c:v>
                </c:pt>
                <c:pt idx="6">
                  <c:v>15743516391</c:v>
                </c:pt>
              </c:numCache>
            </c:numRef>
          </c:val>
        </c:ser>
        <c:ser>
          <c:idx val="1"/>
          <c:order val="1"/>
          <c:tx>
            <c:strRef>
              <c:f>Sheet1!$C$1</c:f>
              <c:strCache>
                <c:ptCount val="1"/>
                <c:pt idx="0">
                  <c:v>Actifs réservés</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714042784</c:v>
                </c:pt>
                <c:pt idx="1">
                  <c:v>1957211038</c:v>
                </c:pt>
                <c:pt idx="2">
                  <c:v>888844233</c:v>
                </c:pt>
                <c:pt idx="3">
                  <c:v>839212069</c:v>
                </c:pt>
                <c:pt idx="4">
                  <c:v>699925787</c:v>
                </c:pt>
                <c:pt idx="5">
                  <c:v>1608155525</c:v>
                </c:pt>
                <c:pt idx="6">
                  <c:v>2562885661</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PEP 998</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293756537</c:v>
                </c:pt>
                <c:pt idx="1">
                  <c:v>322774529</c:v>
                </c:pt>
                <c:pt idx="2">
                  <c:v>509643904</c:v>
                </c:pt>
                <c:pt idx="3">
                  <c:v>927826515</c:v>
                </c:pt>
                <c:pt idx="4">
                  <c:v>1456063820</c:v>
                </c:pt>
                <c:pt idx="5">
                  <c:v>2029929725</c:v>
                </c:pt>
                <c:pt idx="6">
                  <c:v>1606835144</c:v>
                </c:pt>
              </c:numCache>
            </c:numRef>
          </c:val>
        </c:ser>
        <c:ser>
          <c:idx val="1"/>
          <c:order val="1"/>
          <c:tx>
            <c:strRef>
              <c:f>Sheet1!$C$1</c:f>
              <c:strCache>
                <c:ptCount val="1"/>
                <c:pt idx="0">
                  <c:v>EFC 870</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3">
                  <c:v>1414649440</c:v>
                </c:pt>
                <c:pt idx="4">
                  <c:v>1833953120</c:v>
                </c:pt>
                <c:pt idx="5">
                  <c:v>2160317640</c:v>
                </c:pt>
                <c:pt idx="6">
                  <c:v>1786620720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Montant à rembourser</c:v>
                </c:pt>
              </c:strCache>
            </c:strRef>
          </c:tx>
          <c:spPr>
            <a:solidFill>
              <a:srgbClr val="112A40"/>
            </a:solidFill>
          </c:spPr>
          <c:cat>
            <c:strRef>
              <c:f>Sheet1!$A$2:$A$5</c:f>
              <c:strCache>
                <c:ptCount val="4"/>
                <c:pt idx="0">
                  <c:v>5,00 %</c:v>
                </c:pt>
                <c:pt idx="1">
                  <c:v>10,00 %</c:v>
                </c:pt>
                <c:pt idx="2">
                  <c:v>20,00 %</c:v>
                </c:pt>
                <c:pt idx="3">
                  <c:v>30,00 %</c:v>
                </c:pt>
              </c:strCache>
            </c:strRef>
          </c:cat>
          <c:val>
            <c:numRef>
              <c:f>Sheet1!$B$2:$B$5</c:f>
              <c:numCache>
                <c:formatCode># ##0,,</c:formatCode>
                <c:ptCount val="4"/>
                <c:pt idx="0">
                  <c:v>787175820</c:v>
                </c:pt>
                <c:pt idx="1">
                  <c:v>1574351639</c:v>
                </c:pt>
                <c:pt idx="2">
                  <c:v>3148703278</c:v>
                </c:pt>
                <c:pt idx="3">
                  <c:v>4723054917</c:v>
                </c:pt>
              </c:numCache>
            </c:numRef>
          </c:val>
        </c:ser>
        <c:ser>
          <c:idx val="1"/>
          <c:order val="1"/>
          <c:tx>
            <c:strRef>
              <c:f>Sheet1!$C$1</c:f>
              <c:strCache>
                <c:ptCount val="1"/>
                <c:pt idx="0">
                  <c:v>Actifs réservés</c:v>
                </c:pt>
              </c:strCache>
            </c:strRef>
          </c:tx>
          <c:spPr>
            <a:solidFill>
              <a:srgbClr val="EFAC62"/>
            </a:solidFill>
          </c:spPr>
          <c:cat>
            <c:strRef>
              <c:f>Sheet1!$A$2:$A$5</c:f>
              <c:strCache>
                <c:ptCount val="4"/>
                <c:pt idx="0">
                  <c:v>5,00 %</c:v>
                </c:pt>
                <c:pt idx="1">
                  <c:v>10,00 %</c:v>
                </c:pt>
                <c:pt idx="2">
                  <c:v>20,00 %</c:v>
                </c:pt>
                <c:pt idx="3">
                  <c:v>30,00 %</c:v>
                </c:pt>
              </c:strCache>
            </c:strRef>
          </c:cat>
          <c:val>
            <c:numRef>
              <c:f>Sheet1!$C$2:$C$5</c:f>
              <c:numCache>
                <c:formatCode># ##0,,</c:formatCode>
                <c:ptCount val="4"/>
                <c:pt idx="0">
                  <c:v>2562885661</c:v>
                </c:pt>
                <c:pt idx="1">
                  <c:v>2562885661</c:v>
                </c:pt>
                <c:pt idx="2">
                  <c:v>2562885661</c:v>
                </c:pt>
                <c:pt idx="3">
                  <c:v>2562885661</c:v>
                </c:pt>
              </c:numCache>
            </c:numRef>
          </c:val>
        </c:ser>
        <c:ser>
          <c:idx val="2"/>
          <c:order val="2"/>
          <c:tx>
            <c:strRef>
              <c:f>Sheet1!$D$1</c:f>
              <c:strCache>
                <c:ptCount val="1"/>
                <c:pt idx="0">
                  <c:v>Trésorerie totale</c:v>
                </c:pt>
              </c:strCache>
            </c:strRef>
          </c:tx>
          <c:spPr>
            <a:solidFill>
              <a:srgbClr val="BBBCBC"/>
            </a:solidFill>
          </c:spPr>
          <c:cat>
            <c:strRef>
              <c:f>Sheet1!$A$2:$A$5</c:f>
              <c:strCache>
                <c:ptCount val="4"/>
                <c:pt idx="0">
                  <c:v>5,00 %</c:v>
                </c:pt>
                <c:pt idx="1">
                  <c:v>10,00 %</c:v>
                </c:pt>
                <c:pt idx="2">
                  <c:v>20,00 %</c:v>
                </c:pt>
                <c:pt idx="3">
                  <c:v>30,00 %</c:v>
                </c:pt>
              </c:strCache>
            </c:strRef>
          </c:cat>
          <c:val>
            <c:numRef>
              <c:f>Sheet1!$D$2:$D$5</c:f>
              <c:numCache>
                <c:formatCode># ##0,,</c:formatCode>
                <c:ptCount val="4"/>
                <c:pt idx="0">
                  <c:v>3359100618</c:v>
                </c:pt>
                <c:pt idx="1">
                  <c:v>3359100618</c:v>
                </c:pt>
                <c:pt idx="2">
                  <c:v>3359100618</c:v>
                </c:pt>
                <c:pt idx="3">
                  <c:v>3359100618</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Encours</c:v>
                </c:pt>
              </c:strCache>
            </c:strRef>
          </c:tx>
          <c:spPr>
            <a:solidFill>
              <a:srgbClr val="112A40"/>
            </a:solidFill>
          </c:spPr>
          <c:cat>
            <c:strRef>
              <c:f>Sheet1!$A$2:$A$7</c:f>
              <c:strCache>
                <c:ptCount val="6"/>
                <c:pt idx="0">
                  <c:v>31/12/2021</c:v>
                </c:pt>
                <c:pt idx="1">
                  <c:v>31/12/2022</c:v>
                </c:pt>
                <c:pt idx="2">
                  <c:v>31/12/2023</c:v>
                </c:pt>
                <c:pt idx="3">
                  <c:v>31/12/2024</c:v>
                </c:pt>
                <c:pt idx="4">
                  <c:v>31/12/2025</c:v>
                </c:pt>
                <c:pt idx="5">
                  <c:v>31/08/2026</c:v>
                </c:pt>
              </c:strCache>
            </c:strRef>
          </c:cat>
          <c:val>
            <c:numRef>
              <c:f>Sheet1!$B$2:$B$7</c:f>
              <c:numCache>
                <c:formatCode># ##0,,</c:formatCode>
                <c:ptCount val="6"/>
                <c:pt idx="0">
                  <c:v>7900000</c:v>
                </c:pt>
                <c:pt idx="1">
                  <c:v>182555907</c:v>
                </c:pt>
                <c:pt idx="2">
                  <c:v>375172174</c:v>
                </c:pt>
                <c:pt idx="3">
                  <c:v>566643134</c:v>
                </c:pt>
                <c:pt idx="4">
                  <c:v>829623319</c:v>
                </c:pt>
                <c:pt idx="5">
                  <c:v>1044302107</c:v>
                </c:pt>
              </c:numCache>
            </c:numRef>
          </c:val>
        </c:ser>
        <c:ser>
          <c:idx val="1"/>
          <c:order val="1"/>
          <c:tx>
            <c:strRef>
              <c:f>Sheet1!$C$1</c:f>
              <c:strCache>
                <c:ptCount val="1"/>
                <c:pt idx="0">
                  <c:v>Financement FPPN</c:v>
                </c:pt>
              </c:strCache>
            </c:strRef>
          </c:tx>
          <c:spPr>
            <a:solidFill>
              <a:srgbClr val="EFAC62"/>
            </a:solidFill>
          </c:spPr>
          <c:cat>
            <c:strRef>
              <c:f>Sheet1!$A$2:$A$7</c:f>
              <c:strCache>
                <c:ptCount val="6"/>
                <c:pt idx="0">
                  <c:v>31/12/2021</c:v>
                </c:pt>
                <c:pt idx="1">
                  <c:v>31/12/2022</c:v>
                </c:pt>
                <c:pt idx="2">
                  <c:v>31/12/2023</c:v>
                </c:pt>
                <c:pt idx="3">
                  <c:v>31/12/2024</c:v>
                </c:pt>
                <c:pt idx="4">
                  <c:v>31/12/2025</c:v>
                </c:pt>
                <c:pt idx="5">
                  <c:v>31/08/2026</c:v>
                </c:pt>
              </c:strCache>
            </c:strRef>
          </c:cat>
          <c:val>
            <c:numRef>
              <c:f>Sheet1!$C$2:$C$7</c:f>
              <c:numCache>
                <c:formatCode># ##0,,</c:formatCode>
                <c:ptCount val="6"/>
                <c:pt idx="0">
                  <c:v>27030000</c:v>
                </c:pt>
                <c:pt idx="1">
                  <c:v>458483900</c:v>
                </c:pt>
                <c:pt idx="2">
                  <c:v>504192100</c:v>
                </c:pt>
                <c:pt idx="3">
                  <c:v>650882600</c:v>
                </c:pt>
                <c:pt idx="4">
                  <c:v>817121335</c:v>
                </c:pt>
                <c:pt idx="5">
                  <c:v>915477260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Activites generatrice de revenus</c:v>
                </c:pt>
              </c:strCache>
            </c:strRef>
          </c:tx>
          <c:spPr>
            <a:solidFill>
              <a:srgbClr val="112A40"/>
            </a:solidFill>
          </c:spPr>
          <c:cat>
            <c:strRef>
              <c:f>Sheet1!$A$2:$A$7</c:f>
              <c:strCache>
                <c:ptCount val="6"/>
                <c:pt idx="0">
                  <c:v>2021</c:v>
                </c:pt>
                <c:pt idx="1">
                  <c:v>2022</c:v>
                </c:pt>
                <c:pt idx="2">
                  <c:v>2023</c:v>
                </c:pt>
                <c:pt idx="3">
                  <c:v>2024</c:v>
                </c:pt>
                <c:pt idx="4">
                  <c:v>2025</c:v>
                </c:pt>
                <c:pt idx="5">
                  <c:v>2026 (8 mois)</c:v>
                </c:pt>
              </c:strCache>
            </c:strRef>
          </c:cat>
          <c:val>
            <c:numRef>
              <c:f>Sheet1!$B$2:$B$7</c:f>
              <c:numCache>
                <c:formatCode># ##0,,</c:formatCode>
                <c:ptCount val="6"/>
                <c:pt idx="0">
                  <c:v>0</c:v>
                </c:pt>
                <c:pt idx="1">
                  <c:v>42260000</c:v>
                </c:pt>
                <c:pt idx="2">
                  <c:v>44235000</c:v>
                </c:pt>
                <c:pt idx="3">
                  <c:v>50835000</c:v>
                </c:pt>
                <c:pt idx="4">
                  <c:v>66625000</c:v>
                </c:pt>
                <c:pt idx="5">
                  <c:v>79280000</c:v>
                </c:pt>
              </c:numCache>
            </c:numRef>
          </c:val>
        </c:ser>
        <c:ser>
          <c:idx val="1"/>
          <c:order val="1"/>
          <c:tx>
            <c:strRef>
              <c:f>Sheet1!$C$1</c:f>
              <c:strCache>
                <c:ptCount val="1"/>
                <c:pt idx="0">
                  <c:v>Credit de sante</c:v>
                </c:pt>
              </c:strCache>
            </c:strRef>
          </c:tx>
          <c:spPr>
            <a:solidFill>
              <a:srgbClr val="EFAC62"/>
            </a:solidFill>
          </c:spPr>
          <c:cat>
            <c:strRef>
              <c:f>Sheet1!$A$2:$A$7</c:f>
              <c:strCache>
                <c:ptCount val="6"/>
                <c:pt idx="0">
                  <c:v>2021</c:v>
                </c:pt>
                <c:pt idx="1">
                  <c:v>2022</c:v>
                </c:pt>
                <c:pt idx="2">
                  <c:v>2023</c:v>
                </c:pt>
                <c:pt idx="3">
                  <c:v>2024</c:v>
                </c:pt>
                <c:pt idx="4">
                  <c:v>2025</c:v>
                </c:pt>
                <c:pt idx="5">
                  <c:v>2026 (8 mois)</c:v>
                </c:pt>
              </c:strCache>
            </c:strRef>
          </c:cat>
          <c:val>
            <c:numRef>
              <c:f>Sheet1!$C$2:$C$7</c:f>
              <c:numCache>
                <c:formatCode># ##0,,</c:formatCode>
                <c:ptCount val="6"/>
                <c:pt idx="0">
                  <c:v>500000</c:v>
                </c:pt>
                <c:pt idx="1">
                  <c:v>20500000</c:v>
                </c:pt>
                <c:pt idx="2">
                  <c:v>55265000</c:v>
                </c:pt>
                <c:pt idx="3">
                  <c:v>111885000</c:v>
                </c:pt>
                <c:pt idx="4">
                  <c:v>170425000</c:v>
                </c:pt>
                <c:pt idx="5">
                  <c:v>199205000</c:v>
                </c:pt>
              </c:numCache>
            </c:numRef>
          </c:val>
        </c:ser>
        <c:ser>
          <c:idx val="2"/>
          <c:order val="2"/>
          <c:tx>
            <c:strRef>
              <c:f>Sheet1!$D$1</c:f>
              <c:strCache>
                <c:ptCount val="1"/>
                <c:pt idx="0">
                  <c:v>Credit grenier shop</c:v>
                </c:pt>
              </c:strCache>
            </c:strRef>
          </c:tx>
          <c:spPr>
            <a:solidFill>
              <a:srgbClr val="BBBCBC"/>
            </a:solidFill>
          </c:spPr>
          <c:cat>
            <c:strRef>
              <c:f>Sheet1!$A$2:$A$7</c:f>
              <c:strCache>
                <c:ptCount val="6"/>
                <c:pt idx="0">
                  <c:v>2021</c:v>
                </c:pt>
                <c:pt idx="1">
                  <c:v>2022</c:v>
                </c:pt>
                <c:pt idx="2">
                  <c:v>2023</c:v>
                </c:pt>
                <c:pt idx="3">
                  <c:v>2024</c:v>
                </c:pt>
                <c:pt idx="4">
                  <c:v>2025</c:v>
                </c:pt>
                <c:pt idx="5">
                  <c:v>2026 (8 mois)</c:v>
                </c:pt>
              </c:strCache>
            </c:strRef>
          </c:cat>
          <c:val>
            <c:numRef>
              <c:f>Sheet1!$D$2:$D$7</c:f>
              <c:numCache>
                <c:formatCode># ##0,,</c:formatCode>
                <c:ptCount val="6"/>
                <c:pt idx="0">
                  <c:v>0</c:v>
                </c:pt>
                <c:pt idx="1">
                  <c:v>0</c:v>
                </c:pt>
                <c:pt idx="2">
                  <c:v>0</c:v>
                </c:pt>
                <c:pt idx="3">
                  <c:v>2217888</c:v>
                </c:pt>
                <c:pt idx="4">
                  <c:v>5009675</c:v>
                </c:pt>
                <c:pt idx="5">
                  <c:v>892175</c:v>
                </c:pt>
              </c:numCache>
            </c:numRef>
          </c:val>
        </c:ser>
        <c:ser>
          <c:idx val="3"/>
          <c:order val="3"/>
          <c:tx>
            <c:strRef>
              <c:f>Sheet1!$E$1</c:f>
              <c:strCache>
                <c:ptCount val="1"/>
                <c:pt idx="0">
                  <c:v>Credit habitat</c:v>
                </c:pt>
              </c:strCache>
            </c:strRef>
          </c:tx>
          <c:spPr>
            <a:solidFill>
              <a:srgbClr val="060606"/>
            </a:solidFill>
          </c:spPr>
          <c:cat>
            <c:strRef>
              <c:f>Sheet1!$A$2:$A$7</c:f>
              <c:strCache>
                <c:ptCount val="6"/>
                <c:pt idx="0">
                  <c:v>2021</c:v>
                </c:pt>
                <c:pt idx="1">
                  <c:v>2022</c:v>
                </c:pt>
                <c:pt idx="2">
                  <c:v>2023</c:v>
                </c:pt>
                <c:pt idx="3">
                  <c:v>2024</c:v>
                </c:pt>
                <c:pt idx="4">
                  <c:v>2025</c:v>
                </c:pt>
                <c:pt idx="5">
                  <c:v>2026 (8 mois)</c:v>
                </c:pt>
              </c:strCache>
            </c:strRef>
          </c:cat>
          <c:val>
            <c:numRef>
              <c:f>Sheet1!$E$2:$E$7</c:f>
              <c:numCache>
                <c:formatCode># ##0,,</c:formatCode>
                <c:ptCount val="6"/>
                <c:pt idx="0">
                  <c:v>0</c:v>
                </c:pt>
                <c:pt idx="1">
                  <c:v>55820000</c:v>
                </c:pt>
                <c:pt idx="2">
                  <c:v>150605000</c:v>
                </c:pt>
                <c:pt idx="3">
                  <c:v>252625000</c:v>
                </c:pt>
                <c:pt idx="4">
                  <c:v>508842669</c:v>
                </c:pt>
                <c:pt idx="5">
                  <c:v>540495000</c:v>
                </c:pt>
              </c:numCache>
            </c:numRef>
          </c:val>
        </c:ser>
        <c:ser>
          <c:idx val="4"/>
          <c:order val="4"/>
          <c:tx>
            <c:strRef>
              <c:f>Sheet1!$F$1</c:f>
              <c:strCache>
                <c:ptCount val="1"/>
                <c:pt idx="0">
                  <c:v>Credit mariage</c:v>
                </c:pt>
              </c:strCache>
            </c:strRef>
          </c:tx>
          <c:spPr>
            <a:solidFill>
              <a:srgbClr val="53565A"/>
            </a:solidFill>
          </c:spPr>
          <c:cat>
            <c:strRef>
              <c:f>Sheet1!$A$2:$A$7</c:f>
              <c:strCache>
                <c:ptCount val="6"/>
                <c:pt idx="0">
                  <c:v>2021</c:v>
                </c:pt>
                <c:pt idx="1">
                  <c:v>2022</c:v>
                </c:pt>
                <c:pt idx="2">
                  <c:v>2023</c:v>
                </c:pt>
                <c:pt idx="3">
                  <c:v>2024</c:v>
                </c:pt>
                <c:pt idx="4">
                  <c:v>2025</c:v>
                </c:pt>
                <c:pt idx="5">
                  <c:v>2026 (8 mois)</c:v>
                </c:pt>
              </c:strCache>
            </c:strRef>
          </c:cat>
          <c:val>
            <c:numRef>
              <c:f>Sheet1!$F$2:$F$7</c:f>
              <c:numCache>
                <c:formatCode># ##0,,</c:formatCode>
                <c:ptCount val="6"/>
                <c:pt idx="0">
                  <c:v>0</c:v>
                </c:pt>
                <c:pt idx="1">
                  <c:v>3690000</c:v>
                </c:pt>
                <c:pt idx="2">
                  <c:v>7825000</c:v>
                </c:pt>
                <c:pt idx="3">
                  <c:v>15480000</c:v>
                </c:pt>
                <c:pt idx="4">
                  <c:v>21750000</c:v>
                </c:pt>
                <c:pt idx="5">
                  <c:v>19450000</c:v>
                </c:pt>
              </c:numCache>
            </c:numRef>
          </c:val>
        </c:ser>
        <c:ser>
          <c:idx val="5"/>
          <c:order val="5"/>
          <c:tx>
            <c:strRef>
              <c:f>Sheet1!$G$1</c:f>
              <c:strCache>
                <c:ptCount val="1"/>
                <c:pt idx="0">
                  <c:v>Crédit flash</c:v>
                </c:pt>
              </c:strCache>
            </c:strRef>
          </c:tx>
          <c:spPr>
            <a:solidFill>
              <a:srgbClr val="F6D3A8"/>
            </a:solidFill>
          </c:spPr>
          <c:cat>
            <c:strRef>
              <c:f>Sheet1!$A$2:$A$7</c:f>
              <c:strCache>
                <c:ptCount val="6"/>
                <c:pt idx="0">
                  <c:v>2021</c:v>
                </c:pt>
                <c:pt idx="1">
                  <c:v>2022</c:v>
                </c:pt>
                <c:pt idx="2">
                  <c:v>2023</c:v>
                </c:pt>
                <c:pt idx="3">
                  <c:v>2024</c:v>
                </c:pt>
                <c:pt idx="4">
                  <c:v>2025</c:v>
                </c:pt>
                <c:pt idx="5">
                  <c:v>2026 (8 mois)</c:v>
                </c:pt>
              </c:strCache>
            </c:strRef>
          </c:cat>
          <c:val>
            <c:numRef>
              <c:f>Sheet1!$G$2:$G$7</c:f>
              <c:numCache>
                <c:formatCode># ##0,,</c:formatCode>
                <c:ptCount val="6"/>
                <c:pt idx="0">
                  <c:v>0</c:v>
                </c:pt>
                <c:pt idx="1">
                  <c:v>22440100</c:v>
                </c:pt>
                <c:pt idx="2">
                  <c:v>143012090</c:v>
                </c:pt>
                <c:pt idx="3">
                  <c:v>209941000</c:v>
                </c:pt>
                <c:pt idx="4">
                  <c:v>268242800</c:v>
                </c:pt>
                <c:pt idx="5">
                  <c:v>151510000</c:v>
                </c:pt>
              </c:numCache>
            </c:numRef>
          </c:val>
        </c:ser>
        <c:ser>
          <c:idx val="6"/>
          <c:order val="6"/>
          <c:tx>
            <c:strRef>
              <c:f>Sheet1!$H$1</c:f>
              <c:strCache>
                <c:ptCount val="1"/>
                <c:pt idx="0">
                  <c:v>Crédit scolaire</c:v>
                </c:pt>
              </c:strCache>
            </c:strRef>
          </c:tx>
          <c:spPr>
            <a:solidFill>
              <a:srgbClr val="5B7A99"/>
            </a:solidFill>
          </c:spPr>
          <c:cat>
            <c:strRef>
              <c:f>Sheet1!$A$2:$A$7</c:f>
              <c:strCache>
                <c:ptCount val="6"/>
                <c:pt idx="0">
                  <c:v>2021</c:v>
                </c:pt>
                <c:pt idx="1">
                  <c:v>2022</c:v>
                </c:pt>
                <c:pt idx="2">
                  <c:v>2023</c:v>
                </c:pt>
                <c:pt idx="3">
                  <c:v>2024</c:v>
                </c:pt>
                <c:pt idx="4">
                  <c:v>2025</c:v>
                </c:pt>
                <c:pt idx="5">
                  <c:v>2026 (8 mois)</c:v>
                </c:pt>
              </c:strCache>
            </c:strRef>
          </c:cat>
          <c:val>
            <c:numRef>
              <c:f>Sheet1!$H$2:$H$7</c:f>
              <c:numCache>
                <c:formatCode># ##0,,</c:formatCode>
                <c:ptCount val="6"/>
                <c:pt idx="0">
                  <c:v>3700000</c:v>
                </c:pt>
                <c:pt idx="1">
                  <c:v>106550000</c:v>
                </c:pt>
                <c:pt idx="2">
                  <c:v>236870000</c:v>
                </c:pt>
                <c:pt idx="3">
                  <c:v>509425010</c:v>
                </c:pt>
                <c:pt idx="4">
                  <c:v>555305000</c:v>
                </c:pt>
                <c:pt idx="5">
                  <c:v>370515000</c:v>
                </c:pt>
              </c:numCache>
            </c:numRef>
          </c:val>
        </c:ser>
        <c:ser>
          <c:idx val="7"/>
          <c:order val="7"/>
          <c:tx>
            <c:strRef>
              <c:f>Sheet1!$I$1</c:f>
              <c:strCache>
                <c:ptCount val="1"/>
                <c:pt idx="0">
                  <c:v>Equipement domestique</c:v>
                </c:pt>
              </c:strCache>
            </c:strRef>
          </c:tx>
          <c:spPr>
            <a:solidFill>
              <a:srgbClr val="112A40"/>
            </a:solidFill>
          </c:spPr>
          <c:cat>
            <c:strRef>
              <c:f>Sheet1!$A$2:$A$7</c:f>
              <c:strCache>
                <c:ptCount val="6"/>
                <c:pt idx="0">
                  <c:v>2021</c:v>
                </c:pt>
                <c:pt idx="1">
                  <c:v>2022</c:v>
                </c:pt>
                <c:pt idx="2">
                  <c:v>2023</c:v>
                </c:pt>
                <c:pt idx="3">
                  <c:v>2024</c:v>
                </c:pt>
                <c:pt idx="4">
                  <c:v>2025</c:v>
                </c:pt>
                <c:pt idx="5">
                  <c:v>2026 (8 mois)</c:v>
                </c:pt>
              </c:strCache>
            </c:strRef>
          </c:cat>
          <c:val>
            <c:numRef>
              <c:f>Sheet1!$I$2:$I$7</c:f>
              <c:numCache>
                <c:formatCode># ##0,,</c:formatCode>
                <c:ptCount val="6"/>
                <c:pt idx="0">
                  <c:v>3700000</c:v>
                </c:pt>
                <c:pt idx="1">
                  <c:v>18515000</c:v>
                </c:pt>
                <c:pt idx="2">
                  <c:v>28080000</c:v>
                </c:pt>
                <c:pt idx="3">
                  <c:v>32665000</c:v>
                </c:pt>
                <c:pt idx="4">
                  <c:v>13200000</c:v>
                </c:pt>
                <c:pt idx="5">
                  <c:v>22455000</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Plus de 30 jours</c:v>
                </c:pt>
              </c:strCache>
            </c:strRef>
          </c:tx>
          <c:spPr>
            <a:ln w="28575">
              <a:solidFill>
                <a:srgbClr val="112A40"/>
              </a:solidFill>
            </a:ln>
          </c:spPr>
          <c:marker>
            <c:spPr>
              <a:solidFill>
                <a:srgbClr val="112A40"/>
              </a:solidFill>
              <a:ln>
                <a:solidFill>
                  <a:srgbClr val="112A40"/>
                </a:solidFill>
              </a:ln>
            </c:spPr>
          </c:marker>
          <c:cat>
            <c:strRef>
              <c:f>Sheet1!$A$2:$A$13</c:f>
              <c:strCache>
                <c:ptCount val="12"/>
                <c:pt idx="0">
                  <c:v>31/12/2021</c:v>
                </c:pt>
                <c:pt idx="1">
                  <c:v>31/12/2022</c:v>
                </c:pt>
                <c:pt idx="2">
                  <c:v>31/12/2023</c:v>
                </c:pt>
                <c:pt idx="3">
                  <c:v>31/12/2024</c:v>
                </c:pt>
                <c:pt idx="4">
                  <c:v>31/12/2025</c:v>
                </c:pt>
                <c:pt idx="5">
                  <c:v>31/01/2026</c:v>
                </c:pt>
                <c:pt idx="6">
                  <c:v>31/03/2026</c:v>
                </c:pt>
                <c:pt idx="7">
                  <c:v>30/04/2026</c:v>
                </c:pt>
                <c:pt idx="8">
                  <c:v>31/05/2026</c:v>
                </c:pt>
                <c:pt idx="9">
                  <c:v>30/06/2026</c:v>
                </c:pt>
                <c:pt idx="10">
                  <c:v>31/07/2026</c:v>
                </c:pt>
                <c:pt idx="11">
                  <c:v>31/08/2026</c:v>
                </c:pt>
              </c:strCache>
            </c:strRef>
          </c:cat>
          <c:val>
            <c:numRef>
              <c:f>Sheet1!$B$2:$B$13</c:f>
              <c:numCache>
                <c:formatCode>0.00</c:formatCode>
                <c:ptCount val="12"/>
                <c:pt idx="0">
                  <c:v>0.0</c:v>
                </c:pt>
                <c:pt idx="1">
                  <c:v>8.74</c:v>
                </c:pt>
                <c:pt idx="2">
                  <c:v>0.24</c:v>
                </c:pt>
                <c:pt idx="3">
                  <c:v>1.72</c:v>
                </c:pt>
                <c:pt idx="4">
                  <c:v>3.8</c:v>
                </c:pt>
                <c:pt idx="5">
                  <c:v>61.96</c:v>
                </c:pt>
                <c:pt idx="6">
                  <c:v>35.37</c:v>
                </c:pt>
                <c:pt idx="7">
                  <c:v>21.99</c:v>
                </c:pt>
                <c:pt idx="8">
                  <c:v>13.99</c:v>
                </c:pt>
                <c:pt idx="9">
                  <c:v>8.52</c:v>
                </c:pt>
                <c:pt idx="10">
                  <c:v>3.96</c:v>
                </c:pt>
                <c:pt idx="11">
                  <c:v>1.83</c:v>
                </c:pt>
              </c:numCache>
            </c:numRef>
          </c:val>
          <c:smooth val="0"/>
        </c:ser>
        <c:ser>
          <c:idx val="1"/>
          <c:order val="1"/>
          <c:tx>
            <c:strRef>
              <c:f>Sheet1!$C$1</c:f>
              <c:strCache>
                <c:ptCount val="1"/>
                <c:pt idx="0">
                  <c:v>Plus de 90 jours</c:v>
                </c:pt>
              </c:strCache>
            </c:strRef>
          </c:tx>
          <c:spPr>
            <a:ln w="28575">
              <a:solidFill>
                <a:srgbClr val="EFAC62"/>
              </a:solidFill>
            </a:ln>
          </c:spPr>
          <c:marker>
            <c:spPr>
              <a:solidFill>
                <a:srgbClr val="EFAC62"/>
              </a:solidFill>
              <a:ln>
                <a:solidFill>
                  <a:srgbClr val="EFAC62"/>
                </a:solidFill>
              </a:ln>
            </c:spPr>
          </c:marker>
          <c:cat>
            <c:strRef>
              <c:f>Sheet1!$A$2:$A$13</c:f>
              <c:strCache>
                <c:ptCount val="12"/>
                <c:pt idx="0">
                  <c:v>31/12/2021</c:v>
                </c:pt>
                <c:pt idx="1">
                  <c:v>31/12/2022</c:v>
                </c:pt>
                <c:pt idx="2">
                  <c:v>31/12/2023</c:v>
                </c:pt>
                <c:pt idx="3">
                  <c:v>31/12/2024</c:v>
                </c:pt>
                <c:pt idx="4">
                  <c:v>31/12/2025</c:v>
                </c:pt>
                <c:pt idx="5">
                  <c:v>31/01/2026</c:v>
                </c:pt>
                <c:pt idx="6">
                  <c:v>31/03/2026</c:v>
                </c:pt>
                <c:pt idx="7">
                  <c:v>30/04/2026</c:v>
                </c:pt>
                <c:pt idx="8">
                  <c:v>31/05/2026</c:v>
                </c:pt>
                <c:pt idx="9">
                  <c:v>30/06/2026</c:v>
                </c:pt>
                <c:pt idx="10">
                  <c:v>31/07/2026</c:v>
                </c:pt>
                <c:pt idx="11">
                  <c:v>31/08/2026</c:v>
                </c:pt>
              </c:strCache>
            </c:strRef>
          </c:cat>
          <c:val>
            <c:numRef>
              <c:f>Sheet1!$C$2:$C$13</c:f>
              <c:numCache>
                <c:formatCode>0.00</c:formatCode>
                <c:ptCount val="12"/>
                <c:pt idx="0">
                  <c:v>0.0</c:v>
                </c:pt>
                <c:pt idx="1">
                  <c:v>8.74</c:v>
                </c:pt>
                <c:pt idx="2">
                  <c:v>0.24</c:v>
                </c:pt>
                <c:pt idx="3">
                  <c:v>1.32</c:v>
                </c:pt>
                <c:pt idx="4">
                  <c:v>0.85</c:v>
                </c:pt>
                <c:pt idx="5">
                  <c:v>0.93</c:v>
                </c:pt>
                <c:pt idx="6">
                  <c:v>35.23</c:v>
                </c:pt>
                <c:pt idx="7">
                  <c:v>21.93</c:v>
                </c:pt>
                <c:pt idx="8">
                  <c:v>13.78</c:v>
                </c:pt>
                <c:pt idx="9">
                  <c:v>8.17</c:v>
                </c:pt>
                <c:pt idx="10">
                  <c:v>3.79</c:v>
                </c:pt>
                <c:pt idx="11">
                  <c:v>1.71</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Échéances</c:v>
                </c:pt>
              </c:strCache>
            </c:strRef>
          </c:tx>
          <c:spPr>
            <a:solidFill>
              <a:srgbClr val="112A40"/>
            </a:solidFill>
          </c:spPr>
          <c:cat>
            <c:strRef>
              <c:f>Sheet1!$A$2:$A$8</c:f>
              <c:strCache>
                <c:ptCount val="7"/>
                <c:pt idx="0">
                  <c:v>janv. 26</c:v>
                </c:pt>
                <c:pt idx="1">
                  <c:v>mars 26</c:v>
                </c:pt>
                <c:pt idx="2">
                  <c:v>avr. 26</c:v>
                </c:pt>
                <c:pt idx="3">
                  <c:v>mai 26</c:v>
                </c:pt>
                <c:pt idx="4">
                  <c:v>juin 26</c:v>
                </c:pt>
                <c:pt idx="5">
                  <c:v>juil. 26</c:v>
                </c:pt>
                <c:pt idx="6">
                  <c:v>août 26</c:v>
                </c:pt>
              </c:strCache>
            </c:strRef>
          </c:cat>
          <c:val>
            <c:numRef>
              <c:f>Sheet1!$B$2:$B$8</c:f>
              <c:numCache>
                <c:formatCode># ##0,,</c:formatCode>
                <c:ptCount val="7"/>
                <c:pt idx="0">
                  <c:v>167784430</c:v>
                </c:pt>
                <c:pt idx="1">
                  <c:v>184076769</c:v>
                </c:pt>
                <c:pt idx="2">
                  <c:v>168474822</c:v>
                </c:pt>
                <c:pt idx="3">
                  <c:v>169652320</c:v>
                </c:pt>
                <c:pt idx="4">
                  <c:v>172760779</c:v>
                </c:pt>
                <c:pt idx="5">
                  <c:v>182530820</c:v>
                </c:pt>
                <c:pt idx="6">
                  <c:v>184892374</c:v>
                </c:pt>
              </c:numCache>
            </c:numRef>
          </c:val>
        </c:ser>
        <c:ser>
          <c:idx val="1"/>
          <c:order val="1"/>
          <c:tx>
            <c:strRef>
              <c:f>Sheet1!$C$1</c:f>
              <c:strCache>
                <c:ptCount val="1"/>
                <c:pt idx="0">
                  <c:v>Précomptes 9X4</c:v>
                </c:pt>
              </c:strCache>
            </c:strRef>
          </c:tx>
          <c:spPr>
            <a:solidFill>
              <a:srgbClr val="EFAC62"/>
            </a:solidFill>
          </c:spPr>
          <c:cat>
            <c:strRef>
              <c:f>Sheet1!$A$2:$A$8</c:f>
              <c:strCache>
                <c:ptCount val="7"/>
                <c:pt idx="0">
                  <c:v>janv. 26</c:v>
                </c:pt>
                <c:pt idx="1">
                  <c:v>mars 26</c:v>
                </c:pt>
                <c:pt idx="2">
                  <c:v>avr. 26</c:v>
                </c:pt>
                <c:pt idx="3">
                  <c:v>mai 26</c:v>
                </c:pt>
                <c:pt idx="4">
                  <c:v>juin 26</c:v>
                </c:pt>
                <c:pt idx="5">
                  <c:v>juil. 26</c:v>
                </c:pt>
                <c:pt idx="6">
                  <c:v>août 26</c:v>
                </c:pt>
              </c:strCache>
            </c:strRef>
          </c:cat>
          <c:val>
            <c:numRef>
              <c:f>Sheet1!$C$2:$C$8</c:f>
              <c:numCache>
                <c:formatCode># ##0,,</c:formatCode>
                <c:ptCount val="7"/>
                <c:pt idx="0">
                  <c:v>142557746</c:v>
                </c:pt>
                <c:pt idx="1">
                  <c:v>139420845</c:v>
                </c:pt>
                <c:pt idx="2">
                  <c:v>138410953</c:v>
                </c:pt>
                <c:pt idx="3">
                  <c:v>143081813</c:v>
                </c:pt>
                <c:pt idx="4">
                  <c:v>147496219</c:v>
                </c:pt>
                <c:pt idx="5">
                  <c:v>150817238</c:v>
                </c:pt>
                <c:pt idx="6">
                  <c:v>156330374</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Retraités</c:v>
                </c:pt>
              </c:strCache>
            </c:strRef>
          </c:tx>
          <c:spPr>
            <a:ln w="28575">
              <a:solidFill>
                <a:srgbClr val="112A40"/>
              </a:solidFill>
            </a:ln>
          </c:spPr>
          <c:marker>
            <c:spPr>
              <a:solidFill>
                <a:srgbClr val="112A40"/>
              </a:solidFill>
              <a:ln>
                <a:solidFill>
                  <a:srgbClr val="112A40"/>
                </a:solidFill>
              </a:ln>
            </c:spPr>
          </c:marker>
          <c:cat>
            <c:strRef>
              <c:f>Sheet1!$A$2:$A$31</c:f>
              <c:strCache>
                <c:ptCount val="30"/>
                <c:pt idx="0">
                  <c:v>févr. 24</c:v>
                </c:pt>
                <c:pt idx="1">
                  <c:v>mars 24</c:v>
                </c:pt>
                <c:pt idx="2">
                  <c:v>avr. 24</c:v>
                </c:pt>
                <c:pt idx="3">
                  <c:v>mai 24</c:v>
                </c:pt>
                <c:pt idx="4">
                  <c:v>juil. 24</c:v>
                </c:pt>
                <c:pt idx="5">
                  <c:v>août 24</c:v>
                </c:pt>
                <c:pt idx="6">
                  <c:v>sept. 24</c:v>
                </c:pt>
                <c:pt idx="7">
                  <c:v>oct. 24</c:v>
                </c:pt>
                <c:pt idx="8">
                  <c:v>nov. 24</c:v>
                </c:pt>
                <c:pt idx="9">
                  <c:v>déc. 24</c:v>
                </c:pt>
                <c:pt idx="10">
                  <c:v>janv. 25</c:v>
                </c:pt>
                <c:pt idx="11">
                  <c:v>févr. 25</c:v>
                </c:pt>
                <c:pt idx="12">
                  <c:v>mars 25</c:v>
                </c:pt>
                <c:pt idx="13">
                  <c:v>avr. 25</c:v>
                </c:pt>
                <c:pt idx="14">
                  <c:v>mai 25</c:v>
                </c:pt>
                <c:pt idx="15">
                  <c:v>juin 25</c:v>
                </c:pt>
                <c:pt idx="16">
                  <c:v>juil. 25</c:v>
                </c:pt>
                <c:pt idx="17">
                  <c:v>août 25</c:v>
                </c:pt>
                <c:pt idx="18">
                  <c:v>sept. 25</c:v>
                </c:pt>
                <c:pt idx="19">
                  <c:v>oct. 25</c:v>
                </c:pt>
                <c:pt idx="20">
                  <c:v>nov. 25</c:v>
                </c:pt>
                <c:pt idx="21">
                  <c:v>déc. 25</c:v>
                </c:pt>
                <c:pt idx="22">
                  <c:v>janv. 26</c:v>
                </c:pt>
                <c:pt idx="23">
                  <c:v>févr. 26</c:v>
                </c:pt>
                <c:pt idx="24">
                  <c:v>mars 26</c:v>
                </c:pt>
                <c:pt idx="25">
                  <c:v>avr. 26</c:v>
                </c:pt>
                <c:pt idx="26">
                  <c:v>mai 26</c:v>
                </c:pt>
                <c:pt idx="27">
                  <c:v>juin 26</c:v>
                </c:pt>
                <c:pt idx="28">
                  <c:v>juil. 26</c:v>
                </c:pt>
                <c:pt idx="29">
                  <c:v>août 26</c:v>
                </c:pt>
              </c:strCache>
            </c:strRef>
          </c:cat>
          <c:val>
            <c:numRef>
              <c:f>Sheet1!$B$2:$B$31</c:f>
              <c:numCache>
                <c:formatCode>0</c:formatCode>
                <c:ptCount val="30"/>
                <c:pt idx="0">
                  <c:v>16</c:v>
                </c:pt>
                <c:pt idx="1">
                  <c:v>84</c:v>
                </c:pt>
                <c:pt idx="2">
                  <c:v>105</c:v>
                </c:pt>
                <c:pt idx="3">
                  <c:v>134</c:v>
                </c:pt>
                <c:pt idx="4">
                  <c:v>176</c:v>
                </c:pt>
                <c:pt idx="5">
                  <c:v>196</c:v>
                </c:pt>
                <c:pt idx="6">
                  <c:v>237</c:v>
                </c:pt>
                <c:pt idx="7">
                  <c:v>255</c:v>
                </c:pt>
                <c:pt idx="8">
                  <c:v>280</c:v>
                </c:pt>
                <c:pt idx="9">
                  <c:v>291</c:v>
                </c:pt>
                <c:pt idx="10">
                  <c:v>306</c:v>
                </c:pt>
                <c:pt idx="11">
                  <c:v>314</c:v>
                </c:pt>
                <c:pt idx="12">
                  <c:v>322</c:v>
                </c:pt>
                <c:pt idx="13">
                  <c:v>336</c:v>
                </c:pt>
                <c:pt idx="14">
                  <c:v>358</c:v>
                </c:pt>
                <c:pt idx="15">
                  <c:v>368</c:v>
                </c:pt>
                <c:pt idx="16">
                  <c:v>386</c:v>
                </c:pt>
                <c:pt idx="17">
                  <c:v>409</c:v>
                </c:pt>
                <c:pt idx="18">
                  <c:v>468</c:v>
                </c:pt>
                <c:pt idx="19">
                  <c:v>495</c:v>
                </c:pt>
                <c:pt idx="20">
                  <c:v>506</c:v>
                </c:pt>
                <c:pt idx="21">
                  <c:v>532</c:v>
                </c:pt>
                <c:pt idx="22">
                  <c:v>592</c:v>
                </c:pt>
                <c:pt idx="23">
                  <c:v>587</c:v>
                </c:pt>
                <c:pt idx="24">
                  <c:v>584</c:v>
                </c:pt>
                <c:pt idx="25">
                  <c:v>580</c:v>
                </c:pt>
                <c:pt idx="26">
                  <c:v>584</c:v>
                </c:pt>
                <c:pt idx="27">
                  <c:v>591</c:v>
                </c:pt>
                <c:pt idx="28">
                  <c:v>600</c:v>
                </c:pt>
                <c:pt idx="29">
                  <c:v>610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Mois couverts</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276.29</c:v>
                </c:pt>
                <c:pt idx="1">
                  <c:v>115.14</c:v>
                </c:pt>
                <c:pt idx="2">
                  <c:v>250.52</c:v>
                </c:pt>
                <c:pt idx="3">
                  <c:v>87.47</c:v>
                </c:pt>
                <c:pt idx="4">
                  <c:v>45.84</c:v>
                </c:pt>
                <c:pt idx="5">
                  <c:v>29.5</c:v>
                </c:pt>
                <c:pt idx="6">
                  <c:v>21.48</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PSAP maladie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2867602878</c:v>
                </c:pt>
                <c:pt idx="1">
                  <c:v>2867602878</c:v>
                </c:pt>
                <c:pt idx="2">
                  <c:v>2867602878</c:v>
                </c:pt>
                <c:pt idx="3">
                  <c:v>2867602878</c:v>
                </c:pt>
                <c:pt idx="4">
                  <c:v>2867602878</c:v>
                </c:pt>
                <c:pt idx="5">
                  <c:v>2867602878</c:v>
                </c:pt>
                <c:pt idx="6">
                  <c:v>2867602878</c:v>
                </c:pt>
              </c:numCache>
            </c:numRef>
          </c:val>
        </c:ser>
        <c:ser>
          <c:idx val="1"/>
          <c:order val="1"/>
          <c:tx>
            <c:strRef>
              <c:f>Sheet1!$C$1</c:f>
              <c:strCache>
                <c:ptCount val="1"/>
                <c:pt idx="0">
                  <c:v>Dettes envers les cliniques (40110000)</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1394774547</c:v>
                </c:pt>
                <c:pt idx="1">
                  <c:v>875220557</c:v>
                </c:pt>
                <c:pt idx="2">
                  <c:v>533144348</c:v>
                </c:pt>
                <c:pt idx="3">
                  <c:v>271270756</c:v>
                </c:pt>
                <c:pt idx="4">
                  <c:v>236353873</c:v>
                </c:pt>
                <c:pt idx="5">
                  <c:v>242140869</c:v>
                </c:pt>
                <c:pt idx="6">
                  <c:v>690234451</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Investissements CMP</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2984680712</c:v>
                </c:pt>
                <c:pt idx="1">
                  <c:v>3521598249</c:v>
                </c:pt>
                <c:pt idx="2">
                  <c:v>3785598221</c:v>
                </c:pt>
                <c:pt idx="3">
                  <c:v>4069396329</c:v>
                </c:pt>
                <c:pt idx="4">
                  <c:v>4944656429</c:v>
                </c:pt>
                <c:pt idx="5">
                  <c:v>6002976947</c:v>
                </c:pt>
                <c:pt idx="6">
                  <c:v>7083534565</c:v>
                </c:pt>
              </c:numCache>
            </c:numRef>
          </c:val>
        </c:ser>
        <c:ser>
          <c:idx val="1"/>
          <c:order val="1"/>
          <c:tx>
            <c:strRef>
              <c:f>Sheet1!$C$1</c:f>
              <c:strCache>
                <c:ptCount val="1"/>
                <c:pt idx="0">
                  <c:v>Terrains</c:v>
                </c:pt>
              </c:strCache>
            </c:strRef>
          </c:tx>
          <c:spPr>
            <a:solidFill>
              <a:srgbClr val="53565A"/>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3931156624</c:v>
                </c:pt>
                <c:pt idx="1">
                  <c:v>3443682500</c:v>
                </c:pt>
                <c:pt idx="2">
                  <c:v>3443682500</c:v>
                </c:pt>
                <c:pt idx="3">
                  <c:v>3443682500</c:v>
                </c:pt>
                <c:pt idx="4">
                  <c:v>3443682500</c:v>
                </c:pt>
                <c:pt idx="5">
                  <c:v>5245896750</c:v>
                </c:pt>
                <c:pt idx="6">
                  <c:v>5245896750</c:v>
                </c:pt>
              </c:numCache>
            </c:numRef>
          </c:val>
        </c:ser>
        <c:ser>
          <c:idx val="2"/>
          <c:order val="2"/>
          <c:tx>
            <c:strRef>
              <c:f>Sheet1!$D$1</c:f>
              <c:strCache>
                <c:ptCount val="1"/>
                <c:pt idx="0">
                  <c:v>Créance Hôpital de la Police</c:v>
                </c:pt>
              </c:strCache>
            </c:strRef>
          </c:tx>
          <c:spPr>
            <a:solidFill>
              <a:srgbClr val="BBBCBC"/>
            </a:solidFill>
          </c:spPr>
          <c:cat>
            <c:strRef>
              <c:f>Sheet1!$A$2:$A$8</c:f>
              <c:strCache>
                <c:ptCount val="7"/>
                <c:pt idx="0">
                  <c:v>2020</c:v>
                </c:pt>
                <c:pt idx="1">
                  <c:v>2021</c:v>
                </c:pt>
                <c:pt idx="2">
                  <c:v>2022</c:v>
                </c:pt>
                <c:pt idx="3">
                  <c:v>2023</c:v>
                </c:pt>
                <c:pt idx="4">
                  <c:v>2024</c:v>
                </c:pt>
                <c:pt idx="5">
                  <c:v>2025</c:v>
                </c:pt>
                <c:pt idx="6">
                  <c:v>31/08/2026</c:v>
                </c:pt>
              </c:strCache>
            </c:strRef>
          </c:cat>
          <c:val>
            <c:numRef>
              <c:f>Sheet1!$D$2:$D$8</c:f>
              <c:numCache>
                <c:formatCode># ##0,,</c:formatCode>
                <c:ptCount val="7"/>
                <c:pt idx="0">
                  <c:v>3407519850</c:v>
                </c:pt>
                <c:pt idx="1">
                  <c:v>3407519850</c:v>
                </c:pt>
                <c:pt idx="2">
                  <c:v>3407519850</c:v>
                </c:pt>
                <c:pt idx="3">
                  <c:v>3407519850</c:v>
                </c:pt>
                <c:pt idx="4">
                  <c:v>3407519850</c:v>
                </c:pt>
                <c:pt idx="5">
                  <c:v>3407519850</c:v>
                </c:pt>
                <c:pt idx="6">
                  <c:v>3407519850</c:v>
                </c:pt>
              </c:numCache>
            </c:numRef>
          </c:val>
        </c:ser>
        <c:ser>
          <c:idx val="3"/>
          <c:order val="3"/>
          <c:tx>
            <c:strRef>
              <c:f>Sheet1!$E$1</c:f>
              <c:strCache>
                <c:ptCount val="1"/>
                <c:pt idx="0">
                  <c:v>Financement du Grenier</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Sheet1!$E$2:$E$8</c:f>
              <c:numCache>
                <c:formatCode># ##0,,</c:formatCode>
                <c:ptCount val="7"/>
                <c:pt idx="0">
                  <c:v>0</c:v>
                </c:pt>
                <c:pt idx="1">
                  <c:v>27030000</c:v>
                </c:pt>
                <c:pt idx="2">
                  <c:v>458483900</c:v>
                </c:pt>
                <c:pt idx="3">
                  <c:v>504192100</c:v>
                </c:pt>
                <c:pt idx="4">
                  <c:v>650882600</c:v>
                </c:pt>
                <c:pt idx="5">
                  <c:v>817121335</c:v>
                </c:pt>
                <c:pt idx="6">
                  <c:v>915477260</c:v>
                </c:pt>
              </c:numCache>
            </c:numRef>
          </c:val>
        </c:ser>
        <c:ser>
          <c:idx val="4"/>
          <c:order val="4"/>
          <c:tx>
            <c:strRef>
              <c:f>Sheet1!$F$1</c:f>
              <c:strCache>
                <c:ptCount val="1"/>
                <c:pt idx="0">
                  <c:v>Trésorerie</c:v>
                </c:pt>
              </c:strCache>
            </c:strRef>
          </c:tx>
          <c:spPr>
            <a:solidFill>
              <a:srgbClr val="060606"/>
            </a:solidFill>
          </c:spPr>
          <c:cat>
            <c:strRef>
              <c:f>Sheet1!$A$2:$A$8</c:f>
              <c:strCache>
                <c:ptCount val="7"/>
                <c:pt idx="0">
                  <c:v>2020</c:v>
                </c:pt>
                <c:pt idx="1">
                  <c:v>2021</c:v>
                </c:pt>
                <c:pt idx="2">
                  <c:v>2022</c:v>
                </c:pt>
                <c:pt idx="3">
                  <c:v>2023</c:v>
                </c:pt>
                <c:pt idx="4">
                  <c:v>2024</c:v>
                </c:pt>
                <c:pt idx="5">
                  <c:v>2025</c:v>
                </c:pt>
                <c:pt idx="6">
                  <c:v>31/08/2026</c:v>
                </c:pt>
              </c:strCache>
            </c:strRef>
          </c:cat>
          <c:val>
            <c:numRef>
              <c:f>Sheet1!$F$2:$F$8</c:f>
              <c:numCache>
                <c:formatCode># ##0,,</c:formatCode>
                <c:ptCount val="7"/>
                <c:pt idx="0">
                  <c:v>630462899</c:v>
                </c:pt>
                <c:pt idx="1">
                  <c:v>2300331943</c:v>
                </c:pt>
                <c:pt idx="2">
                  <c:v>1233051977</c:v>
                </c:pt>
                <c:pt idx="3">
                  <c:v>1116267103</c:v>
                </c:pt>
                <c:pt idx="4">
                  <c:v>979838445</c:v>
                </c:pt>
                <c:pt idx="5">
                  <c:v>1964171543</c:v>
                </c:pt>
                <c:pt idx="6">
                  <c:v>3359100618</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Actif immédiat</c:v>
                </c:pt>
              </c:strCache>
            </c:strRef>
          </c:tx>
          <c:spPr>
            <a:solidFill>
              <a:srgbClr val="060606"/>
            </a:solidFill>
          </c:spPr>
          <c:cat>
            <c:strRef>
              <c:f>Sheet1!$A$2:$A$5</c:f>
              <c:strCache>
                <c:ptCount val="4"/>
                <c:pt idx="0">
                  <c:v>Actif 31/12/2025</c:v>
                </c:pt>
                <c:pt idx="1">
                  <c:v>Passif 31/12/2025</c:v>
                </c:pt>
                <c:pt idx="2">
                  <c:v>Actif 31/08/2026</c:v>
                </c:pt>
                <c:pt idx="3">
                  <c:v>Passif 31/08/2026</c:v>
                </c:pt>
              </c:strCache>
            </c:strRef>
          </c:cat>
          <c:val>
            <c:numRef>
              <c:f>Sheet1!$B$2:$B$5</c:f>
              <c:numCache>
                <c:formatCode># ##0,,</c:formatCode>
                <c:ptCount val="4"/>
                <c:pt idx="0">
                  <c:v>1464171543</c:v>
                </c:pt>
                <c:pt idx="2">
                  <c:v>2373558814</c:v>
                </c:pt>
              </c:numCache>
            </c:numRef>
          </c:val>
        </c:ser>
        <c:ser>
          <c:idx val="1"/>
          <c:order val="1"/>
          <c:tx>
            <c:strRef>
              <c:f>Sheet1!$C$1</c:f>
              <c:strCache>
                <c:ptCount val="1"/>
                <c:pt idx="0">
                  <c:v>Actif à moins d'un an</c:v>
                </c:pt>
              </c:strCache>
            </c:strRef>
          </c:tx>
          <c:spPr>
            <a:solidFill>
              <a:srgbClr val="53565A"/>
            </a:solidFill>
          </c:spPr>
          <c:cat>
            <c:strRef>
              <c:f>Sheet1!$A$2:$A$5</c:f>
              <c:strCache>
                <c:ptCount val="4"/>
                <c:pt idx="0">
                  <c:v>Actif 31/12/2025</c:v>
                </c:pt>
                <c:pt idx="1">
                  <c:v>Passif 31/12/2025</c:v>
                </c:pt>
                <c:pt idx="2">
                  <c:v>Actif 31/08/2026</c:v>
                </c:pt>
                <c:pt idx="3">
                  <c:v>Passif 31/08/2026</c:v>
                </c:pt>
              </c:strCache>
            </c:strRef>
          </c:cat>
          <c:val>
            <c:numRef>
              <c:f>Sheet1!$C$2:$C$5</c:f>
              <c:numCache>
                <c:formatCode># ##0,,</c:formatCode>
                <c:ptCount val="4"/>
                <c:pt idx="0">
                  <c:v>1250837284</c:v>
                </c:pt>
                <c:pt idx="2">
                  <c:v>1084308137</c:v>
                </c:pt>
              </c:numCache>
            </c:numRef>
          </c:val>
        </c:ser>
        <c:ser>
          <c:idx val="2"/>
          <c:order val="2"/>
          <c:tx>
            <c:strRef>
              <c:f>Sheet1!$D$1</c:f>
              <c:strCache>
                <c:ptCount val="1"/>
                <c:pt idx="0">
                  <c:v>Actif à 1 à 5 ans</c:v>
                </c:pt>
              </c:strCache>
            </c:strRef>
          </c:tx>
          <c:spPr>
            <a:solidFill>
              <a:srgbClr val="EFAC62"/>
            </a:solidFill>
          </c:spPr>
          <c:cat>
            <c:strRef>
              <c:f>Sheet1!$A$2:$A$5</c:f>
              <c:strCache>
                <c:ptCount val="4"/>
                <c:pt idx="0">
                  <c:v>Actif 31/12/2025</c:v>
                </c:pt>
                <c:pt idx="1">
                  <c:v>Passif 31/12/2025</c:v>
                </c:pt>
                <c:pt idx="2">
                  <c:v>Actif 31/08/2026</c:v>
                </c:pt>
                <c:pt idx="3">
                  <c:v>Passif 31/08/2026</c:v>
                </c:pt>
              </c:strCache>
            </c:strRef>
          </c:cat>
          <c:val>
            <c:numRef>
              <c:f>Sheet1!$D$2:$D$5</c:f>
              <c:numCache>
                <c:formatCode># ##0,,</c:formatCode>
                <c:ptCount val="4"/>
                <c:pt idx="0">
                  <c:v>1198959085</c:v>
                </c:pt>
                <c:pt idx="2">
                  <c:v>1297315010</c:v>
                </c:pt>
              </c:numCache>
            </c:numRef>
          </c:val>
        </c:ser>
        <c:ser>
          <c:idx val="3"/>
          <c:order val="3"/>
          <c:tx>
            <c:strRef>
              <c:f>Sheet1!$E$1</c:f>
              <c:strCache>
                <c:ptCount val="1"/>
                <c:pt idx="0">
                  <c:v>Actif à plus de 5 ans ou incertain</c:v>
                </c:pt>
              </c:strCache>
            </c:strRef>
          </c:tx>
          <c:spPr>
            <a:solidFill>
              <a:srgbClr val="BBBCBC"/>
            </a:solidFill>
          </c:spPr>
          <c:cat>
            <c:strRef>
              <c:f>Sheet1!$A$2:$A$5</c:f>
              <c:strCache>
                <c:ptCount val="4"/>
                <c:pt idx="0">
                  <c:v>Actif 31/12/2025</c:v>
                </c:pt>
                <c:pt idx="1">
                  <c:v>Passif 31/12/2025</c:v>
                </c:pt>
                <c:pt idx="2">
                  <c:v>Actif 31/08/2026</c:v>
                </c:pt>
                <c:pt idx="3">
                  <c:v>Passif 31/08/2026</c:v>
                </c:pt>
              </c:strCache>
            </c:strRef>
          </c:cat>
          <c:val>
            <c:numRef>
              <c:f>Sheet1!$E$2:$E$5</c:f>
              <c:numCache>
                <c:formatCode># ##0,,</c:formatCode>
                <c:ptCount val="4"/>
                <c:pt idx="0">
                  <c:v>16040901123</c:v>
                </c:pt>
                <c:pt idx="2">
                  <c:v>17170238905</c:v>
                </c:pt>
              </c:numCache>
            </c:numRef>
          </c:val>
        </c:ser>
        <c:ser>
          <c:idx val="4"/>
          <c:order val="4"/>
          <c:tx>
            <c:strRef>
              <c:f>Sheet1!$F$1</c:f>
              <c:strCache>
                <c:ptCount val="1"/>
                <c:pt idx="0">
                  <c:v>Passif à moins d'un an</c:v>
                </c:pt>
              </c:strCache>
            </c:strRef>
          </c:tx>
          <c:spPr>
            <a:solidFill>
              <a:srgbClr val="112A40"/>
            </a:solidFill>
          </c:spPr>
          <c:cat>
            <c:strRef>
              <c:f>Sheet1!$A$2:$A$5</c:f>
              <c:strCache>
                <c:ptCount val="4"/>
                <c:pt idx="0">
                  <c:v>Actif 31/12/2025</c:v>
                </c:pt>
                <c:pt idx="1">
                  <c:v>Passif 31/12/2025</c:v>
                </c:pt>
                <c:pt idx="2">
                  <c:v>Actif 31/08/2026</c:v>
                </c:pt>
                <c:pt idx="3">
                  <c:v>Passif 31/08/2026</c:v>
                </c:pt>
              </c:strCache>
            </c:strRef>
          </c:cat>
          <c:val>
            <c:numRef>
              <c:f>Sheet1!$F$2:$F$5</c:f>
              <c:numCache>
                <c:formatCode># ##0,,</c:formatCode>
                <c:ptCount val="4"/>
                <c:pt idx="1">
                  <c:v>6535377593</c:v>
                </c:pt>
                <c:pt idx="3">
                  <c:v>7017736497</c:v>
                </c:pt>
              </c:numCache>
            </c:numRef>
          </c:val>
        </c:ser>
        <c:ser>
          <c:idx val="5"/>
          <c:order val="5"/>
          <c:tx>
            <c:strRef>
              <c:f>Sheet1!$G$1</c:f>
              <c:strCache>
                <c:ptCount val="1"/>
                <c:pt idx="0">
                  <c:v>Épargne, échéance à établir</c:v>
                </c:pt>
              </c:strCache>
            </c:strRef>
          </c:tx>
          <c:spPr>
            <a:solidFill>
              <a:srgbClr val="C00000"/>
            </a:solidFill>
          </c:spPr>
          <c:cat>
            <c:strRef>
              <c:f>Sheet1!$A$2:$A$5</c:f>
              <c:strCache>
                <c:ptCount val="4"/>
                <c:pt idx="0">
                  <c:v>Actif 31/12/2025</c:v>
                </c:pt>
                <c:pt idx="1">
                  <c:v>Passif 31/12/2025</c:v>
                </c:pt>
                <c:pt idx="2">
                  <c:v>Actif 31/08/2026</c:v>
                </c:pt>
                <c:pt idx="3">
                  <c:v>Passif 31/08/2026</c:v>
                </c:pt>
              </c:strCache>
            </c:strRef>
          </c:cat>
          <c:val>
            <c:numRef>
              <c:f>Sheet1!$G$2:$G$5</c:f>
              <c:numCache>
                <c:formatCode># ##0,,</c:formatCode>
                <c:ptCount val="4"/>
                <c:pt idx="1">
                  <c:v>13814066964</c:v>
                </c:pt>
                <c:pt idx="3">
                  <c:v>15743516391</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Fonds propres</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-6743081733</c:v>
                </c:pt>
                <c:pt idx="1">
                  <c:v>-4659173531</c:v>
                </c:pt>
                <c:pt idx="2">
                  <c:v>-2598840854</c:v>
                </c:pt>
                <c:pt idx="3">
                  <c:v>-1668211752</c:v>
                </c:pt>
                <c:pt idx="4">
                  <c:v>-876142111</c:v>
                </c:pt>
                <c:pt idx="5">
                  <c:v>-438242200</c:v>
                </c:pt>
                <c:pt idx="6">
                  <c:v>-879498700</c:v>
                </c:pt>
              </c:numCache>
            </c:numRef>
          </c:val>
        </c:ser>
        <c:ser>
          <c:idx val="1"/>
          <c:order val="1"/>
          <c:tx>
            <c:strRef>
              <c:f>Sheet1!$C$1</c:f>
              <c:strCache>
                <c:ptCount val="1"/>
                <c:pt idx="0">
                  <c:v>Résultat de l'exercice</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1018579699</c:v>
                </c:pt>
                <c:pt idx="1">
                  <c:v>2083908202</c:v>
                </c:pt>
                <c:pt idx="2">
                  <c:v>2060332677</c:v>
                </c:pt>
                <c:pt idx="3">
                  <c:v>930629102</c:v>
                </c:pt>
                <c:pt idx="4">
                  <c:v>792069641</c:v>
                </c:pt>
                <c:pt idx="5">
                  <c:v>437899911</c:v>
                </c:pt>
                <c:pt idx="6">
                  <c:v>-441256500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Taux directeur</c:v>
                </c:pt>
              </c:strCache>
            </c:strRef>
          </c:tx>
          <c:spPr>
            <a:ln w="28575">
              <a:solidFill>
                <a:srgbClr val="112A40"/>
              </a:solidFill>
            </a:ln>
          </c:spPr>
          <c:marker>
            <c:spPr>
              <a:solidFill>
                <a:srgbClr val="112A40"/>
              </a:solidFill>
              <a:ln>
                <a:solidFill>
                  <a:srgbClr val="112A40"/>
                </a:solidFill>
              </a:ln>
            </c:spPr>
          </c:marker>
          <c:cat>
            <c:strRef>
              <c:f>Sheet1!$A$2:$A$10</c:f>
              <c:strCache>
                <c:ptCount val="9"/>
                <c:pt idx="0">
                  <c:v>01/01/2020</c:v>
                </c:pt>
                <c:pt idx="1">
                  <c:v>24/06/2020</c:v>
                </c:pt>
                <c:pt idx="2">
                  <c:v>16/06/2022</c:v>
                </c:pt>
                <c:pt idx="3">
                  <c:v>16/09/2022</c:v>
                </c:pt>
                <c:pt idx="4">
                  <c:v>16/12/2022</c:v>
                </c:pt>
                <c:pt idx="5">
                  <c:v>16/03/2023</c:v>
                </c:pt>
                <c:pt idx="6">
                  <c:v>16/09/2023</c:v>
                </c:pt>
                <c:pt idx="7">
                  <c:v>16/12/2023</c:v>
                </c:pt>
                <c:pt idx="8">
                  <c:v>16/06/2025</c:v>
                </c:pt>
              </c:strCache>
            </c:strRef>
          </c:cat>
          <c:val>
            <c:numRef>
              <c:f>Sheet1!$B$2:$B$10</c:f>
              <c:numCache>
                <c:formatCode>0.00</c:formatCode>
                <c:ptCount val="9"/>
                <c:pt idx="0">
                  <c:v>2.5</c:v>
                </c:pt>
                <c:pt idx="1">
                  <c:v>2.0</c:v>
                </c:pt>
                <c:pt idx="2">
                  <c:v>2.25</c:v>
                </c:pt>
                <c:pt idx="3">
                  <c:v>2.5</c:v>
                </c:pt>
                <c:pt idx="4">
                  <c:v>2.75</c:v>
                </c:pt>
                <c:pt idx="5">
                  <c:v>3.0</c:v>
                </c:pt>
                <c:pt idx="6">
                  <c:v>3.25</c:v>
                </c:pt>
                <c:pt idx="7">
                  <c:v>3.5</c:v>
                </c:pt>
                <c:pt idx="8">
                  <c:v>3.25</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Liquidité comme le FPPN</c:v>
                </c:pt>
              </c:strCache>
            </c:strRef>
          </c:tx>
          <c:spPr>
            <a:ln w="28575">
              <a:solidFill>
                <a:srgbClr val="112A40"/>
              </a:solidFill>
            </a:ln>
          </c:spPr>
          <c:marker>
            <c:spPr>
              <a:solidFill>
                <a:srgbClr val="112A40"/>
              </a:solidFill>
              <a:ln>
                <a:solidFill>
                  <a:srgbClr val="112A40"/>
                </a:solidFill>
              </a:ln>
            </c:spPr>
          </c:marker>
          <c:cat>
            <c:strRef>
              <c:f>Sheet1!$A$2:$A$7</c:f>
              <c:strCache>
                <c:ptCount val="6"/>
                <c:pt idx="0">
                  <c:v>2021</c:v>
                </c:pt>
                <c:pt idx="1">
                  <c:v>2022</c:v>
                </c:pt>
                <c:pt idx="2">
                  <c:v>2023</c:v>
                </c:pt>
                <c:pt idx="3">
                  <c:v>2024</c:v>
                </c:pt>
                <c:pt idx="4">
                  <c:v>2025</c:v>
                </c:pt>
                <c:pt idx="5">
                  <c:v>2026</c:v>
                </c:pt>
              </c:strCache>
            </c:strRef>
          </c:cat>
          <c:val>
            <c:numRef>
              <c:f>Sheet1!$B$2:$B$7</c:f>
              <c:numCache>
                <c:formatCode>0.00</c:formatCode>
                <c:ptCount val="6"/>
                <c:pt idx="0">
                  <c:v>0.19</c:v>
                </c:pt>
                <c:pt idx="1">
                  <c:v>0.1</c:v>
                </c:pt>
                <c:pt idx="2">
                  <c:v>0.11</c:v>
                </c:pt>
                <c:pt idx="3">
                  <c:v>0.07</c:v>
                </c:pt>
                <c:pt idx="4">
                  <c:v>0.13</c:v>
                </c:pt>
                <c:pt idx="5">
                  <c:v>0.19</c:v>
                </c:pt>
              </c:numCache>
            </c:numRef>
          </c:val>
          <c:smooth val="0"/>
        </c:ser>
        <c:ser>
          <c:idx val="1"/>
          <c:order val="1"/>
          <c:tx>
            <c:strRef>
              <c:f>Sheet1!$C$1</c:f>
              <c:strCache>
                <c:ptCount val="1"/>
                <c:pt idx="0">
                  <c:v>Liquidité retraitée</c:v>
                </c:pt>
              </c:strCache>
            </c:strRef>
          </c:tx>
          <c:spPr>
            <a:ln w="28575">
              <a:solidFill>
                <a:srgbClr val="EFAC62"/>
              </a:solidFill>
            </a:ln>
          </c:spPr>
          <c:marker>
            <c:spPr>
              <a:solidFill>
                <a:srgbClr val="EFAC62"/>
              </a:solidFill>
              <a:ln>
                <a:solidFill>
                  <a:srgbClr val="EFAC62"/>
                </a:solidFill>
              </a:ln>
            </c:spPr>
          </c:marker>
          <c:cat>
            <c:strRef>
              <c:f>Sheet1!$A$2:$A$7</c:f>
              <c:strCache>
                <c:ptCount val="6"/>
                <c:pt idx="0">
                  <c:v>2021</c:v>
                </c:pt>
                <c:pt idx="1">
                  <c:v>2022</c:v>
                </c:pt>
                <c:pt idx="2">
                  <c:v>2023</c:v>
                </c:pt>
                <c:pt idx="3">
                  <c:v>2024</c:v>
                </c:pt>
                <c:pt idx="4">
                  <c:v>2025</c:v>
                </c:pt>
                <c:pt idx="5">
                  <c:v>2026</c:v>
                </c:pt>
              </c:strCache>
            </c:strRef>
          </c:cat>
          <c:val>
            <c:numRef>
              <c:f>Sheet1!$C$2:$C$7</c:f>
              <c:numCache>
                <c:formatCode>0.00</c:formatCode>
                <c:ptCount val="6"/>
                <c:pt idx="0">
                  <c:v>0.64</c:v>
                </c:pt>
                <c:pt idx="1">
                  <c:v>0.51</c:v>
                </c:pt>
                <c:pt idx="2">
                  <c:v>0.54</c:v>
                </c:pt>
                <c:pt idx="3">
                  <c:v>0.33</c:v>
                </c:pt>
                <c:pt idx="4">
                  <c:v>1.15</c:v>
                </c:pt>
                <c:pt idx="5">
                  <c:v>1.53</c:v>
                </c:pt>
              </c:numCache>
            </c:numRef>
          </c:val>
          <c:smooth val="0"/>
        </c:ser>
        <c:ser>
          <c:idx val="2"/>
          <c:order val="2"/>
          <c:tx>
            <c:strRef>
              <c:f>Sheet1!$D$1</c:f>
              <c:strCache>
                <c:ptCount val="1"/>
                <c:pt idx="0">
                  <c:v>Équilibre stable retraité</c:v>
                </c:pt>
              </c:strCache>
            </c:strRef>
          </c:tx>
          <c:spPr>
            <a:ln w="28575">
              <a:solidFill>
                <a:srgbClr val="53565A"/>
              </a:solidFill>
            </a:ln>
          </c:spPr>
          <c:marker>
            <c:spPr>
              <a:solidFill>
                <a:srgbClr val="53565A"/>
              </a:solidFill>
              <a:ln>
                <a:solidFill>
                  <a:srgbClr val="53565A"/>
                </a:solidFill>
              </a:ln>
            </c:spPr>
          </c:marker>
          <c:cat>
            <c:strRef>
              <c:f>Sheet1!$A$2:$A$7</c:f>
              <c:strCache>
                <c:ptCount val="6"/>
                <c:pt idx="0">
                  <c:v>2021</c:v>
                </c:pt>
                <c:pt idx="1">
                  <c:v>2022</c:v>
                </c:pt>
                <c:pt idx="2">
                  <c:v>2023</c:v>
                </c:pt>
                <c:pt idx="3">
                  <c:v>2024</c:v>
                </c:pt>
                <c:pt idx="4">
                  <c:v>2025</c:v>
                </c:pt>
                <c:pt idx="5">
                  <c:v>2026</c:v>
                </c:pt>
              </c:strCache>
            </c:strRef>
          </c:cat>
          <c:val>
            <c:numRef>
              <c:f>Sheet1!$D$2:$D$7</c:f>
              <c:numCache>
                <c:formatCode>0.00</c:formatCode>
                <c:ptCount val="6"/>
                <c:pt idx="0">
                  <c:v>1.14</c:v>
                </c:pt>
                <c:pt idx="1">
                  <c:v>1.09</c:v>
                </c:pt>
                <c:pt idx="2">
                  <c:v>1.08</c:v>
                </c:pt>
                <c:pt idx="3">
                  <c:v>1.08</c:v>
                </c:pt>
                <c:pt idx="4">
                  <c:v>0.94</c:v>
                </c:pt>
                <c:pt idx="5">
                  <c:v>0.94</c:v>
                </c:pt>
              </c:numCache>
            </c:numRef>
          </c:val>
          <c:smooth val="0"/>
        </c:ser>
        <c:ser>
          <c:idx val="3"/>
          <c:order val="3"/>
          <c:tx>
            <c:strRef>
              <c:f>Sheet1!$E$1</c:f>
              <c:strCache>
                <c:ptCount val="1"/>
                <c:pt idx="0">
                  <c:v>Norme (1)</c:v>
                </c:pt>
              </c:strCache>
            </c:strRef>
          </c:tx>
          <c:spPr>
            <a:ln w="28575">
              <a:solidFill>
                <a:srgbClr val="C00000"/>
              </a:solidFill>
            </a:ln>
          </c:spPr>
          <c:marker>
            <c:spPr>
              <a:solidFill>
                <a:srgbClr val="C00000"/>
              </a:solidFill>
              <a:ln>
                <a:solidFill>
                  <a:srgbClr val="C00000"/>
                </a:solidFill>
              </a:ln>
            </c:spPr>
          </c:marker>
          <c:cat>
            <c:strRef>
              <c:f>Sheet1!$A$2:$A$7</c:f>
              <c:strCache>
                <c:ptCount val="6"/>
                <c:pt idx="0">
                  <c:v>2021</c:v>
                </c:pt>
                <c:pt idx="1">
                  <c:v>2022</c:v>
                </c:pt>
                <c:pt idx="2">
                  <c:v>2023</c:v>
                </c:pt>
                <c:pt idx="3">
                  <c:v>2024</c:v>
                </c:pt>
                <c:pt idx="4">
                  <c:v>2025</c:v>
                </c:pt>
                <c:pt idx="5">
                  <c:v>2026</c:v>
                </c:pt>
              </c:strCache>
            </c:strRef>
          </c:cat>
          <c:val>
            <c:numRef>
              <c:f>Sheet1!$E$2:$E$7</c:f>
              <c:numCache>
                <c:formatCode>0.00</c:formatCode>
                <c:ptCount val="6"/>
                <c:pt idx="0">
                  <c:v>1.0</c:v>
                </c:pt>
                <c:pt idx="1">
                  <c:v>1.0</c:v>
                </c:pt>
                <c:pt idx="2">
                  <c:v>1.0</c:v>
                </c:pt>
                <c:pt idx="3">
                  <c:v>1.0</c:v>
                </c:pt>
                <c:pt idx="4">
                  <c:v>1.0</c:v>
                </c:pt>
                <c:pt idx="5">
                  <c:v>1.0</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Maladie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450556166</c:v>
                </c:pt>
                <c:pt idx="1">
                  <c:v>775696432</c:v>
                </c:pt>
                <c:pt idx="2">
                  <c:v>818990532</c:v>
                </c:pt>
                <c:pt idx="3">
                  <c:v>544608847</c:v>
                </c:pt>
                <c:pt idx="4">
                  <c:v>346250445</c:v>
                </c:pt>
                <c:pt idx="5">
                  <c:v>-237774567</c:v>
                </c:pt>
                <c:pt idx="6">
                  <c:v>-701679552</c:v>
                </c:pt>
              </c:numCache>
            </c:numRef>
          </c:val>
        </c:ser>
        <c:ser>
          <c:idx val="1"/>
          <c:order val="1"/>
          <c:tx>
            <c:strRef>
              <c:f>Sheet1!$C$1</c:f>
              <c:strCache>
                <c:ptCount val="1"/>
                <c:pt idx="0">
                  <c:v>Décès</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-297076358</c:v>
                </c:pt>
                <c:pt idx="1">
                  <c:v>-25796447</c:v>
                </c:pt>
                <c:pt idx="2">
                  <c:v>284293552</c:v>
                </c:pt>
                <c:pt idx="3">
                  <c:v>315201377</c:v>
                </c:pt>
                <c:pt idx="4">
                  <c:v>392850349</c:v>
                </c:pt>
                <c:pt idx="5">
                  <c:v>449151155</c:v>
                </c:pt>
                <c:pt idx="6">
                  <c:v>239560278</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Marge exigée</c:v>
                </c:pt>
              </c:strCache>
            </c:strRef>
          </c:tx>
          <c:spPr>
            <a:solidFill>
              <a:srgbClr val="BBBCBC"/>
            </a:solidFill>
          </c:spPr>
          <c:cat>
            <c:strRef>
              <c:f>Sheet1!$A$2:$A$7</c:f>
              <c:strCache>
                <c:ptCount val="6"/>
                <c:pt idx="0">
                  <c:v>2021</c:v>
                </c:pt>
                <c:pt idx="1">
                  <c:v>2022</c:v>
                </c:pt>
                <c:pt idx="2">
                  <c:v>2023</c:v>
                </c:pt>
                <c:pt idx="3">
                  <c:v>2024</c:v>
                </c:pt>
                <c:pt idx="4">
                  <c:v>2025</c:v>
                </c:pt>
                <c:pt idx="5">
                  <c:v>31/08/2026</c:v>
                </c:pt>
              </c:strCache>
            </c:strRef>
          </c:cat>
          <c:val>
            <c:numRef>
              <c:f>Sheet1!$B$2:$B$7</c:f>
              <c:numCache>
                <c:formatCode># ##0,,</c:formatCode>
                <c:ptCount val="6"/>
                <c:pt idx="0">
                  <c:v>423039138</c:v>
                </c:pt>
                <c:pt idx="1">
                  <c:v>436176762</c:v>
                </c:pt>
                <c:pt idx="2">
                  <c:v>459907226</c:v>
                </c:pt>
                <c:pt idx="3">
                  <c:v>499226913</c:v>
                </c:pt>
                <c:pt idx="4">
                  <c:v>566209845</c:v>
                </c:pt>
                <c:pt idx="5">
                  <c:v>615265510</c:v>
                </c:pt>
              </c:numCache>
            </c:numRef>
          </c:val>
        </c:ser>
        <c:ser>
          <c:idx val="1"/>
          <c:order val="1"/>
          <c:tx>
            <c:strRef>
              <c:f>Sheet1!$C$1</c:f>
              <c:strCache>
                <c:ptCount val="1"/>
                <c:pt idx="0">
                  <c:v>Disponible comme le FPPN</c:v>
                </c:pt>
              </c:strCache>
            </c:strRef>
          </c:tx>
          <c:spPr>
            <a:solidFill>
              <a:srgbClr val="112A40"/>
            </a:solidFill>
          </c:spPr>
          <c:cat>
            <c:strRef>
              <c:f>Sheet1!$A$2:$A$7</c:f>
              <c:strCache>
                <c:ptCount val="6"/>
                <c:pt idx="0">
                  <c:v>2021</c:v>
                </c:pt>
                <c:pt idx="1">
                  <c:v>2022</c:v>
                </c:pt>
                <c:pt idx="2">
                  <c:v>2023</c:v>
                </c:pt>
                <c:pt idx="3">
                  <c:v>2024</c:v>
                </c:pt>
                <c:pt idx="4">
                  <c:v>2025</c:v>
                </c:pt>
                <c:pt idx="5">
                  <c:v>31/08/2026</c:v>
                </c:pt>
              </c:strCache>
            </c:strRef>
          </c:cat>
          <c:val>
            <c:numRef>
              <c:f>Sheet1!$C$2:$C$7</c:f>
              <c:numCache>
                <c:formatCode># ##0,,</c:formatCode>
                <c:ptCount val="6"/>
                <c:pt idx="0">
                  <c:v>2899400000</c:v>
                </c:pt>
                <c:pt idx="1">
                  <c:v>2899400000</c:v>
                </c:pt>
                <c:pt idx="2">
                  <c:v>3083619879</c:v>
                </c:pt>
                <c:pt idx="3">
                  <c:v>3604772176</c:v>
                </c:pt>
                <c:pt idx="4">
                  <c:v>4396841817</c:v>
                </c:pt>
                <c:pt idx="5">
                  <c:v>4396841817</c:v>
                </c:pt>
              </c:numCache>
            </c:numRef>
          </c:val>
        </c:ser>
        <c:ser>
          <c:idx val="2"/>
          <c:order val="2"/>
          <c:tx>
            <c:strRef>
              <c:f>Sheet1!$D$1</c:f>
              <c:strCache>
                <c:ptCount val="1"/>
                <c:pt idx="0">
                  <c:v>Disponible nette des pertes</c:v>
                </c:pt>
              </c:strCache>
            </c:strRef>
          </c:tx>
          <c:spPr>
            <a:solidFill>
              <a:srgbClr val="EFAC62"/>
            </a:solidFill>
          </c:spPr>
          <c:cat>
            <c:strRef>
              <c:f>Sheet1!$A$2:$A$7</c:f>
              <c:strCache>
                <c:ptCount val="6"/>
                <c:pt idx="0">
                  <c:v>2021</c:v>
                </c:pt>
                <c:pt idx="1">
                  <c:v>2022</c:v>
                </c:pt>
                <c:pt idx="2">
                  <c:v>2023</c:v>
                </c:pt>
                <c:pt idx="3">
                  <c:v>2024</c:v>
                </c:pt>
                <c:pt idx="4">
                  <c:v>2025</c:v>
                </c:pt>
                <c:pt idx="5">
                  <c:v>31/08/2026</c:v>
                </c:pt>
              </c:strCache>
            </c:strRef>
          </c:cat>
          <c:val>
            <c:numRef>
              <c:f>Sheet1!$D$2:$D$7</c:f>
              <c:numCache>
                <c:formatCode># ##0,,</c:formatCode>
                <c:ptCount val="6"/>
                <c:pt idx="0">
                  <c:v>-4659173531</c:v>
                </c:pt>
                <c:pt idx="1">
                  <c:v>-2598840854</c:v>
                </c:pt>
                <c:pt idx="2">
                  <c:v>-1668211752</c:v>
                </c:pt>
                <c:pt idx="3">
                  <c:v>-876142111</c:v>
                </c:pt>
                <c:pt idx="4">
                  <c:v>-438242200</c:v>
                </c:pt>
                <c:pt idx="5">
                  <c:v>-879498700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Pour la sinistralité (70 %)</c:v>
                </c:pt>
              </c:strCache>
            </c:strRef>
          </c:tx>
          <c:spPr>
            <a:ln w="28575">
              <a:solidFill>
                <a:srgbClr val="EFAC62"/>
              </a:solidFill>
            </a:ln>
          </c:spPr>
          <c:marker>
            <c:spPr>
              <a:solidFill>
                <a:srgbClr val="EFAC62"/>
              </a:solidFill>
              <a:ln>
                <a:solidFill>
                  <a:srgbClr val="EFAC62"/>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0.64</c:v>
                </c:pt>
                <c:pt idx="1">
                  <c:v>1.48</c:v>
                </c:pt>
                <c:pt idx="2">
                  <c:v>0.65</c:v>
                </c:pt>
                <c:pt idx="3">
                  <c:v>1.75</c:v>
                </c:pt>
                <c:pt idx="4">
                  <c:v>2.88</c:v>
                </c:pt>
                <c:pt idx="5">
                  <c:v>4.11</c:v>
                </c:pt>
                <c:pt idx="6">
                  <c:v>5.0</c:v>
                </c:pt>
              </c:numCache>
            </c:numRef>
          </c:val>
          <c:smooth val="0"/>
        </c:ser>
        <c:ser>
          <c:idx val="1"/>
          <c:order val="1"/>
          <c:tx>
            <c:strRef>
              <c:f>Sheet1!$C$1</c:f>
              <c:strCache>
                <c:ptCount val="1"/>
                <c:pt idx="0">
                  <c:v>Pour le taux des charges (20 %)</c:v>
                </c:pt>
              </c:strCache>
            </c:strRef>
          </c:tx>
          <c:spPr>
            <a:ln w="28575">
              <a:solidFill>
                <a:srgbClr val="112A40"/>
              </a:solidFill>
            </a:ln>
          </c:spPr>
          <c:marker>
            <c:spPr>
              <a:solidFill>
                <a:srgbClr val="112A40"/>
              </a:solidFill>
              <a:ln>
                <a:solidFill>
                  <a:srgbClr val="112A40"/>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0.00</c:formatCode>
                <c:ptCount val="7"/>
                <c:pt idx="0">
                  <c:v>21.08</c:v>
                </c:pt>
                <c:pt idx="1">
                  <c:v>12.0</c:v>
                </c:pt>
                <c:pt idx="2">
                  <c:v>11.84</c:v>
                </c:pt>
                <c:pt idx="3">
                  <c:v>11.21</c:v>
                </c:pt>
                <c:pt idx="4">
                  <c:v>9.02</c:v>
                </c:pt>
                <c:pt idx="5">
                  <c:v>9.08</c:v>
                </c:pt>
                <c:pt idx="6">
                  <c:v>11.03</c:v>
                </c:pt>
              </c:numCache>
            </c:numRef>
          </c:val>
          <c:smooth val="0"/>
        </c:ser>
        <c:ser>
          <c:idx val="2"/>
          <c:order val="2"/>
          <c:tx>
            <c:strRef>
              <c:f>Sheet1!$D$1</c:f>
              <c:strCache>
                <c:ptCount val="1"/>
                <c:pt idx="0">
                  <c:v>Taux des statuts</c:v>
                </c:pt>
              </c:strCache>
            </c:strRef>
          </c:tx>
          <c:spPr>
            <a:ln w="28575">
              <a:solidFill>
                <a:srgbClr val="53565A"/>
              </a:solidFill>
            </a:ln>
          </c:spPr>
          <c:marker>
            <c:spPr>
              <a:solidFill>
                <a:srgbClr val="53565A"/>
              </a:solidFill>
              <a:ln>
                <a:solidFill>
                  <a:srgbClr val="53565A"/>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Sheet1!$D$2:$D$8</c:f>
              <c:numCache>
                <c:formatCode>0.00</c:formatCode>
                <c:ptCount val="7"/>
                <c:pt idx="0">
                  <c:v>5.0</c:v>
                </c:pt>
                <c:pt idx="1">
                  <c:v>5.0</c:v>
                </c:pt>
                <c:pt idx="2">
                  <c:v>5.0</c:v>
                </c:pt>
                <c:pt idx="3">
                  <c:v>5.0</c:v>
                </c:pt>
                <c:pt idx="4">
                  <c:v>5.0</c:v>
                </c:pt>
                <c:pt idx="5">
                  <c:v>5.0</c:v>
                </c:pt>
                <c:pt idx="6">
                  <c:v>5.0</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Services hospitaliers</c:v>
                </c:pt>
              </c:strCache>
            </c:strRef>
          </c:tx>
          <c:spPr>
            <a:ln w="28575">
              <a:solidFill>
                <a:srgbClr val="112A40"/>
              </a:solidFill>
            </a:ln>
          </c:spPr>
          <c:marker>
            <c:spPr>
              <a:solidFill>
                <a:srgbClr val="112A40"/>
              </a:solidFill>
              <a:ln>
                <a:solidFill>
                  <a:srgbClr val="112A40"/>
                </a:solidFill>
              </a:ln>
            </c:spPr>
          </c:marker>
          <c:cat>
            <c:strRef>
              <c:f>Sheet1!$A$2:$A$6</c:f>
              <c:strCache>
                <c:ptCount val="5"/>
                <c:pt idx="0">
                  <c:v>2020</c:v>
                </c:pt>
                <c:pt idx="1">
                  <c:v>2021</c:v>
                </c:pt>
                <c:pt idx="2">
                  <c:v>2022</c:v>
                </c:pt>
                <c:pt idx="3">
                  <c:v>2023</c:v>
                </c:pt>
                <c:pt idx="4">
                  <c:v>2024</c:v>
                </c:pt>
              </c:strCache>
            </c:strRef>
          </c:cat>
          <c:val>
            <c:numRef>
              <c:f>Sheet1!$B$2:$B$6</c:f>
              <c:numCache>
                <c:formatCode>0.00</c:formatCode>
                <c:ptCount val="5"/>
                <c:pt idx="0">
                  <c:v>1.3</c:v>
                </c:pt>
                <c:pt idx="1">
                  <c:v>0.66</c:v>
                </c:pt>
                <c:pt idx="2">
                  <c:v>1.48</c:v>
                </c:pt>
                <c:pt idx="3">
                  <c:v>0.94</c:v>
                </c:pt>
                <c:pt idx="4">
                  <c:v>1.35</c:v>
                </c:pt>
              </c:numCache>
            </c:numRef>
          </c:val>
          <c:smooth val="0"/>
        </c:ser>
        <c:ser>
          <c:idx val="1"/>
          <c:order val="1"/>
          <c:tx>
            <c:strRef>
              <c:f>Sheet1!$C$1</c:f>
              <c:strCache>
                <c:ptCount val="1"/>
                <c:pt idx="0">
                  <c:v>Laboratoires et radiologie</c:v>
                </c:pt>
              </c:strCache>
            </c:strRef>
          </c:tx>
          <c:spPr>
            <a:ln w="28575">
              <a:solidFill>
                <a:srgbClr val="EFAC62"/>
              </a:solidFill>
            </a:ln>
          </c:spPr>
          <c:marker>
            <c:spPr>
              <a:solidFill>
                <a:srgbClr val="EFAC62"/>
              </a:solidFill>
              <a:ln>
                <a:solidFill>
                  <a:srgbClr val="EFAC62"/>
                </a:solidFill>
              </a:ln>
            </c:spPr>
          </c:marker>
          <c:cat>
            <c:strRef>
              <c:f>Sheet1!$A$2:$A$6</c:f>
              <c:strCache>
                <c:ptCount val="5"/>
                <c:pt idx="0">
                  <c:v>2020</c:v>
                </c:pt>
                <c:pt idx="1">
                  <c:v>2021</c:v>
                </c:pt>
                <c:pt idx="2">
                  <c:v>2022</c:v>
                </c:pt>
                <c:pt idx="3">
                  <c:v>2023</c:v>
                </c:pt>
                <c:pt idx="4">
                  <c:v>2024</c:v>
                </c:pt>
              </c:strCache>
            </c:strRef>
          </c:cat>
          <c:val>
            <c:numRef>
              <c:f>Sheet1!$C$2:$C$6</c:f>
              <c:numCache>
                <c:formatCode>0.00</c:formatCode>
                <c:ptCount val="5"/>
                <c:pt idx="0">
                  <c:v>-0.27</c:v>
                </c:pt>
                <c:pt idx="1">
                  <c:v>0.1</c:v>
                </c:pt>
                <c:pt idx="2">
                  <c:v>11.29</c:v>
                </c:pt>
                <c:pt idx="3">
                  <c:v>3.97</c:v>
                </c:pt>
                <c:pt idx="4">
                  <c:v>2.32</c:v>
                </c:pt>
              </c:numCache>
            </c:numRef>
          </c:val>
          <c:smooth val="0"/>
        </c:ser>
        <c:ser>
          <c:idx val="2"/>
          <c:order val="2"/>
          <c:tx>
            <c:strRef>
              <c:f>Sheet1!$D$1</c:f>
              <c:strCache>
                <c:ptCount val="1"/>
                <c:pt idx="0">
                  <c:v>Médicaments modernes</c:v>
                </c:pt>
              </c:strCache>
            </c:strRef>
          </c:tx>
          <c:spPr>
            <a:ln w="28575">
              <a:solidFill>
                <a:srgbClr val="53565A"/>
              </a:solidFill>
            </a:ln>
          </c:spPr>
          <c:marker>
            <c:spPr>
              <a:solidFill>
                <a:srgbClr val="53565A"/>
              </a:solidFill>
              <a:ln>
                <a:solidFill>
                  <a:srgbClr val="53565A"/>
                </a:solidFill>
              </a:ln>
            </c:spPr>
          </c:marker>
          <c:cat>
            <c:strRef>
              <c:f>Sheet1!$A$2:$A$6</c:f>
              <c:strCache>
                <c:ptCount val="5"/>
                <c:pt idx="0">
                  <c:v>2020</c:v>
                </c:pt>
                <c:pt idx="1">
                  <c:v>2021</c:v>
                </c:pt>
                <c:pt idx="2">
                  <c:v>2022</c:v>
                </c:pt>
                <c:pt idx="3">
                  <c:v>2023</c:v>
                </c:pt>
                <c:pt idx="4">
                  <c:v>2024</c:v>
                </c:pt>
              </c:strCache>
            </c:strRef>
          </c:cat>
          <c:val>
            <c:numRef>
              <c:f>Sheet1!$D$2:$D$6</c:f>
              <c:numCache>
                <c:formatCode>0.00</c:formatCode>
                <c:ptCount val="5"/>
                <c:pt idx="0">
                  <c:v>1.23</c:v>
                </c:pt>
                <c:pt idx="1">
                  <c:v>1.9</c:v>
                </c:pt>
                <c:pt idx="2">
                  <c:v>1.66</c:v>
                </c:pt>
                <c:pt idx="3">
                  <c:v>2.2</c:v>
                </c:pt>
                <c:pt idx="4">
                  <c:v>0.63</c:v>
                </c:pt>
              </c:numCache>
            </c:numRef>
          </c:val>
          <c:smooth val="0"/>
        </c:ser>
        <c:ser>
          <c:idx val="3"/>
          <c:order val="3"/>
          <c:tx>
            <c:strRef>
              <c:f>Sheet1!$E$1</c:f>
              <c:strCache>
                <c:ptCount val="1"/>
                <c:pt idx="0">
                  <c:v>Services médicaux et dentaires</c:v>
                </c:pt>
              </c:strCache>
            </c:strRef>
          </c:tx>
          <c:spPr>
            <a:ln w="28575">
              <a:solidFill>
                <a:srgbClr val="BBBCBC"/>
              </a:solidFill>
            </a:ln>
          </c:spPr>
          <c:marker>
            <c:spPr>
              <a:solidFill>
                <a:srgbClr val="BBBCBC"/>
              </a:solidFill>
              <a:ln>
                <a:solidFill>
                  <a:srgbClr val="BBBCBC"/>
                </a:solidFill>
              </a:ln>
            </c:spPr>
          </c:marker>
          <c:cat>
            <c:strRef>
              <c:f>Sheet1!$A$2:$A$6</c:f>
              <c:strCache>
                <c:ptCount val="5"/>
                <c:pt idx="0">
                  <c:v>2020</c:v>
                </c:pt>
                <c:pt idx="1">
                  <c:v>2021</c:v>
                </c:pt>
                <c:pt idx="2">
                  <c:v>2022</c:v>
                </c:pt>
                <c:pt idx="3">
                  <c:v>2023</c:v>
                </c:pt>
                <c:pt idx="4">
                  <c:v>2024</c:v>
                </c:pt>
              </c:strCache>
            </c:strRef>
          </c:cat>
          <c:val>
            <c:numRef>
              <c:f>Sheet1!$E$2:$E$6</c:f>
              <c:numCache>
                <c:formatCode>0.00</c:formatCode>
                <c:ptCount val="5"/>
                <c:pt idx="0">
                  <c:v>-0.96</c:v>
                </c:pt>
                <c:pt idx="1">
                  <c:v>5.89</c:v>
                </c:pt>
                <c:pt idx="2">
                  <c:v>1.25</c:v>
                </c:pt>
                <c:pt idx="3">
                  <c:v>-1.53</c:v>
                </c:pt>
                <c:pt idx="4">
                  <c:v>0.06</c:v>
                </c:pt>
              </c:numCache>
            </c:numRef>
          </c:val>
          <c:smooth val="0"/>
        </c:ser>
        <c:ser>
          <c:idx val="4"/>
          <c:order val="4"/>
          <c:tx>
            <c:strRef>
              <c:f>Sheet1!$F$1</c:f>
              <c:strCache>
                <c:ptCount val="1"/>
                <c:pt idx="0">
                  <c:v>Inflation pondérée du FPPN</c:v>
                </c:pt>
              </c:strCache>
            </c:strRef>
          </c:tx>
          <c:spPr>
            <a:ln w="28575">
              <a:solidFill>
                <a:srgbClr val="060606"/>
              </a:solidFill>
            </a:ln>
          </c:spPr>
          <c:marker>
            <c:spPr>
              <a:solidFill>
                <a:srgbClr val="060606"/>
              </a:solidFill>
              <a:ln>
                <a:solidFill>
                  <a:srgbClr val="060606"/>
                </a:solidFill>
              </a:ln>
            </c:spPr>
          </c:marker>
          <c:cat>
            <c:strRef>
              <c:f>Sheet1!$A$2:$A$6</c:f>
              <c:strCache>
                <c:ptCount val="5"/>
                <c:pt idx="0">
                  <c:v>2020</c:v>
                </c:pt>
                <c:pt idx="1">
                  <c:v>2021</c:v>
                </c:pt>
                <c:pt idx="2">
                  <c:v>2022</c:v>
                </c:pt>
                <c:pt idx="3">
                  <c:v>2023</c:v>
                </c:pt>
                <c:pt idx="4">
                  <c:v>2024</c:v>
                </c:pt>
              </c:strCache>
            </c:strRef>
          </c:cat>
          <c:val>
            <c:numRef>
              <c:f>Sheet1!$F$2:$F$6</c:f>
              <c:numCache>
                <c:formatCode>0.00</c:formatCode>
                <c:ptCount val="5"/>
                <c:pt idx="0">
                  <c:v>-0.31</c:v>
                </c:pt>
                <c:pt idx="1">
                  <c:v>1.61</c:v>
                </c:pt>
                <c:pt idx="2">
                  <c:v>8.04</c:v>
                </c:pt>
                <c:pt idx="3">
                  <c:v>2.45</c:v>
                </c:pt>
                <c:pt idx="4">
                  <c:v>0.73</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CIMA H</c:v>
                </c:pt>
              </c:strCache>
            </c:strRef>
          </c:tx>
          <c:spPr>
            <a:ln w="28575">
              <a:solidFill>
                <a:srgbClr val="112A40"/>
              </a:solidFill>
            </a:ln>
          </c:spPr>
          <c:marker>
            <c:spPr>
              <a:solidFill>
                <a:srgbClr val="112A40"/>
              </a:solidFill>
              <a:ln>
                <a:solidFill>
                  <a:srgbClr val="112A40"/>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Sheet1!$B$2:$B$24</c:f>
              <c:numCache>
                <c:formatCode>0.00</c:formatCode>
                <c:ptCount val="23"/>
                <c:pt idx="0">
                  <c:v>100.0</c:v>
                </c:pt>
                <c:pt idx="1">
                  <c:v>99.25</c:v>
                </c:pt>
                <c:pt idx="2">
                  <c:v>99.09</c:v>
                </c:pt>
                <c:pt idx="3">
                  <c:v>98.89</c:v>
                </c:pt>
                <c:pt idx="4">
                  <c:v>98.34</c:v>
                </c:pt>
                <c:pt idx="5">
                  <c:v>97.53</c:v>
                </c:pt>
                <c:pt idx="6">
                  <c:v>96.63</c:v>
                </c:pt>
                <c:pt idx="7">
                  <c:v>95.6</c:v>
                </c:pt>
                <c:pt idx="8">
                  <c:v>94.25</c:v>
                </c:pt>
                <c:pt idx="9">
                  <c:v>92.31</c:v>
                </c:pt>
                <c:pt idx="10">
                  <c:v>89.56</c:v>
                </c:pt>
                <c:pt idx="11">
                  <c:v>86.04</c:v>
                </c:pt>
                <c:pt idx="12">
                  <c:v>81.51</c:v>
                </c:pt>
                <c:pt idx="13">
                  <c:v>75.11</c:v>
                </c:pt>
                <c:pt idx="14">
                  <c:v>66.44</c:v>
                </c:pt>
                <c:pt idx="15">
                  <c:v>55.74</c:v>
                </c:pt>
                <c:pt idx="16">
                  <c:v>43.23</c:v>
                </c:pt>
                <c:pt idx="17">
                  <c:v>29.22</c:v>
                </c:pt>
                <c:pt idx="18">
                  <c:v>15.94</c:v>
                </c:pt>
                <c:pt idx="19">
                  <c:v>5.26</c:v>
                </c:pt>
                <c:pt idx="20">
                  <c:v>0.3</c:v>
                </c:pt>
                <c:pt idx="21">
                  <c:v>0.0</c:v>
                </c:pt>
                <c:pt idx="22">
                  <c:v>0.0</c:v>
                </c:pt>
              </c:numCache>
            </c:numRef>
          </c:val>
          <c:smooth val="0"/>
        </c:ser>
        <c:ser>
          <c:idx val="1"/>
          <c:order val="1"/>
          <c:tx>
            <c:strRef>
              <c:f>Sheet1!$C$1</c:f>
              <c:strCache>
                <c:ptCount val="1"/>
                <c:pt idx="0">
                  <c:v>CIMA F</c:v>
                </c:pt>
              </c:strCache>
            </c:strRef>
          </c:tx>
          <c:spPr>
            <a:ln w="28575">
              <a:solidFill>
                <a:srgbClr val="EFAC62"/>
              </a:solidFill>
            </a:ln>
          </c:spPr>
          <c:marker>
            <c:spPr>
              <a:solidFill>
                <a:srgbClr val="EFAC62"/>
              </a:solidFill>
              <a:ln>
                <a:solidFill>
                  <a:srgbClr val="EFAC62"/>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Sheet1!$C$2:$C$24</c:f>
              <c:numCache>
                <c:formatCode>0.00</c:formatCode>
                <c:ptCount val="23"/>
                <c:pt idx="0">
                  <c:v>100.0</c:v>
                </c:pt>
                <c:pt idx="1">
                  <c:v>99.6</c:v>
                </c:pt>
                <c:pt idx="2">
                  <c:v>99.51</c:v>
                </c:pt>
                <c:pt idx="3">
                  <c:v>99.41</c:v>
                </c:pt>
                <c:pt idx="4">
                  <c:v>99.12</c:v>
                </c:pt>
                <c:pt idx="5">
                  <c:v>98.68</c:v>
                </c:pt>
                <c:pt idx="6">
                  <c:v>98.19</c:v>
                </c:pt>
                <c:pt idx="7">
                  <c:v>97.62</c:v>
                </c:pt>
                <c:pt idx="8">
                  <c:v>96.88</c:v>
                </c:pt>
                <c:pt idx="9">
                  <c:v>95.79</c:v>
                </c:pt>
                <c:pt idx="10">
                  <c:v>94.24</c:v>
                </c:pt>
                <c:pt idx="11">
                  <c:v>92.22</c:v>
                </c:pt>
                <c:pt idx="12">
                  <c:v>89.58</c:v>
                </c:pt>
                <c:pt idx="13">
                  <c:v>85.81</c:v>
                </c:pt>
                <c:pt idx="14">
                  <c:v>80.52</c:v>
                </c:pt>
                <c:pt idx="15">
                  <c:v>73.52</c:v>
                </c:pt>
                <c:pt idx="16">
                  <c:v>64.46</c:v>
                </c:pt>
                <c:pt idx="17">
                  <c:v>52.62</c:v>
                </c:pt>
                <c:pt idx="18">
                  <c:v>38.44</c:v>
                </c:pt>
                <c:pt idx="19">
                  <c:v>21.64</c:v>
                </c:pt>
                <c:pt idx="20">
                  <c:v>4.87</c:v>
                </c:pt>
                <c:pt idx="21">
                  <c:v>0.1</c:v>
                </c:pt>
                <c:pt idx="22">
                  <c:v>0.0</c:v>
                </c:pt>
              </c:numCache>
            </c:numRef>
          </c:val>
          <c:smooth val="0"/>
        </c:ser>
        <c:ser>
          <c:idx val="2"/>
          <c:order val="2"/>
          <c:tx>
            <c:strRef>
              <c:f>Sheet1!$D$1</c:f>
              <c:strCache>
                <c:ptCount val="1"/>
                <c:pt idx="0">
                  <c:v>TD CIMA</c:v>
                </c:pt>
              </c:strCache>
            </c:strRef>
          </c:tx>
          <c:spPr>
            <a:ln w="28575">
              <a:solidFill>
                <a:srgbClr val="53565A"/>
              </a:solidFill>
            </a:ln>
          </c:spPr>
          <c:marker>
            <c:spPr>
              <a:solidFill>
                <a:srgbClr val="53565A"/>
              </a:solidFill>
              <a:ln>
                <a:solidFill>
                  <a:srgbClr val="53565A"/>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Sheet1!$D$2:$D$24</c:f>
              <c:numCache>
                <c:formatCode>0.00</c:formatCode>
                <c:ptCount val="23"/>
                <c:pt idx="0">
                  <c:v>100.0</c:v>
                </c:pt>
                <c:pt idx="1">
                  <c:v>97.1</c:v>
                </c:pt>
                <c:pt idx="2">
                  <c:v>96.88</c:v>
                </c:pt>
                <c:pt idx="3">
                  <c:v>96.67</c:v>
                </c:pt>
                <c:pt idx="4">
                  <c:v>96.2</c:v>
                </c:pt>
                <c:pt idx="5">
                  <c:v>95.49</c:v>
                </c:pt>
                <c:pt idx="6">
                  <c:v>94.7</c:v>
                </c:pt>
                <c:pt idx="7">
                  <c:v>93.7</c:v>
                </c:pt>
                <c:pt idx="8">
                  <c:v>92.26</c:v>
                </c:pt>
                <c:pt idx="9">
                  <c:v>90.14</c:v>
                </c:pt>
                <c:pt idx="10">
                  <c:v>87.03</c:v>
                </c:pt>
                <c:pt idx="11">
                  <c:v>82.48</c:v>
                </c:pt>
                <c:pt idx="12">
                  <c:v>75.93</c:v>
                </c:pt>
                <c:pt idx="13">
                  <c:v>66.8</c:v>
                </c:pt>
                <c:pt idx="14">
                  <c:v>54.76</c:v>
                </c:pt>
                <c:pt idx="15">
                  <c:v>40.19</c:v>
                </c:pt>
                <c:pt idx="16">
                  <c:v>24.83</c:v>
                </c:pt>
                <c:pt idx="17">
                  <c:v>11.72</c:v>
                </c:pt>
                <c:pt idx="18">
                  <c:v>3.64</c:v>
                </c:pt>
                <c:pt idx="19">
                  <c:v>0.59</c:v>
                </c:pt>
                <c:pt idx="20">
                  <c:v>0.03</c:v>
                </c:pt>
                <c:pt idx="21">
                  <c:v>0.0</c:v>
                </c:pt>
                <c:pt idx="22">
                  <c:v>0.0</c:v>
                </c:pt>
              </c:numCache>
            </c:numRef>
          </c:val>
          <c:smooth val="0"/>
        </c:ser>
        <c:ser>
          <c:idx val="3"/>
          <c:order val="3"/>
          <c:tx>
            <c:strRef>
              <c:f>Sheet1!$E$1</c:f>
              <c:strCache>
                <c:ptCount val="1"/>
                <c:pt idx="0">
                  <c:v>TV CIMA</c:v>
                </c:pt>
              </c:strCache>
            </c:strRef>
          </c:tx>
          <c:spPr>
            <a:ln w="28575">
              <a:solidFill>
                <a:srgbClr val="BBBCBC"/>
              </a:solidFill>
            </a:ln>
          </c:spPr>
          <c:marker>
            <c:spPr>
              <a:solidFill>
                <a:srgbClr val="BBBCBC"/>
              </a:solidFill>
              <a:ln>
                <a:solidFill>
                  <a:srgbClr val="BBBCBC"/>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Sheet1!$E$2:$E$24</c:f>
              <c:numCache>
                <c:formatCode>0.00</c:formatCode>
                <c:ptCount val="23"/>
                <c:pt idx="0">
                  <c:v>100.0</c:v>
                </c:pt>
                <c:pt idx="1">
                  <c:v>97.75</c:v>
                </c:pt>
                <c:pt idx="2">
                  <c:v>97.6</c:v>
                </c:pt>
                <c:pt idx="3">
                  <c:v>97.47</c:v>
                </c:pt>
                <c:pt idx="4">
                  <c:v>97.23</c:v>
                </c:pt>
                <c:pt idx="5">
                  <c:v>96.91</c:v>
                </c:pt>
                <c:pt idx="6">
                  <c:v>96.48</c:v>
                </c:pt>
                <c:pt idx="7">
                  <c:v>95.94</c:v>
                </c:pt>
                <c:pt idx="8">
                  <c:v>95.22</c:v>
                </c:pt>
                <c:pt idx="9">
                  <c:v>94.21</c:v>
                </c:pt>
                <c:pt idx="10">
                  <c:v>92.73</c:v>
                </c:pt>
                <c:pt idx="11">
                  <c:v>90.46</c:v>
                </c:pt>
                <c:pt idx="12">
                  <c:v>86.94</c:v>
                </c:pt>
                <c:pt idx="13">
                  <c:v>81.48</c:v>
                </c:pt>
                <c:pt idx="14">
                  <c:v>73.17</c:v>
                </c:pt>
                <c:pt idx="15">
                  <c:v>61.15</c:v>
                </c:pt>
                <c:pt idx="16">
                  <c:v>45.26</c:v>
                </c:pt>
                <c:pt idx="17">
                  <c:v>27.28</c:v>
                </c:pt>
                <c:pt idx="18">
                  <c:v>11.64</c:v>
                </c:pt>
                <c:pt idx="19">
                  <c:v>2.77</c:v>
                </c:pt>
                <c:pt idx="20">
                  <c:v>0.24</c:v>
                </c:pt>
                <c:pt idx="21">
                  <c:v>0.0</c:v>
                </c:pt>
                <c:pt idx="22">
                  <c:v>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CIMA H</c:v>
                </c:pt>
              </c:strCache>
            </c:strRef>
          </c:tx>
          <c:spPr>
            <a:ln w="28575">
              <a:solidFill>
                <a:srgbClr val="112A40"/>
              </a:solidFill>
            </a:ln>
          </c:spPr>
          <c:marker>
            <c:spPr>
              <a:solidFill>
                <a:srgbClr val="112A40"/>
              </a:solidFill>
              <a:ln>
                <a:solidFill>
                  <a:srgbClr val="112A40"/>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Sheet1!$B$2:$B$14</c:f>
              <c:numCache>
                <c:formatCode>0.00</c:formatCode>
                <c:ptCount val="13"/>
                <c:pt idx="0">
                  <c:v>1.58</c:v>
                </c:pt>
                <c:pt idx="1">
                  <c:v>1.75</c:v>
                </c:pt>
                <c:pt idx="2">
                  <c:v>1.99</c:v>
                </c:pt>
                <c:pt idx="3">
                  <c:v>2.48</c:v>
                </c:pt>
                <c:pt idx="4">
                  <c:v>3.5</c:v>
                </c:pt>
                <c:pt idx="5">
                  <c:v>5.27</c:v>
                </c:pt>
                <c:pt idx="6">
                  <c:v>7.14</c:v>
                </c:pt>
                <c:pt idx="7">
                  <c:v>9.38</c:v>
                </c:pt>
                <c:pt idx="8">
                  <c:v>13.53</c:v>
                </c:pt>
                <c:pt idx="9">
                  <c:v>20.78</c:v>
                </c:pt>
                <c:pt idx="10">
                  <c:v>29.82</c:v>
                </c:pt>
                <c:pt idx="11">
                  <c:v>42.42</c:v>
                </c:pt>
                <c:pt idx="12">
                  <c:v>62.56</c:v>
                </c:pt>
              </c:numCache>
            </c:numRef>
          </c:val>
          <c:smooth val="0"/>
        </c:ser>
        <c:ser>
          <c:idx val="1"/>
          <c:order val="1"/>
          <c:tx>
            <c:strRef>
              <c:f>Sheet1!$C$1</c:f>
              <c:strCache>
                <c:ptCount val="1"/>
                <c:pt idx="0">
                  <c:v>CIMA F</c:v>
                </c:pt>
              </c:strCache>
            </c:strRef>
          </c:tx>
          <c:spPr>
            <a:ln w="28575">
              <a:solidFill>
                <a:srgbClr val="EFAC62"/>
              </a:solidFill>
            </a:ln>
          </c:spPr>
          <c:marker>
            <c:spPr>
              <a:solidFill>
                <a:srgbClr val="EFAC62"/>
              </a:solidFill>
              <a:ln>
                <a:solidFill>
                  <a:srgbClr val="EFAC62"/>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Sheet1!$C$2:$C$14</c:f>
              <c:numCache>
                <c:formatCode>0.00</c:formatCode>
                <c:ptCount val="13"/>
                <c:pt idx="0">
                  <c:v>0.84</c:v>
                </c:pt>
                <c:pt idx="1">
                  <c:v>0.94</c:v>
                </c:pt>
                <c:pt idx="2">
                  <c:v>1.08</c:v>
                </c:pt>
                <c:pt idx="3">
                  <c:v>1.34</c:v>
                </c:pt>
                <c:pt idx="4">
                  <c:v>1.89</c:v>
                </c:pt>
                <c:pt idx="5">
                  <c:v>2.85</c:v>
                </c:pt>
                <c:pt idx="6">
                  <c:v>3.87</c:v>
                </c:pt>
                <c:pt idx="7">
                  <c:v>5.09</c:v>
                </c:pt>
                <c:pt idx="8">
                  <c:v>7.2</c:v>
                </c:pt>
                <c:pt idx="9">
                  <c:v>10.86</c:v>
                </c:pt>
                <c:pt idx="10">
                  <c:v>15.56</c:v>
                </c:pt>
                <c:pt idx="11">
                  <c:v>22.2</c:v>
                </c:pt>
                <c:pt idx="12">
                  <c:v>32.91</c:v>
                </c:pt>
              </c:numCache>
            </c:numRef>
          </c:val>
          <c:smooth val="0"/>
        </c:ser>
        <c:ser>
          <c:idx val="2"/>
          <c:order val="2"/>
          <c:tx>
            <c:strRef>
              <c:f>Sheet1!$D$1</c:f>
              <c:strCache>
                <c:ptCount val="1"/>
                <c:pt idx="0">
                  <c:v>TD CIMA</c:v>
                </c:pt>
              </c:strCache>
            </c:strRef>
          </c:tx>
          <c:spPr>
            <a:ln w="28575">
              <a:solidFill>
                <a:srgbClr val="53565A"/>
              </a:solidFill>
            </a:ln>
          </c:spPr>
          <c:marker>
            <c:spPr>
              <a:solidFill>
                <a:srgbClr val="53565A"/>
              </a:solidFill>
              <a:ln>
                <a:solidFill>
                  <a:srgbClr val="53565A"/>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Sheet1!$D$2:$D$14</c:f>
              <c:numCache>
                <c:formatCode>0.00</c:formatCode>
                <c:ptCount val="13"/>
                <c:pt idx="0">
                  <c:v>1.35</c:v>
                </c:pt>
                <c:pt idx="1">
                  <c:v>1.6</c:v>
                </c:pt>
                <c:pt idx="2">
                  <c:v>1.83</c:v>
                </c:pt>
                <c:pt idx="3">
                  <c:v>2.64</c:v>
                </c:pt>
                <c:pt idx="4">
                  <c:v>3.9</c:v>
                </c:pt>
                <c:pt idx="5">
                  <c:v>5.87</c:v>
                </c:pt>
                <c:pt idx="6">
                  <c:v>8.94</c:v>
                </c:pt>
                <c:pt idx="7">
                  <c:v>13.71</c:v>
                </c:pt>
                <c:pt idx="8">
                  <c:v>21.11</c:v>
                </c:pt>
                <c:pt idx="9">
                  <c:v>32.55</c:v>
                </c:pt>
                <c:pt idx="10">
                  <c:v>50.12</c:v>
                </c:pt>
                <c:pt idx="11">
                  <c:v>76.92</c:v>
                </c:pt>
                <c:pt idx="12">
                  <c:v>117.24</c:v>
                </c:pt>
              </c:numCache>
            </c:numRef>
          </c:val>
          <c:smooth val="0"/>
        </c:ser>
        <c:ser>
          <c:idx val="3"/>
          <c:order val="3"/>
          <c:tx>
            <c:strRef>
              <c:f>Sheet1!$E$1</c:f>
              <c:strCache>
                <c:ptCount val="1"/>
                <c:pt idx="0">
                  <c:v>TV CIMA</c:v>
                </c:pt>
              </c:strCache>
            </c:strRef>
          </c:tx>
          <c:spPr>
            <a:ln w="28575">
              <a:solidFill>
                <a:srgbClr val="BBBCBC"/>
              </a:solidFill>
            </a:ln>
          </c:spPr>
          <c:marker>
            <c:spPr>
              <a:solidFill>
                <a:srgbClr val="BBBCBC"/>
              </a:solidFill>
              <a:ln>
                <a:solidFill>
                  <a:srgbClr val="BBBCBC"/>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Sheet1!$E$2:$E$14</c:f>
              <c:numCache>
                <c:formatCode>0.00</c:formatCode>
                <c:ptCount val="13"/>
                <c:pt idx="0">
                  <c:v>0.62</c:v>
                </c:pt>
                <c:pt idx="1">
                  <c:v>0.78</c:v>
                </c:pt>
                <c:pt idx="2">
                  <c:v>1.03</c:v>
                </c:pt>
                <c:pt idx="3">
                  <c:v>1.32</c:v>
                </c:pt>
                <c:pt idx="4">
                  <c:v>1.82</c:v>
                </c:pt>
                <c:pt idx="5">
                  <c:v>2.66</c:v>
                </c:pt>
                <c:pt idx="6">
                  <c:v>4.08</c:v>
                </c:pt>
                <c:pt idx="7">
                  <c:v>6.46</c:v>
                </c:pt>
                <c:pt idx="8">
                  <c:v>10.48</c:v>
                </c:pt>
                <c:pt idx="9">
                  <c:v>17.22</c:v>
                </c:pt>
                <c:pt idx="10">
                  <c:v>28.5</c:v>
                </c:pt>
                <c:pt idx="11">
                  <c:v>47.25</c:v>
                </c:pt>
                <c:pt idx="12">
                  <c:v>78.09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E2DAE2-9FC7-48A6-84A5-82A6F426499B}" type="datetimeFigureOut">
              <a:rPr lang="fr-FR" smtClean="0"/>
              <a:t>22/09/2026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AB2686-849E-4084-A991-5071DA2BBBBD}" type="slidenum">
              <a:rPr lang="fr-FR" smtClean="0"/>
              <a:t>‹N°›</a:t>
            </a:fld>
            <a:endParaRPr lang="fr-FR"/>
          </a:p>
        </p:txBody>
      </p:sp>
    </p:spTree>
    <p:extLst>
      <p:ext uri="{BB962C8B-B14F-4D97-AF65-F5344CB8AC3E}">
        <p14:creationId xmlns:p14="http://schemas.microsoft.com/office/powerpoint/2010/main" val="710728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Effectif du mois m = nombre de matricules distincts du fichier maladie 936 du mois m. Entrée = matricule présent en m et absent en m-1 ; sortie = l'inverse. Taux de cotisation = précompte du mois / salaire de base du mois.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partie donne au lecteur les clés pour comprendre la suite, sans connaissance préalable en actuariat.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Rapport d'étape au 15/10/2026, version 9 (documents du 22/10/2026, périmètre et validité, provision du personnel recalculée, contrôles croisés ; analyses de sensibilité et leviers de conformité ; statuts et règlement intérieur ; réponse aux quatre tâches actuarielles ; entretiens placements et provisions du 19/10/2026 ; revue des provisions, choix des formules et tableau des formules ; entretien cotisations du 19/10/2026 intégré). Données arrêtées à l'envoi du FPPN reçu le 15/10/2026, complétées le 18/10/2026 (grands livres PDF, inflation Banque mondiale, tables CIMA, documentation publique de l'AIRMS).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rapport suit l'ordre : résumé exécutif, compréhension du FPPN, démarche, données, analyses par thème, conformité prudentielle, tables de mortalité, méthodes à venir, outils, analyses en attente, annexes.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partie peut être présentée seule : elle reprend les messages essentiels du rapport, avec les chiffres et les renvois aux parties détaillées.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probables. Pourquoi « fragile » malgré des excédents ? Parce que les excédents annuels ne suffisent pas encore à effacer les pertes passées (fonds propres négatifs) et que l'épargne due aux mutualistes n'est pas couverte par des actifs disponibles. Pourquoi « peu documenté » ? Aucune base de prestations, pas de date de naissance des mutualistes, pas de barème officiel transmis. Pourquoi « hors normes » ? Les ratios de la Décision n° 05/2022/COM/UEMOA, appliqués aux balances, ne sont pas respectés pour la réserve obligatoire, les fonds propres, la liquidité et les frais. Chaque ligne renvoie à une partie détaillée du rapport.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quatre tâches actuarielles de la mission, sur la période du 01/01/2020 au 31/08/2026. Pour chacune : ce qui peut être conclu, ce qui ne peut pas l'être et pourquoi, le sens dans lequel le résultat évoluera, et les documents qui débloquent la réponse. Le détail figure dans les conclusions de la partie 9.</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Comment lire : chaque ligne donne un indicateur, sa valeur et sa définition. Les quatre valeurs sont calculées sur les fichiers du FPPN et détaillées dans les parties 5, 6, 7 et 4. Le précompte des prêts mesure la part des échéances effectivement retenue sur salaire ; l'écart peut être payé autrement (caisse, banque), ce que le Grenier doit confirmer.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schéma résume les flux d'argent. Les mutualistes cotisent par précompte sur salaire (Solde) ou sur pension (CGRAE). Le FPPN paie les prestations maladie (cliniques, pharmacies) et décès (familles), gère l'épargne (PEP, EFC), finance les prêts du Grenier et des investissements (CMP, terrains). Les montants sont ceux de la comptabilité 2025 et du bilan au 31/08/2026.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six constats sont classés du plus général (données) au plus réglementaire (normes). Les chiffres sont exacts et proviennent des balances comptables et des précomptes. Le constat « actifs peu liquides » repose sur la nature des comptes (investissements, terrains, créances) ; leur valeur réelle n'a pas été expertisée.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Graphique de gauche : rapport entre prestations et cotisations maladie comptabilisées, par exercice. Graphique de droite : épargne due aux mutualistes (passif) et actifs qui lui sont réservés. Les deux graphiques sont détaillés dans les parties 5 et 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Gauche : fonds propres (résultat compris) à chaque clôture. Droite : encours des prêts du Grenier en fin d'année et au 31/08/2026. Détails dans les parties 9 et 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statut est jugé sur les exercices 2022 à 2025, la Décision étant entrée en vigueur le 1er juin 2022. « Comme le FPPN » : comptes pris tels qu'ils sont tenus. « Retraité » : épargne des adhérents classée en ressource longue et avances au CMP, au Grenier et à l'Hôpital de la Police classées en emplois longs. Détail dans la partie 10.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Ordre de priorité : sans les données (actions 1 à 3), les provisions et les engagements ne peuvent pas être calculés. Les actions 4 à 7 relèvent de la direction du FPPN et du conseil d'administration. Les numéros entre parenthèses renvoient à la liste des documents demandés (PBC).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feuille de route ne fixe pas de dates : elles dépendent du délai de transmission des données par le FPPN. Chaque étape produit une mise à jour de ce rapport.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1"/>
        <p:cNvGrpSpPr/>
        <p:nvPr/>
      </p:nvGrpSpPr>
      <p:grpSpPr>
        <a:xfrm>
          <a:off x="0" y="0"/>
          <a:ext cx="0" cy="0"/>
          <a:chOff x="0" y="0"/>
          <a:chExt cx="0" cy="0"/>
        </a:xfrm>
      </p:grpSpPr>
      <p:sp>
        <p:nvSpPr>
          <p:cNvPr id="9212" name="Google Shape;9212;g1230f352834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CI"/>
          </a:p>
        </p:txBody>
      </p:sp>
      <p:sp>
        <p:nvSpPr>
          <p:cNvPr id="9213" name="Google Shape;9213;g1230f352834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Lecture : chaque colonne relie une cause (en haut) à son effet (en bas). Les causes sont démontrées par les données ; les effets sont des risques, c'est-à-dire des conséquences possibles, à confirmer par les analyses en attente.</a:t>
            </a:r>
          </a:p>
        </p:txBody>
      </p:sp>
    </p:spTree>
    <p:extLst>
      <p:ext uri="{BB962C8B-B14F-4D97-AF65-F5344CB8AC3E}">
        <p14:creationId xmlns:p14="http://schemas.microsoft.com/office/powerpoint/2010/main" val="3069930257"/>
      </p:ext>
    </p:extLst>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mutuelle sociale n'est pas une compagnie d'assurance : elle est régie par le règlement UEMOA de 2009, pas par le Code CIMA. Le Code CIMA sert ici seulement de référence technique (tables de mortalité, taux d'actualisation), faute de règle équivalente dans les textes de la mutualité. Le répertoire de l'AIRMS mis à jour le 15/10/2026 cite le FPPN au n° 05 des mutuelles agréées et immatriculées ; le numéro et la date de son agrément restent à obtenir.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intégrale des statuts (43 pages) et du règlement intérieur (45 pages) transmis le 19/10/2026. Le tableau ne retient que les dispositions utiles aux tâches actuarielles. Les deux textes renvoient, pour les montants des prestations, à un « cahier des charges du régime des prestations sociales » et à un « tableau des allocations », non transmis (PBC, items 100 et 101).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Suite du tableau précédent. Le personnel civil de la Direction Générale perçoit un salaire ; les fonctionnaires de police en service à la Direction Générale perçoivent des indemnités (règlement intérieur, art. 31). L'indemnité de départ du décret n° 2017-210 vise les salariés ; la retraite des fonctionnaires relève de l'État (décret n° 2012-652 : 60 ou 65 ans selon le grade).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Chaque produit a un code de poste sur la fiche de paie (Solde) : 936 maladie, 8Z6 décès, 870 EFC, 998 PEP, 9X4 Grenier, 9W3 flotte, 8Z7 MEDOC. Les retraités sont précomptés par la CGRAE sur leur pension. Les montants moyens sont observés dans les fichiers de précomptes, pas tirés d'un barème (non reçu).</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Logigramme en couloirs : chaque couloir est un acteur. Rectangle : étape ; losange : décision ; forme ondulée : fichier ; cadre rouge : point de contrôle manquant. Le circuit est celui décrit par le responsable des cotisations le 19/10/2026 ; il reste à confirmer par document. Les formes sont modifiables dans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tableau reprend les circuits décrits le 19/10/2026. Le fichier aller contient le mécano, le nom, le code du poste, une référence et le montant ; la Solde retrouve le mutualiste par son mécano.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résultat de l'exercice est la différence entre produits et charges (y compris les éléments exceptionnels, dits hors activités ordinaires). En 2025, il reste positif, mais il diminue depuis 2021 (partie 5).</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définitions sont volontairement simples. Les formules exactes figurent dans les diapositives « méthode » de chaque partie et dans l'annexe des méthodes.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quatre questions viennent du dossier de préparation de la mission ; les trois axes complémentaires (données, conformité, équilibre) en découlent. La colonne « état » dit honnêtement ce qui est fait et ce qui attend des données.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résultat mesuré sur quelques mois, une partie de la population ou un seul document ne peut pas être étendu au reste sans vérification. Le tableau donne, pour chaque famille d'analyses, ce qui a été mesuré et ce à quoi le résultat ne doit pas être généralisé.</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fichiers ont été transmis en trois lots compressés. Chaque fichier reçu a la taille et l'empreinte SHA-256 inscrites dans le journal produit sur le poste d'Adenka : aucun fichier n'a été altéré pendant le transfert.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Logigramme modifiable dans PowerPoint. Ovale : début ou fin ; rectangle : traitement ; losange : contrôle avec sa décision ; forme ondulée : document produit. Chaque étape correspond à un script Python conservé dans le dossier de la mission ; chaque contrôle est automatique.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Exhaustivité : rien n'est perdu entre le fichier reçu et la base. Cohérence : les totaux imprimés par les logiciels sont retrouvés. Rapprochement : deux sources qui décrivent le même flux doivent concorder. Limite : la fidélité aux fichiers n'est pas l'exactitude des fichiers.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mois est compté comme reçu quand au moins un fichier lisible le couvre. Les balances comptables couvrent l'année entière en totaux annuels ; le détail des écritures de janvier à août 2020 manque.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la colonne matricule de la dernière ligne contient un nombre de lignes, pas un matricule ; (2) le montant est la somme de toutes les lignes au-dessus ; (3) compter cette ligne aurait doublé le total du mois. Règle appliquée : une ligne dont le montant égale la somme des autres (à 1 % près) est écartée. Au total, 87 lignes de ce type ont été écartées. Noms et matricules masqués.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le montant source répète deux fois la même suite de chiffres ; (2) un précompte décès de plusieurs milliards de FCFA par agent est impossible (médiane du poste : environ 2 300 FCFA) ; (3) le montant retenu est la première moitié. Correction appliquée seulement au poste décès, au-delà d'un million de FCFA, et signalée au FPPN.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Taux de précompte = montant retour / montant aller sur les mois où les deux fichiers existent. Un taux supérieur à 100 % signifie que le fichier aller était incomplet (cas du PEP en juillet 2024).</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Janvier 2025 : le fichier retour compte moins de lignes que le fichier aller, des précomptes n'ont pas été faits. Juillet 2024 : le fichier retour compte plus de lignes que le fichier aller, le fichier aller n'incluait pas les nouveaux épargnants (le fichier aller d'août 2024 en compte nettement plus).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fichier vide (0 octet) ne contient aucune donnée ; un fichier endommagé a une partie de ses données détruite (souvent lors d'une copie ou d'un transfert). Aucun de ces défauts ne vient du traitement d'Adenka : les empreintes prouvent que les fichiers sont identiques à ceux reçus.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Message pour le client : la qualité de l'analyse dépend désormais de la transmission des données manquantes, pas du traitement.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montants des états financiers ont été relevés sur les pages « Bilan Actif » et « Bilan Passif » des PDF scannés, puis comparés aux balances utilisées dans tout le rapport. La trésorerie-actif des états financiers est comparée à la somme des soldes débiteurs de la classe 5, car les découverts figurent au passif.</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sources indépendantes sont comparées : l'étude des ratios du FPPN (nombre d'adhérents par période) et les fichiers retour 8Z6 de la Solde (une ligne par policier précompté). La seconde partie du tableau rapporte, agent par agent, le précompte décès (8Z6) au précompte maladie (936) du même mois : la clé 3,77 / 1,23 donne un rapport de 0,3263.</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Chaque état de rapprochement compare, à une date, le solde du compte dans la comptabilité du FPPN et le solde du relevé de la banque, puis liste les opérations qui expliquent l'écart. Les chèques émis par le FPPN mais pas encore présentés à la banque figurent dans cette liste.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txBody>
          <a:bodyPr/>
          <a:lstStyle/>
          <a:p>
            <a:endParaRPr lang="fr-CI"/>
          </a:p>
        </p:txBody>
      </p:sp>
      <p:sp>
        <p:nvSpPr>
          <p:cNvPr id="3" name="Notes Placeholder 2"/>
          <p:cNvSpPr>
            <a:spLocks noGrp="1"/>
          </p:cNvSpPr>
          <p:nvPr>
            <p:ph type="body" idx="1"/>
          </p:nvPr>
        </p:nvSpPr>
        <p:spPr/>
        <p:txBody>
          <a:bodyPr/>
          <a:lstStyle/>
          <a:p>
            <a:r>
              <a:t>Chaque anneau donne un pourcentage. La trésorerie totale (toutes banques et caisses) ne représente qu'une petite part de l'épargne due. Les prêts en retard sont mesurés ici en nombre de prêts ; en montant d'encours, la part est plus faible (voir partie 7).</a:t>
            </a:r>
          </a:p>
        </p:txBody>
      </p:sp>
      <p:sp>
        <p:nvSpPr>
          <p:cNvPr id="4" name="Slide Number Placeholder 3"/>
          <p:cNvSpPr>
            <a:spLocks noGrp="1"/>
          </p:cNvSpPr>
          <p:nvPr>
            <p:ph type="sldNum" sz="quarter" idx="10"/>
          </p:nvPr>
        </p:nvSpPr>
        <p:spPr/>
        <p:txBody>
          <a:bodyPr/>
          <a:lstStyle/>
          <a:p>
            <a:pPr>
              <a:defRPr/>
            </a:pPr>
            <a:fld id="{DB19E439-0A36-4389-B1D4-036D35E9F4EA}" type="slidenum">
              <a:rPr lang="en-US" smtClean="0"/>
              <a:pPr>
                <a:defRPr/>
              </a:pPr>
              <a:t>107</a:t>
            </a:fld>
            <a:endParaRPr lang="en-US"/>
          </a:p>
        </p:txBody>
      </p:sp>
    </p:spTree>
    <p:extLst>
      <p:ext uri="{BB962C8B-B14F-4D97-AF65-F5344CB8AC3E}">
        <p14:creationId xmlns:p14="http://schemas.microsoft.com/office/powerpoint/2010/main" val="1278848441"/>
      </p:ext>
    </p:extLst>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droite de tendance estimée par moindres carrés donne une hausse de 296,28 cotisants par mois (intervalle de confiance à 95 % : 241,31 à 351,25). La probabilité d'observer une telle pente si la vraie pente était nulle est inférieure à 0,01 % (p-valeur 6.91e-12). La hausse se fait par paliers en juillet, ce qui rend la droite seulement approximative (R² = 0,81).</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mois sans mois précédent disponible (janvier 2024, janvier 2025 après le fichier vide de décembre 2024) n'ont pas de flux calculé. Les sorties de novembre 2024 et janvier 2026 sont plus nombreuses : leur motif doit être demandé au FPPN (départs à la retraite de fin d'année probables, non vérifiés).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L'ancienneté est calculée à partir de la date de recrutement du fichier détaillé de janvier 2025. Elle ne donne pas l'âge : deux agents de même ancienneté peuvent avoir des âges différents. Pour cette raison, aucune hypothèse d'âge n'a été faite.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Calcul pour le premier agent : 11 354 / 301 159 = 3,77 % (maladie) ; 3 704 / 301 159 = 1,23 % (décès) ; total 5,00 %. Le barème fixé par l'article 17 des statuts du FPPN est de 3,5 % et 1,5 %. Le total est donc bon mais la répartition diffère. Matricules masqués.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clé comptable est la part des cotisations maladie (compte 70100000) dans le total des cotisations maladie et décès (comptes 70100000 et 70210000) de 2025, multipliée par 5 %. Elle est proche du barème indiqué en entretien, pas de la clé de la Solde.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Calcul : S/C maladie = prestations maladie / (cotisations totales × part maladie). Avec la clé de la Solde (75,40 %), la part des cotisations affectée à la maladie augmente, donc le ratio maladie baisse et le ratio décès monte. Les prestations ne changent pas : seule l'affectation des cotisations change.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Méthode : indice des prix base 100 en 2020, construit en cumulant l'inflation annuelle de la Banque mondiale (2021 : 4,16 % ; 2022 : 5,23 % ; 2023 : 4,37 % ; 2024 : 3,45 % ; 2025 : 0,13 %). Cotisations réelles = cotisations nominales × 100 / indice. Elles mesurent le pouvoir d'achat des cotisations en francs de 2020.</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Rapprochement 2025 : cotisations maladie comptabilisées comparées aux précomptes maladie (12 mois) et retraités CGRAE (12 mois). Les cotisations à recevoir du Trésor (compte 41111000) mesurent ce que l'État doit encore au FPPN à la clôture.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Colonne « règle déclarée » : déclaration du responsable des cotisations, entretien du 19/10/2026, à confirmer par document. Colonne « fichiers » : fichiers retour de janvier 2020 à août 2026 reçus le 15/10/2026, part des lignes de chaque montant.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Logigramme du parcours d'une recrue, de l'école de police au premier précompte, tel que décrit par le responsable des cotisations le 19/10/2026 (à confirmer par document). Cadre rouge : étape à risque. Les formes sont modifiables dans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question de la clé de répartition est la plus importante de cette partie : elle change le résultat de chaque garantie.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ratio comptable mélange les soins de l'année et les factures d'années antérieures payées ou comptabilisées dans l'année. Le vrai ratio (par année de survenance des soins) demande la base des prestations avec la date des soins.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compte 60120000 « Charges de prestations maladie » porte à lui seul plus de la moitié du total : il regroupe des prestations sans détail de nature, ce qui empêche l'analyse par type de soins. Montants exacts lus dans la balance 2025.</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de tendance (moindres carrés sur 2020 à 2025) : le S/C maladie progresse de 12,91 points par an (IC 95 % : 3,85 à 21,97 ; p-valeur 0,0167). Avec six points seulement, la tendance est significative au seuil de 5 % mais son rythme est imprécis.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taux de sinistralité répond à une question simple : sur 100 FCFA de cotisations, combien repartent en prestations ? Les formules diffèrent par ce qu'elles mettent au numérateur (quelles prestations, avec ou sans provisions) et au dénominateur (quelles cotisations). Le texte de référence est la Décision n° 05/2022, § 1.2.1.2.5.</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Période : les taux sont calculés de 2020 au 31/08/2026 pour montrer la tendance. La conformité n'est jugée que sur 2022 à 2025 : la Décision n° 05/2022 s'applique depuis le 1er juin 2022, et 2026 ne couvre que huit mois, sur une balance provisoire, sans annualisation. 2020, 2021 et 2026 sont donc indicatifs.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méthode du FPPN figure dans la feuille Notes de son étude des ratios. Elle est comparée à la formule de la Décision n° 05/2022. Les deux méthodes répondent à la même question (part des cotisations consommée par les prestations), mais pas avec les mêmes montants.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tableau compare, année par année, les montants de l'étude du FPPN (feuille Tableau) et ceux des balances : cotisations décès (compte 7021) et prestations décès (comptes 6021 et 6024). En 2020, un assureur portait la garantie : la prime d'assurance décès (compte 65180000) remplace les prestations.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taux brut rapporte les décès de membres participants de l'année au nombre d'adhérents retenu par le FPPN. Il ne tient pas compte de l'âge : faute de dates de naissance des mutualistes, il ne peut pas être comparé aux décès attendus par la table CIMA H (rapport A/E de la partie 12).</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Risque court : couvert pour une durée d'un an au plus, réglé rapidement (règlement d'exécution n° 004/2022). Risque long : engagement sur plusieurs années (épargne, rentes). La classification CIMA (vie, non-vie) sert de référence technique pour les méthodes de provision, faute de méthode dans les textes UEMOA.</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taux de croissance annuel moyen (TCAM) est le taux constant qui mène de la valeur de départ à la valeur d'arrivée : TCAM = (V_fin / V_début)^(1/n) - 1. Une régression du logarithme des prestations sur le temps donne une croissance annuelle moyenne de 121,21 % (IC 95 % : 56,12 % à 213,44 %), estimation plus robuste aux valeurs extrêmes que le TCAM.</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chaque couleur est une nature de soins. La catégorie « autres prestations maladie » correspond aux comptes 6012x, dont le compte global 60120000. Imagerie, analyses et consultations sont les natures détaillées qui progressent le plus.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Frais de gestion = comptes 61 à 66, hors prime d'assurance décès. Résultat = produits - charges + résultat hors activités ordinaires (classe 8). Les huit mois de 2026 n'intègrent pas les écritures de fin d'année (amortissements, provisions).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du rapport : frais de gestion (comptes 61 à 66, hors prime d'assurance décès 6518) / cotisations maladie et décès (7010 + 7021). Formule du texte (Décision n° 05/2022, tableau 1) : charges de fonctionnement (612, 613, 618, 62 à 68) / cotisations acquises (70 + 7906 - 6906). La méthode du FPPN n'a pas été communiquée.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hausse rapide du ratio maladie est le principal risque technique : à ce rythme, les cotisations maladie ne couvriront plus les prestations.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L'épargne PEP et EFC appartient aux mutualistes : c'est une dette du FPPN. Un bon adossement suppose des actifs liquides et réservés d'un montant au moins égal à la part exigible.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Montants lus dans la balance au 31/08/2026 (provisoire). Les soldes créditeurs du passif sont affichés en valeur positive. Le fonds commun de placement est compté comme actif réservé bien que sa destination ne soit pas précisée : la couverture réelle est donc au plus de ce niveau.</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L'épargne non couverte finance d'autres emplois : investissements au CMP, terrains, créance sur l'Hôpital de la Police, prêts du Grenier. Ces emplois ne sont pas mobilisables rapidement.</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versements sont les précomptes retour de la Solde. La différence entre versements de l'année et variation du compte d'épargne mesure les sorties de l'année (échéances, retraits, transferts), sans pouvoir les détailler faute de comptes individuels.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Scénarios théoriques, pas des prévisions : on suppose qu'une part de l'épargne est demandée en une fois et on la compare aux actifs réservés puis à toute la trésorerie (banques et caisses). Les conditions réelles de retrait (délais, pénalités, échéances) ne sont pas connues.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référence est le code qui accompagne chaque précompte (exemple : PEP0522 = PEP souscrit en mai 2022). Les références PTI ont des montants mensuels importants et peu de mutualistes : elles pourraient correspondre à des remboursements de prêts, ce que le FPPN doit confirmer.</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L'adossement de l'épargne est le principal risque financier relevé.</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taux servi est l'intérêt que le FPPN doit ajouter à l'épargne de chaque mutualiste. Il fixe la valeur de l'engagement : à épargne égale, un taux plus élevé fait payer davantage au départ du mutualiste.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grand livre 2024 détaille chaque écriture des deux comptes d'épargne. Les écritures sont classées par nature d'après leur libellé : précomptes et cotisations, règlements EFC, remboursements PEP, rachats, autres. Une écriture d'intérêts servis porterait un libellé « intérêts » ou une contrepartie en charge (classe 67).</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calcul applique chaque taux écrit à l'encours EFC de fin d'année (compte 41195200), une hypothèse à la fois. La colonne à 14 % suppose un taux annuel : c'est une borne haute, car le cahier des charges ne précise pas la période. Les produits financiers sont ceux de la partie 9.</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rapport de gestion détaillé de l'exercice 2025 (page 98, tableau 2 (III)) présente l'épargne PEP et EFC. Ses montants sont comparés aux mouvements et aux soldes des mêmes comptes dans la balance 2025.</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L'encours est le capital restant dû. Le retard (en jours) est celui imprimé par le logiciel de prêts. On mesure la part en nombre de prêts et en montant d'encours.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Taux de croissance annuel moyen de l'encours de fin 2022 à fin 2025 : 65,64 %. La créance du FPPN sur le Grenier (compte 47111102) mesure le financement apporté.</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 montants débloqués sur la période (fichiers annuels de 2021 à 2025, mensuels par sous-portefeuille en 2026). La politique de crédit de 2021 est au format Word ancien et doit être renvoyée lisible pour vérifier taux, durées et plafonds.</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 31/08/2026, 150 prêts sur 2 959 ont plus de 30 jours de retard, soit 5,07 % des prêts (IC de Wilson à 95 % : 4,34 % à 5,92 %). En montant, la part est plus faible (1,83 %) : les prêts en retard sont de petits encours.</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le retard est imprimé en jours par le logiciel ; (2) trois de ces prêts ont un « mécano » de 2 ou 3 chiffres (142, 87, 166), alors qu'un mécano en compte 6 : ce sont des anomalies de saisie ; (3) ces prêts anciens ont encore un encours et doivent être provisionnés ou passés en perte. Noms masqués.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Échéances = somme des montants d'échéance des prêts ayant un encours dans la balance âgée du mois. Précomptes = précomptes 9X4 retour du même mois. L'écart peut être payé hors Solde (caisse, banque) ou correspondre à des rejets.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taux de perte théoriques (25 %, 50 %, 100 %) appliqués à l'encours en retard. Ce ne sont pas des estimations de perte, mais des ordres de grandeur pour fixer une provision. La politique de provisionnement doit être fixée par le FPPN.</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risque principal n'est pas la perte sur prêts, limitée, mais la mobilisation de l'épargne des mutualistes pour financer cette croissance.</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retraités cotisent sur leur pension par la CGRAE. Leur coût santé, supérieur à celui des actifs, devra être comparé à leur cotisation dès réception des factures. La convention avec la CGRAE n'a pas été reçue.</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convention de partenariat entre l'IPS-CGRAE et le FPPN fixe les conditions du précompte, sur la pension de retraite, des cotisations de prise en charge médicale des policiers retraités. Le montant de la cotisation ne figure pas dans la convention : il relève du bulletin de souscription (annexe 2), non transmis.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produits ne relèvent pas directement des garanties de base, mais ils transitent par le FPPN et engagent sa responsabilité vis-à-vis des adhérents. Aucun compte n'est intitulé « SCI » dans les balances ; les projets immobiliers figurent en comptes 4711120x.</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bilan n'a pas été transmis : il est reconstitué à partir des soldes des balances. Fonds propres = réserves + report à nouveau + pertes reportées + résultat de l'exercice.</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même montant au franc près de 2020 à 2026 ; (2) seul le numéro de compte change en 2024 (reclassement du compte 19 vers le compte 158) ; (3) une estimation recalculée chaque année varierait avec les dossiers en attente. La provision n'est donc pas une estimation actuelle.</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nombre de mois couverts n'est pas une norme : c'est un indicateur de cohérence. Une provision figée perd son sens quand les prestations changent : elle était très supérieure aux besoins en 2021 et diminue en proportion depuis. Seul un calcul fondé sur les dossiers dira si elle est suffisante.</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règlement d'exécution n° 004/2022 (art. 8 à 11) prévoit la provision pour risques en cours, la provision pour prestations à payer (appelée ici PSAP, provision pour sinistres à payer), la provision mathématique, et toute autre provision fixée par la Commission de l'UEMOA. Une dépréciation d'actif (prêts) n'est pas une provision technique : elle relève du PCMS et du principe de prudence.</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facture de clinique enregistrée en dette (compte 40110000) est déjà au passif : elle n'a pas à être provisionnée une seconde fois. La PSAP doit couvrir les soins réalisés avant la clôture mais pas encore facturés ou enregistrés, plus les sinistres non déclarés (art. 10). Comparer les deux montants permet de juger la cohérence de la provision.</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Logigramme modifiable, tel que décrit par le chef comptable le 19/10/2026 (à confirmer par document). Barème déclaré : sous-officier 1 000 000 FCFA, commissaire 2 000 000 FCFA, officier à confirmer.</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L'article 10 du règlement d'exécution n° 004/2022 impose d'ajouter à la PSAP « une estimation du coût des risques survenus mais non déclarés », sans fixer de méthode. Le Code CIMA, applicable aux assureurs, en fixe une : elle sert ici de référence technique. Exemple simple : si, en moyenne, 20 sinistres de plus sont déclarés l'année suivante pour 100 déclarés dans l'année, on ajoute 20 % de sinistres au coût moyen observé.</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prêt en retard est un actif qui risque de ne pas être remboursé : il se déprécie (PCMS, principe de prudence). Ce n'est pas une provision technique, qui couvre une dette envers les adhérents. Les textes de la mutualité ne donnent pas de taux : la référence retenue est le barème de la BCEAO pour les systèmes financiers décentralisés (SFD), proche du Grenier (petits prêts à des membres). Ce barème est publié sur bceao.int, rubrique réglementation des SFD ; le texte est à joindre au dossier.</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Selon le chef comptable et le responsable des cotisations (entretiens du 19/10/2026, à confirmer par la convention), les primes vont à GNA, qui porte le risque. Le FPPN est apporteur d'affaires et perçoit une commission de 20 % des primes collectées. Si le FPPN portait le risque, il exercerait une activité d'assurance de dommages, hors du champ de la mutualité sociale (règlement n° 07/2009).</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provision couvre les indemnités dues aux salariés du FPPN à leur départ à la retraite : ce n'est pas un engagement envers les mutualistes. Barème : décret n° 2017-210 du 30/03/2017 (art. 4 et 5), un pourcentage du salaire global mensuel moyen des douze derniers mois par année d'ancienneté (30 % jusqu'à 5 ans, 35 % de 6 à 10 ans, 40 % au-delà), payé à la cessation de service (art. 8) ; plafond de 25 fois le SMIG annuel et départ à 55 ans, plus un an par enfant à charge dans la limite de trois (convention collective interprofessionnelle du 19/07/1977, art. 40). Périmètre : personnel civil salarié (règlement intérieur, art. 31). Méthode attendue : unités de crédit projetées (SYSCOHADA révisé), avec probabilité de présence au départ, hausse des salaires et actualisation.</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L'indemnité de départ vaut un pourcentage du salaire mensuel moyen par année d'ancienneté (décret n° 2017-210, art. 4 et 5). La méthode des unités de crédit projetées, retenue par IAS 19 et utilisée comme référence de bonne pratique, ne provisionne que la part acquise à la date d'évaluation. Le calcul est fait par formules dans les onglets 14a à 14c du classeur.</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provision recalculée suit la méthode des unités de crédit projetées. Les droits acquis sont l'indemnité que chaque agent recevrait s'il partait à la date d'évaluation, sans projection ni actualisation. Le rattachement à une entité suit les listes de 2024 et 2025, appliquées aussi aux années antérieures.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identifiés par un numéro (année d'évaluation et rang dans la DISA 2025) ; les noms figurent dans l'onglet 14b du classeur, avec toutes les formules. Montants en FCFA. Âge calculé sur l'année de naissance.</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identifiés par un numéro (année d'évaluation et rang dans la DISA 2025) ; les noms figurent dans l'onglet 14b du classeur, avec toutes les formules. Montants en FCFA. Âge calculé sur l'année de naissance.</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identifiés par un numéro (année d'évaluation et rang dans la DISA 2025) ; les noms figurent dans l'onglet 14b du classeur, avec toutes les formules. Montants en FCFA. Âge calculé sur l'année de naissance.</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identifiés par un numéro (année d'évaluation et rang dans la DISA 2025) ; les noms figurent dans l'onglet 14b du classeur, avec toutes les formules. Montants en FCFA. Âge calculé sur l'année de naissance.</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identifiés par un numéro (année d'évaluation et rang dans la DISA 2025) ; les noms figurent dans l'onglet 14b du classeur, avec toutes les formules. Montants en FCFA. Âge calculé sur l'année de naissance.</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identifiés par un numéro (année d'évaluation et rang dans la DISA 2025) ; les noms figurent dans l'onglet 14b du classeur, avec toutes les formules. Montants en FCFA. Âge calculé sur l'année de naissance.</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identifiés par un numéro (année d'évaluation et rang dans la DISA 2025) ; les noms figurent dans l'onglet 14b du classeur, avec toutes les formules. Montants en FCFA. Âge calculé sur l'année de naissance. Le rattachement de ces agents à la Direction Générale, au CMP ou au Grenier est à confirmer par le FPPN.</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identifiés par un numéro (année d'évaluation et rang dans la DISA 2025) ; les noms figurent dans l'onglet 14b du classeur, avec toutes les formules. Montants en FCFA. Âge calculé sur l'année de naissance. Le rattachement de ces agents à la Direction Générale, au CMP ou au Grenier est à confirmer par le FPPN.</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Chaque ligne modifie une seule hypothèse et garde les autres à leur valeur centrale (IAS 19, § 145). La seconde partie relève les incohérences des fichiers du personnel qui touchent directement le calcul.</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Synthèse de la tâche « évaluation des engagements du FPPN envers ses adhérents et leurs ayants droit ». Un engagement est ce que le FPPN devra payer plus tard au titre des garanties déjà acquises. Le tableau distingue ce qui est mesuré, ce qui est au bilan sans être estimé, et ce qui est absent.</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Synthèse de la tâche « rechallenger le provisionnement : suffisance des provisions au regard des prestations servies ». Une provision est suffisante si elle couvre les prestations restant à payer sur les sinistres déjà survenus. Les indicateurs ci-dessous ne sont pas des normes : ils montrent seulement que la provision ne suit pas l'activité.</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montants « CMP » regroupent les comptes 47111101 (« Polyclinique du FPPN »), 47111104 (« Investissements au CMP ») et 47111105 (« Charges de fonctionnement au CMP ») ; la signification du sigle CMP reste à confirmer par le FPPN. La créance sur l'Hôpital de la Police (47111100) est inchangée depuis 2020.</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Étapes 1 à 3 de la méthode d'adossement du dossier de préparation : classer l'actif par délai de mobilisation, classer le passif par échéance, comparer tranche par tranche. Actif immédiat : caisse et comptes à vue. Moins d'un an : dépôts à terme, fonds commun de placement, créances à court terme. 1 à 5 ans : prêts PEP et financement du Grenier (durée médiane des prêts de 10 mois). Plus de 5 ans ou incertain : immobilisations, terrains, avances au CMP, créance sur l'Hôpital de la Police. Passif à moins d'un an : dettes à court terme hors épargne et provisions pour prestations à payer. L'épargne est présentée à part : son échéance dépend des âges et des conditions de retrait.</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L'adossement compare ce que le FPPN possède à ce qu'il doit, selon les échéances. Il ne vaut que si les deux côtés sont bien mesurés. Ici, le passif est incomplet (engagements non provisionnés) et une partie de l'actif est d'une valeur non démontrée. Le tableau recense chaque correction attendue et son sens.</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règlement d'exécution n° 004/2022 impose d'évaluer les actifs à leur valeur de marché (art. 20) et de détenir des actifs sûrs, diversifiés, liquides et rentables (art. 17 et 21). La Décision n° 05/2022 rapporte les « actifs admis » aux engagements réglementés (section II, § 2.1). L'article 27 interdit de couvrir les pertes des activités sanitaires par les cotisations ou les réserves. Le PCMS impose la dépréciation d'un actif dont la valeur actuelle est inférieure à sa valeur d'entrée, et l'évaluation à la valeur liquidative si la continuité de l'activité n'est pas assurée.</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Couverture = actif retenu dans le scénario / engagements connus. Engagements connus = passif à moins d'un an (dettes et provisions au bilan) + épargne due aux mutualistes, sans les engagements non provisionnés. Le scénario 4 compare l'actif à moins d'un an au seul passif à moins d'un an.</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Approximation provisoire : les débits annuels des comptes 41195100 (PEP) et 41195200 (EFC) mesurent les sommes sorties de l'épargne, retraits et autres mouvements compris. Les textes utilisent eux-mêmes les sorties passées : réserve de trésorerie d'au moins un trimestre d'engagements pour chaque risque long (règlement d'exécution n° 004/2022, art. 19) et fonds propres au moins égaux aux prestations des deux derniers exercices (art. 21). L'échéancier réel demande les âges et les règlements de l'EFC et du PEP.</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Synthèse de la tâche « adossements actifs/passifs » de la mission. Elle reprend les diapositives précédentes de la partie 9 et renvoie aux documents qui permettront l'adossement complet en flux de trésorerie.</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comptes de capitaux propres ont un solde créditeur (positif pour le FPPN), sauf le report à nouveau débiteur (pertes passées), affiché ici en négatif. Libellés exacts de la balance 2025.</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 fonds propres négatifs signifient que les dettes dépassent les actifs comptables. Les ratios de fonds propres et de marge de solvabilité de la Décision n° 05/2022 sont calculés dans la partie 10.</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Selon le chef comptable, le DAT BOA est un placement du FPPN alimenté chaque mois (60 millions par mois en 2026) jusqu'à fin décembre ; il sert aussi à payer l'EFC en fin d'année. Le compte 52210200 s'intitule pourtant « DAT BOA Entraide fin de carrière ». Le FCP de 500 millions a un rendement annoncé de 8 à 10 %, non garanti.</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Logigramme en couloirs, modifiable dans PowerPoint. Le circuit est celui décrit par le chef comptable le 19/10/2026 ; il reste à confirmer par document. Cadre rouge : contrôle manquant.</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Rendement apparent = produits financiers (classe 77) / encours moyen des placements (52 à 53). Il est irrégulier : l'essentiel des intérêts est comptabilisé en 2025 à la clôture d'un dépôt à terme. Taux directeurs : communiqués du Comité de politique monétaire de la BCEAO (validés).</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Synthèse de la tâche « adéquation du portefeuille de placements aux engagements, 2020 au 31/08/2026 ». Le règlement d'exécution n° 004/2022 (art. 17) exige que les placements satisfassent aux conditions de sécurité, de rendement, de liquidité et de diversification, précisées en Côte d'Ivoire par une décision ministérielle (non reçue, PBC, item 54). Le tableau confronte chaque condition aux constats du rapport.</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constats appellent une décision de gouvernance : politique de provisionnement, politique de placement, encadrement des investissements dans les structures liées.</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partie applique aux comptes du FPPN les normes de la mutualité sociale UEMOA. Les textes viennent de la documentation publique de l'AIRMS fournie le 18/10/2026 et validée comme source.</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Hiérarchie : le règlement de 2009 fixe les principes et renvoie au règlement d'exécution pour les règles prudentielles (art. 58) ; la Décision de 2022 chiffre les normes ; l'arrêté de 2023 fixe les sanctions en Côte d'Ivoire. Le PCMS donne les numéros de comptes que la Décision utilise dans ses formules.</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Définitions de l'article 1 du règlement d'exécution : risque court quand l'écart entre l'encaissement des cotisations et le versement des prestations est d'un an au plus ; risque long au-delà. L'article 3 classe la vieillesse et le décès lié à un mécanisme de capitalisation parmi les risques longs. La qualification retenue ici doit être confirmée par l'AIRMS ou par l'agrément du FPPN, non transmis.</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utilisée pour un lecteur non spécialiste : le bilan est une commode à tiroirs. Le plan comptable (PCMS) donne à chaque compte un numéro qui indique son tiroir : classe 1 pour les ressources longues, classe 2 pour les emplois longs, classe 4 pour les tiers, classe 5 pour la trésorerie. Un ratio de liquidité compare le tiroir « trésorerie » au tiroir « dettes à court terme ». Si un compte est rangé dans le mauvais tiroir, le ratio change sans que la réalité change. C'est pourquoi la suite présente chaque ratio deux fois : avec les comptes rangés comme le FPPN les tient, puis rangés selon leur nature.</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classement « comme le FPPN » suit les numéros de comptes cités par la Décision n° 05/2022 dans ses formules. Le classement retraité ne modifie aucun montant : il déplace seulement des comptes d'un tiroir à un autre, pour une raison écrite. Le détail compte par compte (246 comptes) figure dans l'onglet « 10_classement_comptes »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statut ne juge pas la gestion du FPPN : il constate l'écart entre un chiffre et une norme. Le statut global d'un ratio est non conforme s'il est non conforme au moins une année de 2022 à 2025.</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familles reprennent les catégories de l'annexe de la Décision n° 05/2022 (performance, viabilité, pérennité, risques longs), réordonnées selon la priorité actuarielle demandée pour ce rapport.</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Valeurs calculées sur les balances, avec les comptes cités par la Décision n° 05/2022. La sinistralité réglementaire est globale (maladie et décès) : elle est sous la fourchette de 70 % à 80 % parce que la garantie décès consomme peu de cotisations. La marge de solvabilité est conforme dans la lecture comme le FPPN, mais pas une fois les pertes reportées déduites (diapositives suivantes).</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II de l'annexe de la Décision n° 05/2022 et articles 19 et 21 du règlement d'exécution. Le ratio de solvabilité de l'épargne reprend la couverture calculée en partie 6. La réserve de trésorerie vaut zéro car aucun compte de réserve de trésorerie n'existe dans les balances.</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charges de fonctionnement suivent la liste de comptes de l'annexe (612, 613, 618, 62 à 68). La fidélisation compare les matricules précomptés au poste 936 d'une année à l'autre. Le délai de paiement des prestataires est à apprécier, car les délais contractuels des conventions n'ont pas été transmis.</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indicateurs de gouvernance sont placés en dernier, conformément à la priorité actuarielle du rapport. Chaque pièce manquante est ajoutée à la liste des documents demandés (PBC) et aux guides d'entretien.</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Liquidité : norme d'au moins 1. Équilibre stable : norme d'au plus 1. Lecture retraitée : épargne en ressource longue, avances durables en emplois longs (diapositive « Deux lectures »). En 2020, les ressources longues comme le FPPN sont négatives : le ratio d'équilibre stable n'a pas de sens et n'est pas représenté.</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de la Décision (§ 1.2.1.2.5) : comptes 60 + 6901 - 7901 au numérateur, comptes 70 + 7906 - 6906 au dénominateur. Le FPPN n'a pas de compte 6901, 7901, 6906 ni 7906 : les provisions techniques ne varient pas. Le compte 704 « cartes d'accès aux soins » appartient à la classe 70 et entre donc dans les cotisations acquises.</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 1.1.1) : marge exigée = le maximum entre 18 % des cotisations acquises de l'exercice précédent et de 26 % de la moyenne des prestations maladie des trois derniers exercices. Marge disponible = fonds de réserve obligatoire + fonds d'établissement + réserves libres + droits d'adhésion + dons et legs non affectés. Le texte ne mentionne pas les pertes reportées ; la lecture retraitée les déduit, car le PCMS définit les réserves comme des excédents laissés à la disposition de la mutuelle (fiche n° 2).</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tableau 1, ligne 10) : réserves obligatoires x 12 / charges de prestations, norme de 6 à 9 mois ; le § 1.2.2.5.4 de l'annexe indique 9 mois. La réserve obligatoire est le compte 111 « Réserves légales ». Réserve nécessaire pour 6 mois = charges de prestations x 6 / 12.</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 1.2.2.5.3) : fonds propres et assimilés (comptes 10 à 14, 190 et 15) / dettes, provisions techniques comprises. Le texte place les provisions techniques à la fois au numérateur et au dénominateur ; Adenka applique la formule à la lettre. Les dettes comprennent toute la classe 4 créditrice, dont l'épargne, les emprunts et les soldes bancaires créditeurs.</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Formules : liquidité = trésorerie actif / (dettes à court terme + variation des provisions techniques) (Décision, § 1.2.2.5.2) ; trésorerie à échéance = (valeurs réalisables + disponibles) / dettes à court terme (section II, § 2.2) ; trésorerie immédiate = disponibles / dettes à court terme (§ 2.3), égale ici à la liquidité car les provisions ne varient pas.</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 1.2.3.1) : emplois moyens et longs / ressources moyennes et longues. Comme le FPPN : classe 2 nette / classes 10 à 19. Retraité : on ajoute aux emplois les avances durables suivies en classe 4 (CMP, Grenier, Hôpital de la Police, projets immobiliers, créance de cession) et aux ressources l'épargne PEP et EFC.</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 1.2.2.5.5) : excédent net de l'exercice / cotisations acquises, norme d'au plus 5 %. Ce plafond vise à éviter qu'une mutuelle prélève sur ses membres plus que nécessaire. Il est en tension avec les normes de fonds propres quand ceux-ci sont négatifs.</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Formules (Décision, § 1.2.1.2.1 à 1.2.1.2.4). Charges de fonctionnement : comptes 612, 613, 618, 62 à 68. Charges de fonctionnement brut : comptes 61 à 68, 691 et 697. Le compte 65180000 (prime d'assurance décès de 2020) entre dans la classe 65 et donc dans les charges de fonctionnement de 2020.</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Règlement d'exécution, art. 19 : une réserve de trésorerie ou fonds de roulement au moins égale à un trimestre d'engagements et de charges de fonctionnement, pour chaque risque long. Engagements : débits des comptes 41195100 et 41195200 (sorties d'épargne). Charges de fonctionnement : quote-part au prorata de l'épargne dans le total épargne + cotisations. Art. 21 : fonds propres au moins égaux aux prestations des risques longs des deux derniers exercices.</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répartition au prorata des cotisations est une hypothèse : une autre clé (nombre de dossiers, temps passé) donnerait d'autres excédents. Le FPPN est invité à fournir sa propre clé, qui remplacera celle-ci.</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Excédent d'un risque = cotisations du risque - prestations du risque - frais attribués au prorata des cotisations. La prime d'assurance décès de 2020 (65180000) est rattachée au décès. Les autres éléments (produits financiers, transferts de charges, hors activités ordinaires) ne sont pas répartis et figurent dans la colonne « autres »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la colonne « dotation réelle » est l'augmentation du compte 111 entre deux clôtures ; elle traduit l'affectation décidée par l'assemblée générale. Le minimum du règlement d'exécution est de 20 % du résultat excédentaire de l'exercice précédent (art. 18), exigible dans un délai de trois ans après le 1er juin 2022. Le minimum par risque applique 30 % à l'excédent maladie et 50 % à l'excédent décès (Décision, § 1.1.1).</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Marge exigée = le maximum entre 18 % des cotisations acquises de l'exercice précédent et de 26 % de la moyenne des prestations maladie des trois derniers exercices (Décision, § 1.1.1). L'exercice 2020 n'est pas calculé, faute de balances 2018 et 2019.</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contrôle ne constitue pas une revue comptable complète : il vérifie seulement que les comptes utilisés dans ce rapport sont rangés comme le prévoit le PCMS, et mesure l'effet d'un écart sur les ratios.</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exigences complètent les ratios. Elles relèvent du cadre actuariel quand elles portent sur les provisions, les risques longs, les placements et les réserves. Elles sont reprises dans les guides d'entretien.</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sanctions sont prononcées par le ministre chargé de la mutualité sociale, sur rapport ou avis motivé de l'AIRMS, après que la mutuelle a été entendue (règlement d'exécution, art. 38 et 39). Ce tableau décrit une exposition théorique : la décision appartient à l'autorité de contrôle.</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ratios sont calculés sur les balances : leur conclusion ne dépend pas des données manquantes, sauf pour la liquidité, qui dépend de l'échéancier de l'épargne.</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analyse de sensibilité mesure comment un résultat change quand une hypothèse change. Ici, le résultat est le statut de chaque ratio prudentiel, et les hypothèses sont les leviers que les textes donnent au FPPN. Chaque calcul est une formule du classeur v8 (onglets 13a à 13i) : modifier un paramètre de l'onglet 13b met à jour l'ensemble.</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Statut recalculé par formule pour chaque année (onglet 13d) ; il est identique à celui de la partie 10. « Oui » : conforme ; « Non » : non conforme ; « - » : non mesurable (pas d'exercice précédent). 2020 et 2021 sont antérieurs à la Décision du 1er juin 2022 ; 2026 couvre huit mois : ces années sont indicatives. Les ratios conformes chaque année (marge de solvabilité dans la lecture du FPPN, charges de personnel, formation) ne sont pas repris.</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facteur regroupe les ratios dont l'écart s'explique par les mêmes comptes. La preuve chiffrée compare 2020 et 2025 (onglet 13e). La dernière colonne compte les ratios du facteur non conformes toutes les années mesurées.</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Montant à combler = montant qui ramène le ratio sur la borne la plus proche, les autres termes restant inchangés (formule du texte inversée, onglet 13d). Pour la sinistralité, un montant positif est un supplément de prestations ; pour l'excédent net de 2026, le montant est le déficit à combler.</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 » : le levier rapproche le ratio de sa norme ; « - » : il l'en éloigne ; « 0 » : sans effet. Écritures : cotisations encaissées (+ produits, + résultat, + fonds propres, + trésorerie) ; prestations payées (inverse) ; charges évitées (+ résultat, + trésorerie) ; dotation à la réserve légale (affectation interne aux fonds propres) ; réallocation d'un placement long en disponibilités dédiées à l'épargne ; apport en fonds propres (dons et legs). Le montant de 100 000 000 FCFA est une convention de présentation, modifiable dans l'onglet 13b.</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Montant d'équilibre = montant du levier qui ramène un ratio sur sa borne en 2025, toutes choses égales par ailleurs (onglet 13f). Signe négatif : baisse. La dernière colonne compte les années de 2020 au 31/08/2026 où un effort est nécessaire. Taux de cotisation équivalent = 5 % × (cotisations + variation) / cotisations, à assiette et recouvrement inchangés.</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Taux de cotisation qui ramènerait chaque ratio sur sa borne, toutes choses égales par ailleurs (onglet 13f). Taux actuel : 5 % de la solde de base (statuts, art. 17). Les courbes montrent l'écart entre les deux exigences, année par année.</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Ligne 1 : trésorerie à constituer pour une liquidité de 1. Ligne 2 : toute la classe 2 (siège, terrains, créances longues), plafond théorique d'une réallocation. Ligne 3 : liquidité si toute la classe 2 devenait disponible. Ligne 4 : liquidité calculée en classant l'épargne en ressource longue (présentation des risques longs, partie 10).</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Réserve hypothétique = maximum entre la réserve comptabilisée et 20 % (ou 50 %) des excédents positifs cumulés depuis 2020 (statuts, art. 90). Les excédents antérieurs à 2020 n'ont pas été reçus. En réalité, une partie des excédents a apuré les pertes reportées (affectations 2023 et 2024). Fonds propres : nombre d'années d'excédent moyen 2023 à 2025 (720 199 551 FCFA) pour atteindre la norme.</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Démonstration (onglet 13h). L'excédent vaut : cotisations - prestations - charges de fonctionnement + autres éléments (A : produits financiers et autres, moins les autres charges). L'excédent net plafonné à 5 % impose A ≤ 5 % des cotisations - cotisations + prestations + charges. Or les prestations sont plafonnées à 80 % des cotisations (sinistralité) et les charges à 15 % des prestations, soit 12 % des cotisations (coût par unité prestée). Donc A ≤ (5 % - 100 % + 80 % × 115 %) des cotisations = -3,00 % des cotisations.</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Indices harmonisés des prix à la consommation (IHPC) de l'ANStat, par poste de la santé, mensuels de janvier 2017 à octobre 2024 (moyennes annuelles ; 2024 : janvier à octobre). Poids : prestations maladie du FPPN de 2025 par nature (hospitalisations, analyses et imagerie, pharmacie, consultations) ; les natures « autres » ne sont pas détaillées et sont exclues. Les fichiers codent les mois 2, 8 et 12 par « 0 » : le mois est reconstitué par la position de la ligne (onglet 13g).</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Sinistralité = prestations × (1 + hausse) / cotisations, à cotisations inchangées : elles sont assises sur la solde de base, qui n'est pas indexée sur les prix de la santé (onglet 13g). 2026 : huit mois, indicatif.</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taux brut de rentabilité des placements doit atteindre au moins le taux moyen du marché (Décision n° 05/2022, section II), sans que le texte précise le marché. Deux lectures : dépôts à terme en Côte d'Ivoire (BCEAO, tableau 22, lecture principale, 2024 et 2025) et obligations de l'État de Côte d'Ivoire à 5 ans (Investing.com, moyenne annuelle des cotations quotidiennes, lecture exigeante). Investing.com est un agrégateur de cotations du marché secondaire : source secondaire, en complément de la BCEAO. Produit possible = solde moyen non rémunéré × taux moyen des dépôts à terme (onglet 13i).</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montants sont recalculés par formules dans le classeur v8 (onglets 13a à 13i) : chaque paramètre peut être modifié pour tester d'autres hypothèses.</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deux analyses demandent les dates de naissance (PBC, items 9 et 28). Le règlement d'exécution n° 004/2022 définit la table de mortalité comme un tableau qui donne les probabilités de décès ou de survie et l'espérance de vie selon l'âge et le sexe (art. 1).</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Principe de prudence : on choisit la table qui défavorise l'organisme. Pour un risque décès (le FPPN paie au décès), une table qui prévoit plus de décès est prudente : CIMA H. Pour un risque de survie (le FPPN paie tant que la personne vit), une table qui prévoit des vies plus longues est prudente : CIMA F. Les fichiers fournis portent eux-mêmes cet usage dans le nom de leur feuille. Les tables TD et TV sont les anciennes tables réglementaires remplacées en 2012 (Code CIMA, article 338 modifié).</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courbe de survie donne la part des personnes encore en vie à chaque âge. L'écart entre les courbes mesure l'écart de prudence entre une table de décès et une table de survie.</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qx en pour mille aux âges de 20 à 80 ans. Ce sont les âges de la population du FPPN (actifs puis retraités). La comparaison avec la mortalité observée se fera par le rapport décès observés / décès attendus (voir partie 12).</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Rente viagère : valeur aujourd'hui de 1 FCFA payé chaque année, au début de l'année, tant que la personne vit, actualisé au taux de 3,5 % (plafond du Code CIMA). Formule : ä_x = Σ (L_(x+k) / L_x) × v^k, avec v = 1 / 1,035. Exemple : si le FPPN prenait en charge 100 000 FCFA par an de soins pour un retraité de 60 ans, l'engagement vaudrait environ 100 000 × ä_60. Ce sont des valeurs de référence, pas des engagements du FPPN.</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indicateurs présentés sont des références techniques. Ils deviendront des engagements chiffrés du FPPN dès réception des données.</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dossiers connus non payés se comptent dossier par dossier. Les sinistres non déclarés (tardifs) s'estiment à partir des délais observés dans le passé : c'est le rôle de la méthode Chain Ladder.</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Hypothèse : le rythme de règlement passé se répète. Aucun chiffre n'est présenté : les données ne sont pas encore reçues.</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Principe : on range les paiements cumulés dans un triangle (année de survenance × délai). Le facteur de développement mesure la progression moyenne d'un délai au suivant. On complète le triangle avec ces facteurs ; la charge ultime moins les paiements déjà faits donne la provision. Hypothèse : le rythme de règlement passé se répète. Aucun chiffre n'est présenté : les données ne sont pas encore reçues.</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Exposition : nombre d'années-personnes passées à chaque âge pendant la période. Décès attendus : exposition × qx de la table CIMA H. Données : base des décès (PBC 28), mutualistes avec dates (PBC 9, 10, 11).</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Données nécessaires : âges, coût des soins par âge, barèmes, hypothèses de recrutement. Aucune projection chiffrée n'est présentée.</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Aucun chiffre n'est présenté pour ces méthodes : les appliquer sans les données conduirait à des résultats sans valeur. Chaque méthode est reliée aux numéros de la liste des documents demandés.</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images des diapositives suivantes reproduisent la fenêtre de VS Code sous Windows et y placent des extraits réels des scripts de la mission. Ce sont des reconstitutions, pas des captures d'écran ; le terminal n'est affiché que lorsque sa sortie a réellement été obtenue.</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tableau détaille les étapes du logigramme de la chaîne de traitement (partie 2). Chaque étape correspond à un script conservé dans le dossier de la mission.</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Principe : aucun chiffre n'est saisi à la main. Le contrôle garantit que le rapport affiche exactement les valeurs calculées, avec deux décimales pour les pourcentages et des montants exacts en FCFA.</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Liste détaillée et à jour dans la PBC pointée.</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questions peuvent être posées lors des prochains entretiens ; les réponses seront intégrées à la version suivante du rapport.</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points viennent de l'entretien du 19/10/2026 avec le responsable des cotisations. Les déclarations sont à confirmer par document.</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analyses ne peuvent pas être faites de façon précise avec les données reçues. Elles seront intégrées à la version suivante du rapport dès réception des documents.</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Points issus des entretiens du 19/10/2026 avec M. Koffi, chef comptable (placements à 14h, provisions à 16h). Les déclarations sont à confirmer par document.</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points viennent de la lecture des documents reçus le 22/10/2026. Les numéros renvoient à la PBC complète pointée au 22/10/2026.</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tableau complet (quinze colonnes) figure dans l'onglet 11_formules du classeur des calculs v9.</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v9.</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v9.</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v9.</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v9.</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v9.</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v9.</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v9.</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v9.</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v9.</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v9.</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v9.</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v9.</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v9.</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v9.</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v9.</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Niveau 3 de la validité : la ligne « Valable pour » de chaque diapositive et sa justification. Colonne « Valable pour » dans l'onglet 9_figures_tableaux du classeur v9.</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Niveau 3 de la validité : la ligne « Valable pour » de chaque diapositive et sa justification. Colonne « Valable pour » dans l'onglet 9_figures_tableaux du classeur v9.</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Niveau 3 de la validité : la ligne « Valable pour » de chaque diapositive et sa justification. Colonne « Valable pour » dans l'onglet 9_figures_tableaux du classeur v9.</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sigles de chaque diapositive sont aussi définis en bas de la diapositive.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oleObject" Target="../embeddings/oleObject1.bin"/><Relationship Id="rId4" Type="http://schemas.openxmlformats.org/officeDocument/2006/relationships/image" Target="../media/image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2.xml"/><Relationship Id="rId3" Type="http://schemas.openxmlformats.org/officeDocument/2006/relationships/oleObject" Target="../embeddings/oleObject1.bin"/><Relationship Id="rId4" Type="http://schemas.openxmlformats.org/officeDocument/2006/relationships/image" Target="../media/image2.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2.xml"/><Relationship Id="rId3" Type="http://schemas.openxmlformats.org/officeDocument/2006/relationships/oleObject" Target="../embeddings/oleObject2.bin"/><Relationship Id="rId4"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788630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322439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770939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022779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C6EBE14D-B461-4822-94E8-6203B1E77523}" type="datetimeFigureOut">
              <a:rPr lang="fr-FR" smtClean="0"/>
              <a:t>22/09/2026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92137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C6EBE14D-B461-4822-94E8-6203B1E77523}" type="datetimeFigureOut">
              <a:rPr lang="fr-FR" smtClean="0"/>
              <a:t>22/09/2026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075739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6EBE14D-B461-4822-94E8-6203B1E77523}" type="datetimeFigureOut">
              <a:rPr lang="fr-FR" smtClean="0"/>
              <a:t>22/09/2026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746722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376728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918188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897573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5641292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5049338-7875-4927-82E0-03C95D83209A}"/>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35049338-7875-4927-82E0-03C95D8320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Placeholder 1">
            <a:extLst>
              <a:ext uri="{FF2B5EF4-FFF2-40B4-BE49-F238E27FC236}">
                <a16:creationId xmlns:a16="http://schemas.microsoft.com/office/drawing/2014/main" id="{5AA52354-AD0C-4278-A20C-E161AEB4D16F}"/>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1213497947"/>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5623"/>
        <p:cNvGrpSpPr/>
        <p:nvPr/>
      </p:nvGrpSpPr>
      <p:grpSpPr>
        <a:xfrm>
          <a:off x="0" y="0"/>
          <a:ext cx="0" cy="0"/>
          <a:chOff x="0" y="0"/>
          <a:chExt cx="0" cy="0"/>
        </a:xfrm>
      </p:grpSpPr>
      <p:pic>
        <p:nvPicPr>
          <p:cNvPr id="5624" name="Google Shape;5624;p29"/>
          <p:cNvPicPr preferRelativeResize="0"/>
          <p:nvPr/>
        </p:nvPicPr>
        <p:blipFill>
          <a:blip r:embed="rId2">
            <a:alphaModFix amt="20000"/>
          </a:blip>
          <a:stretch>
            <a:fillRect/>
          </a:stretch>
        </p:blipFill>
        <p:spPr>
          <a:xfrm flipH="1">
            <a:off x="-4949" y="1"/>
            <a:ext cx="12192004" cy="6858001"/>
          </a:xfrm>
          <a:prstGeom prst="rect">
            <a:avLst/>
          </a:prstGeom>
          <a:noFill/>
          <a:ln>
            <a:noFill/>
          </a:ln>
        </p:spPr>
      </p:pic>
      <p:sp>
        <p:nvSpPr>
          <p:cNvPr id="5625" name="Google Shape;5625;p2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2668261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2">
  <p:cSld name="Title only 12">
    <p:spTree>
      <p:nvGrpSpPr>
        <p:cNvPr id="1" name="Shape 6976"/>
        <p:cNvGrpSpPr/>
        <p:nvPr/>
      </p:nvGrpSpPr>
      <p:grpSpPr>
        <a:xfrm>
          <a:off x="0" y="0"/>
          <a:ext cx="0" cy="0"/>
          <a:chOff x="0" y="0"/>
          <a:chExt cx="0" cy="0"/>
        </a:xfrm>
      </p:grpSpPr>
      <p:sp>
        <p:nvSpPr>
          <p:cNvPr id="6978" name="Google Shape;6978;p57"/>
          <p:cNvSpPr txBox="1">
            <a:spLocks noGrp="1"/>
          </p:cNvSpPr>
          <p:nvPr>
            <p:ph type="title"/>
          </p:nvPr>
        </p:nvSpPr>
        <p:spPr>
          <a:xfrm>
            <a:off x="960000" y="720000"/>
            <a:ext cx="1027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18170010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subtitle, 1 column ">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966A5C41-60AA-4C25-8080-4F0DFF19B9C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966A5C41-60AA-4C25-8080-4F0DFF19B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8">
            <a:extLst>
              <a:ext uri="{FF2B5EF4-FFF2-40B4-BE49-F238E27FC236}">
                <a16:creationId xmlns:a16="http://schemas.microsoft.com/office/drawing/2014/main" id="{D5544814-ED77-5424-AA44-FCF607EC724C}"/>
              </a:ext>
            </a:extLst>
          </p:cNvPr>
          <p:cNvSpPr>
            <a:spLocks noGrp="1"/>
          </p:cNvSpPr>
          <p:nvPr>
            <p:ph type="body" sz="quarter" idx="13" hasCustomPrompt="1"/>
          </p:nvPr>
        </p:nvSpPr>
        <p:spPr>
          <a:xfrm>
            <a:off x="466344" y="649224"/>
            <a:ext cx="11277599" cy="1010919"/>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6" name="Text Placeholder 18">
            <a:extLst>
              <a:ext uri="{FF2B5EF4-FFF2-40B4-BE49-F238E27FC236}">
                <a16:creationId xmlns:a16="http://schemas.microsoft.com/office/drawing/2014/main" id="{92C75D35-8730-843D-1A9B-7A3EF8BDC3E6}"/>
              </a:ext>
            </a:extLst>
          </p:cNvPr>
          <p:cNvSpPr>
            <a:spLocks noGrp="1"/>
          </p:cNvSpPr>
          <p:nvPr>
            <p:ph idx="1"/>
          </p:nvPr>
        </p:nvSpPr>
        <p:spPr>
          <a:xfrm>
            <a:off x="471983" y="1684020"/>
            <a:ext cx="11277600" cy="4269740"/>
          </a:xfrm>
          <a:prstGeom prst="rect">
            <a:avLst/>
          </a:prstGeom>
        </p:spPr>
        <p:txBody>
          <a:bodyPr vert="horz" lIns="0" tIns="0" rIns="0" bIns="0" rtlCol="0">
            <a:noAutofit/>
          </a:bodyPr>
          <a:lstStyle>
            <a:lvl1pPr>
              <a:defRPr sz="1200"/>
            </a:lvl1pPr>
            <a:lvl2pPr>
              <a:defRPr sz="12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Placeholder 3">
            <a:extLst>
              <a:ext uri="{FF2B5EF4-FFF2-40B4-BE49-F238E27FC236}">
                <a16:creationId xmlns:a16="http://schemas.microsoft.com/office/drawing/2014/main" id="{C2764C76-8970-695F-1D5D-E85887CA625C}"/>
              </a:ext>
            </a:extLst>
          </p:cNvPr>
          <p:cNvSpPr>
            <a:spLocks noGrp="1"/>
          </p:cNvSpPr>
          <p:nvPr>
            <p:ph sz="quarter" idx="14" hasCustomPrompt="1"/>
          </p:nvPr>
        </p:nvSpPr>
        <p:spPr>
          <a:xfrm>
            <a:off x="471983" y="6070213"/>
            <a:ext cx="11274552" cy="265176"/>
          </a:xfrm>
        </p:spPr>
        <p:txBody>
          <a:bodyPr wrap="none">
            <a:noAutofit/>
          </a:bodyPr>
          <a:lstStyle>
            <a:lvl1pPr>
              <a:spcAft>
                <a:spcPts val="0"/>
              </a:spcAft>
              <a:defRPr sz="800"/>
            </a:lvl1pPr>
          </a:lstStyle>
          <a:p>
            <a:pPr lvl="0"/>
            <a:r>
              <a:rPr lang="en-US"/>
              <a:t>Click to add notes and sources</a:t>
            </a:r>
          </a:p>
        </p:txBody>
      </p:sp>
      <p:sp>
        <p:nvSpPr>
          <p:cNvPr id="13" name="Title Placeholder 1">
            <a:extLst>
              <a:ext uri="{FF2B5EF4-FFF2-40B4-BE49-F238E27FC236}">
                <a16:creationId xmlns:a16="http://schemas.microsoft.com/office/drawing/2014/main" id="{B6D0D5CA-F83B-4C19-758D-C3C6659EBE6E}"/>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3041227808"/>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1529807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8995068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820424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0774805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C6EBE14D-B461-4822-94E8-6203B1E77523}" type="datetimeFigureOut">
              <a:rPr lang="fr-FR" smtClean="0"/>
              <a:t>22/09/2026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8696391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C6EBE14D-B461-4822-94E8-6203B1E77523}" type="datetimeFigureOut">
              <a:rPr lang="fr-FR" smtClean="0"/>
              <a:t>22/09/2026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9657460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6EBE14D-B461-4822-94E8-6203B1E77523}" type="datetimeFigureOut">
              <a:rPr lang="fr-FR" smtClean="0"/>
              <a:t>22/09/2026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2965436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5393278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648537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1274899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0338644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5049338-7875-4927-82E0-03C95D83209A}"/>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35049338-7875-4927-82E0-03C95D8320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Placeholder 1">
            <a:extLst>
              <a:ext uri="{FF2B5EF4-FFF2-40B4-BE49-F238E27FC236}">
                <a16:creationId xmlns:a16="http://schemas.microsoft.com/office/drawing/2014/main" id="{5AA52354-AD0C-4278-A20C-E161AEB4D16F}"/>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355240017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1" preserve="1">
  <p:cSld name="Title only 1">
    <p:spTree>
      <p:nvGrpSpPr>
        <p:cNvPr id="1" name="Shape 5623"/>
        <p:cNvGrpSpPr/>
        <p:nvPr/>
      </p:nvGrpSpPr>
      <p:grpSpPr>
        <a:xfrm>
          <a:off x="0" y="0"/>
          <a:ext cx="0" cy="0"/>
          <a:chOff x="0" y="0"/>
          <a:chExt cx="0" cy="0"/>
        </a:xfrm>
      </p:grpSpPr>
      <p:pic>
        <p:nvPicPr>
          <p:cNvPr id="5624" name="Google Shape;5624;p29"/>
          <p:cNvPicPr preferRelativeResize="0"/>
          <p:nvPr/>
        </p:nvPicPr>
        <p:blipFill>
          <a:blip r:embed="rId2">
            <a:alphaModFix amt="20000"/>
          </a:blip>
          <a:stretch>
            <a:fillRect/>
          </a:stretch>
        </p:blipFill>
        <p:spPr>
          <a:xfrm flipH="1">
            <a:off x="-4949" y="1"/>
            <a:ext cx="12192004" cy="6858001"/>
          </a:xfrm>
          <a:prstGeom prst="rect">
            <a:avLst/>
          </a:prstGeom>
          <a:noFill/>
          <a:ln>
            <a:noFill/>
          </a:ln>
        </p:spPr>
      </p:pic>
      <p:sp>
        <p:nvSpPr>
          <p:cNvPr id="5625" name="Google Shape;5625;p2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7382639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12" preserve="1">
  <p:cSld name="Title only 12">
    <p:spTree>
      <p:nvGrpSpPr>
        <p:cNvPr id="1" name="Shape 6976"/>
        <p:cNvGrpSpPr/>
        <p:nvPr/>
      </p:nvGrpSpPr>
      <p:grpSpPr>
        <a:xfrm>
          <a:off x="0" y="0"/>
          <a:ext cx="0" cy="0"/>
          <a:chOff x="0" y="0"/>
          <a:chExt cx="0" cy="0"/>
        </a:xfrm>
      </p:grpSpPr>
      <p:sp>
        <p:nvSpPr>
          <p:cNvPr id="6978" name="Google Shape;6978;p57"/>
          <p:cNvSpPr txBox="1">
            <a:spLocks noGrp="1"/>
          </p:cNvSpPr>
          <p:nvPr>
            <p:ph type="title"/>
          </p:nvPr>
        </p:nvSpPr>
        <p:spPr>
          <a:xfrm>
            <a:off x="960000" y="720000"/>
            <a:ext cx="1027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10582835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ubtitle, 1 column ">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966A5C41-60AA-4C25-8080-4F0DFF19B9C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966A5C41-60AA-4C25-8080-4F0DFF19B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8">
            <a:extLst>
              <a:ext uri="{FF2B5EF4-FFF2-40B4-BE49-F238E27FC236}">
                <a16:creationId xmlns:a16="http://schemas.microsoft.com/office/drawing/2014/main" id="{D5544814-ED77-5424-AA44-FCF607EC724C}"/>
              </a:ext>
            </a:extLst>
          </p:cNvPr>
          <p:cNvSpPr>
            <a:spLocks noGrp="1"/>
          </p:cNvSpPr>
          <p:nvPr>
            <p:ph type="body" sz="quarter" idx="13" hasCustomPrompt="1"/>
          </p:nvPr>
        </p:nvSpPr>
        <p:spPr>
          <a:xfrm>
            <a:off x="466344" y="649224"/>
            <a:ext cx="11277599" cy="1010919"/>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6" name="Text Placeholder 18">
            <a:extLst>
              <a:ext uri="{FF2B5EF4-FFF2-40B4-BE49-F238E27FC236}">
                <a16:creationId xmlns:a16="http://schemas.microsoft.com/office/drawing/2014/main" id="{92C75D35-8730-843D-1A9B-7A3EF8BDC3E6}"/>
              </a:ext>
            </a:extLst>
          </p:cNvPr>
          <p:cNvSpPr>
            <a:spLocks noGrp="1"/>
          </p:cNvSpPr>
          <p:nvPr>
            <p:ph idx="1"/>
          </p:nvPr>
        </p:nvSpPr>
        <p:spPr>
          <a:xfrm>
            <a:off x="471983" y="1684020"/>
            <a:ext cx="11277600" cy="4269740"/>
          </a:xfrm>
          <a:prstGeom prst="rect">
            <a:avLst/>
          </a:prstGeom>
        </p:spPr>
        <p:txBody>
          <a:bodyPr vert="horz" lIns="0" tIns="0" rIns="0" bIns="0" rtlCol="0">
            <a:noAutofit/>
          </a:bodyPr>
          <a:lstStyle>
            <a:lvl1pPr>
              <a:defRPr sz="1200"/>
            </a:lvl1pPr>
            <a:lvl2pPr>
              <a:defRPr sz="12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Placeholder 3">
            <a:extLst>
              <a:ext uri="{FF2B5EF4-FFF2-40B4-BE49-F238E27FC236}">
                <a16:creationId xmlns:a16="http://schemas.microsoft.com/office/drawing/2014/main" id="{C2764C76-8970-695F-1D5D-E85887CA625C}"/>
              </a:ext>
            </a:extLst>
          </p:cNvPr>
          <p:cNvSpPr>
            <a:spLocks noGrp="1"/>
          </p:cNvSpPr>
          <p:nvPr>
            <p:ph sz="quarter" idx="14" hasCustomPrompt="1"/>
          </p:nvPr>
        </p:nvSpPr>
        <p:spPr>
          <a:xfrm>
            <a:off x="471983" y="6070213"/>
            <a:ext cx="11274552" cy="265176"/>
          </a:xfrm>
        </p:spPr>
        <p:txBody>
          <a:bodyPr wrap="none">
            <a:noAutofit/>
          </a:bodyPr>
          <a:lstStyle>
            <a:lvl1pPr>
              <a:spcAft>
                <a:spcPts val="0"/>
              </a:spcAft>
              <a:defRPr sz="800"/>
            </a:lvl1pPr>
          </a:lstStyle>
          <a:p>
            <a:pPr lvl="0"/>
            <a:r>
              <a:rPr lang="en-US"/>
              <a:t>Click to add notes and sources</a:t>
            </a:r>
          </a:p>
        </p:txBody>
      </p:sp>
      <p:sp>
        <p:nvSpPr>
          <p:cNvPr id="13" name="Title Placeholder 1">
            <a:extLst>
              <a:ext uri="{FF2B5EF4-FFF2-40B4-BE49-F238E27FC236}">
                <a16:creationId xmlns:a16="http://schemas.microsoft.com/office/drawing/2014/main" id="{B6D0D5CA-F83B-4C19-758D-C3C6659EBE6E}"/>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273835987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 Id="rId11" Type="http://schemas.openxmlformats.org/officeDocument/2006/relationships/slideLayout" Target="../slideLayouts/slideLayout26.xml"/><Relationship Id="rId12" Type="http://schemas.openxmlformats.org/officeDocument/2006/relationships/slideLayout" Target="../slideLayouts/slideLayout27.xml"/><Relationship Id="rId13" Type="http://schemas.openxmlformats.org/officeDocument/2006/relationships/slideLayout" Target="../slideLayouts/slideLayout28.xml"/><Relationship Id="rId14" Type="http://schemas.openxmlformats.org/officeDocument/2006/relationships/slideLayout" Target="../slideLayouts/slideLayout29.xml"/><Relationship Id="rId15" Type="http://schemas.openxmlformats.org/officeDocument/2006/relationships/slideLayout" Target="../slideLayouts/slideLayout30.xml"/><Relationship Id="rId16" Type="http://schemas.openxmlformats.org/officeDocument/2006/relationships/theme" Target="../theme/theme2.xml"/><Relationship Id="rId17"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7" name="Image 16"/>
          <p:cNvPicPr>
            <a:picLocks noChangeAspect="1"/>
          </p:cNvPicPr>
          <p:nvPr userDrawn="1"/>
        </p:nvPicPr>
        <p:blipFill rotWithShape="1">
          <a:blip r:embed="rId17" cstate="print">
            <a:extLst>
              <a:ext uri="{28A0092B-C50C-407E-A947-70E740481C1C}">
                <a14:useLocalDpi xmlns:a14="http://schemas.microsoft.com/office/drawing/2010/main" val="0"/>
              </a:ext>
            </a:extLst>
          </a:blip>
          <a:srcRect l="-1" r="1564" b="34369"/>
          <a:stretch/>
        </p:blipFill>
        <p:spPr>
          <a:xfrm>
            <a:off x="-147909" y="-58723"/>
            <a:ext cx="12339909" cy="6916723"/>
          </a:xfrm>
          <a:prstGeom prst="rect">
            <a:avLst/>
          </a:prstGeom>
        </p:spPr>
      </p:pic>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6977E6-38EB-41CC-A7E1-A449CC9EA7E2}" type="slidenum">
              <a:rPr lang="fr-FR" smtClean="0"/>
              <a:t>‹N°›</a:t>
            </a:fld>
            <a:endParaRPr lang="fr-FR"/>
          </a:p>
        </p:txBody>
      </p:sp>
      <p:sp>
        <p:nvSpPr>
          <p:cNvPr id="15" name="ZoneTexte 14">
            <a:extLst>
              <a:ext uri="{FF2B5EF4-FFF2-40B4-BE49-F238E27FC236}">
                <a16:creationId xmlns:a16="http://schemas.microsoft.com/office/drawing/2014/main" id="{C6E7D94B-8E49-C846-A392-87DFA5EF4A9D}"/>
              </a:ext>
            </a:extLst>
          </p:cNvPr>
          <p:cNvSpPr txBox="1"/>
          <p:nvPr userDrawn="1"/>
        </p:nvSpPr>
        <p:spPr>
          <a:xfrm>
            <a:off x="221940" y="6394008"/>
            <a:ext cx="10929842" cy="261610"/>
          </a:xfrm>
          <a:prstGeom prst="rect">
            <a:avLst/>
          </a:prstGeom>
          <a:noFill/>
        </p:spPr>
        <p:txBody>
          <a:bodyPr wrap="square">
            <a:spAutoFit/>
          </a:bodyPr>
          <a:lstStyle/>
          <a:p>
            <a:r>
              <a:rPr lang="fr-FR" sz="1100">
                <a:solidFill>
                  <a:schemeClr val="bg1"/>
                </a:solidFill>
                <a:latin typeface="Helvetica" panose="020B0604020202020204" pitchFamily="34" charset="0"/>
                <a:cs typeface="Helvetica" panose="020B0604020202020204" pitchFamily="34" charset="0"/>
              </a:rPr>
              <a:t>Empreinte Africaine, Expertise Internationale</a:t>
            </a:r>
          </a:p>
        </p:txBody>
      </p:sp>
    </p:spTree>
    <p:extLst>
      <p:ext uri="{BB962C8B-B14F-4D97-AF65-F5344CB8AC3E}">
        <p14:creationId xmlns:p14="http://schemas.microsoft.com/office/powerpoint/2010/main" val="20634137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 id="2147483664"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Image 7"/>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504" y="283"/>
            <a:ext cx="12190992" cy="6857433"/>
          </a:xfrm>
          <a:prstGeom prst="rect">
            <a:avLst/>
          </a:prstGeom>
        </p:spPr>
      </p:pic>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6977E6-38EB-41CC-A7E1-A449CC9EA7E2}" type="slidenum">
              <a:rPr lang="fr-FR" smtClean="0"/>
              <a:t>‹N°›</a:t>
            </a:fld>
            <a:endParaRPr lang="fr-FR"/>
          </a:p>
        </p:txBody>
      </p:sp>
    </p:spTree>
    <p:extLst>
      <p:ext uri="{BB962C8B-B14F-4D97-AF65-F5344CB8AC3E}">
        <p14:creationId xmlns:p14="http://schemas.microsoft.com/office/powerpoint/2010/main" val="605055638"/>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9.jpg"/><Relationship Id="rId5" Type="http://schemas.openxmlformats.org/officeDocument/2006/relationships/notesSlide" Target="../notesSlides/notesSlide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6.png"/><Relationship Id="rId10" Type="http://schemas.openxmlformats.org/officeDocument/2006/relationships/image" Target="../media/image17.png"/><Relationship Id="rId11" Type="http://schemas.openxmlformats.org/officeDocument/2006/relationships/image" Target="../media/image21.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26.png"/><Relationship Id="rId16" Type="http://schemas.openxmlformats.org/officeDocument/2006/relationships/image" Target="../media/image27.png"/><Relationship Id="rId17" Type="http://schemas.openxmlformats.org/officeDocument/2006/relationships/image" Target="../media/image28.png"/><Relationship Id="rId18" Type="http://schemas.openxmlformats.org/officeDocument/2006/relationships/image" Target="../media/image29.png"/><Relationship Id="rId19" Type="http://schemas.openxmlformats.org/officeDocument/2006/relationships/image" Target="../media/image30.png"/><Relationship Id="rId20" Type="http://schemas.openxmlformats.org/officeDocument/2006/relationships/image" Target="../media/image31.png"/><Relationship Id="rId21" Type="http://schemas.openxmlformats.org/officeDocument/2006/relationships/image" Target="../media/image32.png"/><Relationship Id="rId22" Type="http://schemas.openxmlformats.org/officeDocument/2006/relationships/notesSlide" Target="../notesSlides/notes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96.png"/><Relationship Id="rId4" Type="http://schemas.openxmlformats.org/officeDocument/2006/relationships/image" Target="../media/image97.png"/><Relationship Id="rId5" Type="http://schemas.openxmlformats.org/officeDocument/2006/relationships/image" Target="../media/image46.png"/><Relationship Id="rId6" Type="http://schemas.openxmlformats.org/officeDocument/2006/relationships/image" Target="../media/image98.png"/><Relationship Id="rId7" Type="http://schemas.openxmlformats.org/officeDocument/2006/relationships/notesSlide" Target="../notesSlides/notesSlide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18.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54.png"/><Relationship Id="rId9" Type="http://schemas.openxmlformats.org/officeDocument/2006/relationships/notesSlide" Target="../notesSlides/notesSlide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7.xml"/><Relationship Id="rId7" Type="http://schemas.openxmlformats.org/officeDocument/2006/relationships/chart" Target="../charts/chart8.xml"/><Relationship Id="rId8" Type="http://schemas.openxmlformats.org/officeDocument/2006/relationships/notesSlide" Target="../notesSlides/notesSlide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xml"/></Relationships>
</file>

<file path=ppt/slides/_rels/slide12.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Layout" Target="../slideLayouts/slideLayout15.xml"/><Relationship Id="rId3" Type="http://schemas.openxmlformats.org/officeDocument/2006/relationships/notesSlide" Target="../notesSlides/notesSlide40.xml"/><Relationship Id="rId4" Type="http://schemas.openxmlformats.org/officeDocument/2006/relationships/image" Target="../media/image8.png"/><Relationship Id="rId5" Type="http://schemas.openxmlformats.org/officeDocument/2006/relationships/oleObject" Target="../embeddings/oleObject3.bin"/><Relationship Id="rId6" Type="http://schemas.openxmlformats.org/officeDocument/2006/relationships/image" Target="../media/image163.emf"/><Relationship Id="rId7" Type="http://schemas.openxmlformats.org/officeDocument/2006/relationships/chart" Target="../charts/chart17.xml"/><Relationship Id="rId8" Type="http://schemas.openxmlformats.org/officeDocument/2006/relationships/chart" Target="../charts/chart18.xml"/><Relationship Id="rId9" Type="http://schemas.openxmlformats.org/officeDocument/2006/relationships/image" Target="../media/image164.png"/><Relationship Id="rId10" Type="http://schemas.openxmlformats.org/officeDocument/2006/relationships/image" Target="../media/image18.png"/><Relationship Id="rId11" Type="http://schemas.openxmlformats.org/officeDocument/2006/relationships/chart" Target="../charts/chart19.xml"/><Relationship Id="rId12" Type="http://schemas.openxmlformats.org/officeDocument/2006/relationships/chart" Target="../charts/chart20.xml"/><Relationship Id="rId13" Type="http://schemas.openxmlformats.org/officeDocument/2006/relationships/image" Target="../media/image165.png"/><Relationship Id="rId14" Type="http://schemas.openxmlformats.org/officeDocument/2006/relationships/image" Target="../media/image16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128.png"/><Relationship Id="rId5" Type="http://schemas.openxmlformats.org/officeDocument/2006/relationships/image" Target="../media/image45.png"/><Relationship Id="rId6" Type="http://schemas.openxmlformats.org/officeDocument/2006/relationships/image" Target="../media/image129.png"/><Relationship Id="rId7" Type="http://schemas.openxmlformats.org/officeDocument/2006/relationships/image" Target="../media/image46.png"/><Relationship Id="rId8" Type="http://schemas.openxmlformats.org/officeDocument/2006/relationships/image" Target="../media/image13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9.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0.xml"/><Relationship Id="rId7"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1.xml"/><Relationship Id="rId7"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2.xml"/><Relationship Id="rId7" Type="http://schemas.openxmlformats.org/officeDocument/2006/relationships/notesSlide" Target="../notesSlides/notesSlide4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3.xml"/><Relationship Id="rId7" Type="http://schemas.openxmlformats.org/officeDocument/2006/relationships/notesSlide" Target="../notesSlides/notesSlide4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4.xml"/><Relationship Id="rId7" Type="http://schemas.openxmlformats.org/officeDocument/2006/relationships/notesSlide" Target="../notesSlides/notesSlide4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5.xml"/><Relationship Id="rId7" Type="http://schemas.openxmlformats.org/officeDocument/2006/relationships/notesSlide" Target="../notesSlides/notesSlide4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6.xml"/><Relationship Id="rId7" Type="http://schemas.openxmlformats.org/officeDocument/2006/relationships/notesSlide" Target="../notesSlides/notesSlide4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xml"/><Relationship Id="rId7" Type="http://schemas.openxmlformats.org/officeDocument/2006/relationships/notesSlide" Target="../notesSlides/notesSlide4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xml"/><Relationship Id="rId7" Type="http://schemas.openxmlformats.org/officeDocument/2006/relationships/notesSlide" Target="../notesSlides/notesSlide4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5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5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5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5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xml"/><Relationship Id="rId7"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5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xml"/><Relationship Id="rId7" Type="http://schemas.openxmlformats.org/officeDocument/2006/relationships/notesSlide" Target="../notesSlides/notesSlide5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5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5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1.xml"/><Relationship Id="rId7" Type="http://schemas.openxmlformats.org/officeDocument/2006/relationships/notesSlide" Target="../notesSlides/notesSlide6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2.xml"/><Relationship Id="rId7" Type="http://schemas.openxmlformats.org/officeDocument/2006/relationships/notesSlide" Target="../notesSlides/notesSlide6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3.xml"/><Relationship Id="rId7" Type="http://schemas.openxmlformats.org/officeDocument/2006/relationships/notesSlide" Target="../notesSlides/notesSlide6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6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6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4.xml"/><Relationship Id="rId7" Type="http://schemas.openxmlformats.org/officeDocument/2006/relationships/notesSlide" Target="../notesSlides/notesSlide6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5.xml"/><Relationship Id="rId7" Type="http://schemas.openxmlformats.org/officeDocument/2006/relationships/notesSlide" Target="../notesSlides/notesSlide6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6.xml"/><Relationship Id="rId7" Type="http://schemas.openxmlformats.org/officeDocument/2006/relationships/notesSlide" Target="../notesSlides/notesSlide7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7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7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7.xml"/><Relationship Id="rId7" Type="http://schemas.openxmlformats.org/officeDocument/2006/relationships/notesSlide" Target="../notesSlides/notesSlide78.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8.xml"/><Relationship Id="rId7" Type="http://schemas.openxmlformats.org/officeDocument/2006/relationships/notesSlide" Target="../notesSlides/notesSlide79.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9.xml"/><Relationship Id="rId7" Type="http://schemas.openxmlformats.org/officeDocument/2006/relationships/notesSlide" Target="../notesSlides/notesSlide80.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0.xml"/><Relationship Id="rId7" Type="http://schemas.openxmlformats.org/officeDocument/2006/relationships/notesSlide" Target="../notesSlides/notesSlide8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8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1.xml"/><Relationship Id="rId7" Type="http://schemas.openxmlformats.org/officeDocument/2006/relationships/notesSlide" Target="../notesSlides/notesSlide8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88.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9.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2.xml"/><Relationship Id="rId7" Type="http://schemas.openxmlformats.org/officeDocument/2006/relationships/notesSlide" Target="../notesSlides/notesSlide90.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3.xml"/><Relationship Id="rId7" Type="http://schemas.openxmlformats.org/officeDocument/2006/relationships/notesSlide" Target="../notesSlides/notesSlide9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8.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9.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0.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6.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8.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9.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0.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4.xml"/><Relationship Id="rId7" Type="http://schemas.openxmlformats.org/officeDocument/2006/relationships/notesSlide" Target="../notesSlides/notesSlide11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5.xml"/><Relationship Id="rId7" Type="http://schemas.openxmlformats.org/officeDocument/2006/relationships/notesSlide" Target="../notesSlides/notesSlide11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4.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6.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8.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6.xml"/><Relationship Id="rId7" Type="http://schemas.openxmlformats.org/officeDocument/2006/relationships/notesSlide" Target="../notesSlides/notesSlide119.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0.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7.xml"/><Relationship Id="rId7" Type="http://schemas.openxmlformats.org/officeDocument/2006/relationships/notesSlide" Target="../notesSlides/notesSlide12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124.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25.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6.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8.png"/><Relationship Id="rId3" Type="http://schemas.openxmlformats.org/officeDocument/2006/relationships/image" Target="../media/image66.png"/><Relationship Id="rId4" Type="http://schemas.openxmlformats.org/officeDocument/2006/relationships/image" Target="../media/image67.png"/><Relationship Id="rId5" Type="http://schemas.openxmlformats.org/officeDocument/2006/relationships/image" Target="../media/image68.png"/><Relationship Id="rId6" Type="http://schemas.openxmlformats.org/officeDocument/2006/relationships/image" Target="../media/image18.png"/><Relationship Id="rId7" Type="http://schemas.openxmlformats.org/officeDocument/2006/relationships/notesSlide" Target="../notesSlides/notesSlide128.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9.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30.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62.png"/><Relationship Id="rId4" Type="http://schemas.openxmlformats.org/officeDocument/2006/relationships/notesSlide" Target="../notesSlides/notesSlide13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3.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4.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5.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8.xml"/><Relationship Id="rId7" Type="http://schemas.openxmlformats.org/officeDocument/2006/relationships/notesSlide" Target="../notesSlides/notesSlide136.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8.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9.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0.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3.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4.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5.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46.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9.xml"/><Relationship Id="rId7" Type="http://schemas.openxmlformats.org/officeDocument/2006/relationships/notesSlide" Target="../notesSlides/notesSlide14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8.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0.xml"/><Relationship Id="rId7" Type="http://schemas.openxmlformats.org/officeDocument/2006/relationships/notesSlide" Target="../notesSlides/notesSlide149.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0.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153.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4.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5.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6.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8.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9.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1.xml"/><Relationship Id="rId7" Type="http://schemas.openxmlformats.org/officeDocument/2006/relationships/notesSlide" Target="../notesSlides/notesSlide160.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6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6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63.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2.xml"/><Relationship Id="rId7" Type="http://schemas.openxmlformats.org/officeDocument/2006/relationships/notesSlide" Target="../notesSlides/notesSlide164.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65.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66.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16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68.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69.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3.xml"/><Relationship Id="rId7" Type="http://schemas.openxmlformats.org/officeDocument/2006/relationships/notesSlide" Target="../notesSlides/notesSlide170.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4.xml"/><Relationship Id="rId7" Type="http://schemas.openxmlformats.org/officeDocument/2006/relationships/notesSlide" Target="../notesSlides/notesSlide17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7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173.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7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notesSlide" Target="../notesSlides/notesSlide17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7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7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notesSlide" Target="../notesSlides/notesSlide17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7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80.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81.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3.png"/><Relationship Id="rId7" Type="http://schemas.openxmlformats.org/officeDocument/2006/relationships/notesSlide" Target="../notesSlides/notesSlide18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4.png"/><Relationship Id="rId7" Type="http://schemas.openxmlformats.org/officeDocument/2006/relationships/notesSlide" Target="../notesSlides/notesSlide183.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5.png"/><Relationship Id="rId7" Type="http://schemas.openxmlformats.org/officeDocument/2006/relationships/notesSlide" Target="../notesSlides/notesSlide184.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6.png"/><Relationship Id="rId7" Type="http://schemas.openxmlformats.org/officeDocument/2006/relationships/notesSlide" Target="../notesSlides/notesSlide185.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7.png"/><Relationship Id="rId7" Type="http://schemas.openxmlformats.org/officeDocument/2006/relationships/notesSlide" Target="../notesSlides/notesSlide186.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8.png"/><Relationship Id="rId7" Type="http://schemas.openxmlformats.org/officeDocument/2006/relationships/notesSlide" Target="../notesSlides/notesSlide18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9.png"/><Relationship Id="rId7" Type="http://schemas.openxmlformats.org/officeDocument/2006/relationships/notesSlide" Target="../notesSlides/notesSlide188.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89.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90.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91.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9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93.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94.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95.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96.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9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98.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99.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00.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01.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0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03.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04.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05.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06.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0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08.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09.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10.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11.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1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13.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14.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15.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0.png"/><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p:cNvPicPr>
            <a:picLocks noChangeAspect="1"/>
          </p:cNvPicPr>
          <p:nvPr/>
        </p:nvPicPr>
        <p:blipFill rotWithShape="1">
          <a:blip r:embed="rId2" cstate="print">
            <a:extLst>
              <a:ext uri="{28A0092B-C50C-407E-A947-70E740481C1C}">
                <a14:useLocalDpi xmlns:a14="http://schemas.microsoft.com/office/drawing/2010/main" val="0"/>
              </a:ext>
            </a:extLst>
          </a:blip>
          <a:srcRect l="-175" t="524" r="-2445" b="9082"/>
          <a:stretch/>
        </p:blipFill>
        <p:spPr>
          <a:xfrm>
            <a:off x="4883082" y="0"/>
            <a:ext cx="7785652" cy="6858000"/>
          </a:xfrm>
          <a:prstGeom prst="rect">
            <a:avLst/>
          </a:prstGeom>
        </p:spPr>
      </p:pic>
      <p:sp>
        <p:nvSpPr>
          <p:cNvPr id="5" name="Rectangle 4"/>
          <p:cNvSpPr/>
          <p:nvPr/>
        </p:nvSpPr>
        <p:spPr>
          <a:xfrm>
            <a:off x="13092" y="0"/>
            <a:ext cx="5740400" cy="6858000"/>
          </a:xfrm>
          <a:prstGeom prst="rect">
            <a:avLst/>
          </a:prstGeom>
          <a:solidFill>
            <a:srgbClr val="0606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I" noProof="0"/>
          </a:p>
        </p:txBody>
      </p:sp>
      <p:pic>
        <p:nvPicPr>
          <p:cNvPr id="6" name="Image 5">
            <a:extLst>
              <a:ext uri="{FF2B5EF4-FFF2-40B4-BE49-F238E27FC236}">
                <a16:creationId xmlns:a16="http://schemas.microsoft.com/office/drawing/2014/main" id="{2C356854-0685-DCEF-E2F6-65D5E9653A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248" y="-135577"/>
            <a:ext cx="3261353" cy="1301437"/>
          </a:xfrm>
          <a:prstGeom prst="rect">
            <a:avLst/>
          </a:prstGeom>
        </p:spPr>
      </p:pic>
      <p:sp>
        <p:nvSpPr>
          <p:cNvPr id="8" name="Text Placeholder 4">
            <a:extLst>
              <a:ext uri="{FF2B5EF4-FFF2-40B4-BE49-F238E27FC236}">
                <a16:creationId xmlns:a16="http://schemas.microsoft.com/office/drawing/2014/main" id="{5B17207E-7FD3-4B75-ADFE-CC565F8DB8A1}"/>
              </a:ext>
            </a:extLst>
          </p:cNvPr>
          <p:cNvSpPr txBox="1">
            <a:spLocks/>
          </p:cNvSpPr>
          <p:nvPr/>
        </p:nvSpPr>
        <p:spPr>
          <a:xfrm>
            <a:off x="10506325" y="6388244"/>
            <a:ext cx="1187835" cy="337676"/>
          </a:xfrm>
          <a:prstGeom prst="rect">
            <a:avLst/>
          </a:prstGeom>
        </p:spPr>
        <p:txBody>
          <a:bodyPr vert="horz" lIns="91440" tIns="45720" rIns="91440" bIns="45720" rtlCol="0" anchor="ctr">
            <a:noAutofit/>
          </a:bodyPr>
          <a:lstStyle>
            <a:defPPr>
              <a:defRPr lang="fr-FR"/>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CI" sz="1000" noProof="0">
                <a:solidFill>
                  <a:srgbClr val="FFFFFF"/>
                </a:solidFill>
                <a:latin typeface=".Helvetica"/>
                <a:ea typeface=".Helvetica Neue Interface" panose="020B0604020202020204" pitchFamily="34" charset="0"/>
                <a:cs typeface="Open Sans"/>
              </a:rPr>
              <a:t>14 octobre 2026</a:t>
            </a:r>
          </a:p>
        </p:txBody>
      </p:sp>
      <p:sp>
        <p:nvSpPr>
          <p:cNvPr id="9" name="Google Shape;138;p25"/>
          <p:cNvSpPr txBox="1"/>
          <p:nvPr/>
        </p:nvSpPr>
        <p:spPr>
          <a:xfrm>
            <a:off x="908861" y="2534894"/>
            <a:ext cx="5918659" cy="1231106"/>
          </a:xfrm>
          <a:prstGeom prst="rect">
            <a:avLst/>
          </a:prstGeom>
          <a:noFill/>
          <a:ln>
            <a:noFill/>
          </a:ln>
        </p:spPr>
        <p:txBody>
          <a:bodyPr spcFirstLastPara="1" wrap="square" lIns="0" tIns="0" rIns="0" bIns="0" anchor="t" anchorCtr="0">
            <a:spAutoFit/>
          </a:bodyPr>
          <a:lstStyle/>
          <a:p>
            <a:r>
              <a:rPr lang="fr-CI" sz="4000" b="1" noProof="0">
                <a:solidFill>
                  <a:srgbClr val="FFFFFF"/>
                </a:solidFill>
                <a:latin typeface="Helvetica" panose="020B0604020202020204" pitchFamily="34" charset="0"/>
                <a:cs typeface="Helvetica" panose="020B0604020202020204" pitchFamily="34" charset="0"/>
              </a:rPr>
              <a:t>Audit Comptable et financier FPPN</a:t>
            </a:r>
          </a:p>
        </p:txBody>
      </p:sp>
      <p:sp>
        <p:nvSpPr>
          <p:cNvPr id="14" name="ZoneTexte 13">
            <a:extLst>
              <a:ext uri="{FF2B5EF4-FFF2-40B4-BE49-F238E27FC236}">
                <a16:creationId xmlns:a16="http://schemas.microsoft.com/office/drawing/2014/main" id="{C6E7D94B-8E49-C846-A392-87DFA5EF4A9D}"/>
              </a:ext>
            </a:extLst>
          </p:cNvPr>
          <p:cNvSpPr txBox="1"/>
          <p:nvPr/>
        </p:nvSpPr>
        <p:spPr>
          <a:xfrm>
            <a:off x="456025" y="6300894"/>
            <a:ext cx="4653185" cy="338554"/>
          </a:xfrm>
          <a:prstGeom prst="rect">
            <a:avLst/>
          </a:prstGeom>
          <a:noFill/>
        </p:spPr>
        <p:txBody>
          <a:bodyPr wrap="square">
            <a:spAutoFit/>
          </a:bodyPr>
          <a:lstStyle/>
          <a:p>
            <a:r>
              <a:rPr lang="fr-CI" sz="1600" noProof="0">
                <a:solidFill>
                  <a:schemeClr val="bg1"/>
                </a:solidFill>
                <a:latin typeface="Helvetica" panose="020B0604020202020204" pitchFamily="34" charset="0"/>
                <a:cs typeface="Helvetica" panose="020B0604020202020204" pitchFamily="34" charset="0"/>
              </a:rPr>
              <a:t>Empreinte Africaine, Expertise Internationale</a:t>
            </a:r>
          </a:p>
        </p:txBody>
      </p:sp>
      <p:sp>
        <p:nvSpPr>
          <p:cNvPr id="12" name="Rectangle 11"/>
          <p:cNvSpPr/>
          <p:nvPr/>
        </p:nvSpPr>
        <p:spPr>
          <a:xfrm>
            <a:off x="9487408" y="229231"/>
            <a:ext cx="2704592" cy="1323439"/>
          </a:xfrm>
          <a:prstGeom prst="rect">
            <a:avLst/>
          </a:prstGeom>
        </p:spPr>
        <p:txBody>
          <a:bodyPr wrap="square">
            <a:spAutoFit/>
          </a:bodyPr>
          <a:lstStyle/>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SA au Capital de 100 millions FCFA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Immeuble le 24, 3e étage</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Boulevard </a:t>
            </a:r>
            <a:r>
              <a:rPr lang="fr-CI" sz="1000" noProof="0" err="1">
                <a:solidFill>
                  <a:schemeClr val="bg1"/>
                </a:solidFill>
                <a:latin typeface="Helvetica" panose="020B0604020202020204" pitchFamily="34" charset="0"/>
                <a:ea typeface="Times New Roman" panose="02020603050405020304" pitchFamily="18" charset="0"/>
                <a:cs typeface="Helvetica" panose="020B0604020202020204" pitchFamily="34" charset="0"/>
              </a:rPr>
              <a:t>Clozel</a:t>
            </a: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 Plateau, Abidjan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06 BPM 459 Abidjan 06, Côte d’ivoire</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NCC : 2404702K</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RCCM : CI-ABJ-03-2024-B14-00114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Tel (225) 27 20 33 90 90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www.adenka.ci</a:t>
            </a:r>
          </a:p>
        </p:txBody>
      </p:sp>
      <p:sp>
        <p:nvSpPr>
          <p:cNvPr id="17" name="ZoneTexte 2"/>
          <p:cNvSpPr txBox="1"/>
          <p:nvPr/>
        </p:nvSpPr>
        <p:spPr>
          <a:xfrm>
            <a:off x="817421" y="5135034"/>
            <a:ext cx="6497320" cy="461665"/>
          </a:xfrm>
          <a:prstGeom prst="rect">
            <a:avLst/>
          </a:prstGeom>
          <a:noFill/>
        </p:spPr>
        <p:txBody>
          <a:bodyPr wrap="none">
            <a:spAutoFit/>
          </a:bodyPr>
          <a:lstStyle/>
          <a:p>
            <a:r>
              <a:rPr sz="2400" b="1">
                <a:solidFill>
                  <a:srgbClr val="EFAC62"/>
                </a:solidFill>
                <a:latin typeface="Helvetica"/>
              </a:rPr>
              <a:t>Rapport actuariel et statistique</a:t>
            </a:r>
          </a:p>
        </p:txBody>
      </p:sp>
      <p:pic>
        <p:nvPicPr>
          <p:cNvPr id="18" name="Logo FPPN" descr="logo_fppn.jpg"/>
          <p:cNvPicPr>
            <a:picLocks noChangeAspect="1"/>
          </p:cNvPicPr>
          <p:nvPr/>
        </p:nvPicPr>
        <p:blipFill>
          <a:blip r:embed="rId4"/>
          <a:srcRect t="23449" b="29631"/>
          <a:stretch>
            <a:fillRect/>
          </a:stretch>
        </p:blipFill>
        <p:spPr>
          <a:xfrm>
            <a:off x="938577" y="4017907"/>
            <a:ext cx="1844040" cy="865220"/>
          </a:xfrm>
          <a:prstGeom prst="rect">
            <a:avLst/>
          </a:prstGeom>
        </p:spPr>
      </p:pic>
    </p:spTree>
    <p:extLst>
      <p:ext uri="{BB962C8B-B14F-4D97-AF65-F5344CB8AC3E}">
        <p14:creationId xmlns:p14="http://schemas.microsoft.com/office/powerpoint/2010/main" val="1047328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972000" y="306000"/>
            <a:ext cx="7200000" cy="396000"/>
          </a:xfrm>
          <a:prstGeom prst="rect">
            <a:avLst/>
          </a:prstGeom>
          <a:noFill/>
        </p:spPr>
        <p:txBody>
          <a:bodyPr wrap="square" anchor="t" lIns="54000" rIns="54000"/>
          <a:lstStyle/>
          <a:p>
            <a:pPr algn="l"/>
            <a:r>
              <a:rPr sz="2400" b="1">
                <a:solidFill>
                  <a:srgbClr val="112A40"/>
                </a:solidFill>
                <a:latin typeface="Helvetica"/>
              </a:rPr>
              <a:t>SOMMAIRE</a:t>
            </a:r>
          </a:p>
        </p:txBody>
      </p:sp>
      <p:cxnSp>
        <p:nvCxnSpPr>
          <p:cNvPr id="28" name="Connector 27"/>
          <p:cNvCxnSpPr/>
          <p:nvPr/>
        </p:nvCxnSpPr>
        <p:spPr>
          <a:xfrm>
            <a:off x="932400" y="1374750"/>
            <a:ext cx="0" cy="452250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32400" y="1374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829250" y="1242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png"/>
          <p:cNvPicPr>
            <a:picLocks noChangeAspect="1"/>
          </p:cNvPicPr>
          <p:nvPr/>
        </p:nvPicPr>
        <p:blipFill>
          <a:blip r:embed="rId6"/>
          <a:stretch>
            <a:fillRect/>
          </a:stretch>
        </p:blipFill>
        <p:spPr>
          <a:xfrm>
            <a:off x="1882349" y="1295100"/>
            <a:ext cx="159300" cy="159300"/>
          </a:xfrm>
          <a:prstGeom prst="rect">
            <a:avLst/>
          </a:prstGeom>
        </p:spPr>
      </p:pic>
      <p:sp>
        <p:nvSpPr>
          <p:cNvPr id="32" name="Rectangle 31"/>
          <p:cNvSpPr/>
          <p:nvPr/>
        </p:nvSpPr>
        <p:spPr>
          <a:xfrm>
            <a:off x="2444400" y="1245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Résumé exécutif</a:t>
            </a:r>
          </a:p>
        </p:txBody>
      </p:sp>
      <p:sp>
        <p:nvSpPr>
          <p:cNvPr id="33" name="Rectangle 32"/>
          <p:cNvSpPr/>
          <p:nvPr/>
        </p:nvSpPr>
        <p:spPr>
          <a:xfrm>
            <a:off x="10756800" y="1245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3</a:t>
            </a:r>
          </a:p>
        </p:txBody>
      </p:sp>
      <p:cxnSp>
        <p:nvCxnSpPr>
          <p:cNvPr id="34" name="Connector 33"/>
          <p:cNvCxnSpPr/>
          <p:nvPr/>
        </p:nvCxnSpPr>
        <p:spPr>
          <a:xfrm>
            <a:off x="932400" y="1676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1829250" y="15434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image.png"/>
          <p:cNvPicPr>
            <a:picLocks noChangeAspect="1"/>
          </p:cNvPicPr>
          <p:nvPr/>
        </p:nvPicPr>
        <p:blipFill>
          <a:blip r:embed="rId7"/>
          <a:stretch>
            <a:fillRect/>
          </a:stretch>
        </p:blipFill>
        <p:spPr>
          <a:xfrm>
            <a:off x="1882349" y="1596599"/>
            <a:ext cx="159300" cy="159300"/>
          </a:xfrm>
          <a:prstGeom prst="rect">
            <a:avLst/>
          </a:prstGeom>
        </p:spPr>
      </p:pic>
      <p:sp>
        <p:nvSpPr>
          <p:cNvPr id="37" name="Rectangle 36"/>
          <p:cNvSpPr/>
          <p:nvPr/>
        </p:nvSpPr>
        <p:spPr>
          <a:xfrm>
            <a:off x="2444400" y="1547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Comprendre le FPPN</a:t>
            </a:r>
          </a:p>
        </p:txBody>
      </p:sp>
      <p:sp>
        <p:nvSpPr>
          <p:cNvPr id="38" name="Rectangle 37"/>
          <p:cNvSpPr/>
          <p:nvPr/>
        </p:nvSpPr>
        <p:spPr>
          <a:xfrm>
            <a:off x="10756800" y="1547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16</a:t>
            </a:r>
          </a:p>
        </p:txBody>
      </p:sp>
      <p:cxnSp>
        <p:nvCxnSpPr>
          <p:cNvPr id="39" name="Connector 38"/>
          <p:cNvCxnSpPr/>
          <p:nvPr/>
        </p:nvCxnSpPr>
        <p:spPr>
          <a:xfrm>
            <a:off x="932400" y="1977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1829250" y="1845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mage.png"/>
          <p:cNvPicPr>
            <a:picLocks noChangeAspect="1"/>
          </p:cNvPicPr>
          <p:nvPr/>
        </p:nvPicPr>
        <p:blipFill>
          <a:blip r:embed="rId8"/>
          <a:stretch>
            <a:fillRect/>
          </a:stretch>
        </p:blipFill>
        <p:spPr>
          <a:xfrm>
            <a:off x="1882349" y="1898100"/>
            <a:ext cx="159300" cy="159300"/>
          </a:xfrm>
          <a:prstGeom prst="rect">
            <a:avLst/>
          </a:prstGeom>
        </p:spPr>
      </p:pic>
      <p:sp>
        <p:nvSpPr>
          <p:cNvPr id="42" name="Rectangle 41"/>
          <p:cNvSpPr/>
          <p:nvPr/>
        </p:nvSpPr>
        <p:spPr>
          <a:xfrm>
            <a:off x="2444400" y="1848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Contexte et démarche</a:t>
            </a:r>
          </a:p>
        </p:txBody>
      </p:sp>
      <p:sp>
        <p:nvSpPr>
          <p:cNvPr id="43" name="Rectangle 42"/>
          <p:cNvSpPr/>
          <p:nvPr/>
        </p:nvSpPr>
        <p:spPr>
          <a:xfrm>
            <a:off x="10756800" y="1848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25</a:t>
            </a:r>
          </a:p>
        </p:txBody>
      </p:sp>
      <p:cxnSp>
        <p:nvCxnSpPr>
          <p:cNvPr id="44" name="Connector 43"/>
          <p:cNvCxnSpPr/>
          <p:nvPr/>
        </p:nvCxnSpPr>
        <p:spPr>
          <a:xfrm>
            <a:off x="932400" y="2279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1829250" y="21465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image.png"/>
          <p:cNvPicPr>
            <a:picLocks noChangeAspect="1"/>
          </p:cNvPicPr>
          <p:nvPr/>
        </p:nvPicPr>
        <p:blipFill>
          <a:blip r:embed="rId9"/>
          <a:stretch>
            <a:fillRect/>
          </a:stretch>
        </p:blipFill>
        <p:spPr>
          <a:xfrm>
            <a:off x="1882349" y="2199600"/>
            <a:ext cx="159300" cy="159300"/>
          </a:xfrm>
          <a:prstGeom prst="rect">
            <a:avLst/>
          </a:prstGeom>
        </p:spPr>
      </p:pic>
      <p:sp>
        <p:nvSpPr>
          <p:cNvPr id="47" name="Rectangle 46"/>
          <p:cNvSpPr/>
          <p:nvPr/>
        </p:nvSpPr>
        <p:spPr>
          <a:xfrm>
            <a:off x="2444400" y="2150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Données et qualité</a:t>
            </a:r>
          </a:p>
        </p:txBody>
      </p:sp>
      <p:sp>
        <p:nvSpPr>
          <p:cNvPr id="48" name="Rectangle 47"/>
          <p:cNvSpPr/>
          <p:nvPr/>
        </p:nvSpPr>
        <p:spPr>
          <a:xfrm>
            <a:off x="10756800" y="2150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30</a:t>
            </a:r>
          </a:p>
        </p:txBody>
      </p:sp>
      <p:cxnSp>
        <p:nvCxnSpPr>
          <p:cNvPr id="49" name="Connector 48"/>
          <p:cNvCxnSpPr/>
          <p:nvPr/>
        </p:nvCxnSpPr>
        <p:spPr>
          <a:xfrm>
            <a:off x="932400" y="2580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1829250" y="2448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image.png"/>
          <p:cNvPicPr>
            <a:picLocks noChangeAspect="1"/>
          </p:cNvPicPr>
          <p:nvPr/>
        </p:nvPicPr>
        <p:blipFill>
          <a:blip r:embed="rId10"/>
          <a:stretch>
            <a:fillRect/>
          </a:stretch>
        </p:blipFill>
        <p:spPr>
          <a:xfrm>
            <a:off x="1882349" y="2501100"/>
            <a:ext cx="159300" cy="159300"/>
          </a:xfrm>
          <a:prstGeom prst="rect">
            <a:avLst/>
          </a:prstGeom>
        </p:spPr>
      </p:pic>
      <p:sp>
        <p:nvSpPr>
          <p:cNvPr id="52" name="Rectangle 51"/>
          <p:cNvSpPr/>
          <p:nvPr/>
        </p:nvSpPr>
        <p:spPr>
          <a:xfrm>
            <a:off x="2444400" y="2451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Effectifs et cotisations</a:t>
            </a:r>
          </a:p>
        </p:txBody>
      </p:sp>
      <p:sp>
        <p:nvSpPr>
          <p:cNvPr id="53" name="Rectangle 52"/>
          <p:cNvSpPr/>
          <p:nvPr/>
        </p:nvSpPr>
        <p:spPr>
          <a:xfrm>
            <a:off x="10756800" y="2451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42</a:t>
            </a:r>
          </a:p>
        </p:txBody>
      </p:sp>
      <p:cxnSp>
        <p:nvCxnSpPr>
          <p:cNvPr id="54" name="Connector 53"/>
          <p:cNvCxnSpPr/>
          <p:nvPr/>
        </p:nvCxnSpPr>
        <p:spPr>
          <a:xfrm>
            <a:off x="932400" y="2882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1829250" y="27494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cture 55" descr="image.png"/>
          <p:cNvPicPr>
            <a:picLocks noChangeAspect="1"/>
          </p:cNvPicPr>
          <p:nvPr/>
        </p:nvPicPr>
        <p:blipFill>
          <a:blip r:embed="rId11"/>
          <a:stretch>
            <a:fillRect/>
          </a:stretch>
        </p:blipFill>
        <p:spPr>
          <a:xfrm>
            <a:off x="1882349" y="2802599"/>
            <a:ext cx="159300" cy="159300"/>
          </a:xfrm>
          <a:prstGeom prst="rect">
            <a:avLst/>
          </a:prstGeom>
        </p:spPr>
      </p:pic>
      <p:sp>
        <p:nvSpPr>
          <p:cNvPr id="57" name="Rectangle 56"/>
          <p:cNvSpPr/>
          <p:nvPr/>
        </p:nvSpPr>
        <p:spPr>
          <a:xfrm>
            <a:off x="2444400" y="2753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Sinistralité et résultat</a:t>
            </a:r>
          </a:p>
        </p:txBody>
      </p:sp>
      <p:sp>
        <p:nvSpPr>
          <p:cNvPr id="58" name="Rectangle 57"/>
          <p:cNvSpPr/>
          <p:nvPr/>
        </p:nvSpPr>
        <p:spPr>
          <a:xfrm>
            <a:off x="10756800" y="2753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55</a:t>
            </a:r>
          </a:p>
        </p:txBody>
      </p:sp>
      <p:cxnSp>
        <p:nvCxnSpPr>
          <p:cNvPr id="59" name="Connector 58"/>
          <p:cNvCxnSpPr/>
          <p:nvPr/>
        </p:nvCxnSpPr>
        <p:spPr>
          <a:xfrm>
            <a:off x="932400" y="3183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1829250" y="3051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image.png"/>
          <p:cNvPicPr>
            <a:picLocks noChangeAspect="1"/>
          </p:cNvPicPr>
          <p:nvPr/>
        </p:nvPicPr>
        <p:blipFill>
          <a:blip r:embed="rId12"/>
          <a:stretch>
            <a:fillRect/>
          </a:stretch>
        </p:blipFill>
        <p:spPr>
          <a:xfrm>
            <a:off x="1882349" y="3104100"/>
            <a:ext cx="159300" cy="159300"/>
          </a:xfrm>
          <a:prstGeom prst="rect">
            <a:avLst/>
          </a:prstGeom>
        </p:spPr>
      </p:pic>
      <p:sp>
        <p:nvSpPr>
          <p:cNvPr id="62" name="Rectangle 61"/>
          <p:cNvSpPr/>
          <p:nvPr/>
        </p:nvSpPr>
        <p:spPr>
          <a:xfrm>
            <a:off x="2444400" y="3054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Épargne des mutualistes</a:t>
            </a:r>
          </a:p>
        </p:txBody>
      </p:sp>
      <p:sp>
        <p:nvSpPr>
          <p:cNvPr id="63" name="Rectangle 62"/>
          <p:cNvSpPr/>
          <p:nvPr/>
        </p:nvSpPr>
        <p:spPr>
          <a:xfrm>
            <a:off x="10756800" y="3054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70</a:t>
            </a:r>
          </a:p>
        </p:txBody>
      </p:sp>
      <p:cxnSp>
        <p:nvCxnSpPr>
          <p:cNvPr id="64" name="Connector 63"/>
          <p:cNvCxnSpPr/>
          <p:nvPr/>
        </p:nvCxnSpPr>
        <p:spPr>
          <a:xfrm>
            <a:off x="932400" y="3485249"/>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65" name="Oval 64"/>
          <p:cNvSpPr/>
          <p:nvPr/>
        </p:nvSpPr>
        <p:spPr>
          <a:xfrm>
            <a:off x="1829250" y="33524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6" name="Picture 65" descr="image.png"/>
          <p:cNvPicPr>
            <a:picLocks noChangeAspect="1"/>
          </p:cNvPicPr>
          <p:nvPr/>
        </p:nvPicPr>
        <p:blipFill>
          <a:blip r:embed="rId13"/>
          <a:stretch>
            <a:fillRect/>
          </a:stretch>
        </p:blipFill>
        <p:spPr>
          <a:xfrm>
            <a:off x="1882349" y="3405599"/>
            <a:ext cx="159300" cy="159300"/>
          </a:xfrm>
          <a:prstGeom prst="rect">
            <a:avLst/>
          </a:prstGeom>
        </p:spPr>
      </p:pic>
      <p:sp>
        <p:nvSpPr>
          <p:cNvPr id="67" name="Rectangle 66"/>
          <p:cNvSpPr/>
          <p:nvPr/>
        </p:nvSpPr>
        <p:spPr>
          <a:xfrm>
            <a:off x="2444400" y="3356099"/>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Prêts du Grenier</a:t>
            </a:r>
          </a:p>
        </p:txBody>
      </p:sp>
      <p:sp>
        <p:nvSpPr>
          <p:cNvPr id="68" name="Rectangle 67"/>
          <p:cNvSpPr/>
          <p:nvPr/>
        </p:nvSpPr>
        <p:spPr>
          <a:xfrm>
            <a:off x="10756800" y="3356099"/>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82</a:t>
            </a:r>
          </a:p>
        </p:txBody>
      </p:sp>
      <p:cxnSp>
        <p:nvCxnSpPr>
          <p:cNvPr id="69" name="Connector 68"/>
          <p:cNvCxnSpPr/>
          <p:nvPr/>
        </p:nvCxnSpPr>
        <p:spPr>
          <a:xfrm>
            <a:off x="932400" y="3786749"/>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70" name="Oval 69"/>
          <p:cNvSpPr/>
          <p:nvPr/>
        </p:nvSpPr>
        <p:spPr>
          <a:xfrm>
            <a:off x="1829250" y="36539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image.png"/>
          <p:cNvPicPr>
            <a:picLocks noChangeAspect="1"/>
          </p:cNvPicPr>
          <p:nvPr/>
        </p:nvPicPr>
        <p:blipFill>
          <a:blip r:embed="rId14"/>
          <a:stretch>
            <a:fillRect/>
          </a:stretch>
        </p:blipFill>
        <p:spPr>
          <a:xfrm>
            <a:off x="1882349" y="3707100"/>
            <a:ext cx="159300" cy="159300"/>
          </a:xfrm>
          <a:prstGeom prst="rect">
            <a:avLst/>
          </a:prstGeom>
        </p:spPr>
      </p:pic>
      <p:sp>
        <p:nvSpPr>
          <p:cNvPr id="72" name="Rectangle 71"/>
          <p:cNvSpPr/>
          <p:nvPr/>
        </p:nvSpPr>
        <p:spPr>
          <a:xfrm>
            <a:off x="2444400" y="3657599"/>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Retraités et annexes</a:t>
            </a:r>
          </a:p>
        </p:txBody>
      </p:sp>
      <p:sp>
        <p:nvSpPr>
          <p:cNvPr id="73" name="Rectangle 72"/>
          <p:cNvSpPr/>
          <p:nvPr/>
        </p:nvSpPr>
        <p:spPr>
          <a:xfrm>
            <a:off x="10756800" y="3657599"/>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91</a:t>
            </a:r>
          </a:p>
        </p:txBody>
      </p:sp>
      <p:cxnSp>
        <p:nvCxnSpPr>
          <p:cNvPr id="74" name="Connector 73"/>
          <p:cNvCxnSpPr/>
          <p:nvPr/>
        </p:nvCxnSpPr>
        <p:spPr>
          <a:xfrm>
            <a:off x="932400" y="4088249"/>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1829250" y="39554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6" name="Picture 75" descr="image.png"/>
          <p:cNvPicPr>
            <a:picLocks noChangeAspect="1"/>
          </p:cNvPicPr>
          <p:nvPr/>
        </p:nvPicPr>
        <p:blipFill>
          <a:blip r:embed="rId15"/>
          <a:stretch>
            <a:fillRect/>
          </a:stretch>
        </p:blipFill>
        <p:spPr>
          <a:xfrm>
            <a:off x="1882349" y="4008600"/>
            <a:ext cx="159300" cy="159300"/>
          </a:xfrm>
          <a:prstGeom prst="rect">
            <a:avLst/>
          </a:prstGeom>
        </p:spPr>
      </p:pic>
      <p:sp>
        <p:nvSpPr>
          <p:cNvPr id="77" name="Rectangle 76"/>
          <p:cNvSpPr/>
          <p:nvPr/>
        </p:nvSpPr>
        <p:spPr>
          <a:xfrm>
            <a:off x="2444400" y="3959099"/>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Bilan, provisions et placements</a:t>
            </a:r>
          </a:p>
        </p:txBody>
      </p:sp>
      <p:sp>
        <p:nvSpPr>
          <p:cNvPr id="78" name="Rectangle 77"/>
          <p:cNvSpPr/>
          <p:nvPr/>
        </p:nvSpPr>
        <p:spPr>
          <a:xfrm>
            <a:off x="10756800" y="3959099"/>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95</a:t>
            </a:r>
          </a:p>
        </p:txBody>
      </p:sp>
      <p:cxnSp>
        <p:nvCxnSpPr>
          <p:cNvPr id="79" name="Connector 78"/>
          <p:cNvCxnSpPr/>
          <p:nvPr/>
        </p:nvCxnSpPr>
        <p:spPr>
          <a:xfrm>
            <a:off x="932400" y="4389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80" name="Oval 79"/>
          <p:cNvSpPr/>
          <p:nvPr/>
        </p:nvSpPr>
        <p:spPr>
          <a:xfrm>
            <a:off x="1829250" y="4257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1" name="Picture 80" descr="image.png"/>
          <p:cNvPicPr>
            <a:picLocks noChangeAspect="1"/>
          </p:cNvPicPr>
          <p:nvPr/>
        </p:nvPicPr>
        <p:blipFill>
          <a:blip r:embed="rId16"/>
          <a:stretch>
            <a:fillRect/>
          </a:stretch>
        </p:blipFill>
        <p:spPr>
          <a:xfrm>
            <a:off x="1882349" y="4310100"/>
            <a:ext cx="159300" cy="159300"/>
          </a:xfrm>
          <a:prstGeom prst="rect">
            <a:avLst/>
          </a:prstGeom>
        </p:spPr>
      </p:pic>
      <p:sp>
        <p:nvSpPr>
          <p:cNvPr id="82" name="Rectangle 81"/>
          <p:cNvSpPr/>
          <p:nvPr/>
        </p:nvSpPr>
        <p:spPr>
          <a:xfrm>
            <a:off x="2444400" y="4260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Conformité prudentielle</a:t>
            </a:r>
          </a:p>
        </p:txBody>
      </p:sp>
      <p:sp>
        <p:nvSpPr>
          <p:cNvPr id="83" name="Rectangle 82"/>
          <p:cNvSpPr/>
          <p:nvPr/>
        </p:nvSpPr>
        <p:spPr>
          <a:xfrm>
            <a:off x="10756800" y="4260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133</a:t>
            </a:r>
          </a:p>
        </p:txBody>
      </p:sp>
      <p:cxnSp>
        <p:nvCxnSpPr>
          <p:cNvPr id="84" name="Connector 83"/>
          <p:cNvCxnSpPr/>
          <p:nvPr/>
        </p:nvCxnSpPr>
        <p:spPr>
          <a:xfrm>
            <a:off x="932400" y="4691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85" name="Oval 84"/>
          <p:cNvSpPr/>
          <p:nvPr/>
        </p:nvSpPr>
        <p:spPr>
          <a:xfrm>
            <a:off x="1829250" y="45585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6" name="Picture 85" descr="image.png"/>
          <p:cNvPicPr>
            <a:picLocks noChangeAspect="1"/>
          </p:cNvPicPr>
          <p:nvPr/>
        </p:nvPicPr>
        <p:blipFill>
          <a:blip r:embed="rId17"/>
          <a:stretch>
            <a:fillRect/>
          </a:stretch>
        </p:blipFill>
        <p:spPr>
          <a:xfrm>
            <a:off x="1882349" y="4611600"/>
            <a:ext cx="159300" cy="159300"/>
          </a:xfrm>
          <a:prstGeom prst="rect">
            <a:avLst/>
          </a:prstGeom>
        </p:spPr>
      </p:pic>
      <p:sp>
        <p:nvSpPr>
          <p:cNvPr id="87" name="Rectangle 86"/>
          <p:cNvSpPr/>
          <p:nvPr/>
        </p:nvSpPr>
        <p:spPr>
          <a:xfrm>
            <a:off x="2444400" y="4562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Tables de mortalité</a:t>
            </a:r>
          </a:p>
        </p:txBody>
      </p:sp>
      <p:sp>
        <p:nvSpPr>
          <p:cNvPr id="88" name="Rectangle 87"/>
          <p:cNvSpPr/>
          <p:nvPr/>
        </p:nvSpPr>
        <p:spPr>
          <a:xfrm>
            <a:off x="10756800" y="4562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176</a:t>
            </a:r>
          </a:p>
        </p:txBody>
      </p:sp>
      <p:cxnSp>
        <p:nvCxnSpPr>
          <p:cNvPr id="89" name="Connector 88"/>
          <p:cNvCxnSpPr/>
          <p:nvPr/>
        </p:nvCxnSpPr>
        <p:spPr>
          <a:xfrm>
            <a:off x="932400" y="4992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90" name="Oval 89"/>
          <p:cNvSpPr/>
          <p:nvPr/>
        </p:nvSpPr>
        <p:spPr>
          <a:xfrm>
            <a:off x="1829250" y="4860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1" name="Picture 90" descr="image.png"/>
          <p:cNvPicPr>
            <a:picLocks noChangeAspect="1"/>
          </p:cNvPicPr>
          <p:nvPr/>
        </p:nvPicPr>
        <p:blipFill>
          <a:blip r:embed="rId18"/>
          <a:stretch>
            <a:fillRect/>
          </a:stretch>
        </p:blipFill>
        <p:spPr>
          <a:xfrm>
            <a:off x="1882349" y="4913100"/>
            <a:ext cx="159300" cy="159300"/>
          </a:xfrm>
          <a:prstGeom prst="rect">
            <a:avLst/>
          </a:prstGeom>
        </p:spPr>
      </p:pic>
      <p:sp>
        <p:nvSpPr>
          <p:cNvPr id="92" name="Rectangle 91"/>
          <p:cNvSpPr/>
          <p:nvPr/>
        </p:nvSpPr>
        <p:spPr>
          <a:xfrm>
            <a:off x="2444400" y="4863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Méthodes actuarielles</a:t>
            </a:r>
          </a:p>
        </p:txBody>
      </p:sp>
      <p:sp>
        <p:nvSpPr>
          <p:cNvPr id="93" name="Rectangle 92"/>
          <p:cNvSpPr/>
          <p:nvPr/>
        </p:nvSpPr>
        <p:spPr>
          <a:xfrm>
            <a:off x="10756800" y="4863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183</a:t>
            </a:r>
          </a:p>
        </p:txBody>
      </p:sp>
      <p:cxnSp>
        <p:nvCxnSpPr>
          <p:cNvPr id="94" name="Connector 93"/>
          <p:cNvCxnSpPr/>
          <p:nvPr/>
        </p:nvCxnSpPr>
        <p:spPr>
          <a:xfrm>
            <a:off x="932400" y="5294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95" name="Oval 94"/>
          <p:cNvSpPr/>
          <p:nvPr/>
        </p:nvSpPr>
        <p:spPr>
          <a:xfrm>
            <a:off x="1829250" y="51615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6" name="Picture 95" descr="image.png"/>
          <p:cNvPicPr>
            <a:picLocks noChangeAspect="1"/>
          </p:cNvPicPr>
          <p:nvPr/>
        </p:nvPicPr>
        <p:blipFill>
          <a:blip r:embed="rId19"/>
          <a:stretch>
            <a:fillRect/>
          </a:stretch>
        </p:blipFill>
        <p:spPr>
          <a:xfrm>
            <a:off x="1882349" y="5214600"/>
            <a:ext cx="159300" cy="159300"/>
          </a:xfrm>
          <a:prstGeom prst="rect">
            <a:avLst/>
          </a:prstGeom>
        </p:spPr>
      </p:pic>
      <p:sp>
        <p:nvSpPr>
          <p:cNvPr id="97" name="Rectangle 96"/>
          <p:cNvSpPr/>
          <p:nvPr/>
        </p:nvSpPr>
        <p:spPr>
          <a:xfrm>
            <a:off x="2444400" y="5165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Outils et traçabilité</a:t>
            </a:r>
          </a:p>
        </p:txBody>
      </p:sp>
      <p:sp>
        <p:nvSpPr>
          <p:cNvPr id="98" name="Rectangle 97"/>
          <p:cNvSpPr/>
          <p:nvPr/>
        </p:nvSpPr>
        <p:spPr>
          <a:xfrm>
            <a:off x="10756800" y="5165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190</a:t>
            </a:r>
          </a:p>
        </p:txBody>
      </p:sp>
      <p:cxnSp>
        <p:nvCxnSpPr>
          <p:cNvPr id="99" name="Connector 98"/>
          <p:cNvCxnSpPr/>
          <p:nvPr/>
        </p:nvCxnSpPr>
        <p:spPr>
          <a:xfrm>
            <a:off x="932400" y="5595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100" name="Oval 99"/>
          <p:cNvSpPr/>
          <p:nvPr/>
        </p:nvSpPr>
        <p:spPr>
          <a:xfrm>
            <a:off x="1829250" y="5463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1" name="Picture 100" descr="image.png"/>
          <p:cNvPicPr>
            <a:picLocks noChangeAspect="1"/>
          </p:cNvPicPr>
          <p:nvPr/>
        </p:nvPicPr>
        <p:blipFill>
          <a:blip r:embed="rId20"/>
          <a:stretch>
            <a:fillRect/>
          </a:stretch>
        </p:blipFill>
        <p:spPr>
          <a:xfrm>
            <a:off x="1882349" y="5516100"/>
            <a:ext cx="159300" cy="159300"/>
          </a:xfrm>
          <a:prstGeom prst="rect">
            <a:avLst/>
          </a:prstGeom>
        </p:spPr>
      </p:pic>
      <p:sp>
        <p:nvSpPr>
          <p:cNvPr id="102" name="Rectangle 101"/>
          <p:cNvSpPr/>
          <p:nvPr/>
        </p:nvSpPr>
        <p:spPr>
          <a:xfrm>
            <a:off x="2444400" y="5466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Analyses en attente</a:t>
            </a:r>
          </a:p>
        </p:txBody>
      </p:sp>
      <p:sp>
        <p:nvSpPr>
          <p:cNvPr id="103" name="Rectangle 102"/>
          <p:cNvSpPr/>
          <p:nvPr/>
        </p:nvSpPr>
        <p:spPr>
          <a:xfrm>
            <a:off x="10756800" y="5466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201</a:t>
            </a:r>
          </a:p>
        </p:txBody>
      </p:sp>
      <p:cxnSp>
        <p:nvCxnSpPr>
          <p:cNvPr id="104" name="Connector 103"/>
          <p:cNvCxnSpPr/>
          <p:nvPr/>
        </p:nvCxnSpPr>
        <p:spPr>
          <a:xfrm>
            <a:off x="932400" y="5897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105" name="Oval 104"/>
          <p:cNvSpPr/>
          <p:nvPr/>
        </p:nvSpPr>
        <p:spPr>
          <a:xfrm>
            <a:off x="1829250" y="57645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6" name="Picture 105" descr="image.png"/>
          <p:cNvPicPr>
            <a:picLocks noChangeAspect="1"/>
          </p:cNvPicPr>
          <p:nvPr/>
        </p:nvPicPr>
        <p:blipFill>
          <a:blip r:embed="rId21"/>
          <a:stretch>
            <a:fillRect/>
          </a:stretch>
        </p:blipFill>
        <p:spPr>
          <a:xfrm>
            <a:off x="1882349" y="5817600"/>
            <a:ext cx="159300" cy="159300"/>
          </a:xfrm>
          <a:prstGeom prst="rect">
            <a:avLst/>
          </a:prstGeom>
        </p:spPr>
      </p:pic>
      <p:sp>
        <p:nvSpPr>
          <p:cNvPr id="107" name="Rectangle 106"/>
          <p:cNvSpPr/>
          <p:nvPr/>
        </p:nvSpPr>
        <p:spPr>
          <a:xfrm>
            <a:off x="2444400" y="5768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Annexes</a:t>
            </a:r>
          </a:p>
        </p:txBody>
      </p:sp>
      <p:sp>
        <p:nvSpPr>
          <p:cNvPr id="108" name="Rectangle 107"/>
          <p:cNvSpPr/>
          <p:nvPr/>
        </p:nvSpPr>
        <p:spPr>
          <a:xfrm>
            <a:off x="10756800" y="5768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208</a:t>
            </a:r>
          </a:p>
        </p:txBody>
      </p:sp>
    </p:spTree>
    <p:extLst>
      <p:ext uri="{BB962C8B-B14F-4D97-AF65-F5344CB8AC3E}">
        <p14:creationId xmlns:p14="http://schemas.microsoft.com/office/powerpoint/2010/main" val="77577176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R</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Résumé exécutif</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Constats, chiffres clés, risques et actions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55161340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Résumé exécutif</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dégage des excédents mais reste fragile, peu documenté et hors normes prudentielles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Fonds propres négatifs, épargne couverte à 16,28 % par des actifs dédiés, 14 ratios prudentiels non conformes sur 36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 sur les documents reçus le 15/10/2026 et la documentation publique de l'AIRMS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 : Principaux constats au 15/10/2026</a:t>
            </a:r>
          </a:p>
        </p:txBody>
      </p:sp>
      <p:graphicFrame>
        <p:nvGraphicFramePr>
          <p:cNvPr id="32" name="Table 31"/>
          <p:cNvGraphicFramePr>
            <a:graphicFrameLocks noGrp="1"/>
          </p:cNvGraphicFramePr>
          <p:nvPr/>
        </p:nvGraphicFramePr>
        <p:xfrm>
          <a:off x="503999" y="1655999"/>
          <a:ext cx="11232000" cy="2400657"/>
        </p:xfrm>
        <a:graphic>
          <a:graphicData uri="http://schemas.openxmlformats.org/drawingml/2006/table">
            <a:tbl>
              <a:tblPr firstRow="0" bandRow="0">
                <a:tableStyleId>{5940675A-B579-460E-94D1-54222C63F5DA}</a:tableStyleId>
              </a:tblPr>
              <a:tblGrid>
                <a:gridCol w="1512000"/>
                <a:gridCol w="6192000"/>
                <a:gridCol w="3528000"/>
              </a:tblGrid>
              <a:tr h="202389">
                <a:tc>
                  <a:txBody>
                    <a:bodyPr/>
                    <a:lstStyle/>
                    <a:p>
                      <a:pPr marL="0" indent="0" lvl="0">
                        <a:buNone/>
                      </a:pPr>
                      <a:r>
                        <a:rPr sz="950" b="1">
                          <a:solidFill>
                            <a:srgbClr val="FFFFFF"/>
                          </a:solidFill>
                          <a:latin typeface="Helvetica"/>
                        </a:rPr>
                        <a:t>Domaine</a:t>
                      </a:r>
                    </a:p>
                  </a:txBody>
                  <a:tcPr marL="43200" marR="43200" marT="14400" marB="14400" anchor="ctr">
                    <a:solidFill>
                      <a:srgbClr val="060606"/>
                    </a:solidFill>
                  </a:tcPr>
                </a:tc>
                <a:tc>
                  <a:txBody>
                    <a:bodyPr/>
                    <a:lstStyle/>
                    <a:p>
                      <a:pPr marL="0" indent="0" lvl="0">
                        <a:buNone/>
                      </a:pPr>
                      <a:r>
                        <a:rPr sz="950" b="1">
                          <a:solidFill>
                            <a:srgbClr val="FFFFFF"/>
                          </a:solidFill>
                          <a:latin typeface="Helvetica"/>
                        </a:rPr>
                        <a:t>Constat</a:t>
                      </a:r>
                    </a:p>
                  </a:txBody>
                  <a:tcPr marL="43200" marR="43200" marT="14400" marB="14400" anchor="ctr">
                    <a:solidFill>
                      <a:srgbClr val="060606"/>
                    </a:solidFill>
                  </a:tcPr>
                </a:tc>
                <a:tc>
                  <a:txBody>
                    <a:bodyPr/>
                    <a:lstStyle/>
                    <a:p>
                      <a:pPr marL="0" indent="0" lvl="0">
                        <a:buNone/>
                      </a:pPr>
                      <a:r>
                        <a:rPr sz="950" b="1">
                          <a:solidFill>
                            <a:srgbClr val="FFFFFF"/>
                          </a:solidFill>
                          <a:latin typeface="Helvetica"/>
                        </a:rPr>
                        <a:t>Chiffre clé</a:t>
                      </a:r>
                    </a:p>
                  </a:txBody>
                  <a:tcPr marL="43200" marR="43200" marT="14400" marB="14400" anchor="ctr">
                    <a:solidFill>
                      <a:srgbClr val="060606"/>
                    </a:solidFill>
                  </a:tcPr>
                </a:tc>
              </a:tr>
              <a:tr h="347178">
                <a:tc>
                  <a:txBody>
                    <a:bodyPr/>
                    <a:lstStyle/>
                    <a:p>
                      <a:pPr marL="0" indent="0" lvl="0">
                        <a:buNone/>
                      </a:pPr>
                      <a:r>
                        <a:rPr sz="950" b="1">
                          <a:solidFill>
                            <a:srgbClr val="060606"/>
                          </a:solidFill>
                          <a:latin typeface="Helvetica"/>
                        </a:rPr>
                        <a:t>Données</a:t>
                      </a:r>
                    </a:p>
                  </a:txBody>
                  <a:tcPr marL="43200" marR="43200" marT="14400" marB="14400" anchor="ctr">
                    <a:solidFill>
                      <a:srgbClr val="FFFFFF"/>
                    </a:solidFill>
                  </a:tcPr>
                </a:tc>
                <a:tc>
                  <a:txBody>
                    <a:bodyPr/>
                    <a:lstStyle/>
                    <a:p>
                      <a:pPr marL="0" indent="0" lvl="0">
                        <a:buNone/>
                      </a:pPr>
                      <a:r>
                        <a:rPr sz="950" b="0">
                          <a:solidFill>
                            <a:srgbClr val="060606"/>
                          </a:solidFill>
                          <a:latin typeface="Helvetica"/>
                        </a:rPr>
                        <a:t>Les précomptes mensuels ne commencent qu'en 2023 ou 2024 selon le poste, et aucune base de prestations n'a été reçue.</a:t>
                      </a:r>
                    </a:p>
                  </a:txBody>
                  <a:tcPr marL="43200" marR="43200" marT="14400" marB="14400" anchor="ctr">
                    <a:solidFill>
                      <a:srgbClr val="FFFFFF"/>
                    </a:solidFill>
                  </a:tcPr>
                </a:tc>
                <a:tc>
                  <a:txBody>
                    <a:bodyPr/>
                    <a:lstStyle/>
                    <a:p>
                      <a:pPr marL="0" indent="0" lvl="0">
                        <a:buNone/>
                      </a:pPr>
                      <a:r>
                        <a:rPr sz="950" b="0">
                          <a:solidFill>
                            <a:srgbClr val="060606"/>
                          </a:solidFill>
                          <a:latin typeface="Helvetica"/>
                        </a:rPr>
                        <a:t>4 454 416 lignes de précomptes contrôlées</a:t>
                      </a:r>
                    </a:p>
                  </a:txBody>
                  <a:tcPr marL="43200" marR="43200" marT="14400" marB="14400" anchor="ctr">
                    <a:solidFill>
                      <a:srgbClr val="FFFFFF"/>
                    </a:solidFill>
                  </a:tcPr>
                </a:tc>
              </a:tr>
              <a:tr h="347178">
                <a:tc>
                  <a:txBody>
                    <a:bodyPr/>
                    <a:lstStyle/>
                    <a:p>
                      <a:pPr marL="0" indent="0" lvl="0">
                        <a:buNone/>
                      </a:pPr>
                      <a:r>
                        <a:rPr sz="950" b="1">
                          <a:solidFill>
                            <a:srgbClr val="060606"/>
                          </a:solidFill>
                          <a:latin typeface="Helvetica"/>
                        </a:rPr>
                        <a:t>Cotisations</a:t>
                      </a:r>
                    </a:p>
                  </a:txBody>
                  <a:tcPr marL="43200" marR="43200" marT="14400" marB="14400" anchor="ctr">
                    <a:solidFill>
                      <a:srgbClr val="F2F2F2"/>
                    </a:solidFill>
                  </a:tcPr>
                </a:tc>
                <a:tc>
                  <a:txBody>
                    <a:bodyPr/>
                    <a:lstStyle/>
                    <a:p>
                      <a:pPr marL="0" indent="0" lvl="0">
                        <a:buNone/>
                      </a:pPr>
                      <a:r>
                        <a:rPr sz="950" b="0">
                          <a:solidFill>
                            <a:srgbClr val="060606"/>
                          </a:solidFill>
                          <a:latin typeface="Helvetica"/>
                        </a:rPr>
                        <a:t>Le précompte total vaut 5 % du salaire de base, mais la Solde le répartit en 3,77 % maladie et 1,23 % décès, au lieu du barème fixé par l'article 17 des statuts du FPPN (3,5 % et 1,5 %).</a:t>
                      </a:r>
                    </a:p>
                  </a:txBody>
                  <a:tcPr marL="43200" marR="43200" marT="14400" marB="14400" anchor="ctr">
                    <a:solidFill>
                      <a:srgbClr val="F2F2F2"/>
                    </a:solidFill>
                  </a:tcPr>
                </a:tc>
                <a:tc>
                  <a:txBody>
                    <a:bodyPr/>
                    <a:lstStyle/>
                    <a:p>
                      <a:pPr marL="0" indent="0" lvl="0">
                        <a:buNone/>
                      </a:pPr>
                      <a:r>
                        <a:rPr sz="950" b="0">
                          <a:solidFill>
                            <a:srgbClr val="060606"/>
                          </a:solidFill>
                          <a:latin typeface="Helvetica"/>
                        </a:rPr>
                        <a:t>5,00 % = 3,77 % + 1,23 %</a:t>
                      </a:r>
                    </a:p>
                  </a:txBody>
                  <a:tcPr marL="43200" marR="43200" marT="14400" marB="14400" anchor="ctr">
                    <a:solidFill>
                      <a:srgbClr val="F2F2F2"/>
                    </a:solidFill>
                  </a:tcPr>
                </a:tc>
              </a:tr>
              <a:tr h="202389">
                <a:tc>
                  <a:txBody>
                    <a:bodyPr/>
                    <a:lstStyle/>
                    <a:p>
                      <a:pPr marL="0" indent="0" lvl="0">
                        <a:buNone/>
                      </a:pPr>
                      <a:r>
                        <a:rPr sz="950" b="1">
                          <a:solidFill>
                            <a:srgbClr val="060606"/>
                          </a:solidFill>
                          <a:latin typeface="Helvetica"/>
                        </a:rPr>
                        <a:t>Maladie</a:t>
                      </a:r>
                    </a:p>
                  </a:txBody>
                  <a:tcPr marL="43200" marR="43200" marT="14400" marB="14400" anchor="ctr">
                    <a:solidFill>
                      <a:srgbClr val="FFFFFF"/>
                    </a:solidFill>
                  </a:tcPr>
                </a:tc>
                <a:tc>
                  <a:txBody>
                    <a:bodyPr/>
                    <a:lstStyle/>
                    <a:p>
                      <a:pPr marL="0" indent="0" lvl="0">
                        <a:buNone/>
                      </a:pPr>
                      <a:r>
                        <a:rPr sz="950" b="0">
                          <a:solidFill>
                            <a:srgbClr val="060606"/>
                          </a:solidFill>
                          <a:latin typeface="Helvetica"/>
                        </a:rPr>
                        <a:t>Les prestations maladie comptabilisées augmentent bien plus vite que les cotisations maladie.</a:t>
                      </a:r>
                    </a:p>
                  </a:txBody>
                  <a:tcPr marL="43200" marR="43200" marT="14400" marB="14400" anchor="ctr">
                    <a:solidFill>
                      <a:srgbClr val="FFFFFF"/>
                    </a:solidFill>
                  </a:tcPr>
                </a:tc>
                <a:tc>
                  <a:txBody>
                    <a:bodyPr/>
                    <a:lstStyle/>
                    <a:p>
                      <a:pPr marL="0" indent="0" lvl="0">
                        <a:buNone/>
                      </a:pPr>
                      <a:r>
                        <a:rPr sz="950" b="0">
                          <a:solidFill>
                            <a:srgbClr val="060606"/>
                          </a:solidFill>
                          <a:latin typeface="Helvetica"/>
                        </a:rPr>
                        <a:t>S/C 6,00 % (2021), 73,53 % (2025)</a:t>
                      </a:r>
                    </a:p>
                  </a:txBody>
                  <a:tcPr marL="43200" marR="43200" marT="14400" marB="14400" anchor="ctr">
                    <a:solidFill>
                      <a:srgbClr val="FFFFFF"/>
                    </a:solidFill>
                  </a:tcPr>
                </a:tc>
              </a:tr>
              <a:tr h="347178">
                <a:tc>
                  <a:txBody>
                    <a:bodyPr/>
                    <a:lstStyle/>
                    <a:p>
                      <a:pPr marL="0" indent="0" lvl="0">
                        <a:buNone/>
                      </a:pPr>
                      <a:r>
                        <a:rPr sz="950" b="1">
                          <a:solidFill>
                            <a:srgbClr val="060606"/>
                          </a:solidFill>
                          <a:latin typeface="Helvetica"/>
                        </a:rPr>
                        <a:t>Provisions</a:t>
                      </a:r>
                    </a:p>
                  </a:txBody>
                  <a:tcPr marL="43200" marR="43200" marT="14400" marB="14400" anchor="ctr">
                    <a:solidFill>
                      <a:srgbClr val="F2F2F2"/>
                    </a:solidFill>
                  </a:tcPr>
                </a:tc>
                <a:tc>
                  <a:txBody>
                    <a:bodyPr/>
                    <a:lstStyle/>
                    <a:p>
                      <a:pPr marL="0" indent="0" lvl="0">
                        <a:buNone/>
                      </a:pPr>
                      <a:r>
                        <a:rPr sz="950" b="0">
                          <a:solidFill>
                            <a:srgbClr val="060606"/>
                          </a:solidFill>
                          <a:latin typeface="Helvetica"/>
                        </a:rPr>
                        <a:t>Les provisions pour prestations à payer gardent le même montant de 2020 à 2026, alors que les prestations ont fortement augmenté.</a:t>
                      </a:r>
                    </a:p>
                  </a:txBody>
                  <a:tcPr marL="43200" marR="43200" marT="14400" marB="14400" anchor="ctr">
                    <a:solidFill>
                      <a:srgbClr val="F2F2F2"/>
                    </a:solidFill>
                  </a:tcPr>
                </a:tc>
                <a:tc>
                  <a:txBody>
                    <a:bodyPr/>
                    <a:lstStyle/>
                    <a:p>
                      <a:pPr marL="0" indent="0" lvl="0">
                        <a:buNone/>
                      </a:pPr>
                      <a:r>
                        <a:rPr sz="950" b="0">
                          <a:solidFill>
                            <a:srgbClr val="060606"/>
                          </a:solidFill>
                          <a:latin typeface="Helvetica"/>
                        </a:rPr>
                        <a:t>4 829 298 290 FCFA</a:t>
                      </a:r>
                    </a:p>
                  </a:txBody>
                  <a:tcPr marL="43200" marR="43200" marT="14400" marB="14400" anchor="ctr">
                    <a:solidFill>
                      <a:srgbClr val="F2F2F2"/>
                    </a:solidFill>
                  </a:tcPr>
                </a:tc>
              </a:tr>
              <a:tr h="202389">
                <a:tc>
                  <a:txBody>
                    <a:bodyPr/>
                    <a:lstStyle/>
                    <a:p>
                      <a:pPr marL="0" indent="0" lvl="0">
                        <a:buNone/>
                      </a:pPr>
                      <a:r>
                        <a:rPr sz="950" b="1">
                          <a:solidFill>
                            <a:srgbClr val="060606"/>
                          </a:solidFill>
                          <a:latin typeface="Helvetica"/>
                        </a:rPr>
                        <a:t>Épargne</a:t>
                      </a:r>
                    </a:p>
                  </a:txBody>
                  <a:tcPr marL="43200" marR="43200" marT="14400" marB="14400" anchor="ctr">
                    <a:solidFill>
                      <a:srgbClr val="FFFFFF"/>
                    </a:solidFill>
                  </a:tcPr>
                </a:tc>
                <a:tc>
                  <a:txBody>
                    <a:bodyPr/>
                    <a:lstStyle/>
                    <a:p>
                      <a:pPr marL="0" indent="0" lvl="0">
                        <a:buNone/>
                      </a:pPr>
                      <a:r>
                        <a:rPr sz="950" b="0">
                          <a:solidFill>
                            <a:srgbClr val="060606"/>
                          </a:solidFill>
                          <a:latin typeface="Helvetica"/>
                        </a:rPr>
                        <a:t>L'épargne due aux mutualistes (PEP, EFC) dépasse largement les actifs qui lui sont réservés.</a:t>
                      </a:r>
                    </a:p>
                  </a:txBody>
                  <a:tcPr marL="43200" marR="43200" marT="14400" marB="14400" anchor="ctr">
                    <a:solidFill>
                      <a:srgbClr val="FFFFFF"/>
                    </a:solidFill>
                  </a:tcPr>
                </a:tc>
                <a:tc>
                  <a:txBody>
                    <a:bodyPr/>
                    <a:lstStyle/>
                    <a:p>
                      <a:pPr marL="0" indent="0" lvl="0">
                        <a:buNone/>
                      </a:pPr>
                      <a:r>
                        <a:rPr sz="950" b="0">
                          <a:solidFill>
                            <a:srgbClr val="060606"/>
                          </a:solidFill>
                          <a:latin typeface="Helvetica"/>
                        </a:rPr>
                        <a:t>15 743 516 391 FCFA</a:t>
                      </a:r>
                    </a:p>
                  </a:txBody>
                  <a:tcPr marL="43200" marR="43200" marT="14400" marB="14400" anchor="ctr">
                    <a:solidFill>
                      <a:srgbClr val="FFFFFF"/>
                    </a:solidFill>
                  </a:tcPr>
                </a:tc>
              </a:tr>
              <a:tr h="202389">
                <a:tc>
                  <a:txBody>
                    <a:bodyPr/>
                    <a:lstStyle/>
                    <a:p>
                      <a:pPr marL="0" indent="0" lvl="0">
                        <a:buNone/>
                      </a:pPr>
                      <a:r>
                        <a:rPr sz="950" b="1">
                          <a:solidFill>
                            <a:srgbClr val="060606"/>
                          </a:solidFill>
                          <a:latin typeface="Helvetica"/>
                        </a:rPr>
                        <a:t>Fonds propres</a:t>
                      </a:r>
                    </a:p>
                  </a:txBody>
                  <a:tcPr marL="43200" marR="43200" marT="14400" marB="14400" anchor="ctr">
                    <a:solidFill>
                      <a:srgbClr val="F2F2F2"/>
                    </a:solidFill>
                  </a:tcPr>
                </a:tc>
                <a:tc>
                  <a:txBody>
                    <a:bodyPr/>
                    <a:lstStyle/>
                    <a:p>
                      <a:pPr marL="0" indent="0" lvl="0">
                        <a:buNone/>
                      </a:pPr>
                      <a:r>
                        <a:rPr sz="950" b="0">
                          <a:solidFill>
                            <a:srgbClr val="060606"/>
                          </a:solidFill>
                          <a:latin typeface="Helvetica"/>
                        </a:rPr>
                        <a:t>Les fonds propres restent négatifs à chaque clôture, même si les excédents réduisent l'écart.</a:t>
                      </a:r>
                    </a:p>
                  </a:txBody>
                  <a:tcPr marL="43200" marR="43200" marT="14400" marB="14400" anchor="ctr">
                    <a:solidFill>
                      <a:srgbClr val="F2F2F2"/>
                    </a:solidFill>
                  </a:tcPr>
                </a:tc>
                <a:tc>
                  <a:txBody>
                    <a:bodyPr/>
                    <a:lstStyle/>
                    <a:p>
                      <a:pPr marL="0" indent="0" lvl="0">
                        <a:buNone/>
                      </a:pPr>
                      <a:r>
                        <a:rPr sz="950" b="0">
                          <a:solidFill>
                            <a:srgbClr val="060606"/>
                          </a:solidFill>
                          <a:latin typeface="Helvetica"/>
                        </a:rPr>
                        <a:t>-438 242 200 FCFA (2025)</a:t>
                      </a:r>
                    </a:p>
                  </a:txBody>
                  <a:tcPr marL="43200" marR="43200" marT="14400" marB="14400" anchor="ctr">
                    <a:solidFill>
                      <a:srgbClr val="F2F2F2"/>
                    </a:solidFill>
                  </a:tcPr>
                </a:tc>
              </a:tr>
              <a:tr h="347178">
                <a:tc>
                  <a:txBody>
                    <a:bodyPr/>
                    <a:lstStyle/>
                    <a:p>
                      <a:pPr marL="0" indent="0" lvl="0">
                        <a:buNone/>
                      </a:pPr>
                      <a:r>
                        <a:rPr sz="950" b="1">
                          <a:solidFill>
                            <a:srgbClr val="060606"/>
                          </a:solidFill>
                          <a:latin typeface="Helvetica"/>
                        </a:rPr>
                        <a:t>Conformité</a:t>
                      </a:r>
                    </a:p>
                  </a:txBody>
                  <a:tcPr marL="43200" marR="43200" marT="14400" marB="14400" anchor="ctr">
                    <a:solidFill>
                      <a:srgbClr val="FFFFFF"/>
                    </a:solidFill>
                  </a:tcPr>
                </a:tc>
                <a:tc>
                  <a:txBody>
                    <a:bodyPr/>
                    <a:lstStyle/>
                    <a:p>
                      <a:pPr marL="0" indent="0" lvl="0">
                        <a:buNone/>
                      </a:pPr>
                      <a:r>
                        <a:rPr sz="950" b="0">
                          <a:solidFill>
                            <a:srgbClr val="060606"/>
                          </a:solidFill>
                          <a:latin typeface="Helvetica"/>
                        </a:rPr>
                        <a:t>Les ratios de la Décision n° 05/2022 ne sont pas respectés pour la réserve obligatoire, les fonds propres, la liquidité et les frais de fonctionnement.</a:t>
                      </a:r>
                    </a:p>
                  </a:txBody>
                  <a:tcPr marL="43200" marR="43200" marT="14400" marB="14400" anchor="ctr">
                    <a:solidFill>
                      <a:srgbClr val="FFFFFF"/>
                    </a:solidFill>
                  </a:tcPr>
                </a:tc>
                <a:tc>
                  <a:txBody>
                    <a:bodyPr/>
                    <a:lstStyle/>
                    <a:p>
                      <a:pPr marL="0" indent="0" lvl="0">
                        <a:buNone/>
                      </a:pPr>
                      <a:r>
                        <a:rPr sz="950" b="0">
                          <a:solidFill>
                            <a:srgbClr val="060606"/>
                          </a:solidFill>
                          <a:latin typeface="Helvetica"/>
                        </a:rPr>
                        <a:t>14 non conformes, 7 conformes, 15 en attente</a:t>
                      </a:r>
                    </a:p>
                  </a:txBody>
                  <a:tcPr marL="43200" marR="43200" marT="14400" marB="14400" anchor="ctr">
                    <a:solidFill>
                      <a:srgbClr val="FFFFFF"/>
                    </a:solidFill>
                  </a:tcPr>
                </a:tc>
              </a:tr>
              <a:tr h="202389">
                <a:tc>
                  <a:txBody>
                    <a:bodyPr/>
                    <a:lstStyle/>
                    <a:p>
                      <a:pPr marL="0" indent="0" lvl="0">
                        <a:buNone/>
                      </a:pPr>
                      <a:r>
                        <a:rPr sz="950" b="1">
                          <a:solidFill>
                            <a:srgbClr val="060606"/>
                          </a:solidFill>
                          <a:latin typeface="Helvetica"/>
                        </a:rPr>
                        <a:t>Grenier</a:t>
                      </a:r>
                    </a:p>
                  </a:txBody>
                  <a:tcPr marL="43200" marR="43200" marT="14400" marB="14400" anchor="ctr">
                    <a:solidFill>
                      <a:srgbClr val="F2F2F2"/>
                    </a:solidFill>
                  </a:tcPr>
                </a:tc>
                <a:tc>
                  <a:txBody>
                    <a:bodyPr/>
                    <a:lstStyle/>
                    <a:p>
                      <a:pPr marL="0" indent="0" lvl="0">
                        <a:buNone/>
                      </a:pPr>
                      <a:r>
                        <a:rPr sz="950" b="0">
                          <a:solidFill>
                            <a:srgbClr val="060606"/>
                          </a:solidFill>
                          <a:latin typeface="Helvetica"/>
                        </a:rPr>
                        <a:t>Le portefeuille de prêts croît très vite, et le FPPN le finance en grande partie.</a:t>
                      </a:r>
                    </a:p>
                  </a:txBody>
                  <a:tcPr marL="43200" marR="43200" marT="14400" marB="14400" anchor="ctr">
                    <a:solidFill>
                      <a:srgbClr val="F2F2F2"/>
                    </a:solidFill>
                  </a:tcPr>
                </a:tc>
                <a:tc>
                  <a:txBody>
                    <a:bodyPr/>
                    <a:lstStyle/>
                    <a:p>
                      <a:pPr marL="0" indent="0" lvl="0">
                        <a:buNone/>
                      </a:pPr>
                      <a:r>
                        <a:rPr sz="950" b="0">
                          <a:solidFill>
                            <a:srgbClr val="060606"/>
                          </a:solidFill>
                          <a:latin typeface="Helvetica"/>
                        </a:rPr>
                        <a:t>1 044 302 107 FCFA d'encours</a:t>
                      </a:r>
                    </a:p>
                  </a:txBody>
                  <a:tcPr marL="43200" marR="43200" marT="14400" marB="14400" anchor="ctr">
                    <a:solidFill>
                      <a:srgbClr val="F2F2F2"/>
                    </a:solidFill>
                  </a:tcPr>
                </a:tc>
              </a:tr>
            </a:tbl>
          </a:graphicData>
        </a:graphic>
      </p:graphicFrame>
      <p:sp>
        <p:nvSpPr>
          <p:cNvPr id="33" name="TextBox 32"/>
          <p:cNvSpPr txBox="1"/>
          <p:nvPr/>
        </p:nvSpPr>
        <p:spPr>
          <a:xfrm>
            <a:off x="503999" y="4074658"/>
            <a:ext cx="11232000" cy="162000"/>
          </a:xfrm>
          <a:prstGeom prst="rect">
            <a:avLst/>
          </a:prstGeom>
          <a:noFill/>
        </p:spPr>
        <p:txBody>
          <a:bodyPr wrap="square" anchor="t" lIns="54000" rIns="54000"/>
          <a:lstStyle/>
          <a:p>
            <a:pPr algn="l"/>
            <a:r>
              <a:rPr sz="850" b="0">
                <a:solidFill>
                  <a:srgbClr val="53565A"/>
                </a:solidFill>
                <a:latin typeface="Helvetica"/>
              </a:rPr>
              <a:t>Valable pour : chaque chiffre dans le périmètre de sa partie d'origine, voir l'annexe « Périmètre et validité des analyses ».</a:t>
            </a:r>
          </a:p>
        </p:txBody>
      </p:sp>
      <p:sp>
        <p:nvSpPr>
          <p:cNvPr id="34" name="TextBox 33"/>
          <p:cNvSpPr txBox="1"/>
          <p:nvPr/>
        </p:nvSpPr>
        <p:spPr>
          <a:xfrm>
            <a:off x="503999" y="4362658"/>
            <a:ext cx="11232000" cy="1505341"/>
          </a:xfrm>
          <a:prstGeom prst="rect">
            <a:avLst/>
          </a:prstGeom>
          <a:noFill/>
        </p:spPr>
        <p:txBody>
          <a:bodyPr wrap="square" lIns="54000" rIns="54000"/>
          <a:lstStyle/>
          <a:p>
            <a:pPr algn="just">
              <a:spcAft>
                <a:spcPts val="600"/>
              </a:spcAft>
            </a:pPr>
            <a:r>
              <a:rPr sz="1300" b="1">
                <a:solidFill>
                  <a:srgbClr val="060606"/>
                </a:solidFill>
                <a:latin typeface="Helvetica"/>
              </a:rPr>
              <a:t>Les fragilités sont surtout financières et documentaires, pas d'exploitation.</a:t>
            </a:r>
            <a:r>
              <a:rPr sz="1300" b="0">
                <a:solidFill>
                  <a:srgbClr val="060606"/>
                </a:solidFill>
                <a:latin typeface="Helvetica"/>
              </a:rPr>
              <a:t> Le FPPN encaisse plus qu'il ne dépense chaque année depuis 2020, sauf sur les huit premiers mois de 2026.</a:t>
            </a:r>
          </a:p>
          <a:p>
            <a:pPr algn="just">
              <a:spcAft>
                <a:spcPts val="600"/>
              </a:spcAft>
            </a:pPr>
            <a:r>
              <a:rPr sz="1300" b="0">
                <a:solidFill>
                  <a:srgbClr val="060606"/>
                </a:solidFill>
                <a:latin typeface="Helvetica"/>
              </a:rPr>
              <a:t>Les trois chantiers prioritaires sont la transmission des données manquantes, le recalcul des provisions et un plan de mise en conformité prudentielle à présenter à l'AIRMS.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PEP : Plan Épargne Plus | EFC : entraide fin de carrière | S/C : prestations / cotisations</a:t>
            </a:r>
          </a:p>
        </p:txBody>
      </p:sp>
    </p:spTree>
    <p:extLst>
      <p:ext uri="{BB962C8B-B14F-4D97-AF65-F5344CB8AC3E}">
        <p14:creationId xmlns:p14="http://schemas.microsoft.com/office/powerpoint/2010/main" val="3980118536"/>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Réponse aux quatre questions de la mission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Deux constats sont établis, deux conclusions attendent les données du FPPN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non-adossement et l'inadéquation des placements sont démontrés. Les engagements et la suffisance des provisions ne peuvent pas encore être chiffrés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dossier de préparation de la mission (13/10/2026). Analyses Adenka, parties 6 et 9. PBC pointée au 19/10/2026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 : Réponse aux quatre questions de la mission au 19/10/2026</a:t>
            </a:r>
          </a:p>
        </p:txBody>
      </p:sp>
      <p:graphicFrame>
        <p:nvGraphicFramePr>
          <p:cNvPr id="32" name="Table 31"/>
          <p:cNvGraphicFramePr>
            <a:graphicFrameLocks noGrp="1"/>
          </p:cNvGraphicFramePr>
          <p:nvPr/>
        </p:nvGraphicFramePr>
        <p:xfrm>
          <a:off x="503999" y="1655999"/>
          <a:ext cx="11232000" cy="1583480"/>
        </p:xfrm>
        <a:graphic>
          <a:graphicData uri="http://schemas.openxmlformats.org/drawingml/2006/table">
            <a:tbl>
              <a:tblPr firstRow="0" bandRow="0">
                <a:tableStyleId>{5940675A-B579-460E-94D1-54222C63F5DA}</a:tableStyleId>
              </a:tblPr>
              <a:tblGrid>
                <a:gridCol w="1584000"/>
                <a:gridCol w="2880000"/>
                <a:gridCol w="3024000"/>
                <a:gridCol w="1584000"/>
                <a:gridCol w="2160000"/>
              </a:tblGrid>
              <a:tr h="187148">
                <a:tc>
                  <a:txBody>
                    <a:bodyPr/>
                    <a:lstStyle/>
                    <a:p>
                      <a:pPr marL="0" indent="0" lvl="0">
                        <a:buNone/>
                      </a:pPr>
                      <a:r>
                        <a:rPr sz="850" b="1">
                          <a:solidFill>
                            <a:srgbClr val="FFFFFF"/>
                          </a:solidFill>
                          <a:latin typeface="Helvetica"/>
                        </a:rPr>
                        <a:t>Tâche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Ce qui est établi</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Ce qui ne l'est pas, et pourquoi</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Sens d'évolution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Documents (PBC)</a:t>
                      </a:r>
                    </a:p>
                  </a:txBody>
                  <a:tcPr marL="43200" marR="43200" marT="14400" marB="14400" anchor="ctr">
                    <a:solidFill>
                      <a:srgbClr val="060606"/>
                    </a:solidFill>
                  </a:tcPr>
                </a:tc>
              </a:tr>
              <a:tr h="446244">
                <a:tc>
                  <a:txBody>
                    <a:bodyPr/>
                    <a:lstStyle/>
                    <a:p>
                      <a:pPr marL="0" indent="0" lvl="0">
                        <a:buNone/>
                      </a:pPr>
                      <a:r>
                        <a:rPr sz="850" b="1">
                          <a:solidFill>
                            <a:srgbClr val="060606"/>
                          </a:solidFill>
                          <a:latin typeface="Helvetica"/>
                        </a:rPr>
                        <a:t>1. Engagements envers les adhérents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Épargne due : 15 743 516 391 FCFA au 31/08/2026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Provisions non estimées. Provisions mathématiques et sinistres tardifs absents. Données individuelles non reçues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Hausse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57, 71, 72, 79, 92</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2. Suffisance des provisions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Les provisions sont des montants hérités, sans calcul</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Suffisance non démontrable sans recalcul dossier par dossier et méthode CIMA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Inconnu</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71, 72, 92, 93</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3. Adossement actif-passif</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Non-adossement : couverture des engagements connus de 96,33 % au mieux</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Ampleur réelle et flux futurs : échéancier de l'épargne et évaluations d'actifs manquants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Aggravation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57, 84, 86 à 88, 99</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4. Adéquation des placements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Conditions de liquidité et de diversification non remplies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Sécurité et rendement à apprécier : décision ministérielle et relevés non reçus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Stable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54, 80 à 82</a:t>
                      </a:r>
                    </a:p>
                  </a:txBody>
                  <a:tcPr marL="43200" marR="43200" marT="14400" marB="14400" anchor="ctr">
                    <a:solidFill>
                      <a:srgbClr val="F2F2F2"/>
                    </a:solidFill>
                  </a:tcPr>
                </a:tc>
              </a:tr>
            </a:tbl>
          </a:graphicData>
        </a:graphic>
      </p:graphicFrame>
      <p:sp>
        <p:nvSpPr>
          <p:cNvPr id="33" name="TextBox 32"/>
          <p:cNvSpPr txBox="1"/>
          <p:nvPr/>
        </p:nvSpPr>
        <p:spPr>
          <a:xfrm>
            <a:off x="503999" y="3257481"/>
            <a:ext cx="11232000" cy="162000"/>
          </a:xfrm>
          <a:prstGeom prst="rect">
            <a:avLst/>
          </a:prstGeom>
          <a:noFill/>
        </p:spPr>
        <p:txBody>
          <a:bodyPr wrap="square" anchor="t" lIns="54000" rIns="54000"/>
          <a:lstStyle/>
          <a:p>
            <a:pPr algn="l"/>
            <a:r>
              <a:rPr sz="850" b="0">
                <a:solidFill>
                  <a:srgbClr val="53565A"/>
                </a:solidFill>
                <a:latin typeface="Helvetica"/>
              </a:rPr>
              <a:t>Valable pour : chaque chiffre dans le périmètre de sa partie d'origine, voir l'annexe « Périmètre et validité des analyses ».</a:t>
            </a:r>
          </a:p>
        </p:txBody>
      </p:sp>
      <p:sp>
        <p:nvSpPr>
          <p:cNvPr id="34" name="TextBox 33"/>
          <p:cNvSpPr txBox="1"/>
          <p:nvPr/>
        </p:nvSpPr>
        <p:spPr>
          <a:xfrm>
            <a:off x="503999" y="3545481"/>
            <a:ext cx="11232000" cy="2322518"/>
          </a:xfrm>
          <a:prstGeom prst="rect">
            <a:avLst/>
          </a:prstGeom>
          <a:noFill/>
        </p:spPr>
        <p:txBody>
          <a:bodyPr wrap="square" lIns="54000" rIns="54000"/>
          <a:lstStyle/>
          <a:p>
            <a:pPr algn="just">
              <a:spcAft>
                <a:spcPts val="600"/>
              </a:spcAft>
            </a:pPr>
            <a:r>
              <a:rPr sz="1300" b="1">
                <a:solidFill>
                  <a:srgbClr val="060606"/>
                </a:solidFill>
                <a:latin typeface="Helvetica"/>
              </a:rPr>
              <a:t>Les deux constats établis sont robustes : les données manquantes ne peuvent que les aggraver.</a:t>
            </a:r>
            <a:r>
              <a:rPr sz="1300" b="0">
                <a:solidFill>
                  <a:srgbClr val="060606"/>
                </a:solidFill>
                <a:latin typeface="Helvetica"/>
              </a:rPr>
              <a:t> Les deux autres conclusions dépendent des bases de prestations, des âges des mutualistes et des règlements de l'EFC et du PEP.</a:t>
            </a:r>
          </a:p>
          <a:p>
            <a:pPr algn="just">
              <a:spcAft>
                <a:spcPts val="600"/>
              </a:spcAft>
            </a:pPr>
            <a:r>
              <a:rPr sz="1300" b="0">
                <a:solidFill>
                  <a:srgbClr val="060606"/>
                </a:solidFill>
                <a:latin typeface="Helvetica"/>
              </a:rPr>
              <a:t>La transmission des documents listés conditionne la version définitive du rapport. Les items 57, 71, 72 et 92 sont prioritaires : ils débloquent à la fois les engagements, les provisions et l'adossement.</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PEP : Plan Épargne Plus | EFC : entraide fin de carrière | PBC : liste des documents demandés au client</a:t>
            </a:r>
          </a:p>
        </p:txBody>
      </p:sp>
    </p:spTree>
    <p:extLst>
      <p:ext uri="{BB962C8B-B14F-4D97-AF65-F5344CB8AC3E}">
        <p14:creationId xmlns:p14="http://schemas.microsoft.com/office/powerpoint/2010/main" val="354283638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Image 4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43" name="ZoneTexte 42">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17" name="Freeform 6"/>
          <p:cNvSpPr>
            <a:spLocks/>
          </p:cNvSpPr>
          <p:nvPr/>
        </p:nvSpPr>
        <p:spPr bwMode="auto">
          <a:xfrm>
            <a:off x="3056825" y="1419474"/>
            <a:ext cx="502110" cy="654841"/>
          </a:xfrm>
          <a:custGeom>
            <a:avLst/>
            <a:gdLst>
              <a:gd name="T0" fmla="*/ 56 w 69"/>
              <a:gd name="T1" fmla="*/ 0 h 90"/>
              <a:gd name="T2" fmla="*/ 0 w 69"/>
              <a:gd name="T3" fmla="*/ 0 h 90"/>
              <a:gd name="T4" fmla="*/ 0 w 69"/>
              <a:gd name="T5" fmla="*/ 90 h 90"/>
              <a:gd name="T6" fmla="*/ 56 w 69"/>
              <a:gd name="T7" fmla="*/ 90 h 90"/>
              <a:gd name="T8" fmla="*/ 69 w 69"/>
              <a:gd name="T9" fmla="*/ 77 h 90"/>
              <a:gd name="T10" fmla="*/ 69 w 69"/>
              <a:gd name="T11" fmla="*/ 13 h 90"/>
              <a:gd name="T12" fmla="*/ 56 w 69"/>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69" h="90">
                <a:moveTo>
                  <a:pt x="56" y="0"/>
                </a:moveTo>
                <a:cubicBezTo>
                  <a:pt x="0" y="0"/>
                  <a:pt x="0" y="0"/>
                  <a:pt x="0" y="0"/>
                </a:cubicBezTo>
                <a:cubicBezTo>
                  <a:pt x="0" y="90"/>
                  <a:pt x="0" y="90"/>
                  <a:pt x="0" y="90"/>
                </a:cubicBezTo>
                <a:cubicBezTo>
                  <a:pt x="56" y="90"/>
                  <a:pt x="56" y="90"/>
                  <a:pt x="56" y="90"/>
                </a:cubicBezTo>
                <a:cubicBezTo>
                  <a:pt x="63" y="90"/>
                  <a:pt x="69" y="84"/>
                  <a:pt x="69" y="77"/>
                </a:cubicBezTo>
                <a:cubicBezTo>
                  <a:pt x="69" y="13"/>
                  <a:pt x="69" y="13"/>
                  <a:pt x="69" y="13"/>
                </a:cubicBezTo>
                <a:cubicBezTo>
                  <a:pt x="69" y="6"/>
                  <a:pt x="63" y="0"/>
                  <a:pt x="56" y="0"/>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pPr algn="ctr"/>
            <a:r>
              <a:rPr lang="fr-CI" sz="3600" b="1" noProof="0">
                <a:solidFill>
                  <a:srgbClr val="060606"/>
                </a:solidFill>
                <a:latin typeface="Helvetica" panose="020B0604020202020204" pitchFamily="34" charset="0"/>
                <a:cs typeface="Helvetica" panose="020B0604020202020204" pitchFamily="34" charset="0"/>
              </a:rPr>
              <a:t>A</a:t>
            </a:r>
          </a:p>
        </p:txBody>
      </p:sp>
      <p:sp>
        <p:nvSpPr>
          <p:cNvPr id="18" name="Freeform 7"/>
          <p:cNvSpPr>
            <a:spLocks/>
          </p:cNvSpPr>
          <p:nvPr/>
        </p:nvSpPr>
        <p:spPr bwMode="auto">
          <a:xfrm>
            <a:off x="1361056" y="1419474"/>
            <a:ext cx="1652505" cy="654841"/>
          </a:xfrm>
          <a:custGeom>
            <a:avLst/>
            <a:gdLst>
              <a:gd name="T0" fmla="*/ 0 w 227"/>
              <a:gd name="T1" fmla="*/ 13 h 90"/>
              <a:gd name="T2" fmla="*/ 0 w 227"/>
              <a:gd name="T3" fmla="*/ 77 h 90"/>
              <a:gd name="T4" fmla="*/ 13 w 227"/>
              <a:gd name="T5" fmla="*/ 90 h 90"/>
              <a:gd name="T6" fmla="*/ 227 w 227"/>
              <a:gd name="T7" fmla="*/ 90 h 90"/>
              <a:gd name="T8" fmla="*/ 227 w 227"/>
              <a:gd name="T9" fmla="*/ 0 h 90"/>
              <a:gd name="T10" fmla="*/ 13 w 227"/>
              <a:gd name="T11" fmla="*/ 0 h 90"/>
              <a:gd name="T12" fmla="*/ 0 w 227"/>
              <a:gd name="T13" fmla="*/ 13 h 90"/>
            </a:gdLst>
            <a:ahLst/>
            <a:cxnLst>
              <a:cxn ang="0">
                <a:pos x="T0" y="T1"/>
              </a:cxn>
              <a:cxn ang="0">
                <a:pos x="T2" y="T3"/>
              </a:cxn>
              <a:cxn ang="0">
                <a:pos x="T4" y="T5"/>
              </a:cxn>
              <a:cxn ang="0">
                <a:pos x="T6" y="T7"/>
              </a:cxn>
              <a:cxn ang="0">
                <a:pos x="T8" y="T9"/>
              </a:cxn>
              <a:cxn ang="0">
                <a:pos x="T10" y="T11"/>
              </a:cxn>
              <a:cxn ang="0">
                <a:pos x="T12" y="T13"/>
              </a:cxn>
            </a:cxnLst>
            <a:rect l="0" t="0" r="r" b="b"/>
            <a:pathLst>
              <a:path w="227" h="90">
                <a:moveTo>
                  <a:pt x="0" y="13"/>
                </a:moveTo>
                <a:cubicBezTo>
                  <a:pt x="0" y="77"/>
                  <a:pt x="0" y="77"/>
                  <a:pt x="0" y="77"/>
                </a:cubicBezTo>
                <a:cubicBezTo>
                  <a:pt x="0" y="84"/>
                  <a:pt x="6" y="90"/>
                  <a:pt x="13" y="90"/>
                </a:cubicBezTo>
                <a:cubicBezTo>
                  <a:pt x="227" y="90"/>
                  <a:pt x="227" y="90"/>
                  <a:pt x="227" y="90"/>
                </a:cubicBezTo>
                <a:cubicBezTo>
                  <a:pt x="227" y="0"/>
                  <a:pt x="227" y="0"/>
                  <a:pt x="227" y="0"/>
                </a:cubicBezTo>
                <a:cubicBezTo>
                  <a:pt x="13" y="0"/>
                  <a:pt x="13" y="0"/>
                  <a:pt x="13" y="0"/>
                </a:cubicBezTo>
                <a:cubicBezTo>
                  <a:pt x="6" y="0"/>
                  <a:pt x="0" y="6"/>
                  <a:pt x="0" y="13"/>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Sinistralité maladie 2025</a:t>
            </a:r>
          </a:p>
        </p:txBody>
      </p:sp>
      <p:sp>
        <p:nvSpPr>
          <p:cNvPr id="19" name="Freeform 8"/>
          <p:cNvSpPr>
            <a:spLocks/>
          </p:cNvSpPr>
          <p:nvPr/>
        </p:nvSpPr>
        <p:spPr bwMode="auto">
          <a:xfrm>
            <a:off x="1383343" y="2766552"/>
            <a:ext cx="494899" cy="654841"/>
          </a:xfrm>
          <a:custGeom>
            <a:avLst/>
            <a:gdLst>
              <a:gd name="T0" fmla="*/ 12 w 68"/>
              <a:gd name="T1" fmla="*/ 0 h 90"/>
              <a:gd name="T2" fmla="*/ 68 w 68"/>
              <a:gd name="T3" fmla="*/ 0 h 90"/>
              <a:gd name="T4" fmla="*/ 68 w 68"/>
              <a:gd name="T5" fmla="*/ 90 h 90"/>
              <a:gd name="T6" fmla="*/ 12 w 68"/>
              <a:gd name="T7" fmla="*/ 90 h 90"/>
              <a:gd name="T8" fmla="*/ 0 w 68"/>
              <a:gd name="T9" fmla="*/ 77 h 90"/>
              <a:gd name="T10" fmla="*/ 0 w 68"/>
              <a:gd name="T11" fmla="*/ 13 h 90"/>
              <a:gd name="T12" fmla="*/ 12 w 68"/>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68" h="90">
                <a:moveTo>
                  <a:pt x="12" y="0"/>
                </a:moveTo>
                <a:cubicBezTo>
                  <a:pt x="68" y="0"/>
                  <a:pt x="68" y="0"/>
                  <a:pt x="68" y="0"/>
                </a:cubicBezTo>
                <a:cubicBezTo>
                  <a:pt x="68" y="90"/>
                  <a:pt x="68" y="90"/>
                  <a:pt x="68" y="90"/>
                </a:cubicBezTo>
                <a:cubicBezTo>
                  <a:pt x="12" y="90"/>
                  <a:pt x="12" y="90"/>
                  <a:pt x="12" y="90"/>
                </a:cubicBezTo>
                <a:cubicBezTo>
                  <a:pt x="5" y="90"/>
                  <a:pt x="0" y="84"/>
                  <a:pt x="0" y="77"/>
                </a:cubicBezTo>
                <a:cubicBezTo>
                  <a:pt x="0" y="13"/>
                  <a:pt x="0" y="13"/>
                  <a:pt x="0" y="13"/>
                </a:cubicBezTo>
                <a:cubicBezTo>
                  <a:pt x="0" y="6"/>
                  <a:pt x="5" y="0"/>
                  <a:pt x="12" y="0"/>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pPr algn="ctr"/>
            <a:r>
              <a:rPr lang="fr-CI" sz="3600" b="1" noProof="0">
                <a:solidFill>
                  <a:srgbClr val="060606"/>
                </a:solidFill>
                <a:latin typeface="Helvetica" panose="020B0604020202020204" pitchFamily="34" charset="0"/>
                <a:cs typeface="Helvetica" panose="020B0604020202020204" pitchFamily="34" charset="0"/>
              </a:rPr>
              <a:t>B</a:t>
            </a:r>
          </a:p>
        </p:txBody>
      </p:sp>
      <p:sp>
        <p:nvSpPr>
          <p:cNvPr id="28" name="Freeform 9"/>
          <p:cNvSpPr>
            <a:spLocks/>
          </p:cNvSpPr>
          <p:nvPr/>
        </p:nvSpPr>
        <p:spPr bwMode="auto">
          <a:xfrm>
            <a:off x="1928716" y="2766552"/>
            <a:ext cx="1645295" cy="654841"/>
          </a:xfrm>
          <a:custGeom>
            <a:avLst/>
            <a:gdLst>
              <a:gd name="T0" fmla="*/ 226 w 226"/>
              <a:gd name="T1" fmla="*/ 13 h 90"/>
              <a:gd name="T2" fmla="*/ 226 w 226"/>
              <a:gd name="T3" fmla="*/ 77 h 90"/>
              <a:gd name="T4" fmla="*/ 213 w 226"/>
              <a:gd name="T5" fmla="*/ 90 h 90"/>
              <a:gd name="T6" fmla="*/ 0 w 226"/>
              <a:gd name="T7" fmla="*/ 90 h 90"/>
              <a:gd name="T8" fmla="*/ 0 w 226"/>
              <a:gd name="T9" fmla="*/ 0 h 90"/>
              <a:gd name="T10" fmla="*/ 213 w 226"/>
              <a:gd name="T11" fmla="*/ 0 h 90"/>
              <a:gd name="T12" fmla="*/ 226 w 226"/>
              <a:gd name="T13" fmla="*/ 13 h 90"/>
            </a:gdLst>
            <a:ahLst/>
            <a:cxnLst>
              <a:cxn ang="0">
                <a:pos x="T0" y="T1"/>
              </a:cxn>
              <a:cxn ang="0">
                <a:pos x="T2" y="T3"/>
              </a:cxn>
              <a:cxn ang="0">
                <a:pos x="T4" y="T5"/>
              </a:cxn>
              <a:cxn ang="0">
                <a:pos x="T6" y="T7"/>
              </a:cxn>
              <a:cxn ang="0">
                <a:pos x="T8" y="T9"/>
              </a:cxn>
              <a:cxn ang="0">
                <a:pos x="T10" y="T11"/>
              </a:cxn>
              <a:cxn ang="0">
                <a:pos x="T12" y="T13"/>
              </a:cxn>
            </a:cxnLst>
            <a:rect l="0" t="0" r="r" b="b"/>
            <a:pathLst>
              <a:path w="226" h="90">
                <a:moveTo>
                  <a:pt x="226" y="13"/>
                </a:moveTo>
                <a:cubicBezTo>
                  <a:pt x="226" y="77"/>
                  <a:pt x="226" y="77"/>
                  <a:pt x="226" y="77"/>
                </a:cubicBezTo>
                <a:cubicBezTo>
                  <a:pt x="226" y="84"/>
                  <a:pt x="220" y="90"/>
                  <a:pt x="213" y="90"/>
                </a:cubicBezTo>
                <a:cubicBezTo>
                  <a:pt x="0" y="90"/>
                  <a:pt x="0" y="90"/>
                  <a:pt x="0" y="90"/>
                </a:cubicBezTo>
                <a:cubicBezTo>
                  <a:pt x="0" y="0"/>
                  <a:pt x="0" y="0"/>
                  <a:pt x="0" y="0"/>
                </a:cubicBezTo>
                <a:cubicBezTo>
                  <a:pt x="213" y="0"/>
                  <a:pt x="213" y="0"/>
                  <a:pt x="213" y="0"/>
                </a:cubicBezTo>
                <a:cubicBezTo>
                  <a:pt x="220" y="0"/>
                  <a:pt x="226" y="6"/>
                  <a:pt x="226" y="13"/>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Couverture de l'épargne</a:t>
            </a:r>
          </a:p>
        </p:txBody>
      </p:sp>
      <p:sp>
        <p:nvSpPr>
          <p:cNvPr id="30" name="Freeform 10"/>
          <p:cNvSpPr>
            <a:spLocks/>
          </p:cNvSpPr>
          <p:nvPr/>
        </p:nvSpPr>
        <p:spPr bwMode="auto">
          <a:xfrm>
            <a:off x="3093533" y="3988769"/>
            <a:ext cx="494899" cy="654841"/>
          </a:xfrm>
          <a:custGeom>
            <a:avLst/>
            <a:gdLst>
              <a:gd name="T0" fmla="*/ 55 w 68"/>
              <a:gd name="T1" fmla="*/ 0 h 90"/>
              <a:gd name="T2" fmla="*/ 0 w 68"/>
              <a:gd name="T3" fmla="*/ 0 h 90"/>
              <a:gd name="T4" fmla="*/ 0 w 68"/>
              <a:gd name="T5" fmla="*/ 90 h 90"/>
              <a:gd name="T6" fmla="*/ 55 w 68"/>
              <a:gd name="T7" fmla="*/ 90 h 90"/>
              <a:gd name="T8" fmla="*/ 68 w 68"/>
              <a:gd name="T9" fmla="*/ 77 h 90"/>
              <a:gd name="T10" fmla="*/ 68 w 68"/>
              <a:gd name="T11" fmla="*/ 13 h 90"/>
              <a:gd name="T12" fmla="*/ 55 w 68"/>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68" h="90">
                <a:moveTo>
                  <a:pt x="55" y="0"/>
                </a:moveTo>
                <a:cubicBezTo>
                  <a:pt x="0" y="0"/>
                  <a:pt x="0" y="0"/>
                  <a:pt x="0" y="0"/>
                </a:cubicBezTo>
                <a:cubicBezTo>
                  <a:pt x="0" y="90"/>
                  <a:pt x="0" y="90"/>
                  <a:pt x="0" y="90"/>
                </a:cubicBezTo>
                <a:cubicBezTo>
                  <a:pt x="55" y="90"/>
                  <a:pt x="55" y="90"/>
                  <a:pt x="55" y="90"/>
                </a:cubicBezTo>
                <a:cubicBezTo>
                  <a:pt x="63" y="90"/>
                  <a:pt x="68" y="84"/>
                  <a:pt x="68" y="77"/>
                </a:cubicBezTo>
                <a:cubicBezTo>
                  <a:pt x="68" y="13"/>
                  <a:pt x="68" y="13"/>
                  <a:pt x="68" y="13"/>
                </a:cubicBezTo>
                <a:cubicBezTo>
                  <a:pt x="68" y="5"/>
                  <a:pt x="63" y="0"/>
                  <a:pt x="55" y="0"/>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pPr algn="ctr"/>
            <a:r>
              <a:rPr lang="fr-CI" sz="3600" b="1" noProof="0">
                <a:solidFill>
                  <a:srgbClr val="060606"/>
                </a:solidFill>
                <a:latin typeface="Helvetica" panose="020B0604020202020204" pitchFamily="34" charset="0"/>
                <a:cs typeface="Helvetica" panose="020B0604020202020204" pitchFamily="34" charset="0"/>
              </a:rPr>
              <a:t>C</a:t>
            </a:r>
          </a:p>
        </p:txBody>
      </p:sp>
      <p:sp>
        <p:nvSpPr>
          <p:cNvPr id="31" name="Freeform 11"/>
          <p:cNvSpPr>
            <a:spLocks/>
          </p:cNvSpPr>
          <p:nvPr/>
        </p:nvSpPr>
        <p:spPr bwMode="auto">
          <a:xfrm>
            <a:off x="1397764" y="3988769"/>
            <a:ext cx="1644639" cy="654841"/>
          </a:xfrm>
          <a:custGeom>
            <a:avLst/>
            <a:gdLst>
              <a:gd name="T0" fmla="*/ 0 w 226"/>
              <a:gd name="T1" fmla="*/ 13 h 90"/>
              <a:gd name="T2" fmla="*/ 0 w 226"/>
              <a:gd name="T3" fmla="*/ 77 h 90"/>
              <a:gd name="T4" fmla="*/ 13 w 226"/>
              <a:gd name="T5" fmla="*/ 90 h 90"/>
              <a:gd name="T6" fmla="*/ 226 w 226"/>
              <a:gd name="T7" fmla="*/ 90 h 90"/>
              <a:gd name="T8" fmla="*/ 226 w 226"/>
              <a:gd name="T9" fmla="*/ 0 h 90"/>
              <a:gd name="T10" fmla="*/ 13 w 226"/>
              <a:gd name="T11" fmla="*/ 0 h 90"/>
              <a:gd name="T12" fmla="*/ 0 w 226"/>
              <a:gd name="T13" fmla="*/ 13 h 90"/>
            </a:gdLst>
            <a:ahLst/>
            <a:cxnLst>
              <a:cxn ang="0">
                <a:pos x="T0" y="T1"/>
              </a:cxn>
              <a:cxn ang="0">
                <a:pos x="T2" y="T3"/>
              </a:cxn>
              <a:cxn ang="0">
                <a:pos x="T4" y="T5"/>
              </a:cxn>
              <a:cxn ang="0">
                <a:pos x="T6" y="T7"/>
              </a:cxn>
              <a:cxn ang="0">
                <a:pos x="T8" y="T9"/>
              </a:cxn>
              <a:cxn ang="0">
                <a:pos x="T10" y="T11"/>
              </a:cxn>
              <a:cxn ang="0">
                <a:pos x="T12" y="T13"/>
              </a:cxn>
            </a:cxnLst>
            <a:rect l="0" t="0" r="r" b="b"/>
            <a:pathLst>
              <a:path w="226" h="90">
                <a:moveTo>
                  <a:pt x="0" y="13"/>
                </a:moveTo>
                <a:cubicBezTo>
                  <a:pt x="0" y="77"/>
                  <a:pt x="0" y="77"/>
                  <a:pt x="0" y="77"/>
                </a:cubicBezTo>
                <a:cubicBezTo>
                  <a:pt x="0" y="84"/>
                  <a:pt x="5" y="90"/>
                  <a:pt x="13" y="90"/>
                </a:cubicBezTo>
                <a:cubicBezTo>
                  <a:pt x="226" y="90"/>
                  <a:pt x="226" y="90"/>
                  <a:pt x="226" y="90"/>
                </a:cubicBezTo>
                <a:cubicBezTo>
                  <a:pt x="226" y="0"/>
                  <a:pt x="226" y="0"/>
                  <a:pt x="226" y="0"/>
                </a:cubicBezTo>
                <a:cubicBezTo>
                  <a:pt x="13" y="0"/>
                  <a:pt x="13" y="0"/>
                  <a:pt x="13" y="0"/>
                </a:cubicBezTo>
                <a:cubicBezTo>
                  <a:pt x="5" y="0"/>
                  <a:pt x="0" y="5"/>
                  <a:pt x="0" y="13"/>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Précompte des prêts</a:t>
            </a:r>
          </a:p>
        </p:txBody>
      </p:sp>
      <p:sp>
        <p:nvSpPr>
          <p:cNvPr id="32" name="Freeform 12"/>
          <p:cNvSpPr>
            <a:spLocks/>
          </p:cNvSpPr>
          <p:nvPr/>
        </p:nvSpPr>
        <p:spPr bwMode="auto">
          <a:xfrm>
            <a:off x="1412185" y="5316630"/>
            <a:ext cx="502110" cy="654841"/>
          </a:xfrm>
          <a:custGeom>
            <a:avLst/>
            <a:gdLst>
              <a:gd name="T0" fmla="*/ 13 w 69"/>
              <a:gd name="T1" fmla="*/ 0 h 90"/>
              <a:gd name="T2" fmla="*/ 69 w 69"/>
              <a:gd name="T3" fmla="*/ 0 h 90"/>
              <a:gd name="T4" fmla="*/ 69 w 69"/>
              <a:gd name="T5" fmla="*/ 90 h 90"/>
              <a:gd name="T6" fmla="*/ 13 w 69"/>
              <a:gd name="T7" fmla="*/ 90 h 90"/>
              <a:gd name="T8" fmla="*/ 0 w 69"/>
              <a:gd name="T9" fmla="*/ 77 h 90"/>
              <a:gd name="T10" fmla="*/ 0 w 69"/>
              <a:gd name="T11" fmla="*/ 13 h 90"/>
              <a:gd name="T12" fmla="*/ 13 w 69"/>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69" h="90">
                <a:moveTo>
                  <a:pt x="13" y="0"/>
                </a:moveTo>
                <a:cubicBezTo>
                  <a:pt x="69" y="0"/>
                  <a:pt x="69" y="0"/>
                  <a:pt x="69" y="0"/>
                </a:cubicBezTo>
                <a:cubicBezTo>
                  <a:pt x="69" y="90"/>
                  <a:pt x="69" y="90"/>
                  <a:pt x="69" y="90"/>
                </a:cubicBezTo>
                <a:cubicBezTo>
                  <a:pt x="13" y="90"/>
                  <a:pt x="13" y="90"/>
                  <a:pt x="13" y="90"/>
                </a:cubicBezTo>
                <a:cubicBezTo>
                  <a:pt x="6" y="90"/>
                  <a:pt x="0" y="84"/>
                  <a:pt x="0" y="77"/>
                </a:cubicBezTo>
                <a:cubicBezTo>
                  <a:pt x="0" y="13"/>
                  <a:pt x="0" y="13"/>
                  <a:pt x="0" y="13"/>
                </a:cubicBezTo>
                <a:cubicBezTo>
                  <a:pt x="0" y="5"/>
                  <a:pt x="6" y="0"/>
                  <a:pt x="13" y="0"/>
                </a:cubicBezTo>
                <a:close/>
              </a:path>
            </a:pathLst>
          </a:custGeom>
          <a:noFill/>
          <a:ln>
            <a:solidFill>
              <a:schemeClr val="accent2">
                <a:lumMod val="60000"/>
                <a:lumOff val="40000"/>
              </a:schemeClr>
            </a:solidFill>
          </a:ln>
        </p:spPr>
        <p:txBody>
          <a:bodyPr vert="horz" wrap="square" lIns="45720" tIns="22860" rIns="45720" bIns="22860" numCol="1" anchor="ctr" anchorCtr="0" compatLnSpc="1">
            <a:prstTxWarp prst="textNoShape">
              <a:avLst/>
            </a:prstTxWarp>
          </a:bodyPr>
          <a:lstStyle/>
          <a:p>
            <a:pPr algn="ctr"/>
            <a:r>
              <a:rPr lang="fr-CI" sz="3600" b="1" noProof="0">
                <a:solidFill>
                  <a:srgbClr val="060606"/>
                </a:solidFill>
                <a:latin typeface="Helvetica" panose="020B0604020202020204" pitchFamily="34" charset="0"/>
                <a:cs typeface="Helvetica" panose="020B0604020202020204" pitchFamily="34" charset="0"/>
              </a:rPr>
              <a:t>D</a:t>
            </a:r>
          </a:p>
        </p:txBody>
      </p:sp>
      <p:sp>
        <p:nvSpPr>
          <p:cNvPr id="33" name="Freeform 13"/>
          <p:cNvSpPr>
            <a:spLocks/>
          </p:cNvSpPr>
          <p:nvPr/>
        </p:nvSpPr>
        <p:spPr bwMode="auto">
          <a:xfrm>
            <a:off x="1958213" y="5316630"/>
            <a:ext cx="1644639" cy="654841"/>
          </a:xfrm>
          <a:custGeom>
            <a:avLst/>
            <a:gdLst>
              <a:gd name="T0" fmla="*/ 226 w 226"/>
              <a:gd name="T1" fmla="*/ 13 h 90"/>
              <a:gd name="T2" fmla="*/ 226 w 226"/>
              <a:gd name="T3" fmla="*/ 77 h 90"/>
              <a:gd name="T4" fmla="*/ 214 w 226"/>
              <a:gd name="T5" fmla="*/ 90 h 90"/>
              <a:gd name="T6" fmla="*/ 0 w 226"/>
              <a:gd name="T7" fmla="*/ 90 h 90"/>
              <a:gd name="T8" fmla="*/ 0 w 226"/>
              <a:gd name="T9" fmla="*/ 0 h 90"/>
              <a:gd name="T10" fmla="*/ 214 w 226"/>
              <a:gd name="T11" fmla="*/ 0 h 90"/>
              <a:gd name="T12" fmla="*/ 226 w 226"/>
              <a:gd name="T13" fmla="*/ 13 h 90"/>
            </a:gdLst>
            <a:ahLst/>
            <a:cxnLst>
              <a:cxn ang="0">
                <a:pos x="T0" y="T1"/>
              </a:cxn>
              <a:cxn ang="0">
                <a:pos x="T2" y="T3"/>
              </a:cxn>
              <a:cxn ang="0">
                <a:pos x="T4" y="T5"/>
              </a:cxn>
              <a:cxn ang="0">
                <a:pos x="T6" y="T7"/>
              </a:cxn>
              <a:cxn ang="0">
                <a:pos x="T8" y="T9"/>
              </a:cxn>
              <a:cxn ang="0">
                <a:pos x="T10" y="T11"/>
              </a:cxn>
              <a:cxn ang="0">
                <a:pos x="T12" y="T13"/>
              </a:cxn>
            </a:cxnLst>
            <a:rect l="0" t="0" r="r" b="b"/>
            <a:pathLst>
              <a:path w="226" h="90">
                <a:moveTo>
                  <a:pt x="226" y="13"/>
                </a:moveTo>
                <a:cubicBezTo>
                  <a:pt x="226" y="77"/>
                  <a:pt x="226" y="77"/>
                  <a:pt x="226" y="77"/>
                </a:cubicBezTo>
                <a:cubicBezTo>
                  <a:pt x="226" y="84"/>
                  <a:pt x="221" y="90"/>
                  <a:pt x="214" y="90"/>
                </a:cubicBezTo>
                <a:cubicBezTo>
                  <a:pt x="0" y="90"/>
                  <a:pt x="0" y="90"/>
                  <a:pt x="0" y="90"/>
                </a:cubicBezTo>
                <a:cubicBezTo>
                  <a:pt x="0" y="0"/>
                  <a:pt x="0" y="0"/>
                  <a:pt x="0" y="0"/>
                </a:cubicBezTo>
                <a:cubicBezTo>
                  <a:pt x="214" y="0"/>
                  <a:pt x="214" y="0"/>
                  <a:pt x="214" y="0"/>
                </a:cubicBezTo>
                <a:cubicBezTo>
                  <a:pt x="221" y="0"/>
                  <a:pt x="226" y="5"/>
                  <a:pt x="226" y="13"/>
                </a:cubicBezTo>
                <a:close/>
              </a:path>
            </a:pathLst>
          </a:custGeom>
          <a:noFill/>
          <a:ln>
            <a:solidFill>
              <a:schemeClr val="accent2">
                <a:lumMod val="60000"/>
                <a:lumOff val="40000"/>
              </a:schemeClr>
            </a:solidFill>
          </a:ln>
        </p:spPr>
        <p:txBody>
          <a:bodyPr vert="horz" wrap="square" lIns="45720" tIns="22860" rIns="45720" bIns="22860" numCol="1" anchor="ctr" anchorCtr="0" compatLnSpc="1">
            <a:prstTxWarp prst="textNoShape">
              <a:avLst/>
            </a:prstTxWarp>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Taux de cotisation</a:t>
            </a:r>
          </a:p>
        </p:txBody>
      </p:sp>
      <p:sp>
        <p:nvSpPr>
          <p:cNvPr id="38" name="TextBox 31"/>
          <p:cNvSpPr txBox="1">
            <a:spLocks noChangeArrowheads="1"/>
          </p:cNvSpPr>
          <p:nvPr/>
        </p:nvSpPr>
        <p:spPr bwMode="auto">
          <a:xfrm>
            <a:off x="4139775" y="1427111"/>
            <a:ext cx="1202973" cy="5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r" eaLnBrk="1" hangingPunct="1"/>
            <a:r>
              <a:rPr lang="fr-CI" sz="2100" b="1" noProof="0">
                <a:solidFill>
                  <a:srgbClr val="060606"/>
                </a:solidFill>
                <a:latin typeface="Helvetica" panose="020B0604020202020204" pitchFamily="34" charset="0"/>
                <a:ea typeface="Lato Black" pitchFamily="34" charset="0"/>
                <a:cs typeface="Helvetica" panose="020B0604020202020204" pitchFamily="34" charset="0"/>
              </a:rPr>
              <a:t>73,53 %</a:t>
            </a:r>
          </a:p>
        </p:txBody>
      </p:sp>
      <p:sp>
        <p:nvSpPr>
          <p:cNvPr id="39" name="TextBox 96"/>
          <p:cNvSpPr txBox="1"/>
          <p:nvPr/>
        </p:nvSpPr>
        <p:spPr>
          <a:xfrm>
            <a:off x="5621262" y="1350000"/>
            <a:ext cx="4906389" cy="748061"/>
          </a:xfrm>
          <a:prstGeom prst="rect">
            <a:avLst/>
          </a:prstGeom>
          <a:noFill/>
        </p:spPr>
        <p:txBody>
          <a:bodyPr wrap="square" lIns="0" tIns="0" rIns="0" bIns="0" rtlCol="0" anchor="ctr">
            <a:spAutoFit/>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Les prestations maladie comptabilisées représentent cette part des cotisations maladie de 2025. Ce ratio était de 6,00 % en 2021.</a:t>
            </a:r>
          </a:p>
        </p:txBody>
      </p:sp>
      <p:sp>
        <p:nvSpPr>
          <p:cNvPr id="42" name="TextBox 31"/>
          <p:cNvSpPr txBox="1">
            <a:spLocks noChangeArrowheads="1"/>
          </p:cNvSpPr>
          <p:nvPr/>
        </p:nvSpPr>
        <p:spPr bwMode="auto">
          <a:xfrm>
            <a:off x="4132468" y="2803714"/>
            <a:ext cx="1202973" cy="5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r" eaLnBrk="1" hangingPunct="1"/>
            <a:r>
              <a:rPr lang="fr-CI" sz="2100" b="1" noProof="0">
                <a:solidFill>
                  <a:srgbClr val="060606"/>
                </a:solidFill>
                <a:latin typeface="Helvetica" panose="020B0604020202020204" pitchFamily="34" charset="0"/>
                <a:ea typeface="Lato Black" pitchFamily="34" charset="0"/>
                <a:cs typeface="Helvetica" panose="020B0604020202020204" pitchFamily="34" charset="0"/>
              </a:rPr>
              <a:t>16,28 %</a:t>
            </a:r>
          </a:p>
        </p:txBody>
      </p:sp>
      <p:sp>
        <p:nvSpPr>
          <p:cNvPr id="46" name="TextBox 31"/>
          <p:cNvSpPr txBox="1">
            <a:spLocks noChangeArrowheads="1"/>
          </p:cNvSpPr>
          <p:nvPr/>
        </p:nvSpPr>
        <p:spPr bwMode="auto">
          <a:xfrm>
            <a:off x="4135359" y="4021323"/>
            <a:ext cx="1202973" cy="5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r" eaLnBrk="1" hangingPunct="1"/>
            <a:r>
              <a:rPr lang="fr-CI" sz="2100" b="1" noProof="0">
                <a:solidFill>
                  <a:srgbClr val="060606"/>
                </a:solidFill>
                <a:latin typeface="Helvetica" panose="020B0604020202020204" pitchFamily="34" charset="0"/>
                <a:ea typeface="Lato Black" pitchFamily="34" charset="0"/>
                <a:cs typeface="Helvetica" panose="020B0604020202020204" pitchFamily="34" charset="0"/>
              </a:rPr>
              <a:t>84,55 %</a:t>
            </a:r>
          </a:p>
        </p:txBody>
      </p:sp>
      <p:sp>
        <p:nvSpPr>
          <p:cNvPr id="50" name="TextBox 31"/>
          <p:cNvSpPr txBox="1">
            <a:spLocks noChangeArrowheads="1"/>
          </p:cNvSpPr>
          <p:nvPr/>
        </p:nvSpPr>
        <p:spPr bwMode="auto">
          <a:xfrm>
            <a:off x="4135359" y="5389553"/>
            <a:ext cx="1202973" cy="5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r" eaLnBrk="1" hangingPunct="1"/>
            <a:r>
              <a:rPr lang="fr-CI" sz="2100" b="1" noProof="0">
                <a:solidFill>
                  <a:srgbClr val="060606"/>
                </a:solidFill>
                <a:latin typeface="Helvetica" panose="020B0604020202020204" pitchFamily="34" charset="0"/>
                <a:ea typeface="Lato Black" pitchFamily="34" charset="0"/>
                <a:cs typeface="Helvetica" panose="020B0604020202020204" pitchFamily="34" charset="0"/>
              </a:rPr>
              <a:t>5,00 %</a:t>
            </a:r>
          </a:p>
        </p:txBody>
      </p:sp>
      <p:pic>
        <p:nvPicPr>
          <p:cNvPr id="5" name="Imag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3942" y="1459698"/>
            <a:ext cx="491517" cy="491517"/>
          </a:xfrm>
          <a:prstGeom prst="rect">
            <a:avLst/>
          </a:prstGeom>
        </p:spPr>
      </p:pic>
      <p:pic>
        <p:nvPicPr>
          <p:cNvPr id="6" name="Imag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85442" y="2848158"/>
            <a:ext cx="514311" cy="514311"/>
          </a:xfrm>
          <a:prstGeom prst="rect">
            <a:avLst/>
          </a:prstGeom>
        </p:spPr>
      </p:pic>
      <p:pic>
        <p:nvPicPr>
          <p:cNvPr id="7" name="Imag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24788" y="4050954"/>
            <a:ext cx="538212" cy="544470"/>
          </a:xfrm>
          <a:prstGeom prst="rect">
            <a:avLst/>
          </a:prstGeom>
        </p:spPr>
      </p:pic>
      <p:pic>
        <p:nvPicPr>
          <p:cNvPr id="8" name="Image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695657" y="5362112"/>
            <a:ext cx="529802" cy="541319"/>
          </a:xfrm>
          <a:prstGeom prst="rect">
            <a:avLst/>
          </a:prstGeom>
        </p:spPr>
      </p:pic>
      <p:sp>
        <p:nvSpPr>
          <p:cNvPr id="36" name="TextBox 96"/>
          <p:cNvSpPr txBox="1"/>
          <p:nvPr/>
        </p:nvSpPr>
        <p:spPr>
          <a:xfrm>
            <a:off x="5621262" y="2728901"/>
            <a:ext cx="4906389" cy="748061"/>
          </a:xfrm>
          <a:prstGeom prst="rect">
            <a:avLst/>
          </a:prstGeom>
          <a:noFill/>
        </p:spPr>
        <p:txBody>
          <a:bodyPr wrap="square" lIns="0" tIns="0" rIns="0" bIns="0" rtlCol="0" anchor="ctr">
            <a:spAutoFit/>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Les banques, dépôts à terme et fonds réservés à l'épargne couvrent cette part de l'épargne due au 31/08/2026.</a:t>
            </a:r>
          </a:p>
        </p:txBody>
      </p:sp>
      <p:cxnSp>
        <p:nvCxnSpPr>
          <p:cNvPr id="53" name="Straight Connector 2"/>
          <p:cNvCxnSpPr/>
          <p:nvPr/>
        </p:nvCxnSpPr>
        <p:spPr>
          <a:xfrm>
            <a:off x="5419816" y="1350000"/>
            <a:ext cx="0" cy="896210"/>
          </a:xfrm>
          <a:prstGeom prst="line">
            <a:avLst/>
          </a:prstGeom>
          <a:ln>
            <a:solidFill>
              <a:srgbClr val="EFAC62"/>
            </a:solidFill>
          </a:ln>
        </p:spPr>
        <p:style>
          <a:lnRef idx="1">
            <a:schemeClr val="accent2"/>
          </a:lnRef>
          <a:fillRef idx="0">
            <a:schemeClr val="accent2"/>
          </a:fillRef>
          <a:effectRef idx="0">
            <a:schemeClr val="accent2"/>
          </a:effectRef>
          <a:fontRef idx="minor">
            <a:schemeClr val="tx1"/>
          </a:fontRef>
        </p:style>
      </p:cxnSp>
      <p:cxnSp>
        <p:nvCxnSpPr>
          <p:cNvPr id="59" name="Straight Connector 41"/>
          <p:cNvCxnSpPr/>
          <p:nvPr/>
        </p:nvCxnSpPr>
        <p:spPr>
          <a:xfrm>
            <a:off x="10756527" y="1350000"/>
            <a:ext cx="0" cy="896210"/>
          </a:xfrm>
          <a:prstGeom prst="line">
            <a:avLst/>
          </a:prstGeom>
          <a:ln>
            <a:solidFill>
              <a:srgbClr val="EFAC62"/>
            </a:solidFill>
          </a:ln>
        </p:spPr>
        <p:style>
          <a:lnRef idx="1">
            <a:schemeClr val="accent2"/>
          </a:lnRef>
          <a:fillRef idx="0">
            <a:schemeClr val="accent2"/>
          </a:fillRef>
          <a:effectRef idx="0">
            <a:schemeClr val="accent2"/>
          </a:effectRef>
          <a:fontRef idx="minor">
            <a:schemeClr val="tx1"/>
          </a:fontRef>
        </p:style>
      </p:cxnSp>
      <p:cxnSp>
        <p:nvCxnSpPr>
          <p:cNvPr id="37" name="Straight Connector 2"/>
          <p:cNvCxnSpPr/>
          <p:nvPr/>
        </p:nvCxnSpPr>
        <p:spPr>
          <a:xfrm>
            <a:off x="5419816" y="2638944"/>
            <a:ext cx="0" cy="896210"/>
          </a:xfrm>
          <a:prstGeom prst="line">
            <a:avLst/>
          </a:prstGeom>
          <a:ln>
            <a:solidFill>
              <a:srgbClr val="EFAC62"/>
            </a:solidFill>
          </a:ln>
        </p:spPr>
        <p:style>
          <a:lnRef idx="1">
            <a:schemeClr val="accent2"/>
          </a:lnRef>
          <a:fillRef idx="0">
            <a:schemeClr val="accent2"/>
          </a:fillRef>
          <a:effectRef idx="0">
            <a:schemeClr val="accent2"/>
          </a:effectRef>
          <a:fontRef idx="minor">
            <a:schemeClr val="tx1"/>
          </a:fontRef>
        </p:style>
      </p:cxnSp>
      <p:cxnSp>
        <p:nvCxnSpPr>
          <p:cNvPr id="40" name="Straight Connector 41"/>
          <p:cNvCxnSpPr/>
          <p:nvPr/>
        </p:nvCxnSpPr>
        <p:spPr>
          <a:xfrm>
            <a:off x="10756527" y="2638944"/>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sp>
        <p:nvSpPr>
          <p:cNvPr id="41" name="TextBox 96"/>
          <p:cNvSpPr txBox="1"/>
          <p:nvPr/>
        </p:nvSpPr>
        <p:spPr>
          <a:xfrm>
            <a:off x="5621262" y="4021323"/>
            <a:ext cx="4906389" cy="748061"/>
          </a:xfrm>
          <a:prstGeom prst="rect">
            <a:avLst/>
          </a:prstGeom>
          <a:noFill/>
        </p:spPr>
        <p:txBody>
          <a:bodyPr wrap="square" lIns="0" tIns="0" rIns="0" bIns="0" rtlCol="0" anchor="ctr">
            <a:spAutoFit/>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Les précomptes du Grenier (poste 9X4) couvrent cette part des échéances des prêts en cours en août 2026.</a:t>
            </a:r>
          </a:p>
        </p:txBody>
      </p:sp>
      <p:cxnSp>
        <p:nvCxnSpPr>
          <p:cNvPr id="44" name="Straight Connector 2"/>
          <p:cNvCxnSpPr/>
          <p:nvPr/>
        </p:nvCxnSpPr>
        <p:spPr>
          <a:xfrm>
            <a:off x="5419816" y="3931367"/>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cxnSp>
        <p:nvCxnSpPr>
          <p:cNvPr id="45" name="Straight Connector 41"/>
          <p:cNvCxnSpPr/>
          <p:nvPr/>
        </p:nvCxnSpPr>
        <p:spPr>
          <a:xfrm>
            <a:off x="10756527" y="3931367"/>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sp>
        <p:nvSpPr>
          <p:cNvPr id="48" name="TextBox 96"/>
          <p:cNvSpPr txBox="1"/>
          <p:nvPr/>
        </p:nvSpPr>
        <p:spPr>
          <a:xfrm>
            <a:off x="5621262" y="5313746"/>
            <a:ext cx="4906389" cy="748061"/>
          </a:xfrm>
          <a:prstGeom prst="rect">
            <a:avLst/>
          </a:prstGeom>
          <a:noFill/>
        </p:spPr>
        <p:txBody>
          <a:bodyPr wrap="square" lIns="0" tIns="0" rIns="0" bIns="0" rtlCol="0" anchor="ctr">
            <a:spAutoFit/>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Le précompte maladie vaut 3,77 % du salaire de base sur 209 670 lignes de huit mois. Le précompte décès vaut 1,23 % (mesuré en avril 2024 et janvier 2025, confirmé de mars 2024 à septembre 2026).</a:t>
            </a:r>
          </a:p>
        </p:txBody>
      </p:sp>
      <p:cxnSp>
        <p:nvCxnSpPr>
          <p:cNvPr id="49" name="Straight Connector 2"/>
          <p:cNvCxnSpPr/>
          <p:nvPr/>
        </p:nvCxnSpPr>
        <p:spPr>
          <a:xfrm>
            <a:off x="5419816" y="5223789"/>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cxnSp>
        <p:nvCxnSpPr>
          <p:cNvPr id="63" name="Straight Connector 41"/>
          <p:cNvCxnSpPr/>
          <p:nvPr/>
        </p:nvCxnSpPr>
        <p:spPr>
          <a:xfrm>
            <a:off x="10756527" y="5223789"/>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sp>
        <p:nvSpPr>
          <p:cNvPr id="64"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Quatre indicateurs clés</a:t>
            </a:r>
          </a:p>
        </p:txBody>
      </p:sp>
      <p:sp>
        <p:nvSpPr>
          <p:cNvPr id="65"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Quatre ratios résument la situation technique et financière du FPPN</a:t>
            </a:r>
          </a:p>
        </p:txBody>
      </p:sp>
      <p:sp>
        <p:nvSpPr>
          <p:cNvPr id="66"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Sinistralité maladie, couverture de l'épargne, précompte des prêts et taux de cotisation, mesurés sur les données reçues</a:t>
            </a:r>
          </a:p>
        </p:txBody>
      </p:sp>
      <p:sp>
        <p:nvSpPr>
          <p:cNvPr id="67"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68" name="TextBox 6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9X4 : poste Grenier</a:t>
            </a:r>
          </a:p>
        </p:txBody>
      </p:sp>
    </p:spTree>
    <p:extLst>
      <p:ext uri="{BB962C8B-B14F-4D97-AF65-F5344CB8AC3E}">
        <p14:creationId xmlns:p14="http://schemas.microsoft.com/office/powerpoint/2010/main" val="166854283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Fonctionnement du FPPN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cotisations et l'épargne financent prestations, prêts et investissements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2025 : 3 417 551 722 FCFA de cotisations, 1 964 772 027 FCFA de prestations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1" name="Rounded Rectangle 30"/>
          <p:cNvSpPr/>
          <p:nvPr/>
        </p:nvSpPr>
        <p:spPr>
          <a:xfrm>
            <a:off x="503999" y="2484000"/>
            <a:ext cx="2160000" cy="1152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FFFFFF"/>
                </a:solidFill>
                <a:latin typeface="Helvetica"/>
              </a:rPr>
              <a:t>Mutualistes</a:t>
            </a:r>
          </a:p>
          <a:p>
            <a:pPr algn="ctr"/>
            <a:r>
              <a:rPr sz="1400" b="0">
                <a:solidFill>
                  <a:srgbClr val="FFFFFF"/>
                </a:solidFill>
                <a:latin typeface="Helvetica"/>
              </a:rPr>
              <a:t>actifs et retraités</a:t>
            </a:r>
          </a:p>
        </p:txBody>
      </p:sp>
      <p:sp>
        <p:nvSpPr>
          <p:cNvPr id="32" name="Rounded Rectangle 31"/>
          <p:cNvSpPr/>
          <p:nvPr/>
        </p:nvSpPr>
        <p:spPr>
          <a:xfrm>
            <a:off x="3240000" y="1584000"/>
            <a:ext cx="2232000" cy="864000"/>
          </a:xfrm>
          <a:prstGeom prst="roundRect">
            <a:avLst/>
          </a:prstGeom>
          <a:solidFill>
            <a:srgbClr val="F2F2F2"/>
          </a:solid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400" b="1">
                <a:solidFill>
                  <a:srgbClr val="060606"/>
                </a:solidFill>
                <a:latin typeface="Helvetica"/>
              </a:rPr>
              <a:t>Solde (actifs)</a:t>
            </a:r>
          </a:p>
        </p:txBody>
      </p:sp>
      <p:sp>
        <p:nvSpPr>
          <p:cNvPr id="33" name="Rounded Rectangle 32"/>
          <p:cNvSpPr/>
          <p:nvPr/>
        </p:nvSpPr>
        <p:spPr>
          <a:xfrm>
            <a:off x="3240000" y="3671999"/>
            <a:ext cx="2232000" cy="864000"/>
          </a:xfrm>
          <a:prstGeom prst="roundRect">
            <a:avLst/>
          </a:prstGeom>
          <a:solidFill>
            <a:srgbClr val="F2F2F2"/>
          </a:solid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400" b="1">
                <a:solidFill>
                  <a:srgbClr val="060606"/>
                </a:solidFill>
                <a:latin typeface="Helvetica"/>
              </a:rPr>
              <a:t>CGRAE (retraités)</a:t>
            </a:r>
          </a:p>
        </p:txBody>
      </p:sp>
      <p:sp>
        <p:nvSpPr>
          <p:cNvPr id="34" name="Rounded Rectangle 33"/>
          <p:cNvSpPr/>
          <p:nvPr/>
        </p:nvSpPr>
        <p:spPr>
          <a:xfrm>
            <a:off x="6048000" y="2340000"/>
            <a:ext cx="2376000" cy="1440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060606"/>
                </a:solidFill>
                <a:latin typeface="Helvetica"/>
              </a:rPr>
              <a:t>FPPN</a:t>
            </a:r>
          </a:p>
          <a:p>
            <a:pPr algn="ctr"/>
            <a:r>
              <a:rPr sz="1400" b="0">
                <a:solidFill>
                  <a:srgbClr val="060606"/>
                </a:solidFill>
                <a:latin typeface="Helvetica"/>
              </a:rPr>
              <a:t>Cotisations 3 417 551 722 FCFA</a:t>
            </a:r>
          </a:p>
        </p:txBody>
      </p:sp>
      <p:sp>
        <p:nvSpPr>
          <p:cNvPr id="35" name="Rounded Rectangle 34"/>
          <p:cNvSpPr/>
          <p:nvPr/>
        </p:nvSpPr>
        <p:spPr>
          <a:xfrm>
            <a:off x="9072000" y="1422000"/>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Prestations maladie</a:t>
            </a:r>
          </a:p>
          <a:p>
            <a:pPr algn="ctr"/>
            <a:r>
              <a:rPr sz="1000" b="0">
                <a:solidFill>
                  <a:srgbClr val="FFFFFF"/>
                </a:solidFill>
                <a:latin typeface="Helvetica"/>
              </a:rPr>
              <a:t>1 771 635 361 FCFA</a:t>
            </a:r>
          </a:p>
        </p:txBody>
      </p:sp>
      <p:cxnSp>
        <p:nvCxnSpPr>
          <p:cNvPr id="36" name="Connector 35"/>
          <p:cNvCxnSpPr/>
          <p:nvPr/>
        </p:nvCxnSpPr>
        <p:spPr>
          <a:xfrm flipV="1">
            <a:off x="8424000" y="1800000"/>
            <a:ext cx="648000" cy="1260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072000" y="2358000"/>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Prestations décès</a:t>
            </a:r>
          </a:p>
          <a:p>
            <a:pPr algn="ctr"/>
            <a:r>
              <a:rPr sz="1000" b="0">
                <a:solidFill>
                  <a:srgbClr val="FFFFFF"/>
                </a:solidFill>
                <a:latin typeface="Helvetica"/>
              </a:rPr>
              <a:t>193 136 666 FCFA</a:t>
            </a:r>
          </a:p>
        </p:txBody>
      </p:sp>
      <p:cxnSp>
        <p:nvCxnSpPr>
          <p:cNvPr id="38" name="Connector 37"/>
          <p:cNvCxnSpPr/>
          <p:nvPr/>
        </p:nvCxnSpPr>
        <p:spPr>
          <a:xfrm flipV="1">
            <a:off x="8424000" y="2736000"/>
            <a:ext cx="648000" cy="324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9072000" y="3293999"/>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Épargne PEP et EFC</a:t>
            </a:r>
          </a:p>
          <a:p>
            <a:pPr algn="ctr"/>
            <a:r>
              <a:rPr sz="1000" b="0">
                <a:solidFill>
                  <a:srgbClr val="FFFFFF"/>
                </a:solidFill>
                <a:latin typeface="Helvetica"/>
              </a:rPr>
              <a:t>15 743 516 391 FCFA</a:t>
            </a:r>
          </a:p>
        </p:txBody>
      </p:sp>
      <p:cxnSp>
        <p:nvCxnSpPr>
          <p:cNvPr id="40" name="Connector 39"/>
          <p:cNvCxnSpPr/>
          <p:nvPr/>
        </p:nvCxnSpPr>
        <p:spPr>
          <a:xfrm>
            <a:off x="8424000" y="3060000"/>
            <a:ext cx="648000" cy="611999"/>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9072000" y="4230000"/>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Prêts du Grenier</a:t>
            </a:r>
          </a:p>
          <a:p>
            <a:pPr algn="ctr"/>
            <a:r>
              <a:rPr sz="1000" b="0">
                <a:solidFill>
                  <a:srgbClr val="FFFFFF"/>
                </a:solidFill>
                <a:latin typeface="Helvetica"/>
              </a:rPr>
              <a:t>915 477 260 FCFA</a:t>
            </a:r>
          </a:p>
        </p:txBody>
      </p:sp>
      <p:cxnSp>
        <p:nvCxnSpPr>
          <p:cNvPr id="42" name="Connector 41"/>
          <p:cNvCxnSpPr/>
          <p:nvPr/>
        </p:nvCxnSpPr>
        <p:spPr>
          <a:xfrm>
            <a:off x="8424000" y="3060000"/>
            <a:ext cx="648000" cy="1548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072000" y="5058000"/>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CMP et terrains</a:t>
            </a:r>
          </a:p>
          <a:p>
            <a:pPr algn="ctr"/>
            <a:r>
              <a:rPr sz="1000" b="0">
                <a:solidFill>
                  <a:srgbClr val="FFFFFF"/>
                </a:solidFill>
                <a:latin typeface="Helvetica"/>
              </a:rPr>
              <a:t>12 329 431 315 FCFA</a:t>
            </a:r>
          </a:p>
        </p:txBody>
      </p:sp>
      <p:cxnSp>
        <p:nvCxnSpPr>
          <p:cNvPr id="44" name="Connector 43"/>
          <p:cNvCxnSpPr/>
          <p:nvPr/>
        </p:nvCxnSpPr>
        <p:spPr>
          <a:xfrm>
            <a:off x="8424000" y="3060000"/>
            <a:ext cx="648000" cy="2376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2664000" y="2015999"/>
            <a:ext cx="576000" cy="828001"/>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2664000" y="3276000"/>
            <a:ext cx="576000" cy="828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472000" y="2015999"/>
            <a:ext cx="576000" cy="756001"/>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5472000" y="3348000"/>
            <a:ext cx="576000" cy="756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03999" y="4752000"/>
            <a:ext cx="8136000" cy="1116000"/>
          </a:xfrm>
          <a:prstGeom prst="rect">
            <a:avLst/>
          </a:prstGeom>
          <a:noFill/>
        </p:spPr>
        <p:txBody>
          <a:bodyPr wrap="square" lIns="54000" rIns="54000"/>
          <a:lstStyle/>
          <a:p>
            <a:pPr algn="just">
              <a:spcAft>
                <a:spcPts val="600"/>
              </a:spcAft>
            </a:pPr>
            <a:r>
              <a:rPr sz="1200" b="1">
                <a:solidFill>
                  <a:srgbClr val="060606"/>
                </a:solidFill>
                <a:latin typeface="Helvetica"/>
              </a:rPr>
              <a:t>L'épargne des mutualistes est la ressource la plus importante du FPPN, devant les cotisations.</a:t>
            </a:r>
            <a:r>
              <a:rPr sz="1200" b="0">
                <a:solidFill>
                  <a:srgbClr val="060606"/>
                </a:solidFill>
                <a:latin typeface="Helvetica"/>
              </a:rPr>
              <a:t> Elle atteint 15 743 516 391 FCFA au 31/08/2026, soit plus de quatre fois les cotisations de 2025.</a:t>
            </a:r>
          </a:p>
          <a:p>
            <a:pPr algn="just">
              <a:spcAft>
                <a:spcPts val="600"/>
              </a:spcAft>
            </a:pPr>
            <a:r>
              <a:rPr sz="1200" b="0">
                <a:solidFill>
                  <a:srgbClr val="060606"/>
                </a:solidFill>
                <a:latin typeface="Helvetica"/>
              </a:rPr>
              <a:t>Le FPPN emploie cette épargne en partie dans des actifs peu liquides (CMP, terrains, prêts) : sa capacité à rembourser les épargnants est le premier enjeu de la mission.</a:t>
            </a:r>
          </a:p>
        </p:txBody>
      </p:sp>
      <p:sp>
        <p:nvSpPr>
          <p:cNvPr id="50" name="TextBox 4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CMP : Centre Médical du Policier (rapport de gestion 2023)</a:t>
            </a:r>
          </a:p>
        </p:txBody>
      </p:sp>
    </p:spTree>
    <p:extLst>
      <p:ext uri="{BB962C8B-B14F-4D97-AF65-F5344CB8AC3E}">
        <p14:creationId xmlns:p14="http://schemas.microsoft.com/office/powerpoint/2010/main" val="146291894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7"/>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9" name="ZoneTexte 28">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33" name="Image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5360" y="1696495"/>
            <a:ext cx="561464" cy="561464"/>
          </a:xfrm>
          <a:prstGeom prst="rect">
            <a:avLst/>
          </a:prstGeom>
        </p:spPr>
      </p:pic>
      <p:pic>
        <p:nvPicPr>
          <p:cNvPr id="34" name="Image 3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28579" y="1762812"/>
            <a:ext cx="542282" cy="542282"/>
          </a:xfrm>
          <a:prstGeom prst="rect">
            <a:avLst/>
          </a:prstGeom>
        </p:spPr>
      </p:pic>
      <p:pic>
        <p:nvPicPr>
          <p:cNvPr id="35" name="Image 3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5360" y="3093364"/>
            <a:ext cx="698701" cy="706825"/>
          </a:xfrm>
          <a:prstGeom prst="rect">
            <a:avLst/>
          </a:prstGeom>
        </p:spPr>
      </p:pic>
      <p:pic>
        <p:nvPicPr>
          <p:cNvPr id="36" name="Image 3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259430" y="3093364"/>
            <a:ext cx="611431" cy="624722"/>
          </a:xfrm>
          <a:prstGeom prst="rect">
            <a:avLst/>
          </a:prstGeom>
        </p:spPr>
      </p:pic>
      <p:pic>
        <p:nvPicPr>
          <p:cNvPr id="44" name="Image 4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35360" y="4454973"/>
            <a:ext cx="678177" cy="678177"/>
          </a:xfrm>
          <a:prstGeom prst="rect">
            <a:avLst/>
          </a:prstGeom>
        </p:spPr>
      </p:pic>
      <p:pic>
        <p:nvPicPr>
          <p:cNvPr id="45" name="Image 4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272615" y="4594783"/>
            <a:ext cx="598246" cy="598246"/>
          </a:xfrm>
          <a:prstGeom prst="rect">
            <a:avLst/>
          </a:prstGeom>
        </p:spPr>
      </p:pic>
      <p:sp>
        <p:nvSpPr>
          <p:cNvPr id="17" name="TextBox 49"/>
          <p:cNvSpPr txBox="1"/>
          <p:nvPr/>
        </p:nvSpPr>
        <p:spPr>
          <a:xfrm>
            <a:off x="7085829" y="1404489"/>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Sinistralité en hausse</a:t>
            </a:r>
          </a:p>
          <a:p>
            <a:r>
              <a:rPr lang="fr-CI" sz="1200" noProof="0">
                <a:latin typeface="Helvetica" panose="020B0604020202020204" pitchFamily="34" charset="0"/>
                <a:ea typeface="Open Sans Light" panose="020B0306030504020204" pitchFamily="34" charset="0"/>
                <a:cs typeface="Helvetica" panose="020B0604020202020204" pitchFamily="34" charset="0"/>
              </a:rPr>
              <a:t>Le S/C maladie passe de 6,00 % en 2021 à 73,53 % en 2025 (partie 5).</a:t>
            </a:r>
            <a:endParaRPr lang="fr-CI" sz="1200" noProof="0">
              <a:latin typeface="Helvetica" panose="020B0604020202020204" pitchFamily="34" charset="0"/>
              <a:cs typeface="Helvetica" panose="020B0604020202020204" pitchFamily="34" charset="0"/>
            </a:endParaRPr>
          </a:p>
        </p:txBody>
      </p:sp>
      <p:sp>
        <p:nvSpPr>
          <p:cNvPr id="20" name="TextBox 49"/>
          <p:cNvSpPr txBox="1"/>
          <p:nvPr/>
        </p:nvSpPr>
        <p:spPr>
          <a:xfrm>
            <a:off x="1932614" y="2848076"/>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Provisions figées</a:t>
            </a:r>
          </a:p>
          <a:p>
            <a:r>
              <a:rPr lang="fr-CI" sz="1200" noProof="0">
                <a:latin typeface="Helvetica" panose="020B0604020202020204" pitchFamily="34" charset="0"/>
                <a:ea typeface="Open Sans Light" panose="020B0306030504020204" pitchFamily="34" charset="0"/>
                <a:cs typeface="Helvetica" panose="020B0604020202020204" pitchFamily="34" charset="0"/>
              </a:rPr>
              <a:t>Les provisions gardent le même montant depuis 2020, alors que les prestations ont été multipliées par 3,90 (partie 9).</a:t>
            </a:r>
            <a:endParaRPr lang="fr-CI" sz="1200" noProof="0">
              <a:latin typeface="Helvetica" panose="020B0604020202020204" pitchFamily="34" charset="0"/>
              <a:cs typeface="Helvetica" panose="020B0604020202020204" pitchFamily="34" charset="0"/>
            </a:endParaRPr>
          </a:p>
        </p:txBody>
      </p:sp>
      <p:sp>
        <p:nvSpPr>
          <p:cNvPr id="21" name="TextBox 49"/>
          <p:cNvSpPr txBox="1"/>
          <p:nvPr/>
        </p:nvSpPr>
        <p:spPr>
          <a:xfrm>
            <a:off x="7085829" y="2818934"/>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Épargne non adossée</a:t>
            </a:r>
          </a:p>
          <a:p>
            <a:r>
              <a:rPr lang="fr-CI" sz="1200" noProof="0">
                <a:latin typeface="Helvetica" panose="020B0604020202020204" pitchFamily="34" charset="0"/>
                <a:ea typeface="Open Sans Light" panose="020B0306030504020204" pitchFamily="34" charset="0"/>
                <a:cs typeface="Helvetica" panose="020B0604020202020204" pitchFamily="34" charset="0"/>
              </a:rPr>
              <a:t>Des actifs réservés couvrent seulement 16,28 % de l'épargne due (partie 6).</a:t>
            </a:r>
            <a:endParaRPr lang="fr-CI" sz="1200" noProof="0">
              <a:latin typeface="Helvetica" panose="020B0604020202020204" pitchFamily="34" charset="0"/>
              <a:cs typeface="Helvetica" panose="020B0604020202020204" pitchFamily="34" charset="0"/>
            </a:endParaRPr>
          </a:p>
        </p:txBody>
      </p:sp>
      <p:sp>
        <p:nvSpPr>
          <p:cNvPr id="24" name="TextBox 49"/>
          <p:cNvSpPr txBox="1"/>
          <p:nvPr/>
        </p:nvSpPr>
        <p:spPr>
          <a:xfrm>
            <a:off x="1932614" y="4227172"/>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Fonds propres négatifs</a:t>
            </a:r>
          </a:p>
          <a:p>
            <a:r>
              <a:rPr lang="fr-CI" sz="1200" noProof="0">
                <a:latin typeface="Helvetica" panose="020B0604020202020204" pitchFamily="34" charset="0"/>
                <a:ea typeface="Open Sans Light" panose="020B0306030504020204" pitchFamily="34" charset="0"/>
                <a:cs typeface="Helvetica" panose="020B0604020202020204" pitchFamily="34" charset="0"/>
              </a:rPr>
              <a:t>Les fonds propres valent -438 242 200 FCFA fin 2025, et l'actif repose sur des emplois peu liquides (partie 9).</a:t>
            </a:r>
            <a:endParaRPr lang="fr-CI" sz="1200" noProof="0">
              <a:latin typeface="Helvetica" panose="020B0604020202020204" pitchFamily="34" charset="0"/>
              <a:cs typeface="Helvetica" panose="020B0604020202020204" pitchFamily="34" charset="0"/>
            </a:endParaRPr>
          </a:p>
        </p:txBody>
      </p:sp>
      <p:sp>
        <p:nvSpPr>
          <p:cNvPr id="25" name="TextBox 49"/>
          <p:cNvSpPr txBox="1"/>
          <p:nvPr/>
        </p:nvSpPr>
        <p:spPr>
          <a:xfrm>
            <a:off x="7085829" y="4198030"/>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Normes non respectées</a:t>
            </a:r>
          </a:p>
          <a:p>
            <a:r>
              <a:rPr lang="fr-CI" sz="1200" noProof="0">
                <a:latin typeface="Helvetica" panose="020B0604020202020204" pitchFamily="34" charset="0"/>
                <a:ea typeface="Open Sans Light" panose="020B0306030504020204" pitchFamily="34" charset="0"/>
                <a:cs typeface="Helvetica" panose="020B0604020202020204" pitchFamily="34" charset="0"/>
              </a:rPr>
              <a:t>14 ratios de la Décision n° 05/2022 sur 36 ne sont pas respectés, dont la réserve obligatoire et la liquidité (partie 10).</a:t>
            </a:r>
            <a:endParaRPr lang="fr-CI" sz="1200" noProof="0">
              <a:latin typeface="Helvetica" panose="020B0604020202020204" pitchFamily="34" charset="0"/>
              <a:cs typeface="Helvetica" panose="020B0604020202020204" pitchFamily="34" charset="0"/>
            </a:endParaRPr>
          </a:p>
        </p:txBody>
      </p:sp>
      <p:sp>
        <p:nvSpPr>
          <p:cNvPr id="30" name="TextBox 49"/>
          <p:cNvSpPr txBox="1"/>
          <p:nvPr/>
        </p:nvSpPr>
        <p:spPr>
          <a:xfrm>
            <a:off x="1932614" y="1433631"/>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Données incomplètes</a:t>
            </a:r>
          </a:p>
          <a:p>
            <a:r>
              <a:rPr lang="fr-CI" sz="1200" noProof="0">
                <a:latin typeface="Helvetica" panose="020B0604020202020204" pitchFamily="34" charset="0"/>
                <a:ea typeface="Open Sans Light" panose="020B0306030504020204" pitchFamily="34" charset="0"/>
                <a:cs typeface="Helvetica" panose="020B0604020202020204" pitchFamily="34" charset="0"/>
              </a:rPr>
              <a:t>Le FPPN n'a transmis ni base de prestations, ni dates de naissance. Les analyses actuarielles centrales restent en attente (parties 3 et 14).</a:t>
            </a:r>
            <a:endParaRPr lang="fr-CI" sz="1200" noProof="0">
              <a:latin typeface="Helvetica" panose="020B0604020202020204" pitchFamily="34" charset="0"/>
              <a:cs typeface="Helvetica" panose="020B0604020202020204" pitchFamily="34" charset="0"/>
            </a:endParaRPr>
          </a:p>
        </p:txBody>
      </p:sp>
      <p:sp>
        <p:nvSpPr>
          <p:cNvPr id="46"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Six constats majeurs</a:t>
            </a:r>
          </a:p>
        </p:txBody>
      </p:sp>
      <p:sp>
        <p:nvSpPr>
          <p:cNvPr id="47"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fragilités portent sur les données, les provisions, l'épargne et les normes</a:t>
            </a:r>
          </a:p>
        </p:txBody>
      </p:sp>
      <p:sp>
        <p:nvSpPr>
          <p:cNvPr id="48"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constat est démontré dans la partie indiquée, à partir des fichiers du FPPN et des textes de l'UEMOA</a:t>
            </a:r>
          </a:p>
        </p:txBody>
      </p:sp>
      <p:sp>
        <p:nvSpPr>
          <p:cNvPr id="49"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0" name="TextBox 4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S/C : prestations / cotisations</a:t>
            </a:r>
          </a:p>
        </p:txBody>
      </p:sp>
    </p:spTree>
    <p:extLst>
      <p:ext uri="{BB962C8B-B14F-4D97-AF65-F5344CB8AC3E}">
        <p14:creationId xmlns:p14="http://schemas.microsoft.com/office/powerpoint/2010/main" val="33558344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Graphiques clés (1/2)</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maladie monte pendant que l'épargne reste peu couverte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maladie 2025 : 73,53 %. Couverture de l'épargne au 31/08/2026 : 16,28 %</a:t>
            </a:r>
          </a:p>
        </p:txBody>
      </p:sp>
      <p:sp>
        <p:nvSpPr>
          <p:cNvPr id="30" name="TextBox 29"/>
          <p:cNvSpPr txBox="1"/>
          <p:nvPr/>
        </p:nvSpPr>
        <p:spPr>
          <a:xfrm>
            <a:off x="50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1 : Ratio S/C maladie (prestations / cotisations)</a:t>
            </a:r>
          </a:p>
        </p:txBody>
      </p:sp>
      <p:sp>
        <p:nvSpPr>
          <p:cNvPr id="31" name="TextBox 30"/>
          <p:cNvSpPr txBox="1"/>
          <p:nvPr/>
        </p:nvSpPr>
        <p:spPr>
          <a:xfrm>
            <a:off x="50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a:t>
            </a:r>
          </a:p>
        </p:txBody>
      </p:sp>
      <p:graphicFrame>
        <p:nvGraphicFramePr>
          <p:cNvPr id="32" name="Chart 31"/>
          <p:cNvGraphicFramePr>
            <a:graphicFrameLocks noGrp="1"/>
          </p:cNvGraphicFramePr>
          <p:nvPr/>
        </p:nvGraphicFramePr>
        <p:xfrm>
          <a:off x="503999" y="1782000"/>
          <a:ext cx="5472000" cy="2844000"/>
        </p:xfrm>
        <a:graphic>
          <a:graphicData uri="http://schemas.openxmlformats.org/drawingml/2006/chart">
            <c:chart xmlns:c="http://schemas.openxmlformats.org/drawingml/2006/chart" r:id="rId6"/>
          </a:graphicData>
        </a:graphic>
      </p:graphicFrame>
      <p:sp>
        <p:nvSpPr>
          <p:cNvPr id="33" name="TextBox 32"/>
          <p:cNvSpPr txBox="1"/>
          <p:nvPr/>
        </p:nvSpPr>
        <p:spPr>
          <a:xfrm>
            <a:off x="626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2 : Épargne due et actifs réservés</a:t>
            </a:r>
          </a:p>
        </p:txBody>
      </p:sp>
      <p:sp>
        <p:nvSpPr>
          <p:cNvPr id="34" name="TextBox 33"/>
          <p:cNvSpPr txBox="1"/>
          <p:nvPr/>
        </p:nvSpPr>
        <p:spPr>
          <a:xfrm>
            <a:off x="626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5" name="Chart 34"/>
          <p:cNvGraphicFramePr>
            <a:graphicFrameLocks noGrp="1"/>
          </p:cNvGraphicFramePr>
          <p:nvPr/>
        </p:nvGraphicFramePr>
        <p:xfrm>
          <a:off x="6263999" y="1782000"/>
          <a:ext cx="5472000" cy="2844000"/>
        </p:xfrm>
        <a:graphic>
          <a:graphicData uri="http://schemas.openxmlformats.org/drawingml/2006/chart">
            <c:chart xmlns:c="http://schemas.openxmlformats.org/drawingml/2006/chart" r:id="rId7"/>
          </a:graphicData>
        </a:graphic>
      </p:graphicFrame>
      <p:sp>
        <p:nvSpPr>
          <p:cNvPr id="36"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7" name="TextBox 36"/>
          <p:cNvSpPr txBox="1"/>
          <p:nvPr/>
        </p:nvSpPr>
        <p:spPr>
          <a:xfrm>
            <a:off x="503999" y="4644000"/>
            <a:ext cx="11232000" cy="162000"/>
          </a:xfrm>
          <a:prstGeom prst="rect">
            <a:avLst/>
          </a:prstGeom>
          <a:noFill/>
        </p:spPr>
        <p:txBody>
          <a:bodyPr wrap="square" anchor="t" lIns="54000" rIns="54000"/>
          <a:lstStyle/>
          <a:p>
            <a:pPr algn="l"/>
            <a:r>
              <a:rPr sz="850" b="0">
                <a:solidFill>
                  <a:srgbClr val="53565A"/>
                </a:solidFill>
                <a:latin typeface="Helvetica"/>
              </a:rPr>
              <a:t>Valable pour : chaque chiffre dans le périmètre de sa partie d'origine, voir l'annexe « Périmètre et validité des analyses ».</a:t>
            </a:r>
          </a:p>
        </p:txBody>
      </p:sp>
      <p:sp>
        <p:nvSpPr>
          <p:cNvPr id="38" name="TextBox 37"/>
          <p:cNvSpPr txBox="1"/>
          <p:nvPr/>
        </p:nvSpPr>
        <p:spPr>
          <a:xfrm>
            <a:off x="503999" y="4950000"/>
            <a:ext cx="11232000" cy="918000"/>
          </a:xfrm>
          <a:prstGeom prst="rect">
            <a:avLst/>
          </a:prstGeom>
          <a:noFill/>
        </p:spPr>
        <p:txBody>
          <a:bodyPr wrap="square" lIns="54000" rIns="54000"/>
          <a:lstStyle/>
          <a:p>
            <a:pPr algn="just">
              <a:spcAft>
                <a:spcPts val="600"/>
              </a:spcAft>
            </a:pPr>
            <a:r>
              <a:rPr sz="1300" b="1">
                <a:solidFill>
                  <a:srgbClr val="060606"/>
                </a:solidFill>
                <a:latin typeface="Helvetica"/>
              </a:rPr>
              <a:t>Les deux courbes vont dans le mauvais sens pour la solvabilité.</a:t>
            </a:r>
            <a:r>
              <a:rPr sz="1300" b="0">
                <a:solidFill>
                  <a:srgbClr val="060606"/>
                </a:solidFill>
                <a:latin typeface="Helvetica"/>
              </a:rPr>
              <a:t> Les prestations consomment une part croissante des cotisations, et l'épargne grossit plus vite que les actifs qui la garantissent. Implication : le FPPN dispose de moins en moins de marge pour faire face à un choc de prestations ou de retraits.</a:t>
            </a:r>
          </a:p>
        </p:txBody>
      </p:sp>
      <p:sp>
        <p:nvSpPr>
          <p:cNvPr id="39" name="TextBox 38"/>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S/C : prestations / cotisations</a:t>
            </a:r>
          </a:p>
        </p:txBody>
      </p:sp>
    </p:spTree>
    <p:extLst>
      <p:ext uri="{BB962C8B-B14F-4D97-AF65-F5344CB8AC3E}">
        <p14:creationId xmlns:p14="http://schemas.microsoft.com/office/powerpoint/2010/main" val="116344340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Graphiques clés (2/2)</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fonds propres restent négatifs et l'encours de prêts explose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Fonds propres 2025 : -438 242 200 FCFA. Encours du Grenier au 31/08/2026 : 1 044 302 107 FCFA</a:t>
            </a:r>
          </a:p>
        </p:txBody>
      </p:sp>
      <p:sp>
        <p:nvSpPr>
          <p:cNvPr id="30" name="TextBox 29"/>
          <p:cNvSpPr txBox="1"/>
          <p:nvPr/>
        </p:nvSpPr>
        <p:spPr>
          <a:xfrm>
            <a:off x="50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3 : Fonds propres</a:t>
            </a:r>
          </a:p>
        </p:txBody>
      </p:sp>
      <p:sp>
        <p:nvSpPr>
          <p:cNvPr id="31" name="TextBox 30"/>
          <p:cNvSpPr txBox="1"/>
          <p:nvPr/>
        </p:nvSpPr>
        <p:spPr>
          <a:xfrm>
            <a:off x="50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5472000" cy="2844000"/>
        </p:xfrm>
        <a:graphic>
          <a:graphicData uri="http://schemas.openxmlformats.org/drawingml/2006/chart">
            <c:chart xmlns:c="http://schemas.openxmlformats.org/drawingml/2006/chart" r:id="rId6"/>
          </a:graphicData>
        </a:graphic>
      </p:graphicFrame>
      <p:sp>
        <p:nvSpPr>
          <p:cNvPr id="33" name="TextBox 32"/>
          <p:cNvSpPr txBox="1"/>
          <p:nvPr/>
        </p:nvSpPr>
        <p:spPr>
          <a:xfrm>
            <a:off x="626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4 : Encours des prêts du Grenier</a:t>
            </a:r>
          </a:p>
        </p:txBody>
      </p:sp>
      <p:sp>
        <p:nvSpPr>
          <p:cNvPr id="34" name="TextBox 33"/>
          <p:cNvSpPr txBox="1"/>
          <p:nvPr/>
        </p:nvSpPr>
        <p:spPr>
          <a:xfrm>
            <a:off x="626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5" name="Chart 34"/>
          <p:cNvGraphicFramePr>
            <a:graphicFrameLocks noGrp="1"/>
          </p:cNvGraphicFramePr>
          <p:nvPr/>
        </p:nvGraphicFramePr>
        <p:xfrm>
          <a:off x="6263999" y="1782000"/>
          <a:ext cx="5472000" cy="2844000"/>
        </p:xfrm>
        <a:graphic>
          <a:graphicData uri="http://schemas.openxmlformats.org/drawingml/2006/chart">
            <c:chart xmlns:c="http://schemas.openxmlformats.org/drawingml/2006/chart" r:id="rId7"/>
          </a:graphicData>
        </a:graphic>
      </p:graphicFrame>
      <p:sp>
        <p:nvSpPr>
          <p:cNvPr id="36"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Exports du logiciel de prêts du Grenier du Policier (balances âgées, production) reçus le 15/10/2026. Traitements Adenka</a:t>
            </a:r>
          </a:p>
        </p:txBody>
      </p:sp>
      <p:sp>
        <p:nvSpPr>
          <p:cNvPr id="37" name="TextBox 36"/>
          <p:cNvSpPr txBox="1"/>
          <p:nvPr/>
        </p:nvSpPr>
        <p:spPr>
          <a:xfrm>
            <a:off x="503999" y="4644000"/>
            <a:ext cx="11232000" cy="162000"/>
          </a:xfrm>
          <a:prstGeom prst="rect">
            <a:avLst/>
          </a:prstGeom>
          <a:noFill/>
        </p:spPr>
        <p:txBody>
          <a:bodyPr wrap="square" anchor="t" lIns="54000" rIns="54000"/>
          <a:lstStyle/>
          <a:p>
            <a:pPr algn="l"/>
            <a:r>
              <a:rPr sz="850" b="0">
                <a:solidFill>
                  <a:srgbClr val="53565A"/>
                </a:solidFill>
                <a:latin typeface="Helvetica"/>
              </a:rPr>
              <a:t>Valable pour : chaque chiffre dans le périmètre de sa partie d'origine, voir l'annexe « Périmètre et validité des analyses ».</a:t>
            </a:r>
          </a:p>
        </p:txBody>
      </p:sp>
      <p:sp>
        <p:nvSpPr>
          <p:cNvPr id="38" name="TextBox 37"/>
          <p:cNvSpPr txBox="1"/>
          <p:nvPr/>
        </p:nvSpPr>
        <p:spPr>
          <a:xfrm>
            <a:off x="503999" y="4950000"/>
            <a:ext cx="11232000" cy="918000"/>
          </a:xfrm>
          <a:prstGeom prst="rect">
            <a:avLst/>
          </a:prstGeom>
          <a:noFill/>
        </p:spPr>
        <p:txBody>
          <a:bodyPr wrap="square" lIns="54000" rIns="54000"/>
          <a:lstStyle/>
          <a:p>
            <a:pPr algn="just">
              <a:spcAft>
                <a:spcPts val="600"/>
              </a:spcAft>
            </a:pPr>
            <a:r>
              <a:rPr sz="1300" b="1">
                <a:solidFill>
                  <a:srgbClr val="060606"/>
                </a:solidFill>
                <a:latin typeface="Helvetica"/>
              </a:rPr>
              <a:t>Le redressement des fonds propres s'interrompt en 2026, au moment où l'encours des prêts atteint son plus haut niveau.</a:t>
            </a:r>
            <a:r>
              <a:rPr sz="1300" b="0">
                <a:solidFill>
                  <a:srgbClr val="060606"/>
                </a:solidFill>
                <a:latin typeface="Helvetica"/>
              </a:rPr>
              <a:t> Implication : le FPPN finance une activité de crédit en croissance rapide sans coussin de fonds propres pour absorber d'éventuelles pertes.</a:t>
            </a:r>
          </a:p>
        </p:txBody>
      </p:sp>
      <p:sp>
        <p:nvSpPr>
          <p:cNvPr id="39" name="TextBox 38"/>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069591846"/>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Conformité prudentielle en bref</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ratios de solvabilité et de liquidité de l'UEMOA ne sont pas respectés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Sur 36 indicateurs de la Décision n° 05/2022 : 14 non conformes, 7 conformes, 15 en attente de données ou à apprécier</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a:t>
            </a:r>
          </a:p>
        </p:txBody>
      </p:sp>
      <p:sp>
        <p:nvSpPr>
          <p:cNvPr id="31" name="TextBox 30"/>
          <p:cNvSpPr txBox="1"/>
          <p:nvPr/>
        </p:nvSpPr>
        <p:spPr>
          <a:xfrm>
            <a:off x="503999" y="1386000"/>
            <a:ext cx="7056000" cy="216000"/>
          </a:xfrm>
          <a:prstGeom prst="rect">
            <a:avLst/>
          </a:prstGeom>
          <a:noFill/>
        </p:spPr>
        <p:txBody>
          <a:bodyPr wrap="square" anchor="t" lIns="54000" rIns="54000"/>
          <a:lstStyle/>
          <a:p>
            <a:pPr algn="ctr"/>
            <a:r>
              <a:rPr sz="1200" b="0">
                <a:solidFill>
                  <a:srgbClr val="EFAC62"/>
                </a:solidFill>
                <a:latin typeface="Helvetica"/>
              </a:rPr>
              <a:t>Tableau 3 : Huit ratios prudentiels clés, exercice 2025</a:t>
            </a:r>
          </a:p>
        </p:txBody>
      </p:sp>
      <p:graphicFrame>
        <p:nvGraphicFramePr>
          <p:cNvPr id="32" name="Table 31"/>
          <p:cNvGraphicFramePr>
            <a:graphicFrameLocks noGrp="1"/>
          </p:cNvGraphicFramePr>
          <p:nvPr/>
        </p:nvGraphicFramePr>
        <p:xfrm>
          <a:off x="503999" y="1655999"/>
          <a:ext cx="7056000" cy="3033156"/>
        </p:xfrm>
        <a:graphic>
          <a:graphicData uri="http://schemas.openxmlformats.org/drawingml/2006/table">
            <a:tbl>
              <a:tblPr firstRow="0" bandRow="0">
                <a:tableStyleId>{5940675A-B579-460E-94D1-54222C63F5DA}</a:tableStyleId>
              </a:tblPr>
              <a:tblGrid>
                <a:gridCol w="2610000"/>
                <a:gridCol w="1270800"/>
                <a:gridCol w="1058400"/>
                <a:gridCol w="986400"/>
                <a:gridCol w="1130400"/>
              </a:tblGrid>
              <a:tr h="392901">
                <a:tc>
                  <a:txBody>
                    <a:bodyPr/>
                    <a:lstStyle/>
                    <a:p>
                      <a:pPr marL="0" indent="0" lvl="0">
                        <a:buNone/>
                      </a:pPr>
                      <a:r>
                        <a:rPr sz="11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Comme le FPPN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Retraité</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Statut 2022 à 2025</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Taux de sinistralité</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Entre 70 % et 80 %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57,48 %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392901">
                <a:tc>
                  <a:txBody>
                    <a:bodyPr/>
                    <a:lstStyle/>
                    <a:p>
                      <a:pPr marL="0" indent="0" lvl="0">
                        <a:buNone/>
                      </a:pPr>
                      <a:r>
                        <a:rPr sz="1100" b="1">
                          <a:solidFill>
                            <a:srgbClr val="060606"/>
                          </a:solidFill>
                          <a:latin typeface="Helvetica"/>
                        </a:rPr>
                        <a:t>Marge de solvabilité disponible / exigée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7,77</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-0,77</a:t>
                      </a:r>
                    </a:p>
                  </a:txBody>
                  <a:tcPr marL="43200" marR="43200" marT="14400" marB="14400" anchor="ctr">
                    <a:solidFill>
                      <a:srgbClr val="F2F2F2"/>
                    </a:solidFill>
                  </a:tcPr>
                </a:tc>
                <a:tc>
                  <a:txBody>
                    <a:bodyPr/>
                    <a:lstStyle/>
                    <a:p>
                      <a:pPr marL="0" indent="0" lvl="0">
                        <a:buNone/>
                      </a:pPr>
                      <a:r>
                        <a:rPr sz="1100" b="1">
                          <a:solidFill>
                            <a:srgbClr val="FFFFFF"/>
                          </a:solidFill>
                          <a:latin typeface="Helvetica"/>
                        </a:rPr>
                        <a:t>Conforme</a:t>
                      </a:r>
                    </a:p>
                  </a:txBody>
                  <a:tcPr marL="43200" marR="43200" marT="14400" marB="14400" anchor="ctr">
                    <a:solidFill>
                      <a:srgbClr val="112A40"/>
                    </a:solidFill>
                  </a:tcPr>
                </a:tc>
              </a:tr>
              <a:tr h="392901">
                <a:tc>
                  <a:txBody>
                    <a:bodyPr/>
                    <a:lstStyle/>
                    <a:p>
                      <a:pPr marL="0" indent="0" lvl="0">
                        <a:buNone/>
                      </a:pPr>
                      <a:r>
                        <a:rPr sz="1100" b="1">
                          <a:solidFill>
                            <a:srgbClr val="060606"/>
                          </a:solidFill>
                          <a:latin typeface="Helvetica"/>
                        </a:rPr>
                        <a:t>Ratio de réserve obligatoire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Entre 6 et 9 mois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5,01 mois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392901">
                <a:tc>
                  <a:txBody>
                    <a:bodyPr/>
                    <a:lstStyle/>
                    <a:p>
                      <a:pPr marL="0" indent="0" lvl="0">
                        <a:buNone/>
                      </a:pPr>
                      <a:r>
                        <a:rPr sz="1100" b="1">
                          <a:solidFill>
                            <a:srgbClr val="060606"/>
                          </a:solidFill>
                          <a:latin typeface="Helvetica"/>
                        </a:rPr>
                        <a:t>Ratio des fonds propres et assimilés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0,22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225250">
                <a:tc>
                  <a:txBody>
                    <a:bodyPr/>
                    <a:lstStyle/>
                    <a:p>
                      <a:pPr marL="0" indent="0" lvl="0">
                        <a:buNone/>
                      </a:pPr>
                      <a:r>
                        <a:rPr sz="1100" b="1">
                          <a:solidFill>
                            <a:srgbClr val="060606"/>
                          </a:solidFill>
                          <a:latin typeface="Helvetica"/>
                        </a:rPr>
                        <a:t>Ratio de liquidité</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0,13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1,15</a:t>
                      </a:r>
                    </a:p>
                  </a:txBody>
                  <a:tcPr marL="43200" marR="43200" marT="14400" marB="14400" anchor="ctr">
                    <a:solidFill>
                      <a:srgbClr val="FFFFFF"/>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225250">
                <a:tc>
                  <a:txBody>
                    <a:bodyPr/>
                    <a:lstStyle/>
                    <a:p>
                      <a:pPr marL="0" indent="0" lvl="0">
                        <a:buNone/>
                      </a:pPr>
                      <a:r>
                        <a:rPr sz="1100" b="1">
                          <a:solidFill>
                            <a:srgbClr val="060606"/>
                          </a:solidFill>
                          <a:latin typeface="Helvetica"/>
                        </a:rPr>
                        <a:t>Ratio d'équilibre stable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 plus 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1,54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0,94</a:t>
                      </a:r>
                    </a:p>
                  </a:txBody>
                  <a:tcPr marL="43200" marR="43200" marT="14400" marB="14400" anchor="ctr">
                    <a:solidFill>
                      <a:srgbClr val="F2F2F2"/>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392901">
                <a:tc>
                  <a:txBody>
                    <a:bodyPr/>
                    <a:lstStyle/>
                    <a:p>
                      <a:pPr marL="0" indent="0" lvl="0">
                        <a:buNone/>
                      </a:pPr>
                      <a:r>
                        <a:rPr sz="1100" b="1">
                          <a:solidFill>
                            <a:srgbClr val="060606"/>
                          </a:solidFill>
                          <a:latin typeface="Helvetica"/>
                        </a:rPr>
                        <a:t>Taux des charges de fonctionnement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Au plus 20 %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36,34 %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225250">
                <a:tc>
                  <a:txBody>
                    <a:bodyPr/>
                    <a:lstStyle/>
                    <a:p>
                      <a:pPr marL="0" indent="0" lvl="0">
                        <a:buNone/>
                      </a:pPr>
                      <a:r>
                        <a:rPr sz="1100" b="1">
                          <a:solidFill>
                            <a:srgbClr val="060606"/>
                          </a:solidFill>
                          <a:latin typeface="Helvetica"/>
                        </a:rPr>
                        <a:t>Solvabilité de l'épargne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0,12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bl>
          </a:graphicData>
        </a:graphic>
      </p:graphicFrame>
      <p:sp>
        <p:nvSpPr>
          <p:cNvPr id="33" name="TextBox 32"/>
          <p:cNvSpPr txBox="1"/>
          <p:nvPr/>
        </p:nvSpPr>
        <p:spPr>
          <a:xfrm>
            <a:off x="503999" y="4707158"/>
            <a:ext cx="7056000" cy="162000"/>
          </a:xfrm>
          <a:prstGeom prst="rect">
            <a:avLst/>
          </a:prstGeom>
          <a:noFill/>
        </p:spPr>
        <p:txBody>
          <a:bodyPr wrap="square" anchor="t" lIns="54000" rIns="54000"/>
          <a:lstStyle/>
          <a:p>
            <a:pPr algn="l"/>
            <a:r>
              <a:rPr sz="850" b="0">
                <a:solidFill>
                  <a:srgbClr val="53565A"/>
                </a:solidFill>
                <a:latin typeface="Helvetica"/>
              </a:rPr>
              <a:t>Valable pour : chaque chiffre dans le périmètre de sa partie d'origine, voir l'annexe « Périmètre et validité des analyses ».</a:t>
            </a:r>
          </a:p>
        </p:txBody>
      </p:sp>
      <p:sp>
        <p:nvSpPr>
          <p:cNvPr id="34" name="TextBox 33"/>
          <p:cNvSpPr txBox="1"/>
          <p:nvPr/>
        </p:nvSpPr>
        <p:spPr>
          <a:xfrm>
            <a:off x="7776000" y="1386000"/>
            <a:ext cx="3960000" cy="4482000"/>
          </a:xfrm>
          <a:prstGeom prst="rect">
            <a:avLst/>
          </a:prstGeom>
          <a:noFill/>
        </p:spPr>
        <p:txBody>
          <a:bodyPr wrap="square" lIns="54000" rIns="54000"/>
          <a:lstStyle/>
          <a:p>
            <a:pPr algn="just">
              <a:spcAft>
                <a:spcPts val="600"/>
              </a:spcAft>
            </a:pPr>
            <a:r>
              <a:rPr sz="1400" b="1">
                <a:solidFill>
                  <a:srgbClr val="060606"/>
                </a:solidFill>
                <a:latin typeface="Helvetica"/>
              </a:rPr>
              <a:t>Les ratios qui mesurent la solidité financière sont non conformes, ceux qui mesurent l'activité courante le sont souvent.</a:t>
            </a:r>
            <a:r>
              <a:rPr sz="1400" b="0">
                <a:solidFill>
                  <a:srgbClr val="060606"/>
                </a:solidFill>
                <a:latin typeface="Helvetica"/>
              </a:rPr>
              <a:t> L'autonomie financière et le financement propre sont respectés, car les cotisations couvrent les charges de l'année.</a:t>
            </a:r>
          </a:p>
          <a:p>
            <a:pPr algn="just">
              <a:spcAft>
                <a:spcPts val="600"/>
              </a:spcAft>
            </a:pPr>
            <a:r>
              <a:rPr sz="1400" b="1">
                <a:solidFill>
                  <a:srgbClr val="060606"/>
                </a:solidFill>
                <a:latin typeface="Helvetica"/>
              </a:rPr>
              <a:t>Le classement de l'épargne change le verdict sur la liquidité.</a:t>
            </a:r>
            <a:r>
              <a:rPr sz="1400" b="0">
                <a:solidFill>
                  <a:srgbClr val="060606"/>
                </a:solidFill>
                <a:latin typeface="Helvetica"/>
              </a:rPr>
              <a:t> En dette à court terme, comme dans le plan comptable, la liquidité 2025 vaut 0,13. En ressource longue, elle vaut 1,15.</a:t>
            </a:r>
          </a:p>
          <a:p>
            <a:pPr algn="just">
              <a:spcAft>
                <a:spcPts val="600"/>
              </a:spcAft>
            </a:pPr>
            <a:r>
              <a:rPr sz="1400" b="0">
                <a:solidFill>
                  <a:srgbClr val="060606"/>
                </a:solidFill>
                <a:latin typeface="Helvetica"/>
              </a:rPr>
              <a:t>Le règlement n° 07/2009 prévoit le retrait d'agrément après deux exercices de non-respect des règles prudentielles (art. 84). Plusieurs ratios sont non conformes plusieurs années de suite : un plan de mise en conformité doit être préparé.</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723920209"/>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4">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19" name="ZoneTexte 18">
            <a:extLst>
              <a:ext uri="{FF2B5EF4-FFF2-40B4-BE49-F238E27FC236}">
                <a16:creationId xmlns:a16="http://schemas.microsoft.com/office/drawing/2014/main" id="{C6E7D94B-8E49-C846-A392-87DFA5EF4A9D}"/>
              </a:ext>
            </a:extLst>
          </p:cNvPr>
          <p:cNvSpPr txBox="1"/>
          <p:nvPr/>
        </p:nvSpPr>
        <p:spPr>
          <a:xfrm>
            <a:off x="222607" y="6396590"/>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graphicFrame>
        <p:nvGraphicFramePr>
          <p:cNvPr id="3" name="Object 2" hidden="1"/>
          <p:cNvGraphicFramePr>
            <a:graphicFrameLocks noChangeAspect="1"/>
          </p:cNvGraphicFramePr>
          <p:nvPr>
            <p:custDataLst>
              <p:tags r:id="rId1"/>
            </p:custDataLst>
          </p:nvPr>
        </p:nvGraphicFramePr>
        <p:xfrm>
          <a:off x="2258716" y="1350000"/>
          <a:ext cx="1325" cy="1325"/>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27" name="Object 2" hidden="1"/>
                      <p:cNvPicPr/>
                      <p:nvPr/>
                    </p:nvPicPr>
                    <p:blipFill>
                      <a:blip r:embed="rId6"/>
                      <a:stretch>
                        <a:fillRect/>
                      </a:stretch>
                    </p:blipFill>
                    <p:spPr>
                      <a:xfrm>
                        <a:off x="1525589" y="1589"/>
                        <a:ext cx="1587" cy="1587"/>
                      </a:xfrm>
                      <a:prstGeom prst="rect">
                        <a:avLst/>
                      </a:prstGeom>
                    </p:spPr>
                  </p:pic>
                </p:oleObj>
              </mc:Fallback>
            </mc:AlternateContent>
          </a:graphicData>
        </a:graphic>
      </p:graphicFrame>
      <p:graphicFrame>
        <p:nvGraphicFramePr>
          <p:cNvPr id="13" name="Chart Placeholder 15"/>
          <p:cNvGraphicFramePr>
            <a:graphicFrameLocks/>
          </p:cNvGraphicFramePr>
          <p:nvPr>
            <p:extLst>
              <p:ext uri="{D42A27DB-BD31-4B8C-83A1-F6EECF244321}">
                <p14:modId xmlns:p14="http://schemas.microsoft.com/office/powerpoint/2010/main" val="2929624729"/>
              </p:ext>
            </p:extLst>
          </p:nvPr>
        </p:nvGraphicFramePr>
        <p:xfrm>
          <a:off x="3743620" y="1584000"/>
          <a:ext cx="2231044" cy="26640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4" name="Chart Placeholder 15"/>
          <p:cNvGraphicFramePr>
            <a:graphicFrameLocks/>
          </p:cNvGraphicFramePr>
          <p:nvPr>
            <p:extLst>
              <p:ext uri="{D42A27DB-BD31-4B8C-83A1-F6EECF244321}">
                <p14:modId xmlns:p14="http://schemas.microsoft.com/office/powerpoint/2010/main" val="153666400"/>
              </p:ext>
            </p:extLst>
          </p:nvPr>
        </p:nvGraphicFramePr>
        <p:xfrm>
          <a:off x="1260936" y="1584000"/>
          <a:ext cx="2232370" cy="2664000"/>
        </p:xfrm>
        <a:graphic>
          <a:graphicData uri="http://schemas.openxmlformats.org/drawingml/2006/chart">
            <c:chart xmlns:c="http://schemas.openxmlformats.org/drawingml/2006/chart" xmlns:r="http://schemas.openxmlformats.org/officeDocument/2006/relationships" r:id="rId8"/>
          </a:graphicData>
        </a:graphic>
      </p:graphicFrame>
      <p:pic>
        <p:nvPicPr>
          <p:cNvPr id="16" name="Image 15"/>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068918" y="2277791"/>
            <a:ext cx="616405" cy="616405"/>
          </a:xfrm>
          <a:prstGeom prst="rect">
            <a:avLst/>
          </a:prstGeom>
        </p:spPr>
      </p:pic>
      <p:pic>
        <p:nvPicPr>
          <p:cNvPr id="17" name="Image 16"/>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462040" y="2195176"/>
            <a:ext cx="794203" cy="803437"/>
          </a:xfrm>
          <a:prstGeom prst="rect">
            <a:avLst/>
          </a:prstGeom>
        </p:spPr>
      </p:pic>
      <p:graphicFrame>
        <p:nvGraphicFramePr>
          <p:cNvPr id="18" name="Chart Placeholder 15"/>
          <p:cNvGraphicFramePr>
            <a:graphicFrameLocks/>
          </p:cNvGraphicFramePr>
          <p:nvPr>
            <p:extLst>
              <p:ext uri="{D42A27DB-BD31-4B8C-83A1-F6EECF244321}">
                <p14:modId xmlns:p14="http://schemas.microsoft.com/office/powerpoint/2010/main" val="4022307174"/>
              </p:ext>
            </p:extLst>
          </p:nvPr>
        </p:nvGraphicFramePr>
        <p:xfrm>
          <a:off x="8456022" y="1584000"/>
          <a:ext cx="2223091" cy="2664000"/>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21" name="Chart Placeholder 15"/>
          <p:cNvGraphicFramePr>
            <a:graphicFrameLocks/>
          </p:cNvGraphicFramePr>
          <p:nvPr>
            <p:extLst>
              <p:ext uri="{D42A27DB-BD31-4B8C-83A1-F6EECF244321}">
                <p14:modId xmlns:p14="http://schemas.microsoft.com/office/powerpoint/2010/main" val="3635906843"/>
              </p:ext>
            </p:extLst>
          </p:nvPr>
        </p:nvGraphicFramePr>
        <p:xfrm>
          <a:off x="6103797" y="1584000"/>
          <a:ext cx="2223091" cy="2664000"/>
        </p:xfrm>
        <a:graphic>
          <a:graphicData uri="http://schemas.openxmlformats.org/drawingml/2006/chart">
            <c:chart xmlns:c="http://schemas.openxmlformats.org/drawingml/2006/chart" xmlns:r="http://schemas.openxmlformats.org/officeDocument/2006/relationships" r:id="rId12"/>
          </a:graphicData>
        </a:graphic>
      </p:graphicFrame>
      <p:pic>
        <p:nvPicPr>
          <p:cNvPr id="24" name="Image 23"/>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896238" y="2277791"/>
            <a:ext cx="638209" cy="638209"/>
          </a:xfrm>
          <a:prstGeom prst="rect">
            <a:avLst/>
          </a:prstGeom>
        </p:spPr>
      </p:pic>
      <p:pic>
        <p:nvPicPr>
          <p:cNvPr id="26" name="Image 25"/>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192169" y="2195176"/>
            <a:ext cx="703522" cy="718817"/>
          </a:xfrm>
          <a:prstGeom prst="rect">
            <a:avLst/>
          </a:prstGeom>
        </p:spPr>
      </p:pic>
      <p:sp>
        <p:nvSpPr>
          <p:cNvPr id="28"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Quatre taux à surveiller</a:t>
            </a:r>
          </a:p>
        </p:txBody>
      </p:sp>
      <p:sp>
        <p:nvSpPr>
          <p:cNvPr id="29"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faible part des engagements est couverte par des ressources disponibles</a:t>
            </a:r>
          </a:p>
        </p:txBody>
      </p:sp>
      <p:sp>
        <p:nvSpPr>
          <p:cNvPr id="30"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de l'épargne, sinistralité, trésorerie rapportée à l'épargne et prêts en retard de plus de 30 jours</a:t>
            </a:r>
          </a:p>
        </p:txBody>
      </p:sp>
      <p:sp>
        <p:nvSpPr>
          <p:cNvPr id="31"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Exports du logiciel de prêts du Grenier du Policier (balances âgées, production) reçus le 15/10/2026. Traitements Adenka</a:t>
            </a:r>
          </a:p>
        </p:txBody>
      </p:sp>
      <p:sp>
        <p:nvSpPr>
          <p:cNvPr id="32" name="TextBox 31"/>
          <p:cNvSpPr txBox="1"/>
          <p:nvPr/>
        </p:nvSpPr>
        <p:spPr>
          <a:xfrm>
            <a:off x="1152936" y="4266000"/>
            <a:ext cx="2448370" cy="324000"/>
          </a:xfrm>
          <a:prstGeom prst="rect">
            <a:avLst/>
          </a:prstGeom>
          <a:noFill/>
        </p:spPr>
        <p:txBody>
          <a:bodyPr wrap="square" anchor="t" lIns="54000" rIns="54000"/>
          <a:lstStyle/>
          <a:p>
            <a:pPr algn="ctr"/>
            <a:r>
              <a:rPr sz="2000" b="1">
                <a:solidFill>
                  <a:srgbClr val="112A40"/>
                </a:solidFill>
                <a:latin typeface="Helvetica"/>
              </a:rPr>
              <a:t>16,28 %</a:t>
            </a:r>
          </a:p>
        </p:txBody>
      </p:sp>
      <p:sp>
        <p:nvSpPr>
          <p:cNvPr id="33" name="TextBox 32"/>
          <p:cNvSpPr txBox="1"/>
          <p:nvPr/>
        </p:nvSpPr>
        <p:spPr>
          <a:xfrm>
            <a:off x="1152936" y="4572000"/>
            <a:ext cx="2448370" cy="576000"/>
          </a:xfrm>
          <a:prstGeom prst="rect">
            <a:avLst/>
          </a:prstGeom>
          <a:noFill/>
        </p:spPr>
        <p:txBody>
          <a:bodyPr wrap="square" anchor="t" lIns="54000" rIns="54000"/>
          <a:lstStyle/>
          <a:p>
            <a:pPr algn="ctr"/>
            <a:r>
              <a:rPr sz="1100" b="0">
                <a:solidFill>
                  <a:srgbClr val="060606"/>
                </a:solidFill>
                <a:latin typeface="Helvetica"/>
              </a:rPr>
              <a:t>Épargne couverte par des actifs réservés (31/08/2026)</a:t>
            </a:r>
          </a:p>
        </p:txBody>
      </p:sp>
      <p:sp>
        <p:nvSpPr>
          <p:cNvPr id="34" name="TextBox 33"/>
          <p:cNvSpPr txBox="1"/>
          <p:nvPr/>
        </p:nvSpPr>
        <p:spPr>
          <a:xfrm>
            <a:off x="3635619" y="4266000"/>
            <a:ext cx="2447043" cy="324000"/>
          </a:xfrm>
          <a:prstGeom prst="rect">
            <a:avLst/>
          </a:prstGeom>
          <a:noFill/>
        </p:spPr>
        <p:txBody>
          <a:bodyPr wrap="square" anchor="t" lIns="54000" rIns="54000"/>
          <a:lstStyle/>
          <a:p>
            <a:pPr algn="ctr"/>
            <a:r>
              <a:rPr sz="2000" b="1">
                <a:solidFill>
                  <a:srgbClr val="112A40"/>
                </a:solidFill>
                <a:latin typeface="Helvetica"/>
              </a:rPr>
              <a:t>73,53 %</a:t>
            </a:r>
          </a:p>
        </p:txBody>
      </p:sp>
      <p:sp>
        <p:nvSpPr>
          <p:cNvPr id="35" name="TextBox 34"/>
          <p:cNvSpPr txBox="1"/>
          <p:nvPr/>
        </p:nvSpPr>
        <p:spPr>
          <a:xfrm>
            <a:off x="3635619" y="4572000"/>
            <a:ext cx="2447043" cy="576000"/>
          </a:xfrm>
          <a:prstGeom prst="rect">
            <a:avLst/>
          </a:prstGeom>
          <a:noFill/>
        </p:spPr>
        <p:txBody>
          <a:bodyPr wrap="square" anchor="t" lIns="54000" rIns="54000"/>
          <a:lstStyle/>
          <a:p>
            <a:pPr algn="ctr"/>
            <a:r>
              <a:rPr sz="1100" b="0">
                <a:solidFill>
                  <a:srgbClr val="060606"/>
                </a:solidFill>
                <a:latin typeface="Helvetica"/>
              </a:rPr>
              <a:t>Sinistralité maladie (S/C 2025)</a:t>
            </a:r>
          </a:p>
        </p:txBody>
      </p:sp>
      <p:sp>
        <p:nvSpPr>
          <p:cNvPr id="36" name="TextBox 35"/>
          <p:cNvSpPr txBox="1"/>
          <p:nvPr/>
        </p:nvSpPr>
        <p:spPr>
          <a:xfrm>
            <a:off x="5995797" y="4266000"/>
            <a:ext cx="2439091" cy="324000"/>
          </a:xfrm>
          <a:prstGeom prst="rect">
            <a:avLst/>
          </a:prstGeom>
          <a:noFill/>
        </p:spPr>
        <p:txBody>
          <a:bodyPr wrap="square" anchor="t" lIns="54000" rIns="54000"/>
          <a:lstStyle/>
          <a:p>
            <a:pPr algn="ctr"/>
            <a:r>
              <a:rPr sz="2000" b="1">
                <a:solidFill>
                  <a:srgbClr val="112A40"/>
                </a:solidFill>
                <a:latin typeface="Helvetica"/>
              </a:rPr>
              <a:t>21,34 %</a:t>
            </a:r>
          </a:p>
        </p:txBody>
      </p:sp>
      <p:sp>
        <p:nvSpPr>
          <p:cNvPr id="37" name="TextBox 36"/>
          <p:cNvSpPr txBox="1"/>
          <p:nvPr/>
        </p:nvSpPr>
        <p:spPr>
          <a:xfrm>
            <a:off x="5995797" y="4572000"/>
            <a:ext cx="2439091" cy="576000"/>
          </a:xfrm>
          <a:prstGeom prst="rect">
            <a:avLst/>
          </a:prstGeom>
          <a:noFill/>
        </p:spPr>
        <p:txBody>
          <a:bodyPr wrap="square" anchor="t" lIns="54000" rIns="54000"/>
          <a:lstStyle/>
          <a:p>
            <a:pPr algn="ctr"/>
            <a:r>
              <a:rPr sz="1100" b="0">
                <a:solidFill>
                  <a:srgbClr val="060606"/>
                </a:solidFill>
                <a:latin typeface="Helvetica"/>
              </a:rPr>
              <a:t>Trésorerie totale / épargne due (31/08/2026)</a:t>
            </a:r>
          </a:p>
        </p:txBody>
      </p:sp>
      <p:sp>
        <p:nvSpPr>
          <p:cNvPr id="38" name="TextBox 37"/>
          <p:cNvSpPr txBox="1"/>
          <p:nvPr/>
        </p:nvSpPr>
        <p:spPr>
          <a:xfrm>
            <a:off x="8348021" y="4266000"/>
            <a:ext cx="2439091" cy="324000"/>
          </a:xfrm>
          <a:prstGeom prst="rect">
            <a:avLst/>
          </a:prstGeom>
          <a:noFill/>
        </p:spPr>
        <p:txBody>
          <a:bodyPr wrap="square" anchor="t" lIns="54000" rIns="54000"/>
          <a:lstStyle/>
          <a:p>
            <a:pPr algn="ctr"/>
            <a:r>
              <a:rPr sz="2000" b="1">
                <a:solidFill>
                  <a:srgbClr val="112A40"/>
                </a:solidFill>
                <a:latin typeface="Helvetica"/>
              </a:rPr>
              <a:t>5,07 %</a:t>
            </a:r>
          </a:p>
        </p:txBody>
      </p:sp>
      <p:sp>
        <p:nvSpPr>
          <p:cNvPr id="39" name="TextBox 38"/>
          <p:cNvSpPr txBox="1"/>
          <p:nvPr/>
        </p:nvSpPr>
        <p:spPr>
          <a:xfrm>
            <a:off x="8348021" y="4572000"/>
            <a:ext cx="2439091" cy="576000"/>
          </a:xfrm>
          <a:prstGeom prst="rect">
            <a:avLst/>
          </a:prstGeom>
          <a:noFill/>
        </p:spPr>
        <p:txBody>
          <a:bodyPr wrap="square" anchor="t" lIns="54000" rIns="54000"/>
          <a:lstStyle/>
          <a:p>
            <a:pPr algn="ctr"/>
            <a:r>
              <a:rPr sz="1100" b="0">
                <a:solidFill>
                  <a:srgbClr val="060606"/>
                </a:solidFill>
                <a:latin typeface="Helvetica"/>
              </a:rPr>
              <a:t>Prêts en retard de plus de 30 jours (en nombre, 31/08/2026)</a:t>
            </a:r>
          </a:p>
        </p:txBody>
      </p:sp>
      <p:sp>
        <p:nvSpPr>
          <p:cNvPr id="40" name="TextBox 39"/>
          <p:cNvSpPr txBox="1"/>
          <p:nvPr/>
        </p:nvSpPr>
        <p:spPr>
          <a:xfrm>
            <a:off x="503999" y="5166000"/>
            <a:ext cx="11232000" cy="702000"/>
          </a:xfrm>
          <a:prstGeom prst="rect">
            <a:avLst/>
          </a:prstGeom>
          <a:noFill/>
        </p:spPr>
        <p:txBody>
          <a:bodyPr wrap="square" lIns="54000" rIns="54000"/>
          <a:lstStyle/>
          <a:p>
            <a:pPr algn="just">
              <a:spcAft>
                <a:spcPts val="600"/>
              </a:spcAft>
            </a:pPr>
            <a:r>
              <a:rPr sz="1300" b="1">
                <a:solidFill>
                  <a:srgbClr val="060606"/>
                </a:solidFill>
                <a:latin typeface="Helvetica"/>
              </a:rPr>
              <a:t>Trois anneaux sur quatre montrent une couverture faible des engagements.</a:t>
            </a:r>
            <a:r>
              <a:rPr sz="1300" b="0">
                <a:solidFill>
                  <a:srgbClr val="060606"/>
                </a:solidFill>
                <a:latin typeface="Helvetica"/>
              </a:rPr>
              <a:t> La trésorerie de toutes les banques ne rembourserait qu'environ un cinquième de l'épargne due. Implication : en cas de retraits importants, le FPPN doit céder ou mobiliser des actifs peu liquides.</a:t>
            </a:r>
          </a:p>
        </p:txBody>
      </p:sp>
      <p:sp>
        <p:nvSpPr>
          <p:cNvPr id="41" name="TextBox 40"/>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184065309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214"/>
        <p:cNvGrpSpPr/>
        <p:nvPr/>
      </p:nvGrpSpPr>
      <p:grpSpPr>
        <a:xfrm>
          <a:off x="0" y="0"/>
          <a:ext cx="0" cy="0"/>
          <a:chOff x="0" y="0"/>
          <a:chExt cx="0" cy="0"/>
        </a:xfrm>
      </p:grpSpPr>
      <p:pic>
        <p:nvPicPr>
          <p:cNvPr id="34" name="Image 33"/>
          <p:cNvPicPr>
            <a:picLocks noChangeAspect="1"/>
          </p:cNvPicPr>
          <p:nvPr/>
        </p:nvPicPr>
        <p:blipFill rotWithShape="1">
          <a:blip r:embed="rId3">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2" name="ZoneTexte 31">
            <a:extLst>
              <a:ext uri="{FF2B5EF4-FFF2-40B4-BE49-F238E27FC236}">
                <a16:creationId xmlns:a16="http://schemas.microsoft.com/office/drawing/2014/main" id="{C6E7D94B-8E49-C846-A392-87DFA5EF4A9D}"/>
              </a:ext>
            </a:extLst>
          </p:cNvPr>
          <p:cNvSpPr txBox="1"/>
          <p:nvPr/>
        </p:nvSpPr>
        <p:spPr>
          <a:xfrm>
            <a:off x="222607" y="6396590"/>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217" name="Google Shape;9217;p112"/>
          <p:cNvSpPr txBox="1"/>
          <p:nvPr/>
        </p:nvSpPr>
        <p:spPr>
          <a:xfrm>
            <a:off x="894942" y="14275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1</a:t>
            </a:r>
          </a:p>
        </p:txBody>
      </p:sp>
      <p:sp>
        <p:nvSpPr>
          <p:cNvPr id="9218" name="Google Shape;9218;p112"/>
          <p:cNvSpPr txBox="1"/>
          <p:nvPr/>
        </p:nvSpPr>
        <p:spPr>
          <a:xfrm>
            <a:off x="805834" y="1978279"/>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Pas de base de prestations ni de dates de naissance</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9220" name="Google Shape;9220;p112"/>
          <p:cNvSpPr txBox="1"/>
          <p:nvPr/>
        </p:nvSpPr>
        <p:spPr>
          <a:xfrm>
            <a:off x="2914550" y="14275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2</a:t>
            </a:r>
          </a:p>
        </p:txBody>
      </p:sp>
      <p:sp>
        <p:nvSpPr>
          <p:cNvPr id="9222" name="Google Shape;9222;p112"/>
          <p:cNvSpPr txBox="1"/>
          <p:nvPr/>
        </p:nvSpPr>
        <p:spPr>
          <a:xfrm>
            <a:off x="805734" y="5005120"/>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1</a:t>
            </a:r>
          </a:p>
        </p:txBody>
      </p:sp>
      <p:sp>
        <p:nvSpPr>
          <p:cNvPr id="9224" name="Google Shape;9224;p112"/>
          <p:cNvSpPr txBox="1"/>
          <p:nvPr/>
        </p:nvSpPr>
        <p:spPr>
          <a:xfrm>
            <a:off x="2758434" y="5005120"/>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2</a:t>
            </a:r>
          </a:p>
        </p:txBody>
      </p:sp>
      <p:sp>
        <p:nvSpPr>
          <p:cNvPr id="9226" name="Google Shape;9226;p112"/>
          <p:cNvSpPr txBox="1"/>
          <p:nvPr/>
        </p:nvSpPr>
        <p:spPr>
          <a:xfrm>
            <a:off x="7440342" y="14275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3</a:t>
            </a:r>
          </a:p>
        </p:txBody>
      </p:sp>
      <p:sp>
        <p:nvSpPr>
          <p:cNvPr id="9228" name="Google Shape;9228;p112"/>
          <p:cNvSpPr txBox="1"/>
          <p:nvPr/>
        </p:nvSpPr>
        <p:spPr>
          <a:xfrm>
            <a:off x="9359589" y="14275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4</a:t>
            </a:r>
          </a:p>
        </p:txBody>
      </p:sp>
      <p:sp>
        <p:nvSpPr>
          <p:cNvPr id="9230" name="Google Shape;9230;p112"/>
          <p:cNvSpPr txBox="1"/>
          <p:nvPr/>
        </p:nvSpPr>
        <p:spPr>
          <a:xfrm>
            <a:off x="7351134" y="5005120"/>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3</a:t>
            </a:r>
          </a:p>
        </p:txBody>
      </p:sp>
      <p:sp>
        <p:nvSpPr>
          <p:cNvPr id="9232" name="Google Shape;9232;p112"/>
          <p:cNvSpPr txBox="1"/>
          <p:nvPr/>
        </p:nvSpPr>
        <p:spPr>
          <a:xfrm>
            <a:off x="9303834" y="5005120"/>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4</a:t>
            </a:r>
          </a:p>
        </p:txBody>
      </p:sp>
      <p:sp>
        <p:nvSpPr>
          <p:cNvPr id="97" name="Google Shape;9218;p112"/>
          <p:cNvSpPr txBox="1"/>
          <p:nvPr/>
        </p:nvSpPr>
        <p:spPr>
          <a:xfrm>
            <a:off x="2862877" y="1998709"/>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Provisions jamais recalculées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98" name="Google Shape;9218;p112"/>
          <p:cNvSpPr txBox="1"/>
          <p:nvPr/>
        </p:nvSpPr>
        <p:spPr>
          <a:xfrm>
            <a:off x="7408766" y="2018006"/>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Épargne utilisée pour d'autres emplois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99" name="Google Shape;9218;p112"/>
          <p:cNvSpPr txBox="1"/>
          <p:nvPr/>
        </p:nvSpPr>
        <p:spPr>
          <a:xfrm>
            <a:off x="9465809" y="2038436"/>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Écart entre échéances et précomptes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0" name="Google Shape;9218;p112"/>
          <p:cNvSpPr txBox="1"/>
          <p:nvPr/>
        </p:nvSpPr>
        <p:spPr>
          <a:xfrm>
            <a:off x="907230" y="4007810"/>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Coût réel des sinistres inconnu</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1" name="Google Shape;9218;p112"/>
          <p:cNvSpPr txBox="1"/>
          <p:nvPr/>
        </p:nvSpPr>
        <p:spPr>
          <a:xfrm>
            <a:off x="2964273" y="4028240"/>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Engagements mal mesurés au bilan</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2" name="Google Shape;9218;p112"/>
          <p:cNvSpPr txBox="1"/>
          <p:nvPr/>
        </p:nvSpPr>
        <p:spPr>
          <a:xfrm>
            <a:off x="7510162" y="4047537"/>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Manque de liquidités en cas de retraits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3" name="Google Shape;9218;p112"/>
          <p:cNvSpPr txBox="1"/>
          <p:nvPr/>
        </p:nvSpPr>
        <p:spPr>
          <a:xfrm>
            <a:off x="9567205" y="4067967"/>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Retards et pertes sur les prêts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pic>
        <p:nvPicPr>
          <p:cNvPr id="27" name="Image 2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76588" y="3447072"/>
            <a:ext cx="389251" cy="389251"/>
          </a:xfrm>
          <a:prstGeom prst="rect">
            <a:avLst/>
          </a:prstGeom>
        </p:spPr>
      </p:pic>
      <p:pic>
        <p:nvPicPr>
          <p:cNvPr id="28" name="Image 2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03377" y="3442943"/>
            <a:ext cx="375952" cy="375953"/>
          </a:xfrm>
          <a:prstGeom prst="rect">
            <a:avLst/>
          </a:prstGeom>
        </p:spPr>
      </p:pic>
      <p:pic>
        <p:nvPicPr>
          <p:cNvPr id="29" name="Image 2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428049" y="3403216"/>
            <a:ext cx="423892" cy="433107"/>
          </a:xfrm>
          <a:prstGeom prst="rect">
            <a:avLst/>
          </a:prstGeom>
        </p:spPr>
      </p:pic>
      <p:pic>
        <p:nvPicPr>
          <p:cNvPr id="30" name="Image 2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60990" y="3403216"/>
            <a:ext cx="484396" cy="490027"/>
          </a:xfrm>
          <a:prstGeom prst="rect">
            <a:avLst/>
          </a:prstGeom>
        </p:spPr>
      </p:pic>
      <p:pic>
        <p:nvPicPr>
          <p:cNvPr id="2" name="Image 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5400000">
            <a:off x="5451325" y="2716425"/>
            <a:ext cx="1112757" cy="1112757"/>
          </a:xfrm>
          <a:prstGeom prst="rect">
            <a:avLst/>
          </a:prstGeom>
        </p:spPr>
      </p:pic>
      <p:sp>
        <p:nvSpPr>
          <p:cNvPr id="9233"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Carte des risques</a:t>
            </a:r>
          </a:p>
        </p:txBody>
      </p:sp>
      <p:sp>
        <p:nvSpPr>
          <p:cNvPr id="9234"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Quatre causes identifiées produisent quatre risques pour le FPPN</a:t>
            </a:r>
          </a:p>
        </p:txBody>
      </p:sp>
      <p:sp>
        <p:nvSpPr>
          <p:cNvPr id="9235"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causes relèvent de la gestion des données et des choix d'emploi des ressources. Les effets restent à chiffrer</a:t>
            </a:r>
          </a:p>
        </p:txBody>
      </p:sp>
      <p:sp>
        <p:nvSpPr>
          <p:cNvPr id="9236"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9237" name="TextBox 923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9310092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Recommandations prioritaires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Sept actions conditionnent la fiabilité des engagements et la conformité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trois premières actions relèvent de la transmission de données, les quatre suivantes des décisions de gestion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 Numéros de la liste des documents demandés (PBC)</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 : Actions recommandées</a:t>
            </a:r>
          </a:p>
        </p:txBody>
      </p:sp>
      <p:graphicFrame>
        <p:nvGraphicFramePr>
          <p:cNvPr id="32" name="Table 31"/>
          <p:cNvGraphicFramePr>
            <a:graphicFrameLocks noGrp="1"/>
          </p:cNvGraphicFramePr>
          <p:nvPr/>
        </p:nvGraphicFramePr>
        <p:xfrm>
          <a:off x="503999" y="1655999"/>
          <a:ext cx="11232000" cy="2975557"/>
        </p:xfrm>
        <a:graphic>
          <a:graphicData uri="http://schemas.openxmlformats.org/drawingml/2006/table">
            <a:tbl>
              <a:tblPr firstRow="0" bandRow="0">
                <a:tableStyleId>{5940675A-B579-460E-94D1-54222C63F5DA}</a:tableStyleId>
              </a:tblPr>
              <a:tblGrid>
                <a:gridCol w="360000"/>
                <a:gridCol w="4464000"/>
                <a:gridCol w="5184000"/>
                <a:gridCol w="1224000"/>
              </a:tblGrid>
              <a:tr h="225250">
                <a:tc>
                  <a:txBody>
                    <a:bodyPr/>
                    <a:lstStyle/>
                    <a:p>
                      <a:pPr marL="0" indent="0" lvl="0">
                        <a:buNone/>
                      </a:pPr>
                      <a:r>
                        <a:rPr sz="11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Action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Objet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Priorité</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Transmettre les bases de prestations décès et santé 2020 à 2026 (13, 28, 40).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Calculer les provisions, la sinistralité par année de survenance et les délais.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Urgente</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Transmettre le fichier des mutualistes avec date de naissance et sexe (9).</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Mesurer la mortalité, projeter l'équilibre technique et calculer les engagements.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Urgente</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Transmettre les comptes individuels PEP et EFC et leurs règlements (16, 17).</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Évaluer la dette envers chaque épargnant et ses échéances.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Urgente</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Recalculer les provisions techniques à chaque clôture et les reclasser en compte 190.</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Respecter l'article 7 du règlement d'exécution et le plan comptable.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Haute</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Présenter à l'AIRMS un plan de mise en conformité des ratios prudentiels.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Réserve obligatoire, fonds propres, liquidité, frais de fonctionnement.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Haute</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Adosser l'épargne à des placements liquides et séparer ses comptes (cantonnement).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Couvrir l'épargne exigible, encadrer le financement du Grenier et du CMP.</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Haute</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Faire réaliser l'étude actuarielle quinquennale des risques longs.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Article 14 du règlement d'exécution n° 004/2022.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Moyenne</a:t>
                      </a:r>
                    </a:p>
                  </a:txBody>
                  <a:tcPr marL="43200" marR="43200" marT="14400" marB="14400" anchor="ctr">
                    <a:solidFill>
                      <a:srgbClr val="FFFFFF"/>
                    </a:solidFill>
                  </a:tcPr>
                </a:tc>
              </a:tr>
            </a:tbl>
          </a:graphicData>
        </a:graphic>
      </p:graphicFrame>
      <p:sp>
        <p:nvSpPr>
          <p:cNvPr id="33" name="TextBox 32"/>
          <p:cNvSpPr txBox="1"/>
          <p:nvPr/>
        </p:nvSpPr>
        <p:spPr>
          <a:xfrm>
            <a:off x="503999" y="4649558"/>
            <a:ext cx="11232000" cy="162000"/>
          </a:xfrm>
          <a:prstGeom prst="rect">
            <a:avLst/>
          </a:prstGeom>
          <a:noFill/>
        </p:spPr>
        <p:txBody>
          <a:bodyPr wrap="square" anchor="t" lIns="54000" rIns="54000"/>
          <a:lstStyle/>
          <a:p>
            <a:pPr algn="l"/>
            <a:r>
              <a:rPr sz="850" b="0">
                <a:solidFill>
                  <a:srgbClr val="53565A"/>
                </a:solidFill>
                <a:latin typeface="Helvetica"/>
              </a:rPr>
              <a:t>Valable pour : chaque chiffre dans le périmètre de sa partie d'origine, voir l'annexe « Périmètre et validité des analyses ».</a:t>
            </a:r>
          </a:p>
        </p:txBody>
      </p:sp>
      <p:sp>
        <p:nvSpPr>
          <p:cNvPr id="34" name="TextBox 33"/>
          <p:cNvSpPr txBox="1"/>
          <p:nvPr/>
        </p:nvSpPr>
        <p:spPr>
          <a:xfrm>
            <a:off x="503999" y="4937558"/>
            <a:ext cx="11232000" cy="930441"/>
          </a:xfrm>
          <a:prstGeom prst="rect">
            <a:avLst/>
          </a:prstGeom>
          <a:noFill/>
        </p:spPr>
        <p:txBody>
          <a:bodyPr wrap="square" lIns="54000" rIns="54000"/>
          <a:lstStyle/>
          <a:p>
            <a:pPr algn="just">
              <a:spcAft>
                <a:spcPts val="600"/>
              </a:spcAft>
            </a:pPr>
            <a:r>
              <a:rPr sz="1300" b="1">
                <a:solidFill>
                  <a:srgbClr val="060606"/>
                </a:solidFill>
                <a:latin typeface="Helvetica"/>
              </a:rPr>
              <a:t>Les actions 1 à 3 lèvent les limites de ce rapport. Les actions 4 à 7 corrigent les écarts déjà démontrés.</a:t>
            </a:r>
          </a:p>
          <a:p>
            <a:pPr algn="just">
              <a:spcAft>
                <a:spcPts val="600"/>
              </a:spcAft>
            </a:pPr>
            <a:r>
              <a:rPr sz="1300" b="0">
                <a:solidFill>
                  <a:srgbClr val="060606"/>
                </a:solidFill>
                <a:latin typeface="Helvetica"/>
              </a:rPr>
              <a:t>Le plan de mise en conformité (action 5) dépend des données des actions 1 à 3 : les deux chantiers doivent être menés ensemble.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AIRMS : Agence ivoirienne de régulation de la mutualité sociale | PEP : Plan Épargne Plus | EFC : entraide fin de carrière | CMP : Centre Médical du Policier (rapport de gestion 2023) | PBC : liste des documents demandés au client</a:t>
            </a:r>
          </a:p>
        </p:txBody>
      </p:sp>
    </p:spTree>
    <p:extLst>
      <p:ext uri="{BB962C8B-B14F-4D97-AF65-F5344CB8AC3E}">
        <p14:creationId xmlns:p14="http://schemas.microsoft.com/office/powerpoint/2010/main" val="2670522446"/>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 1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5" name="Google Shape;7418;p41"/>
          <p:cNvSpPr/>
          <p:nvPr/>
        </p:nvSpPr>
        <p:spPr>
          <a:xfrm rot="21013821">
            <a:off x="6297998" y="4058425"/>
            <a:ext cx="1054440" cy="80836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38" name="Google Shape;7421;p41"/>
          <p:cNvSpPr/>
          <p:nvPr/>
        </p:nvSpPr>
        <p:spPr>
          <a:xfrm rot="356255">
            <a:off x="6295963" y="1897141"/>
            <a:ext cx="1054365" cy="808304"/>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1" name="Google Shape;7424;p41"/>
          <p:cNvSpPr/>
          <p:nvPr/>
        </p:nvSpPr>
        <p:spPr>
          <a:xfrm rot="282502">
            <a:off x="1008889" y="4058237"/>
            <a:ext cx="1054406" cy="808335"/>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4" name="Google Shape;7427;p41"/>
          <p:cNvSpPr/>
          <p:nvPr/>
        </p:nvSpPr>
        <p:spPr>
          <a:xfrm rot="21275242">
            <a:off x="1044421" y="1901356"/>
            <a:ext cx="1054398" cy="808329"/>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7" name="Google Shape;7431;p41"/>
          <p:cNvSpPr txBox="1">
            <a:spLocks/>
          </p:cNvSpPr>
          <p:nvPr/>
        </p:nvSpPr>
        <p:spPr>
          <a:xfrm rot="21238167">
            <a:off x="1055515" y="2057346"/>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01</a:t>
            </a:r>
          </a:p>
        </p:txBody>
      </p:sp>
      <p:sp>
        <p:nvSpPr>
          <p:cNvPr id="48" name="Google Shape;7432;p41"/>
          <p:cNvSpPr txBox="1">
            <a:spLocks/>
          </p:cNvSpPr>
          <p:nvPr/>
        </p:nvSpPr>
        <p:spPr>
          <a:xfrm rot="395864">
            <a:off x="1055515" y="4196382"/>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02</a:t>
            </a:r>
          </a:p>
        </p:txBody>
      </p:sp>
      <p:sp>
        <p:nvSpPr>
          <p:cNvPr id="53" name="Google Shape;7437;p41"/>
          <p:cNvSpPr txBox="1">
            <a:spLocks/>
          </p:cNvSpPr>
          <p:nvPr/>
        </p:nvSpPr>
        <p:spPr>
          <a:xfrm rot="354388">
            <a:off x="6338696" y="2057346"/>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03</a:t>
            </a:r>
          </a:p>
        </p:txBody>
      </p:sp>
      <p:sp>
        <p:nvSpPr>
          <p:cNvPr id="54" name="Google Shape;7438;p41"/>
          <p:cNvSpPr txBox="1">
            <a:spLocks/>
          </p:cNvSpPr>
          <p:nvPr/>
        </p:nvSpPr>
        <p:spPr>
          <a:xfrm rot="21176429">
            <a:off x="6338696" y="4196382"/>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04</a:t>
            </a:r>
          </a:p>
        </p:txBody>
      </p:sp>
      <p:sp>
        <p:nvSpPr>
          <p:cNvPr id="19" name="Rectangle 18"/>
          <p:cNvSpPr/>
          <p:nvPr/>
        </p:nvSpPr>
        <p:spPr>
          <a:xfrm>
            <a:off x="2312337" y="1956293"/>
            <a:ext cx="3277758" cy="883319"/>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Collecter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Le FPPN transmet les bases de prestations, les mutualistes avec date de naissance, les comptes d'épargne et les barèmes.</a:t>
            </a:r>
            <a:endParaRPr lang="fr-CI" sz="1600" noProof="0"/>
          </a:p>
        </p:txBody>
      </p:sp>
      <p:sp>
        <p:nvSpPr>
          <p:cNvPr id="20" name="Rectangle 19"/>
          <p:cNvSpPr/>
          <p:nvPr/>
        </p:nvSpPr>
        <p:spPr>
          <a:xfrm>
            <a:off x="2312337" y="4261820"/>
            <a:ext cx="3277758" cy="883319"/>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Calculer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calcule les provisions (PSAP, Chain Ladder), la mortalité observée et les engagements d'épargne.</a:t>
            </a:r>
            <a:endParaRPr lang="fr-CI" sz="1600" noProof="0"/>
          </a:p>
        </p:txBody>
      </p:sp>
      <p:sp>
        <p:nvSpPr>
          <p:cNvPr id="22" name="Rectangle 21"/>
          <p:cNvSpPr/>
          <p:nvPr/>
        </p:nvSpPr>
        <p:spPr>
          <a:xfrm>
            <a:off x="7611772" y="1960390"/>
            <a:ext cx="3277758" cy="883319"/>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Vérifier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rapproche les résultats de la comptabilité et des ratios de l'UEMOA, puis les discute avec le FPPN.</a:t>
            </a:r>
            <a:endParaRPr lang="fr-CI" sz="1600" noProof="0"/>
          </a:p>
        </p:txBody>
      </p:sp>
      <p:sp>
        <p:nvSpPr>
          <p:cNvPr id="23" name="Rectangle 22"/>
          <p:cNvSpPr/>
          <p:nvPr/>
        </p:nvSpPr>
        <p:spPr>
          <a:xfrm>
            <a:off x="7611772" y="4358249"/>
            <a:ext cx="3277758" cy="698653"/>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Projeter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projette l'équilibre technique sur 5 à 10 ans et chiffre les recommandations.</a:t>
            </a:r>
            <a:endParaRPr lang="fr-CI" sz="1600" noProof="0"/>
          </a:p>
        </p:txBody>
      </p:sp>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55"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Feuille de route proposée</a:t>
            </a:r>
          </a:p>
        </p:txBody>
      </p:sp>
      <p:sp>
        <p:nvSpPr>
          <p:cNvPr id="56"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Quatre étapes pour passer du constat à l'évaluation des engagements</a:t>
            </a:r>
          </a:p>
        </p:txBody>
      </p:sp>
      <p:sp>
        <p:nvSpPr>
          <p:cNvPr id="57"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étape dépend de la précédente. La première est la transmission des données manquantes</a:t>
            </a:r>
          </a:p>
        </p:txBody>
      </p:sp>
      <p:sp>
        <p:nvSpPr>
          <p:cNvPr id="58"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9" name="TextBox 58"/>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PSAP : provision pour sinistres à payer</a:t>
            </a:r>
          </a:p>
        </p:txBody>
      </p:sp>
    </p:spTree>
    <p:extLst>
      <p:ext uri="{BB962C8B-B14F-4D97-AF65-F5344CB8AC3E}">
        <p14:creationId xmlns:p14="http://schemas.microsoft.com/office/powerpoint/2010/main" val="2137718605"/>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Comprendre le FPPN</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Cadre, garanties, circuits et notions de base</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524162842"/>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Cadre juridique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est une mutuelle sociale agréée, régie par le droit de l'UEMOA</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règlement n° 07/2009/CM/UEMOA fixe les règles, l'AIRMS contrôle, le Code CIMA sert de référence technique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textes cités (documentation publique de l'AIRMS fournie le 18/10/2026). Répertoire AIRMS des mutuelles agréées, mise à jour du 15/10/2026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5 : Textes et organismes de référence</a:t>
            </a:r>
          </a:p>
        </p:txBody>
      </p:sp>
      <p:graphicFrame>
        <p:nvGraphicFramePr>
          <p:cNvPr id="32" name="Table 31"/>
          <p:cNvGraphicFramePr>
            <a:graphicFrameLocks noGrp="1"/>
          </p:cNvGraphicFramePr>
          <p:nvPr/>
        </p:nvGraphicFramePr>
        <p:xfrm>
          <a:off x="503999" y="1655999"/>
          <a:ext cx="11232000" cy="2582656"/>
        </p:xfrm>
        <a:graphic>
          <a:graphicData uri="http://schemas.openxmlformats.org/drawingml/2006/table">
            <a:tbl>
              <a:tblPr firstRow="0" bandRow="0">
                <a:tableStyleId>{5940675A-B579-460E-94D1-54222C63F5DA}</a:tableStyleId>
              </a:tblPr>
              <a:tblGrid>
                <a:gridCol w="2880000"/>
                <a:gridCol w="4104000"/>
                <a:gridCol w="4248000"/>
              </a:tblGrid>
              <a:tr h="225250">
                <a:tc>
                  <a:txBody>
                    <a:bodyPr/>
                    <a:lstStyle/>
                    <a:p>
                      <a:pPr marL="0" indent="0" lvl="0">
                        <a:buNone/>
                      </a:pPr>
                      <a:r>
                        <a:rPr sz="1100" b="1">
                          <a:solidFill>
                            <a:srgbClr val="FFFFFF"/>
                          </a:solidFill>
                          <a:latin typeface="Helvetica"/>
                        </a:rPr>
                        <a:t>Texte ou organisme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Rôle pour le FPPN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Usage dans ce rapport</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Règlement n° 07/2009/CM/UEMOA du 26/06/2009</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Il fixe l'agrément, les obligations, les sanctions et le contrôle des mutuelles sociales.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Cadre général (partie 10)</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Règlement d'exécution n° 004/2022/COM/UEMOA du 01/06/2022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 fixe les règles prudentielles : provisions, réserves, risques longs, placements.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Exigences prudentielles (partie 10)</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Décision n° 05/2022/COM/UEMOA du 01/06/2022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Elle fixe les indicateurs et ratios prudentiels et leurs normes.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Tableau de bord des ratios (partie 10)</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Règlement n° 03/2012/CM/UEMOA et PCMS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Ils imposent le plan comptable des mutuelles sociales depuis l'exercice 2014.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Lecture et contrôle des comptes</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AIRMS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L'Agence ivoirienne de régulation de la mutualité sociale agrée et contrôle les mutuelles.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Destinataire des états et des ratios</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Code CIMA, article 338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 fixe les tables de mortalité et le taux d'intérêt maximal (3,5 %) des assureurs vie.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Référence technique (partie 11)</a:t>
                      </a:r>
                    </a:p>
                  </a:txBody>
                  <a:tcPr marL="43200" marR="43200" marT="14400" marB="14400" anchor="ctr">
                    <a:solidFill>
                      <a:srgbClr val="F2F2F2"/>
                    </a:solidFill>
                  </a:tcPr>
                </a:tc>
              </a:tr>
            </a:tbl>
          </a:graphicData>
        </a:graphic>
      </p:graphicFrame>
      <p:sp>
        <p:nvSpPr>
          <p:cNvPr id="33" name="TextBox 32"/>
          <p:cNvSpPr txBox="1"/>
          <p:nvPr/>
        </p:nvSpPr>
        <p:spPr>
          <a:xfrm>
            <a:off x="503999" y="4256657"/>
            <a:ext cx="11232000" cy="162000"/>
          </a:xfrm>
          <a:prstGeom prst="rect">
            <a:avLst/>
          </a:prstGeom>
          <a:noFill/>
        </p:spPr>
        <p:txBody>
          <a:bodyPr wrap="square" anchor="t" lIns="54000" rIns="54000"/>
          <a:lstStyle/>
          <a:p>
            <a:pPr algn="l"/>
            <a:r>
              <a:rPr sz="850" b="0">
                <a:solidFill>
                  <a:srgbClr val="53565A"/>
                </a:solidFill>
                <a:latin typeface="Helvetica"/>
              </a:rPr>
              <a:t>Valable pour : textes du FPPN (statuts et règlement intérieur du 15/06/2023) et circuits décrits en entretien, sans test de leur application.</a:t>
            </a:r>
          </a:p>
        </p:txBody>
      </p:sp>
      <p:sp>
        <p:nvSpPr>
          <p:cNvPr id="34" name="TextBox 33"/>
          <p:cNvSpPr txBox="1"/>
          <p:nvPr/>
        </p:nvSpPr>
        <p:spPr>
          <a:xfrm>
            <a:off x="503999" y="4544657"/>
            <a:ext cx="11232000" cy="1323342"/>
          </a:xfrm>
          <a:prstGeom prst="rect">
            <a:avLst/>
          </a:prstGeom>
          <a:noFill/>
        </p:spPr>
        <p:txBody>
          <a:bodyPr wrap="square" lIns="54000" rIns="54000"/>
          <a:lstStyle/>
          <a:p>
            <a:pPr algn="just">
              <a:spcAft>
                <a:spcPts val="600"/>
              </a:spcAft>
            </a:pPr>
            <a:r>
              <a:rPr sz="1300" b="1">
                <a:solidFill>
                  <a:srgbClr val="060606"/>
                </a:solidFill>
                <a:latin typeface="Helvetica"/>
              </a:rPr>
              <a:t>Le FPPN doit respecter des normes chiffrées depuis le 1er juin 2022.</a:t>
            </a:r>
            <a:r>
              <a:rPr sz="1300" b="0">
                <a:solidFill>
                  <a:srgbClr val="060606"/>
                </a:solidFill>
                <a:latin typeface="Helvetica"/>
              </a:rPr>
              <a:t> Avant cette date, les textes ne fixaient pas de ratios prudentiels précis pour les mutuelles.</a:t>
            </a:r>
          </a:p>
          <a:p>
            <a:pPr algn="just">
              <a:spcAft>
                <a:spcPts val="600"/>
              </a:spcAft>
            </a:pPr>
            <a:r>
              <a:rPr sz="1300" b="0">
                <a:solidFill>
                  <a:srgbClr val="060606"/>
                </a:solidFill>
                <a:latin typeface="Helvetica"/>
              </a:rPr>
              <a:t>Les ratios de la Décision n° 05/2022 s'appliquent pleinement aux exercices 2022 à 2025 de la période d'analyse : la partie 10 les calcule un par un.</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 | PCMS : plan comptable des mutuelles sociales | CIMA : Conférence interafricaine des marchés d'assurances</a:t>
            </a:r>
          </a:p>
        </p:txBody>
      </p:sp>
    </p:spTree>
    <p:extLst>
      <p:ext uri="{BB962C8B-B14F-4D97-AF65-F5344CB8AC3E}">
        <p14:creationId xmlns:p14="http://schemas.microsoft.com/office/powerpoint/2010/main" val="2825955980"/>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Statuts et règlement intérieur : cotisations, provisions, prestations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textes du FPPN fixent déjà des règles que les comptes ne suivent pas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Barème de cotisation, calcul des provisions et dotation de la réserve légale sont écrits dans les statuts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statuts et règlement intérieur du FPPN édités le 15/06/2023 (textes adoptés par l'Assemblée générale extraordinaire du 30/06/2021). Circulaire n° 00230/CIMA/CRCA/PDT/2005. Balances du FPPN.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6 : Dispositions des textes du FPPN utiles à la mission (1/2)</a:t>
            </a:r>
          </a:p>
        </p:txBody>
      </p:sp>
      <p:graphicFrame>
        <p:nvGraphicFramePr>
          <p:cNvPr id="32" name="Table 31"/>
          <p:cNvGraphicFramePr>
            <a:graphicFrameLocks noGrp="1"/>
          </p:cNvGraphicFramePr>
          <p:nvPr/>
        </p:nvGraphicFramePr>
        <p:xfrm>
          <a:off x="503999" y="1655999"/>
          <a:ext cx="11231999" cy="2159272"/>
        </p:xfrm>
        <a:graphic>
          <a:graphicData uri="http://schemas.openxmlformats.org/drawingml/2006/table">
            <a:tbl>
              <a:tblPr firstRow="0" bandRow="0">
                <a:tableStyleId>{5940675A-B579-460E-94D1-54222C63F5DA}</a:tableStyleId>
              </a:tblPr>
              <a:tblGrid>
                <a:gridCol w="3240000"/>
                <a:gridCol w="1584000"/>
                <a:gridCol w="3096000"/>
                <a:gridCol w="3311999"/>
              </a:tblGrid>
              <a:tr h="187148">
                <a:tc>
                  <a:txBody>
                    <a:bodyPr/>
                    <a:lstStyle/>
                    <a:p>
                      <a:pPr marL="0" indent="0" lvl="0">
                        <a:buNone/>
                      </a:pPr>
                      <a:r>
                        <a:rPr sz="850" b="1">
                          <a:solidFill>
                            <a:srgbClr val="FFFFFF"/>
                          </a:solidFill>
                          <a:latin typeface="Helvetica"/>
                        </a:rPr>
                        <a:t>Disposition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Article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Constat dans les données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Effet sur la mission</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Cotisation obligatoire de 5 % de la solde de base : 3,5 % maladie-maternité et 1,5 % invalidité-décès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Statuts, art. 17. Règlement intérieur, art. 33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La Solde retient 3,77 % et 1,23 % (partie 4)</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Le barème officiel est établi. La répartition de la Solde reste à expliquer.</a:t>
                      </a:r>
                    </a:p>
                  </a:txBody>
                  <a:tcPr marL="43200" marR="43200" marT="14400" marB="14400" anchor="ctr">
                    <a:solidFill>
                      <a:srgbClr val="FFFFFF"/>
                    </a:solidFill>
                  </a:tcPr>
                </a:tc>
              </a:tr>
              <a:tr h="446244">
                <a:tc>
                  <a:txBody>
                    <a:bodyPr/>
                    <a:lstStyle/>
                    <a:p>
                      <a:pPr marL="0" indent="0" lvl="0">
                        <a:buNone/>
                      </a:pPr>
                      <a:r>
                        <a:rPr sz="850" b="1">
                          <a:solidFill>
                            <a:srgbClr val="060606"/>
                          </a:solidFill>
                          <a:latin typeface="Helvetica"/>
                        </a:rPr>
                        <a:t>Provision pour prestations à payer calculée exercice par exercice, dossier par dossier, plus les sinistres survenus non déclarés. Provision pour risques courts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Statuts, art. 86 à 89. Règlement intérieur, art. 79 à 82</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Provisions identiques de 2020 au 31/08/2026 (partie 9)</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Le FPPN ne suit pas ses propres statuts, en plus du règlement d'exécution n° 004/2022 (art. 10).</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Réserve légale d'au moins 20 % à 50 % des excédents nets de l'exercice précédent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Statuts, art. 90</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Dotation 2023 : 184 219 879 FCFA, soit 8,94 % de l'excédent 2022</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Écart aux statuts en 2023. Dotations conformes en 2024 (36,00 %) et 2025 (38,00 %).</a:t>
                      </a:r>
                    </a:p>
                  </a:txBody>
                  <a:tcPr marL="43200" marR="43200" marT="14400" marB="14400" anchor="ctr">
                    <a:solidFill>
                      <a:srgbClr val="FFFFFF"/>
                    </a:solidFill>
                  </a:tcPr>
                </a:tc>
              </a:tr>
              <a:tr h="446244">
                <a:tc>
                  <a:txBody>
                    <a:bodyPr/>
                    <a:lstStyle/>
                    <a:p>
                      <a:pPr marL="0" indent="0" lvl="0">
                        <a:buNone/>
                      </a:pPr>
                      <a:r>
                        <a:rPr sz="850" b="1">
                          <a:solidFill>
                            <a:srgbClr val="060606"/>
                          </a:solidFill>
                          <a:latin typeface="Helvetica"/>
                        </a:rPr>
                        <a:t>Couverture maladie limitée aux soins liés à une hospitalisation. Exclusions dont l'optique, les prothèses dentaires et les maladies de longue durée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Règlement intérieur, art. 41 et 45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Sinistralité inférieure à 70 % de 2020 à 2025 (partie 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Explique en partie la faible sinistralité (facteur F5, partie 10).</a:t>
                      </a:r>
                    </a:p>
                  </a:txBody>
                  <a:tcPr marL="43200" marR="43200" marT="14400" marB="14400" anchor="ctr">
                    <a:solidFill>
                      <a:srgbClr val="F2F2F2"/>
                    </a:solidFill>
                  </a:tcPr>
                </a:tc>
              </a:tr>
              <a:tr h="446244">
                <a:tc>
                  <a:txBody>
                    <a:bodyPr/>
                    <a:lstStyle/>
                    <a:p>
                      <a:pPr marL="0" indent="0" lvl="0">
                        <a:buNone/>
                      </a:pPr>
                      <a:r>
                        <a:rPr sz="850" b="1">
                          <a:solidFill>
                            <a:srgbClr val="060606"/>
                          </a:solidFill>
                          <a:latin typeface="Helvetica"/>
                        </a:rPr>
                        <a:t>Factures payées sous 3 mois. Remboursements demandés sous 3 mois et payés sous 6 mois. Forclusion des allocations décès à 3 ans (membre) et 12 mois (ayant droit)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Règlement intérieur, art. 52, 57, 58 et 60</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Aucune base de prestations reçue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Horizon des sinistres tardifs : moins d'un an en maladie, trois ans en décès, dans les quatre années de la circulaire CIMA n° 00230/2005.</a:t>
                      </a:r>
                    </a:p>
                  </a:txBody>
                  <a:tcPr marL="43200" marR="43200" marT="14400" marB="14400" anchor="ctr">
                    <a:solidFill>
                      <a:srgbClr val="FFFFFF"/>
                    </a:solidFill>
                  </a:tcPr>
                </a:tc>
              </a:tr>
            </a:tbl>
          </a:graphicData>
        </a:graphic>
      </p:graphicFrame>
      <p:sp>
        <p:nvSpPr>
          <p:cNvPr id="33" name="TextBox 32"/>
          <p:cNvSpPr txBox="1"/>
          <p:nvPr/>
        </p:nvSpPr>
        <p:spPr>
          <a:xfrm>
            <a:off x="503999" y="3833274"/>
            <a:ext cx="11232000" cy="162000"/>
          </a:xfrm>
          <a:prstGeom prst="rect">
            <a:avLst/>
          </a:prstGeom>
          <a:noFill/>
        </p:spPr>
        <p:txBody>
          <a:bodyPr wrap="square" anchor="t" lIns="54000" rIns="54000"/>
          <a:lstStyle/>
          <a:p>
            <a:pPr algn="l"/>
            <a:r>
              <a:rPr sz="850" b="0">
                <a:solidFill>
                  <a:srgbClr val="53565A"/>
                </a:solidFill>
                <a:latin typeface="Helvetica"/>
              </a:rPr>
              <a:t>Valable pour : textes du FPPN (statuts et règlement intérieur du 15/06/2023) et circuits décrits en entretien, sans test de leur application.</a:t>
            </a:r>
          </a:p>
        </p:txBody>
      </p:sp>
      <p:sp>
        <p:nvSpPr>
          <p:cNvPr id="34" name="TextBox 33"/>
          <p:cNvSpPr txBox="1"/>
          <p:nvPr/>
        </p:nvSpPr>
        <p:spPr>
          <a:xfrm>
            <a:off x="503999" y="4121274"/>
            <a:ext cx="11232000" cy="1746725"/>
          </a:xfrm>
          <a:prstGeom prst="rect">
            <a:avLst/>
          </a:prstGeom>
          <a:noFill/>
        </p:spPr>
        <p:txBody>
          <a:bodyPr wrap="square" lIns="54000" rIns="54000"/>
          <a:lstStyle/>
          <a:p>
            <a:pPr algn="just">
              <a:spcAft>
                <a:spcPts val="600"/>
              </a:spcAft>
            </a:pPr>
            <a:r>
              <a:rPr sz="1300" b="1">
                <a:solidFill>
                  <a:srgbClr val="060606"/>
                </a:solidFill>
                <a:latin typeface="Helvetica"/>
              </a:rPr>
              <a:t>Les statuts imposent eux-mêmes le calcul des provisions et la dotation de la réserve légale.</a:t>
            </a:r>
            <a:r>
              <a:rPr sz="1300" b="0">
                <a:solidFill>
                  <a:srgbClr val="060606"/>
                </a:solidFill>
                <a:latin typeface="Helvetica"/>
              </a:rPr>
              <a:t> Les écarts relevés en parties 9 et 10 sont donc aussi des écarts aux textes internes du FPPN.</a:t>
            </a:r>
          </a:p>
          <a:p>
            <a:pPr algn="just">
              <a:spcAft>
                <a:spcPts val="600"/>
              </a:spcAft>
            </a:pPr>
            <a:r>
              <a:rPr sz="1300" b="0">
                <a:solidFill>
                  <a:srgbClr val="060606"/>
                </a:solidFill>
                <a:latin typeface="Helvetica"/>
              </a:rPr>
              <a:t>Les délais de forclusion bornent la durée de développement des sinistres : ils serviront à construire les cadences de la méthode CIMA dès réception des bases de prestations (PBC, item 71).</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PBC : liste des documents demandés au client</a:t>
            </a:r>
          </a:p>
        </p:txBody>
      </p:sp>
    </p:spTree>
    <p:extLst>
      <p:ext uri="{BB962C8B-B14F-4D97-AF65-F5344CB8AC3E}">
        <p14:creationId xmlns:p14="http://schemas.microsoft.com/office/powerpoint/2010/main" val="3442702456"/>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Statuts et règlement intérieur : épargne, personnel, organes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Trois dispositions changent le périmètre des engagements à évaluer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L'EFC est un engagement de carrière, la provision du personnel ne vise que les civils, et la situation des retraités est contradictoire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statuts et règlement intérieur du FPPN édités le 15/06/2023 (textes adoptés par l'Assemblée générale extraordinaire du 30/06/2021). Décret n° 2017-210 du 30/03/2017. Décret n° 2012-652</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7 : Dispositions des textes du FPPN utiles à la mission (2/2)</a:t>
            </a:r>
          </a:p>
        </p:txBody>
      </p:sp>
      <p:graphicFrame>
        <p:nvGraphicFramePr>
          <p:cNvPr id="32" name="Table 31"/>
          <p:cNvGraphicFramePr>
            <a:graphicFrameLocks noGrp="1"/>
          </p:cNvGraphicFramePr>
          <p:nvPr/>
        </p:nvGraphicFramePr>
        <p:xfrm>
          <a:off x="503999" y="1655999"/>
          <a:ext cx="11231999" cy="2159272"/>
        </p:xfrm>
        <a:graphic>
          <a:graphicData uri="http://schemas.openxmlformats.org/drawingml/2006/table">
            <a:tbl>
              <a:tblPr firstRow="0" bandRow="0">
                <a:tableStyleId>{5940675A-B579-460E-94D1-54222C63F5DA}</a:tableStyleId>
              </a:tblPr>
              <a:tblGrid>
                <a:gridCol w="3240000"/>
                <a:gridCol w="1584000"/>
                <a:gridCol w="3096000"/>
                <a:gridCol w="3311999"/>
              </a:tblGrid>
              <a:tr h="187148">
                <a:tc>
                  <a:txBody>
                    <a:bodyPr/>
                    <a:lstStyle/>
                    <a:p>
                      <a:pPr marL="0" indent="0" lvl="0">
                        <a:buNone/>
                      </a:pPr>
                      <a:r>
                        <a:rPr sz="850" b="1">
                          <a:solidFill>
                            <a:srgbClr val="FFFFFF"/>
                          </a:solidFill>
                          <a:latin typeface="Helvetica"/>
                        </a:rPr>
                        <a:t>Disposition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Article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Constat dans les données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Effet sur la mission</a:t>
                      </a:r>
                    </a:p>
                  </a:txBody>
                  <a:tcPr marL="43200" marR="43200" marT="14400" marB="14400" anchor="ctr">
                    <a:solidFill>
                      <a:srgbClr val="060606"/>
                    </a:solidFill>
                  </a:tcPr>
                </a:tc>
              </a:tr>
              <a:tr h="446244">
                <a:tc>
                  <a:txBody>
                    <a:bodyPr/>
                    <a:lstStyle/>
                    <a:p>
                      <a:pPr marL="0" indent="0" lvl="0">
                        <a:buNone/>
                      </a:pPr>
                      <a:r>
                        <a:rPr sz="850" b="1">
                          <a:solidFill>
                            <a:srgbClr val="060606"/>
                          </a:solidFill>
                          <a:latin typeface="Helvetica"/>
                        </a:rPr>
                        <a:t>Plan Épargne Plus : souscription d'au moins 3 ans, terme choisi par le membre, 10 000 FCFA par mois au minimum. Il ouvre droit à des prêts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Règlement intérieur, art. 65 à 69</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Prestations et rémunération renvoyées au cahier des charges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Les sorties du PEP dépendent des termes choisis : l'échéancier individuel est nécessaire (PBC, item 102).</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Entraide de Fin de Carrière : risques retraite et décès, 10 000 FCFA par mois sur toute la carrière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Règlement intérieur, art. 70 et 71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Épargne EFC au bilan, sans échéancier</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Engagement long, exigible au départ à la retraite : sa valeur demande le cahier des charges (PBC, item 100).</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Personnel de la Direction Générale : civils salariés et fonctionnaires de police payés par des indemnités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Règlement intérieur, art. 31. Statuts, art. 66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Provision pour départ à la retraite au compte 196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La provision vise a priori le seul personnel civil, au barème du décret n° 2017-210 (PBC, items 103 et 104).</a:t>
                      </a:r>
                    </a:p>
                  </a:txBody>
                  <a:tcPr marL="43200" marR="43200" marT="14400" marB="14400" anchor="ctr">
                    <a:solidFill>
                      <a:srgbClr val="FFFFFF"/>
                    </a:solidFill>
                  </a:tcPr>
                </a:tc>
              </a:tr>
              <a:tr h="446244">
                <a:tc>
                  <a:txBody>
                    <a:bodyPr/>
                    <a:lstStyle/>
                    <a:p>
                      <a:pPr marL="0" indent="0" lvl="0">
                        <a:buNone/>
                      </a:pPr>
                      <a:r>
                        <a:rPr sz="850" b="1">
                          <a:solidFill>
                            <a:srgbClr val="060606"/>
                          </a:solidFill>
                          <a:latin typeface="Helvetica"/>
                        </a:rPr>
                        <a:t>Policier retraité membre participant, mais carte restituée au départ à la retraite. Seule la cotisation du policier en activité est prévue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Statuts, art. 7 et 80. Règlement intérieur, art. 38</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Garantie santé des retraités non documentée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Contradiction à lever avant tout calcul de provision mathématique (PBC, item 108).</a:t>
                      </a:r>
                    </a:p>
                  </a:txBody>
                  <a:tcPr marL="43200" marR="43200" marT="14400" marB="14400" anchor="ctr">
                    <a:solidFill>
                      <a:srgbClr val="F2F2F2"/>
                    </a:solidFill>
                  </a:tcPr>
                </a:tc>
              </a:tr>
              <a:tr h="446244">
                <a:tc>
                  <a:txBody>
                    <a:bodyPr/>
                    <a:lstStyle/>
                    <a:p>
                      <a:pPr marL="0" indent="0" lvl="0">
                        <a:buNone/>
                      </a:pPr>
                      <a:r>
                        <a:rPr sz="850" b="1">
                          <a:solidFill>
                            <a:srgbClr val="060606"/>
                          </a:solidFill>
                          <a:latin typeface="Helvetica"/>
                        </a:rPr>
                        <a:t>Placements autorisés par le Conseil d'administration. Méthodes comptables immuables sauf approbation de l'Assemblée générale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Statuts, art. 75 et 85</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Aucune délibération transmise. Provisions reclassées en 2024</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Délibérations et procès-verbaux demandés (PBC, items 105 et 106).</a:t>
                      </a:r>
                    </a:p>
                  </a:txBody>
                  <a:tcPr marL="43200" marR="43200" marT="14400" marB="14400" anchor="ctr">
                    <a:solidFill>
                      <a:srgbClr val="FFFFFF"/>
                    </a:solidFill>
                  </a:tcPr>
                </a:tc>
              </a:tr>
            </a:tbl>
          </a:graphicData>
        </a:graphic>
      </p:graphicFrame>
      <p:sp>
        <p:nvSpPr>
          <p:cNvPr id="33" name="TextBox 32"/>
          <p:cNvSpPr txBox="1"/>
          <p:nvPr/>
        </p:nvSpPr>
        <p:spPr>
          <a:xfrm>
            <a:off x="503999" y="3833274"/>
            <a:ext cx="11232000" cy="162000"/>
          </a:xfrm>
          <a:prstGeom prst="rect">
            <a:avLst/>
          </a:prstGeom>
          <a:noFill/>
        </p:spPr>
        <p:txBody>
          <a:bodyPr wrap="square" anchor="t" lIns="54000" rIns="54000"/>
          <a:lstStyle/>
          <a:p>
            <a:pPr algn="l"/>
            <a:r>
              <a:rPr sz="850" b="0">
                <a:solidFill>
                  <a:srgbClr val="53565A"/>
                </a:solidFill>
                <a:latin typeface="Helvetica"/>
              </a:rPr>
              <a:t>Valable pour : textes du FPPN (statuts et règlement intérieur du 15/06/2023) et circuits décrits en entretien, sans test de leur application.</a:t>
            </a:r>
          </a:p>
        </p:txBody>
      </p:sp>
      <p:sp>
        <p:nvSpPr>
          <p:cNvPr id="34" name="TextBox 33"/>
          <p:cNvSpPr txBox="1"/>
          <p:nvPr/>
        </p:nvSpPr>
        <p:spPr>
          <a:xfrm>
            <a:off x="503999" y="4121274"/>
            <a:ext cx="11232000" cy="1746725"/>
          </a:xfrm>
          <a:prstGeom prst="rect">
            <a:avLst/>
          </a:prstGeom>
          <a:noFill/>
        </p:spPr>
        <p:txBody>
          <a:bodyPr wrap="square" lIns="54000" rIns="54000"/>
          <a:lstStyle/>
          <a:p>
            <a:pPr algn="just">
              <a:spcAft>
                <a:spcPts val="600"/>
              </a:spcAft>
            </a:pPr>
            <a:r>
              <a:rPr sz="1300" b="1">
                <a:solidFill>
                  <a:srgbClr val="060606"/>
                </a:solidFill>
                <a:latin typeface="Helvetica"/>
              </a:rPr>
              <a:t>Le périmètre des engagements dépend de documents que les statuts citent mais que le FPPN n'a pas transmis.</a:t>
            </a:r>
            <a:r>
              <a:rPr sz="1300" b="0">
                <a:solidFill>
                  <a:srgbClr val="060606"/>
                </a:solidFill>
                <a:latin typeface="Helvetica"/>
              </a:rPr>
              <a:t> Le cahier des charges fixe les prestations de l'EFC et du PEP. Le fichier du personnel doit distinguer civils et policiers.</a:t>
            </a:r>
          </a:p>
          <a:p>
            <a:pPr algn="just">
              <a:spcAft>
                <a:spcPts val="600"/>
              </a:spcAft>
            </a:pPr>
            <a:r>
              <a:rPr sz="1300" b="0">
                <a:solidFill>
                  <a:srgbClr val="060606"/>
                </a:solidFill>
                <a:latin typeface="Helvetica"/>
              </a:rPr>
              <a:t>Ces dix nouvelles demandes forment la PBC complémentaire « textes et personnel » (items 100 à 109), jointe à la PBC générale.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PBC : liste des documents demandés au client</a:t>
            </a:r>
          </a:p>
        </p:txBody>
      </p:sp>
    </p:spTree>
    <p:extLst>
      <p:ext uri="{BB962C8B-B14F-4D97-AF65-F5344CB8AC3E}">
        <p14:creationId xmlns:p14="http://schemas.microsoft.com/office/powerpoint/2010/main" val="1928710062"/>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Garanties et produits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Huit postes de précompte portent l'ensemble des produits du FPPN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Maladie et décès sont les garanties de base. Épargne, prêts, flotte et MEDOC sont des produits complémentaires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1" name="TextBox 30"/>
          <p:cNvSpPr txBox="1"/>
          <p:nvPr/>
        </p:nvSpPr>
        <p:spPr>
          <a:xfrm>
            <a:off x="503999" y="1386000"/>
            <a:ext cx="7056000" cy="216000"/>
          </a:xfrm>
          <a:prstGeom prst="rect">
            <a:avLst/>
          </a:prstGeom>
          <a:noFill/>
        </p:spPr>
        <p:txBody>
          <a:bodyPr wrap="square" anchor="t" lIns="54000" rIns="54000"/>
          <a:lstStyle/>
          <a:p>
            <a:pPr algn="ctr"/>
            <a:r>
              <a:rPr sz="1200" b="0">
                <a:solidFill>
                  <a:srgbClr val="EFAC62"/>
                </a:solidFill>
                <a:latin typeface="Helvetica"/>
              </a:rPr>
              <a:t>Tableau 8 : Produits du FPPN et montants observés</a:t>
            </a:r>
          </a:p>
        </p:txBody>
      </p:sp>
      <p:graphicFrame>
        <p:nvGraphicFramePr>
          <p:cNvPr id="32" name="Table 31"/>
          <p:cNvGraphicFramePr>
            <a:graphicFrameLocks noGrp="1"/>
          </p:cNvGraphicFramePr>
          <p:nvPr/>
        </p:nvGraphicFramePr>
        <p:xfrm>
          <a:off x="503999" y="1655999"/>
          <a:ext cx="7056000" cy="3536106"/>
        </p:xfrm>
        <a:graphic>
          <a:graphicData uri="http://schemas.openxmlformats.org/drawingml/2006/table">
            <a:tbl>
              <a:tblPr firstRow="0" bandRow="0">
                <a:tableStyleId>{5940675A-B579-460E-94D1-54222C63F5DA}</a:tableStyleId>
              </a:tblPr>
              <a:tblGrid>
                <a:gridCol w="752400"/>
                <a:gridCol w="1850400"/>
                <a:gridCol w="2671200"/>
                <a:gridCol w="1782000"/>
              </a:tblGrid>
              <a:tr h="225250">
                <a:tc>
                  <a:txBody>
                    <a:bodyPr/>
                    <a:lstStyle/>
                    <a:p>
                      <a:pPr marL="0" indent="0" lvl="0">
                        <a:buNone/>
                      </a:pPr>
                      <a:r>
                        <a:rPr sz="1100" b="1">
                          <a:solidFill>
                            <a:srgbClr val="FFFFFF"/>
                          </a:solidFill>
                          <a:latin typeface="Helvetica"/>
                        </a:rPr>
                        <a:t>Poste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Nature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Montant moyen observé</a:t>
                      </a:r>
                    </a:p>
                  </a:txBody>
                  <a:tcPr marL="43200" marR="43200" marT="14400" marB="14400" anchor="ctr">
                    <a:solidFill>
                      <a:srgbClr val="060606"/>
                    </a:solidFill>
                  </a:tcPr>
                </a:tc>
              </a:tr>
              <a:tr h="560551">
                <a:tc>
                  <a:txBody>
                    <a:bodyPr/>
                    <a:lstStyle/>
                    <a:p>
                      <a:pPr marL="0" indent="0" lvl="0">
                        <a:buNone/>
                      </a:pPr>
                      <a:r>
                        <a:rPr sz="1100" b="1">
                          <a:solidFill>
                            <a:srgbClr val="060606"/>
                          </a:solidFill>
                          <a:latin typeface="Helvetica"/>
                        </a:rPr>
                        <a:t>936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Maladie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Garantie santé des actifs, 3,5 % de la solde de base (statuts, art. 17), 3,77 % retenu par la Solde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7 195 FCFA par mois (août 2026)</a:t>
                      </a:r>
                    </a:p>
                  </a:txBody>
                  <a:tcPr marL="43200" marR="43200" marT="14400" marB="14400" anchor="ctr">
                    <a:solidFill>
                      <a:srgbClr val="FFFFFF"/>
                    </a:solidFill>
                  </a:tcPr>
                </a:tc>
              </a:tr>
              <a:tr h="560551">
                <a:tc>
                  <a:txBody>
                    <a:bodyPr/>
                    <a:lstStyle/>
                    <a:p>
                      <a:pPr marL="0" indent="0" lvl="0">
                        <a:buNone/>
                      </a:pPr>
                      <a:r>
                        <a:rPr sz="1100" b="1">
                          <a:solidFill>
                            <a:srgbClr val="060606"/>
                          </a:solidFill>
                          <a:latin typeface="Helvetica"/>
                        </a:rPr>
                        <a:t>8Z6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Décès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Capital décès, frais funéraires, allocations, 1,5 % (statuts), 1,23 % retenu par la Solde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voir partie 4</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870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EFC</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Épargne versée en fin de carrière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8 132 FCFA par mois (2025)</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998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PEP</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Épargne volontaire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voir partie 6</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9X4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Grenier du Policier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Remboursement de prêts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voir partie 7</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9W3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Flotte automobile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Assurance des véhicules, assureur GNA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environ 10 000 FCFA</a:t>
                      </a:r>
                    </a:p>
                  </a:txBody>
                  <a:tcPr marL="43200" marR="43200" marT="14400" marB="14400" anchor="ctr">
                    <a:solidFill>
                      <a:srgbClr val="F2F2F2"/>
                    </a:solidFill>
                  </a:tcPr>
                </a:tc>
              </a:tr>
              <a:tr h="560551">
                <a:tc>
                  <a:txBody>
                    <a:bodyPr/>
                    <a:lstStyle/>
                    <a:p>
                      <a:pPr marL="0" indent="0" lvl="0">
                        <a:buNone/>
                      </a:pPr>
                      <a:r>
                        <a:rPr sz="1100" b="1">
                          <a:solidFill>
                            <a:srgbClr val="060606"/>
                          </a:solidFill>
                          <a:latin typeface="Helvetica"/>
                        </a:rPr>
                        <a:t>8Z7</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MEDOC</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Complément pharmacie, le policier paie 20 % (déclaration du 19/10/2026)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5 000 FCFA</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CGRAE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Retraités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Garantie santé, précompte sur pension</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11 940 FCFA</a:t>
                      </a:r>
                    </a:p>
                  </a:txBody>
                  <a:tcPr marL="43200" marR="43200" marT="14400" marB="14400" anchor="ctr">
                    <a:solidFill>
                      <a:srgbClr val="F2F2F2"/>
                    </a:solidFill>
                  </a:tcPr>
                </a:tc>
              </a:tr>
            </a:tbl>
          </a:graphicData>
        </a:graphic>
      </p:graphicFrame>
      <p:sp>
        <p:nvSpPr>
          <p:cNvPr id="33" name="TextBox 32"/>
          <p:cNvSpPr txBox="1"/>
          <p:nvPr/>
        </p:nvSpPr>
        <p:spPr>
          <a:xfrm>
            <a:off x="503999" y="5210110"/>
            <a:ext cx="7056000" cy="162000"/>
          </a:xfrm>
          <a:prstGeom prst="rect">
            <a:avLst/>
          </a:prstGeom>
          <a:noFill/>
        </p:spPr>
        <p:txBody>
          <a:bodyPr wrap="square" anchor="t" lIns="54000" rIns="54000"/>
          <a:lstStyle/>
          <a:p>
            <a:pPr algn="l"/>
            <a:r>
              <a:rPr sz="850" b="0">
                <a:solidFill>
                  <a:srgbClr val="53565A"/>
                </a:solidFill>
                <a:latin typeface="Helvetica"/>
              </a:rPr>
              <a:t>Valable pour : textes du FPPN (statuts et règlement intérieur du 15/06/2023) et circuits décrits en entretien, sans test de leur application.</a:t>
            </a:r>
          </a:p>
        </p:txBody>
      </p:sp>
      <p:sp>
        <p:nvSpPr>
          <p:cNvPr id="34" name="TextBox 33"/>
          <p:cNvSpPr txBox="1"/>
          <p:nvPr/>
        </p:nvSpPr>
        <p:spPr>
          <a:xfrm>
            <a:off x="7776000" y="1386000"/>
            <a:ext cx="3960000" cy="4482000"/>
          </a:xfrm>
          <a:prstGeom prst="rect">
            <a:avLst/>
          </a:prstGeom>
          <a:noFill/>
        </p:spPr>
        <p:txBody>
          <a:bodyPr wrap="square" lIns="54000" rIns="54000"/>
          <a:lstStyle/>
          <a:p>
            <a:pPr algn="just">
              <a:spcAft>
                <a:spcPts val="600"/>
              </a:spcAft>
            </a:pPr>
            <a:r>
              <a:rPr sz="1400" b="1">
                <a:solidFill>
                  <a:srgbClr val="060606"/>
                </a:solidFill>
                <a:latin typeface="Helvetica"/>
              </a:rPr>
              <a:t>Le FPPN couvre à la fois des risques courts et des risques longs.</a:t>
            </a:r>
            <a:r>
              <a:rPr sz="1400" b="0">
                <a:solidFill>
                  <a:srgbClr val="060606"/>
                </a:solidFill>
                <a:latin typeface="Helvetica"/>
              </a:rPr>
              <a:t> La maladie se règle dans l'année. L'EFC et le PEP sont versés des années après les cotisations.</a:t>
            </a:r>
          </a:p>
          <a:p>
            <a:pPr algn="just">
              <a:spcAft>
                <a:spcPts val="600"/>
              </a:spcAft>
            </a:pPr>
            <a:r>
              <a:rPr sz="1400" b="1">
                <a:solidFill>
                  <a:srgbClr val="060606"/>
                </a:solidFill>
                <a:latin typeface="Helvetica"/>
              </a:rPr>
              <a:t>Plusieurs produits n'ont pas de document qui fixe leurs règles.</a:t>
            </a:r>
            <a:r>
              <a:rPr sz="1400" b="0">
                <a:solidFill>
                  <a:srgbClr val="060606"/>
                </a:solidFill>
                <a:latin typeface="Helvetica"/>
              </a:rPr>
              <a:t> Le barème, le règlement de l'EFC et du PEP, et la documentation de MEDOC n'ont pas été transmis.</a:t>
            </a:r>
          </a:p>
          <a:p>
            <a:pPr algn="just">
              <a:spcAft>
                <a:spcPts val="600"/>
              </a:spcAft>
            </a:pPr>
            <a:r>
              <a:rPr sz="1400" b="0">
                <a:solidFill>
                  <a:srgbClr val="060606"/>
                </a:solidFill>
                <a:latin typeface="Helvetica"/>
              </a:rPr>
              <a:t>Les risques longs (EFC, PEP) relèvent de règles prudentielles plus strictes : étude actuarielle tous les cinq ans, certification des comptes, réserve de trésorerie (partie 10).</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GNA : assureur de la flotte automobile (compte 47111106) | MEDOC : produit santé complémentaire du poste 8Z7 | 936 : poste maladie | 8Z6 : poste décès | 870 : poste EFC | 998 : poste PEP | 9X4 : poste Grenier | 9W3 : poste flotte automobile | 8Z7 : poste MEDOC</a:t>
            </a:r>
          </a:p>
        </p:txBody>
      </p:sp>
    </p:spTree>
    <p:extLst>
      <p:ext uri="{BB962C8B-B14F-4D97-AF65-F5344CB8AC3E}">
        <p14:creationId xmlns:p14="http://schemas.microsoft.com/office/powerpoint/2010/main" val="1265838220"/>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Circuit des précomptes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maladie et le décès suivent un circuit direct que le FPPN ne maîtrise pas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produits complémentaires, les retraités et la flotte passent par une plateforme de partage, la maladie et le décès non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(déclarations à confirmer par document). Fichiers aller et retour reçus le 15/10/2026</a:t>
            </a:r>
          </a:p>
        </p:txBody>
      </p:sp>
      <p:sp>
        <p:nvSpPr>
          <p:cNvPr id="31" name="Rectangle 30"/>
          <p:cNvSpPr/>
          <p:nvPr/>
        </p:nvSpPr>
        <p:spPr>
          <a:xfrm>
            <a:off x="503999" y="1404000"/>
            <a:ext cx="11232000" cy="846000"/>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3999" y="1404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Direction du personnel de la Police</a:t>
            </a:r>
          </a:p>
        </p:txBody>
      </p:sp>
      <p:sp>
        <p:nvSpPr>
          <p:cNvPr id="33" name="Rectangle 32"/>
          <p:cNvSpPr/>
          <p:nvPr/>
        </p:nvSpPr>
        <p:spPr>
          <a:xfrm>
            <a:off x="503999" y="2250000"/>
            <a:ext cx="11232000" cy="8460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3999" y="2250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Solde, CGRAE, GNA</a:t>
            </a:r>
          </a:p>
        </p:txBody>
      </p:sp>
      <p:sp>
        <p:nvSpPr>
          <p:cNvPr id="35" name="Rectangle 34"/>
          <p:cNvSpPr/>
          <p:nvPr/>
        </p:nvSpPr>
        <p:spPr>
          <a:xfrm>
            <a:off x="503999" y="3096000"/>
            <a:ext cx="11232000" cy="846000"/>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3999" y="3096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Plateforme de partage</a:t>
            </a:r>
          </a:p>
        </p:txBody>
      </p:sp>
      <p:sp>
        <p:nvSpPr>
          <p:cNvPr id="37" name="Rectangle 36"/>
          <p:cNvSpPr/>
          <p:nvPr/>
        </p:nvSpPr>
        <p:spPr>
          <a:xfrm>
            <a:off x="503999" y="3942000"/>
            <a:ext cx="11232000" cy="8460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3999" y="3942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FPPN : responsable des cotisations</a:t>
            </a:r>
          </a:p>
        </p:txBody>
      </p:sp>
      <p:sp>
        <p:nvSpPr>
          <p:cNvPr id="39" name="Logigramme a1"/>
          <p:cNvSpPr/>
          <p:nvPr/>
        </p:nvSpPr>
        <p:spPr>
          <a:xfrm>
            <a:off x="2015999" y="1520999"/>
            <a:ext cx="1224000" cy="61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Fichier aller</a:t>
            </a:r>
          </a:p>
          <a:p>
            <a:pPr algn="ctr"/>
            <a:r>
              <a:rPr sz="850" b="0">
                <a:solidFill>
                  <a:srgbClr val="060606"/>
                </a:solidFill>
                <a:latin typeface="Helvetica"/>
              </a:rPr>
              <a:t>936 et 8Z6</a:t>
            </a:r>
          </a:p>
        </p:txBody>
      </p:sp>
      <p:sp>
        <p:nvSpPr>
          <p:cNvPr id="40" name="Logigramme a2"/>
          <p:cNvSpPr/>
          <p:nvPr/>
        </p:nvSpPr>
        <p:spPr>
          <a:xfrm>
            <a:off x="2015999" y="2367000"/>
            <a:ext cx="1224000" cy="61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Précompte</a:t>
            </a:r>
          </a:p>
          <a:p>
            <a:pPr algn="ctr"/>
            <a:r>
              <a:rPr sz="850" b="0">
                <a:solidFill>
                  <a:srgbClr val="060606"/>
                </a:solidFill>
                <a:latin typeface="Helvetica"/>
              </a:rPr>
              <a:t>sur salaire (Solde)</a:t>
            </a:r>
          </a:p>
        </p:txBody>
      </p:sp>
      <p:sp>
        <p:nvSpPr>
          <p:cNvPr id="41" name="Logigramme a3"/>
          <p:cNvSpPr/>
          <p:nvPr/>
        </p:nvSpPr>
        <p:spPr>
          <a:xfrm>
            <a:off x="3401999" y="4059000"/>
            <a:ext cx="1224000" cy="61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Fichier retour reçu</a:t>
            </a:r>
          </a:p>
          <a:p>
            <a:pPr algn="ctr"/>
            <a:r>
              <a:rPr sz="850" b="0">
                <a:solidFill>
                  <a:srgbClr val="060606"/>
                </a:solidFill>
                <a:latin typeface="Helvetica"/>
              </a:rPr>
              <a:t>en direct, canal à préciser</a:t>
            </a:r>
          </a:p>
        </p:txBody>
      </p:sp>
      <p:sp>
        <p:nvSpPr>
          <p:cNvPr id="42" name="Logigramme a4"/>
          <p:cNvSpPr/>
          <p:nvPr/>
        </p:nvSpPr>
        <p:spPr>
          <a:xfrm>
            <a:off x="4788000" y="4023000"/>
            <a:ext cx="1224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Fichier aller</a:t>
            </a:r>
          </a:p>
          <a:p>
            <a:pPr algn="ctr"/>
            <a:r>
              <a:rPr sz="800" b="0">
                <a:solidFill>
                  <a:srgbClr val="060606"/>
                </a:solidFill>
                <a:latin typeface="Helvetica"/>
              </a:rPr>
              <a:t>au FPPN ?</a:t>
            </a:r>
          </a:p>
        </p:txBody>
      </p:sp>
      <p:sp>
        <p:nvSpPr>
          <p:cNvPr id="43" name="Logigramme a5"/>
          <p:cNvSpPr/>
          <p:nvPr/>
        </p:nvSpPr>
        <p:spPr>
          <a:xfrm>
            <a:off x="6173999" y="4051800"/>
            <a:ext cx="1224000" cy="612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C00000"/>
                </a:solidFill>
                <a:latin typeface="Helvetica"/>
              </a:rPr>
              <a:t>Rapprochement</a:t>
            </a:r>
          </a:p>
          <a:p>
            <a:pPr algn="ctr"/>
            <a:r>
              <a:rPr sz="850" b="1">
                <a:solidFill>
                  <a:srgbClr val="C00000"/>
                </a:solidFill>
                <a:latin typeface="Helvetica"/>
              </a:rPr>
              <a:t>impossible</a:t>
            </a:r>
          </a:p>
        </p:txBody>
      </p:sp>
      <p:cxnSp>
        <p:nvCxnSpPr>
          <p:cNvPr id="44" name="Flèche a1 vers a2"/>
          <p:cNvCxnSpPr>
            <a:stCxn id="39" idx="2"/>
            <a:endCxn id="40" idx="0"/>
          </p:cNvCxnSpPr>
          <p:nvPr/>
        </p:nvCxnSpPr>
        <p:spPr>
          <a:xfrm flipH="1">
            <a:off x="2627999" y="2132999"/>
            <a:ext cx="0" cy="234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2681999" y="2150999"/>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transmission directe</a:t>
            </a:r>
          </a:p>
        </p:txBody>
      </p:sp>
      <p:cxnSp>
        <p:nvCxnSpPr>
          <p:cNvPr id="46" name="Flèche a2 vers a3"/>
          <p:cNvCxnSpPr>
            <a:stCxn id="40" idx="3"/>
            <a:endCxn id="41" idx="0"/>
          </p:cNvCxnSpPr>
          <p:nvPr/>
        </p:nvCxnSpPr>
        <p:spPr>
          <a:xfrm>
            <a:off x="3239999" y="2673000"/>
            <a:ext cx="774000" cy="1386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3283198" y="24930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sans partage</a:t>
            </a:r>
          </a:p>
        </p:txBody>
      </p:sp>
      <p:cxnSp>
        <p:nvCxnSpPr>
          <p:cNvPr id="48" name="Flèche a3 vers a4"/>
          <p:cNvCxnSpPr>
            <a:stCxn id="41" idx="3"/>
            <a:endCxn id="42" idx="1"/>
          </p:cNvCxnSpPr>
          <p:nvPr/>
        </p:nvCxnSpPr>
        <p:spPr>
          <a:xfrm flipV="1">
            <a:off x="4625999" y="4365000"/>
            <a:ext cx="162001"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Flèche a4 vers a5"/>
          <p:cNvCxnSpPr>
            <a:stCxn id="42" idx="3"/>
            <a:endCxn id="43" idx="1"/>
          </p:cNvCxnSpPr>
          <p:nvPr/>
        </p:nvCxnSpPr>
        <p:spPr>
          <a:xfrm flipV="1">
            <a:off x="6012000" y="4357800"/>
            <a:ext cx="161999" cy="7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957922" y="41850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a:t>
            </a:r>
          </a:p>
        </p:txBody>
      </p:sp>
      <p:sp>
        <p:nvSpPr>
          <p:cNvPr id="51" name="Logigramme b1"/>
          <p:cNvSpPr/>
          <p:nvPr/>
        </p:nvSpPr>
        <p:spPr>
          <a:xfrm>
            <a:off x="7560000" y="4059000"/>
            <a:ext cx="1224000" cy="612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Souscriptions</a:t>
            </a:r>
          </a:p>
          <a:p>
            <a:pPr algn="ctr"/>
            <a:r>
              <a:rPr sz="850" b="1">
                <a:solidFill>
                  <a:srgbClr val="FFFFFF"/>
                </a:solidFill>
                <a:latin typeface="Helvetica"/>
              </a:rPr>
              <a:t>EFC, PEP, prêts, GNA, MEDOC</a:t>
            </a:r>
          </a:p>
        </p:txBody>
      </p:sp>
      <p:sp>
        <p:nvSpPr>
          <p:cNvPr id="52" name="Logigramme b2"/>
          <p:cNvSpPr/>
          <p:nvPr/>
        </p:nvSpPr>
        <p:spPr>
          <a:xfrm>
            <a:off x="8946000" y="4059000"/>
            <a:ext cx="1224000" cy="61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Fichier aller mensuel</a:t>
            </a:r>
          </a:p>
          <a:p>
            <a:pPr algn="ctr"/>
            <a:r>
              <a:rPr sz="850" b="0">
                <a:solidFill>
                  <a:srgbClr val="060606"/>
                </a:solidFill>
                <a:latin typeface="Helvetica"/>
              </a:rPr>
              <a:t>mécano, code, montant</a:t>
            </a:r>
          </a:p>
        </p:txBody>
      </p:sp>
      <p:sp>
        <p:nvSpPr>
          <p:cNvPr id="53" name="Logigramme b3"/>
          <p:cNvSpPr/>
          <p:nvPr/>
        </p:nvSpPr>
        <p:spPr>
          <a:xfrm>
            <a:off x="8946000" y="3212999"/>
            <a:ext cx="1224000" cy="61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Dépôt du</a:t>
            </a:r>
          </a:p>
          <a:p>
            <a:pPr algn="ctr"/>
            <a:r>
              <a:rPr sz="850" b="0">
                <a:solidFill>
                  <a:srgbClr val="060606"/>
                </a:solidFill>
                <a:latin typeface="Helvetica"/>
              </a:rPr>
              <a:t>fichier aller</a:t>
            </a:r>
          </a:p>
        </p:txBody>
      </p:sp>
      <p:sp>
        <p:nvSpPr>
          <p:cNvPr id="54" name="Logigramme b4"/>
          <p:cNvSpPr/>
          <p:nvPr/>
        </p:nvSpPr>
        <p:spPr>
          <a:xfrm>
            <a:off x="8946000" y="2367000"/>
            <a:ext cx="1224000" cy="61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Précompte</a:t>
            </a:r>
          </a:p>
          <a:p>
            <a:pPr algn="ctr"/>
            <a:r>
              <a:rPr sz="850" b="0">
                <a:solidFill>
                  <a:srgbClr val="060606"/>
                </a:solidFill>
                <a:latin typeface="Helvetica"/>
              </a:rPr>
              <a:t>sur salaire ou pension</a:t>
            </a:r>
          </a:p>
        </p:txBody>
      </p:sp>
      <p:sp>
        <p:nvSpPr>
          <p:cNvPr id="55" name="Logigramme b5"/>
          <p:cNvSpPr/>
          <p:nvPr/>
        </p:nvSpPr>
        <p:spPr>
          <a:xfrm>
            <a:off x="10332000" y="3212999"/>
            <a:ext cx="1224000" cy="61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Fichier retour</a:t>
            </a:r>
          </a:p>
          <a:p>
            <a:pPr algn="ctr"/>
            <a:r>
              <a:rPr sz="850" b="0">
                <a:solidFill>
                  <a:srgbClr val="060606"/>
                </a:solidFill>
                <a:latin typeface="Helvetica"/>
              </a:rPr>
              <a:t>et état des rejets récent</a:t>
            </a:r>
          </a:p>
        </p:txBody>
      </p:sp>
      <p:sp>
        <p:nvSpPr>
          <p:cNvPr id="56" name="Logigramme b6"/>
          <p:cNvSpPr/>
          <p:nvPr/>
        </p:nvSpPr>
        <p:spPr>
          <a:xfrm>
            <a:off x="10332000" y="4059000"/>
            <a:ext cx="1224000" cy="612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C00000"/>
                </a:solidFill>
                <a:latin typeface="Helvetica"/>
              </a:rPr>
              <a:t>Retour conservé,</a:t>
            </a:r>
          </a:p>
          <a:p>
            <a:pPr algn="ctr"/>
            <a:r>
              <a:rPr sz="850" b="1">
                <a:solidFill>
                  <a:srgbClr val="C00000"/>
                </a:solidFill>
                <a:latin typeface="Helvetica"/>
              </a:rPr>
              <a:t>sans rapprochement</a:t>
            </a:r>
          </a:p>
        </p:txBody>
      </p:sp>
      <p:cxnSp>
        <p:nvCxnSpPr>
          <p:cNvPr id="57" name="Flèche b1 vers b2"/>
          <p:cNvCxnSpPr>
            <a:stCxn id="51" idx="3"/>
            <a:endCxn id="52" idx="1"/>
          </p:cNvCxnSpPr>
          <p:nvPr/>
        </p:nvCxnSpPr>
        <p:spPr>
          <a:xfrm flipV="1">
            <a:off x="8784000" y="4365000"/>
            <a:ext cx="16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Flèche b2 vers b3"/>
          <p:cNvCxnSpPr>
            <a:stCxn id="52" idx="0"/>
            <a:endCxn id="53" idx="2"/>
          </p:cNvCxnSpPr>
          <p:nvPr/>
        </p:nvCxnSpPr>
        <p:spPr>
          <a:xfrm flipH="1" flipV="1">
            <a:off x="9558000" y="3824999"/>
            <a:ext cx="0" cy="234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Flèche b3 vers b4"/>
          <p:cNvCxnSpPr>
            <a:stCxn id="53" idx="0"/>
            <a:endCxn id="54" idx="2"/>
          </p:cNvCxnSpPr>
          <p:nvPr/>
        </p:nvCxnSpPr>
        <p:spPr>
          <a:xfrm flipH="1" flipV="1">
            <a:off x="9558000" y="2979000"/>
            <a:ext cx="0" cy="233999"/>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0" name="Flèche b4 vers b5"/>
          <p:cNvCxnSpPr>
            <a:stCxn id="54" idx="3"/>
            <a:endCxn id="55" idx="0"/>
          </p:cNvCxnSpPr>
          <p:nvPr/>
        </p:nvCxnSpPr>
        <p:spPr>
          <a:xfrm>
            <a:off x="10170000" y="2673000"/>
            <a:ext cx="774000" cy="539999"/>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1" name="Flèche b5 vers b6"/>
          <p:cNvCxnSpPr>
            <a:stCxn id="55" idx="2"/>
            <a:endCxn id="56" idx="0"/>
          </p:cNvCxnSpPr>
          <p:nvPr/>
        </p:nvCxnSpPr>
        <p:spPr>
          <a:xfrm flipH="1">
            <a:off x="10944000" y="3824999"/>
            <a:ext cx="0" cy="234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2015999" y="1367616"/>
            <a:ext cx="2736000" cy="162000"/>
          </a:xfrm>
          <a:prstGeom prst="rect">
            <a:avLst/>
          </a:prstGeom>
          <a:noFill/>
        </p:spPr>
        <p:txBody>
          <a:bodyPr wrap="square" anchor="ctr" lIns="28800" rIns="28800" tIns="10800" bIns="10800">
            <a:spAutoFit/>
          </a:bodyPr>
          <a:lstStyle/>
          <a:p>
            <a:pPr algn="l"/>
            <a:r>
              <a:rPr sz="800" b="0">
                <a:solidFill>
                  <a:srgbClr val="C00000"/>
                </a:solidFill>
                <a:latin typeface="Helvetica"/>
              </a:rPr>
              <a:t>Produits obligatoires</a:t>
            </a:r>
          </a:p>
        </p:txBody>
      </p:sp>
      <p:sp>
        <p:nvSpPr>
          <p:cNvPr id="63" name="TextBox 62"/>
          <p:cNvSpPr txBox="1"/>
          <p:nvPr/>
        </p:nvSpPr>
        <p:spPr>
          <a:xfrm>
            <a:off x="7560000" y="1396800"/>
            <a:ext cx="4104000" cy="162000"/>
          </a:xfrm>
          <a:prstGeom prst="rect">
            <a:avLst/>
          </a:prstGeom>
          <a:noFill/>
        </p:spPr>
        <p:txBody>
          <a:bodyPr wrap="square" anchor="ctr" lIns="28800" rIns="28800" tIns="10800" bIns="10800">
            <a:spAutoFit/>
          </a:bodyPr>
          <a:lstStyle/>
          <a:p>
            <a:pPr algn="l"/>
            <a:r>
              <a:rPr sz="800" b="0">
                <a:solidFill>
                  <a:srgbClr val="C00000"/>
                </a:solidFill>
                <a:latin typeface="Helvetica"/>
              </a:rPr>
              <a:t>Produits complémentaires, retraités et flotte automobile</a:t>
            </a:r>
          </a:p>
        </p:txBody>
      </p:sp>
      <p:sp>
        <p:nvSpPr>
          <p:cNvPr id="64" name="TextBox 63"/>
          <p:cNvSpPr txBox="1"/>
          <p:nvPr/>
        </p:nvSpPr>
        <p:spPr>
          <a:xfrm>
            <a:off x="503999" y="4878000"/>
            <a:ext cx="11232000" cy="990000"/>
          </a:xfrm>
          <a:prstGeom prst="rect">
            <a:avLst/>
          </a:prstGeom>
          <a:noFill/>
        </p:spPr>
        <p:txBody>
          <a:bodyPr wrap="square" lIns="54000" rIns="54000"/>
          <a:lstStyle/>
          <a:p>
            <a:pPr algn="just">
              <a:spcAft>
                <a:spcPts val="600"/>
              </a:spcAft>
            </a:pPr>
            <a:r>
              <a:rPr sz="1050" b="1">
                <a:solidFill>
                  <a:srgbClr val="060606"/>
                </a:solidFill>
                <a:latin typeface="Helvetica"/>
              </a:rPr>
              <a:t>Deux circuits coexistent.</a:t>
            </a:r>
            <a:r>
              <a:rPr sz="1050" b="0">
                <a:solidFill>
                  <a:srgbClr val="060606"/>
                </a:solidFill>
                <a:latin typeface="Helvetica"/>
              </a:rPr>
              <a:t> Pour la maladie et le décès, la direction du personnel de la Police transmet directement le fichier aller à la Solde, sans plateforme de partage, et le FPPN ne reçoit que le retour. Pour les autres produits, le responsable des cotisations dépose le fichier aller sur la plateforme et l'entité concernée dépose le retour (déclaration du responsable des cotisations, entretien du 19/10/2026, à confirmer par document).</a:t>
            </a:r>
          </a:p>
          <a:p>
            <a:pPr algn="just">
              <a:spcAft>
                <a:spcPts val="600"/>
              </a:spcAft>
            </a:pPr>
            <a:r>
              <a:rPr sz="1050" b="0">
                <a:solidFill>
                  <a:srgbClr val="060606"/>
                </a:solidFill>
                <a:latin typeface="Helvetica"/>
              </a:rPr>
              <a:t>Pour la maladie et le décès, le FPPN ne dispose pas de ce qui aurait dû être précompté : le taux de recouvrement exigé par la Décision n° 05/2022 (au moins 90 %) ne peut pas être calculé sans les fichiers de la direction du personnel. Pour les autres produits, le FPPN détient les deux fichiers mais ne les rapproche pas.</a:t>
            </a:r>
          </a:p>
        </p:txBody>
      </p:sp>
      <p:sp>
        <p:nvSpPr>
          <p:cNvPr id="65" name="TextBox 6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GNA : assureur de la flotte automobile (compte 47111106) | MEDOC : produit santé complémentaire du poste 8Z7 | 936 : poste maladie | 8Z6 : poste décès</a:t>
            </a:r>
          </a:p>
        </p:txBody>
      </p:sp>
    </p:spTree>
    <p:extLst>
      <p:ext uri="{BB962C8B-B14F-4D97-AF65-F5344CB8AC3E}">
        <p14:creationId xmlns:p14="http://schemas.microsoft.com/office/powerpoint/2010/main" val="2298817833"/>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Circuit des fichiers par produit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ne produit pas les fichiers aller de la maladie et du décès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Quatre circuits, dont trois passent par la plateforme de partage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(déclarations à confirmer par document)</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9 : Circuit des fichiers de précomptes par produit</a:t>
            </a:r>
          </a:p>
        </p:txBody>
      </p:sp>
      <p:graphicFrame>
        <p:nvGraphicFramePr>
          <p:cNvPr id="32" name="Table 31"/>
          <p:cNvGraphicFramePr>
            <a:graphicFrameLocks noGrp="1"/>
          </p:cNvGraphicFramePr>
          <p:nvPr/>
        </p:nvGraphicFramePr>
        <p:xfrm>
          <a:off x="503999" y="1655999"/>
          <a:ext cx="11232000" cy="1964505"/>
        </p:xfrm>
        <a:graphic>
          <a:graphicData uri="http://schemas.openxmlformats.org/drawingml/2006/table">
            <a:tbl>
              <a:tblPr firstRow="0" bandRow="0">
                <a:tableStyleId>{5940675A-B579-460E-94D1-54222C63F5DA}</a:tableStyleId>
              </a:tblPr>
              <a:tblGrid>
                <a:gridCol w="2520000"/>
                <a:gridCol w="3096000"/>
                <a:gridCol w="1224000"/>
                <a:gridCol w="2880000"/>
                <a:gridCol w="1512000"/>
              </a:tblGrid>
              <a:tr h="392901">
                <a:tc>
                  <a:txBody>
                    <a:bodyPr/>
                    <a:lstStyle/>
                    <a:p>
                      <a:pPr marL="0" indent="0" lvl="0">
                        <a:buNone/>
                      </a:pPr>
                      <a:r>
                        <a:rPr sz="1100" b="1">
                          <a:solidFill>
                            <a:srgbClr val="FFFFFF"/>
                          </a:solidFill>
                          <a:latin typeface="Helvetica"/>
                        </a:rPr>
                        <a:t>Produits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Fichier aller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Destinataire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Fichier retour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Plateforme de partage</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Maladie (936) et décès (8Z6)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Transmis directement par la direction du personnel de la Police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Solde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Reçu directement par le FPPN, canal à préciser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Non</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EFC (870), PEP (998), Grenier (9X4), MEDOC (8Z7)</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Produit et déposé par le responsable des cotisations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Solde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Déposé par la Solde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Oui</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Retraités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Produit et déposé par le responsable des cotisations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CGRAE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Déposé par la CGRAE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Oui</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Flotte automobile (9W3)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Produit et déposé par le responsable des cotisations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GNA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Déposé par GNA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Oui</a:t>
                      </a:r>
                    </a:p>
                  </a:txBody>
                  <a:tcPr marL="43200" marR="43200" marT="14400" marB="14400" anchor="ctr">
                    <a:solidFill>
                      <a:srgbClr val="F2F2F2"/>
                    </a:solidFill>
                  </a:tcPr>
                </a:tc>
              </a:tr>
            </a:tbl>
          </a:graphicData>
        </a:graphic>
      </p:graphicFrame>
      <p:sp>
        <p:nvSpPr>
          <p:cNvPr id="33" name="TextBox 32"/>
          <p:cNvSpPr txBox="1"/>
          <p:nvPr/>
        </p:nvSpPr>
        <p:spPr>
          <a:xfrm>
            <a:off x="503999" y="3638505"/>
            <a:ext cx="11232000" cy="162000"/>
          </a:xfrm>
          <a:prstGeom prst="rect">
            <a:avLst/>
          </a:prstGeom>
          <a:noFill/>
        </p:spPr>
        <p:txBody>
          <a:bodyPr wrap="square" anchor="t" lIns="54000" rIns="54000"/>
          <a:lstStyle/>
          <a:p>
            <a:pPr algn="l"/>
            <a:r>
              <a:rPr sz="850" b="0">
                <a:solidFill>
                  <a:srgbClr val="53565A"/>
                </a:solidFill>
                <a:latin typeface="Helvetica"/>
              </a:rPr>
              <a:t>Valable pour : textes du FPPN (statuts et règlement intérieur du 15/06/2023) et circuits décrits en entretien, sans test de leur application.</a:t>
            </a:r>
          </a:p>
        </p:txBody>
      </p:sp>
      <p:sp>
        <p:nvSpPr>
          <p:cNvPr id="34" name="TextBox 33"/>
          <p:cNvSpPr txBox="1"/>
          <p:nvPr/>
        </p:nvSpPr>
        <p:spPr>
          <a:xfrm>
            <a:off x="503999" y="3926505"/>
            <a:ext cx="11232000" cy="1941494"/>
          </a:xfrm>
          <a:prstGeom prst="rect">
            <a:avLst/>
          </a:prstGeom>
          <a:noFill/>
        </p:spPr>
        <p:txBody>
          <a:bodyPr wrap="square" lIns="54000" rIns="54000"/>
          <a:lstStyle/>
          <a:p>
            <a:pPr algn="just">
              <a:spcAft>
                <a:spcPts val="600"/>
              </a:spcAft>
            </a:pPr>
            <a:r>
              <a:rPr sz="1300" b="1">
                <a:solidFill>
                  <a:srgbClr val="060606"/>
                </a:solidFill>
                <a:latin typeface="Helvetica"/>
              </a:rPr>
              <a:t>Ce circuit explique l'absence totale des fichiers aller maladie et décès dans l'envoi du 15/10/2026.</a:t>
            </a:r>
            <a:r>
              <a:rPr sz="1300" b="0">
                <a:solidFill>
                  <a:srgbClr val="060606"/>
                </a:solidFill>
                <a:latin typeface="Helvetica"/>
              </a:rPr>
              <a:t> Le FPPN ne les produit pas (déclaration du responsable des cotisations, entretien du 19/10/2026, à confirmer par document).</a:t>
            </a:r>
          </a:p>
          <a:p>
            <a:pPr algn="just">
              <a:spcAft>
                <a:spcPts val="600"/>
              </a:spcAft>
            </a:pPr>
            <a:r>
              <a:rPr sz="1300" b="0">
                <a:solidFill>
                  <a:srgbClr val="060606"/>
                </a:solidFill>
                <a:latin typeface="Helvetica"/>
              </a:rPr>
              <a:t>Les fichiers aller maladie et décès sont à demander à la direction du personnel de la Police ou à la Solde (PBC, item 61). Le canal de réception des retours doit être précisé (PBC, item 62).</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PBC : liste des documents demandés au client | GNA : assureur de la flotte automobile (compte 47111106) | MEDOC : produit santé complémentaire du poste 8Z7 | 936 : poste maladie | 8Z6 : poste décès | 870 : poste EFC | 998 : poste PEP | 9X4 : poste Grenier | 9W3 : poste flotte automobile | 8Z7 : poste MEDOC</a:t>
            </a:r>
          </a:p>
        </p:txBody>
      </p:sp>
    </p:spTree>
    <p:extLst>
      <p:ext uri="{BB962C8B-B14F-4D97-AF65-F5344CB8AC3E}">
        <p14:creationId xmlns:p14="http://schemas.microsoft.com/office/powerpoint/2010/main" val="297340128"/>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Flux financiers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ressources de l'année couvrent les prestations, les frais et dégagent un excédent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Produits 3 671 499 865 FCFA, charges 3 250 431 812 FCFA, résultat 437 899 911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5 : Produits, charges et résultat 2025</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3888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cotisations sont la ressource principale du FPPN.</a:t>
            </a:r>
            <a:r>
              <a:rPr sz="1400" b="0">
                <a:solidFill>
                  <a:srgbClr val="060606"/>
                </a:solidFill>
                <a:latin typeface="Helvetica"/>
              </a:rPr>
              <a:t> Elles atteignent 2 409 281 030 FCFA en maladie et 1 008 270 692 FCFA en décès.</a:t>
            </a:r>
          </a:p>
          <a:p>
            <a:pPr algn="just">
              <a:spcAft>
                <a:spcPts val="600"/>
              </a:spcAft>
            </a:pPr>
            <a:r>
              <a:rPr sz="1400" b="1">
                <a:solidFill>
                  <a:srgbClr val="060606"/>
                </a:solidFill>
                <a:latin typeface="Helvetica"/>
              </a:rPr>
              <a:t>Les prestations maladie absorbent la plus grande part des ressources.</a:t>
            </a:r>
            <a:r>
              <a:rPr sz="1400" b="0">
                <a:solidFill>
                  <a:srgbClr val="060606"/>
                </a:solidFill>
                <a:latin typeface="Helvetica"/>
              </a:rPr>
              <a:t> Elles valent 1 771 635 361 FCFA, contre 193 136 666 FCFA en décès.</a:t>
            </a:r>
          </a:p>
          <a:p>
            <a:pPr algn="just">
              <a:spcAft>
                <a:spcPts val="600"/>
              </a:spcAft>
            </a:pPr>
            <a:r>
              <a:rPr sz="1400" b="1">
                <a:solidFill>
                  <a:srgbClr val="060606"/>
                </a:solidFill>
                <a:latin typeface="Helvetica"/>
              </a:rPr>
              <a:t>Les frais de gestion pèsent 32,23 % des cotisations.</a:t>
            </a:r>
            <a:r>
              <a:rPr sz="1400" b="0">
                <a:solidFill>
                  <a:srgbClr val="060606"/>
                </a:solidFill>
                <a:latin typeface="Helvetica"/>
              </a:rPr>
              <a:t> Ils couvrent le personnel, les indemnités des organes, le fonctionnement et les amortissements.</a:t>
            </a:r>
          </a:p>
          <a:p>
            <a:pPr algn="just">
              <a:spcAft>
                <a:spcPts val="600"/>
              </a:spcAft>
            </a:pPr>
            <a:r>
              <a:rPr sz="1400" b="0">
                <a:solidFill>
                  <a:srgbClr val="060606"/>
                </a:solidFill>
                <a:latin typeface="Helvetica"/>
              </a:rPr>
              <a:t>La garantie décès dégage un excédent qui compense en partie la garantie maladie : le résultat global masque un déséquilibre de la maladie, analysé par risque dans la partie 10.</a:t>
            </a:r>
          </a:p>
        </p:txBody>
      </p:sp>
      <p:sp>
        <p:nvSpPr>
          <p:cNvPr id="35" name="TextBox 34"/>
          <p:cNvSpPr txBox="1"/>
          <p:nvPr/>
        </p:nvSpPr>
        <p:spPr>
          <a:xfrm>
            <a:off x="503999" y="5688000"/>
            <a:ext cx="6552000" cy="162000"/>
          </a:xfrm>
          <a:prstGeom prst="rect">
            <a:avLst/>
          </a:prstGeom>
          <a:noFill/>
        </p:spPr>
        <p:txBody>
          <a:bodyPr wrap="square" anchor="t" lIns="54000" rIns="54000"/>
          <a:lstStyle/>
          <a:p>
            <a:pPr algn="l"/>
            <a:r>
              <a:rPr sz="850" b="0">
                <a:solidFill>
                  <a:srgbClr val="53565A"/>
                </a:solidFill>
                <a:latin typeface="Helvetica"/>
              </a:rPr>
              <a:t>Valable pour : textes du FPPN (statuts et règlement intérieur du 15/06/2023) et circuits décrits en entretien, sans test de leur application.</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364690707"/>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Notions de base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Huit notions suffisent pour lire l'ensemble du rapport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notion est définie ici une fois, puis utilisée avec le même sens dans tout le rapport</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 Décision n° 05/2022/COM/UEMOA du 1er juin 2022, annexe</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10 : Notions utilisées dans le rapport</a:t>
            </a:r>
          </a:p>
        </p:txBody>
      </p:sp>
      <p:graphicFrame>
        <p:nvGraphicFramePr>
          <p:cNvPr id="32" name="Table 31"/>
          <p:cNvGraphicFramePr>
            <a:graphicFrameLocks noGrp="1"/>
          </p:cNvGraphicFramePr>
          <p:nvPr/>
        </p:nvGraphicFramePr>
        <p:xfrm>
          <a:off x="503999" y="1655999"/>
          <a:ext cx="11231999" cy="2194901"/>
        </p:xfrm>
        <a:graphic>
          <a:graphicData uri="http://schemas.openxmlformats.org/drawingml/2006/table">
            <a:tbl>
              <a:tblPr firstRow="0" bandRow="0">
                <a:tableStyleId>{5940675A-B579-460E-94D1-54222C63F5DA}</a:tableStyleId>
              </a:tblPr>
              <a:tblGrid>
                <a:gridCol w="1728000"/>
                <a:gridCol w="5832000"/>
                <a:gridCol w="3671999"/>
              </a:tblGrid>
              <a:tr h="225250">
                <a:tc>
                  <a:txBody>
                    <a:bodyPr/>
                    <a:lstStyle/>
                    <a:p>
                      <a:pPr marL="0" indent="0" lvl="0">
                        <a:buNone/>
                      </a:pPr>
                      <a:r>
                        <a:rPr sz="1100" b="1">
                          <a:solidFill>
                            <a:srgbClr val="FFFFFF"/>
                          </a:solidFill>
                          <a:latin typeface="Helvetica"/>
                        </a:rPr>
                        <a:t>Notion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Définition simple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Exemple dans le rapport</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Cotisation</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Somme que le mutualiste verse pour être couvert.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5 % du salaire de base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Prestation</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Somme que le FPPN paie quand le risque survient (soins, décès).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Factures des cliniques, capital décès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Sinistralité (S/C)</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Part des cotisations consommée par les prestations.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S/C maladie 2025</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Provision technique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Somme mise de côté au bilan pour payer des prestations déjà nées mais pas encore payées.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Provision pour prestations à payer</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Engagement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Ce que le FPPN devra payer plus tard à ses mutualistes.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Épargne PEP et EFC à restituer</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Adossement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Correspondance entre les dettes et les actifs disponibles pour les payer.</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Épargne et placements réservés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Ce qui reste quand on retire toutes les dettes de tous les actifs.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Négatifs de 2020 à 2026</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Ratio prudentiel</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Rapport chiffré qu'une norme impose de respecter pour protéger les adhérents.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Réserve obligatoire de 6 à 9 mois</a:t>
                      </a:r>
                    </a:p>
                  </a:txBody>
                  <a:tcPr marL="43200" marR="43200" marT="14400" marB="14400" anchor="ctr">
                    <a:solidFill>
                      <a:srgbClr val="F2F2F2"/>
                    </a:solidFill>
                  </a:tcPr>
                </a:tc>
              </a:tr>
            </a:tbl>
          </a:graphicData>
        </a:graphic>
      </p:graphicFrame>
      <p:sp>
        <p:nvSpPr>
          <p:cNvPr id="33" name="TextBox 32"/>
          <p:cNvSpPr txBox="1"/>
          <p:nvPr/>
        </p:nvSpPr>
        <p:spPr>
          <a:xfrm>
            <a:off x="503999" y="3868905"/>
            <a:ext cx="11232000" cy="162000"/>
          </a:xfrm>
          <a:prstGeom prst="rect">
            <a:avLst/>
          </a:prstGeom>
          <a:noFill/>
        </p:spPr>
        <p:txBody>
          <a:bodyPr wrap="square" anchor="t" lIns="54000" rIns="54000"/>
          <a:lstStyle/>
          <a:p>
            <a:pPr algn="l"/>
            <a:r>
              <a:rPr sz="850" b="0">
                <a:solidFill>
                  <a:srgbClr val="53565A"/>
                </a:solidFill>
                <a:latin typeface="Helvetica"/>
              </a:rPr>
              <a:t>Valable pour : textes du FPPN (statuts et règlement intérieur du 15/06/2023) et circuits décrits en entretien, sans test de leur application.</a:t>
            </a:r>
          </a:p>
        </p:txBody>
      </p:sp>
      <p:sp>
        <p:nvSpPr>
          <p:cNvPr id="34" name="TextBox 33"/>
          <p:cNvSpPr txBox="1"/>
          <p:nvPr/>
        </p:nvSpPr>
        <p:spPr>
          <a:xfrm>
            <a:off x="503999" y="4156905"/>
            <a:ext cx="11232000" cy="1711094"/>
          </a:xfrm>
          <a:prstGeom prst="rect">
            <a:avLst/>
          </a:prstGeom>
          <a:noFill/>
        </p:spPr>
        <p:txBody>
          <a:bodyPr wrap="square" lIns="54000" rIns="54000"/>
          <a:lstStyle/>
          <a:p>
            <a:pPr algn="just">
              <a:spcAft>
                <a:spcPts val="600"/>
              </a:spcAft>
            </a:pPr>
            <a:r>
              <a:rPr sz="1300" b="1">
                <a:solidFill>
                  <a:srgbClr val="060606"/>
                </a:solidFill>
                <a:latin typeface="Helvetica"/>
              </a:rPr>
              <a:t>Ces huit notions portent toute l'analyse.</a:t>
            </a:r>
            <a:r>
              <a:rPr sz="1300" b="0">
                <a:solidFill>
                  <a:srgbClr val="060606"/>
                </a:solidFill>
                <a:latin typeface="Helvetica"/>
              </a:rPr>
              <a:t> Les quatre premières décrivent l'activité de l'année. Les quatre dernières décrivent la capacité du FPPN à tenir ses promesses dans la durée.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 | S/C : prestations / cotisations</a:t>
            </a:r>
          </a:p>
        </p:txBody>
      </p:sp>
    </p:spTree>
    <p:extLst>
      <p:ext uri="{BB962C8B-B14F-4D97-AF65-F5344CB8AC3E}">
        <p14:creationId xmlns:p14="http://schemas.microsoft.com/office/powerpoint/2010/main" val="1361282367"/>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2</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Contexte et démarche</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Mission, périmètre, chaîne de traitement</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734310076"/>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Mission et périmètre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volet actuariel répond à quatre questions sur les engagements et les placements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Période d'analyse du 1er janvier 2020 au 31 août 2026. Données arrêtées à l'envoi du FPPN reçu le 15/10/2026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dossier de préparation de la mission (13/10/2026) et liste des documents demandés (PBC)</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11 : Périmètre de la mission actuarielle et statistique</a:t>
            </a:r>
          </a:p>
        </p:txBody>
      </p:sp>
      <p:graphicFrame>
        <p:nvGraphicFramePr>
          <p:cNvPr id="32" name="Table 31"/>
          <p:cNvGraphicFramePr>
            <a:graphicFrameLocks noGrp="1"/>
          </p:cNvGraphicFramePr>
          <p:nvPr/>
        </p:nvGraphicFramePr>
        <p:xfrm>
          <a:off x="503999" y="1655999"/>
          <a:ext cx="11232000" cy="2137302"/>
        </p:xfrm>
        <a:graphic>
          <a:graphicData uri="http://schemas.openxmlformats.org/drawingml/2006/table">
            <a:tbl>
              <a:tblPr firstRow="0" bandRow="0">
                <a:tableStyleId>{5940675A-B579-460E-94D1-54222C63F5DA}</a:tableStyleId>
              </a:tblPr>
              <a:tblGrid>
                <a:gridCol w="2232000"/>
                <a:gridCol w="5400000"/>
                <a:gridCol w="3600000"/>
              </a:tblGrid>
              <a:tr h="225250">
                <a:tc>
                  <a:txBody>
                    <a:bodyPr/>
                    <a:lstStyle/>
                    <a:p>
                      <a:pPr marL="0" indent="0" lvl="0">
                        <a:buNone/>
                      </a:pPr>
                      <a:r>
                        <a:rPr sz="1100" b="1">
                          <a:solidFill>
                            <a:srgbClr val="FFFFFF"/>
                          </a:solidFill>
                          <a:latin typeface="Helvetica"/>
                        </a:rPr>
                        <a:t>Axe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Question traitée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État au 19/10/2026</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1. Engagements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Combien le FPPN doit-il à ses adhérents et ayants droit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Partiel : épargne mesurée, autres engagements en attente (partie 9)</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2. Suffisance des provisions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provisions au bilan suffisent-elles à payer les prestations dues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Non démontrable : provisions héritées, recalcul en attente</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3. Adossement actif-passif</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actifs arrivent-ils en caisse au bon moment pour payer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Non-adossement démontré (borne favorable)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4. Adéquation des placements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placements sont-ils sûrs, liquides et rentables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Liquidité et diversification insuffisantes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Contrôle des données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données sont-elles complètes et cohérentes avec la comptabilité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Réalisé sur les données reçues</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Conformité prudentielle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ratios de la Décision n° 05/2022 sont-ils respectés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Réalisé : 36 indicateurs examinés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Équilibre technique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cotisations futures couvrent-elles les prestations futures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 attente des âges et des dossiers</a:t>
                      </a:r>
                    </a:p>
                  </a:txBody>
                  <a:tcPr marL="43200" marR="43200" marT="14400" marB="14400" anchor="ctr">
                    <a:solidFill>
                      <a:srgbClr val="FFFFFF"/>
                    </a:solidFill>
                  </a:tcPr>
                </a:tc>
              </a:tr>
            </a:tbl>
          </a:graphicData>
        </a:graphic>
      </p:graphicFrame>
      <p:sp>
        <p:nvSpPr>
          <p:cNvPr id="33" name="TextBox 32"/>
          <p:cNvSpPr txBox="1"/>
          <p:nvPr/>
        </p:nvSpPr>
        <p:spPr>
          <a:xfrm>
            <a:off x="503999" y="3811305"/>
            <a:ext cx="11232000" cy="162000"/>
          </a:xfrm>
          <a:prstGeom prst="rect">
            <a:avLst/>
          </a:prstGeom>
          <a:noFill/>
        </p:spPr>
        <p:txBody>
          <a:bodyPr wrap="square" anchor="t" lIns="54000" rIns="54000"/>
          <a:lstStyle/>
          <a:p>
            <a:pPr algn="l"/>
            <a:r>
              <a:rPr sz="850" b="0">
                <a:solidFill>
                  <a:srgbClr val="53565A"/>
                </a:solidFill>
                <a:latin typeface="Helvetica"/>
              </a:rPr>
              <a:t>Valable pour : mission au 15/10/2026, documents reçus jusqu'au 22/10/2026.</a:t>
            </a:r>
          </a:p>
        </p:txBody>
      </p:sp>
      <p:sp>
        <p:nvSpPr>
          <p:cNvPr id="34" name="TextBox 33"/>
          <p:cNvSpPr txBox="1"/>
          <p:nvPr/>
        </p:nvSpPr>
        <p:spPr>
          <a:xfrm>
            <a:off x="503999" y="4099305"/>
            <a:ext cx="11232000" cy="1768694"/>
          </a:xfrm>
          <a:prstGeom prst="rect">
            <a:avLst/>
          </a:prstGeom>
          <a:noFill/>
        </p:spPr>
        <p:txBody>
          <a:bodyPr wrap="square" lIns="54000" rIns="54000"/>
          <a:lstStyle/>
          <a:p>
            <a:pPr algn="just">
              <a:spcAft>
                <a:spcPts val="600"/>
              </a:spcAft>
            </a:pPr>
            <a:r>
              <a:rPr sz="1300" b="1">
                <a:solidFill>
                  <a:srgbClr val="060606"/>
                </a:solidFill>
                <a:latin typeface="Helvetica"/>
              </a:rPr>
              <a:t>Deux des quatre questions reçoivent une réponse établie : le FPPN n'est pas adossé, et ses placements ne sont ni assez liquides ni assez diversifiés.</a:t>
            </a:r>
            <a:r>
              <a:rPr sz="1300" b="0">
                <a:solidFill>
                  <a:srgbClr val="060606"/>
                </a:solidFill>
                <a:latin typeface="Helvetica"/>
              </a:rPr>
              <a:t> Les engagements et la suffisance des provisions attendent les données individuelles (réponse détaillée en résumé exécutif et en partie 9).</a:t>
            </a:r>
          </a:p>
          <a:p>
            <a:pPr algn="just">
              <a:spcAft>
                <a:spcPts val="600"/>
              </a:spcAft>
            </a:pPr>
            <a:r>
              <a:rPr sz="1300" b="0">
                <a:solidFill>
                  <a:srgbClr val="060606"/>
                </a:solidFill>
                <a:latin typeface="Helvetica"/>
              </a:rPr>
              <a:t>Le calcul des engagements (question 1) conditionne la réponse définitive aux questions 2 et 3 : il reste la priorité dès réception des fichiers (PBC, items 57, 71, 72 et 92).</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PBC : liste des documents demandés au client</a:t>
            </a:r>
          </a:p>
        </p:txBody>
      </p:sp>
    </p:spTree>
    <p:extLst>
      <p:ext uri="{BB962C8B-B14F-4D97-AF65-F5344CB8AC3E}">
        <p14:creationId xmlns:p14="http://schemas.microsoft.com/office/powerpoint/2010/main" val="3261799051"/>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Périmètre et validité des analyses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résultat ne vaut que pour les données, la population et la période qui le fondent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Trois niveaux de lecture : cette diapositive, une ligne « Valable pour » sous chaque tableau et graphique, et un tableau détaillé en annexe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 à partir des fichiers cités dans chaque partie</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12 : Périmètre, domaine et période de validité des analyses</a:t>
            </a:r>
          </a:p>
        </p:txBody>
      </p:sp>
      <p:graphicFrame>
        <p:nvGraphicFramePr>
          <p:cNvPr id="32" name="Table 31"/>
          <p:cNvGraphicFramePr>
            <a:graphicFrameLocks noGrp="1"/>
          </p:cNvGraphicFramePr>
          <p:nvPr/>
        </p:nvGraphicFramePr>
        <p:xfrm>
          <a:off x="503999" y="1655999"/>
          <a:ext cx="11231998" cy="2072976"/>
        </p:xfrm>
        <a:graphic>
          <a:graphicData uri="http://schemas.openxmlformats.org/drawingml/2006/table">
            <a:tbl>
              <a:tblPr firstRow="0" bandRow="0">
                <a:tableStyleId>{5940675A-B579-460E-94D1-54222C63F5DA}</a:tableStyleId>
              </a:tblPr>
              <a:tblGrid>
                <a:gridCol w="2160000"/>
                <a:gridCol w="3744000"/>
                <a:gridCol w="2015999"/>
                <a:gridCol w="3311999"/>
              </a:tblGrid>
              <a:tr h="187148">
                <a:tc>
                  <a:txBody>
                    <a:bodyPr/>
                    <a:lstStyle/>
                    <a:p>
                      <a:pPr marL="0" indent="0" lvl="0">
                        <a:buNone/>
                      </a:pPr>
                      <a:r>
                        <a:rPr sz="850" b="1">
                          <a:solidFill>
                            <a:srgbClr val="FFFFFF"/>
                          </a:solidFill>
                          <a:latin typeface="Helvetica"/>
                        </a:rPr>
                        <a:t>Analyses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Données utilisées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Période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Ne pas généraliser à</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Effectifs, taux de cotisation (parties 3 et 4)</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Fichiers de précomptes de la Solde et de la CGRAE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01/2024 à 09/2026 selon le poste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2020 à 2023, civils de la Direction Générale</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Taux de 3,77 % (maladie)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Salaire de base du fichier 936, 209 670 lignes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8 mois : 04 à 10/2024 et 01/2025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Mois sans salaire de base dans les fichiers</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Taux de 1,23 % (décès)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8Z6 rapporté au salaire de base, puis rapport 8Z6 / 936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Mesure directe 04/2024 et 01/2025, rapport de 03/2024 à 09/2026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Janvier et février 2024 (autre clé)</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Sinistralité, résultat, bilan, ratios (parties 5, 9, 10)</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Balances 2020 au 31/08/2026, états financiers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2020 à 2025, 2026 provisoire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Sinistres tardifs, valeurs de marché</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Épargne (partie 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Soldes et mouvements comptables, grand livre 2024</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2020 au 31/08/2026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Engagement individuel (aucun échéancier)</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Mortalité brute (partie 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Étude des ratios du FPPN : décès et adhérents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2015 à 2025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Mortalité par âge (dates de naissance absentes)</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Provision du personnel (partie 9)</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DISA 2021, 2022, 2023 et 2025 (CNPS)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31/12 des années citées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2024 (DISA scannée), policiers détachés</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Contrôles croisés (partie 3)</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États financiers, rapprochements bancaires, étude du FPPN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2020 au 31/08/2026</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Comptes non cités dans le contrôle</a:t>
                      </a:r>
                    </a:p>
                  </a:txBody>
                  <a:tcPr marL="43200" marR="43200" marT="14400" marB="14400" anchor="ctr">
                    <a:solidFill>
                      <a:srgbClr val="F2F2F2"/>
                    </a:solidFill>
                  </a:tcPr>
                </a:tc>
              </a:tr>
            </a:tbl>
          </a:graphicData>
        </a:graphic>
      </p:graphicFrame>
      <p:sp>
        <p:nvSpPr>
          <p:cNvPr id="33" name="TextBox 32"/>
          <p:cNvSpPr txBox="1"/>
          <p:nvPr/>
        </p:nvSpPr>
        <p:spPr>
          <a:xfrm>
            <a:off x="503999" y="3746977"/>
            <a:ext cx="11232000" cy="162000"/>
          </a:xfrm>
          <a:prstGeom prst="rect">
            <a:avLst/>
          </a:prstGeom>
          <a:noFill/>
        </p:spPr>
        <p:txBody>
          <a:bodyPr wrap="square" anchor="t" lIns="54000" rIns="54000"/>
          <a:lstStyle/>
          <a:p>
            <a:pPr algn="l"/>
            <a:r>
              <a:rPr sz="850" b="0">
                <a:solidFill>
                  <a:srgbClr val="53565A"/>
                </a:solidFill>
                <a:latin typeface="Helvetica"/>
              </a:rPr>
              <a:t>Valable pour : les familles d'analyses du rapport version 9, sur les documents reçus jusqu'au 22/10/2026.</a:t>
            </a:r>
          </a:p>
        </p:txBody>
      </p:sp>
      <p:sp>
        <p:nvSpPr>
          <p:cNvPr id="34" name="TextBox 33"/>
          <p:cNvSpPr txBox="1"/>
          <p:nvPr/>
        </p:nvSpPr>
        <p:spPr>
          <a:xfrm>
            <a:off x="503999" y="4034977"/>
            <a:ext cx="11232000" cy="1833022"/>
          </a:xfrm>
          <a:prstGeom prst="rect">
            <a:avLst/>
          </a:prstGeom>
          <a:noFill/>
        </p:spPr>
        <p:txBody>
          <a:bodyPr wrap="square" lIns="54000" rIns="54000"/>
          <a:lstStyle/>
          <a:p>
            <a:pPr algn="just">
              <a:spcAft>
                <a:spcPts val="600"/>
              </a:spcAft>
            </a:pPr>
            <a:r>
              <a:rPr sz="1300" b="1">
                <a:solidFill>
                  <a:srgbClr val="060606"/>
                </a:solidFill>
                <a:latin typeface="Helvetica"/>
              </a:rPr>
              <a:t>Les documents reçus le 22/10/2026 permettent de vérifier plusieurs résultats par une seconde source.</a:t>
            </a:r>
            <a:r>
              <a:rPr sz="1300" b="0">
                <a:solidFill>
                  <a:srgbClr val="060606"/>
                </a:solidFill>
                <a:latin typeface="Helvetica"/>
              </a:rPr>
              <a:t> Les états financiers, les rapprochements bancaires et l'étude des ratios du FPPN confirment les balances et les fichiers de la Solde sur les périodes indiquées.</a:t>
            </a:r>
          </a:p>
          <a:p>
            <a:pPr algn="just">
              <a:spcAft>
                <a:spcPts val="600"/>
              </a:spcAft>
            </a:pPr>
            <a:r>
              <a:rPr sz="1300" b="0">
                <a:solidFill>
                  <a:srgbClr val="060606"/>
                </a:solidFill>
                <a:latin typeface="Helvetica"/>
              </a:rPr>
              <a:t>Tout chiffre repris hors du rapport doit être accompagné de sa ligne « Valable pour ». L'annexe « Périmètre et validité des analyses » détaille chaque diapositive.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CNPS : Caisse nationale de prévoyance sociale | 8Z6 : poste décès | DISA : déclaration individuelle des salaires annuels à la CNPS</a:t>
            </a:r>
          </a:p>
        </p:txBody>
      </p:sp>
    </p:spTree>
    <p:extLst>
      <p:ext uri="{BB962C8B-B14F-4D97-AF65-F5344CB8AC3E}">
        <p14:creationId xmlns:p14="http://schemas.microsoft.com/office/powerpoint/2010/main" val="1111242278"/>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Documents reçus le 22/10/2026</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Trois lots, 116 fichiers, tous reçus intacts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nouveaux documents servent à quatre usages : compléter les engagements, mesurer la provision du personnel, connaître la méthode du FPPN et contre-vérifier les chiffres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documents du FPPN reçus le 22/10/2026 (lots 1 à 3, contrôlés par empreinte SHA-256)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13 : Documents reçus le 22/10/2026 et usage dans le rapport</a:t>
            </a:r>
          </a:p>
        </p:txBody>
      </p:sp>
      <p:graphicFrame>
        <p:nvGraphicFramePr>
          <p:cNvPr id="32" name="Table 31"/>
          <p:cNvGraphicFramePr>
            <a:graphicFrameLocks noGrp="1"/>
          </p:cNvGraphicFramePr>
          <p:nvPr/>
        </p:nvGraphicFramePr>
        <p:xfrm>
          <a:off x="503999" y="1655999"/>
          <a:ext cx="11232000" cy="1396332"/>
        </p:xfrm>
        <a:graphic>
          <a:graphicData uri="http://schemas.openxmlformats.org/drawingml/2006/table">
            <a:tbl>
              <a:tblPr firstRow="0" bandRow="0">
                <a:tableStyleId>{5940675A-B579-460E-94D1-54222C63F5DA}</a:tableStyleId>
              </a:tblPr>
              <a:tblGrid>
                <a:gridCol w="792000"/>
                <a:gridCol w="5400000"/>
                <a:gridCol w="5040000"/>
              </a:tblGrid>
              <a:tr h="187148">
                <a:tc>
                  <a:txBody>
                    <a:bodyPr/>
                    <a:lstStyle/>
                    <a:p>
                      <a:pPr marL="0" indent="0" lvl="0">
                        <a:buNone/>
                      </a:pPr>
                      <a:r>
                        <a:rPr sz="850" b="1">
                          <a:solidFill>
                            <a:srgbClr val="FFFFFF"/>
                          </a:solidFill>
                          <a:latin typeface="Helvetica"/>
                        </a:rPr>
                        <a:t>Lot</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Documents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Usage dans la version 9</a:t>
                      </a:r>
                    </a:p>
                  </a:txBody>
                  <a:tcPr marL="43200" marR="43200" marT="14400" marB="14400" anchor="ctr">
                    <a:solidFill>
                      <a:srgbClr val="060606"/>
                    </a:solidFill>
                  </a:tcPr>
                </a:tc>
              </a:tr>
              <a:tr h="446244">
                <a:tc>
                  <a:txBody>
                    <a:bodyPr/>
                    <a:lstStyle/>
                    <a:p>
                      <a:pPr marL="0" indent="0" lvl="0">
                        <a:buNone/>
                      </a:pPr>
                      <a:r>
                        <a:rPr sz="850" b="1">
                          <a:solidFill>
                            <a:srgbClr val="060606"/>
                          </a:solidFill>
                          <a:latin typeface="Helvetica"/>
                        </a:rPr>
                        <a:t>1 (61 fichiers)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Cahiers des charges maladie-décès et EFC-PEP 2021, manuel des produits d'épargne, cartographie des risques, étude et interprétation des ratios, DISA et ETAT 301 de 2020 à 2025, grands livres et balances, rapprochements bancaires de 2020 à 2026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Taux servis, méthode de sinistralité du FPPN, mortalité brute, provision du personnel, contrôles croisés</a:t>
                      </a:r>
                    </a:p>
                  </a:txBody>
                  <a:tcPr marL="43200" marR="43200" marT="14400" marB="14400" anchor="ctr">
                    <a:solidFill>
                      <a:srgbClr val="FFFFFF"/>
                    </a:solidFill>
                  </a:tcPr>
                </a:tc>
              </a:tr>
              <a:tr h="446244">
                <a:tc>
                  <a:txBody>
                    <a:bodyPr/>
                    <a:lstStyle/>
                    <a:p>
                      <a:pPr marL="0" indent="0" lvl="0">
                        <a:buNone/>
                      </a:pPr>
                      <a:r>
                        <a:rPr sz="850" b="1">
                          <a:solidFill>
                            <a:srgbClr val="060606"/>
                          </a:solidFill>
                          <a:latin typeface="Helvetica"/>
                        </a:rPr>
                        <a:t>2 (26 fichiers)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États financiers de 2020 au 31/08/2026, rapports de gestion et rapports moraux, plans d'action 2024 et 2025, conventions IPS-CGRAE, Transvie-CMP et DEPA, titres de propriété, baux, listes des administrateurs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Contrôle des états financiers, épargne présentée en Assemblée générale, garantie santé des retraités</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3 (29 fichiers)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Budgets de 2020 à 2026, PV d'arrêté de caisse, organigrammes, courrier de nomination, DISA et DASC scannées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Pointage de la PBC. Les scans reprennent les fichiers Excel du lot 1</a:t>
                      </a:r>
                    </a:p>
                  </a:txBody>
                  <a:tcPr marL="43200" marR="43200" marT="14400" marB="14400" anchor="ctr">
                    <a:solidFill>
                      <a:srgbClr val="FFFFFF"/>
                    </a:solidFill>
                  </a:tcPr>
                </a:tc>
              </a:tr>
            </a:tbl>
          </a:graphicData>
        </a:graphic>
      </p:graphicFrame>
      <p:sp>
        <p:nvSpPr>
          <p:cNvPr id="33" name="TextBox 32"/>
          <p:cNvSpPr txBox="1"/>
          <p:nvPr/>
        </p:nvSpPr>
        <p:spPr>
          <a:xfrm>
            <a:off x="503999" y="3070333"/>
            <a:ext cx="11232000" cy="162000"/>
          </a:xfrm>
          <a:prstGeom prst="rect">
            <a:avLst/>
          </a:prstGeom>
          <a:noFill/>
        </p:spPr>
        <p:txBody>
          <a:bodyPr wrap="square" anchor="t" lIns="54000" rIns="54000"/>
          <a:lstStyle/>
          <a:p>
            <a:pPr algn="l"/>
            <a:r>
              <a:rPr sz="850" b="0">
                <a:solidFill>
                  <a:srgbClr val="53565A"/>
                </a:solidFill>
                <a:latin typeface="Helvetica"/>
              </a:rPr>
              <a:t>Valable pour : les fichiers des journaux journal_lot1.csv, journal_lot2.csv et journal_lot3.csv.</a:t>
            </a:r>
          </a:p>
        </p:txBody>
      </p:sp>
      <p:sp>
        <p:nvSpPr>
          <p:cNvPr id="34" name="TextBox 33"/>
          <p:cNvSpPr txBox="1"/>
          <p:nvPr/>
        </p:nvSpPr>
        <p:spPr>
          <a:xfrm>
            <a:off x="503999" y="3358333"/>
            <a:ext cx="11232000" cy="2509666"/>
          </a:xfrm>
          <a:prstGeom prst="rect">
            <a:avLst/>
          </a:prstGeom>
          <a:noFill/>
        </p:spPr>
        <p:txBody>
          <a:bodyPr wrap="square" lIns="54000" rIns="54000"/>
          <a:lstStyle/>
          <a:p>
            <a:pPr algn="just">
              <a:spcAft>
                <a:spcPts val="600"/>
              </a:spcAft>
            </a:pPr>
            <a:r>
              <a:rPr sz="1300" b="1">
                <a:solidFill>
                  <a:srgbClr val="060606"/>
                </a:solidFill>
                <a:latin typeface="Helvetica"/>
              </a:rPr>
              <a:t>Les états financiers et les rapprochements bancaires confirment les balances utilisées depuis la version 1</a:t>
            </a:r>
            <a:r>
              <a:rPr sz="1300" b="0">
                <a:solidFill>
                  <a:srgbClr val="060606"/>
                </a:solidFill>
                <a:latin typeface="Helvetica"/>
              </a:rPr>
              <a:t>, à deux écarts près, présentés en partie 3.</a:t>
            </a:r>
          </a:p>
          <a:p>
            <a:pPr algn="just">
              <a:spcAft>
                <a:spcPts val="600"/>
              </a:spcAft>
            </a:pPr>
            <a:r>
              <a:rPr sz="1300" b="0">
                <a:solidFill>
                  <a:srgbClr val="060606"/>
                </a:solidFill>
                <a:latin typeface="Helvetica"/>
              </a:rPr>
              <a:t>Les documents encore manquants (bases de prestations, échéancier de l'épargne, dates de naissance des mutualistes) restent dans la PBC et conditionnent les analyses en attente.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CMP : Centre Médical du Policier (rapport de gestion 2023) | PBC : liste des documents demandés au client | SHA-256 : algorithme d'empreinte numérique | DISA : déclaration individuelle des salaires annuels à la CNPS | IPS-CGRAE : Institution de prévoyance sociale - Caisse générale de retraite des agents de l'État | DEPA : Direction de l'École de Police d'Abidjan | SHA-256 : algorithme d'empreinte numérique servant à vérifier qu'un fichier n'a pas été modifié</a:t>
            </a:r>
          </a:p>
        </p:txBody>
      </p:sp>
    </p:spTree>
    <p:extLst>
      <p:ext uri="{BB962C8B-B14F-4D97-AF65-F5344CB8AC3E}">
        <p14:creationId xmlns:p14="http://schemas.microsoft.com/office/powerpoint/2010/main" val="465820637"/>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Chaîne de traitement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chiffre est tracé du fichier du FPPN jusqu'au rapport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Quatre décisions de contrôle arrêtent ou corrigent le traitement. Le détail de chaque étape figure dans la partie 13</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Python Adenka (dossier scripts de la mission)</a:t>
            </a:r>
          </a:p>
        </p:txBody>
      </p:sp>
      <p:sp>
        <p:nvSpPr>
          <p:cNvPr id="31" name="Logigramme c1"/>
          <p:cNvSpPr/>
          <p:nvPr/>
        </p:nvSpPr>
        <p:spPr>
          <a:xfrm>
            <a:off x="540000" y="1494000"/>
            <a:ext cx="1260000" cy="540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Envoi du FPPN</a:t>
            </a:r>
          </a:p>
          <a:p>
            <a:pPr algn="ctr"/>
            <a:r>
              <a:rPr sz="850" b="1">
                <a:solidFill>
                  <a:srgbClr val="FFFFFF"/>
                </a:solidFill>
                <a:latin typeface="Helvetica"/>
              </a:rPr>
              <a:t>4 287 fichiers</a:t>
            </a:r>
          </a:p>
        </p:txBody>
      </p:sp>
      <p:sp>
        <p:nvSpPr>
          <p:cNvPr id="32" name="Logigramme c2"/>
          <p:cNvSpPr/>
          <p:nvPr/>
        </p:nvSpPr>
        <p:spPr>
          <a:xfrm>
            <a:off x="2142000" y="1494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Inventaire</a:t>
            </a:r>
          </a:p>
          <a:p>
            <a:pPr algn="ctr"/>
            <a:r>
              <a:rPr sz="850" b="0">
                <a:solidFill>
                  <a:srgbClr val="060606"/>
                </a:solidFill>
                <a:latin typeface="Helvetica"/>
              </a:rPr>
              <a:t>format réel, doublons</a:t>
            </a:r>
          </a:p>
        </p:txBody>
      </p:sp>
      <p:sp>
        <p:nvSpPr>
          <p:cNvPr id="33" name="Logigramme c3"/>
          <p:cNvSpPr/>
          <p:nvPr/>
        </p:nvSpPr>
        <p:spPr>
          <a:xfrm>
            <a:off x="3744000" y="1450800"/>
            <a:ext cx="1260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Fichier</a:t>
            </a:r>
          </a:p>
          <a:p>
            <a:pPr algn="ctr"/>
            <a:r>
              <a:rPr sz="800" b="0">
                <a:solidFill>
                  <a:srgbClr val="060606"/>
                </a:solidFill>
                <a:latin typeface="Helvetica"/>
              </a:rPr>
              <a:t>lisible ?</a:t>
            </a:r>
          </a:p>
        </p:txBody>
      </p:sp>
      <p:sp>
        <p:nvSpPr>
          <p:cNvPr id="34" name="Logigramme c4"/>
          <p:cNvSpPr/>
          <p:nvPr/>
        </p:nvSpPr>
        <p:spPr>
          <a:xfrm>
            <a:off x="3744000" y="2880000"/>
            <a:ext cx="1260000" cy="540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Liste des fichiers</a:t>
            </a:r>
          </a:p>
          <a:p>
            <a:pPr algn="ctr"/>
            <a:r>
              <a:rPr sz="850" b="0">
                <a:solidFill>
                  <a:srgbClr val="060606"/>
                </a:solidFill>
                <a:latin typeface="Helvetica"/>
              </a:rPr>
              <a:t>à renvoyer (PBC)</a:t>
            </a:r>
          </a:p>
        </p:txBody>
      </p:sp>
      <p:sp>
        <p:nvSpPr>
          <p:cNvPr id="35" name="Logigramme c5"/>
          <p:cNvSpPr/>
          <p:nvPr/>
        </p:nvSpPr>
        <p:spPr>
          <a:xfrm>
            <a:off x="5346000" y="1494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Extraction sans perte</a:t>
            </a:r>
          </a:p>
          <a:p>
            <a:pPr algn="ctr"/>
            <a:r>
              <a:rPr sz="850" b="0">
                <a:solidFill>
                  <a:srgbClr val="060606"/>
                </a:solidFill>
                <a:latin typeface="Helvetica"/>
              </a:rPr>
              <a:t>CSV, empreinte SHA-256</a:t>
            </a:r>
          </a:p>
        </p:txBody>
      </p:sp>
      <p:sp>
        <p:nvSpPr>
          <p:cNvPr id="36" name="Logigramme c6"/>
          <p:cNvSpPr/>
          <p:nvPr/>
        </p:nvSpPr>
        <p:spPr>
          <a:xfrm>
            <a:off x="6948000" y="1450800"/>
            <a:ext cx="1260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Lignes</a:t>
            </a:r>
          </a:p>
          <a:p>
            <a:pPr algn="ctr"/>
            <a:r>
              <a:rPr sz="800" b="0">
                <a:solidFill>
                  <a:srgbClr val="060606"/>
                </a:solidFill>
                <a:latin typeface="Helvetica"/>
              </a:rPr>
              <a:t>identiques ?</a:t>
            </a:r>
          </a:p>
        </p:txBody>
      </p:sp>
      <p:sp>
        <p:nvSpPr>
          <p:cNvPr id="37" name="Logigramme c7"/>
          <p:cNvSpPr/>
          <p:nvPr/>
        </p:nvSpPr>
        <p:spPr>
          <a:xfrm>
            <a:off x="8550000" y="1494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Base d'analyse</a:t>
            </a:r>
          </a:p>
          <a:p>
            <a:pPr algn="ctr"/>
            <a:r>
              <a:rPr sz="850" b="0">
                <a:solidFill>
                  <a:srgbClr val="060606"/>
                </a:solidFill>
                <a:latin typeface="Helvetica"/>
              </a:rPr>
              <a:t>4,45 millions de lignes</a:t>
            </a:r>
          </a:p>
        </p:txBody>
      </p:sp>
      <p:sp>
        <p:nvSpPr>
          <p:cNvPr id="38" name="Logigramme c8"/>
          <p:cNvSpPr/>
          <p:nvPr/>
        </p:nvSpPr>
        <p:spPr>
          <a:xfrm>
            <a:off x="10152000" y="1450800"/>
            <a:ext cx="1260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Total ou</a:t>
            </a:r>
          </a:p>
          <a:p>
            <a:pPr algn="ctr"/>
            <a:r>
              <a:rPr sz="800" b="0">
                <a:solidFill>
                  <a:srgbClr val="060606"/>
                </a:solidFill>
                <a:latin typeface="Helvetica"/>
              </a:rPr>
              <a:t>montant doublé ?</a:t>
            </a:r>
          </a:p>
        </p:txBody>
      </p:sp>
      <p:sp>
        <p:nvSpPr>
          <p:cNvPr id="39" name="Logigramme c9"/>
          <p:cNvSpPr/>
          <p:nvPr/>
        </p:nvSpPr>
        <p:spPr>
          <a:xfrm>
            <a:off x="10152000" y="2880000"/>
            <a:ext cx="1260000" cy="540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Journal des rejets</a:t>
            </a:r>
          </a:p>
          <a:p>
            <a:pPr algn="ctr"/>
            <a:r>
              <a:rPr sz="850" b="0">
                <a:solidFill>
                  <a:srgbClr val="060606"/>
                </a:solidFill>
                <a:latin typeface="Helvetica"/>
              </a:rPr>
              <a:t>et corrections</a:t>
            </a:r>
          </a:p>
        </p:txBody>
      </p:sp>
      <p:sp>
        <p:nvSpPr>
          <p:cNvPr id="40" name="Logigramme c10"/>
          <p:cNvSpPr/>
          <p:nvPr/>
        </p:nvSpPr>
        <p:spPr>
          <a:xfrm>
            <a:off x="8550000" y="2880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Contrôles</a:t>
            </a:r>
          </a:p>
          <a:p>
            <a:pPr algn="ctr"/>
            <a:r>
              <a:rPr sz="850" b="0">
                <a:solidFill>
                  <a:srgbClr val="060606"/>
                </a:solidFill>
                <a:latin typeface="Helvetica"/>
              </a:rPr>
              <a:t>totaux, aller et retour</a:t>
            </a:r>
          </a:p>
        </p:txBody>
      </p:sp>
      <p:sp>
        <p:nvSpPr>
          <p:cNvPr id="41" name="Logigramme c11"/>
          <p:cNvSpPr/>
          <p:nvPr/>
        </p:nvSpPr>
        <p:spPr>
          <a:xfrm>
            <a:off x="6948000" y="2880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Analyses</a:t>
            </a:r>
          </a:p>
          <a:p>
            <a:pPr algn="ctr"/>
            <a:r>
              <a:rPr sz="850" b="0">
                <a:solidFill>
                  <a:srgbClr val="060606"/>
                </a:solidFill>
                <a:latin typeface="Helvetica"/>
              </a:rPr>
              <a:t>indicateurs, tests, ratios</a:t>
            </a:r>
          </a:p>
        </p:txBody>
      </p:sp>
      <p:sp>
        <p:nvSpPr>
          <p:cNvPr id="42" name="Logigramme c12"/>
          <p:cNvSpPr/>
          <p:nvPr/>
        </p:nvSpPr>
        <p:spPr>
          <a:xfrm>
            <a:off x="5346000" y="2880000"/>
            <a:ext cx="1260000" cy="540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Classeur</a:t>
            </a:r>
          </a:p>
          <a:p>
            <a:pPr algn="ctr"/>
            <a:r>
              <a:rPr sz="850" b="0">
                <a:solidFill>
                  <a:srgbClr val="060606"/>
                </a:solidFill>
                <a:latin typeface="Helvetica"/>
              </a:rPr>
              <a:t>des calculs</a:t>
            </a:r>
          </a:p>
        </p:txBody>
      </p:sp>
      <p:sp>
        <p:nvSpPr>
          <p:cNvPr id="43" name="Logigramme c13"/>
          <p:cNvSpPr/>
          <p:nvPr/>
        </p:nvSpPr>
        <p:spPr>
          <a:xfrm>
            <a:off x="5346000" y="4248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Rapport</a:t>
            </a:r>
          </a:p>
          <a:p>
            <a:pPr algn="ctr"/>
            <a:r>
              <a:rPr sz="850" b="0">
                <a:solidFill>
                  <a:srgbClr val="060606"/>
                </a:solidFill>
                <a:latin typeface="Helvetica"/>
              </a:rPr>
              <a:t>graphiques natifs</a:t>
            </a:r>
          </a:p>
        </p:txBody>
      </p:sp>
      <p:sp>
        <p:nvSpPr>
          <p:cNvPr id="44" name="Logigramme c14"/>
          <p:cNvSpPr/>
          <p:nvPr/>
        </p:nvSpPr>
        <p:spPr>
          <a:xfrm>
            <a:off x="6948000" y="4204800"/>
            <a:ext cx="1260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Chiffre</a:t>
            </a:r>
          </a:p>
          <a:p>
            <a:pPr algn="ctr"/>
            <a:r>
              <a:rPr sz="800" b="0">
                <a:solidFill>
                  <a:srgbClr val="060606"/>
                </a:solidFill>
                <a:latin typeface="Helvetica"/>
              </a:rPr>
              <a:t>exact ?</a:t>
            </a:r>
          </a:p>
        </p:txBody>
      </p:sp>
      <p:sp>
        <p:nvSpPr>
          <p:cNvPr id="45" name="Logigramme c15"/>
          <p:cNvSpPr/>
          <p:nvPr/>
        </p:nvSpPr>
        <p:spPr>
          <a:xfrm>
            <a:off x="8550000" y="4248000"/>
            <a:ext cx="1260000" cy="540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Livraison</a:t>
            </a:r>
          </a:p>
          <a:p>
            <a:pPr algn="ctr"/>
            <a:r>
              <a:rPr sz="850" b="1">
                <a:solidFill>
                  <a:srgbClr val="FFFFFF"/>
                </a:solidFill>
                <a:latin typeface="Helvetica"/>
              </a:rPr>
              <a:t>et traçabilité</a:t>
            </a:r>
          </a:p>
        </p:txBody>
      </p:sp>
      <p:cxnSp>
        <p:nvCxnSpPr>
          <p:cNvPr id="46" name="Flèche c1 vers c2"/>
          <p:cNvCxnSpPr>
            <a:stCxn id="31" idx="3"/>
            <a:endCxn id="32" idx="1"/>
          </p:cNvCxnSpPr>
          <p:nvPr/>
        </p:nvCxnSpPr>
        <p:spPr>
          <a:xfrm flipV="1">
            <a:off x="1800000" y="1764000"/>
            <a:ext cx="34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Flèche c2 vers c3"/>
          <p:cNvCxnSpPr>
            <a:stCxn id="32" idx="3"/>
            <a:endCxn id="33" idx="1"/>
          </p:cNvCxnSpPr>
          <p:nvPr/>
        </p:nvCxnSpPr>
        <p:spPr>
          <a:xfrm>
            <a:off x="3402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Flèche c3 vers c4"/>
          <p:cNvCxnSpPr>
            <a:stCxn id="33" idx="2"/>
            <a:endCxn id="34" idx="0"/>
          </p:cNvCxnSpPr>
          <p:nvPr/>
        </p:nvCxnSpPr>
        <p:spPr>
          <a:xfrm flipH="1">
            <a:off x="4374000" y="2134800"/>
            <a:ext cx="0" cy="745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4428000" y="215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a:t>
            </a:r>
          </a:p>
        </p:txBody>
      </p:sp>
      <p:cxnSp>
        <p:nvCxnSpPr>
          <p:cNvPr id="50" name="Flèche c3 vers c5"/>
          <p:cNvCxnSpPr>
            <a:stCxn id="33" idx="3"/>
            <a:endCxn id="35" idx="1"/>
          </p:cNvCxnSpPr>
          <p:nvPr/>
        </p:nvCxnSpPr>
        <p:spPr>
          <a:xfrm flipV="1">
            <a:off x="5004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047200" y="161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oui</a:t>
            </a:r>
          </a:p>
        </p:txBody>
      </p:sp>
      <p:cxnSp>
        <p:nvCxnSpPr>
          <p:cNvPr id="52" name="Flèche c5 vers c6"/>
          <p:cNvCxnSpPr>
            <a:stCxn id="35" idx="3"/>
            <a:endCxn id="36" idx="1"/>
          </p:cNvCxnSpPr>
          <p:nvPr/>
        </p:nvCxnSpPr>
        <p:spPr>
          <a:xfrm>
            <a:off x="6606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Flèche c6 vers c5"/>
          <p:cNvCxnSpPr>
            <a:stCxn id="36" idx="0"/>
            <a:endCxn id="35" idx="0"/>
          </p:cNvCxnSpPr>
          <p:nvPr/>
        </p:nvCxnSpPr>
        <p:spPr>
          <a:xfrm flipH="1">
            <a:off x="5976000" y="1450800"/>
            <a:ext cx="1602000" cy="43200"/>
          </a:xfrm>
          <a:prstGeom prst="bentConnector3">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632000" y="1270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 : refaire</a:t>
            </a:r>
          </a:p>
        </p:txBody>
      </p:sp>
      <p:cxnSp>
        <p:nvCxnSpPr>
          <p:cNvPr id="55" name="Flèche c6 vers c7"/>
          <p:cNvCxnSpPr>
            <a:stCxn id="36" idx="3"/>
            <a:endCxn id="37" idx="1"/>
          </p:cNvCxnSpPr>
          <p:nvPr/>
        </p:nvCxnSpPr>
        <p:spPr>
          <a:xfrm flipV="1">
            <a:off x="8208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8251200" y="161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oui</a:t>
            </a:r>
          </a:p>
        </p:txBody>
      </p:sp>
      <p:cxnSp>
        <p:nvCxnSpPr>
          <p:cNvPr id="57" name="Flèche c7 vers c8"/>
          <p:cNvCxnSpPr>
            <a:stCxn id="37" idx="3"/>
            <a:endCxn id="38" idx="1"/>
          </p:cNvCxnSpPr>
          <p:nvPr/>
        </p:nvCxnSpPr>
        <p:spPr>
          <a:xfrm>
            <a:off x="9810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Flèche c8 vers c9"/>
          <p:cNvCxnSpPr>
            <a:stCxn id="38" idx="3"/>
            <a:endCxn id="39" idx="3"/>
          </p:cNvCxnSpPr>
          <p:nvPr/>
        </p:nvCxnSpPr>
        <p:spPr>
          <a:xfrm flipH="1">
            <a:off x="11412000" y="1792800"/>
            <a:ext cx="0" cy="13572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1455200" y="161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oui</a:t>
            </a:r>
          </a:p>
        </p:txBody>
      </p:sp>
      <p:cxnSp>
        <p:nvCxnSpPr>
          <p:cNvPr id="60" name="Flèche c8 vers c10"/>
          <p:cNvCxnSpPr>
            <a:stCxn id="38" idx="2"/>
            <a:endCxn id="40" idx="0"/>
          </p:cNvCxnSpPr>
          <p:nvPr/>
        </p:nvCxnSpPr>
        <p:spPr>
          <a:xfrm flipH="1">
            <a:off x="9180000" y="2134800"/>
            <a:ext cx="1602000" cy="7452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0836000" y="215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a:t>
            </a:r>
          </a:p>
        </p:txBody>
      </p:sp>
      <p:cxnSp>
        <p:nvCxnSpPr>
          <p:cNvPr id="62" name="Flèche c9 vers c10"/>
          <p:cNvCxnSpPr>
            <a:stCxn id="39" idx="1"/>
            <a:endCxn id="40" idx="3"/>
          </p:cNvCxnSpPr>
          <p:nvPr/>
        </p:nvCxnSpPr>
        <p:spPr>
          <a:xfrm flipH="1" flipV="1">
            <a:off x="9810000" y="3150000"/>
            <a:ext cx="34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3" name="Flèche c10 vers c11"/>
          <p:cNvCxnSpPr>
            <a:stCxn id="40" idx="1"/>
            <a:endCxn id="41" idx="3"/>
          </p:cNvCxnSpPr>
          <p:nvPr/>
        </p:nvCxnSpPr>
        <p:spPr>
          <a:xfrm flipH="1" flipV="1">
            <a:off x="8208000" y="3150000"/>
            <a:ext cx="34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4" name="Flèche c11 vers c12"/>
          <p:cNvCxnSpPr>
            <a:stCxn id="41" idx="1"/>
            <a:endCxn id="42" idx="3"/>
          </p:cNvCxnSpPr>
          <p:nvPr/>
        </p:nvCxnSpPr>
        <p:spPr>
          <a:xfrm flipH="1" flipV="1">
            <a:off x="6606000" y="3150000"/>
            <a:ext cx="34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5" name="Flèche c12 vers c13"/>
          <p:cNvCxnSpPr>
            <a:stCxn id="42" idx="2"/>
            <a:endCxn id="43" idx="0"/>
          </p:cNvCxnSpPr>
          <p:nvPr/>
        </p:nvCxnSpPr>
        <p:spPr>
          <a:xfrm flipH="1">
            <a:off x="5976000" y="3420000"/>
            <a:ext cx="0" cy="828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6" name="Flèche c13 vers c14"/>
          <p:cNvCxnSpPr>
            <a:stCxn id="43" idx="3"/>
            <a:endCxn id="44" idx="1"/>
          </p:cNvCxnSpPr>
          <p:nvPr/>
        </p:nvCxnSpPr>
        <p:spPr>
          <a:xfrm>
            <a:off x="6606000" y="4518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7" name="Flèche c14 vers c15"/>
          <p:cNvCxnSpPr>
            <a:stCxn id="44" idx="3"/>
            <a:endCxn id="45" idx="1"/>
          </p:cNvCxnSpPr>
          <p:nvPr/>
        </p:nvCxnSpPr>
        <p:spPr>
          <a:xfrm flipV="1">
            <a:off x="8208000" y="4518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8251200" y="4366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oui</a:t>
            </a:r>
          </a:p>
        </p:txBody>
      </p:sp>
      <p:cxnSp>
        <p:nvCxnSpPr>
          <p:cNvPr id="69" name="Flèche c14 vers c13"/>
          <p:cNvCxnSpPr>
            <a:stCxn id="44" idx="0"/>
            <a:endCxn id="43" idx="0"/>
          </p:cNvCxnSpPr>
          <p:nvPr/>
        </p:nvCxnSpPr>
        <p:spPr>
          <a:xfrm flipH="1">
            <a:off x="5976000" y="4204800"/>
            <a:ext cx="1602000" cy="43200"/>
          </a:xfrm>
          <a:prstGeom prst="bentConnector3">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7632000" y="4024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 : corriger</a:t>
            </a:r>
          </a:p>
        </p:txBody>
      </p:sp>
      <p:sp>
        <p:nvSpPr>
          <p:cNvPr id="71" name="TextBox 70"/>
          <p:cNvSpPr txBox="1"/>
          <p:nvPr/>
        </p:nvSpPr>
        <p:spPr>
          <a:xfrm>
            <a:off x="503999" y="4878000"/>
            <a:ext cx="11232000" cy="990000"/>
          </a:xfrm>
          <a:prstGeom prst="rect">
            <a:avLst/>
          </a:prstGeom>
          <a:noFill/>
        </p:spPr>
        <p:txBody>
          <a:bodyPr wrap="square" lIns="54000" rIns="54000"/>
          <a:lstStyle/>
          <a:p>
            <a:pPr algn="just">
              <a:spcAft>
                <a:spcPts val="600"/>
              </a:spcAft>
            </a:pPr>
            <a:r>
              <a:rPr sz="1050" b="1">
                <a:solidFill>
                  <a:srgbClr val="060606"/>
                </a:solidFill>
                <a:latin typeface="Helvetica"/>
              </a:rPr>
              <a:t>Aucun chiffre n'entre dans le rapport sans avoir passé quatre contrôles.</a:t>
            </a:r>
            <a:r>
              <a:rPr sz="1050" b="0">
                <a:solidFill>
                  <a:srgbClr val="060606"/>
                </a:solidFill>
                <a:latin typeface="Helvetica"/>
              </a:rPr>
              <a:t> Un fichier illisible part dans la liste des fichiers à renvoyer, une conversion inexacte est refaite, une ligne de total ou un montant doublé est écarté et journalisé, et un chiffre affiché qui ne correspond pas à sa valeur exacte est corrigé.</a:t>
            </a:r>
          </a:p>
          <a:p>
            <a:pPr algn="just">
              <a:spcAft>
                <a:spcPts val="600"/>
              </a:spcAft>
            </a:pPr>
            <a:r>
              <a:rPr sz="1050" b="0">
                <a:solidFill>
                  <a:srgbClr val="060606"/>
                </a:solidFill>
                <a:latin typeface="Helvetica"/>
              </a:rPr>
              <a:t>Le FPPN peut retrouver, pour chaque chiffre du rapport, le fichier d'origine, les lignes écartées et le calcul : les écarts relevés peuvent être discutés sur pièces.</a:t>
            </a:r>
          </a:p>
        </p:txBody>
      </p:sp>
      <p:sp>
        <p:nvSpPr>
          <p:cNvPr id="72" name="TextBox 7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PBC : liste des documents demandés au client | SHA-256 : algorithme d'empreinte numérique | CSV : fichier texte de tableau | SHA-256 : algorithme d'empreinte numérique servant à vérifier qu'un fichier n'a pas été modifié</a:t>
            </a:r>
          </a:p>
        </p:txBody>
      </p:sp>
    </p:spTree>
    <p:extLst>
      <p:ext uri="{BB962C8B-B14F-4D97-AF65-F5344CB8AC3E}">
        <p14:creationId xmlns:p14="http://schemas.microsoft.com/office/powerpoint/2010/main" val="1481520595"/>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3</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Données et qualité</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Couverture, contrôles, anomalies détectées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892120873"/>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Exhaustivité</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calcule l'empreinte SHA-256 de chaque fichier et compte lignes et cellules avant et après conversion : 218 fichiers copiés et 491 feuilles converties sont identiques.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Cohérence interne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totaux imprimés par les logiciels sont retrouvés dans les 37 balances âgées du Grenier, et les débits égalent les crédits dans les 7 exercices comptables.</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Rapprochement</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Deux sources qui décrivent le même flux doivent concorder : le taux de précompte rapporte le montant retour au montant aller, poste par poste et mois par mois.</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Ces contrôles prouvent que la base est fidèle aux fichiers reçus. Ils ne prouvent pas que les fichiers du FPPN sont eux-mêmes exacts.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contrôle des données</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Trois contrôles garantissent que la base reproduit fidèlement les fichiers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Exhaustivité, cohérence interne et rapprochement entre sources indépendantes, puis une limite assumée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SHA-256 : algorithme d'empreinte numérique | SHA-256 : algorithme d'empreinte numérique servant à vérifier qu'un fichier n'a pas été modifié</a:t>
            </a:r>
          </a:p>
        </p:txBody>
      </p:sp>
    </p:spTree>
    <p:extLst>
      <p:ext uri="{BB962C8B-B14F-4D97-AF65-F5344CB8AC3E}">
        <p14:creationId xmlns:p14="http://schemas.microsoft.com/office/powerpoint/2010/main" val="3923676554"/>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Couverture de la période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données mensuelles ne couvrent pas les années 2020 à 2022</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Sur 80 mois, seuls la comptabilité et le PEP sont complets. Aucune donnée de prestations n'a été reçue</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6 : Mois reçus par flux de données, sur 80 mois</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nombre de mois (janvier 2020 à août 2026)</a:t>
            </a:r>
          </a:p>
        </p:txBody>
      </p:sp>
      <p:graphicFrame>
        <p:nvGraphicFramePr>
          <p:cNvPr id="32" name="Chart 31"/>
          <p:cNvGraphicFramePr>
            <a:graphicFrameLocks noGrp="1"/>
          </p:cNvGraphicFramePr>
          <p:nvPr/>
        </p:nvGraphicFramePr>
        <p:xfrm>
          <a:off x="503999" y="1782000"/>
          <a:ext cx="5976000" cy="3888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Seules la comptabilité et l'épargne PEP couvrent toute la période d'analyse.</a:t>
            </a:r>
            <a:r>
              <a:rPr sz="1400" b="0">
                <a:solidFill>
                  <a:srgbClr val="060606"/>
                </a:solidFill>
                <a:latin typeface="Helvetica"/>
              </a:rPr>
              <a:t> La comptabilité donne des totaux annuels. Les fichiers texte de la Solde donnent le PEP par mutualiste et par mois de 2020 à 2022.</a:t>
            </a:r>
          </a:p>
          <a:p>
            <a:pPr algn="just">
              <a:spcAft>
                <a:spcPts val="600"/>
              </a:spcAft>
            </a:pPr>
            <a:r>
              <a:rPr sz="1400" b="1">
                <a:solidFill>
                  <a:srgbClr val="060606"/>
                </a:solidFill>
                <a:latin typeface="Helvetica"/>
              </a:rPr>
              <a:t>Les précomptes mensuels commencent en 2023 ou en 2024.</a:t>
            </a:r>
            <a:r>
              <a:rPr sz="1400" b="0">
                <a:solidFill>
                  <a:srgbClr val="060606"/>
                </a:solidFill>
                <a:latin typeface="Helvetica"/>
              </a:rPr>
              <a:t> Les fichiers maladie et décès débutent en janvier 2024, ceux des retraités en février 2024 et ceux de l'EFC en janvier 2023.</a:t>
            </a:r>
          </a:p>
          <a:p>
            <a:pPr algn="just">
              <a:spcAft>
                <a:spcPts val="600"/>
              </a:spcAft>
            </a:pPr>
            <a:r>
              <a:rPr sz="1400" b="1">
                <a:solidFill>
                  <a:srgbClr val="060606"/>
                </a:solidFill>
                <a:latin typeface="Helvetica"/>
              </a:rPr>
              <a:t>Aucune base de prestations n'a été transmise.</a:t>
            </a:r>
            <a:r>
              <a:rPr sz="1400" b="0">
                <a:solidFill>
                  <a:srgbClr val="060606"/>
                </a:solidFill>
                <a:latin typeface="Helvetica"/>
              </a:rPr>
              <a:t> Le coût des soins et des décès n'est connu que par les comptes, sans date de survenance ni bénéficiaire.</a:t>
            </a:r>
          </a:p>
          <a:p>
            <a:pPr algn="just">
              <a:spcAft>
                <a:spcPts val="600"/>
              </a:spcAft>
            </a:pPr>
            <a:r>
              <a:rPr sz="1400" b="0">
                <a:solidFill>
                  <a:srgbClr val="060606"/>
                </a:solidFill>
                <a:latin typeface="Helvetica"/>
              </a:rPr>
              <a:t>Les analyses mensuelles portent sur 2024 à 2026, et les années 2020 à 2023 ne peuvent être analysées qu'en totaux comptables. Les conclusions sur l'évolution de la sinistralité restent donc fragiles tant que les bases de prestations ne sont pas reçues.</a:t>
            </a:r>
          </a:p>
        </p:txBody>
      </p:sp>
      <p:sp>
        <p:nvSpPr>
          <p:cNvPr id="35" name="TextBox 34"/>
          <p:cNvSpPr txBox="1"/>
          <p:nvPr/>
        </p:nvSpPr>
        <p:spPr>
          <a:xfrm>
            <a:off x="503999" y="5688000"/>
            <a:ext cx="5976000" cy="162000"/>
          </a:xfrm>
          <a:prstGeom prst="rect">
            <a:avLst/>
          </a:prstGeom>
          <a:noFill/>
        </p:spPr>
        <p:txBody>
          <a:bodyPr wrap="square" anchor="t" lIns="54000" rIns="54000"/>
          <a:lstStyle/>
          <a:p>
            <a:pPr algn="l"/>
            <a:r>
              <a:rPr sz="850" b="0">
                <a:solidFill>
                  <a:srgbClr val="53565A"/>
                </a:solidFill>
                <a:latin typeface="Helvetica"/>
              </a:rPr>
              <a:t>Valable pour : fichiers de précomptes reçus le 15/10/2026, mois effectivement reçus pour chaque poste (diapositive « Couverture de la période »).</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MEDOC : produit santé complémentaire du poste 8Z7 | 936 : poste maladie | 8Z6 : poste décès | 870 : poste EFC | 998 : poste PEP | 9X4 : poste Grenier | 9W3 : poste flotte automobile | 8Z7 : poste MEDOC</a:t>
            </a:r>
          </a:p>
        </p:txBody>
      </p:sp>
    </p:spTree>
    <p:extLst>
      <p:ext uri="{BB962C8B-B14F-4D97-AF65-F5344CB8AC3E}">
        <p14:creationId xmlns:p14="http://schemas.microsoft.com/office/powerpoint/2010/main" val="556382385"/>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lignes de total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ligne de total cachée aurait doublé les cotisations maladie du mois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Fichier de février 2025 : la dernière ligne porte 202 597 314 FCFA, soit la somme des 27 861 lignes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FPPN-SOLDE\EFFECTIF POLICE (MALADIE)\2025\FEVRIER 2025_effectif_police_936.xlsx (identifiant d'extraction F03875). Noms et matricules masqués</a:t>
            </a:r>
          </a:p>
        </p:txBody>
      </p:sp>
      <p:sp>
        <p:nvSpPr>
          <p:cNvPr id="31" name="TextBox 30"/>
          <p:cNvSpPr txBox="1"/>
          <p:nvPr/>
        </p:nvSpPr>
        <p:spPr>
          <a:xfrm>
            <a:off x="503999" y="1350000"/>
            <a:ext cx="8136000" cy="180000"/>
          </a:xfrm>
          <a:prstGeom prst="rect">
            <a:avLst/>
          </a:prstGeom>
          <a:noFill/>
        </p:spPr>
        <p:txBody>
          <a:bodyPr wrap="square" anchor="t" lIns="54000" rIns="54000"/>
          <a:lstStyle/>
          <a:p>
            <a:pPr algn="l"/>
            <a:r>
              <a:rPr sz="900" b="0">
                <a:solidFill>
                  <a:srgbClr val="53565A"/>
                </a:solidFill>
                <a:latin typeface="Helvetica"/>
              </a:rPr>
              <a:t>Extrait : FPPN-SOLDE\EFFECTIF POLICE (MALADIE)\2025\FEVRIER 2025_effectif_police_936.xlsx</a:t>
            </a:r>
          </a:p>
        </p:txBody>
      </p:sp>
      <p:graphicFrame>
        <p:nvGraphicFramePr>
          <p:cNvPr id="32" name="Table 31"/>
          <p:cNvGraphicFramePr>
            <a:graphicFrameLocks noGrp="1"/>
          </p:cNvGraphicFramePr>
          <p:nvPr/>
        </p:nvGraphicFramePr>
        <p:xfrm>
          <a:off x="503999" y="1548000"/>
          <a:ext cx="8136000" cy="1050045"/>
        </p:xfrm>
        <a:graphic>
          <a:graphicData uri="http://schemas.openxmlformats.org/drawingml/2006/table">
            <a:tbl>
              <a:tblPr firstRow="0" bandRow="0">
                <a:tableStyleId>{5940675A-B579-460E-94D1-54222C63F5DA}</a:tableStyleId>
              </a:tblPr>
              <a:tblGrid>
                <a:gridCol w="720000"/>
                <a:gridCol w="936000"/>
                <a:gridCol w="576000"/>
                <a:gridCol w="1224000"/>
                <a:gridCol w="1296000"/>
                <a:gridCol w="1296000"/>
                <a:gridCol w="1224000"/>
                <a:gridCol w="864000"/>
              </a:tblGrid>
              <a:tr h="210009">
                <a:tc>
                  <a:txBody>
                    <a:bodyPr/>
                    <a:lstStyle/>
                    <a:p>
                      <a:pPr marL="0" indent="0" lvl="0">
                        <a:buNone/>
                      </a:pPr>
                      <a:r>
                        <a:rPr sz="1000" b="1">
                          <a:solidFill>
                            <a:srgbClr val="FFFFFF"/>
                          </a:solidFill>
                          <a:latin typeface="Helvetica"/>
                        </a:rPr>
                        <a:t>Poste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Référence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Org</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Matricule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Nom</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Début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Fin</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936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175***Z</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 Z.</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22883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2011-04-01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936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59</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175***S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 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22003</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2011-04-01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936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175***P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K. T. I.</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22003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2000-08-01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27 861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202597314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r>
            </a:tbl>
          </a:graphicData>
        </a:graphic>
      </p:graphicFrame>
      <p:sp>
        <p:nvSpPr>
          <p:cNvPr id="33" name="Rounded Rectangle 32"/>
          <p:cNvSpPr/>
          <p:nvPr/>
        </p:nvSpPr>
        <p:spPr>
          <a:xfrm>
            <a:off x="2718000" y="2377238"/>
            <a:ext cx="126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780000"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238000" y="2377238"/>
            <a:ext cx="1332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372000"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856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9216000" y="1530000"/>
            <a:ext cx="2519999" cy="670023"/>
          </a:xfrm>
          <a:prstGeom prst="rect">
            <a:avLst/>
          </a:prstGeom>
          <a:noFill/>
        </p:spPr>
        <p:txBody>
          <a:bodyPr wrap="square" anchor="t" lIns="54000" rIns="54000"/>
          <a:lstStyle/>
          <a:p>
            <a:pPr algn="l"/>
            <a:r>
              <a:rPr sz="1200" b="0">
                <a:solidFill>
                  <a:srgbClr val="060606"/>
                </a:solidFill>
                <a:latin typeface="Helvetica"/>
              </a:rPr>
              <a:t>La colonne « matricule » de la dernière ligne contient le nombre de lignes du fichier.</a:t>
            </a:r>
          </a:p>
        </p:txBody>
      </p:sp>
      <p:sp>
        <p:nvSpPr>
          <p:cNvPr id="39" name="Oval 38"/>
          <p:cNvSpPr/>
          <p:nvPr/>
        </p:nvSpPr>
        <p:spPr>
          <a:xfrm>
            <a:off x="8856000" y="2308023"/>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9216000" y="2290023"/>
            <a:ext cx="2519999" cy="670023"/>
          </a:xfrm>
          <a:prstGeom prst="rect">
            <a:avLst/>
          </a:prstGeom>
          <a:noFill/>
        </p:spPr>
        <p:txBody>
          <a:bodyPr wrap="square" anchor="t" lIns="54000" rIns="54000"/>
          <a:lstStyle/>
          <a:p>
            <a:pPr algn="l"/>
            <a:r>
              <a:rPr sz="1200" b="0">
                <a:solidFill>
                  <a:srgbClr val="060606"/>
                </a:solidFill>
                <a:latin typeface="Helvetica"/>
              </a:rPr>
              <a:t>Le montant de 202 597 314 FCFA est la somme de toutes les lignes au-dessus.</a:t>
            </a:r>
          </a:p>
        </p:txBody>
      </p:sp>
      <p:sp>
        <p:nvSpPr>
          <p:cNvPr id="41" name="Oval 40"/>
          <p:cNvSpPr/>
          <p:nvPr/>
        </p:nvSpPr>
        <p:spPr>
          <a:xfrm>
            <a:off x="8856000" y="3068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9216000" y="3050047"/>
            <a:ext cx="2519999" cy="855963"/>
          </a:xfrm>
          <a:prstGeom prst="rect">
            <a:avLst/>
          </a:prstGeom>
          <a:noFill/>
        </p:spPr>
        <p:txBody>
          <a:bodyPr wrap="square" anchor="t" lIns="54000" rIns="54000"/>
          <a:lstStyle/>
          <a:p>
            <a:pPr algn="l"/>
            <a:r>
              <a:rPr sz="1200" b="0">
                <a:solidFill>
                  <a:srgbClr val="060606"/>
                </a:solidFill>
                <a:latin typeface="Helvetica"/>
              </a:rPr>
              <a:t>Adenka écarte cette ligne et les 87 lignes du même type, ce qui évite 10 340 860 286 FCFA de double compte.</a:t>
            </a:r>
          </a:p>
        </p:txBody>
      </p:sp>
      <p:sp>
        <p:nvSpPr>
          <p:cNvPr id="43" name="TextBox 42"/>
          <p:cNvSpPr txBox="1"/>
          <p:nvPr/>
        </p:nvSpPr>
        <p:spPr>
          <a:xfrm>
            <a:off x="8856000" y="4086011"/>
            <a:ext cx="2879999" cy="1781988"/>
          </a:xfrm>
          <a:prstGeom prst="rect">
            <a:avLst/>
          </a:prstGeom>
          <a:noFill/>
        </p:spPr>
        <p:txBody>
          <a:bodyPr wrap="square" lIns="54000" rIns="54000"/>
          <a:lstStyle/>
          <a:p>
            <a:pPr algn="just">
              <a:spcAft>
                <a:spcPts val="600"/>
              </a:spcAft>
            </a:pPr>
            <a:r>
              <a:rPr sz="1150" b="1">
                <a:solidFill>
                  <a:srgbClr val="060606"/>
                </a:solidFill>
                <a:latin typeface="Helvetica"/>
              </a:rPr>
              <a:t>Une simple somme des fichiers aurait gonflé les cotisations.</a:t>
            </a:r>
            <a:r>
              <a:rPr sz="1150" b="0">
                <a:solidFill>
                  <a:srgbClr val="060606"/>
                </a:solidFill>
                <a:latin typeface="Helvetica"/>
              </a:rPr>
              <a:t> Les lignes de total ont la même forme que les lignes des mutualistes et ne se repèrent que par le calcul.</a:t>
            </a:r>
          </a:p>
          <a:p>
            <a:pPr algn="just">
              <a:spcAft>
                <a:spcPts val="600"/>
              </a:spcAft>
            </a:pPr>
            <a:r>
              <a:rPr sz="1150" b="0">
                <a:solidFill>
                  <a:srgbClr val="060606"/>
                </a:solidFill>
                <a:latin typeface="Helvetica"/>
              </a:rPr>
              <a:t>Le FPPN doit retirer ces lignes de total de ses fichiers, ou les isoler, avant tout traitement automatique.</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936 : poste maladie</a:t>
            </a:r>
          </a:p>
        </p:txBody>
      </p:sp>
    </p:spTree>
    <p:extLst>
      <p:ext uri="{BB962C8B-B14F-4D97-AF65-F5344CB8AC3E}">
        <p14:creationId xmlns:p14="http://schemas.microsoft.com/office/powerpoint/2010/main" val="3457619058"/>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montants doublés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Des montants saisis deux fois à la suite gonflaient les précomptes décès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Avril 2024 : 17 montants de plus d'un million de FCFA sont des montants écrits deux fois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FPPN-SOLDE\ALLOCATION DECES\2024\FPPN_ALLOC_DECES_8Z6_AVRIL_2024.xlsx. Noms et matricules masqués</a:t>
            </a:r>
          </a:p>
        </p:txBody>
      </p:sp>
      <p:sp>
        <p:nvSpPr>
          <p:cNvPr id="31" name="TextBox 30"/>
          <p:cNvSpPr txBox="1"/>
          <p:nvPr/>
        </p:nvSpPr>
        <p:spPr>
          <a:xfrm>
            <a:off x="503999" y="1350000"/>
            <a:ext cx="7920000" cy="180000"/>
          </a:xfrm>
          <a:prstGeom prst="rect">
            <a:avLst/>
          </a:prstGeom>
          <a:noFill/>
        </p:spPr>
        <p:txBody>
          <a:bodyPr wrap="square" anchor="t" lIns="54000" rIns="54000"/>
          <a:lstStyle/>
          <a:p>
            <a:pPr algn="l"/>
            <a:r>
              <a:rPr sz="900" b="0">
                <a:solidFill>
                  <a:srgbClr val="53565A"/>
                </a:solidFill>
                <a:latin typeface="Helvetica"/>
              </a:rPr>
              <a:t>Extrait : FPPN-SOLDE\ALLOCATION DECES\2024\FPPN_ALLOC_DECES_8Z6_AVRIL_2024.xlsx</a:t>
            </a:r>
          </a:p>
        </p:txBody>
      </p:sp>
      <p:graphicFrame>
        <p:nvGraphicFramePr>
          <p:cNvPr id="32" name="Table 31"/>
          <p:cNvGraphicFramePr>
            <a:graphicFrameLocks noGrp="1"/>
          </p:cNvGraphicFramePr>
          <p:nvPr/>
        </p:nvGraphicFramePr>
        <p:xfrm>
          <a:off x="503999" y="1548000"/>
          <a:ext cx="7920000" cy="1050045"/>
        </p:xfrm>
        <a:graphic>
          <a:graphicData uri="http://schemas.openxmlformats.org/drawingml/2006/table">
            <a:tbl>
              <a:tblPr firstRow="0" bandRow="0">
                <a:tableStyleId>{5940675A-B579-460E-94D1-54222C63F5DA}</a:tableStyleId>
              </a:tblPr>
              <a:tblGrid>
                <a:gridCol w="1440000"/>
                <a:gridCol w="1440000"/>
                <a:gridCol w="2880000"/>
                <a:gridCol w="2160000"/>
              </a:tblGrid>
              <a:tr h="210009">
                <a:tc>
                  <a:txBody>
                    <a:bodyPr/>
                    <a:lstStyle/>
                    <a:p>
                      <a:pPr marL="0" indent="0" lvl="0">
                        <a:buNone/>
                      </a:pPr>
                      <a:r>
                        <a:rPr sz="1000" b="1">
                          <a:solidFill>
                            <a:srgbClr val="FFFFFF"/>
                          </a:solidFill>
                          <a:latin typeface="Helvetica"/>
                        </a:rPr>
                        <a:t>Matricule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Nom</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dans le fichier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corrigé</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260***E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K. N. K.</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4792447924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47924</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463***P</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 G. 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3506635066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35066</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498***P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 E. D.</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3379533795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33795</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300***Y</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O. B. F.</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3328733287</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33287</a:t>
                      </a:r>
                    </a:p>
                  </a:txBody>
                  <a:tcPr marL="43200" marR="43200" marT="14400" marB="14400" anchor="ctr">
                    <a:solidFill>
                      <a:srgbClr val="F2F2F2"/>
                    </a:solidFill>
                  </a:tcPr>
                </a:tc>
              </a:tr>
            </a:tbl>
          </a:graphicData>
        </a:graphic>
      </p:graphicFrame>
      <p:sp>
        <p:nvSpPr>
          <p:cNvPr id="33" name="Rounded Rectangle 32"/>
          <p:cNvSpPr/>
          <p:nvPr/>
        </p:nvSpPr>
        <p:spPr>
          <a:xfrm>
            <a:off x="3366000" y="1747209"/>
            <a:ext cx="2916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083999"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6245999" y="1747209"/>
            <a:ext cx="2196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243999"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640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9000000" y="1530000"/>
            <a:ext cx="2736000" cy="484084"/>
          </a:xfrm>
          <a:prstGeom prst="rect">
            <a:avLst/>
          </a:prstGeom>
          <a:noFill/>
        </p:spPr>
        <p:txBody>
          <a:bodyPr wrap="square" anchor="t" lIns="54000" rIns="54000"/>
          <a:lstStyle/>
          <a:p>
            <a:pPr algn="l"/>
            <a:r>
              <a:rPr sz="1200" b="0">
                <a:solidFill>
                  <a:srgbClr val="060606"/>
                </a:solidFill>
                <a:latin typeface="Helvetica"/>
              </a:rPr>
              <a:t>Le montant du fichier répète deux fois la suite « 47924 ».</a:t>
            </a:r>
          </a:p>
        </p:txBody>
      </p:sp>
      <p:sp>
        <p:nvSpPr>
          <p:cNvPr id="39" name="Oval 38"/>
          <p:cNvSpPr/>
          <p:nvPr/>
        </p:nvSpPr>
        <p:spPr>
          <a:xfrm>
            <a:off x="8640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9000000" y="2104084"/>
            <a:ext cx="2736000" cy="670023"/>
          </a:xfrm>
          <a:prstGeom prst="rect">
            <a:avLst/>
          </a:prstGeom>
          <a:noFill/>
        </p:spPr>
        <p:txBody>
          <a:bodyPr wrap="square" anchor="t" lIns="54000" rIns="54000"/>
          <a:lstStyle/>
          <a:p>
            <a:pPr algn="l"/>
            <a:r>
              <a:rPr sz="1200" b="0">
                <a:solidFill>
                  <a:srgbClr val="060606"/>
                </a:solidFill>
                <a:latin typeface="Helvetica"/>
              </a:rPr>
              <a:t>Un précompte décès de plus d'un million de FCFA par agent est impossible.</a:t>
            </a:r>
          </a:p>
        </p:txBody>
      </p:sp>
      <p:sp>
        <p:nvSpPr>
          <p:cNvPr id="41" name="Oval 40"/>
          <p:cNvSpPr/>
          <p:nvPr/>
        </p:nvSpPr>
        <p:spPr>
          <a:xfrm>
            <a:off x="8640000" y="288210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9000000" y="2864108"/>
            <a:ext cx="2736000" cy="670023"/>
          </a:xfrm>
          <a:prstGeom prst="rect">
            <a:avLst/>
          </a:prstGeom>
          <a:noFill/>
        </p:spPr>
        <p:txBody>
          <a:bodyPr wrap="square" anchor="t" lIns="54000" rIns="54000"/>
          <a:lstStyle/>
          <a:p>
            <a:pPr algn="l"/>
            <a:r>
              <a:rPr sz="1200" b="0">
                <a:solidFill>
                  <a:srgbClr val="060606"/>
                </a:solidFill>
                <a:latin typeface="Helvetica"/>
              </a:rPr>
              <a:t>Adenka retient la première moitié du montant et signale la ligne au FPPN.</a:t>
            </a:r>
          </a:p>
        </p:txBody>
      </p:sp>
      <p:sp>
        <p:nvSpPr>
          <p:cNvPr id="43" name="TextBox 42"/>
          <p:cNvSpPr txBox="1"/>
          <p:nvPr/>
        </p:nvSpPr>
        <p:spPr>
          <a:xfrm>
            <a:off x="8640000" y="3714132"/>
            <a:ext cx="3096000" cy="2153867"/>
          </a:xfrm>
          <a:prstGeom prst="rect">
            <a:avLst/>
          </a:prstGeom>
          <a:noFill/>
        </p:spPr>
        <p:txBody>
          <a:bodyPr wrap="square" lIns="54000" rIns="54000"/>
          <a:lstStyle/>
          <a:p>
            <a:pPr algn="just">
              <a:spcAft>
                <a:spcPts val="600"/>
              </a:spcAft>
            </a:pPr>
            <a:r>
              <a:rPr sz="1200" b="1">
                <a:solidFill>
                  <a:srgbClr val="060606"/>
                </a:solidFill>
                <a:latin typeface="Helvetica"/>
              </a:rPr>
              <a:t>L'erreur vient de la saisie du fichier source, pas d'un calcul.</a:t>
            </a:r>
            <a:r>
              <a:rPr sz="1200" b="0">
                <a:solidFill>
                  <a:srgbClr val="060606"/>
                </a:solidFill>
                <a:latin typeface="Helvetica"/>
              </a:rPr>
              <a:t> Les deux moitiés du montant sont identiques, ce qui signe une double frappe.</a:t>
            </a:r>
          </a:p>
          <a:p>
            <a:pPr algn="just">
              <a:spcAft>
                <a:spcPts val="600"/>
              </a:spcAft>
            </a:pPr>
            <a:r>
              <a:rPr sz="1200" b="0">
                <a:solidFill>
                  <a:srgbClr val="060606"/>
                </a:solidFill>
                <a:latin typeface="Helvetica"/>
              </a:rPr>
              <a:t>La correction est limitée au poste décès et à un seuil d'un million de FCFA pour ne pas modifier de montants réels. Le FPPN doit confirmer chaque ligne signalée.</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99426936"/>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Rapprochement aller et retour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Solde précompte en moyenne 97 à 100 % des montants demandés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Sur les mois communs, l'écart moyen est faible, mais certains mois s'écartent fortement</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7 : Montant précompté rapporté au montant demandé, mois communs</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 du montant demandé</a:t>
            </a:r>
          </a:p>
        </p:txBody>
      </p:sp>
      <p:graphicFrame>
        <p:nvGraphicFramePr>
          <p:cNvPr id="32" name="Chart 31"/>
          <p:cNvGraphicFramePr>
            <a:graphicFrameLocks noGrp="1"/>
          </p:cNvGraphicFramePr>
          <p:nvPr/>
        </p:nvGraphicFramePr>
        <p:xfrm>
          <a:off x="503999" y="1782000"/>
          <a:ext cx="5976000" cy="3888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La Solde et la CGRAE retiennent presque tout ce que le FPPN demande.</a:t>
            </a:r>
            <a:r>
              <a:rPr sz="1400" b="0">
                <a:solidFill>
                  <a:srgbClr val="060606"/>
                </a:solidFill>
                <a:latin typeface="Helvetica"/>
              </a:rPr>
              <a:t> Le taux moyen va de 97,41 % à 100,19 % selon le poste.</a:t>
            </a:r>
          </a:p>
          <a:p>
            <a:pPr algn="just">
              <a:spcAft>
                <a:spcPts val="600"/>
              </a:spcAft>
            </a:pPr>
            <a:r>
              <a:rPr sz="1400" b="1">
                <a:solidFill>
                  <a:srgbClr val="060606"/>
                </a:solidFill>
                <a:latin typeface="Helvetica"/>
              </a:rPr>
              <a:t>Certains mois s'écartent nettement de la moyenne.</a:t>
            </a:r>
            <a:r>
              <a:rPr sz="1400" b="0">
                <a:solidFill>
                  <a:srgbClr val="060606"/>
                </a:solidFill>
                <a:latin typeface="Helvetica"/>
              </a:rPr>
              <a:t> Le mois le plus bas atteint 69,19 % pour le Grenier et 76,96 % pour le PEP.</a:t>
            </a:r>
          </a:p>
          <a:p>
            <a:pPr algn="just">
              <a:spcAft>
                <a:spcPts val="600"/>
              </a:spcAft>
            </a:pPr>
            <a:r>
              <a:rPr sz="1400" b="1">
                <a:solidFill>
                  <a:srgbClr val="060606"/>
                </a:solidFill>
                <a:latin typeface="Helvetica"/>
              </a:rPr>
              <a:t>Ces écarts traduisent des rejets ou des fichiers incomplets.</a:t>
            </a:r>
            <a:r>
              <a:rPr sz="1400" b="0">
                <a:solidFill>
                  <a:srgbClr val="060606"/>
                </a:solidFill>
                <a:latin typeface="Helvetica"/>
              </a:rPr>
              <a:t> Le FPPN ne rapproche pas les fichiers aller et retour et ne reçoit les motifs de rejet que depuis environ deux mois (déclaration du responsable des cotisations, entretien du 19/10/2026, à confirmer par document).</a:t>
            </a:r>
          </a:p>
          <a:p>
            <a:pPr algn="just">
              <a:spcAft>
                <a:spcPts val="600"/>
              </a:spcAft>
            </a:pPr>
            <a:r>
              <a:rPr sz="1400" b="0">
                <a:solidFill>
                  <a:srgbClr val="060606"/>
                </a:solidFill>
                <a:latin typeface="Helvetica"/>
              </a:rPr>
              <a:t>Pour les retraités, le taux mesuré sert d'indicateur de recouvrement des cotisations : il respecte la norme d'au moins 90 % de la Décision n° 05/2022. Pour les cotisations maladie et décès des actifs, le calcul attend les fichiers aller, que la direction du personnel de la Police transmet directement à la Solde.</a:t>
            </a:r>
          </a:p>
        </p:txBody>
      </p:sp>
      <p:sp>
        <p:nvSpPr>
          <p:cNvPr id="35" name="TextBox 34"/>
          <p:cNvSpPr txBox="1"/>
          <p:nvPr/>
        </p:nvSpPr>
        <p:spPr>
          <a:xfrm>
            <a:off x="503999" y="5688000"/>
            <a:ext cx="5976000" cy="162000"/>
          </a:xfrm>
          <a:prstGeom prst="rect">
            <a:avLst/>
          </a:prstGeom>
          <a:noFill/>
        </p:spPr>
        <p:txBody>
          <a:bodyPr wrap="square" anchor="t" lIns="54000" rIns="54000"/>
          <a:lstStyle/>
          <a:p>
            <a:pPr algn="l"/>
            <a:r>
              <a:rPr sz="850" b="0">
                <a:solidFill>
                  <a:srgbClr val="53565A"/>
                </a:solidFill>
                <a:latin typeface="Helvetica"/>
              </a:rPr>
              <a:t>Valable pour : fichiers de précomptes reçus le 15/10/2026, mois effectivement reçus pour chaque poste (diapositive « Couverture de la période »).</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MEDOC : produit santé complémentaire du poste 8Z7 | 870 : poste EFC | 998 : poste PEP | 9X4 : poste Grenier | 9W3 : poste flotte automobile | 8Z7 : poste MEDOC</a:t>
            </a:r>
          </a:p>
        </p:txBody>
      </p:sp>
    </p:spTree>
    <p:extLst>
      <p:ext uri="{BB962C8B-B14F-4D97-AF65-F5344CB8AC3E}">
        <p14:creationId xmlns:p14="http://schemas.microsoft.com/office/powerpoint/2010/main" val="3029993263"/>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écarts du PEP</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deux mois extrêmes du PEP s'expliquent par le contenu des fichiers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Janvier 2025 : 76,96 %. Juillet 2024 : 150,62 %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1" name="TextBox 30"/>
          <p:cNvSpPr txBox="1"/>
          <p:nvPr/>
        </p:nvSpPr>
        <p:spPr>
          <a:xfrm>
            <a:off x="503999" y="1350000"/>
            <a:ext cx="10080000" cy="180000"/>
          </a:xfrm>
          <a:prstGeom prst="rect">
            <a:avLst/>
          </a:prstGeom>
          <a:noFill/>
        </p:spPr>
        <p:txBody>
          <a:bodyPr wrap="square" anchor="t" lIns="54000" rIns="54000"/>
          <a:lstStyle/>
          <a:p>
            <a:pPr algn="l"/>
            <a:r>
              <a:rPr sz="900" b="0">
                <a:solidFill>
                  <a:srgbClr val="53565A"/>
                </a:solidFill>
                <a:latin typeface="Helvetica"/>
              </a:rPr>
              <a:t>Extrait : FPPN-SOLDE\PEP\FICHIER ALLER et FICHIER RETOUR</a:t>
            </a:r>
          </a:p>
        </p:txBody>
      </p:sp>
      <p:graphicFrame>
        <p:nvGraphicFramePr>
          <p:cNvPr id="32" name="Table 31"/>
          <p:cNvGraphicFramePr>
            <a:graphicFrameLocks noGrp="1"/>
          </p:cNvGraphicFramePr>
          <p:nvPr/>
        </p:nvGraphicFramePr>
        <p:xfrm>
          <a:off x="503999" y="1548000"/>
          <a:ext cx="10080000" cy="782437"/>
        </p:xfrm>
        <a:graphic>
          <a:graphicData uri="http://schemas.openxmlformats.org/drawingml/2006/table">
            <a:tbl>
              <a:tblPr firstRow="0" bandRow="0">
                <a:tableStyleId>{5940675A-B579-460E-94D1-54222C63F5DA}</a:tableStyleId>
              </a:tblPr>
              <a:tblGrid>
                <a:gridCol w="864000"/>
                <a:gridCol w="2376000"/>
                <a:gridCol w="936000"/>
                <a:gridCol w="1944000"/>
                <a:gridCol w="936000"/>
                <a:gridCol w="1944000"/>
                <a:gridCol w="1080000"/>
              </a:tblGrid>
              <a:tr h="362419">
                <a:tc>
                  <a:txBody>
                    <a:bodyPr/>
                    <a:lstStyle/>
                    <a:p>
                      <a:pPr marL="0" indent="0" lvl="0">
                        <a:buNone/>
                      </a:pPr>
                      <a:r>
                        <a:rPr sz="1000" b="1">
                          <a:solidFill>
                            <a:srgbClr val="FFFFFF"/>
                          </a:solidFill>
                          <a:latin typeface="Helvetica"/>
                        </a:rPr>
                        <a:t>Mois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Fichier aller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Lignes aller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aller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Lignes retour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retour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Taux</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janv. 2025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FICHIER ALLER JANVIER 2025.xlsx</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12 256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156 130 575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9 679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120 164 075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76,96 %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juil. 2024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FICHIER ALLER JUILLET 2024.xlsx</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7 180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97 910 325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11 654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147 477 325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150,62 %</a:t>
                      </a:r>
                    </a:p>
                  </a:txBody>
                  <a:tcPr marL="43200" marR="43200" marT="14400" marB="14400" anchor="ctr">
                    <a:solidFill>
                      <a:srgbClr val="F2F2F2"/>
                    </a:solidFill>
                  </a:tcPr>
                </a:tc>
              </a:tr>
            </a:tbl>
          </a:graphicData>
        </a:graphic>
      </p:graphicFrame>
      <p:sp>
        <p:nvSpPr>
          <p:cNvPr id="33" name="Rounded Rectangle 32"/>
          <p:cNvSpPr/>
          <p:nvPr/>
        </p:nvSpPr>
        <p:spPr>
          <a:xfrm>
            <a:off x="6605999" y="1899619"/>
            <a:ext cx="972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380000" y="174841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6605999" y="2109628"/>
            <a:ext cx="972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380000" y="19584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503999" y="24564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864000" y="2438438"/>
            <a:ext cx="9720000" cy="298144"/>
          </a:xfrm>
          <a:prstGeom prst="rect">
            <a:avLst/>
          </a:prstGeom>
          <a:noFill/>
        </p:spPr>
        <p:txBody>
          <a:bodyPr wrap="square" anchor="t" lIns="54000" rIns="54000"/>
          <a:lstStyle/>
          <a:p>
            <a:pPr algn="l"/>
            <a:r>
              <a:rPr sz="1200" b="0">
                <a:solidFill>
                  <a:srgbClr val="060606"/>
                </a:solidFill>
                <a:latin typeface="Helvetica"/>
              </a:rPr>
              <a:t>En janvier 2025, 2 577 épargnants demandés n'ont pas été précomptés.</a:t>
            </a:r>
          </a:p>
        </p:txBody>
      </p:sp>
      <p:sp>
        <p:nvSpPr>
          <p:cNvPr id="39" name="Oval 38"/>
          <p:cNvSpPr/>
          <p:nvPr/>
        </p:nvSpPr>
        <p:spPr>
          <a:xfrm>
            <a:off x="503999" y="2844582"/>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864000" y="2826582"/>
            <a:ext cx="9720000" cy="298144"/>
          </a:xfrm>
          <a:prstGeom prst="rect">
            <a:avLst/>
          </a:prstGeom>
          <a:noFill/>
        </p:spPr>
        <p:txBody>
          <a:bodyPr wrap="square" anchor="t" lIns="54000" rIns="54000"/>
          <a:lstStyle/>
          <a:p>
            <a:pPr algn="l"/>
            <a:r>
              <a:rPr sz="1200" b="0">
                <a:solidFill>
                  <a:srgbClr val="060606"/>
                </a:solidFill>
                <a:latin typeface="Helvetica"/>
              </a:rPr>
              <a:t>En juillet 2024, le fichier retour compte 4 474 lignes de plus que le fichier aller.</a:t>
            </a:r>
          </a:p>
        </p:txBody>
      </p:sp>
      <p:sp>
        <p:nvSpPr>
          <p:cNvPr id="41" name="Oval 40"/>
          <p:cNvSpPr/>
          <p:nvPr/>
        </p:nvSpPr>
        <p:spPr>
          <a:xfrm>
            <a:off x="503999" y="323272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864000" y="3214727"/>
            <a:ext cx="9720000" cy="298144"/>
          </a:xfrm>
          <a:prstGeom prst="rect">
            <a:avLst/>
          </a:prstGeom>
          <a:noFill/>
        </p:spPr>
        <p:txBody>
          <a:bodyPr wrap="square" anchor="t" lIns="54000" rIns="54000"/>
          <a:lstStyle/>
          <a:p>
            <a:pPr algn="l"/>
            <a:r>
              <a:rPr sz="1200" b="0">
                <a:solidFill>
                  <a:srgbClr val="060606"/>
                </a:solidFill>
                <a:latin typeface="Helvetica"/>
              </a:rPr>
              <a:t>Le taux mensuel dépend donc de la qualité des deux fichiers, et le FPPN doit tenir un état des rejets.</a:t>
            </a:r>
          </a:p>
        </p:txBody>
      </p:sp>
      <p:sp>
        <p:nvSpPr>
          <p:cNvPr id="43" name="TextBox 42"/>
          <p:cNvSpPr txBox="1"/>
          <p:nvPr/>
        </p:nvSpPr>
        <p:spPr>
          <a:xfrm>
            <a:off x="503999" y="3656871"/>
            <a:ext cx="11232000" cy="2211128"/>
          </a:xfrm>
          <a:prstGeom prst="rect">
            <a:avLst/>
          </a:prstGeom>
          <a:noFill/>
        </p:spPr>
        <p:txBody>
          <a:bodyPr wrap="square" lIns="54000" rIns="54000"/>
          <a:lstStyle/>
          <a:p>
            <a:pPr algn="just">
              <a:spcAft>
                <a:spcPts val="600"/>
              </a:spcAft>
            </a:pPr>
            <a:r>
              <a:rPr sz="1200" b="1">
                <a:solidFill>
                  <a:srgbClr val="060606"/>
                </a:solidFill>
                <a:latin typeface="Helvetica"/>
              </a:rPr>
              <a:t>Un taux supérieur à 100 % ne signifie pas un trop-perçu.</a:t>
            </a:r>
            <a:r>
              <a:rPr sz="1200" b="0">
                <a:solidFill>
                  <a:srgbClr val="060606"/>
                </a:solidFill>
                <a:latin typeface="Helvetica"/>
              </a:rPr>
              <a:t> Il révèle un fichier aller incomplet, qui n'inclut pas les nouveaux épargnants.</a:t>
            </a:r>
          </a:p>
          <a:p>
            <a:pPr algn="just">
              <a:spcAft>
                <a:spcPts val="600"/>
              </a:spcAft>
            </a:pPr>
            <a:r>
              <a:rPr sz="1200" b="0">
                <a:solidFill>
                  <a:srgbClr val="060606"/>
                </a:solidFill>
                <a:latin typeface="Helvetica"/>
              </a:rPr>
              <a:t>Sans état des rejets, le FPPN ne peut pas prouver que chaque épargnant a été précompté du bon montant : c'est une condition pour reconstituer les comptes individuels.</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a:t>
            </a:r>
          </a:p>
        </p:txBody>
      </p:sp>
    </p:spTree>
    <p:extLst>
      <p:ext uri="{BB962C8B-B14F-4D97-AF65-F5344CB8AC3E}">
        <p14:creationId xmlns:p14="http://schemas.microsoft.com/office/powerpoint/2010/main" val="2160282188"/>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Fichiers vides ou endommagés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Onze fichiers sont vides, illisibles ou mal classés et doivent être renvoyés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fichiers comptables endommagés ont tous un double lisible, sauf le grand livre des comptes 2022</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journal de contrôle de l'extraction. Note interne des anomalies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14 : Fichiers à renvoyer ou à corriger</a:t>
            </a:r>
          </a:p>
        </p:txBody>
      </p:sp>
      <p:graphicFrame>
        <p:nvGraphicFramePr>
          <p:cNvPr id="32" name="Table 31"/>
          <p:cNvGraphicFramePr>
            <a:graphicFrameLocks noGrp="1"/>
          </p:cNvGraphicFramePr>
          <p:nvPr/>
        </p:nvGraphicFramePr>
        <p:xfrm>
          <a:off x="503999" y="1655999"/>
          <a:ext cx="11232000" cy="1969651"/>
        </p:xfrm>
        <a:graphic>
          <a:graphicData uri="http://schemas.openxmlformats.org/drawingml/2006/table">
            <a:tbl>
              <a:tblPr firstRow="0" bandRow="0">
                <a:tableStyleId>{5940675A-B579-460E-94D1-54222C63F5DA}</a:tableStyleId>
              </a:tblPr>
              <a:tblGrid>
                <a:gridCol w="4104000"/>
                <a:gridCol w="2232000"/>
                <a:gridCol w="4896000"/>
              </a:tblGrid>
              <a:tr h="225250">
                <a:tc>
                  <a:txBody>
                    <a:bodyPr/>
                    <a:lstStyle/>
                    <a:p>
                      <a:pPr marL="0" indent="0" lvl="0">
                        <a:buNone/>
                      </a:pPr>
                      <a:r>
                        <a:rPr sz="1100" b="1">
                          <a:solidFill>
                            <a:srgbClr val="FFFFFF"/>
                          </a:solidFill>
                          <a:latin typeface="Helvetica"/>
                        </a:rPr>
                        <a:t>Fichier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Défaut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Conséquence</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Décès 8Z6 et maladie 936, décembre 2024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Vides (0 octet)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 mois de décembre 2024 n'a aucune donnée.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MEDOC 8Z7, retours de février et avril 2026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Aucune ligne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précomptes MEDOC de ces deux mois sont inconnus.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Balances des tiers 2021 et 2025 (Excel)</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Endommagées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Adenka a utilisé les PDF lisibles.</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Grands livres des comptes 2021 et 2024 (Excel)</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Endommagés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Adenka a utilisé les PDF lisibles.</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Grand livre des comptes 2022 (Excel et PDF)</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Endommagés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Adenka a récupéré 417 pages sur 657. La balance 2022 est intacte.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Grands livres des tiers 2023 et 2025 (Excel)</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Endommagés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Adenka a utilisé les PDF lisibles.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Fichiers aller rangés dans les dossiers retour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Mal classés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retours de CGRAE juin 2024 et GNA janvier 2026 manquent.</a:t>
                      </a:r>
                    </a:p>
                  </a:txBody>
                  <a:tcPr marL="43200" marR="43200" marT="14400" marB="14400" anchor="ctr">
                    <a:solidFill>
                      <a:srgbClr val="FFFFFF"/>
                    </a:solidFill>
                  </a:tcPr>
                </a:tc>
              </a:tr>
            </a:tbl>
          </a:graphicData>
        </a:graphic>
      </p:graphicFrame>
      <p:sp>
        <p:nvSpPr>
          <p:cNvPr id="33" name="TextBox 32"/>
          <p:cNvSpPr txBox="1"/>
          <p:nvPr/>
        </p:nvSpPr>
        <p:spPr>
          <a:xfrm>
            <a:off x="503999" y="3643655"/>
            <a:ext cx="11232000" cy="162000"/>
          </a:xfrm>
          <a:prstGeom prst="rect">
            <a:avLst/>
          </a:prstGeom>
          <a:noFill/>
        </p:spPr>
        <p:txBody>
          <a:bodyPr wrap="square" anchor="t" lIns="54000" rIns="54000"/>
          <a:lstStyle/>
          <a:p>
            <a:pPr algn="l"/>
            <a:r>
              <a:rPr sz="850" b="0">
                <a:solidFill>
                  <a:srgbClr val="53565A"/>
                </a:solidFill>
                <a:latin typeface="Helvetica"/>
              </a:rPr>
              <a:t>Valable pour : fichiers de précomptes reçus le 15/10/2026, mois effectivement reçus pour chaque poste (diapositive « Couverture de la période »).</a:t>
            </a:r>
          </a:p>
        </p:txBody>
      </p:sp>
      <p:sp>
        <p:nvSpPr>
          <p:cNvPr id="34" name="TextBox 33"/>
          <p:cNvSpPr txBox="1"/>
          <p:nvPr/>
        </p:nvSpPr>
        <p:spPr>
          <a:xfrm>
            <a:off x="503999" y="3931655"/>
            <a:ext cx="11232000" cy="1936344"/>
          </a:xfrm>
          <a:prstGeom prst="rect">
            <a:avLst/>
          </a:prstGeom>
          <a:noFill/>
        </p:spPr>
        <p:txBody>
          <a:bodyPr wrap="square" lIns="54000" rIns="54000"/>
          <a:lstStyle/>
          <a:p>
            <a:pPr algn="just">
              <a:spcAft>
                <a:spcPts val="600"/>
              </a:spcAft>
            </a:pPr>
            <a:r>
              <a:rPr sz="1300" b="1">
                <a:solidFill>
                  <a:srgbClr val="060606"/>
                </a:solidFill>
                <a:latin typeface="Helvetica"/>
              </a:rPr>
              <a:t>Les défauts portent sur les fichiers reçus et non sur leur traitement.</a:t>
            </a:r>
            <a:r>
              <a:rPr sz="1300" b="0">
                <a:solidFill>
                  <a:srgbClr val="060606"/>
                </a:solidFill>
                <a:latin typeface="Helvetica"/>
              </a:rPr>
              <a:t> Les empreintes SHA-256 prouvent que les fichiers analysés sont identiques à ceux transmis.</a:t>
            </a:r>
          </a:p>
          <a:p>
            <a:pPr algn="just">
              <a:spcAft>
                <a:spcPts val="600"/>
              </a:spcAft>
            </a:pPr>
            <a:r>
              <a:rPr sz="1300" b="0">
                <a:solidFill>
                  <a:srgbClr val="060606"/>
                </a:solidFill>
                <a:latin typeface="Helvetica"/>
              </a:rPr>
              <a:t>Le renvoi de ces fichiers complètera décembre 2024 et le détail comptable 2022, sans changer les totaux annuels déjà utilisés.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CGRAE : Caisse générale de retraite des agents de l'État | GNA : assureur de la flotte automobile (compte 47111106) | MEDOC : produit santé complémentaire du poste 8Z7 | SHA-256 : algorithme d'empreinte numérique | 936 : poste maladie | 8Z6 : poste décès | 8Z7 : poste MEDOC | SHA-256 : algorithme d'empreinte numérique servant à vérifier qu'un fichier n'a pas été modifié</a:t>
            </a:r>
          </a:p>
        </p:txBody>
      </p:sp>
    </p:spTree>
    <p:extLst>
      <p:ext uri="{BB962C8B-B14F-4D97-AF65-F5344CB8AC3E}">
        <p14:creationId xmlns:p14="http://schemas.microsoft.com/office/powerpoint/2010/main" val="1194795576"/>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base reproduit les fichiers du FPPN sans perte, mais il manque les données nécessaires aux calculs actuariels.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empreintes, les lignes et les totaux des logiciels sont identiques. Adenka a écarté 87 lignes de total et corrigé 17 montants doublés.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qualité des analyses dépend désormais de la transmission des données manquantes, et non plus du traitement des fichiers.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les bases de prestations, les dates de naissance et les fichiers vides de décembre 2024.</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données</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données reçues sont fidèlement reprises, mais incomplètes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Base contrôlée à 100 %, sans prestations, sans âges et sans précomptes mensuels de 2020 à 2022</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843182805"/>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Contrôle croisé : états financiers et balances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états financiers concordent avec les balances 5 années sur 7</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Total de l'actif, résultat et trésorerie identiques au franc près, sauf en 2023 (deux versions des comptes) et au 31/08/2026 (résultat)</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ETATS FINANCIERS 2020.pdf à ETATS FINANCIERS 2025.pdf, ETATS FINANCIERS AU 31-08-2026.pdf, BILAN_DE_L'EXERCICE_CLOS_31.12.2023_(corrigé_et_finalisé)[1].pdf. Balances des comptes du FPPN (Sage 100), exercices 2020 à 2025 et du 01/01 au 31/08/2026 (provisoire). Traitements Adenka</a:t>
            </a:r>
          </a:p>
        </p:txBody>
      </p:sp>
      <p:sp>
        <p:nvSpPr>
          <p:cNvPr id="31" name="TextBox 30"/>
          <p:cNvSpPr txBox="1"/>
          <p:nvPr/>
        </p:nvSpPr>
        <p:spPr>
          <a:xfrm>
            <a:off x="503999" y="1386000"/>
            <a:ext cx="10584000" cy="216000"/>
          </a:xfrm>
          <a:prstGeom prst="rect">
            <a:avLst/>
          </a:prstGeom>
          <a:noFill/>
        </p:spPr>
        <p:txBody>
          <a:bodyPr wrap="square" anchor="t" lIns="54000" rIns="54000"/>
          <a:lstStyle/>
          <a:p>
            <a:pPr algn="ctr"/>
            <a:r>
              <a:rPr sz="1200" b="0">
                <a:solidFill>
                  <a:srgbClr val="EFAC62"/>
                </a:solidFill>
                <a:latin typeface="Helvetica"/>
              </a:rPr>
              <a:t>Tableau 15 : États financiers et balances : actif brut, résultat, trésorerie</a:t>
            </a:r>
          </a:p>
        </p:txBody>
      </p:sp>
      <p:graphicFrame>
        <p:nvGraphicFramePr>
          <p:cNvPr id="32" name="Table 31"/>
          <p:cNvGraphicFramePr>
            <a:graphicFrameLocks noGrp="1"/>
          </p:cNvGraphicFramePr>
          <p:nvPr/>
        </p:nvGraphicFramePr>
        <p:xfrm>
          <a:off x="503999" y="1655999"/>
          <a:ext cx="10584000" cy="1558144"/>
        </p:xfrm>
        <a:graphic>
          <a:graphicData uri="http://schemas.openxmlformats.org/drawingml/2006/table">
            <a:tbl>
              <a:tblPr firstRow="0" bandRow="0">
                <a:tableStyleId>{5940675A-B579-460E-94D1-54222C63F5DA}</a:tableStyleId>
              </a:tblPr>
              <a:tblGrid>
                <a:gridCol w="1296000"/>
                <a:gridCol w="2160000"/>
                <a:gridCol w="1728000"/>
                <a:gridCol w="2160000"/>
                <a:gridCol w="1728000"/>
                <a:gridCol w="1512000"/>
              </a:tblGrid>
              <a:tr h="194768">
                <a:tc>
                  <a:txBody>
                    <a:bodyPr/>
                    <a:lstStyle/>
                    <a:p>
                      <a:pPr marL="0" indent="0" lvl="0">
                        <a:buNone/>
                      </a:pPr>
                      <a:r>
                        <a:rPr sz="9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Actif brut (états financiers)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Écart avec la balance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Résultat (états financiers)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Écart avec la balance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Trésorerie : écart</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2020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14 446 097 044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1 018 579 699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16 195 461 159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2 083 908 202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15 510 713 126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2 060 332 677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16 157 155 123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-10 000 000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928 699 102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-1 930 000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19 396 236 478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792 069 641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21 722 068 914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437 899 911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31/08/2026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23 692 620 745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-437 148 460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4 108 040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r>
            </a:tbl>
          </a:graphicData>
        </a:graphic>
      </p:graphicFrame>
      <p:sp>
        <p:nvSpPr>
          <p:cNvPr id="33" name="TextBox 32"/>
          <p:cNvSpPr txBox="1"/>
          <p:nvPr/>
        </p:nvSpPr>
        <p:spPr>
          <a:xfrm>
            <a:off x="503999" y="3232149"/>
            <a:ext cx="11232000" cy="162000"/>
          </a:xfrm>
          <a:prstGeom prst="rect">
            <a:avLst/>
          </a:prstGeom>
          <a:noFill/>
        </p:spPr>
        <p:txBody>
          <a:bodyPr wrap="square" anchor="t" lIns="54000" rIns="54000"/>
          <a:lstStyle/>
          <a:p>
            <a:pPr algn="l"/>
            <a:r>
              <a:rPr sz="850" b="0">
                <a:solidFill>
                  <a:srgbClr val="53565A"/>
                </a:solidFill>
                <a:latin typeface="Helvetica"/>
              </a:rPr>
              <a:t>Valable pour : exercices 2020 à 2025 et situation au 31/08/2026, totaux du bilan et résultat. Les rubriques détaillées n'ont pas été comparées.</a:t>
            </a:r>
          </a:p>
        </p:txBody>
      </p:sp>
      <p:sp>
        <p:nvSpPr>
          <p:cNvPr id="34" name="TextBox 33"/>
          <p:cNvSpPr txBox="1"/>
          <p:nvPr/>
        </p:nvSpPr>
        <p:spPr>
          <a:xfrm>
            <a:off x="503999" y="3520149"/>
            <a:ext cx="11232000" cy="2347850"/>
          </a:xfrm>
          <a:prstGeom prst="rect">
            <a:avLst/>
          </a:prstGeom>
          <a:noFill/>
        </p:spPr>
        <p:txBody>
          <a:bodyPr wrap="square" lIns="54000" rIns="54000"/>
          <a:lstStyle/>
          <a:p>
            <a:pPr algn="just">
              <a:spcAft>
                <a:spcPts val="600"/>
              </a:spcAft>
            </a:pPr>
            <a:r>
              <a:rPr sz="1300" b="1">
                <a:solidFill>
                  <a:srgbClr val="060606"/>
                </a:solidFill>
                <a:latin typeface="Helvetica"/>
              </a:rPr>
              <a:t>En 2023, les états financiers scannés portent un actif brut inférieur de 10 000 000 FCFA et un excédent de 928 699 102 FCFA, contre 930 629 102 FCFA dans la balance.</a:t>
            </a:r>
            <a:r>
              <a:rPr sz="1300" b="0">
                <a:solidFill>
                  <a:srgbClr val="060606"/>
                </a:solidFill>
                <a:latin typeface="Helvetica"/>
              </a:rPr>
              <a:t> Le rapport de gestion 2023 « corrigé et finalisé » et la colonne 2023 des états financiers 2024 reprennent les montants de la balance : le scan est une version antérieure à la correction.</a:t>
            </a:r>
          </a:p>
          <a:p>
            <a:pPr algn="just">
              <a:spcAft>
                <a:spcPts val="600"/>
              </a:spcAft>
            </a:pPr>
            <a:r>
              <a:rPr sz="1300" b="1">
                <a:solidFill>
                  <a:srgbClr val="060606"/>
                </a:solidFill>
                <a:latin typeface="Helvetica"/>
              </a:rPr>
              <a:t>Au 31/08/2026, le résultat des états financiers (-437 148 460 FCFA) diffère de celui de la balance provisoire (-441 256 500 FCFA).</a:t>
            </a:r>
            <a:r>
              <a:rPr sz="1300" b="0">
                <a:solidFill>
                  <a:srgbClr val="060606"/>
                </a:solidFill>
                <a:latin typeface="Helvetica"/>
              </a:rPr>
              <a:t> L'actif brut et la trésorerie sont pourtant identiques.</a:t>
            </a:r>
          </a:p>
          <a:p>
            <a:pPr algn="just">
              <a:spcAft>
                <a:spcPts val="600"/>
              </a:spcAft>
            </a:pPr>
            <a:r>
              <a:rPr sz="1300" b="0">
                <a:solidFill>
                  <a:srgbClr val="060606"/>
                </a:solidFill>
                <a:latin typeface="Helvetica"/>
              </a:rPr>
              <a:t>Les balances utilisées dans le rapport sont confirmées par les comptes publiés. Le FPPN doit indiquer quelle version des comptes 2023 a été approuvée et expliquer l'écart de résultat au 31/08/2026 (PBC, item 110).</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PBC : liste des documents demandés au client</a:t>
            </a:r>
          </a:p>
        </p:txBody>
      </p:sp>
    </p:spTree>
    <p:extLst>
      <p:ext uri="{BB962C8B-B14F-4D97-AF65-F5344CB8AC3E}">
        <p14:creationId xmlns:p14="http://schemas.microsoft.com/office/powerpoint/2010/main" val="3781963812"/>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Contrôle croisé : effectifs du FPPN et fichiers de la Solde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effectifs déclarés par le FPPN sont ceux des fichiers 8Z6, à dix agents près en 2026</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nombre d'adhérents du FPPN égale le nombre de lignes 8Z6 en novembre 2024 et décembre 2025. La clé 3,77 / 1,23 s'applique depuis mars 2024</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ETUDE DES RATIO MALADIE DECES 2.xlsx, feuille Tableau, lignes « NB D'ADHERENTS » et « COTISATIONS PAYEES ». Fichiers de précomptes de la Solde, de la CGRAE et du FPPN reçus le 15/10/2026. Traitements Adenka</a:t>
            </a:r>
          </a:p>
        </p:txBody>
      </p:sp>
      <p:sp>
        <p:nvSpPr>
          <p:cNvPr id="31" name="TextBox 30"/>
          <p:cNvSpPr txBox="1"/>
          <p:nvPr/>
        </p:nvSpPr>
        <p:spPr>
          <a:xfrm>
            <a:off x="503999" y="1386000"/>
            <a:ext cx="10584000" cy="216000"/>
          </a:xfrm>
          <a:prstGeom prst="rect">
            <a:avLst/>
          </a:prstGeom>
          <a:noFill/>
        </p:spPr>
        <p:txBody>
          <a:bodyPr wrap="square" anchor="t" lIns="54000" rIns="54000"/>
          <a:lstStyle/>
          <a:p>
            <a:pPr algn="ctr"/>
            <a:r>
              <a:rPr sz="1200" b="0">
                <a:solidFill>
                  <a:srgbClr val="EFAC62"/>
                </a:solidFill>
                <a:latin typeface="Helvetica"/>
              </a:rPr>
              <a:t>Tableau 16 : Adhérents du FPPN, lignes 8Z6 et rapport 8Z6 / 936</a:t>
            </a:r>
          </a:p>
        </p:txBody>
      </p:sp>
      <p:graphicFrame>
        <p:nvGraphicFramePr>
          <p:cNvPr id="32" name="Table 31"/>
          <p:cNvGraphicFramePr>
            <a:graphicFrameLocks noGrp="1"/>
          </p:cNvGraphicFramePr>
          <p:nvPr/>
        </p:nvGraphicFramePr>
        <p:xfrm>
          <a:off x="503999" y="1655999"/>
          <a:ext cx="10584000" cy="2337216"/>
        </p:xfrm>
        <a:graphic>
          <a:graphicData uri="http://schemas.openxmlformats.org/drawingml/2006/table">
            <a:tbl>
              <a:tblPr firstRow="0" bandRow="0">
                <a:tableStyleId>{5940675A-B579-460E-94D1-54222C63F5DA}</a:tableStyleId>
              </a:tblPr>
              <a:tblGrid>
                <a:gridCol w="1440000"/>
                <a:gridCol w="1800000"/>
                <a:gridCol w="1800000"/>
                <a:gridCol w="1224000"/>
                <a:gridCol w="2160000"/>
                <a:gridCol w="2160000"/>
              </a:tblGrid>
              <a:tr h="194768">
                <a:tc>
                  <a:txBody>
                    <a:bodyPr/>
                    <a:lstStyle/>
                    <a:p>
                      <a:pPr marL="0" indent="0" lvl="0">
                        <a:buNone/>
                      </a:pPr>
                      <a:r>
                        <a:rPr sz="900" b="1">
                          <a:solidFill>
                            <a:srgbClr val="FFFFFF"/>
                          </a:solidFill>
                          <a:latin typeface="Helvetica"/>
                        </a:rPr>
                        <a:t>Période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Adhérents (FPPN)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Lignes 8Z6 (Solde)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Écart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Rapport médian 8Z6 / 936</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Lignes à la clé 3,77 / 1,23</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11/2024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27 657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27 657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0,3262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99,95 %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12/2025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31 678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31 678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0,3262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99,98 %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01/2026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31 261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31 271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0,3262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99,99 %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02/2026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31 252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31 262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0,3262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99,99 %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03/2026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31 240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31 250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0,3262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99,99 %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04/2026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31 230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31 240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0,3262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99,99 %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05/2026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31 234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31 244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0,3262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99,99 %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06/2026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31 225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31 235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0,3262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99,98 %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01/2024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23 118</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0,3059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13,79 %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02/2024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23 129</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0,3023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12,32 %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03/2024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23 123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0,3263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100,00 %</a:t>
                      </a:r>
                    </a:p>
                  </a:txBody>
                  <a:tcPr marL="43200" marR="43200" marT="14400" marB="14400" anchor="ctr">
                    <a:solidFill>
                      <a:srgbClr val="FFFFFF"/>
                    </a:solidFill>
                  </a:tcPr>
                </a:tc>
              </a:tr>
            </a:tbl>
          </a:graphicData>
        </a:graphic>
      </p:graphicFrame>
      <p:sp>
        <p:nvSpPr>
          <p:cNvPr id="33" name="TextBox 32"/>
          <p:cNvSpPr txBox="1"/>
          <p:nvPr/>
        </p:nvSpPr>
        <p:spPr>
          <a:xfrm>
            <a:off x="503999" y="4011223"/>
            <a:ext cx="11232000" cy="162000"/>
          </a:xfrm>
          <a:prstGeom prst="rect">
            <a:avLst/>
          </a:prstGeom>
          <a:noFill/>
        </p:spPr>
        <p:txBody>
          <a:bodyPr wrap="square" anchor="t" lIns="54000" rIns="54000"/>
          <a:lstStyle/>
          <a:p>
            <a:pPr algn="l"/>
            <a:r>
              <a:rPr sz="850" b="0">
                <a:solidFill>
                  <a:srgbClr val="53565A"/>
                </a:solidFill>
                <a:latin typeface="Helvetica"/>
              </a:rPr>
              <a:t>Valable pour : mois cités, policiers précomptés par la Solde (8Z6 et 936). Les mois de 2024 sans fichier 8Z6 ne sont pas couverts.</a:t>
            </a:r>
          </a:p>
        </p:txBody>
      </p:sp>
      <p:sp>
        <p:nvSpPr>
          <p:cNvPr id="34" name="TextBox 33"/>
          <p:cNvSpPr txBox="1"/>
          <p:nvPr/>
        </p:nvSpPr>
        <p:spPr>
          <a:xfrm>
            <a:off x="503999" y="4299223"/>
            <a:ext cx="11232000" cy="1568776"/>
          </a:xfrm>
          <a:prstGeom prst="rect">
            <a:avLst/>
          </a:prstGeom>
          <a:noFill/>
        </p:spPr>
        <p:txBody>
          <a:bodyPr wrap="square" lIns="54000" rIns="54000"/>
          <a:lstStyle/>
          <a:p>
            <a:pPr algn="just">
              <a:spcAft>
                <a:spcPts val="600"/>
              </a:spcAft>
            </a:pPr>
            <a:r>
              <a:rPr sz="1300" b="1">
                <a:solidFill>
                  <a:srgbClr val="060606"/>
                </a:solidFill>
                <a:latin typeface="Helvetica"/>
              </a:rPr>
              <a:t>La répartition 3,77 / 1,23 s'applique à 99,99 % des lignes de 2025 et à 99,99 % des lignes de 2026.</a:t>
            </a:r>
            <a:r>
              <a:rPr sz="1300" b="0">
                <a:solidFill>
                  <a:srgbClr val="060606"/>
                </a:solidFill>
                <a:latin typeface="Helvetica"/>
              </a:rPr>
              <a:t> En janvier et février 2024, le rapport médian vaut 0,3059 et 0,3023 : une autre clé s'appliquait alors.</a:t>
            </a:r>
          </a:p>
          <a:p>
            <a:pPr algn="just">
              <a:spcAft>
                <a:spcPts val="600"/>
              </a:spcAft>
            </a:pPr>
            <a:r>
              <a:rPr sz="1300" b="1">
                <a:solidFill>
                  <a:srgbClr val="060606"/>
                </a:solidFill>
                <a:latin typeface="Helvetica"/>
              </a:rPr>
              <a:t>De janvier à juin 2026, le FPPN compte chaque mois dix adhérents de moins que les fichiers 8Z6.</a:t>
            </a:r>
            <a:r>
              <a:rPr sz="1300" b="0">
                <a:solidFill>
                  <a:srgbClr val="060606"/>
                </a:solidFill>
                <a:latin typeface="Helvetica"/>
              </a:rPr>
              <a:t> Les cotisations décès déclarées par le FPPN dépassent aussi la somme des lignes 8Z6 du mois.</a:t>
            </a:r>
          </a:p>
          <a:p>
            <a:pPr algn="just">
              <a:spcAft>
                <a:spcPts val="600"/>
              </a:spcAft>
            </a:pPr>
            <a:r>
              <a:rPr sz="1300" b="0">
                <a:solidFill>
                  <a:srgbClr val="060606"/>
                </a:solidFill>
                <a:latin typeface="Helvetica"/>
              </a:rPr>
              <a:t>Les effectifs utilisés par le FPPN pour ses ratios sont fiables à l'unité près. La clé appliquée avant mars 2024 et l'origine des dix agents d'écart sont à demander (PBC, item 111).</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PBC : liste des documents demandés au client | 8Z6 : poste décès</a:t>
            </a:r>
          </a:p>
        </p:txBody>
      </p:sp>
    </p:spTree>
    <p:extLst>
      <p:ext uri="{BB962C8B-B14F-4D97-AF65-F5344CB8AC3E}">
        <p14:creationId xmlns:p14="http://schemas.microsoft.com/office/powerpoint/2010/main" val="3453624938"/>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Contrôle croisé : rapprochements bancaires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soldes bancaires de la comptabilité sont ceux de la balance. Des chèques restent en suspens depuis 2021</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31/12/2025, 49 chèques émis depuis plus d'un an ne sont pas encaissés, pour 14 464 730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ETAT DE RAPPROCHEMENT BANCAIRE FPPN 2020.xlsx à ETAT DE RAPPROCHEMENT BANCAIRE FPPN 2026.xlsx. Balances des comptes du FPPN (Sage 100), exercices 2020 à 2025 et du 01/01 au 31/08/2026 (provisoire). Traitements Adenka</a:t>
            </a:r>
          </a:p>
        </p:txBody>
      </p:sp>
      <p:sp>
        <p:nvSpPr>
          <p:cNvPr id="31" name="TextBox 30"/>
          <p:cNvSpPr txBox="1"/>
          <p:nvPr/>
        </p:nvSpPr>
        <p:spPr>
          <a:xfrm>
            <a:off x="503999" y="1386000"/>
            <a:ext cx="10944000" cy="216000"/>
          </a:xfrm>
          <a:prstGeom prst="rect">
            <a:avLst/>
          </a:prstGeom>
          <a:noFill/>
        </p:spPr>
        <p:txBody>
          <a:bodyPr wrap="square" anchor="t" lIns="54000" rIns="54000"/>
          <a:lstStyle/>
          <a:p>
            <a:pPr algn="ctr"/>
            <a:r>
              <a:rPr sz="1200" b="0">
                <a:solidFill>
                  <a:srgbClr val="EFAC62"/>
                </a:solidFill>
                <a:latin typeface="Helvetica"/>
              </a:rPr>
              <a:t>Tableau 17 : Rapprochements bancaires au 31 décembre</a:t>
            </a:r>
          </a:p>
        </p:txBody>
      </p:sp>
      <p:graphicFrame>
        <p:nvGraphicFramePr>
          <p:cNvPr id="32" name="Table 31"/>
          <p:cNvGraphicFramePr>
            <a:graphicFrameLocks noGrp="1"/>
          </p:cNvGraphicFramePr>
          <p:nvPr/>
        </p:nvGraphicFramePr>
        <p:xfrm>
          <a:off x="503999" y="1655999"/>
          <a:ext cx="10943998" cy="1500545"/>
        </p:xfrm>
        <a:graphic>
          <a:graphicData uri="http://schemas.openxmlformats.org/drawingml/2006/table">
            <a:tbl>
              <a:tblPr firstRow="0" bandRow="0">
                <a:tableStyleId>{5940675A-B579-460E-94D1-54222C63F5DA}</a:tableStyleId>
              </a:tblPr>
              <a:tblGrid>
                <a:gridCol w="1007999"/>
                <a:gridCol w="1224000"/>
                <a:gridCol w="1368000"/>
                <a:gridCol w="1872000"/>
                <a:gridCol w="1872000"/>
                <a:gridCol w="1944000"/>
                <a:gridCol w="1655999"/>
              </a:tblGrid>
              <a:tr h="331937">
                <a:tc>
                  <a:txBody>
                    <a:bodyPr/>
                    <a:lstStyle/>
                    <a:p>
                      <a:pPr marL="0" indent="0" lvl="0">
                        <a:buNone/>
                      </a:pPr>
                      <a:r>
                        <a:rPr sz="9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Comptes rapprochés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Soldes égaux à la balance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Solde comptable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Solde bancaire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Chèques en suspens depuis plus d'un an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Montant</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2020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241 249 481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276 678 044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2 609 083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2 435 456 722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2 526 941 293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638 155 842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746 468 428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8 791 200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695 388 139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776 810 618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10 505 723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438 360 275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714 979 473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14 286 786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1 449 586 812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1 588 906 901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49</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14 464 730 FCFA</a:t>
                      </a:r>
                    </a:p>
                  </a:txBody>
                  <a:tcPr marL="43200" marR="43200" marT="14400" marB="14400" anchor="ctr">
                    <a:solidFill>
                      <a:srgbClr val="F2F2F2"/>
                    </a:solidFill>
                  </a:tcPr>
                </a:tc>
              </a:tr>
            </a:tbl>
          </a:graphicData>
        </a:graphic>
      </p:graphicFrame>
      <p:sp>
        <p:nvSpPr>
          <p:cNvPr id="33" name="TextBox 32"/>
          <p:cNvSpPr txBox="1"/>
          <p:nvPr/>
        </p:nvSpPr>
        <p:spPr>
          <a:xfrm>
            <a:off x="503999" y="3174549"/>
            <a:ext cx="11232000" cy="162000"/>
          </a:xfrm>
          <a:prstGeom prst="rect">
            <a:avLst/>
          </a:prstGeom>
          <a:noFill/>
        </p:spPr>
        <p:txBody>
          <a:bodyPr wrap="square" anchor="t" lIns="54000" rIns="54000"/>
          <a:lstStyle/>
          <a:p>
            <a:pPr algn="l"/>
            <a:r>
              <a:rPr sz="850" b="0">
                <a:solidFill>
                  <a:srgbClr val="53565A"/>
                </a:solidFill>
                <a:latin typeface="Helvetica"/>
              </a:rPr>
              <a:t>Valable pour : comptes bancaires présents dans les états de rapprochement (BOA, Banque Atlantique, Orabank), au 31/12 de 2020 à 2025. Les DAT, le FCP et la caisse ne sont pas couverts.</a:t>
            </a:r>
          </a:p>
        </p:txBody>
      </p:sp>
      <p:sp>
        <p:nvSpPr>
          <p:cNvPr id="34" name="TextBox 33"/>
          <p:cNvSpPr txBox="1"/>
          <p:nvPr/>
        </p:nvSpPr>
        <p:spPr>
          <a:xfrm>
            <a:off x="503999" y="3462549"/>
            <a:ext cx="11232000" cy="2405450"/>
          </a:xfrm>
          <a:prstGeom prst="rect">
            <a:avLst/>
          </a:prstGeom>
          <a:noFill/>
        </p:spPr>
        <p:txBody>
          <a:bodyPr wrap="square" lIns="54000" rIns="54000"/>
          <a:lstStyle/>
          <a:p>
            <a:pPr algn="just">
              <a:spcAft>
                <a:spcPts val="600"/>
              </a:spcAft>
            </a:pPr>
            <a:r>
              <a:rPr sz="1300" b="1">
                <a:solidFill>
                  <a:srgbClr val="060606"/>
                </a:solidFill>
                <a:latin typeface="Helvetica"/>
              </a:rPr>
              <a:t>Chaque solde comptable des rapprochements est égal au solde du compte de banque dans la balance, pour toutes les années.</a:t>
            </a:r>
            <a:r>
              <a:rPr sz="1300" b="0">
                <a:solidFill>
                  <a:srgbClr val="060606"/>
                </a:solidFill>
                <a:latin typeface="Helvetica"/>
              </a:rPr>
              <a:t> Les balances sont donc cohérentes avec le suivi bancaire du FPPN.</a:t>
            </a:r>
          </a:p>
          <a:p>
            <a:pPr algn="just">
              <a:spcAft>
                <a:spcPts val="600"/>
              </a:spcAft>
            </a:pPr>
            <a:r>
              <a:rPr sz="1300" b="1">
                <a:solidFill>
                  <a:srgbClr val="060606"/>
                </a:solidFill>
                <a:latin typeface="Helvetica"/>
              </a:rPr>
              <a:t>Le nombre de chèques en suspens depuis plus d'un an passe de 5 fin 2022 à 49 fin 2025</a:t>
            </a:r>
            <a:r>
              <a:rPr sz="1300" b="0">
                <a:solidFill>
                  <a:srgbClr val="060606"/>
                </a:solidFill>
                <a:latin typeface="Helvetica"/>
              </a:rPr>
              <a:t>, le plus ancien datant du 18/03/2021. Une partie concerne le compte BOA de l'EFC, donc des règlements à des mutualistes.</a:t>
            </a:r>
          </a:p>
          <a:p>
            <a:pPr algn="just">
              <a:spcAft>
                <a:spcPts val="600"/>
              </a:spcAft>
            </a:pPr>
            <a:r>
              <a:rPr sz="1300" b="0">
                <a:solidFill>
                  <a:srgbClr val="060606"/>
                </a:solidFill>
                <a:latin typeface="Helvetica"/>
              </a:rPr>
              <a:t>Les chèques non encaissés restent une dette envers les bénéficiaires : leur montant est faible, mais leur ancienneté doit être expliquée et les chèques périmés régularisés (PBC, item 91).</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EFC : entraide fin de carrière | FCP : fonds commun de placement | DAT : dépôt à terme | PBC : liste des documents demandés au client</a:t>
            </a:r>
          </a:p>
        </p:txBody>
      </p:sp>
    </p:spTree>
    <p:extLst>
      <p:ext uri="{BB962C8B-B14F-4D97-AF65-F5344CB8AC3E}">
        <p14:creationId xmlns:p14="http://schemas.microsoft.com/office/powerpoint/2010/main" val="1343797954"/>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4</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Effectifs et cotisations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Cotisants, retraités, taux, cotisations en termes réels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355984666"/>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Effectif</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L'effectif du mois est le nombre de matricules distincts du fichier maladie 936 de ce mois. Trente et un mois sont disponibles.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Flux</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Une entrée est un matricule présent un mois et absent le mois précédent. Une sortie est l'inverse. Seuls les mois consécutifs sont comparés.</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Taux de cotisation</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taux rapporte le précompte du mois au salaire de base du mois, pour chaque agent : 209 670 lignes sont calculées.</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fichiers ne donnent pas le motif de sortie (retraite, décès, radiation), ni l'âge, ni le sexe des agents.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effectifs et taux</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Effectifs, flux et taux sont mesurés agent par agent, chaque mois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Un cotisant est un matricule précompté au poste maladie 936 dans le mois</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936 : poste maladie</a:t>
            </a:r>
          </a:p>
        </p:txBody>
      </p:sp>
    </p:spTree>
    <p:extLst>
      <p:ext uri="{BB962C8B-B14F-4D97-AF65-F5344CB8AC3E}">
        <p14:creationId xmlns:p14="http://schemas.microsoft.com/office/powerpoint/2010/main" val="3154042806"/>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Effectifs cotisants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cotisants actifs augmentent d'un tiers en trente et un mois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23 119 cotisants en janvier 2024, 31 198 en août 2026</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8 : Cotisants actifs précomptés (poste 936), par mois</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nombre de mutualistes</a:t>
            </a:r>
          </a:p>
        </p:txBody>
      </p:sp>
      <p:graphicFrame>
        <p:nvGraphicFramePr>
          <p:cNvPr id="32" name="Chart 31"/>
          <p:cNvGraphicFramePr>
            <a:graphicFrameLocks noGrp="1"/>
          </p:cNvGraphicFramePr>
          <p:nvPr/>
        </p:nvGraphicFramePr>
        <p:xfrm>
          <a:off x="503999" y="1782000"/>
          <a:ext cx="5976000" cy="3888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(décembre 2024 : fichier vide)</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Les cotisants actifs augmentent de 34,95 % en 31 mois.</a:t>
            </a:r>
            <a:r>
              <a:rPr sz="1400" b="0">
                <a:solidFill>
                  <a:srgbClr val="060606"/>
                </a:solidFill>
                <a:latin typeface="Helvetica"/>
              </a:rPr>
              <a:t> Le taux de croissance annuel moyen vaut 12,30 %.</a:t>
            </a:r>
          </a:p>
          <a:p>
            <a:pPr algn="just">
              <a:spcAft>
                <a:spcPts val="600"/>
              </a:spcAft>
            </a:pPr>
            <a:r>
              <a:rPr sz="1400" b="1">
                <a:solidFill>
                  <a:srgbClr val="060606"/>
                </a:solidFill>
                <a:latin typeface="Helvetica"/>
              </a:rPr>
              <a:t>La hausse se fait par paliers en juillet, mois d'intégration des promotions de recrues.</a:t>
            </a:r>
            <a:r>
              <a:rPr sz="1400" b="0">
                <a:solidFill>
                  <a:srgbClr val="060606"/>
                </a:solidFill>
                <a:latin typeface="Helvetica"/>
              </a:rPr>
              <a:t> Les fichiers comptent 4 926 entrées en juillet 2024 et 4 127 en juillet 2025.</a:t>
            </a:r>
          </a:p>
          <a:p>
            <a:pPr algn="just">
              <a:spcAft>
                <a:spcPts val="600"/>
              </a:spcAft>
            </a:pPr>
            <a:r>
              <a:rPr sz="1400" b="1">
                <a:solidFill>
                  <a:srgbClr val="060606"/>
                </a:solidFill>
                <a:latin typeface="Helvetica"/>
              </a:rPr>
              <a:t>La tendance est statistiquement significative.</a:t>
            </a:r>
            <a:r>
              <a:rPr sz="1400" b="0">
                <a:solidFill>
                  <a:srgbClr val="060606"/>
                </a:solidFill>
                <a:latin typeface="Helvetica"/>
              </a:rPr>
              <a:t> Elle correspond à 296,28 cotisants de plus par mois en moyenne.</a:t>
            </a:r>
          </a:p>
          <a:p>
            <a:pPr algn="just">
              <a:spcAft>
                <a:spcPts val="600"/>
              </a:spcAft>
            </a:pPr>
            <a:r>
              <a:rPr sz="1400" b="0">
                <a:solidFill>
                  <a:srgbClr val="060606"/>
                </a:solidFill>
                <a:latin typeface="Helvetica"/>
              </a:rPr>
              <a:t>Les recrues cotisent dès leur entrée, alors que leurs besoins de soins et d'épargne viendront plus tard : la croissance actuelle améliore les comptes de l'année, mais elle prépare des engagements plus importants à long terme, que seule une projection par âge permettra de chiffrer.</a:t>
            </a:r>
          </a:p>
        </p:txBody>
      </p:sp>
      <p:sp>
        <p:nvSpPr>
          <p:cNvPr id="35" name="TextBox 34"/>
          <p:cNvSpPr txBox="1"/>
          <p:nvPr/>
        </p:nvSpPr>
        <p:spPr>
          <a:xfrm>
            <a:off x="503999" y="5688000"/>
            <a:ext cx="5976000" cy="162000"/>
          </a:xfrm>
          <a:prstGeom prst="rect">
            <a:avLst/>
          </a:prstGeom>
          <a:noFill/>
        </p:spPr>
        <p:txBody>
          <a:bodyPr wrap="square" anchor="t" lIns="54000" rIns="54000"/>
          <a:lstStyle/>
          <a:p>
            <a:pPr algn="l"/>
            <a:r>
              <a:rPr sz="850" b="0">
                <a:solidFill>
                  <a:srgbClr val="53565A"/>
                </a:solidFill>
                <a:latin typeface="Helvetica"/>
              </a:rPr>
              <a:t>Valable pour : policiers en activité précomptés par la Solde, janvier 2024 à septembre 2026. Taux mesurés sur les mois détaillés cités.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936 : poste maladie</a:t>
            </a:r>
          </a:p>
        </p:txBody>
      </p:sp>
    </p:spTree>
    <p:extLst>
      <p:ext uri="{BB962C8B-B14F-4D97-AF65-F5344CB8AC3E}">
        <p14:creationId xmlns:p14="http://schemas.microsoft.com/office/powerpoint/2010/main" val="2425709010"/>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Entrées et sorties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entrées massives de juillet s'opposent à des sorties faibles et régulières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Entrées : 6 240 en 2024, 4 274 en 2025. Sorties : 1 753 et 464</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9 : Entrées et sorties de cotisants, par mois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de mutualistes</a:t>
            </a:r>
          </a:p>
        </p:txBody>
      </p:sp>
      <p:graphicFrame>
        <p:nvGraphicFramePr>
          <p:cNvPr id="32" name="Chart 31"/>
          <p:cNvGraphicFramePr>
            <a:graphicFrameLocks noGrp="1"/>
          </p:cNvGraphicFramePr>
          <p:nvPr/>
        </p:nvGraphicFramePr>
        <p:xfrm>
          <a:off x="503999" y="1782000"/>
          <a:ext cx="6552000" cy="3888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entrées sont concentrées en juillet, mois d'intégration des recrues.</a:t>
            </a:r>
            <a:r>
              <a:rPr sz="1400" b="0">
                <a:solidFill>
                  <a:srgbClr val="060606"/>
                </a:solidFill>
                <a:latin typeface="Helvetica"/>
              </a:rPr>
              <a:t> Les autres mois, les entrées et les sorties restent faibles.</a:t>
            </a:r>
          </a:p>
          <a:p>
            <a:pPr algn="just">
              <a:spcAft>
                <a:spcPts val="600"/>
              </a:spcAft>
            </a:pPr>
            <a:r>
              <a:rPr sz="1400" b="1">
                <a:solidFill>
                  <a:srgbClr val="060606"/>
                </a:solidFill>
                <a:latin typeface="Helvetica"/>
              </a:rPr>
              <a:t>Les sorties ne dépassent la moyenne qu'en novembre 2024 et en janvier 2026.</a:t>
            </a:r>
            <a:r>
              <a:rPr sz="1400" b="0">
                <a:solidFill>
                  <a:srgbClr val="060606"/>
                </a:solidFill>
                <a:latin typeface="Helvetica"/>
              </a:rPr>
              <a:t> Leur motif n'est pas indiqué dans les fichiers.</a:t>
            </a:r>
          </a:p>
          <a:p>
            <a:pPr algn="just">
              <a:spcAft>
                <a:spcPts val="600"/>
              </a:spcAft>
            </a:pPr>
            <a:r>
              <a:rPr sz="1400" b="1">
                <a:solidFill>
                  <a:srgbClr val="060606"/>
                </a:solidFill>
                <a:latin typeface="Helvetica"/>
              </a:rPr>
              <a:t>La fidélisation des adhérents est forte.</a:t>
            </a:r>
            <a:r>
              <a:rPr sz="1400" b="0">
                <a:solidFill>
                  <a:srgbClr val="060606"/>
                </a:solidFill>
                <a:latin typeface="Helvetica"/>
              </a:rPr>
              <a:t> Parmi les matricules précomptés en 2024, 96,49 % le sont encore en 2025, au-dessus de la norme d'au moins 80 % de la Décision n° 05/2022.</a:t>
            </a:r>
          </a:p>
          <a:p>
            <a:pPr algn="just">
              <a:spcAft>
                <a:spcPts val="600"/>
              </a:spcAft>
            </a:pPr>
            <a:r>
              <a:rPr sz="1400" b="0">
                <a:solidFill>
                  <a:srgbClr val="060606"/>
                </a:solidFill>
                <a:latin typeface="Helvetica"/>
              </a:rPr>
              <a:t>Le motif de chaque sortie est indispensable pour séparer retraites, décès et radiations, et donc pour mesurer la mortalité des policiers et projeter les départs.</a:t>
            </a:r>
          </a:p>
        </p:txBody>
      </p:sp>
      <p:sp>
        <p:nvSpPr>
          <p:cNvPr id="35" name="TextBox 34"/>
          <p:cNvSpPr txBox="1"/>
          <p:nvPr/>
        </p:nvSpPr>
        <p:spPr>
          <a:xfrm>
            <a:off x="503999" y="5688000"/>
            <a:ext cx="6552000" cy="162000"/>
          </a:xfrm>
          <a:prstGeom prst="rect">
            <a:avLst/>
          </a:prstGeom>
          <a:noFill/>
        </p:spPr>
        <p:txBody>
          <a:bodyPr wrap="square" anchor="t" lIns="54000" rIns="54000"/>
          <a:lstStyle/>
          <a:p>
            <a:pPr algn="l"/>
            <a:r>
              <a:rPr sz="850" b="0">
                <a:solidFill>
                  <a:srgbClr val="53565A"/>
                </a:solidFill>
                <a:latin typeface="Helvetica"/>
              </a:rPr>
              <a:t>Valable pour : policiers en activité précomptés par la Solde, janvier 2024 à septembre 2026. Taux mesurés sur les mois détaillés cités.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a:t>
            </a:r>
          </a:p>
        </p:txBody>
      </p:sp>
    </p:spTree>
    <p:extLst>
      <p:ext uri="{BB962C8B-B14F-4D97-AF65-F5344CB8AC3E}">
        <p14:creationId xmlns:p14="http://schemas.microsoft.com/office/powerpoint/2010/main" val="2687397281"/>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Structure des effectifs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population jeune en service, recrutée en majorité depuis moins de dix ans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janv. 25, ancienneté médiane de 7,50 ans, salaire de base médian de 186 765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10 : Agents par ancienneté de service, janv. 25</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d'agents</a:t>
            </a:r>
          </a:p>
        </p:txBody>
      </p:sp>
      <p:graphicFrame>
        <p:nvGraphicFramePr>
          <p:cNvPr id="32" name="Chart 31"/>
          <p:cNvGraphicFramePr>
            <a:graphicFrameLocks noGrp="1"/>
          </p:cNvGraphicFramePr>
          <p:nvPr/>
        </p:nvGraphicFramePr>
        <p:xfrm>
          <a:off x="503999" y="1782000"/>
          <a:ext cx="6552000" cy="3888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(fichiers maladie 936 détaillés)</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56,82 % des agents ont moins de dix ans de service.</a:t>
            </a:r>
            <a:r>
              <a:rPr sz="1400" b="0">
                <a:solidFill>
                  <a:srgbClr val="060606"/>
                </a:solidFill>
                <a:latin typeface="Helvetica"/>
              </a:rPr>
              <a:t> Les recrutements récents dominent la population cotisante.</a:t>
            </a:r>
          </a:p>
          <a:p>
            <a:pPr algn="just">
              <a:spcAft>
                <a:spcPts val="600"/>
              </a:spcAft>
            </a:pPr>
            <a:r>
              <a:rPr sz="1400" b="1">
                <a:solidFill>
                  <a:srgbClr val="060606"/>
                </a:solidFill>
                <a:latin typeface="Helvetica"/>
              </a:rPr>
              <a:t>Une seconde vague a 15 à 25 ans de service.</a:t>
            </a:r>
            <a:r>
              <a:rPr sz="1400" b="0">
                <a:solidFill>
                  <a:srgbClr val="060606"/>
                </a:solidFill>
                <a:latin typeface="Helvetica"/>
              </a:rPr>
              <a:t> Elle regroupe 30,79 % des agents.</a:t>
            </a:r>
          </a:p>
          <a:p>
            <a:pPr algn="just">
              <a:spcAft>
                <a:spcPts val="600"/>
              </a:spcAft>
            </a:pPr>
            <a:r>
              <a:rPr sz="1400" b="1">
                <a:solidFill>
                  <a:srgbClr val="060606"/>
                </a:solidFill>
                <a:latin typeface="Helvetica"/>
              </a:rPr>
              <a:t>Cette seconde vague partira à la retraite dans les années à venir.</a:t>
            </a:r>
            <a:r>
              <a:rPr sz="1400" b="0">
                <a:solidFill>
                  <a:srgbClr val="060606"/>
                </a:solidFill>
                <a:latin typeface="Helvetica"/>
              </a:rPr>
              <a:t> Elle deviendra une population de retraités précomptés par la CGRAE, qui consomme davantage de soins.</a:t>
            </a:r>
          </a:p>
          <a:p>
            <a:pPr algn="just">
              <a:spcAft>
                <a:spcPts val="600"/>
              </a:spcAft>
            </a:pPr>
            <a:r>
              <a:rPr sz="1400" b="0">
                <a:solidFill>
                  <a:srgbClr val="060606"/>
                </a:solidFill>
                <a:latin typeface="Helvetica"/>
              </a:rPr>
              <a:t>Les départs de cette vague déclencheront le versement de l'EFC et une hausse de la sinistralité des retraités : c'est le premier effet que la projection de l'équilibre devra chiffrer dès réception des âges.</a:t>
            </a:r>
          </a:p>
        </p:txBody>
      </p:sp>
      <p:sp>
        <p:nvSpPr>
          <p:cNvPr id="35" name="TextBox 34"/>
          <p:cNvSpPr txBox="1"/>
          <p:nvPr/>
        </p:nvSpPr>
        <p:spPr>
          <a:xfrm>
            <a:off x="503999" y="5688000"/>
            <a:ext cx="6552000" cy="162000"/>
          </a:xfrm>
          <a:prstGeom prst="rect">
            <a:avLst/>
          </a:prstGeom>
          <a:noFill/>
        </p:spPr>
        <p:txBody>
          <a:bodyPr wrap="square" anchor="t" lIns="54000" rIns="54000"/>
          <a:lstStyle/>
          <a:p>
            <a:pPr algn="l"/>
            <a:r>
              <a:rPr sz="850" b="0">
                <a:solidFill>
                  <a:srgbClr val="53565A"/>
                </a:solidFill>
                <a:latin typeface="Helvetica"/>
              </a:rPr>
              <a:t>Valable pour : policiers en activité précomptés par la Solde, janvier 2024 à septembre 2026. Taux mesurés sur les mois détaillés cités.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EFC : entraide fin de carrière | 936 : poste maladie</a:t>
            </a:r>
          </a:p>
        </p:txBody>
      </p:sp>
    </p:spTree>
    <p:extLst>
      <p:ext uri="{BB962C8B-B14F-4D97-AF65-F5344CB8AC3E}">
        <p14:creationId xmlns:p14="http://schemas.microsoft.com/office/powerpoint/2010/main" val="2249207514"/>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taux de cotisation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Pour chaque agent, maladie et décès font 5,00 % du salaire de base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taux maladie de 3,77 % se retrouve sur 209 670 lignes de huit mois. Le taux décès de 1,23 % est mesuré en avril 2024 et janvier 2025, puis confirmé par le rapport 8Z6 / 936 (partie 3)</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Matricules masqués</a:t>
            </a:r>
          </a:p>
        </p:txBody>
      </p:sp>
      <p:sp>
        <p:nvSpPr>
          <p:cNvPr id="31" name="TextBox 30"/>
          <p:cNvSpPr txBox="1"/>
          <p:nvPr/>
        </p:nvSpPr>
        <p:spPr>
          <a:xfrm>
            <a:off x="503999" y="1350000"/>
            <a:ext cx="9648000" cy="180000"/>
          </a:xfrm>
          <a:prstGeom prst="rect">
            <a:avLst/>
          </a:prstGeom>
          <a:noFill/>
        </p:spPr>
        <p:txBody>
          <a:bodyPr wrap="square" anchor="t" lIns="54000" rIns="54000"/>
          <a:lstStyle/>
          <a:p>
            <a:pPr algn="l"/>
            <a:r>
              <a:rPr sz="900" b="0">
                <a:solidFill>
                  <a:srgbClr val="53565A"/>
                </a:solidFill>
                <a:latin typeface="Helvetica"/>
              </a:rPr>
              <a:t>Extrait : FPPN-SOLDE\EFFECTIF POLICE (MALADIE)\2024\042024_effectif_police_936_AVRIL 2024.xlsx et FPPN_ALLOC_DECES_8Z6_AVRIL_2024.xlsx</a:t>
            </a:r>
          </a:p>
        </p:txBody>
      </p:sp>
      <p:graphicFrame>
        <p:nvGraphicFramePr>
          <p:cNvPr id="32" name="Table 31"/>
          <p:cNvGraphicFramePr>
            <a:graphicFrameLocks noGrp="1"/>
          </p:cNvGraphicFramePr>
          <p:nvPr/>
        </p:nvGraphicFramePr>
        <p:xfrm>
          <a:off x="503999" y="1548000"/>
          <a:ext cx="9648000" cy="840036"/>
        </p:xfrm>
        <a:graphic>
          <a:graphicData uri="http://schemas.openxmlformats.org/drawingml/2006/table">
            <a:tbl>
              <a:tblPr firstRow="0" bandRow="0">
                <a:tableStyleId>{5940675A-B579-460E-94D1-54222C63F5DA}</a:tableStyleId>
              </a:tblPr>
              <a:tblGrid>
                <a:gridCol w="1152000"/>
                <a:gridCol w="792000"/>
                <a:gridCol w="1512000"/>
                <a:gridCol w="1368000"/>
                <a:gridCol w="1296000"/>
                <a:gridCol w="1224000"/>
                <a:gridCol w="1152000"/>
                <a:gridCol w="1152000"/>
              </a:tblGrid>
              <a:tr h="210009">
                <a:tc>
                  <a:txBody>
                    <a:bodyPr/>
                    <a:lstStyle/>
                    <a:p>
                      <a:pPr marL="0" indent="0" lvl="0">
                        <a:buNone/>
                      </a:pPr>
                      <a:r>
                        <a:rPr sz="1000" b="1">
                          <a:solidFill>
                            <a:srgbClr val="FFFFFF"/>
                          </a:solidFill>
                          <a:latin typeface="Helvetica"/>
                        </a:rPr>
                        <a:t>Matricule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Grade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Salaire de base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Maladie 936</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Décès 8Z6</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Maladie %</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Décès %</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Total %</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163***W</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MH</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301159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11354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3704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3,77 %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1,23 %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171***W</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MQ</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438898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16546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5398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3,77 %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1,23 %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5,00 %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172***N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I1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817097</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30805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10050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3,77 %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1,23 %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a:t>
                      </a:r>
                    </a:p>
                  </a:txBody>
                  <a:tcPr marL="43200" marR="43200" marT="14400" marB="14400" anchor="ctr">
                    <a:solidFill>
                      <a:srgbClr val="FFFFFF"/>
                    </a:solidFill>
                  </a:tcPr>
                </a:tc>
              </a:tr>
            </a:tbl>
          </a:graphicData>
        </a:graphic>
      </p:graphicFrame>
      <p:sp>
        <p:nvSpPr>
          <p:cNvPr id="33" name="Rounded Rectangle 32"/>
          <p:cNvSpPr/>
          <p:nvPr/>
        </p:nvSpPr>
        <p:spPr>
          <a:xfrm>
            <a:off x="6605999" y="1747209"/>
            <a:ext cx="126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667999"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7829999" y="1747209"/>
            <a:ext cx="1188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819999"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8982000" y="1747209"/>
            <a:ext cx="1188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972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503999" y="2514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864000" y="2496038"/>
            <a:ext cx="9288000" cy="298144"/>
          </a:xfrm>
          <a:prstGeom prst="rect">
            <a:avLst/>
          </a:prstGeom>
          <a:noFill/>
        </p:spPr>
        <p:txBody>
          <a:bodyPr wrap="square" anchor="t" lIns="54000" rIns="54000"/>
          <a:lstStyle/>
          <a:p>
            <a:pPr algn="l"/>
            <a:r>
              <a:rPr sz="1200" b="0">
                <a:solidFill>
                  <a:srgbClr val="060606"/>
                </a:solidFill>
                <a:latin typeface="Helvetica"/>
              </a:rPr>
              <a:t>Le précompte maladie vaut 11 354 / 301 159 = 3,77 % du salaire de base, au lieu de 3,5 %.</a:t>
            </a:r>
          </a:p>
        </p:txBody>
      </p:sp>
      <p:sp>
        <p:nvSpPr>
          <p:cNvPr id="41" name="Oval 40"/>
          <p:cNvSpPr/>
          <p:nvPr/>
        </p:nvSpPr>
        <p:spPr>
          <a:xfrm>
            <a:off x="503999" y="2902182"/>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864000" y="2884182"/>
            <a:ext cx="9288000" cy="298144"/>
          </a:xfrm>
          <a:prstGeom prst="rect">
            <a:avLst/>
          </a:prstGeom>
          <a:noFill/>
        </p:spPr>
        <p:txBody>
          <a:bodyPr wrap="square" anchor="t" lIns="54000" rIns="54000"/>
          <a:lstStyle/>
          <a:p>
            <a:pPr algn="l"/>
            <a:r>
              <a:rPr sz="1200" b="0">
                <a:solidFill>
                  <a:srgbClr val="060606"/>
                </a:solidFill>
                <a:latin typeface="Helvetica"/>
              </a:rPr>
              <a:t>Le précompte décès vaut 3 704 / 301 159 = 1,23 % du salaire de base, au lieu de 1,5 %.</a:t>
            </a:r>
          </a:p>
        </p:txBody>
      </p:sp>
      <p:sp>
        <p:nvSpPr>
          <p:cNvPr id="43" name="Oval 42"/>
          <p:cNvSpPr/>
          <p:nvPr/>
        </p:nvSpPr>
        <p:spPr>
          <a:xfrm>
            <a:off x="503999" y="329032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864000" y="3272327"/>
            <a:ext cx="9288000" cy="298144"/>
          </a:xfrm>
          <a:prstGeom prst="rect">
            <a:avLst/>
          </a:prstGeom>
          <a:noFill/>
        </p:spPr>
        <p:txBody>
          <a:bodyPr wrap="square" anchor="t" lIns="54000" rIns="54000"/>
          <a:lstStyle/>
          <a:p>
            <a:pPr algn="l"/>
            <a:r>
              <a:rPr sz="1200" b="0">
                <a:solidFill>
                  <a:srgbClr val="060606"/>
                </a:solidFill>
                <a:latin typeface="Helvetica"/>
              </a:rPr>
              <a:t>Le total de 5,00 % est respecté, mais la répartition entre maladie et décès diffère du barème indiqué.</a:t>
            </a:r>
          </a:p>
        </p:txBody>
      </p:sp>
      <p:sp>
        <p:nvSpPr>
          <p:cNvPr id="45" name="TextBox 44"/>
          <p:cNvSpPr txBox="1"/>
          <p:nvPr/>
        </p:nvSpPr>
        <p:spPr>
          <a:xfrm>
            <a:off x="503999" y="3714471"/>
            <a:ext cx="11232000" cy="2153528"/>
          </a:xfrm>
          <a:prstGeom prst="rect">
            <a:avLst/>
          </a:prstGeom>
          <a:noFill/>
        </p:spPr>
        <p:txBody>
          <a:bodyPr wrap="square" lIns="54000" rIns="54000"/>
          <a:lstStyle/>
          <a:p>
            <a:pPr algn="just">
              <a:spcAft>
                <a:spcPts val="600"/>
              </a:spcAft>
            </a:pPr>
            <a:r>
              <a:rPr sz="1200" b="1">
                <a:solidFill>
                  <a:srgbClr val="060606"/>
                </a:solidFill>
                <a:latin typeface="Helvetica"/>
              </a:rPr>
              <a:t>La Solde applique la même clé à tous les agents.</a:t>
            </a:r>
            <a:r>
              <a:rPr sz="1200" b="0">
                <a:solidFill>
                  <a:srgbClr val="060606"/>
                </a:solidFill>
                <a:latin typeface="Helvetica"/>
              </a:rPr>
              <a:t> L'écart avec le barème n'est donc pas une erreur ponctuelle, mais une règle de calcul.</a:t>
            </a:r>
          </a:p>
          <a:p>
            <a:pPr algn="just">
              <a:spcAft>
                <a:spcPts val="600"/>
              </a:spcAft>
            </a:pPr>
            <a:r>
              <a:rPr sz="1200" b="0">
                <a:solidFill>
                  <a:srgbClr val="060606"/>
                </a:solidFill>
                <a:latin typeface="Helvetica"/>
              </a:rPr>
              <a:t>Le barème officiel est fixé par les statuts (art. 17) et le règlement intérieur (art. 33) : la répartition de la Solde doit être corrigée ou expliquée, faute de quoi le résultat de chaque garantie dépend de la source retenue.</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936 : poste maladie | 8Z6 : poste décès</a:t>
            </a:r>
          </a:p>
        </p:txBody>
      </p:sp>
    </p:spTree>
    <p:extLst>
      <p:ext uri="{BB962C8B-B14F-4D97-AF65-F5344CB8AC3E}">
        <p14:creationId xmlns:p14="http://schemas.microsoft.com/office/powerpoint/2010/main" val="779377462"/>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Taux de cotisation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Trois clés de répartition coexistent pour le même taux de 5 %</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Barème des statuts 3,5 / 1,5. Solde 3,77 / 1,23. Comptabilité 2025 3,52 / 1,48</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11 : Répartition du taux de 5 % selon la source</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 du salaire de base</a:t>
            </a:r>
          </a:p>
        </p:txBody>
      </p:sp>
      <p:graphicFrame>
        <p:nvGraphicFramePr>
          <p:cNvPr id="32" name="Chart 31"/>
          <p:cNvGraphicFramePr>
            <a:graphicFrameLocks noGrp="1"/>
          </p:cNvGraphicFramePr>
          <p:nvPr/>
        </p:nvGraphicFramePr>
        <p:xfrm>
          <a:off x="503999" y="1782000"/>
          <a:ext cx="5976000" cy="3888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Balances des comptes du FPPN (Sage 100), exercices 2020 à 2025 et du 01/01 au 31/08/2026 (provisoire).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 total de 5 % est respecté dans les trois sources.</a:t>
            </a:r>
            <a:r>
              <a:rPr sz="1400" b="0">
                <a:solidFill>
                  <a:srgbClr val="060606"/>
                </a:solidFill>
                <a:latin typeface="Helvetica"/>
              </a:rPr>
              <a:t> Seule la répartition entre maladie et décès change.</a:t>
            </a:r>
          </a:p>
          <a:p>
            <a:pPr algn="just">
              <a:spcAft>
                <a:spcPts val="600"/>
              </a:spcAft>
            </a:pPr>
            <a:r>
              <a:rPr sz="1400" b="1">
                <a:solidFill>
                  <a:srgbClr val="060606"/>
                </a:solidFill>
                <a:latin typeface="Helvetica"/>
              </a:rPr>
              <a:t>La Solde retient 3,77 % au poste maladie et 1,23 % au poste décès.</a:t>
            </a:r>
            <a:r>
              <a:rPr sz="1400" b="0">
                <a:solidFill>
                  <a:srgbClr val="060606"/>
                </a:solidFill>
                <a:latin typeface="Helvetica"/>
              </a:rPr>
              <a:t> Les statuts (art. 17) et le règlement intérieur (art. 33) fixent 3,5 % et 1,5 %, comme l'avait indiqué le responsable des sinistres et prestations le 16/10/2026. Le responsable des cotisations renvoie la répartition à la comptabilité (entretien du 19/10/2026).</a:t>
            </a:r>
          </a:p>
          <a:p>
            <a:pPr algn="just">
              <a:spcAft>
                <a:spcPts val="600"/>
              </a:spcAft>
            </a:pPr>
            <a:r>
              <a:rPr sz="1400" b="1">
                <a:solidFill>
                  <a:srgbClr val="060606"/>
                </a:solidFill>
                <a:latin typeface="Helvetica"/>
              </a:rPr>
              <a:t>La comptabilité affecte 70,50 % des cotisations à la maladie</a:t>
            </a:r>
            <a:r>
              <a:rPr sz="1400" b="0">
                <a:solidFill>
                  <a:srgbClr val="060606"/>
                </a:solidFill>
                <a:latin typeface="Helvetica"/>
              </a:rPr>
              <a:t>, proche des 70 % du barème indiqué en entretien. Elle ne suit donc pas la Solde.</a:t>
            </a:r>
          </a:p>
          <a:p>
            <a:pPr algn="just">
              <a:spcAft>
                <a:spcPts val="600"/>
              </a:spcAft>
            </a:pPr>
            <a:r>
              <a:rPr sz="1400" b="0">
                <a:solidFill>
                  <a:srgbClr val="060606"/>
                </a:solidFill>
                <a:latin typeface="Helvetica"/>
              </a:rPr>
              <a:t>La Décision n° 05/2022 impose de suivre l'excédent par risque : sans clé unique, le FPPN ne peut pas calculer la réserve obligatoire exigée pour chaque risque (au moins 30 % de l'excédent maladie, 50 % des autres).</a:t>
            </a:r>
          </a:p>
        </p:txBody>
      </p:sp>
      <p:sp>
        <p:nvSpPr>
          <p:cNvPr id="35" name="TextBox 34"/>
          <p:cNvSpPr txBox="1"/>
          <p:nvPr/>
        </p:nvSpPr>
        <p:spPr>
          <a:xfrm>
            <a:off x="503999" y="5688000"/>
            <a:ext cx="5976000" cy="162000"/>
          </a:xfrm>
          <a:prstGeom prst="rect">
            <a:avLst/>
          </a:prstGeom>
          <a:noFill/>
        </p:spPr>
        <p:txBody>
          <a:bodyPr wrap="square" anchor="t" lIns="54000" rIns="54000"/>
          <a:lstStyle/>
          <a:p>
            <a:pPr algn="l"/>
            <a:r>
              <a:rPr sz="850" b="0">
                <a:solidFill>
                  <a:srgbClr val="53565A"/>
                </a:solidFill>
                <a:latin typeface="Helvetica"/>
              </a:rPr>
              <a:t>Valable pour : policiers en activité précomptés par la Solde, janvier 2024 à septembre 2026. Taux mesurés sur les mois détaillés cités.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a:t>
            </a:r>
          </a:p>
        </p:txBody>
      </p:sp>
    </p:spTree>
    <p:extLst>
      <p:ext uri="{BB962C8B-B14F-4D97-AF65-F5344CB8AC3E}">
        <p14:creationId xmlns:p14="http://schemas.microsoft.com/office/powerpoint/2010/main" val="399086555"/>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Sensibilité : clé de répartition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clé retenue change la sinistralité de chaque garantie de plusieurs points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maladie 2025 : 73,53 % avec la clé comptable, 68,75 % avec la clé de la Solde</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12 : Ratio S/C 2025 selon la clé de répartition</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a:t>
            </a:r>
          </a:p>
        </p:txBody>
      </p:sp>
      <p:graphicFrame>
        <p:nvGraphicFramePr>
          <p:cNvPr id="32" name="Chart 31"/>
          <p:cNvGraphicFramePr>
            <a:graphicFrameLocks noGrp="1"/>
          </p:cNvGraphicFramePr>
          <p:nvPr/>
        </p:nvGraphicFramePr>
        <p:xfrm>
          <a:off x="503999" y="1782000"/>
          <a:ext cx="6552000" cy="3888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Avec la clé de la Solde, le S/C maladie 2025 passe à 68,75 %</a:t>
            </a:r>
            <a:r>
              <a:rPr sz="1400" b="0">
                <a:solidFill>
                  <a:srgbClr val="060606"/>
                </a:solidFill>
                <a:latin typeface="Helvetica"/>
              </a:rPr>
              <a:t> et le S/C décès monte à 22,97 %.</a:t>
            </a:r>
          </a:p>
          <a:p>
            <a:pPr algn="just">
              <a:spcAft>
                <a:spcPts val="600"/>
              </a:spcAft>
            </a:pPr>
            <a:r>
              <a:rPr sz="1400" b="1">
                <a:solidFill>
                  <a:srgbClr val="060606"/>
                </a:solidFill>
                <a:latin typeface="Helvetica"/>
              </a:rPr>
              <a:t>Avec le barème indiqué en entretien, le S/C maladie vaut 74,06 %.</a:t>
            </a:r>
            <a:r>
              <a:rPr sz="1400" b="0">
                <a:solidFill>
                  <a:srgbClr val="060606"/>
                </a:solidFill>
                <a:latin typeface="Helvetica"/>
              </a:rPr>
              <a:t> Les prestations restent les mêmes : seule l'affectation des cotisations change.</a:t>
            </a:r>
          </a:p>
          <a:p>
            <a:pPr algn="just">
              <a:spcAft>
                <a:spcPts val="600"/>
              </a:spcAft>
            </a:pPr>
            <a:r>
              <a:rPr sz="1400" b="1">
                <a:solidFill>
                  <a:srgbClr val="060606"/>
                </a:solidFill>
                <a:latin typeface="Helvetica"/>
              </a:rPr>
              <a:t>Le résultat par garantie dépend donc d'une décision de gestion.</a:t>
            </a:r>
            <a:r>
              <a:rPr sz="1400" b="0">
                <a:solidFill>
                  <a:srgbClr val="060606"/>
                </a:solidFill>
                <a:latin typeface="Helvetica"/>
              </a:rPr>
              <a:t> Cette décision doit être écrite dans le barème et appliquée de la même façon par la Solde et par la comptabilité.</a:t>
            </a:r>
          </a:p>
          <a:p>
            <a:pPr algn="just">
              <a:spcAft>
                <a:spcPts val="600"/>
              </a:spcAft>
            </a:pPr>
            <a:r>
              <a:rPr sz="1400" b="0">
                <a:solidFill>
                  <a:srgbClr val="060606"/>
                </a:solidFill>
                <a:latin typeface="Helvetica"/>
              </a:rPr>
              <a:t>Selon la clé, la maladie se situe dans la fourchette réglementaire de 70 % à 80 % ou en dessous : la conclusion sur l'équilibre de la garantie maladie ne sera ferme qu'avec le barème officiel.</a:t>
            </a:r>
          </a:p>
        </p:txBody>
      </p:sp>
      <p:sp>
        <p:nvSpPr>
          <p:cNvPr id="35" name="TextBox 34"/>
          <p:cNvSpPr txBox="1"/>
          <p:nvPr/>
        </p:nvSpPr>
        <p:spPr>
          <a:xfrm>
            <a:off x="503999" y="5688000"/>
            <a:ext cx="6552000" cy="162000"/>
          </a:xfrm>
          <a:prstGeom prst="rect">
            <a:avLst/>
          </a:prstGeom>
          <a:noFill/>
        </p:spPr>
        <p:txBody>
          <a:bodyPr wrap="square" anchor="t" lIns="54000" rIns="54000"/>
          <a:lstStyle/>
          <a:p>
            <a:pPr algn="l"/>
            <a:r>
              <a:rPr sz="850" b="0">
                <a:solidFill>
                  <a:srgbClr val="53565A"/>
                </a:solidFill>
                <a:latin typeface="Helvetica"/>
              </a:rPr>
              <a:t>Valable pour : policiers en activité précomptés par la Solde, janvier 2024 à septembre 2026. Taux mesurés sur les mois détaillés cités.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1720178835"/>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Cotisations en termes réels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Hors inflation, les cotisations progressent de 23 % entre 2020 et 2025</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Hausse nominale 45,76 %, hausse des prix 18,50 %, hausse réelle 23,01 %</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13 : Cotisations nominales et réelles (francs de 2020)</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3888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Banque mondiale, FP.CPI.TOTL.ZG, mise à jour du 08/10/2026.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L'inflation explique une partie de la hausse des cotisations.</a:t>
            </a:r>
            <a:r>
              <a:rPr sz="1400" b="0">
                <a:solidFill>
                  <a:srgbClr val="060606"/>
                </a:solidFill>
                <a:latin typeface="Helvetica"/>
              </a:rPr>
              <a:t> Les prix ont augmenté de 18,50 % entre 2020 et 2025.</a:t>
            </a:r>
          </a:p>
          <a:p>
            <a:pPr algn="just">
              <a:spcAft>
                <a:spcPts val="600"/>
              </a:spcAft>
            </a:pPr>
            <a:r>
              <a:rPr sz="1400" b="1">
                <a:solidFill>
                  <a:srgbClr val="060606"/>
                </a:solidFill>
                <a:latin typeface="Helvetica"/>
              </a:rPr>
              <a:t>La hausse réelle reste nette : 23,01 %.</a:t>
            </a:r>
            <a:r>
              <a:rPr sz="1400" b="0">
                <a:solidFill>
                  <a:srgbClr val="060606"/>
                </a:solidFill>
                <a:latin typeface="Helvetica"/>
              </a:rPr>
              <a:t> Elle vient surtout de la hausse des effectifs, le taux de 5 % étant resté le même.</a:t>
            </a:r>
          </a:p>
          <a:p>
            <a:pPr algn="just">
              <a:spcAft>
                <a:spcPts val="600"/>
              </a:spcAft>
            </a:pPr>
            <a:r>
              <a:rPr sz="1400" b="1">
                <a:solidFill>
                  <a:srgbClr val="060606"/>
                </a:solidFill>
                <a:latin typeface="Helvetica"/>
              </a:rPr>
              <a:t>L'inflation de 2025 est très faible (0,13 %)</a:t>
            </a:r>
            <a:r>
              <a:rPr sz="1400" b="0">
                <a:solidFill>
                  <a:srgbClr val="060606"/>
                </a:solidFill>
                <a:latin typeface="Helvetica"/>
              </a:rPr>
              <a:t>, après 5,23 % en 2022.</a:t>
            </a:r>
          </a:p>
          <a:p>
            <a:pPr algn="just">
              <a:spcAft>
                <a:spcPts val="600"/>
              </a:spcAft>
            </a:pPr>
            <a:r>
              <a:rPr sz="1400" b="0">
                <a:solidFill>
                  <a:srgbClr val="060606"/>
                </a:solidFill>
                <a:latin typeface="Helvetica"/>
              </a:rPr>
              <a:t>Le coût des soins suit les prix de la santé : une cotisation fixée en pourcentage du salaire ne protège le FPPN que si les salaires suivent ces prix. La projection devra tester cette hypothèse.</a:t>
            </a:r>
          </a:p>
        </p:txBody>
      </p:sp>
      <p:sp>
        <p:nvSpPr>
          <p:cNvPr id="35" name="TextBox 34"/>
          <p:cNvSpPr txBox="1"/>
          <p:nvPr/>
        </p:nvSpPr>
        <p:spPr>
          <a:xfrm>
            <a:off x="503999" y="5688000"/>
            <a:ext cx="6552000" cy="162000"/>
          </a:xfrm>
          <a:prstGeom prst="rect">
            <a:avLst/>
          </a:prstGeom>
          <a:noFill/>
        </p:spPr>
        <p:txBody>
          <a:bodyPr wrap="square" anchor="t" lIns="54000" rIns="54000"/>
          <a:lstStyle/>
          <a:p>
            <a:pPr algn="l"/>
            <a:r>
              <a:rPr sz="850" b="0">
                <a:solidFill>
                  <a:srgbClr val="53565A"/>
                </a:solidFill>
                <a:latin typeface="Helvetica"/>
              </a:rPr>
              <a:t>Valable pour : policiers en activité précomptés par la Solde, janvier 2024 à septembre 2026. Taux mesurés sur les mois détaillés cités.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356183608"/>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Cotisations comptabilisées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cotisations comptabilisées progressent de 45,76 % entre 2020 et 2025</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2 344 618 501 FCFA en 2020, 3 417 551 722 FCFA en 2025. Taux de croissance annuel moyen 7,83 %</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14 : Cotisations comptabilisées par garantie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3888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En 2025, comptabilité et précomptes maladie diffèrent de 6,89 %.</a:t>
            </a:r>
            <a:r>
              <a:rPr sz="1400" b="0">
                <a:solidFill>
                  <a:srgbClr val="060606"/>
                </a:solidFill>
                <a:latin typeface="Helvetica"/>
              </a:rPr>
              <a:t> La comptabilité enregistre 2 409 281 030 FCFA, contre 2 587 432 980 FCFA de précomptes.</a:t>
            </a:r>
          </a:p>
          <a:p>
            <a:pPr algn="just">
              <a:spcAft>
                <a:spcPts val="600"/>
              </a:spcAft>
            </a:pPr>
            <a:r>
              <a:rPr sz="1400" b="1">
                <a:solidFill>
                  <a:srgbClr val="060606"/>
                </a:solidFill>
                <a:latin typeface="Helvetica"/>
              </a:rPr>
              <a:t>L'écart vient de la clé de répartition.</a:t>
            </a:r>
            <a:r>
              <a:rPr sz="1400" b="0">
                <a:solidFill>
                  <a:srgbClr val="060606"/>
                </a:solidFill>
                <a:latin typeface="Helvetica"/>
              </a:rPr>
              <a:t> La comptabilité affecte au décès une part des cotisations plus grande que la Solde.</a:t>
            </a:r>
          </a:p>
          <a:p>
            <a:pPr algn="just">
              <a:spcAft>
                <a:spcPts val="600"/>
              </a:spcAft>
            </a:pPr>
            <a:r>
              <a:rPr sz="1400" b="1">
                <a:solidFill>
                  <a:srgbClr val="060606"/>
                </a:solidFill>
                <a:latin typeface="Helvetica"/>
              </a:rPr>
              <a:t>Fin 2025, l'État devait 704 189 157 FCFA de cotisations.</a:t>
            </a:r>
            <a:r>
              <a:rPr sz="1400" b="0">
                <a:solidFill>
                  <a:srgbClr val="060606"/>
                </a:solidFill>
                <a:latin typeface="Helvetica"/>
              </a:rPr>
              <a:t> Le compte est soldé au 31/08/2026.</a:t>
            </a:r>
          </a:p>
          <a:p>
            <a:pPr algn="just">
              <a:spcAft>
                <a:spcPts val="600"/>
              </a:spcAft>
            </a:pPr>
            <a:r>
              <a:rPr sz="1400" b="0">
                <a:solidFill>
                  <a:srgbClr val="060606"/>
                </a:solidFill>
                <a:latin typeface="Helvetica"/>
              </a:rPr>
              <a:t>Les cotisations totales concordent, mais leur partage entre maladie et décès diffère selon la source. Tant que cet écart n'est pas réglé, la sinistralité et l'excédent de chaque risque restent incertains.</a:t>
            </a:r>
          </a:p>
        </p:txBody>
      </p:sp>
      <p:sp>
        <p:nvSpPr>
          <p:cNvPr id="35" name="TextBox 34"/>
          <p:cNvSpPr txBox="1"/>
          <p:nvPr/>
        </p:nvSpPr>
        <p:spPr>
          <a:xfrm>
            <a:off x="503999" y="5688000"/>
            <a:ext cx="6552000" cy="162000"/>
          </a:xfrm>
          <a:prstGeom prst="rect">
            <a:avLst/>
          </a:prstGeom>
          <a:noFill/>
        </p:spPr>
        <p:txBody>
          <a:bodyPr wrap="square" anchor="t" lIns="54000" rIns="54000"/>
          <a:lstStyle/>
          <a:p>
            <a:pPr algn="l"/>
            <a:r>
              <a:rPr sz="850" b="0">
                <a:solidFill>
                  <a:srgbClr val="53565A"/>
                </a:solidFill>
                <a:latin typeface="Helvetica"/>
              </a:rPr>
              <a:t>Valable pour : policiers en activité précomptés par la Solde, janvier 2024 à septembre 2026. Taux mesurés sur les mois détaillés cités.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306553099"/>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Règles des produits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fichiers confirment les montants de l'EFC et du PEP. Les textes reçus le 22/10/2026 ne sont pas adoptés formellement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Maladie et décès en pourcentage du salaire de base, EFC et PEP en montants fixes, sans règle écrite transmise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(déclarations à confirmer par document). Fichiers de précomptes de la Solde, de la CGRAE et du FPPN reçus le 15/10/2026.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18 : Règles des produits déclarées et confrontées aux fichiers de précomptes</a:t>
            </a:r>
          </a:p>
        </p:txBody>
      </p:sp>
      <p:graphicFrame>
        <p:nvGraphicFramePr>
          <p:cNvPr id="32" name="Table 31"/>
          <p:cNvGraphicFramePr>
            <a:graphicFrameLocks noGrp="1"/>
          </p:cNvGraphicFramePr>
          <p:nvPr/>
        </p:nvGraphicFramePr>
        <p:xfrm>
          <a:off x="503999" y="1655999"/>
          <a:ext cx="11232000" cy="2265957"/>
        </p:xfrm>
        <a:graphic>
          <a:graphicData uri="http://schemas.openxmlformats.org/drawingml/2006/table">
            <a:tbl>
              <a:tblPr firstRow="0" bandRow="0">
                <a:tableStyleId>{5940675A-B579-460E-94D1-54222C63F5DA}</a:tableStyleId>
              </a:tblPr>
              <a:tblGrid>
                <a:gridCol w="1296000"/>
                <a:gridCol w="3600000"/>
                <a:gridCol w="3600000"/>
                <a:gridCol w="2736000"/>
              </a:tblGrid>
              <a:tr h="194768">
                <a:tc>
                  <a:txBody>
                    <a:bodyPr/>
                    <a:lstStyle/>
                    <a:p>
                      <a:pPr marL="0" indent="0" lvl="0">
                        <a:buNone/>
                      </a:pPr>
                      <a:r>
                        <a:rPr sz="90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Règle déclarée (19/10/2026)</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Ce que montrent les fichiers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À confirmer</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Maladie (936) et décès (8Z6)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Pourcentage du salaire de base. La répartition entre maladie et décès relève de la comptabilité.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La Solde retient 3,77 % et 1,23 % du salaire de base, soit 5,00 % au total.</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Barème officiel et document de notification à la Solde (PBC, item 56).</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EFC (870)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6 000 FCFA par mois avant 2021, 10 000 FCFA pour les souscriptions depuis 2021. Les anciens souscripteurs restent à 6 000 FCFA et peuvent passer à 10 000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10 000 FCFA : 62,52 % des lignes en 2023 et 84,98 % en 2026. 6 000 FCFA : 37,38 % puis 14,99 %.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document formel selon l'interlocuteur (PBC, item 58).</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PEP (998)</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À partir de 10 000 FCFA, par paliers de 5 000 FCFA. Durée à vérifier.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99,80 % des montants sont des multiples de 5 000 FCFA et 0,11 % sont inférieurs à 10 000 FCFA. Montant maximal : 300 000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Durée des plans et conditions de retrait (PBC, item 57).</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EFC et PEP</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Présentés aux élèves policiers comme obligatoires dès l'école, sans texte.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Non mesurable dans les fichiers.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texte selon l'interlocuteur.</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Prestations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trois mois de cotisation avant de pouvoir bénéficier des prestations.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 mesurable sans base des prestations.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Texte et produits concernés (PBC, item 59). L'entretien du 16/10/2026 indiquait l'absence de délai de carence.</a:t>
                      </a:r>
                    </a:p>
                  </a:txBody>
                  <a:tcPr marL="43200" marR="43200" marT="14400" marB="14400" anchor="ctr">
                    <a:solidFill>
                      <a:srgbClr val="FFFFFF"/>
                    </a:solidFill>
                  </a:tcPr>
                </a:tc>
              </a:tr>
            </a:tbl>
          </a:graphicData>
        </a:graphic>
      </p:graphicFrame>
      <p:sp>
        <p:nvSpPr>
          <p:cNvPr id="33" name="TextBox 32"/>
          <p:cNvSpPr txBox="1"/>
          <p:nvPr/>
        </p:nvSpPr>
        <p:spPr>
          <a:xfrm>
            <a:off x="503999" y="3939960"/>
            <a:ext cx="11232000" cy="162000"/>
          </a:xfrm>
          <a:prstGeom prst="rect">
            <a:avLst/>
          </a:prstGeom>
          <a:noFill/>
        </p:spPr>
        <p:txBody>
          <a:bodyPr wrap="square" anchor="t" lIns="54000" rIns="54000"/>
          <a:lstStyle/>
          <a:p>
            <a:pPr algn="l"/>
            <a:r>
              <a:rPr sz="850" b="0">
                <a:solidFill>
                  <a:srgbClr val="53565A"/>
                </a:solidFill>
                <a:latin typeface="Helvetica"/>
              </a:rPr>
              <a:t>Valable pour : policiers en activité précomptés par la Solde, janvier 2024 à septembre 2026. Taux mesurés sur les mois détaillés cités.</a:t>
            </a:r>
          </a:p>
        </p:txBody>
      </p:sp>
      <p:sp>
        <p:nvSpPr>
          <p:cNvPr id="34" name="TextBox 33"/>
          <p:cNvSpPr txBox="1"/>
          <p:nvPr/>
        </p:nvSpPr>
        <p:spPr>
          <a:xfrm>
            <a:off x="503999" y="4227960"/>
            <a:ext cx="11232000" cy="1640039"/>
          </a:xfrm>
          <a:prstGeom prst="rect">
            <a:avLst/>
          </a:prstGeom>
          <a:noFill/>
        </p:spPr>
        <p:txBody>
          <a:bodyPr wrap="square" lIns="54000" rIns="54000"/>
          <a:lstStyle/>
          <a:p>
            <a:pPr algn="just">
              <a:spcAft>
                <a:spcPts val="600"/>
              </a:spcAft>
            </a:pPr>
            <a:r>
              <a:rPr sz="1300" b="1">
                <a:solidFill>
                  <a:srgbClr val="060606"/>
                </a:solidFill>
                <a:latin typeface="Helvetica"/>
              </a:rPr>
              <a:t>Les fichiers confirment les déclarations sur l'EFC et le PEP.</a:t>
            </a:r>
            <a:r>
              <a:rPr sz="1300" b="0">
                <a:solidFill>
                  <a:srgbClr val="060606"/>
                </a:solidFill>
                <a:latin typeface="Helvetica"/>
              </a:rPr>
              <a:t> Le cahier des charges EFC et PEP de 2021 et le manuel des produits d'épargne, reçus le 22/10/2026, décrivent ces produits sans décision d'adoption signée (partie 6). La part de l'EFC à 10 000 FCFA augmente chaque année, ce qui correspond à l'arrivée de nouveaux souscripteurs depuis 2021.</a:t>
            </a:r>
          </a:p>
          <a:p>
            <a:pPr algn="just">
              <a:spcAft>
                <a:spcPts val="600"/>
              </a:spcAft>
            </a:pPr>
            <a:r>
              <a:rPr sz="1300" b="0">
                <a:solidFill>
                  <a:srgbClr val="060606"/>
                </a:solidFill>
                <a:latin typeface="Helvetica"/>
              </a:rPr>
              <a:t>Les engagements d'épargne se calculeront sur les montants réellement précomptés. Le règlement de chaque produit reste indispensable pour connaître les échéances et les conditions de retrait.</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PBC : liste des documents demandés au client | 936 : poste maladie | 8Z6 : poste décès | 870 : poste EFC | 998 : poste PEP</a:t>
            </a:r>
          </a:p>
        </p:txBody>
      </p:sp>
    </p:spTree>
    <p:extLst>
      <p:ext uri="{BB962C8B-B14F-4D97-AF65-F5344CB8AC3E}">
        <p14:creationId xmlns:p14="http://schemas.microsoft.com/office/powerpoint/2010/main" val="777291740"/>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Nouvelles recrues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recrues souscrivent avant d'avoir un mécano, ce qui retarde le premier précompte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mécano est reporté sur les fiches de souscription en masse, après son attribution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(déclarations à confirmer par document)</a:t>
            </a:r>
          </a:p>
        </p:txBody>
      </p:sp>
      <p:sp>
        <p:nvSpPr>
          <p:cNvPr id="31" name="Logigramme r1"/>
          <p:cNvSpPr/>
          <p:nvPr/>
        </p:nvSpPr>
        <p:spPr>
          <a:xfrm>
            <a:off x="576000" y="1655999"/>
            <a:ext cx="1296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FFFFFF"/>
                </a:solidFill>
                <a:latin typeface="Helvetica"/>
              </a:rPr>
              <a:t>Élève policier</a:t>
            </a:r>
          </a:p>
          <a:p>
            <a:pPr algn="ctr"/>
            <a:r>
              <a:rPr sz="900" b="1">
                <a:solidFill>
                  <a:srgbClr val="FFFFFF"/>
                </a:solidFill>
                <a:latin typeface="Helvetica"/>
              </a:rPr>
              <a:t>matricule sans mécano</a:t>
            </a:r>
          </a:p>
        </p:txBody>
      </p:sp>
      <p:sp>
        <p:nvSpPr>
          <p:cNvPr id="32" name="Logigramme r2"/>
          <p:cNvSpPr/>
          <p:nvPr/>
        </p:nvSpPr>
        <p:spPr>
          <a:xfrm>
            <a:off x="2178000" y="1655999"/>
            <a:ext cx="1296000" cy="576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Fiches de souscription</a:t>
            </a:r>
          </a:p>
          <a:p>
            <a:pPr algn="ctr"/>
            <a:r>
              <a:rPr sz="900" b="0">
                <a:solidFill>
                  <a:srgbClr val="060606"/>
                </a:solidFill>
                <a:latin typeface="Helvetica"/>
              </a:rPr>
              <a:t>EFC et PEP</a:t>
            </a:r>
          </a:p>
        </p:txBody>
      </p:sp>
      <p:sp>
        <p:nvSpPr>
          <p:cNvPr id="33" name="Logigramme r3"/>
          <p:cNvSpPr/>
          <p:nvPr/>
        </p:nvSpPr>
        <p:spPr>
          <a:xfrm>
            <a:off x="3780000" y="1655999"/>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Attente</a:t>
            </a:r>
          </a:p>
          <a:p>
            <a:pPr algn="ctr"/>
            <a:r>
              <a:rPr sz="900" b="0">
                <a:solidFill>
                  <a:srgbClr val="060606"/>
                </a:solidFill>
                <a:latin typeface="Helvetica"/>
              </a:rPr>
              <a:t>du mécano</a:t>
            </a:r>
          </a:p>
        </p:txBody>
      </p:sp>
      <p:sp>
        <p:nvSpPr>
          <p:cNvPr id="34" name="Logigramme r4"/>
          <p:cNvSpPr/>
          <p:nvPr/>
        </p:nvSpPr>
        <p:spPr>
          <a:xfrm>
            <a:off x="5382000" y="1627199"/>
            <a:ext cx="1296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Mécano</a:t>
            </a:r>
          </a:p>
          <a:p>
            <a:pPr algn="ctr"/>
            <a:r>
              <a:rPr sz="850" b="0">
                <a:solidFill>
                  <a:srgbClr val="060606"/>
                </a:solidFill>
                <a:latin typeface="Helvetica"/>
              </a:rPr>
              <a:t>attribué ?</a:t>
            </a:r>
          </a:p>
        </p:txBody>
      </p:sp>
      <p:sp>
        <p:nvSpPr>
          <p:cNvPr id="35" name="Logigramme r5"/>
          <p:cNvSpPr/>
          <p:nvPr/>
        </p:nvSpPr>
        <p:spPr>
          <a:xfrm>
            <a:off x="6984000" y="1655999"/>
            <a:ext cx="1296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C00000"/>
                </a:solidFill>
                <a:latin typeface="Helvetica"/>
              </a:rPr>
              <a:t>Report du mécano</a:t>
            </a:r>
          </a:p>
          <a:p>
            <a:pPr algn="ctr"/>
            <a:r>
              <a:rPr sz="900" b="1">
                <a:solidFill>
                  <a:srgbClr val="C00000"/>
                </a:solidFill>
                <a:latin typeface="Helvetica"/>
              </a:rPr>
              <a:t>sur chaque fiche, en masse</a:t>
            </a:r>
          </a:p>
        </p:txBody>
      </p:sp>
      <p:sp>
        <p:nvSpPr>
          <p:cNvPr id="36" name="Logigramme r6"/>
          <p:cNvSpPr/>
          <p:nvPr/>
        </p:nvSpPr>
        <p:spPr>
          <a:xfrm>
            <a:off x="8586000" y="1655999"/>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Ajout au fichier</a:t>
            </a:r>
          </a:p>
          <a:p>
            <a:pPr algn="ctr"/>
            <a:r>
              <a:rPr sz="900" b="0">
                <a:solidFill>
                  <a:srgbClr val="060606"/>
                </a:solidFill>
                <a:latin typeface="Helvetica"/>
              </a:rPr>
              <a:t>aller du mois</a:t>
            </a:r>
          </a:p>
        </p:txBody>
      </p:sp>
      <p:sp>
        <p:nvSpPr>
          <p:cNvPr id="37" name="Logigramme r7"/>
          <p:cNvSpPr/>
          <p:nvPr/>
        </p:nvSpPr>
        <p:spPr>
          <a:xfrm>
            <a:off x="10188000" y="1627199"/>
            <a:ext cx="1296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Précompte</a:t>
            </a:r>
          </a:p>
          <a:p>
            <a:pPr algn="ctr"/>
            <a:r>
              <a:rPr sz="850" b="0">
                <a:solidFill>
                  <a:srgbClr val="060606"/>
                </a:solidFill>
                <a:latin typeface="Helvetica"/>
              </a:rPr>
              <a:t>au 1er mois ?</a:t>
            </a:r>
          </a:p>
        </p:txBody>
      </p:sp>
      <p:sp>
        <p:nvSpPr>
          <p:cNvPr id="38" name="Logigramme r10"/>
          <p:cNvSpPr/>
          <p:nvPr/>
        </p:nvSpPr>
        <p:spPr>
          <a:xfrm>
            <a:off x="10188000" y="3024000"/>
            <a:ext cx="1296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FFFFFF"/>
                </a:solidFill>
                <a:latin typeface="Helvetica"/>
              </a:rPr>
              <a:t>Précompte effectif</a:t>
            </a:r>
          </a:p>
          <a:p>
            <a:pPr algn="ctr"/>
            <a:r>
              <a:rPr sz="900" b="1">
                <a:solidFill>
                  <a:srgbClr val="FFFFFF"/>
                </a:solidFill>
                <a:latin typeface="Helvetica"/>
              </a:rPr>
              <a:t>épargne en cours</a:t>
            </a:r>
          </a:p>
        </p:txBody>
      </p:sp>
      <p:sp>
        <p:nvSpPr>
          <p:cNvPr id="39" name="Logigramme r8"/>
          <p:cNvSpPr/>
          <p:nvPr/>
        </p:nvSpPr>
        <p:spPr>
          <a:xfrm>
            <a:off x="8586000" y="3024000"/>
            <a:ext cx="1296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C00000"/>
                </a:solidFill>
                <a:latin typeface="Helvetica"/>
              </a:rPr>
              <a:t>Précompte décalé</a:t>
            </a:r>
          </a:p>
          <a:p>
            <a:pPr algn="ctr"/>
            <a:r>
              <a:rPr sz="900" b="1">
                <a:solidFill>
                  <a:srgbClr val="C00000"/>
                </a:solidFill>
                <a:latin typeface="Helvetica"/>
              </a:rPr>
              <a:t>au mois suivant</a:t>
            </a:r>
          </a:p>
        </p:txBody>
      </p:sp>
      <p:sp>
        <p:nvSpPr>
          <p:cNvPr id="40" name="Logigramme r9"/>
          <p:cNvSpPr/>
          <p:nvPr/>
        </p:nvSpPr>
        <p:spPr>
          <a:xfrm>
            <a:off x="6984000" y="3024000"/>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Paiement manuel</a:t>
            </a:r>
          </a:p>
          <a:p>
            <a:pPr algn="ctr"/>
            <a:r>
              <a:rPr sz="900" b="0">
                <a:solidFill>
                  <a:srgbClr val="060606"/>
                </a:solidFill>
                <a:latin typeface="Helvetica"/>
              </a:rPr>
              <a:t>possible, avec date</a:t>
            </a:r>
          </a:p>
        </p:txBody>
      </p:sp>
      <p:cxnSp>
        <p:nvCxnSpPr>
          <p:cNvPr id="41" name="Flèche r1 vers r2"/>
          <p:cNvCxnSpPr>
            <a:stCxn id="31" idx="3"/>
            <a:endCxn id="32" idx="1"/>
          </p:cNvCxnSpPr>
          <p:nvPr/>
        </p:nvCxnSpPr>
        <p:spPr>
          <a:xfrm flipV="1">
            <a:off x="1872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Flèche r2 vers r3"/>
          <p:cNvCxnSpPr>
            <a:stCxn id="32" idx="3"/>
            <a:endCxn id="33" idx="1"/>
          </p:cNvCxnSpPr>
          <p:nvPr/>
        </p:nvCxnSpPr>
        <p:spPr>
          <a:xfrm flipV="1">
            <a:off x="3474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Flèche r3 vers r4"/>
          <p:cNvCxnSpPr>
            <a:stCxn id="33" idx="3"/>
            <a:endCxn id="34" idx="1"/>
          </p:cNvCxnSpPr>
          <p:nvPr/>
        </p:nvCxnSpPr>
        <p:spPr>
          <a:xfrm>
            <a:off x="5076000" y="1943999"/>
            <a:ext cx="306000" cy="25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Flèche r4 vers r5"/>
          <p:cNvCxnSpPr>
            <a:stCxn id="34" idx="3"/>
            <a:endCxn id="35" idx="1"/>
          </p:cNvCxnSpPr>
          <p:nvPr/>
        </p:nvCxnSpPr>
        <p:spPr>
          <a:xfrm flipV="1">
            <a:off x="6678000" y="1943999"/>
            <a:ext cx="306000" cy="25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721200" y="17891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oui</a:t>
            </a:r>
          </a:p>
        </p:txBody>
      </p:sp>
      <p:cxnSp>
        <p:nvCxnSpPr>
          <p:cNvPr id="46" name="Flèche r4 vers r3"/>
          <p:cNvCxnSpPr>
            <a:stCxn id="34" idx="0"/>
            <a:endCxn id="33" idx="0"/>
          </p:cNvCxnSpPr>
          <p:nvPr/>
        </p:nvCxnSpPr>
        <p:spPr>
          <a:xfrm flipH="1">
            <a:off x="4428000" y="1627199"/>
            <a:ext cx="1602000" cy="28800"/>
          </a:xfrm>
          <a:prstGeom prst="bentConnector3">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083999" y="14471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non</a:t>
            </a:r>
          </a:p>
        </p:txBody>
      </p:sp>
      <p:cxnSp>
        <p:nvCxnSpPr>
          <p:cNvPr id="48" name="Flèche r5 vers r6"/>
          <p:cNvCxnSpPr>
            <a:stCxn id="35" idx="3"/>
            <a:endCxn id="36" idx="1"/>
          </p:cNvCxnSpPr>
          <p:nvPr/>
        </p:nvCxnSpPr>
        <p:spPr>
          <a:xfrm flipV="1">
            <a:off x="8280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Flèche r6 vers r7"/>
          <p:cNvCxnSpPr>
            <a:stCxn id="36" idx="3"/>
            <a:endCxn id="37" idx="1"/>
          </p:cNvCxnSpPr>
          <p:nvPr/>
        </p:nvCxnSpPr>
        <p:spPr>
          <a:xfrm>
            <a:off x="9882000" y="1943999"/>
            <a:ext cx="306000" cy="25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Flèche r7 vers r8"/>
          <p:cNvCxnSpPr>
            <a:stCxn id="37" idx="2"/>
            <a:endCxn id="39" idx="0"/>
          </p:cNvCxnSpPr>
          <p:nvPr/>
        </p:nvCxnSpPr>
        <p:spPr>
          <a:xfrm flipH="1">
            <a:off x="9234000" y="2311199"/>
            <a:ext cx="1602000" cy="712801"/>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10890000" y="23291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non</a:t>
            </a:r>
          </a:p>
        </p:txBody>
      </p:sp>
      <p:cxnSp>
        <p:nvCxnSpPr>
          <p:cNvPr id="52" name="Flèche r8 vers r9"/>
          <p:cNvCxnSpPr>
            <a:stCxn id="39" idx="1"/>
            <a:endCxn id="40" idx="3"/>
          </p:cNvCxnSpPr>
          <p:nvPr/>
        </p:nvCxnSpPr>
        <p:spPr>
          <a:xfrm flipH="1" flipV="1">
            <a:off x="8280000" y="3312000"/>
            <a:ext cx="306000" cy="0"/>
          </a:xfrm>
          <a:prstGeom prst="line">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7678800" y="3131999"/>
            <a:ext cx="864000" cy="162000"/>
          </a:xfrm>
          <a:prstGeom prst="rect">
            <a:avLst/>
          </a:prstGeom>
          <a:noFill/>
        </p:spPr>
        <p:txBody>
          <a:bodyPr wrap="square" anchor="t" lIns="28800" rIns="28800" tIns="10800" bIns="10800">
            <a:spAutoFit/>
          </a:bodyPr>
          <a:lstStyle/>
          <a:p>
            <a:pPr algn="r"/>
            <a:r>
              <a:rPr sz="750" b="1">
                <a:solidFill>
                  <a:srgbClr val="53565A"/>
                </a:solidFill>
                <a:latin typeface="Helvetica"/>
              </a:rPr>
              <a:t>ou</a:t>
            </a:r>
          </a:p>
        </p:txBody>
      </p:sp>
      <p:cxnSp>
        <p:nvCxnSpPr>
          <p:cNvPr id="54" name="Flèche r7 vers r10"/>
          <p:cNvCxnSpPr>
            <a:stCxn id="37" idx="3"/>
            <a:endCxn id="38" idx="3"/>
          </p:cNvCxnSpPr>
          <p:nvPr/>
        </p:nvCxnSpPr>
        <p:spPr>
          <a:xfrm flipH="1">
            <a:off x="11484000" y="1969199"/>
            <a:ext cx="0" cy="1342801"/>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11527199" y="17891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oui</a:t>
            </a:r>
          </a:p>
        </p:txBody>
      </p:sp>
      <p:sp>
        <p:nvSpPr>
          <p:cNvPr id="56" name="TextBox 55"/>
          <p:cNvSpPr txBox="1"/>
          <p:nvPr/>
        </p:nvSpPr>
        <p:spPr>
          <a:xfrm>
            <a:off x="503999" y="3816000"/>
            <a:ext cx="11232000" cy="2052000"/>
          </a:xfrm>
          <a:prstGeom prst="rect">
            <a:avLst/>
          </a:prstGeom>
          <a:noFill/>
        </p:spPr>
        <p:txBody>
          <a:bodyPr wrap="square" lIns="54000" rIns="54000"/>
          <a:lstStyle/>
          <a:p>
            <a:pPr algn="just">
              <a:spcAft>
                <a:spcPts val="600"/>
              </a:spcAft>
            </a:pPr>
            <a:r>
              <a:rPr sz="1200" b="1">
                <a:solidFill>
                  <a:srgbClr val="060606"/>
                </a:solidFill>
                <a:latin typeface="Helvetica"/>
              </a:rPr>
              <a:t>Les nouvelles recrues souscrivent avant d'avoir un mécano.</a:t>
            </a:r>
            <a:r>
              <a:rPr sz="1200" b="0">
                <a:solidFill>
                  <a:srgbClr val="060606"/>
                </a:solidFill>
                <a:latin typeface="Helvetica"/>
              </a:rPr>
              <a:t> Les élèves policiers n'ont qu'un matricule. Le FPPN attend l'attribution des mécanos, puis reporte chaque mécano sur les fiches de souscription avant de les inscrire au fichier aller. Le premier précompte peut être décalé d'un mois (déclaration du responsable des cotisations, entretien du 19/10/2026, à confirmer par document).</a:t>
            </a:r>
          </a:p>
          <a:p>
            <a:pPr algn="just">
              <a:spcAft>
                <a:spcPts val="600"/>
              </a:spcAft>
            </a:pPr>
            <a:r>
              <a:rPr sz="1200" b="1">
                <a:solidFill>
                  <a:srgbClr val="060606"/>
                </a:solidFill>
                <a:latin typeface="Helvetica"/>
              </a:rPr>
              <a:t>Le report en masse des mécanos est une étape à risque.</a:t>
            </a:r>
            <a:r>
              <a:rPr sz="1200" b="0">
                <a:solidFill>
                  <a:srgbClr val="060606"/>
                </a:solidFill>
                <a:latin typeface="Helvetica"/>
              </a:rPr>
              <a:t> Il peut produire des erreurs d'appariement, et donc des précomptes sur la mauvaise personne. Il crée un retard entre la souscription et le premier versement.</a:t>
            </a:r>
          </a:p>
          <a:p>
            <a:pPr algn="just">
              <a:spcAft>
                <a:spcPts val="600"/>
              </a:spcAft>
            </a:pPr>
            <a:r>
              <a:rPr sz="1200" b="0">
                <a:solidFill>
                  <a:srgbClr val="060606"/>
                </a:solidFill>
                <a:latin typeface="Helvetica"/>
              </a:rPr>
              <a:t>Une table de correspondance entre matricule et mécano, fournie par la direction du personnel de la Police, éviterait le report manuel et sécuriserait le premier précompte (PBC, item 67).</a:t>
            </a:r>
          </a:p>
        </p:txBody>
      </p:sp>
      <p:sp>
        <p:nvSpPr>
          <p:cNvPr id="57" name="TextBox 5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PBC : liste des documents demandés au client</a:t>
            </a:r>
          </a:p>
        </p:txBody>
      </p:sp>
    </p:spTree>
    <p:extLst>
      <p:ext uri="{BB962C8B-B14F-4D97-AF65-F5344CB8AC3E}">
        <p14:creationId xmlns:p14="http://schemas.microsoft.com/office/powerpoint/2010/main" val="2152757884"/>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encaisse davantage chaque année grâce aux recrues, mais il applique trois clés différentes pour partager les cotisations entre maladie et décès.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compte 31 198 cotisants en août 2026. La Solde retient 3,77 % et 1,23 %, alors que les statuts (art. 17) prévoient 3,5 % et 1,5 %.</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résultat de chaque garantie et la réserve obligatoire par risque dépendent d'une clé qui n'est fixée par aucun document transmis.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le barème officiel, les dates de naissance et les motifs de sortie des agents.</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effectifs et cotisations</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cotisations augmentent avec les effectifs, mais leur répartition doit être clarifiée</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Effectifs en hausse d'un tiers, taux total de 5 % respecté, trois clés de répartition différentes</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715165279"/>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5</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Sinistralité et résultat</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Prestations, frais de gestion, résultat</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792319929"/>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Formule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S/C d'une garantie rapporte ses prestations comptabilisées de l'année à ses cotisations comptabilisées de la même année, de 2020 à 2026.</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Prestations maladie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retient les comptes 601, 6013, 6018 et 60800007, soit douze comptes de prestations maladie en 2025.</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Prestations décès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retient les comptes 6021 et 6024. En 2020, la prime d'assurance décès (65180000) s'y ajoute, car un assureur portait alors la garantie.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Norme et 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Décision n° 05/2022 fixe une sinistralité entre 70 % et 80 %. Le ratio comptable mélange les soins de l'année et des factures d'années antérieures.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sinistralité comptable</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ratio S/C rapporte les prestations de l'année aux cotisations de l'année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 prestations comptabilisées / cotisations comptabilisées, par garantie et par exercice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S/C : prestations / cotisations</a:t>
            </a:r>
          </a:p>
        </p:txBody>
      </p:sp>
    </p:spTree>
    <p:extLst>
      <p:ext uri="{BB962C8B-B14F-4D97-AF65-F5344CB8AC3E}">
        <p14:creationId xmlns:p14="http://schemas.microsoft.com/office/powerpoint/2010/main" val="2285705359"/>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S/C maladie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Douze comptes de prestations divisés par un compte de cotisations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1 771 635 361 FCFA / 2 409 281 030 FCFA = 73,53 %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 des comptes 2025 (Sage 100). Traitements Adenka</a:t>
            </a:r>
          </a:p>
        </p:txBody>
      </p:sp>
      <p:sp>
        <p:nvSpPr>
          <p:cNvPr id="31" name="TextBox 30"/>
          <p:cNvSpPr txBox="1"/>
          <p:nvPr/>
        </p:nvSpPr>
        <p:spPr>
          <a:xfrm>
            <a:off x="503999" y="1350000"/>
            <a:ext cx="7343999"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7344000" cy="2970000"/>
        </p:xfrm>
        <a:graphic>
          <a:graphicData uri="http://schemas.openxmlformats.org/drawingml/2006/table">
            <a:tbl>
              <a:tblPr firstRow="0" bandRow="0">
                <a:tableStyleId>{5940675A-B579-460E-94D1-54222C63F5DA}</a:tableStyleId>
              </a:tblPr>
              <a:tblGrid>
                <a:gridCol w="1224000"/>
                <a:gridCol w="3960000"/>
                <a:gridCol w="2160000"/>
              </a:tblGrid>
              <a:tr h="198000">
                <a:tc>
                  <a:txBody>
                    <a:bodyPr/>
                    <a:lstStyle/>
                    <a:p>
                      <a:pPr marL="0" indent="0" lvl="0">
                        <a:buNone/>
                      </a:pPr>
                      <a:r>
                        <a:rPr sz="900" b="1">
                          <a:solidFill>
                            <a:srgbClr val="FFFFFF"/>
                          </a:solidFill>
                          <a:latin typeface="Helvetica"/>
                        </a:rPr>
                        <a:t>Compte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Intitulé</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Montant 2025</a:t>
                      </a:r>
                    </a:p>
                  </a:txBody>
                  <a:tcPr marL="43200" marR="43200" marT="14400" marB="14400" anchor="ctr">
                    <a:solidFill>
                      <a:srgbClr val="060606"/>
                    </a:solidFill>
                  </a:tcPr>
                </a:tc>
              </a:tr>
              <a:tr h="198000">
                <a:tc>
                  <a:txBody>
                    <a:bodyPr/>
                    <a:lstStyle/>
                    <a:p>
                      <a:pPr marL="0" indent="0" lvl="0">
                        <a:buNone/>
                      </a:pPr>
                      <a:r>
                        <a:rPr sz="900" b="1">
                          <a:solidFill>
                            <a:srgbClr val="060606"/>
                          </a:solidFill>
                          <a:latin typeface="Helvetica"/>
                        </a:rPr>
                        <a:t>60111000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Pharmacie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38 076 031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60112000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Consultations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173 759 919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60113000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Hospitalisations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23 247 618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60114000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Analyses Médicales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234 266 144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60115000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Radio Imagérie &amp; Echographie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249 812 169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60118000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Transport Médicalisé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1 265 340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60119000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Traitements médicaux</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14 461 585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60120000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Charges de Prestations Maladie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989 729 545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60121000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Remboursement de soins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4 881 810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60122000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Allocation naissance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700 000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60130000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Charges de prestat°séance réducat°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9 485 200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60800007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Bons de prise en charge médicale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31 950 000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Total</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Prestations maladie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1 771 635 361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70100000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COTISATIONS MALADIES ACQUISES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2 409 281 030 FCFA</a:t>
                      </a:r>
                    </a:p>
                  </a:txBody>
                  <a:tcPr marL="43200" marR="43200" marT="14400" marB="14400" anchor="ctr">
                    <a:solidFill>
                      <a:srgbClr val="F2F2F2"/>
                    </a:solidFill>
                  </a:tcPr>
                </a:tc>
              </a:tr>
            </a:tbl>
          </a:graphicData>
        </a:graphic>
      </p:graphicFrame>
      <p:sp>
        <p:nvSpPr>
          <p:cNvPr id="33" name="Rounded Rectangle 32"/>
          <p:cNvSpPr/>
          <p:nvPr/>
        </p:nvSpPr>
        <p:spPr>
          <a:xfrm>
            <a:off x="5670000" y="3121200"/>
            <a:ext cx="2196000" cy="219600"/>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668000" y="2970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670000" y="4111200"/>
            <a:ext cx="2196000" cy="219600"/>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668000" y="3960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670000" y="4309200"/>
            <a:ext cx="2196000" cy="219600"/>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668000" y="415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8063999"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8424000" y="1530000"/>
            <a:ext cx="3312000" cy="670023"/>
          </a:xfrm>
          <a:prstGeom prst="rect">
            <a:avLst/>
          </a:prstGeom>
          <a:noFill/>
        </p:spPr>
        <p:txBody>
          <a:bodyPr wrap="square" anchor="t" lIns="54000" rIns="54000"/>
          <a:lstStyle/>
          <a:p>
            <a:pPr algn="l"/>
            <a:r>
              <a:rPr sz="1200" b="0">
                <a:solidFill>
                  <a:srgbClr val="060606"/>
                </a:solidFill>
                <a:latin typeface="Helvetica"/>
              </a:rPr>
              <a:t>Le compte global 60120000 porte plus de la moitié des prestations, sans détail de nature.</a:t>
            </a:r>
          </a:p>
        </p:txBody>
      </p:sp>
      <p:sp>
        <p:nvSpPr>
          <p:cNvPr id="41" name="Oval 40"/>
          <p:cNvSpPr/>
          <p:nvPr/>
        </p:nvSpPr>
        <p:spPr>
          <a:xfrm>
            <a:off x="8063999" y="2308023"/>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8424000" y="2290023"/>
            <a:ext cx="3312000" cy="484084"/>
          </a:xfrm>
          <a:prstGeom prst="rect">
            <a:avLst/>
          </a:prstGeom>
          <a:noFill/>
        </p:spPr>
        <p:txBody>
          <a:bodyPr wrap="square" anchor="t" lIns="54000" rIns="54000"/>
          <a:lstStyle/>
          <a:p>
            <a:pPr algn="l"/>
            <a:r>
              <a:rPr sz="1200" b="0">
                <a:solidFill>
                  <a:srgbClr val="060606"/>
                </a:solidFill>
                <a:latin typeface="Helvetica"/>
              </a:rPr>
              <a:t>Les douze comptes de prestations maladie totalisent ce montant.</a:t>
            </a:r>
          </a:p>
        </p:txBody>
      </p:sp>
      <p:sp>
        <p:nvSpPr>
          <p:cNvPr id="43" name="Oval 42"/>
          <p:cNvSpPr/>
          <p:nvPr/>
        </p:nvSpPr>
        <p:spPr>
          <a:xfrm>
            <a:off x="8063999" y="288210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8424000" y="2864108"/>
            <a:ext cx="3312000" cy="484084"/>
          </a:xfrm>
          <a:prstGeom prst="rect">
            <a:avLst/>
          </a:prstGeom>
          <a:noFill/>
        </p:spPr>
        <p:txBody>
          <a:bodyPr wrap="square" anchor="t" lIns="54000" rIns="54000"/>
          <a:lstStyle/>
          <a:p>
            <a:pPr algn="l"/>
            <a:r>
              <a:rPr sz="1200" b="0">
                <a:solidFill>
                  <a:srgbClr val="060606"/>
                </a:solidFill>
                <a:latin typeface="Helvetica"/>
              </a:rPr>
              <a:t>Les cotisations maladie acquises forment le dénominateur du ratio.</a:t>
            </a:r>
          </a:p>
        </p:txBody>
      </p:sp>
      <p:sp>
        <p:nvSpPr>
          <p:cNvPr id="45" name="TextBox 44"/>
          <p:cNvSpPr txBox="1"/>
          <p:nvPr/>
        </p:nvSpPr>
        <p:spPr>
          <a:xfrm>
            <a:off x="8063999" y="3528192"/>
            <a:ext cx="3672000" cy="2339807"/>
          </a:xfrm>
          <a:prstGeom prst="rect">
            <a:avLst/>
          </a:prstGeom>
          <a:noFill/>
        </p:spPr>
        <p:txBody>
          <a:bodyPr wrap="square" lIns="54000" rIns="54000"/>
          <a:lstStyle/>
          <a:p>
            <a:pPr algn="just">
              <a:spcAft>
                <a:spcPts val="600"/>
              </a:spcAft>
            </a:pPr>
            <a:r>
              <a:rPr sz="1200" b="1">
                <a:solidFill>
                  <a:srgbClr val="060606"/>
                </a:solidFill>
                <a:latin typeface="Helvetica"/>
              </a:rPr>
              <a:t>Appliquée à la seule maladie, la fourchette réglementaire de 70 % à 80 % est respectée en 2025.</a:t>
            </a:r>
            <a:r>
              <a:rPr sz="1200" b="0">
                <a:solidFill>
                  <a:srgbClr val="060606"/>
                </a:solidFill>
                <a:latin typeface="Helvetica"/>
              </a:rPr>
              <a:t> Le compte global empêche pourtant de savoir quels soins font monter le ratio.</a:t>
            </a:r>
          </a:p>
          <a:p>
            <a:pPr algn="just">
              <a:spcAft>
                <a:spcPts val="600"/>
              </a:spcAft>
            </a:pPr>
            <a:r>
              <a:rPr sz="1200" b="0">
                <a:solidFill>
                  <a:srgbClr val="060606"/>
                </a:solidFill>
                <a:latin typeface="Helvetica"/>
              </a:rPr>
              <a:t>Le FPPN doit ventiler le compte 60120000 par nature de soins et par prestataire, ce qui permettra de cibler les mesures de maîtrise des dépenses.</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410580250"/>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Sinistralité comptable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prestations maladie absorbent presque toutes les cotisations maladie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maladie : 6,00 % en 2021, 73,53 % en 2025, 97,40 % sur huit mois de 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15 : Prestations comptabilisées / cotisations (S/C)</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des cotisations de la garantie</a:t>
            </a:r>
          </a:p>
        </p:txBody>
      </p:sp>
      <p:graphicFrame>
        <p:nvGraphicFramePr>
          <p:cNvPr id="32" name="Chart 31"/>
          <p:cNvGraphicFramePr>
            <a:graphicFrameLocks noGrp="1"/>
          </p:cNvGraphicFramePr>
          <p:nvPr/>
        </p:nvGraphicFramePr>
        <p:xfrm>
          <a:off x="503999" y="1782000"/>
          <a:ext cx="6552000" cy="3888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 ratio maladie a été multiplié par 12,26 entre 2021 et 2025.</a:t>
            </a:r>
            <a:r>
              <a:rPr sz="1400" b="0">
                <a:solidFill>
                  <a:srgbClr val="060606"/>
                </a:solidFill>
                <a:latin typeface="Helvetica"/>
              </a:rPr>
              <a:t> Il dépasse la fourchette réglementaire sur les huit premiers mois de 2026.</a:t>
            </a:r>
          </a:p>
          <a:p>
            <a:pPr algn="just">
              <a:spcAft>
                <a:spcPts val="600"/>
              </a:spcAft>
            </a:pPr>
            <a:r>
              <a:rPr sz="1400" b="1">
                <a:solidFill>
                  <a:srgbClr val="060606"/>
                </a:solidFill>
                <a:latin typeface="Helvetica"/>
              </a:rPr>
              <a:t>Les ratios très bas de 2020 à 2022 sont suspects.</a:t>
            </a:r>
            <a:r>
              <a:rPr sz="1400" b="0">
                <a:solidFill>
                  <a:srgbClr val="060606"/>
                </a:solidFill>
                <a:latin typeface="Helvetica"/>
              </a:rPr>
              <a:t> Des factures de ces années ont probablement été comptabilisées plus tard, ce que seule la base des prestations permettra de vérifier.</a:t>
            </a:r>
          </a:p>
          <a:p>
            <a:pPr algn="just">
              <a:spcAft>
                <a:spcPts val="600"/>
              </a:spcAft>
            </a:pPr>
            <a:r>
              <a:rPr sz="1400" b="1">
                <a:solidFill>
                  <a:srgbClr val="060606"/>
                </a:solidFill>
                <a:latin typeface="Helvetica"/>
              </a:rPr>
              <a:t>En décès, le ratio oscille entre 15,21 % et 21,81 % depuis 2022.</a:t>
            </a:r>
            <a:r>
              <a:rPr sz="1400" b="0">
                <a:solidFill>
                  <a:srgbClr val="060606"/>
                </a:solidFill>
                <a:latin typeface="Helvetica"/>
              </a:rPr>
              <a:t> La garantie décès reste largement excédentaire.</a:t>
            </a:r>
          </a:p>
          <a:p>
            <a:pPr algn="just">
              <a:spcAft>
                <a:spcPts val="600"/>
              </a:spcAft>
            </a:pPr>
            <a:r>
              <a:rPr sz="1400" b="0">
                <a:solidFill>
                  <a:srgbClr val="060606"/>
                </a:solidFill>
                <a:latin typeface="Helvetica"/>
              </a:rPr>
              <a:t>À ce rythme, les prestations maladie dépasseront les cotisations maladie : sans mesure de maîtrise ou révision du barème, la garantie maladie deviendra déficitaire et pèsera sur la réserve obligatoire.</a:t>
            </a:r>
          </a:p>
        </p:txBody>
      </p:sp>
      <p:sp>
        <p:nvSpPr>
          <p:cNvPr id="35" name="TextBox 34"/>
          <p:cNvSpPr txBox="1"/>
          <p:nvPr/>
        </p:nvSpPr>
        <p:spPr>
          <a:xfrm>
            <a:off x="503999" y="5688000"/>
            <a:ext cx="6552000" cy="162000"/>
          </a:xfrm>
          <a:prstGeom prst="rect">
            <a:avLst/>
          </a:prstGeom>
          <a:noFill/>
        </p:spPr>
        <p:txBody>
          <a:bodyPr wrap="square" anchor="t" lIns="54000" rIns="54000"/>
          <a:lstStyle/>
          <a:p>
            <a:pPr algn="l"/>
            <a:r>
              <a:rPr sz="850" b="0">
                <a:solidFill>
                  <a:srgbClr val="53565A"/>
                </a:solidFill>
                <a:latin typeface="Helvetica"/>
              </a:rPr>
              <a:t>Valable pour : comptes 2020 à 2025 et du 01/01 au 31/08/2026 (provisoire). Prestations comptabilisées, sans sinistres tardifs.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1415741423"/>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Choix de la formule : sinistralité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texte fixe un taux global, le rapport ajoute un taux par garantie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La méthode du FPPN, communiquée le 22/10/2026, ignore les provisions et applique la norme globale à chaque garantie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 1.1.1 et § 1.2.1.2.5. Balances des comptes du FPPN (Sage 100), exercices 2020 à 2025 et du 01/01 au 31/08/2026 (provisoire).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19 : Formules du taux de sinistralité comparées</a:t>
            </a:r>
          </a:p>
        </p:txBody>
      </p:sp>
      <p:graphicFrame>
        <p:nvGraphicFramePr>
          <p:cNvPr id="32" name="Table 31"/>
          <p:cNvGraphicFramePr>
            <a:graphicFrameLocks noGrp="1"/>
          </p:cNvGraphicFramePr>
          <p:nvPr/>
        </p:nvGraphicFramePr>
        <p:xfrm>
          <a:off x="503999" y="1655999"/>
          <a:ext cx="11231999" cy="1464915"/>
        </p:xfrm>
        <a:graphic>
          <a:graphicData uri="http://schemas.openxmlformats.org/drawingml/2006/table">
            <a:tbl>
              <a:tblPr firstRow="0" bandRow="0">
                <a:tableStyleId>{5940675A-B579-460E-94D1-54222C63F5DA}</a:tableStyleId>
              </a:tblPr>
              <a:tblGrid>
                <a:gridCol w="1512000"/>
                <a:gridCol w="3024000"/>
                <a:gridCol w="3096000"/>
                <a:gridCol w="1584000"/>
                <a:gridCol w="2015999"/>
              </a:tblGrid>
              <a:tr h="194768">
                <a:tc>
                  <a:txBody>
                    <a:bodyPr/>
                    <a:lstStyle/>
                    <a:p>
                      <a:pPr marL="0" indent="0" lvl="0">
                        <a:buNone/>
                      </a:pPr>
                      <a:r>
                        <a:rPr sz="900" b="1">
                          <a:solidFill>
                            <a:srgbClr val="FFFFFF"/>
                          </a:solidFill>
                          <a:latin typeface="Helvetica"/>
                        </a:rPr>
                        <a:t>Méthode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Ce qu'elle mesure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Statut</a:t>
                      </a:r>
                    </a:p>
                  </a:txBody>
                  <a:tcPr marL="43200" marR="43200" marT="14400" marB="14400" anchor="ctr">
                    <a:solidFill>
                      <a:srgbClr val="060606"/>
                    </a:solidFill>
                  </a:tcPr>
                </a:tc>
              </a:tr>
              <a:tr h="469105">
                <a:tc>
                  <a:txBody>
                    <a:bodyPr/>
                    <a:lstStyle/>
                    <a:p>
                      <a:pPr marL="0" indent="0" lvl="0">
                        <a:buNone/>
                      </a:pPr>
                      <a:r>
                        <a:rPr sz="900" b="1">
                          <a:solidFill>
                            <a:srgbClr val="060606"/>
                          </a:solidFill>
                          <a:latin typeface="Helvetica"/>
                        </a:rPr>
                        <a:t>Texte (Décision n° 05/2022)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(60 + 6901 - 7901) / (70 + 7906 - 6906)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Toutes les prestations de l'année, variation des provisions comprise, sur toutes les cotisations acquises.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70 % à 80 %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Conforme au texte</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Méthode du FPPN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Prestations payées / cotisations payées, par garantie et global, sans provisions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Communiquée le 22/10/2026 (étude des ratios) : 12,95 % en décès, 99,23 % en maladie, 78,49 % au total au 30/06/2026.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70 % à 80 % appliqués à chaque garantie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Divergent du texte</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Par garantie (rapport)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Maladie : (601 + 6013 + 6018 + 60800007) / 7010. Décès : (6021 + 6024) / 7021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La part des cotisations d'une garantie consommée par ses propres prestations.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 (norme globale)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Divergent, justifié</a:t>
                      </a:r>
                    </a:p>
                  </a:txBody>
                  <a:tcPr marL="43200" marR="43200" marT="14400" marB="14400" anchor="ctr">
                    <a:solidFill>
                      <a:srgbClr val="FFFFFF"/>
                    </a:solidFill>
                  </a:tcPr>
                </a:tc>
              </a:tr>
            </a:tbl>
          </a:graphicData>
        </a:graphic>
      </p:graphicFrame>
      <p:sp>
        <p:nvSpPr>
          <p:cNvPr id="33" name="TextBox 32"/>
          <p:cNvSpPr txBox="1"/>
          <p:nvPr/>
        </p:nvSpPr>
        <p:spPr>
          <a:xfrm>
            <a:off x="503999" y="3138917"/>
            <a:ext cx="11232000" cy="162000"/>
          </a:xfrm>
          <a:prstGeom prst="rect">
            <a:avLst/>
          </a:prstGeom>
          <a:noFill/>
        </p:spPr>
        <p:txBody>
          <a:bodyPr wrap="square" anchor="t" lIns="54000" rIns="54000"/>
          <a:lstStyle/>
          <a:p>
            <a:pPr algn="l"/>
            <a:r>
              <a:rPr sz="850" b="0">
                <a:solidFill>
                  <a:srgbClr val="53565A"/>
                </a:solidFill>
                <a:latin typeface="Helvetica"/>
              </a:rPr>
              <a:t>Valable pour : comptes 2020 à 2025 et du 01/01 au 31/08/2026 (provisoire). Prestations comptabilisées, sans sinistres tardifs.</a:t>
            </a:r>
          </a:p>
        </p:txBody>
      </p:sp>
      <p:sp>
        <p:nvSpPr>
          <p:cNvPr id="34" name="TextBox 33"/>
          <p:cNvSpPr txBox="1"/>
          <p:nvPr/>
        </p:nvSpPr>
        <p:spPr>
          <a:xfrm>
            <a:off x="503999" y="3426917"/>
            <a:ext cx="11232000" cy="2441082"/>
          </a:xfrm>
          <a:prstGeom prst="rect">
            <a:avLst/>
          </a:prstGeom>
          <a:noFill/>
        </p:spPr>
        <p:txBody>
          <a:bodyPr wrap="square" lIns="54000" rIns="54000"/>
          <a:lstStyle/>
          <a:p>
            <a:pPr algn="just">
              <a:spcAft>
                <a:spcPts val="600"/>
              </a:spcAft>
            </a:pPr>
            <a:r>
              <a:rPr sz="1300" b="1">
                <a:solidFill>
                  <a:srgbClr val="060606"/>
                </a:solidFill>
                <a:latin typeface="Helvetica"/>
              </a:rPr>
              <a:t>Le taux par garantie n'est pas un choix libre : il découle du texte.</a:t>
            </a:r>
            <a:r>
              <a:rPr sz="1300" b="0">
                <a:solidFill>
                  <a:srgbClr val="060606"/>
                </a:solidFill>
                <a:latin typeface="Helvetica"/>
              </a:rPr>
              <a:t> La Décision n° 05/2022 (§ 1.1.1) impose de doter la réserve obligatoire d'au moins 30 % de l'excédent maladie et 50 % de l'excédent des autres risques. Il faut donc connaître le résultat de chaque garantie, et donc son taux de sinistralité.</a:t>
            </a:r>
          </a:p>
          <a:p>
            <a:pPr algn="just">
              <a:spcAft>
                <a:spcPts val="600"/>
              </a:spcAft>
            </a:pPr>
            <a:r>
              <a:rPr sz="1300" b="1">
                <a:solidFill>
                  <a:srgbClr val="060606"/>
                </a:solidFill>
                <a:latin typeface="Helvetica"/>
              </a:rPr>
              <a:t>Les deux formules du texte donnent ici le même résultat.</a:t>
            </a:r>
            <a:r>
              <a:rPr sz="1300" b="0">
                <a:solidFill>
                  <a:srgbClr val="060606"/>
                </a:solidFill>
                <a:latin typeface="Helvetica"/>
              </a:rPr>
              <a:t> Le FPPN n'a passé aucune dotation ni reprise de provision technique (comptes 6901, 7901, 7906 et 6906 absents) : la variation des provisions vaut zéro chaque année.</a:t>
            </a:r>
          </a:p>
          <a:p>
            <a:pPr algn="just">
              <a:spcAft>
                <a:spcPts val="600"/>
              </a:spcAft>
            </a:pPr>
            <a:r>
              <a:rPr sz="1300" b="0">
                <a:solidFill>
                  <a:srgbClr val="060606"/>
                </a:solidFill>
                <a:latin typeface="Helvetica"/>
              </a:rPr>
              <a:t>Seul le taux global est comparé à la norme de 70 % à 80 %. Le taux par garantie sert à calculer l'excédent de chaque risque. La méthode du FPPN est détaillée et chiffrée dans la diapositive « Méthode de sinistralité du FPPN ».</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2991417945"/>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Sinistralité selon la formule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Formule du texte et taux par garantie racontent la même hausse, à des niveaux différents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2025 : 57,48 % selon le texte, 73,53 % en maladie, 19,16 % en décès</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16 : Taux de sinistralité selon la formule, 2020 au 31/08/2026</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 des cotisations</a:t>
            </a:r>
          </a:p>
        </p:txBody>
      </p:sp>
      <p:graphicFrame>
        <p:nvGraphicFramePr>
          <p:cNvPr id="32" name="Chart 31"/>
          <p:cNvGraphicFramePr>
            <a:graphicFrameLocks noGrp="1"/>
          </p:cNvGraphicFramePr>
          <p:nvPr/>
        </p:nvGraphicFramePr>
        <p:xfrm>
          <a:off x="503999" y="1782000"/>
          <a:ext cx="5976000" cy="3888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 1.2.1.2.5. Balances des comptes du FPPN (Sage 100), exercices 2020 à 2025 et du 01/01 au 31/08/2026 (provisoire).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 taux global du texte reste sous la fourchette de 70 % à 80 % de 2022 à 2025</a:t>
            </a:r>
            <a:r>
              <a:rPr sz="1400" b="0">
                <a:solidFill>
                  <a:srgbClr val="060606"/>
                </a:solidFill>
                <a:latin typeface="Helvetica"/>
              </a:rPr>
              <a:t> : il passe de 9,06 % en 2022 à 57,48 % en 2025. Il atteint 75,20 % sur huit mois de 2026.</a:t>
            </a:r>
          </a:p>
          <a:p>
            <a:pPr algn="just">
              <a:spcAft>
                <a:spcPts val="600"/>
              </a:spcAft>
            </a:pPr>
            <a:r>
              <a:rPr sz="1400" b="1">
                <a:solidFill>
                  <a:srgbClr val="060606"/>
                </a:solidFill>
                <a:latin typeface="Helvetica"/>
              </a:rPr>
              <a:t>Le taux global est plus bas que le taux maladie, car il mélange une garantie maladie chargée et une garantie décès excédentaire.</a:t>
            </a:r>
            <a:r>
              <a:rPr sz="1400" b="0">
                <a:solidFill>
                  <a:srgbClr val="060606"/>
                </a:solidFill>
                <a:latin typeface="Helvetica"/>
              </a:rPr>
              <a:t> La moyenne masque le déséquilibre de la maladie.</a:t>
            </a:r>
          </a:p>
          <a:p>
            <a:pPr algn="just">
              <a:spcAft>
                <a:spcPts val="600"/>
              </a:spcAft>
            </a:pPr>
            <a:r>
              <a:rPr sz="1400" b="1">
                <a:solidFill>
                  <a:srgbClr val="060606"/>
                </a:solidFill>
                <a:latin typeface="Helvetica"/>
              </a:rPr>
              <a:t>Retirer les bons de prise en charge (60800007, 60800008) ou les cotisations MEDOC (7022) change peu le taux</a:t>
            </a:r>
            <a:r>
              <a:rPr sz="1400" b="0">
                <a:solidFill>
                  <a:srgbClr val="060606"/>
                </a:solidFill>
                <a:latin typeface="Helvetica"/>
              </a:rPr>
              <a:t> : 56,55 % sans les bons et 57,49 % sans MEDOC en 2025.</a:t>
            </a:r>
          </a:p>
          <a:p>
            <a:pPr algn="just">
              <a:spcAft>
                <a:spcPts val="600"/>
              </a:spcAft>
            </a:pPr>
            <a:r>
              <a:rPr sz="1400" b="0">
                <a:solidFill>
                  <a:srgbClr val="060606"/>
                </a:solidFill>
                <a:latin typeface="Helvetica"/>
              </a:rPr>
              <a:t>La conclusion ne dépend pas du choix entre ces variantes : la maladie se rapproche du niveau de ses cotisations, quelle que soit la formule. En revanche, un taux global sous la norme ne prouve pas que chaque garantie est équilibrée.</a:t>
            </a:r>
          </a:p>
        </p:txBody>
      </p:sp>
      <p:sp>
        <p:nvSpPr>
          <p:cNvPr id="35" name="TextBox 34"/>
          <p:cNvSpPr txBox="1"/>
          <p:nvPr/>
        </p:nvSpPr>
        <p:spPr>
          <a:xfrm>
            <a:off x="503999" y="5688000"/>
            <a:ext cx="5976000" cy="162000"/>
          </a:xfrm>
          <a:prstGeom prst="rect">
            <a:avLst/>
          </a:prstGeom>
          <a:noFill/>
        </p:spPr>
        <p:txBody>
          <a:bodyPr wrap="square" anchor="t" lIns="54000" rIns="54000"/>
          <a:lstStyle/>
          <a:p>
            <a:pPr algn="l"/>
            <a:r>
              <a:rPr sz="850" b="0">
                <a:solidFill>
                  <a:srgbClr val="53565A"/>
                </a:solidFill>
                <a:latin typeface="Helvetica"/>
              </a:rPr>
              <a:t>Valable pour : comptes 2020 à 2025 et du 01/01 au 31/08/2026 (provisoire). Prestations comptabilisées, sans sinistres tardifs.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MEDOC : produit santé complémentaire du poste 8Z7</a:t>
            </a:r>
          </a:p>
        </p:txBody>
      </p:sp>
    </p:spTree>
    <p:extLst>
      <p:ext uri="{BB962C8B-B14F-4D97-AF65-F5344CB8AC3E}">
        <p14:creationId xmlns:p14="http://schemas.microsoft.com/office/powerpoint/2010/main" val="2665472954"/>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de sinistralité du FPPN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rapporte les prestations payées aux cotisations payées, sans provisions, garantie par garantie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30/06/2026, le FPPN calcule 12,95 % en décès, 99,23 % en maladie et 78,49 % pour l'ensemble. Sa propre note écrit aussi 19,66 % et 107 %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ETUDE DES RATIO MALADIE DECES 2.xlsx (feuilles Tableau, Notes et Historique 2015-2021) et INTERPRETATION DES RATIOS MALADIE MATERNITE ET DECES INVALIDITE.pdf, reçus le 22/10/2026. Décision n° 05/2022/COM/UEMOA du 1er juin 2022, annexe, § 1.2.1.2.5. Balances des comptes du FPPN (Sage 100), exercices 2020 à 2025 et du 01/01 au 31/08/2026 (provisoire).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20 : Méthode du FPPN et méthode réglementaire au 30/06/2026</a:t>
            </a:r>
          </a:p>
        </p:txBody>
      </p:sp>
      <p:graphicFrame>
        <p:nvGraphicFramePr>
          <p:cNvPr id="32" name="Table 31"/>
          <p:cNvGraphicFramePr>
            <a:graphicFrameLocks noGrp="1"/>
          </p:cNvGraphicFramePr>
          <p:nvPr/>
        </p:nvGraphicFramePr>
        <p:xfrm>
          <a:off x="503999" y="1655999"/>
          <a:ext cx="11232000" cy="1828228"/>
        </p:xfrm>
        <a:graphic>
          <a:graphicData uri="http://schemas.openxmlformats.org/drawingml/2006/table">
            <a:tbl>
              <a:tblPr firstRow="0" bandRow="0">
                <a:tableStyleId>{5940675A-B579-460E-94D1-54222C63F5DA}</a:tableStyleId>
              </a:tblPr>
              <a:tblGrid>
                <a:gridCol w="1872000"/>
                <a:gridCol w="4680000"/>
                <a:gridCol w="4680000"/>
              </a:tblGrid>
              <a:tr h="187148">
                <a:tc>
                  <a:txBody>
                    <a:bodyPr/>
                    <a:lstStyle/>
                    <a:p>
                      <a:pPr marL="0" indent="0" lvl="0">
                        <a:buNone/>
                      </a:pPr>
                      <a:r>
                        <a:rPr sz="85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Méthode réglementaire (Décision n° 05/2022)</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Numérateur</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Prestations payées : allocations décès et frais funéraires au barème. Prestations maladie de l'état des hospitalisations et consultations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Charges de prestations (comptes 60) et variation des provisions techniques (6901 - 7901)</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Dénominateur</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Cotisations payées : policiers en activité, civils de la Direction Générale, retraités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Cotisations acquises (comptes 70) et variation des provisions sur cotisations (7906 - 6906)</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Décès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55 600 000 / 429 215 718 = 12,95 % (« TSD = 13 % »), la même note écrit aussi « TS = 19, 66 %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Pas de taux par garantie dans le texte. Taux par garantie du rapport : partie 5</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Maladie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1 345 906 033 / 1 356 344 706 = 99,23 % (« TSM »), la même note écrit aussi « TS = 107 %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Pas de taux par garantie dans le texte</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Ensemble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1 401 506 033 / 1 785 560 424 = 78,49 % (« TSP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Taux global au 31/08/2026 : 75,20 % (balance provisoire, huit mois)</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Norme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Le FPPN compare chaque taux à 70 % à 80 %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70 % à 80 % pour le seul taux global</a:t>
                      </a:r>
                    </a:p>
                  </a:txBody>
                  <a:tcPr marL="43200" marR="43200" marT="14400" marB="14400" anchor="ctr">
                    <a:solidFill>
                      <a:srgbClr val="F2F2F2"/>
                    </a:solidFill>
                  </a:tcPr>
                </a:tc>
              </a:tr>
            </a:tbl>
          </a:graphicData>
        </a:graphic>
      </p:graphicFrame>
      <p:sp>
        <p:nvSpPr>
          <p:cNvPr id="33" name="TextBox 32"/>
          <p:cNvSpPr txBox="1"/>
          <p:nvPr/>
        </p:nvSpPr>
        <p:spPr>
          <a:xfrm>
            <a:off x="503999" y="3502229"/>
            <a:ext cx="11232000" cy="162000"/>
          </a:xfrm>
          <a:prstGeom prst="rect">
            <a:avLst/>
          </a:prstGeom>
          <a:noFill/>
        </p:spPr>
        <p:txBody>
          <a:bodyPr wrap="square" anchor="t" lIns="54000" rIns="54000"/>
          <a:lstStyle/>
          <a:p>
            <a:pPr algn="l"/>
            <a:r>
              <a:rPr sz="850" b="0">
                <a:solidFill>
                  <a:srgbClr val="53565A"/>
                </a:solidFill>
                <a:latin typeface="Helvetica"/>
              </a:rPr>
              <a:t>Valable pour : période du 01/01 au 30/06/2026 pour les taux du FPPN, du 01/01 au 31/08/2026 pour le taux réglementaire.</a:t>
            </a:r>
          </a:p>
        </p:txBody>
      </p:sp>
      <p:sp>
        <p:nvSpPr>
          <p:cNvPr id="34" name="TextBox 33"/>
          <p:cNvSpPr txBox="1"/>
          <p:nvPr/>
        </p:nvSpPr>
        <p:spPr>
          <a:xfrm>
            <a:off x="503999" y="3790229"/>
            <a:ext cx="11232000" cy="2077770"/>
          </a:xfrm>
          <a:prstGeom prst="rect">
            <a:avLst/>
          </a:prstGeom>
          <a:noFill/>
        </p:spPr>
        <p:txBody>
          <a:bodyPr wrap="square" lIns="54000" rIns="54000"/>
          <a:lstStyle/>
          <a:p>
            <a:pPr algn="just">
              <a:spcAft>
                <a:spcPts val="600"/>
              </a:spcAft>
            </a:pPr>
            <a:r>
              <a:rPr sz="1300" b="1">
                <a:solidFill>
                  <a:srgbClr val="060606"/>
                </a:solidFill>
                <a:latin typeface="Helvetica"/>
              </a:rPr>
              <a:t>La méthode du FPPN ignore les provisions et compare chaque garantie à la norme globale.</a:t>
            </a:r>
            <a:r>
              <a:rPr sz="1300" b="0">
                <a:solidFill>
                  <a:srgbClr val="060606"/>
                </a:solidFill>
                <a:latin typeface="Helvetica"/>
              </a:rPr>
              <a:t> La norme de 70 % à 80 % de la Décision s'applique au seul taux global, provisions comprises.</a:t>
            </a:r>
          </a:p>
          <a:p>
            <a:pPr algn="just">
              <a:spcAft>
                <a:spcPts val="600"/>
              </a:spcAft>
            </a:pPr>
            <a:r>
              <a:rPr sz="1300" b="1">
                <a:solidFill>
                  <a:srgbClr val="060606"/>
                </a:solidFill>
                <a:latin typeface="Helvetica"/>
              </a:rPr>
              <a:t>La note du FPPN contient deux taux différents pour le décès et pour la maladie.</a:t>
            </a:r>
            <a:r>
              <a:rPr sz="1300" b="0">
                <a:solidFill>
                  <a:srgbClr val="060606"/>
                </a:solidFill>
                <a:latin typeface="Helvetica"/>
              </a:rPr>
              <a:t> Les quotients écrits donnent 12,95 % et 99,23 %. Les mentions 19,66 % et 107 % ne correspondent à aucun calcul affiché.</a:t>
            </a:r>
          </a:p>
          <a:p>
            <a:pPr algn="just">
              <a:spcAft>
                <a:spcPts val="600"/>
              </a:spcAft>
            </a:pPr>
            <a:r>
              <a:rPr sz="1300" b="0">
                <a:solidFill>
                  <a:srgbClr val="060606"/>
                </a:solidFill>
                <a:latin typeface="Helvetica"/>
              </a:rPr>
              <a:t>La méthode du FPPN est désormais connue : le registre des formules (onglet 11_formules) la reprend. Elle convient au pilotage par garantie, pas à la conformité, qui exige la formule du texte avec les provisions.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2542166240"/>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Sinistralité décès : le FPPN et les comptes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 2022 à 2025, les cotisations et les sinistres du FPPN sont ceux de la comptabilité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rapport sinistres / cotisations du FPPN égale le taux décès par garantie du rapport de 2022 à 2025. 2020 et 2021 diffèrent</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ETUDE DES RATIO MALADIE DECES 2.xlsx (feuilles Tableau, Notes et Historique 2015-2021) et INTERPRETATION DES RATIOS MALADIE MATERNITE ET DECES INVALIDITE.pdf, reçus le 22/10/2026. Balances des comptes du FPPN (Sage 100), exercices 2020 à 2025 et du 01/01 au 31/08/2026 (provisoire). Traitements Adenka</a:t>
            </a:r>
          </a:p>
        </p:txBody>
      </p:sp>
      <p:sp>
        <p:nvSpPr>
          <p:cNvPr id="31" name="TextBox 30"/>
          <p:cNvSpPr txBox="1"/>
          <p:nvPr/>
        </p:nvSpPr>
        <p:spPr>
          <a:xfrm>
            <a:off x="503999" y="1386000"/>
            <a:ext cx="10800000" cy="216000"/>
          </a:xfrm>
          <a:prstGeom prst="rect">
            <a:avLst/>
          </a:prstGeom>
          <a:noFill/>
        </p:spPr>
        <p:txBody>
          <a:bodyPr wrap="square" anchor="t" lIns="54000" rIns="54000"/>
          <a:lstStyle/>
          <a:p>
            <a:pPr algn="ctr"/>
            <a:r>
              <a:rPr sz="1200" b="0">
                <a:solidFill>
                  <a:srgbClr val="EFAC62"/>
                </a:solidFill>
                <a:latin typeface="Helvetica"/>
              </a:rPr>
              <a:t>Tableau 21 : Sinistralité décès selon le FPPN et selon les comptes</a:t>
            </a:r>
          </a:p>
        </p:txBody>
      </p:sp>
      <p:graphicFrame>
        <p:nvGraphicFramePr>
          <p:cNvPr id="32" name="Table 31"/>
          <p:cNvGraphicFramePr>
            <a:graphicFrameLocks noGrp="1"/>
          </p:cNvGraphicFramePr>
          <p:nvPr/>
        </p:nvGraphicFramePr>
        <p:xfrm>
          <a:off x="503999" y="1655999"/>
          <a:ext cx="10800000" cy="1363376"/>
        </p:xfrm>
        <a:graphic>
          <a:graphicData uri="http://schemas.openxmlformats.org/drawingml/2006/table">
            <a:tbl>
              <a:tblPr firstRow="0" bandRow="0">
                <a:tableStyleId>{5940675A-B579-460E-94D1-54222C63F5DA}</a:tableStyleId>
              </a:tblPr>
              <a:tblGrid>
                <a:gridCol w="936000"/>
                <a:gridCol w="1800000"/>
                <a:gridCol w="1728000"/>
                <a:gridCol w="1224000"/>
                <a:gridCol w="1944000"/>
                <a:gridCol w="1944000"/>
                <a:gridCol w="1224000"/>
              </a:tblGrid>
              <a:tr h="194768">
                <a:tc>
                  <a:txBody>
                    <a:bodyPr/>
                    <a:lstStyle/>
                    <a:p>
                      <a:pPr marL="0" indent="0" lvl="0">
                        <a:buNone/>
                      </a:pPr>
                      <a:r>
                        <a:rPr sz="900" b="1">
                          <a:solidFill>
                            <a:srgbClr val="FFFFFF"/>
                          </a:solidFill>
                          <a:latin typeface="Helvetica"/>
                        </a:rPr>
                        <a:t>Année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Cotisations (FPPN)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Sinistres (FPPN)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S/P du FPPN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Cotisations décès (comptes)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Prestations décès (comptes)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S/C (comptes)</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2020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557 317 712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493 331 537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88,52 %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703 298 329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578 327 196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82,23 %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725 124 908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156 020 000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21,52 %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725 124 908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401 856 666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55,42 %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763 338 861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116 090 000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15,21 %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763 338 861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116 090 000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15,21 %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829 647 591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141 490 000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17,05 %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829 647 591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141 490 000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17,05 %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934 555 069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203 801 664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21,81 %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934 555 069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203 801 664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21,81 %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1 008 270 692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193 136 666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19,16 %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1 008 270 692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193 136 666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19,16 %</a:t>
                      </a:r>
                    </a:p>
                  </a:txBody>
                  <a:tcPr marL="43200" marR="43200" marT="14400" marB="14400" anchor="ctr">
                    <a:solidFill>
                      <a:srgbClr val="F2F2F2"/>
                    </a:solidFill>
                  </a:tcPr>
                </a:tc>
              </a:tr>
            </a:tbl>
          </a:graphicData>
        </a:graphic>
      </p:graphicFrame>
      <p:sp>
        <p:nvSpPr>
          <p:cNvPr id="33" name="TextBox 32"/>
          <p:cNvSpPr txBox="1"/>
          <p:nvPr/>
        </p:nvSpPr>
        <p:spPr>
          <a:xfrm>
            <a:off x="503999" y="3037380"/>
            <a:ext cx="11232000" cy="162000"/>
          </a:xfrm>
          <a:prstGeom prst="rect">
            <a:avLst/>
          </a:prstGeom>
          <a:noFill/>
        </p:spPr>
        <p:txBody>
          <a:bodyPr wrap="square" anchor="t" lIns="54000" rIns="54000"/>
          <a:lstStyle/>
          <a:p>
            <a:pPr algn="l"/>
            <a:r>
              <a:rPr sz="850" b="0">
                <a:solidFill>
                  <a:srgbClr val="53565A"/>
                </a:solidFill>
                <a:latin typeface="Helvetica"/>
              </a:rPr>
              <a:t>Valable pour : garantie décès-invalidité, exercices 2020 à 2025.</a:t>
            </a:r>
          </a:p>
        </p:txBody>
      </p:sp>
      <p:sp>
        <p:nvSpPr>
          <p:cNvPr id="34" name="TextBox 33"/>
          <p:cNvSpPr txBox="1"/>
          <p:nvPr/>
        </p:nvSpPr>
        <p:spPr>
          <a:xfrm>
            <a:off x="503999" y="3325380"/>
            <a:ext cx="11232000" cy="2542619"/>
          </a:xfrm>
          <a:prstGeom prst="rect">
            <a:avLst/>
          </a:prstGeom>
          <a:noFill/>
        </p:spPr>
        <p:txBody>
          <a:bodyPr wrap="square" lIns="54000" rIns="54000"/>
          <a:lstStyle/>
          <a:p>
            <a:pPr algn="just">
              <a:spcAft>
                <a:spcPts val="600"/>
              </a:spcAft>
            </a:pPr>
            <a:r>
              <a:rPr sz="1300" b="1">
                <a:solidFill>
                  <a:srgbClr val="060606"/>
                </a:solidFill>
                <a:latin typeface="Helvetica"/>
              </a:rPr>
              <a:t>De 2022 à 2025, les deux sources donnent les mêmes cotisations, les mêmes sinistres et donc le même taux.</a:t>
            </a:r>
            <a:r>
              <a:rPr sz="1300" b="0">
                <a:solidFill>
                  <a:srgbClr val="060606"/>
                </a:solidFill>
                <a:latin typeface="Helvetica"/>
              </a:rPr>
              <a:t> Le taux décès par garantie du rapport est ainsi confirmé par le FPPN.</a:t>
            </a:r>
          </a:p>
          <a:p>
            <a:pPr algn="just">
              <a:spcAft>
                <a:spcPts val="600"/>
              </a:spcAft>
            </a:pPr>
            <a:r>
              <a:rPr sz="1300" b="1">
                <a:solidFill>
                  <a:srgbClr val="060606"/>
                </a:solidFill>
                <a:latin typeface="Helvetica"/>
              </a:rPr>
              <a:t>En 2021, le FPPN retient 156 020 000 FCFA de sinistres, contre 401 856 666 FCFA dans les comptes.</a:t>
            </a:r>
            <a:r>
              <a:rPr sz="1300" b="0">
                <a:solidFill>
                  <a:srgbClr val="060606"/>
                </a:solidFill>
                <a:latin typeface="Helvetica"/>
              </a:rPr>
              <a:t> En 2020, ses cotisations et ses sinistres diffèrent aussi des comptes, l'assureur portant alors le risque.</a:t>
            </a:r>
          </a:p>
          <a:p>
            <a:pPr algn="just">
              <a:spcAft>
                <a:spcPts val="600"/>
              </a:spcAft>
            </a:pPr>
            <a:r>
              <a:rPr sz="1300" b="0">
                <a:solidFill>
                  <a:srgbClr val="060606"/>
                </a:solidFill>
                <a:latin typeface="Helvetica"/>
              </a:rPr>
              <a:t>Pour 2022 à 2025, la garantie décès consomme moins d'un quart de ses cotisations selon les deux sources. L'écart de 2021 entre les deux sources est à expliquer par le FPPN.</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 | S/P : sinistres sur primes (cotisations)</a:t>
            </a:r>
          </a:p>
        </p:txBody>
      </p:sp>
    </p:spTree>
    <p:extLst>
      <p:ext uri="{BB962C8B-B14F-4D97-AF65-F5344CB8AC3E}">
        <p14:creationId xmlns:p14="http://schemas.microsoft.com/office/powerpoint/2010/main" val="3867442173"/>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Mortalité brute des membres participants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Entre trois et cinq décès pour mille adhérents chaque année depuis 2021</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2025 : 99 décès pour 31 678 adhérents, soit 3,13 pour mille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ETUDE DES RATIO MALADIE DECES 2.xlsx (feuilles Tableau, Notes et Historique 2015-2021) et INTERPRETATION DES RATIOS MALADIE MATERNITE ET DECES INVALIDITE.pdf, reçus le 22/10/2026</a:t>
            </a:r>
          </a:p>
        </p:txBody>
      </p:sp>
      <p:sp>
        <p:nvSpPr>
          <p:cNvPr id="31" name="TextBox 30"/>
          <p:cNvSpPr txBox="1"/>
          <p:nvPr/>
        </p:nvSpPr>
        <p:spPr>
          <a:xfrm>
            <a:off x="503999" y="1386000"/>
            <a:ext cx="10224000" cy="216000"/>
          </a:xfrm>
          <a:prstGeom prst="rect">
            <a:avLst/>
          </a:prstGeom>
          <a:noFill/>
        </p:spPr>
        <p:txBody>
          <a:bodyPr wrap="square" anchor="t" lIns="54000" rIns="54000"/>
          <a:lstStyle/>
          <a:p>
            <a:pPr algn="ctr"/>
            <a:r>
              <a:rPr sz="1200" b="0">
                <a:solidFill>
                  <a:srgbClr val="EFAC62"/>
                </a:solidFill>
                <a:latin typeface="Helvetica"/>
              </a:rPr>
              <a:t>Tableau 22 : Décès et taux brut de mortalité des membres participants</a:t>
            </a:r>
          </a:p>
        </p:txBody>
      </p:sp>
      <p:graphicFrame>
        <p:nvGraphicFramePr>
          <p:cNvPr id="32" name="Table 31"/>
          <p:cNvGraphicFramePr>
            <a:graphicFrameLocks noGrp="1"/>
          </p:cNvGraphicFramePr>
          <p:nvPr/>
        </p:nvGraphicFramePr>
        <p:xfrm>
          <a:off x="503999" y="1655999"/>
          <a:ext cx="10224000" cy="2337216"/>
        </p:xfrm>
        <a:graphic>
          <a:graphicData uri="http://schemas.openxmlformats.org/drawingml/2006/table">
            <a:tbl>
              <a:tblPr firstRow="0" bandRow="0">
                <a:tableStyleId>{5940675A-B579-460E-94D1-54222C63F5DA}</a:tableStyleId>
              </a:tblPr>
              <a:tblGrid>
                <a:gridCol w="1080000"/>
                <a:gridCol w="1800000"/>
                <a:gridCol w="1800000"/>
                <a:gridCol w="1800000"/>
                <a:gridCol w="1800000"/>
                <a:gridCol w="1944000"/>
              </a:tblGrid>
              <a:tr h="194768">
                <a:tc>
                  <a:txBody>
                    <a:bodyPr/>
                    <a:lstStyle/>
                    <a:p>
                      <a:pPr marL="0" indent="0" lvl="0">
                        <a:buNone/>
                      </a:pPr>
                      <a:r>
                        <a:rPr sz="900" b="1">
                          <a:solidFill>
                            <a:srgbClr val="FFFFFF"/>
                          </a:solidFill>
                          <a:latin typeface="Helvetica"/>
                        </a:rPr>
                        <a:t>Année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Adhérents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Décès de membres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Décès de conjoints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Décès d'enfants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Taux brut (pour mille)</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2015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16 518</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5,81</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2016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17 164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4,43</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2017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17 164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5,77</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2018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17 164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112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6,53</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2019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17 824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78</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4,38</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18 654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5,79</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19 846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5,09</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19 846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3,83</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23 670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3,97</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27 657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125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4,52</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31 678</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3,13</a:t>
                      </a:r>
                    </a:p>
                  </a:txBody>
                  <a:tcPr marL="43200" marR="43200" marT="14400" marB="14400" anchor="ctr">
                    <a:solidFill>
                      <a:srgbClr val="FFFFFF"/>
                    </a:solidFill>
                  </a:tcPr>
                </a:tc>
              </a:tr>
            </a:tbl>
          </a:graphicData>
        </a:graphic>
      </p:graphicFrame>
      <p:sp>
        <p:nvSpPr>
          <p:cNvPr id="33" name="TextBox 32"/>
          <p:cNvSpPr txBox="1"/>
          <p:nvPr/>
        </p:nvSpPr>
        <p:spPr>
          <a:xfrm>
            <a:off x="503999" y="4011223"/>
            <a:ext cx="11232000" cy="162000"/>
          </a:xfrm>
          <a:prstGeom prst="rect">
            <a:avLst/>
          </a:prstGeom>
          <a:noFill/>
        </p:spPr>
        <p:txBody>
          <a:bodyPr wrap="square" anchor="t" lIns="54000" rIns="54000"/>
          <a:lstStyle/>
          <a:p>
            <a:pPr algn="l"/>
            <a:r>
              <a:rPr sz="850" b="0">
                <a:solidFill>
                  <a:srgbClr val="53565A"/>
                </a:solidFill>
                <a:latin typeface="Helvetica"/>
              </a:rPr>
              <a:t>Valable pour : membres participants recensés par le FPPN, années 2015 à 2025. Ne vaut ni par âge, ni par grade, ni pour les ayants droit.</a:t>
            </a:r>
          </a:p>
        </p:txBody>
      </p:sp>
      <p:sp>
        <p:nvSpPr>
          <p:cNvPr id="34" name="TextBox 33"/>
          <p:cNvSpPr txBox="1"/>
          <p:nvPr/>
        </p:nvSpPr>
        <p:spPr>
          <a:xfrm>
            <a:off x="503999" y="4299223"/>
            <a:ext cx="11232000" cy="1568776"/>
          </a:xfrm>
          <a:prstGeom prst="rect">
            <a:avLst/>
          </a:prstGeom>
          <a:noFill/>
        </p:spPr>
        <p:txBody>
          <a:bodyPr wrap="square" lIns="54000" rIns="54000"/>
          <a:lstStyle/>
          <a:p>
            <a:pPr algn="just">
              <a:spcAft>
                <a:spcPts val="600"/>
              </a:spcAft>
            </a:pPr>
            <a:r>
              <a:rPr sz="1300" b="1">
                <a:solidFill>
                  <a:srgbClr val="060606"/>
                </a:solidFill>
                <a:latin typeface="Helvetica"/>
              </a:rPr>
              <a:t>Le taux brut varie de 3,13 à 5,09 pour mille de 2021 à 2025.</a:t>
            </a:r>
            <a:r>
              <a:rPr sz="1300" b="0">
                <a:solidFill>
                  <a:srgbClr val="060606"/>
                </a:solidFill>
                <a:latin typeface="Helvetica"/>
              </a:rPr>
              <a:t> Le FPPN reporte le même nombre d'adhérents trois années de suite de 2016 à 2018, puis en 2021 et 2022, ce qui fragilise les taux de ces années.</a:t>
            </a:r>
          </a:p>
          <a:p>
            <a:pPr algn="just">
              <a:spcAft>
                <a:spcPts val="600"/>
              </a:spcAft>
            </a:pPr>
            <a:r>
              <a:rPr sz="1300" b="1">
                <a:solidFill>
                  <a:srgbClr val="060606"/>
                </a:solidFill>
                <a:latin typeface="Helvetica"/>
              </a:rPr>
              <a:t>Les décès d'ayants droit (conjoints et enfants) passent de 17 en 2020 à 10 en 2025.</a:t>
            </a:r>
            <a:r>
              <a:rPr sz="1300" b="0">
                <a:solidFill>
                  <a:srgbClr val="060606"/>
                </a:solidFill>
                <a:latin typeface="Helvetica"/>
              </a:rPr>
              <a:t> Le nombre d'ayants droit couverts n'est pas connu : aucun taux ne peut être calculé pour eux.</a:t>
            </a:r>
          </a:p>
          <a:p>
            <a:pPr algn="just">
              <a:spcAft>
                <a:spcPts val="600"/>
              </a:spcAft>
            </a:pPr>
            <a:r>
              <a:rPr sz="1300" b="0">
                <a:solidFill>
                  <a:srgbClr val="060606"/>
                </a:solidFill>
                <a:latin typeface="Helvetica"/>
              </a:rPr>
              <a:t>Le taux brut sert d'ordre de grandeur. La comparaison à la table CIMA H, nécessaire pour juger la cotisation décès, demande les dates de naissance des membres et la base des décès (PBC, items 9 à 11 et 28).</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PBC : liste des documents demandés au client</a:t>
            </a:r>
          </a:p>
        </p:txBody>
      </p:sp>
    </p:spTree>
    <p:extLst>
      <p:ext uri="{BB962C8B-B14F-4D97-AF65-F5344CB8AC3E}">
        <p14:creationId xmlns:p14="http://schemas.microsoft.com/office/powerpoint/2010/main" val="594224014"/>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Nature des risques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garantie relève d'une catégorie de risque qui fixe ses provisions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textes de la mutualité distinguent risques courts et longs, la CIMA distingue vie et non-vie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8 à 15. Code CIMA (référence technique).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23 : Nature des risques par garantie et provisions attendues</a:t>
            </a:r>
          </a:p>
        </p:txBody>
      </p:sp>
      <p:graphicFrame>
        <p:nvGraphicFramePr>
          <p:cNvPr id="32" name="Table 31"/>
          <p:cNvGraphicFramePr>
            <a:graphicFrameLocks noGrp="1"/>
          </p:cNvGraphicFramePr>
          <p:nvPr/>
        </p:nvGraphicFramePr>
        <p:xfrm>
          <a:off x="503999" y="1655999"/>
          <a:ext cx="11232000" cy="1912052"/>
        </p:xfrm>
        <a:graphic>
          <a:graphicData uri="http://schemas.openxmlformats.org/drawingml/2006/table">
            <a:tbl>
              <a:tblPr firstRow="0" bandRow="0">
                <a:tableStyleId>{5940675A-B579-460E-94D1-54222C63F5DA}</a:tableStyleId>
              </a:tblPr>
              <a:tblGrid>
                <a:gridCol w="1872000"/>
                <a:gridCol w="1296000"/>
                <a:gridCol w="1584000"/>
                <a:gridCol w="3240000"/>
                <a:gridCol w="3240000"/>
              </a:tblGrid>
              <a:tr h="194768">
                <a:tc>
                  <a:txBody>
                    <a:bodyPr/>
                    <a:lstStyle/>
                    <a:p>
                      <a:pPr marL="0" indent="0" lvl="0">
                        <a:buNone/>
                      </a:pPr>
                      <a:r>
                        <a:rPr sz="900" b="1">
                          <a:solidFill>
                            <a:srgbClr val="FFFFFF"/>
                          </a:solidFill>
                          <a:latin typeface="Helvetica"/>
                        </a:rPr>
                        <a:t>Garantie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UEMOA</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CIMA (référence)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Provision attendue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Effet sur la sinistralité</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Maladie des actifs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Risque court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Non-vie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PSAP dossier par dossier et sinistres tardifs (art. 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 taux doit intégrer la variation de la PSAP.</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Décès (capital, frais funéraires, allocations)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Risque court si annuel</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Vie (décès temporaire)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PSAP des dossiers déclarés non payés et tardifs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taux doit intégrer la variation de la PSAP obsèques.</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EFC, PEP</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Risque long</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Vie (épargne)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Dette d'épargne, provision mathématique si un capital est garanti (art. 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Hors sinistralité : versements et retraits d'épargne.</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Santé des retraités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Risque long si garantie à vie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Vie (rente de soins)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Provision mathématique (art. 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taux annuel sous-estime l'engagement futur.</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Flotte automobile (GNA)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Hors champ du FPPN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Non-vie (porté par GNA)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 provision technique au FPPN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Hors sinistralité du FPPN.</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MEDOC</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Risque court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Non-vie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PSAP si le FPPN porte le risque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Cotisations 7022 incluses dans le taux du texte.</a:t>
                      </a:r>
                    </a:p>
                  </a:txBody>
                  <a:tcPr marL="43200" marR="43200" marT="14400" marB="14400" anchor="ctr">
                    <a:solidFill>
                      <a:srgbClr val="F2F2F2"/>
                    </a:solidFill>
                  </a:tcPr>
                </a:tc>
              </a:tr>
            </a:tbl>
          </a:graphicData>
        </a:graphic>
      </p:graphicFrame>
      <p:sp>
        <p:nvSpPr>
          <p:cNvPr id="33" name="TextBox 32"/>
          <p:cNvSpPr txBox="1"/>
          <p:nvPr/>
        </p:nvSpPr>
        <p:spPr>
          <a:xfrm>
            <a:off x="503999" y="3586055"/>
            <a:ext cx="11232000" cy="162000"/>
          </a:xfrm>
          <a:prstGeom prst="rect">
            <a:avLst/>
          </a:prstGeom>
          <a:noFill/>
        </p:spPr>
        <p:txBody>
          <a:bodyPr wrap="square" anchor="t" lIns="54000" rIns="54000"/>
          <a:lstStyle/>
          <a:p>
            <a:pPr algn="l"/>
            <a:r>
              <a:rPr sz="850" b="0">
                <a:solidFill>
                  <a:srgbClr val="53565A"/>
                </a:solidFill>
                <a:latin typeface="Helvetica"/>
              </a:rPr>
              <a:t>Valable pour : comptes 2020 à 2025 et du 01/01 au 31/08/2026 (provisoire). Prestations comptabilisées, sans sinistres tardifs.</a:t>
            </a:r>
          </a:p>
        </p:txBody>
      </p:sp>
      <p:sp>
        <p:nvSpPr>
          <p:cNvPr id="34" name="TextBox 33"/>
          <p:cNvSpPr txBox="1"/>
          <p:nvPr/>
        </p:nvSpPr>
        <p:spPr>
          <a:xfrm>
            <a:off x="503999" y="3874055"/>
            <a:ext cx="11232000" cy="1993944"/>
          </a:xfrm>
          <a:prstGeom prst="rect">
            <a:avLst/>
          </a:prstGeom>
          <a:noFill/>
        </p:spPr>
        <p:txBody>
          <a:bodyPr wrap="square" lIns="54000" rIns="54000"/>
          <a:lstStyle/>
          <a:p>
            <a:pPr algn="just">
              <a:spcAft>
                <a:spcPts val="600"/>
              </a:spcAft>
            </a:pPr>
            <a:r>
              <a:rPr sz="1300" b="1">
                <a:solidFill>
                  <a:srgbClr val="060606"/>
                </a:solidFill>
                <a:latin typeface="Helvetica"/>
              </a:rPr>
              <a:t>Le taux de sinistralité ne mesure bien que les risques courts.</a:t>
            </a:r>
            <a:r>
              <a:rPr sz="1300" b="0">
                <a:solidFill>
                  <a:srgbClr val="060606"/>
                </a:solidFill>
                <a:latin typeface="Helvetica"/>
              </a:rPr>
              <a:t> Pour les risques longs, l'engagement se mesure par une provision mathématique, calculée avec une table de mortalité et un taux d'intérêt technique (règlement d'exécution n° 004/2022, art. 11).</a:t>
            </a:r>
          </a:p>
          <a:p>
            <a:pPr algn="just">
              <a:spcAft>
                <a:spcPts val="600"/>
              </a:spcAft>
            </a:pPr>
            <a:r>
              <a:rPr sz="1300" b="0">
                <a:solidFill>
                  <a:srgbClr val="060606"/>
                </a:solidFill>
                <a:latin typeface="Helvetica"/>
              </a:rPr>
              <a:t>Les provisions du FPPN doivent être revues garantie par garantie : seules la maladie et le décès ont une provision, figée depuis 2020 (partie 9).</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CIMA : Conférence interafricaine des marchés d'assurances | PEP : Plan Épargne Plus | EFC : entraide fin de carrière | PSAP : provision pour sinistres à payer | GNA : assureur de la flotte automobile (compte 47111106) | MEDOC : produit santé complémentaire du poste 8Z7</a:t>
            </a:r>
          </a:p>
        </p:txBody>
      </p:sp>
    </p:spTree>
    <p:extLst>
      <p:ext uri="{BB962C8B-B14F-4D97-AF65-F5344CB8AC3E}">
        <p14:creationId xmlns:p14="http://schemas.microsoft.com/office/powerpoint/2010/main" val="1975155084"/>
      </p:ext>
    </p:extLst>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Croissance des prestations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prestations maladie croissent beaucoup plus vite que les cotisations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Taux de croissance annuel moyen 2021 à 2025 : prestations maladie 104,42 %, cotisations 7,83 %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Fichiers de précomptes de la Solde, de la CGRAE et du FPPN reçus le 15/10/2026. Traitements Adenka. Exports du logiciel de prêts du Grenier du Policier (balances âgées, production) reçus le 15/10/2026.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24 : Taux de croissance annuels moyens</a:t>
            </a:r>
          </a:p>
        </p:txBody>
      </p:sp>
      <p:graphicFrame>
        <p:nvGraphicFramePr>
          <p:cNvPr id="32" name="Table 31"/>
          <p:cNvGraphicFramePr>
            <a:graphicFrameLocks noGrp="1"/>
          </p:cNvGraphicFramePr>
          <p:nvPr/>
        </p:nvGraphicFramePr>
        <p:xfrm>
          <a:off x="503999" y="1655999"/>
          <a:ext cx="11231997" cy="2137302"/>
        </p:xfrm>
        <a:graphic>
          <a:graphicData uri="http://schemas.openxmlformats.org/drawingml/2006/table">
            <a:tbl>
              <a:tblPr firstRow="0" bandRow="0">
                <a:tableStyleId>{5940675A-B579-460E-94D1-54222C63F5DA}</a:tableStyleId>
              </a:tblPr>
              <a:tblGrid>
                <a:gridCol w="2736000"/>
                <a:gridCol w="1655999"/>
                <a:gridCol w="2015999"/>
                <a:gridCol w="2015999"/>
                <a:gridCol w="1296000"/>
                <a:gridCol w="1512000"/>
              </a:tblGrid>
              <a:tr h="225250">
                <a:tc>
                  <a:txBody>
                    <a:bodyPr/>
                    <a:lstStyle/>
                    <a:p>
                      <a:pPr marL="0" indent="0" lvl="0">
                        <a:buNone/>
                      </a:pPr>
                      <a:r>
                        <a:rPr sz="11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Période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Valeur de départ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Valeur d'arrivée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Multiplié par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TCAM</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Cotisations maladie et décès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2020 à 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2 344 618 501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3 417 551 722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1,46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7,83 %</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Prestations maladie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2021 à 2025</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101 453 171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1 771 635 361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17,46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104,42 %</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Épargne PEP et EFC (passif)</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2020 à 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10 828 205 640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13 814 066 964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1,28</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4,99 %</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Encours des prêts du Grenier</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31/12/2022 à 31/12/2025</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182 555 907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829 623 319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4,54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65,64 %</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Production de prêts du Grenier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2022 à 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269 775 100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1 609 400 144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5,97</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81,37 %</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Cotisants actifs (maladie 936)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janv. 2024 à août 2026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23 119</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31 198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1,35</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12,30 %</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Investissements au CMP</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2020 à 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2 984 680 712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6 002 976 947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2,01</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15,00 %</a:t>
                      </a:r>
                    </a:p>
                  </a:txBody>
                  <a:tcPr marL="43200" marR="43200" marT="14400" marB="14400" anchor="ctr">
                    <a:solidFill>
                      <a:srgbClr val="FFFFFF"/>
                    </a:solidFill>
                  </a:tcPr>
                </a:tc>
              </a:tr>
            </a:tbl>
          </a:graphicData>
        </a:graphic>
      </p:graphicFrame>
      <p:sp>
        <p:nvSpPr>
          <p:cNvPr id="33" name="TextBox 32"/>
          <p:cNvSpPr txBox="1"/>
          <p:nvPr/>
        </p:nvSpPr>
        <p:spPr>
          <a:xfrm>
            <a:off x="503999" y="3811305"/>
            <a:ext cx="11232000" cy="162000"/>
          </a:xfrm>
          <a:prstGeom prst="rect">
            <a:avLst/>
          </a:prstGeom>
          <a:noFill/>
        </p:spPr>
        <p:txBody>
          <a:bodyPr wrap="square" anchor="t" lIns="54000" rIns="54000"/>
          <a:lstStyle/>
          <a:p>
            <a:pPr algn="l"/>
            <a:r>
              <a:rPr sz="850" b="0">
                <a:solidFill>
                  <a:srgbClr val="53565A"/>
                </a:solidFill>
                <a:latin typeface="Helvetica"/>
              </a:rPr>
              <a:t>Valable pour : comptes 2020 à 2025 et du 01/01 au 31/08/2026 (provisoire). Prestations comptabilisées, sans sinistres tardifs.</a:t>
            </a:r>
          </a:p>
        </p:txBody>
      </p:sp>
      <p:sp>
        <p:nvSpPr>
          <p:cNvPr id="34" name="TextBox 33"/>
          <p:cNvSpPr txBox="1"/>
          <p:nvPr/>
        </p:nvSpPr>
        <p:spPr>
          <a:xfrm>
            <a:off x="503999" y="4099305"/>
            <a:ext cx="11232000" cy="1768694"/>
          </a:xfrm>
          <a:prstGeom prst="rect">
            <a:avLst/>
          </a:prstGeom>
          <a:noFill/>
        </p:spPr>
        <p:txBody>
          <a:bodyPr wrap="square" lIns="54000" rIns="54000"/>
          <a:lstStyle/>
          <a:p>
            <a:pPr algn="just">
              <a:spcAft>
                <a:spcPts val="600"/>
              </a:spcAft>
            </a:pPr>
            <a:r>
              <a:rPr sz="1300" b="1">
                <a:solidFill>
                  <a:srgbClr val="060606"/>
                </a:solidFill>
                <a:latin typeface="Helvetica"/>
              </a:rPr>
              <a:t>Les prestations maladie et l'encours du Grenier croissent bien plus vite que les cotisations et les effectifs.</a:t>
            </a:r>
            <a:r>
              <a:rPr sz="1300" b="0">
                <a:solidFill>
                  <a:srgbClr val="060606"/>
                </a:solidFill>
                <a:latin typeface="Helvetica"/>
              </a:rPr>
              <a:t> Les ressources ne suivent pas le rythme des emplois.</a:t>
            </a:r>
          </a:p>
          <a:p>
            <a:pPr algn="just">
              <a:spcAft>
                <a:spcPts val="600"/>
              </a:spcAft>
            </a:pPr>
            <a:r>
              <a:rPr sz="1300" b="0">
                <a:solidFill>
                  <a:srgbClr val="060606"/>
                </a:solidFill>
                <a:latin typeface="Helvetica"/>
              </a:rPr>
              <a:t>Un écart durable entre la croissance des prestations et celle des cotisations conduit mécaniquement à un déficit technique : la projection devra en fixer l'horizon.</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CMP : Centre Médical du Policier (rapport de gestion 2023) | TCAM : taux de croissance annuel moyen | 936 : poste maladie</a:t>
            </a:r>
          </a:p>
        </p:txBody>
      </p:sp>
    </p:spTree>
    <p:extLst>
      <p:ext uri="{BB962C8B-B14F-4D97-AF65-F5344CB8AC3E}">
        <p14:creationId xmlns:p14="http://schemas.microsoft.com/office/powerpoint/2010/main" val="538237571"/>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Prestations maladie par nature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Plus de la moitié des prestations maladie est enregistrée sans détail de nature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2025, le compte global porte 995 311 355 FCFA sur 1 771 635 361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17 : Prestations maladie comptabilisées par nature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3888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prestations maladie passent de 101 453 171 FCFA en 2021 à 1 771 635 361 FCFA en 2025.</a:t>
            </a:r>
          </a:p>
          <a:p>
            <a:pPr algn="just">
              <a:spcAft>
                <a:spcPts val="600"/>
              </a:spcAft>
            </a:pPr>
            <a:r>
              <a:rPr sz="1400" b="1">
                <a:solidFill>
                  <a:srgbClr val="060606"/>
                </a:solidFill>
                <a:latin typeface="Helvetica"/>
              </a:rPr>
              <a:t>Imagerie, analyses et consultations représentent 37,13 % des prestations de 2025.</a:t>
            </a:r>
            <a:r>
              <a:rPr sz="1400" b="0">
                <a:solidFill>
                  <a:srgbClr val="060606"/>
                </a:solidFill>
                <a:latin typeface="Helvetica"/>
              </a:rPr>
              <a:t> Ce sont les natures détaillées qui progressent le plus.</a:t>
            </a:r>
          </a:p>
          <a:p>
            <a:pPr algn="just">
              <a:spcAft>
                <a:spcPts val="600"/>
              </a:spcAft>
            </a:pPr>
            <a:r>
              <a:rPr sz="1400" b="1">
                <a:solidFill>
                  <a:srgbClr val="060606"/>
                </a:solidFill>
                <a:latin typeface="Helvetica"/>
              </a:rPr>
              <a:t>Le compte global empêche le suivi par type de soins et par prestataire.</a:t>
            </a:r>
          </a:p>
          <a:p>
            <a:pPr algn="just">
              <a:spcAft>
                <a:spcPts val="600"/>
              </a:spcAft>
            </a:pPr>
            <a:r>
              <a:rPr sz="1400" b="0">
                <a:solidFill>
                  <a:srgbClr val="060606"/>
                </a:solidFill>
                <a:latin typeface="Helvetica"/>
              </a:rPr>
              <a:t>Sans détail par nature et par prestataire, le FPPN ne peut ni négocier ses tarifs, ni repérer les abus, ni calculer le taux de prestations indues exigé par la Décision n° 05/2022.</a:t>
            </a:r>
          </a:p>
        </p:txBody>
      </p:sp>
      <p:sp>
        <p:nvSpPr>
          <p:cNvPr id="35" name="TextBox 34"/>
          <p:cNvSpPr txBox="1"/>
          <p:nvPr/>
        </p:nvSpPr>
        <p:spPr>
          <a:xfrm>
            <a:off x="503999" y="5688000"/>
            <a:ext cx="6552000" cy="162000"/>
          </a:xfrm>
          <a:prstGeom prst="rect">
            <a:avLst/>
          </a:prstGeom>
          <a:noFill/>
        </p:spPr>
        <p:txBody>
          <a:bodyPr wrap="square" anchor="t" lIns="54000" rIns="54000"/>
          <a:lstStyle/>
          <a:p>
            <a:pPr algn="l"/>
            <a:r>
              <a:rPr sz="850" b="0">
                <a:solidFill>
                  <a:srgbClr val="53565A"/>
                </a:solidFill>
                <a:latin typeface="Helvetica"/>
              </a:rPr>
              <a:t>Valable pour : comptes 2020 à 2025 et du 01/01 au 31/08/2026 (provisoire). Prestations comptabilisées, sans sinistres tardifs.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201961157"/>
      </p:ext>
    </p:extLst>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Frais de gestion et résultat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excédents se réduisent et deviennent un déficit en 2026</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Résultat net : 1 018 579 699 FCFA en 2020, 437 899 911 FCFA en 2025, -441 256 500 FCFA sur huit mois de 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18 : Frais de gestion et résultat net</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3888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frais de gestion pèsent entre 31,46 % et 40,11 % des cotisations depuis 2021.</a:t>
            </a:r>
            <a:r>
              <a:rPr sz="1400" b="0">
                <a:solidFill>
                  <a:srgbClr val="060606"/>
                </a:solidFill>
                <a:latin typeface="Helvetica"/>
              </a:rPr>
              <a:t> La Décision n° 05/2022 limite les charges de fonctionnement à 20 % des cotisations.</a:t>
            </a:r>
          </a:p>
          <a:p>
            <a:pPr algn="just">
              <a:spcAft>
                <a:spcPts val="600"/>
              </a:spcAft>
            </a:pPr>
            <a:r>
              <a:rPr sz="1400" b="1">
                <a:solidFill>
                  <a:srgbClr val="060606"/>
                </a:solidFill>
                <a:latin typeface="Helvetica"/>
              </a:rPr>
              <a:t>Le résultat baisse depuis 2021.</a:t>
            </a:r>
            <a:r>
              <a:rPr sz="1400" b="0">
                <a:solidFill>
                  <a:srgbClr val="060606"/>
                </a:solidFill>
                <a:latin typeface="Helvetica"/>
              </a:rPr>
              <a:t> Il passe de 2 083 908 202 FCFA à 437 899 911 FCFA en 2025.</a:t>
            </a:r>
          </a:p>
          <a:p>
            <a:pPr algn="just">
              <a:spcAft>
                <a:spcPts val="600"/>
              </a:spcAft>
            </a:pPr>
            <a:r>
              <a:rPr sz="1400" b="1">
                <a:solidFill>
                  <a:srgbClr val="060606"/>
                </a:solidFill>
                <a:latin typeface="Helvetica"/>
              </a:rPr>
              <a:t>Les huit premiers mois de 2026 sont déficitaires</a:t>
            </a:r>
            <a:r>
              <a:rPr sz="1400" b="0">
                <a:solidFill>
                  <a:srgbClr val="060606"/>
                </a:solidFill>
                <a:latin typeface="Helvetica"/>
              </a:rPr>
              <a:t>, avant même les écritures de fin d'année.</a:t>
            </a:r>
          </a:p>
          <a:p>
            <a:pPr algn="just">
              <a:spcAft>
                <a:spcPts val="600"/>
              </a:spcAft>
            </a:pPr>
            <a:r>
              <a:rPr sz="1400" b="0">
                <a:solidFill>
                  <a:srgbClr val="060606"/>
                </a:solidFill>
                <a:latin typeface="Helvetica"/>
              </a:rPr>
              <a:t>Les frais pèsent presque deux fois la norme réglementaire. Leur réduction est le levier le plus direct pour restaurer l'excédent pendant que la sinistralité monte.</a:t>
            </a:r>
          </a:p>
        </p:txBody>
      </p:sp>
      <p:sp>
        <p:nvSpPr>
          <p:cNvPr id="35" name="TextBox 34"/>
          <p:cNvSpPr txBox="1"/>
          <p:nvPr/>
        </p:nvSpPr>
        <p:spPr>
          <a:xfrm>
            <a:off x="503999" y="5688000"/>
            <a:ext cx="6552000" cy="162000"/>
          </a:xfrm>
          <a:prstGeom prst="rect">
            <a:avLst/>
          </a:prstGeom>
          <a:noFill/>
        </p:spPr>
        <p:txBody>
          <a:bodyPr wrap="square" anchor="t" lIns="54000" rIns="54000"/>
          <a:lstStyle/>
          <a:p>
            <a:pPr algn="l"/>
            <a:r>
              <a:rPr sz="850" b="0">
                <a:solidFill>
                  <a:srgbClr val="53565A"/>
                </a:solidFill>
                <a:latin typeface="Helvetica"/>
              </a:rPr>
              <a:t>Valable pour : comptes 2020 à 2025 et du 01/01 au 31/08/2026 (provisoire). Prestations comptabilisées, sans sinistres tardifs.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031346619"/>
      </p:ext>
    </p:extLst>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Choix de la formule : frais de gestion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formule du texte et celle du rapport ne retiennent pas les mêmes comptes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2025 : 32,23 % selon le rapport, 36,34 % selon le texte, pour une norme d'au plus 20 %</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19 : Taux de frais selon la formule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des cotisations</a:t>
            </a:r>
          </a:p>
        </p:txBody>
      </p:sp>
      <p:graphicFrame>
        <p:nvGraphicFramePr>
          <p:cNvPr id="32" name="Chart 31"/>
          <p:cNvGraphicFramePr>
            <a:graphicFrameLocks noGrp="1"/>
          </p:cNvGraphicFramePr>
          <p:nvPr/>
        </p:nvGraphicFramePr>
        <p:xfrm>
          <a:off x="503999" y="1782000"/>
          <a:ext cx="6552000" cy="3888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tableau 1.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deux formules diffèrent sur trois points.</a:t>
            </a:r>
            <a:r>
              <a:rPr sz="1400" b="0">
                <a:solidFill>
                  <a:srgbClr val="060606"/>
                </a:solidFill>
                <a:latin typeface="Helvetica"/>
              </a:rPr>
              <a:t> Le texte exclut les comptes 611 et 614 à 617, et inclut les comptes 67 et 68. Il divise par toutes les cotisations acquises, MEDOC compris. Le rapport retenait les comptes 61 à 66 et les seules cotisations maladie et décès.</a:t>
            </a:r>
          </a:p>
          <a:p>
            <a:pPr algn="just">
              <a:spcAft>
                <a:spcPts val="600"/>
              </a:spcAft>
            </a:pPr>
            <a:r>
              <a:rPr sz="1400" b="1">
                <a:solidFill>
                  <a:srgbClr val="060606"/>
                </a:solidFill>
                <a:latin typeface="Helvetica"/>
              </a:rPr>
              <a:t>Seule la formule du texte est comparée à la norme de 20 %.</a:t>
            </a:r>
            <a:r>
              <a:rPr sz="1400" b="0">
                <a:solidFill>
                  <a:srgbClr val="060606"/>
                </a:solidFill>
                <a:latin typeface="Helvetica"/>
              </a:rPr>
              <a:t> La formule du rapport reste utile pour suivre les frais sur la même base que la sinistralité par garantie.</a:t>
            </a:r>
          </a:p>
          <a:p>
            <a:pPr algn="just">
              <a:spcAft>
                <a:spcPts val="600"/>
              </a:spcAft>
            </a:pPr>
            <a:r>
              <a:rPr sz="1400" b="0">
                <a:solidFill>
                  <a:srgbClr val="060606"/>
                </a:solidFill>
                <a:latin typeface="Helvetica"/>
              </a:rPr>
              <a:t>Quelle que soit la formule, les frais dépassent la norme de 20 % des cotisations : la conclusion de la partie 5 ne change pas.</a:t>
            </a:r>
          </a:p>
        </p:txBody>
      </p:sp>
      <p:sp>
        <p:nvSpPr>
          <p:cNvPr id="35" name="TextBox 34"/>
          <p:cNvSpPr txBox="1"/>
          <p:nvPr/>
        </p:nvSpPr>
        <p:spPr>
          <a:xfrm>
            <a:off x="503999" y="5688000"/>
            <a:ext cx="6552000" cy="162000"/>
          </a:xfrm>
          <a:prstGeom prst="rect">
            <a:avLst/>
          </a:prstGeom>
          <a:noFill/>
        </p:spPr>
        <p:txBody>
          <a:bodyPr wrap="square" anchor="t" lIns="54000" rIns="54000"/>
          <a:lstStyle/>
          <a:p>
            <a:pPr algn="l"/>
            <a:r>
              <a:rPr sz="850" b="0">
                <a:solidFill>
                  <a:srgbClr val="53565A"/>
                </a:solidFill>
                <a:latin typeface="Helvetica"/>
              </a:rPr>
              <a:t>Valable pour : comptes 2020 à 2025 et du 01/01 au 31/08/2026 (provisoire). Prestations comptabilisées, sans sinistres tardifs.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MEDOC : produit santé complémentaire du poste 8Z7</a:t>
            </a:r>
          </a:p>
        </p:txBody>
      </p:sp>
    </p:spTree>
    <p:extLst>
      <p:ext uri="{BB962C8B-B14F-4D97-AF65-F5344CB8AC3E}">
        <p14:creationId xmlns:p14="http://schemas.microsoft.com/office/powerpoint/2010/main" val="2274493068"/>
      </p:ext>
    </p:extLst>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prestations maladie absorbent une part croissante des cotisations, et le résultat du FPPN baisse depuis 2021.</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hausse du S/C maladie est statistiquement significative, d'environ 12,91 points par an de 2020 à 2025. Les frais dépassent la norme de 20 % des cotisations.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Sans maîtrise des prestations et des frais, le FPPN deviendra déficitaire et ne pourra plus doter sa réserve obligatoire.</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détailler le compte global de prestations par nature et par prestataire, et transmettre la base des prestations.</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sinistralité</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maladie approche le niveau des cotisations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 S/C maladie multiplié par plus de douze depuis 2021, résultat en baisse, déficit sur 2026</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2486009961"/>
      </p:ext>
    </p:extLst>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6</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Épargne des mutualistes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Dette d'épargne, actifs réservés, sensibilité aux retraits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143116561"/>
      </p:ext>
    </p:extLst>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Passif d'épargne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L'épargne due correspond aux soldes créditeurs des comptes 41195100 (PEP) et 41195200 (EFC). C'est une dette du FPPN envers les mutualistes.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Actifs réservés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retient les comptes bancaires et dépôts à terme dont l'intitulé désigne l'EFC ou le PEP (5211020x, 5221020x, 5211030x, 5221030x, 526120) et le fonds commun de placement (5330).</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Couverture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couverture rapporte les actifs réservés à l'épargne due, à chaque clôture de 2020 au 31/08/2026.</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règlement des produits n'a pas été transmis : la part de l'épargne exigible à court terme et l'affectation du fonds commun de placement restent à confirmer.</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adossement de l'épargne</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couverture compare l'épargne due aux actifs qui lui sont réservés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 (banques, dépôts à terme et fonds réservés) / (comptes PEP et EFC)</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a:t>
            </a:r>
          </a:p>
        </p:txBody>
      </p:sp>
    </p:spTree>
    <p:extLst>
      <p:ext uri="{BB962C8B-B14F-4D97-AF65-F5344CB8AC3E}">
        <p14:creationId xmlns:p14="http://schemas.microsoft.com/office/powerpoint/2010/main" val="1953724152"/>
      </p:ext>
    </p:extLst>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couverture de l'épargne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Deux comptes de dette face à quatre comptes d'actifs réservés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2 562 885 661 FCFA / 15 743 516 391 FCFA = 16,28 % au 31/08/2026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 au 31/08/2026 (impression provisoire)</a:t>
            </a:r>
          </a:p>
        </p:txBody>
      </p:sp>
      <p:sp>
        <p:nvSpPr>
          <p:cNvPr id="31" name="TextBox 30"/>
          <p:cNvSpPr txBox="1"/>
          <p:nvPr/>
        </p:nvSpPr>
        <p:spPr>
          <a:xfrm>
            <a:off x="503999" y="1350000"/>
            <a:ext cx="7703999" cy="180000"/>
          </a:xfrm>
          <a:prstGeom prst="rect">
            <a:avLst/>
          </a:prstGeom>
          <a:noFill/>
        </p:spPr>
        <p:txBody>
          <a:bodyPr wrap="square" anchor="t" lIns="54000" rIns="54000"/>
          <a:lstStyle/>
          <a:p>
            <a:pPr algn="l"/>
            <a:r>
              <a:rPr sz="900" b="0">
                <a:solidFill>
                  <a:srgbClr val="53565A"/>
                </a:solidFill>
                <a:latin typeface="Helvetica"/>
              </a:rPr>
              <a:t>Extrait : AUDIT ADENKA\DAFC\2026\BALANCE FPPN DU 01-01-2026 AU 31-08-2026.xlsx</a:t>
            </a:r>
          </a:p>
        </p:txBody>
      </p:sp>
      <p:graphicFrame>
        <p:nvGraphicFramePr>
          <p:cNvPr id="32" name="Table 31"/>
          <p:cNvGraphicFramePr>
            <a:graphicFrameLocks noGrp="1"/>
          </p:cNvGraphicFramePr>
          <p:nvPr/>
        </p:nvGraphicFramePr>
        <p:xfrm>
          <a:off x="503999" y="1548000"/>
          <a:ext cx="7704000" cy="1890081"/>
        </p:xfrm>
        <a:graphic>
          <a:graphicData uri="http://schemas.openxmlformats.org/drawingml/2006/table">
            <a:tbl>
              <a:tblPr firstRow="0" bandRow="0">
                <a:tableStyleId>{5940675A-B579-460E-94D1-54222C63F5DA}</a:tableStyleId>
              </a:tblPr>
              <a:tblGrid>
                <a:gridCol w="1224000"/>
                <a:gridCol w="4104000"/>
                <a:gridCol w="2376000"/>
              </a:tblGrid>
              <a:tr h="210009">
                <a:tc>
                  <a:txBody>
                    <a:bodyPr/>
                    <a:lstStyle/>
                    <a:p>
                      <a:pPr marL="0" indent="0" lvl="0">
                        <a:buNone/>
                      </a:pPr>
                      <a:r>
                        <a:rPr sz="1000" b="1">
                          <a:solidFill>
                            <a:srgbClr val="FFFFFF"/>
                          </a:solidFill>
                          <a:latin typeface="Helvetica"/>
                        </a:rPr>
                        <a:t>Compte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Intitulé</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Solde au 31/08/2026</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41195100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COTISATION PEP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5 229 245 425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41195200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COTISATION EFC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10 514 270 966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Total épargne due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15 743 516 391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52110200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Banque BOA-Entraide fin de carrière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1 540 006 941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52110300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Banque BOA PEP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37 336 916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52210200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DAT BOA ENTRAIDE  FIN DE CARRIERE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485 541 804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53300001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FONDS COMMUN DE PLACEMENT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500 000 000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Total actifs réservés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2 562 885 661 FCFA</a:t>
                      </a:r>
                    </a:p>
                  </a:txBody>
                  <a:tcPr marL="43200" marR="43200" marT="14400" marB="14400" anchor="ctr">
                    <a:solidFill>
                      <a:srgbClr val="F2F2F2"/>
                    </a:solidFill>
                  </a:tcPr>
                </a:tc>
              </a:tr>
            </a:tbl>
          </a:graphicData>
        </a:graphic>
      </p:graphicFrame>
      <p:sp>
        <p:nvSpPr>
          <p:cNvPr id="33" name="Rounded Rectangle 32"/>
          <p:cNvSpPr/>
          <p:nvPr/>
        </p:nvSpPr>
        <p:spPr>
          <a:xfrm>
            <a:off x="5813999" y="2167228"/>
            <a:ext cx="241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27999" y="20160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813999" y="3217276"/>
            <a:ext cx="241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027999" y="30660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424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8784000" y="1530000"/>
            <a:ext cx="2952000" cy="670023"/>
          </a:xfrm>
          <a:prstGeom prst="rect">
            <a:avLst/>
          </a:prstGeom>
          <a:noFill/>
        </p:spPr>
        <p:txBody>
          <a:bodyPr wrap="square" anchor="t" lIns="54000" rIns="54000"/>
          <a:lstStyle/>
          <a:p>
            <a:pPr algn="l"/>
            <a:r>
              <a:rPr sz="1200" b="0">
                <a:solidFill>
                  <a:srgbClr val="060606"/>
                </a:solidFill>
                <a:latin typeface="Helvetica"/>
              </a:rPr>
              <a:t>Les deux comptes 41195 enregistrent la dette envers les épargnants PEP et EFC.</a:t>
            </a:r>
          </a:p>
        </p:txBody>
      </p:sp>
      <p:sp>
        <p:nvSpPr>
          <p:cNvPr id="39" name="Oval 38"/>
          <p:cNvSpPr/>
          <p:nvPr/>
        </p:nvSpPr>
        <p:spPr>
          <a:xfrm>
            <a:off x="8424000" y="2308023"/>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8784000" y="2290023"/>
            <a:ext cx="2952000" cy="670023"/>
          </a:xfrm>
          <a:prstGeom prst="rect">
            <a:avLst/>
          </a:prstGeom>
          <a:noFill/>
        </p:spPr>
        <p:txBody>
          <a:bodyPr wrap="square" anchor="t" lIns="54000" rIns="54000"/>
          <a:lstStyle/>
          <a:p>
            <a:pPr algn="l"/>
            <a:r>
              <a:rPr sz="1200" b="0">
                <a:solidFill>
                  <a:srgbClr val="060606"/>
                </a:solidFill>
                <a:latin typeface="Helvetica"/>
              </a:rPr>
              <a:t>Les banques, le dépôt à terme et le fonds commun de placement forment les actifs réservés.</a:t>
            </a:r>
          </a:p>
        </p:txBody>
      </p:sp>
      <p:sp>
        <p:nvSpPr>
          <p:cNvPr id="41" name="Oval 40"/>
          <p:cNvSpPr/>
          <p:nvPr/>
        </p:nvSpPr>
        <p:spPr>
          <a:xfrm>
            <a:off x="8424000" y="3068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8784000" y="3050047"/>
            <a:ext cx="2952000" cy="484084"/>
          </a:xfrm>
          <a:prstGeom prst="rect">
            <a:avLst/>
          </a:prstGeom>
          <a:noFill/>
        </p:spPr>
        <p:txBody>
          <a:bodyPr wrap="square" anchor="t" lIns="54000" rIns="54000"/>
          <a:lstStyle/>
          <a:p>
            <a:pPr algn="l"/>
            <a:r>
              <a:rPr sz="1200" b="0">
                <a:solidFill>
                  <a:srgbClr val="060606"/>
                </a:solidFill>
                <a:latin typeface="Helvetica"/>
              </a:rPr>
              <a:t>La couverture vaut donc 16,28 % au 31/08/2026.</a:t>
            </a:r>
          </a:p>
        </p:txBody>
      </p:sp>
      <p:sp>
        <p:nvSpPr>
          <p:cNvPr id="43" name="TextBox 42"/>
          <p:cNvSpPr txBox="1"/>
          <p:nvPr/>
        </p:nvSpPr>
        <p:spPr>
          <a:xfrm>
            <a:off x="8424000" y="3714132"/>
            <a:ext cx="3312000" cy="2153867"/>
          </a:xfrm>
          <a:prstGeom prst="rect">
            <a:avLst/>
          </a:prstGeom>
          <a:noFill/>
        </p:spPr>
        <p:txBody>
          <a:bodyPr wrap="square" lIns="54000" rIns="54000"/>
          <a:lstStyle/>
          <a:p>
            <a:pPr algn="just">
              <a:spcAft>
                <a:spcPts val="600"/>
              </a:spcAft>
            </a:pPr>
            <a:r>
              <a:rPr sz="1200" b="1">
                <a:solidFill>
                  <a:srgbClr val="060606"/>
                </a:solidFill>
                <a:latin typeface="Helvetica"/>
              </a:rPr>
              <a:t>Ce ratio est aussi le ratio de solvabilité des risques longs de la Décision n° 05/2022</a:t>
            </a:r>
            <a:r>
              <a:rPr sz="1200" b="0">
                <a:solidFill>
                  <a:srgbClr val="060606"/>
                </a:solidFill>
                <a:latin typeface="Helvetica"/>
              </a:rPr>
              <a:t> (actifs admis / engagements réglementés), dont la norme est d'au moins 1.</a:t>
            </a:r>
          </a:p>
          <a:p>
            <a:pPr algn="just">
              <a:spcAft>
                <a:spcPts val="600"/>
              </a:spcAft>
            </a:pPr>
            <a:r>
              <a:rPr sz="1200" b="0">
                <a:solidFill>
                  <a:srgbClr val="060606"/>
                </a:solidFill>
                <a:latin typeface="Helvetica"/>
              </a:rPr>
              <a:t>Avec une couverture inférieure à un cinquième, le FPPN ne respecte pas cette norme : la partie 10 la reprend dans le tableau de bord sans refaire le calcul.</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DAT : dépôt à terme</a:t>
            </a:r>
          </a:p>
        </p:txBody>
      </p:sp>
    </p:spTree>
    <p:extLst>
      <p:ext uri="{BB962C8B-B14F-4D97-AF65-F5344CB8AC3E}">
        <p14:creationId xmlns:p14="http://schemas.microsoft.com/office/powerpoint/2010/main" val="3061416924"/>
      </p:ext>
    </p:extLst>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Adossement de l'épargne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L'épargne des mutualistes n'est couverte qu'à 16,28 % par des actifs réservés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 entre 6,49 % et 19,29 % selon les années</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20 : Épargne au passif et actifs réservés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3888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dette d'épargne augmente de 45,39 % depuis 2020.</a:t>
            </a:r>
            <a:r>
              <a:rPr sz="1400" b="0">
                <a:solidFill>
                  <a:srgbClr val="060606"/>
                </a:solidFill>
                <a:latin typeface="Helvetica"/>
              </a:rPr>
              <a:t> Les actifs réservés ne suivent pas cette hausse.</a:t>
            </a:r>
          </a:p>
          <a:p>
            <a:pPr algn="just">
              <a:spcAft>
                <a:spcPts val="600"/>
              </a:spcAft>
            </a:pPr>
            <a:r>
              <a:rPr sz="1400" b="1">
                <a:solidFill>
                  <a:srgbClr val="060606"/>
                </a:solidFill>
                <a:latin typeface="Helvetica"/>
              </a:rPr>
              <a:t>L'épargne EFC triple.</a:t>
            </a:r>
            <a:r>
              <a:rPr sz="1400" b="0">
                <a:solidFill>
                  <a:srgbClr val="060606"/>
                </a:solidFill>
                <a:latin typeface="Helvetica"/>
              </a:rPr>
              <a:t> Elle passe de 3 461 975 893 FCFA en 2020 à 10 514 270 966 FCFA au 31/08/2026.</a:t>
            </a:r>
          </a:p>
          <a:p>
            <a:pPr algn="just">
              <a:spcAft>
                <a:spcPts val="600"/>
              </a:spcAft>
            </a:pPr>
            <a:r>
              <a:rPr sz="1400" b="1">
                <a:solidFill>
                  <a:srgbClr val="060606"/>
                </a:solidFill>
                <a:latin typeface="Helvetica"/>
              </a:rPr>
              <a:t>L'épargne non couverte finance des emplois peu liquides</a:t>
            </a:r>
            <a:r>
              <a:rPr sz="1400" b="0">
                <a:solidFill>
                  <a:srgbClr val="060606"/>
                </a:solidFill>
                <a:latin typeface="Helvetica"/>
              </a:rPr>
              <a:t> : investissements au CMP, terrains, créance sur l'Hôpital de la Police et prêts du Grenier.</a:t>
            </a:r>
          </a:p>
          <a:p>
            <a:pPr algn="just">
              <a:spcAft>
                <a:spcPts val="600"/>
              </a:spcAft>
            </a:pPr>
            <a:r>
              <a:rPr sz="1400" b="0">
                <a:solidFill>
                  <a:srgbClr val="060606"/>
                </a:solidFill>
                <a:latin typeface="Helvetica"/>
              </a:rPr>
              <a:t>Le règlement d'exécution n° 004/2022 impose le cantonnement des patrimoines quand une mutuelle couvre à la fois des risques courts et longs (art. 15). L'épargne n'est séparée qu'en partie des autres ressources du FPPN.</a:t>
            </a:r>
          </a:p>
        </p:txBody>
      </p:sp>
      <p:sp>
        <p:nvSpPr>
          <p:cNvPr id="35" name="TextBox 34"/>
          <p:cNvSpPr txBox="1"/>
          <p:nvPr/>
        </p:nvSpPr>
        <p:spPr>
          <a:xfrm>
            <a:off x="503999" y="5688000"/>
            <a:ext cx="6552000" cy="162000"/>
          </a:xfrm>
          <a:prstGeom prst="rect">
            <a:avLst/>
          </a:prstGeom>
          <a:noFill/>
        </p:spPr>
        <p:txBody>
          <a:bodyPr wrap="square" anchor="t" lIns="54000" rIns="54000"/>
          <a:lstStyle/>
          <a:p>
            <a:pPr algn="l"/>
            <a:r>
              <a:rPr sz="850" b="0">
                <a:solidFill>
                  <a:srgbClr val="53565A"/>
                </a:solidFill>
                <a:latin typeface="Helvetica"/>
              </a:rPr>
              <a:t>Valable pour : soldes et mouvements comptables de 2020 au 31/08/2026. Épargne sans échéancier individuel ni intérêts comptabilisés.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CMP : Centre Médical du Policier (rapport de gestion 2023)</a:t>
            </a:r>
          </a:p>
        </p:txBody>
      </p:sp>
    </p:spTree>
    <p:extLst>
      <p:ext uri="{BB962C8B-B14F-4D97-AF65-F5344CB8AC3E}">
        <p14:creationId xmlns:p14="http://schemas.microsoft.com/office/powerpoint/2010/main" val="3073900720"/>
      </p:ext>
    </p:extLst>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Versements d'épargne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versements au PEP ont été multipliés par quatre depuis 2022</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PEP 2025 : 2 029 929 725 FCFA versés par 16 932 épargnants</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21 : Versements précomptés par produit d'épargne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 (EFC à partir de 2023)</a:t>
            </a:r>
          </a:p>
        </p:txBody>
      </p:sp>
      <p:graphicFrame>
        <p:nvGraphicFramePr>
          <p:cNvPr id="32" name="Chart 31"/>
          <p:cNvGraphicFramePr>
            <a:graphicFrameLocks noGrp="1"/>
          </p:cNvGraphicFramePr>
          <p:nvPr/>
        </p:nvGraphicFramePr>
        <p:xfrm>
          <a:off x="503999" y="1782000"/>
          <a:ext cx="6552000" cy="3888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épargnants PEP passent de 1 327 en 2020 à 17 199 en 2026.</a:t>
            </a:r>
            <a:r>
              <a:rPr sz="1400" b="0">
                <a:solidFill>
                  <a:srgbClr val="060606"/>
                </a:solidFill>
                <a:latin typeface="Helvetica"/>
              </a:rPr>
              <a:t> Le produit attire un nombre croissant de policiers.</a:t>
            </a:r>
          </a:p>
          <a:p>
            <a:pPr algn="just">
              <a:spcAft>
                <a:spcPts val="600"/>
              </a:spcAft>
            </a:pPr>
            <a:r>
              <a:rPr sz="1400" b="1">
                <a:solidFill>
                  <a:srgbClr val="060606"/>
                </a:solidFill>
                <a:latin typeface="Helvetica"/>
              </a:rPr>
              <a:t>En 2025, le PEP reçoit 2 029 929 725 FCFA mais le compte n'augmente que de 1 134 898 141 FCFA.</a:t>
            </a:r>
            <a:r>
              <a:rPr sz="1400" b="0">
                <a:solidFill>
                  <a:srgbClr val="060606"/>
                </a:solidFill>
                <a:latin typeface="Helvetica"/>
              </a:rPr>
              <a:t> La différence correspond à des sorties d'épargne.</a:t>
            </a:r>
          </a:p>
          <a:p>
            <a:pPr algn="just">
              <a:spcAft>
                <a:spcPts val="600"/>
              </a:spcAft>
            </a:pPr>
            <a:r>
              <a:rPr sz="1400" b="1">
                <a:solidFill>
                  <a:srgbClr val="060606"/>
                </a:solidFill>
                <a:latin typeface="Helvetica"/>
              </a:rPr>
              <a:t>Les sorties d'épargne atteignent 1 358 821 103 FCFA en 2025</a:t>
            </a:r>
            <a:r>
              <a:rPr sz="1400" b="0">
                <a:solidFill>
                  <a:srgbClr val="060606"/>
                </a:solidFill>
                <a:latin typeface="Helvetica"/>
              </a:rPr>
              <a:t> (débits des comptes 41195100 et 41195200).</a:t>
            </a:r>
          </a:p>
          <a:p>
            <a:pPr algn="just">
              <a:spcAft>
                <a:spcPts val="600"/>
              </a:spcAft>
            </a:pPr>
            <a:r>
              <a:rPr sz="1400" b="0">
                <a:solidFill>
                  <a:srgbClr val="060606"/>
                </a:solidFill>
                <a:latin typeface="Helvetica"/>
              </a:rPr>
              <a:t>Ces sorties sont les « engagements » d'un trimestre que la réserve de trésorerie des risques longs doit couvrir (art. 19 du règlement d'exécution) : leur suivi mensuel est nécessaire pour fixer le niveau de cette réserve.</a:t>
            </a:r>
          </a:p>
        </p:txBody>
      </p:sp>
      <p:sp>
        <p:nvSpPr>
          <p:cNvPr id="35" name="TextBox 34"/>
          <p:cNvSpPr txBox="1"/>
          <p:nvPr/>
        </p:nvSpPr>
        <p:spPr>
          <a:xfrm>
            <a:off x="503999" y="5688000"/>
            <a:ext cx="6552000" cy="162000"/>
          </a:xfrm>
          <a:prstGeom prst="rect">
            <a:avLst/>
          </a:prstGeom>
          <a:noFill/>
        </p:spPr>
        <p:txBody>
          <a:bodyPr wrap="square" anchor="t" lIns="54000" rIns="54000"/>
          <a:lstStyle/>
          <a:p>
            <a:pPr algn="l"/>
            <a:r>
              <a:rPr sz="850" b="0">
                <a:solidFill>
                  <a:srgbClr val="53565A"/>
                </a:solidFill>
                <a:latin typeface="Helvetica"/>
              </a:rPr>
              <a:t>Valable pour : soldes et mouvements comptables de 2020 au 31/08/2026. Épargne sans échéancier individuel ni intérêts comptabilisés.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870 : poste EFC | 998 : poste PEP</a:t>
            </a:r>
          </a:p>
        </p:txBody>
      </p:sp>
    </p:spTree>
    <p:extLst>
      <p:ext uri="{BB962C8B-B14F-4D97-AF65-F5344CB8AC3E}">
        <p14:creationId xmlns:p14="http://schemas.microsoft.com/office/powerpoint/2010/main" val="853291298"/>
      </p:ext>
    </p:extLst>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Sensibilité : retraits d'épargne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 retrait de plus d'un cinquième de l'épargne épuiserait toute la trésorerie du FPPN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actifs réservés couvrent un retrait de 16,28 % de l'épargne. La trésorerie totale, 21,34 %</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22 : Besoin de liquidités selon le taux de retrait</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 au 31/08/2026</a:t>
            </a:r>
          </a:p>
        </p:txBody>
      </p:sp>
      <p:graphicFrame>
        <p:nvGraphicFramePr>
          <p:cNvPr id="32" name="Chart 31"/>
          <p:cNvGraphicFramePr>
            <a:graphicFrameLocks noGrp="1"/>
          </p:cNvGraphicFramePr>
          <p:nvPr/>
        </p:nvGraphicFramePr>
        <p:xfrm>
          <a:off x="503999" y="1782000"/>
          <a:ext cx="6552000" cy="3888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actifs réservés couvrent un retrait de 10 % de l'épargne (1 574 351 639 FCFA).</a:t>
            </a:r>
          </a:p>
          <a:p>
            <a:pPr algn="just">
              <a:spcAft>
                <a:spcPts val="600"/>
              </a:spcAft>
            </a:pPr>
            <a:r>
              <a:rPr sz="1400" b="1">
                <a:solidFill>
                  <a:srgbClr val="060606"/>
                </a:solidFill>
                <a:latin typeface="Helvetica"/>
              </a:rPr>
              <a:t>Au-delà de 21,34 % de retraits, toute la trésorerie du FPPN ne suffit plus.</a:t>
            </a:r>
          </a:p>
          <a:p>
            <a:pPr algn="just">
              <a:spcAft>
                <a:spcPts val="600"/>
              </a:spcAft>
            </a:pPr>
            <a:r>
              <a:rPr sz="1400" b="1">
                <a:solidFill>
                  <a:srgbClr val="060606"/>
                </a:solidFill>
                <a:latin typeface="Helvetica"/>
              </a:rPr>
              <a:t>Le FPPN doit alors céder ou mobiliser des actifs peu liquides</a:t>
            </a:r>
            <a:r>
              <a:rPr sz="1400" b="0">
                <a:solidFill>
                  <a:srgbClr val="060606"/>
                </a:solidFill>
                <a:latin typeface="Helvetica"/>
              </a:rPr>
              <a:t>, comme les terrains ou les avances au CMP.</a:t>
            </a:r>
          </a:p>
          <a:p>
            <a:pPr algn="just">
              <a:spcAft>
                <a:spcPts val="600"/>
              </a:spcAft>
            </a:pPr>
            <a:r>
              <a:rPr sz="1400" b="0">
                <a:solidFill>
                  <a:srgbClr val="060606"/>
                </a:solidFill>
                <a:latin typeface="Helvetica"/>
              </a:rPr>
              <a:t>Le risque de liquidité dépend des conditions de retrait du PEP et de l'EFC : le règlement de ces produits et les âges des épargnants permettront de passer de scénarios théoriques à un échéancier réel.</a:t>
            </a:r>
          </a:p>
        </p:txBody>
      </p:sp>
      <p:sp>
        <p:nvSpPr>
          <p:cNvPr id="35" name="TextBox 34"/>
          <p:cNvSpPr txBox="1"/>
          <p:nvPr/>
        </p:nvSpPr>
        <p:spPr>
          <a:xfrm>
            <a:off x="503999" y="5688000"/>
            <a:ext cx="6552000" cy="162000"/>
          </a:xfrm>
          <a:prstGeom prst="rect">
            <a:avLst/>
          </a:prstGeom>
          <a:noFill/>
        </p:spPr>
        <p:txBody>
          <a:bodyPr wrap="square" anchor="t" lIns="54000" rIns="54000"/>
          <a:lstStyle/>
          <a:p>
            <a:pPr algn="l"/>
            <a:r>
              <a:rPr sz="850" b="0">
                <a:solidFill>
                  <a:srgbClr val="53565A"/>
                </a:solidFill>
                <a:latin typeface="Helvetica"/>
              </a:rPr>
              <a:t>Valable pour : soldes et mouvements comptables de 2020 au 31/08/2026. Épargne sans échéancier individuel ni intérêts comptabilisés.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CMP : Centre Médical du Policier (rapport de gestion 2023)</a:t>
            </a:r>
          </a:p>
        </p:txBody>
      </p:sp>
    </p:spTree>
    <p:extLst>
      <p:ext uri="{BB962C8B-B14F-4D97-AF65-F5344CB8AC3E}">
        <p14:creationId xmlns:p14="http://schemas.microsoft.com/office/powerpoint/2010/main" val="3446675170"/>
      </p:ext>
    </p:extLst>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Poste 998 : autres références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poste de l'épargne PEP porte aussi d'autres références à expliquer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PTI, RPEP, EP et TI apparaissent à côté des références PEP sur la période 2020 à 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1" name="TextBox 30"/>
          <p:cNvSpPr txBox="1"/>
          <p:nvPr/>
        </p:nvSpPr>
        <p:spPr>
          <a:xfrm>
            <a:off x="503999" y="1386000"/>
            <a:ext cx="6983999" cy="216000"/>
          </a:xfrm>
          <a:prstGeom prst="rect">
            <a:avLst/>
          </a:prstGeom>
          <a:noFill/>
        </p:spPr>
        <p:txBody>
          <a:bodyPr wrap="square" anchor="t" lIns="54000" rIns="54000"/>
          <a:lstStyle/>
          <a:p>
            <a:pPr algn="ctr"/>
            <a:r>
              <a:rPr sz="1200" b="0">
                <a:solidFill>
                  <a:srgbClr val="EFAC62"/>
                </a:solidFill>
                <a:latin typeface="Helvetica"/>
              </a:rPr>
              <a:t>Tableau 25 : Références du poste 998, 2020 à août 2026</a:t>
            </a:r>
          </a:p>
        </p:txBody>
      </p:sp>
      <p:graphicFrame>
        <p:nvGraphicFramePr>
          <p:cNvPr id="32" name="Table 31"/>
          <p:cNvGraphicFramePr>
            <a:graphicFrameLocks noGrp="1"/>
          </p:cNvGraphicFramePr>
          <p:nvPr/>
        </p:nvGraphicFramePr>
        <p:xfrm>
          <a:off x="503999" y="1655999"/>
          <a:ext cx="6984000" cy="2027250"/>
        </p:xfrm>
        <a:graphic>
          <a:graphicData uri="http://schemas.openxmlformats.org/drawingml/2006/table">
            <a:tbl>
              <a:tblPr firstRow="0" bandRow="0">
                <a:tableStyleId>{5940675A-B579-460E-94D1-54222C63F5DA}</a:tableStyleId>
              </a:tblPr>
              <a:tblGrid>
                <a:gridCol w="1440000"/>
                <a:gridCol w="1440000"/>
                <a:gridCol w="2664000"/>
                <a:gridCol w="1440000"/>
              </a:tblGrid>
              <a:tr h="225250">
                <a:tc>
                  <a:txBody>
                    <a:bodyPr/>
                    <a:lstStyle/>
                    <a:p>
                      <a:pPr marL="0" indent="0" lvl="0">
                        <a:buNone/>
                      </a:pPr>
                      <a:r>
                        <a:rPr sz="1100" b="1">
                          <a:solidFill>
                            <a:srgbClr val="FFFFFF"/>
                          </a:solidFill>
                          <a:latin typeface="Helvetica"/>
                        </a:rPr>
                        <a:t>Référence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Lignes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Montant total</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Mutualistes</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PEP</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460 252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6 270 087 894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18 495</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sans référence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55 703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702 069 750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16 603</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PTI</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1 206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108 489 526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51</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RPEP</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2 368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30 896 500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2 367</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EP</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1 722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30 284 000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1 715</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TI</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2 246 770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24</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R-PEP</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90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1 290 000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88</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PTQ</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1 255 064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a:t>
                      </a:r>
                    </a:p>
                  </a:txBody>
                  <a:tcPr marL="43200" marR="43200" marT="14400" marB="14400" anchor="ctr">
                    <a:solidFill>
                      <a:srgbClr val="F2F2F2"/>
                    </a:solidFill>
                  </a:tcPr>
                </a:tc>
              </a:tr>
            </a:tbl>
          </a:graphicData>
        </a:graphic>
      </p:graphicFrame>
      <p:sp>
        <p:nvSpPr>
          <p:cNvPr id="33" name="TextBox 32"/>
          <p:cNvSpPr txBox="1"/>
          <p:nvPr/>
        </p:nvSpPr>
        <p:spPr>
          <a:xfrm>
            <a:off x="503999" y="3701255"/>
            <a:ext cx="6983999" cy="162000"/>
          </a:xfrm>
          <a:prstGeom prst="rect">
            <a:avLst/>
          </a:prstGeom>
          <a:noFill/>
        </p:spPr>
        <p:txBody>
          <a:bodyPr wrap="square" anchor="t" lIns="54000" rIns="54000"/>
          <a:lstStyle/>
          <a:p>
            <a:pPr algn="l"/>
            <a:r>
              <a:rPr sz="850" b="0">
                <a:solidFill>
                  <a:srgbClr val="53565A"/>
                </a:solidFill>
                <a:latin typeface="Helvetica"/>
              </a:rPr>
              <a:t>Valable pour : soldes et mouvements comptables de 2020 au 31/08/2026. Épargne sans échéancier individuel ni intérêts comptabilisés.</a:t>
            </a:r>
          </a:p>
        </p:txBody>
      </p:sp>
      <p:sp>
        <p:nvSpPr>
          <p:cNvPr id="34" name="TextBox 33"/>
          <p:cNvSpPr txBox="1"/>
          <p:nvPr/>
        </p:nvSpPr>
        <p:spPr>
          <a:xfrm>
            <a:off x="7703999" y="1386000"/>
            <a:ext cx="4032000" cy="4482000"/>
          </a:xfrm>
          <a:prstGeom prst="rect">
            <a:avLst/>
          </a:prstGeom>
          <a:noFill/>
        </p:spPr>
        <p:txBody>
          <a:bodyPr wrap="square" lIns="54000" rIns="54000"/>
          <a:lstStyle/>
          <a:p>
            <a:pPr algn="just">
              <a:spcAft>
                <a:spcPts val="600"/>
              </a:spcAft>
            </a:pPr>
            <a:r>
              <a:rPr sz="1400" b="1">
                <a:solidFill>
                  <a:srgbClr val="060606"/>
                </a:solidFill>
                <a:latin typeface="Helvetica"/>
              </a:rPr>
              <a:t>Le poste 998 ne porte pas que de l'épargne PEP.</a:t>
            </a:r>
            <a:r>
              <a:rPr sz="1400" b="0">
                <a:solidFill>
                  <a:srgbClr val="060606"/>
                </a:solidFill>
                <a:latin typeface="Helvetica"/>
              </a:rPr>
              <a:t> D'autres références, dont PTI, apparaissent avec des montants importants et peu de mutualistes.</a:t>
            </a:r>
          </a:p>
          <a:p>
            <a:pPr algn="just">
              <a:spcAft>
                <a:spcPts val="600"/>
              </a:spcAft>
            </a:pPr>
            <a:r>
              <a:rPr sz="1400" b="1">
                <a:solidFill>
                  <a:srgbClr val="060606"/>
                </a:solidFill>
                <a:latin typeface="Helvetica"/>
              </a:rPr>
              <a:t>Leur nature n'est documentée nulle part.</a:t>
            </a:r>
            <a:r>
              <a:rPr sz="1400" b="0">
                <a:solidFill>
                  <a:srgbClr val="060606"/>
                </a:solidFill>
                <a:latin typeface="Helvetica"/>
              </a:rPr>
              <a:t> Il peut s'agir de remboursements de prêts PEP (comptes 27110000 et 27120000), ce que le FPPN doit confirmer.</a:t>
            </a:r>
          </a:p>
          <a:p>
            <a:pPr algn="just">
              <a:spcAft>
                <a:spcPts val="600"/>
              </a:spcAft>
            </a:pPr>
            <a:r>
              <a:rPr sz="1400" b="0">
                <a:solidFill>
                  <a:srgbClr val="060606"/>
                </a:solidFill>
                <a:latin typeface="Helvetica"/>
              </a:rPr>
              <a:t>Tant que ces références ne sont pas expliquées, la dette d'épargne PEP ne peut pas être reconstituée à partir des précomptes.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998 : poste PEP</a:t>
            </a:r>
          </a:p>
        </p:txBody>
      </p:sp>
    </p:spTree>
    <p:extLst>
      <p:ext uri="{BB962C8B-B14F-4D97-AF65-F5344CB8AC3E}">
        <p14:creationId xmlns:p14="http://schemas.microsoft.com/office/powerpoint/2010/main" val="3053948123"/>
      </p:ext>
    </p:extLst>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553518"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537686"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33514"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62423"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dette d'épargne augmente plus vite que les actifs réservés, et l'écart finance des emplois peu liquides.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15 743 516 391 FCFA d'épargne sont dus au 31/08/2026, pour 2 562 885 661 FCFA d'actifs réservés.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ne peut pas rembourser rapidement une vague de retraits, et il ne respecte pas le ratio de solvabilité des risques longs.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le règlement des produits, les comptes individuels et les conditions de retrait, puis cantonner l'épargne.</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épargne</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L'épargne due aux mutualistes est très peu couverte par des actifs disponibles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de 16,28 % au 31/08/2026. Un retrait de 21,34 % épuiserait toute la trésorerie</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248775730"/>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EFC et PEP : trois taux dans trois documents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taux servi sur l'EFC vaut 3,5 %, 5,5 % ou 14 % selon le document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Aucun document ne fixe un taux unique, signé et daté : l'engagement d'épargne ne peut pas être évalué sans ce taux</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CAHIER DE CHARGEEFC &amp; PEP 2021.pdf. MANUEL DE PRODUIT D'EPARGNE FPPN VF VF.docx. CARTOGRAPHIE DES RISQUES COUVERTS ET DES PRESTATIONS OFFERTES.docx (reçus le 22/10/2026). Entretien du chef comptable du 19/10/2026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26 : Taux servis sur l'épargne selon les documents du FPPN</a:t>
            </a:r>
          </a:p>
        </p:txBody>
      </p:sp>
      <p:graphicFrame>
        <p:nvGraphicFramePr>
          <p:cNvPr id="32" name="Table 31"/>
          <p:cNvGraphicFramePr>
            <a:graphicFrameLocks noGrp="1"/>
          </p:cNvGraphicFramePr>
          <p:nvPr/>
        </p:nvGraphicFramePr>
        <p:xfrm>
          <a:off x="503999" y="1655999"/>
          <a:ext cx="11232000" cy="1381984"/>
        </p:xfrm>
        <a:graphic>
          <a:graphicData uri="http://schemas.openxmlformats.org/drawingml/2006/table">
            <a:tbl>
              <a:tblPr firstRow="0" bandRow="0">
                <a:tableStyleId>{5940675A-B579-460E-94D1-54222C63F5DA}</a:tableStyleId>
              </a:tblPr>
              <a:tblGrid>
                <a:gridCol w="3744000"/>
                <a:gridCol w="1080000"/>
                <a:gridCol w="2592000"/>
                <a:gridCol w="3816000"/>
              </a:tblGrid>
              <a:tr h="187148">
                <a:tc>
                  <a:txBody>
                    <a:bodyPr/>
                    <a:lstStyle/>
                    <a:p>
                      <a:pPr marL="0" indent="0" lvl="0">
                        <a:buNone/>
                      </a:pPr>
                      <a:r>
                        <a:rPr sz="850" b="1">
                          <a:solidFill>
                            <a:srgbClr val="FFFFFF"/>
                          </a:solidFill>
                          <a:latin typeface="Helvetica"/>
                        </a:rPr>
                        <a:t>Document (fichier exact)</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Taux écrit</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Portée</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CAHIER DE CHARGEEFC &amp; PEP 2021.pdf, « B- Taux d'intérêt applicable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EFC</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14 % d'intérêt simple, sans période indiquée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Cotisations au-delà de 2024 et souscriptions postérieures au cahier des charges. Bonus de 300 000 FCFA si à jour</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MANUEL DE PRODUIT D'EPARGNE FPPN VF VF.docx</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EFC</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5,5 % l'an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Rémunération de l'EFC. Certificat d'adoption non signé</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MANUEL DE PRODUIT D'EPARGNE FPPN VF VF.docx</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PEP</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3,5 % tous les ans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Rémunération du PEP</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CARTOGRAPHIE DES RISQUES COUVERTS ET DES PRESTATIONS OFFERTES.docx</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EFC</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5,5 % à partir de 2024</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Taux d'intérêt de l'EFC</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Entretien du chef comptable, 19/10/2026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Épargne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3,5 %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Taux servi déclaré, sans document</a:t>
                      </a:r>
                    </a:p>
                  </a:txBody>
                  <a:tcPr marL="43200" marR="43200" marT="14400" marB="14400" anchor="ctr">
                    <a:solidFill>
                      <a:srgbClr val="FFFFFF"/>
                    </a:solidFill>
                  </a:tcPr>
                </a:tc>
              </a:tr>
            </a:tbl>
          </a:graphicData>
        </a:graphic>
      </p:graphicFrame>
      <p:sp>
        <p:nvSpPr>
          <p:cNvPr id="33" name="TextBox 32"/>
          <p:cNvSpPr txBox="1"/>
          <p:nvPr/>
        </p:nvSpPr>
        <p:spPr>
          <a:xfrm>
            <a:off x="503999" y="3055985"/>
            <a:ext cx="11232000" cy="162000"/>
          </a:xfrm>
          <a:prstGeom prst="rect">
            <a:avLst/>
          </a:prstGeom>
          <a:noFill/>
        </p:spPr>
        <p:txBody>
          <a:bodyPr wrap="square" anchor="t" lIns="54000" rIns="54000"/>
          <a:lstStyle/>
          <a:p>
            <a:pPr algn="l"/>
            <a:r>
              <a:rPr sz="850" b="0">
                <a:solidFill>
                  <a:srgbClr val="53565A"/>
                </a:solidFill>
                <a:latin typeface="Helvetica"/>
              </a:rPr>
              <a:t>Valable pour : documents du FPPN reçus le 22/10/2026 et entretien du 19/10/2026. Le taux réellement appliqué aux mutualistes n'est pas connu.</a:t>
            </a:r>
          </a:p>
        </p:txBody>
      </p:sp>
      <p:sp>
        <p:nvSpPr>
          <p:cNvPr id="34" name="TextBox 33"/>
          <p:cNvSpPr txBox="1"/>
          <p:nvPr/>
        </p:nvSpPr>
        <p:spPr>
          <a:xfrm>
            <a:off x="503999" y="3343985"/>
            <a:ext cx="11232000" cy="2524014"/>
          </a:xfrm>
          <a:prstGeom prst="rect">
            <a:avLst/>
          </a:prstGeom>
          <a:noFill/>
        </p:spPr>
        <p:txBody>
          <a:bodyPr wrap="square" lIns="54000" rIns="54000"/>
          <a:lstStyle/>
          <a:p>
            <a:pPr algn="just">
              <a:spcAft>
                <a:spcPts val="600"/>
              </a:spcAft>
            </a:pPr>
            <a:r>
              <a:rPr sz="1300" b="1">
                <a:solidFill>
                  <a:srgbClr val="060606"/>
                </a:solidFill>
                <a:latin typeface="Helvetica"/>
              </a:rPr>
              <a:t>Pour l'EFC, trois taux coexistent : 3,5 %, 5,5 % l'an et 14 % d'intérêt simple.</a:t>
            </a:r>
            <a:r>
              <a:rPr sz="1300" b="0">
                <a:solidFill>
                  <a:srgbClr val="060606"/>
                </a:solidFill>
                <a:latin typeface="Helvetica"/>
              </a:rPr>
              <a:t> Le cahier des charges n'indique pas si les 14 % s'appliquent une fois ou chaque année.</a:t>
            </a:r>
          </a:p>
          <a:p>
            <a:pPr algn="just">
              <a:spcAft>
                <a:spcPts val="600"/>
              </a:spcAft>
            </a:pPr>
            <a:r>
              <a:rPr sz="1300" b="1">
                <a:solidFill>
                  <a:srgbClr val="060606"/>
                </a:solidFill>
                <a:latin typeface="Helvetica"/>
              </a:rPr>
              <a:t>Aucun des trois documents n'est accompagné d'une décision d'adoption signée.</a:t>
            </a:r>
            <a:r>
              <a:rPr sz="1300" b="0">
                <a:solidFill>
                  <a:srgbClr val="060606"/>
                </a:solidFill>
                <a:latin typeface="Helvetica"/>
              </a:rPr>
              <a:t> Le manuel porte un certificat d'adoption non signé.</a:t>
            </a:r>
          </a:p>
          <a:p>
            <a:pPr algn="just">
              <a:spcAft>
                <a:spcPts val="600"/>
              </a:spcAft>
            </a:pPr>
            <a:r>
              <a:rPr sz="1300" b="0">
                <a:solidFill>
                  <a:srgbClr val="060606"/>
                </a:solidFill>
                <a:latin typeface="Helvetica"/>
              </a:rPr>
              <a:t>Le taux applicable doit être arrêté par une décision des organes du FPPN, puis appliqué de manière identique aux comptes, aux relevés individuels et au calcul de l'engagement (PBC, item 99).</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PBC : liste des documents demandés au client</a:t>
            </a:r>
          </a:p>
        </p:txBody>
      </p:sp>
    </p:spTree>
    <p:extLst>
      <p:ext uri="{BB962C8B-B14F-4D97-AF65-F5344CB8AC3E}">
        <p14:creationId xmlns:p14="http://schemas.microsoft.com/office/powerpoint/2010/main" val="472026235"/>
      </p:ext>
    </p:extLst>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Intérêts servis : aucune écriture dans les comptes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comptes d'épargne ne reçoivent que des cotisations et ne versent que des remboursements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2024, aucune écriture d'intérêts n'est passée sur les comptes PEP et EFC, et aucune balance de 2020 à 2026 ne porte de charge d'intérêts servis aux épargnants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GRAND LIVRE FPPN 2024.xlsx (comptes 41195100 et 41195200). Balances des comptes du FPPN (Sage 100), exercices 2020 à 2025 et du 01/01 au 31/08/2026 (provisoire). Traitements Adenka</a:t>
            </a:r>
          </a:p>
        </p:txBody>
      </p:sp>
      <p:sp>
        <p:nvSpPr>
          <p:cNvPr id="31" name="TextBox 30"/>
          <p:cNvSpPr txBox="1"/>
          <p:nvPr/>
        </p:nvSpPr>
        <p:spPr>
          <a:xfrm>
            <a:off x="503999" y="1386000"/>
            <a:ext cx="10656000" cy="216000"/>
          </a:xfrm>
          <a:prstGeom prst="rect">
            <a:avLst/>
          </a:prstGeom>
          <a:noFill/>
        </p:spPr>
        <p:txBody>
          <a:bodyPr wrap="square" anchor="t" lIns="54000" rIns="54000"/>
          <a:lstStyle/>
          <a:p>
            <a:pPr algn="ctr"/>
            <a:r>
              <a:rPr sz="1200" b="0">
                <a:solidFill>
                  <a:srgbClr val="EFAC62"/>
                </a:solidFill>
                <a:latin typeface="Helvetica"/>
              </a:rPr>
              <a:t>Tableau 27 : Écritures 2024 des comptes d'épargne par nature</a:t>
            </a:r>
          </a:p>
        </p:txBody>
      </p:sp>
      <p:graphicFrame>
        <p:nvGraphicFramePr>
          <p:cNvPr id="32" name="Table 31"/>
          <p:cNvGraphicFramePr>
            <a:graphicFrameLocks noGrp="1"/>
          </p:cNvGraphicFramePr>
          <p:nvPr/>
        </p:nvGraphicFramePr>
        <p:xfrm>
          <a:off x="503999" y="1655999"/>
          <a:ext cx="10656000" cy="1558144"/>
        </p:xfrm>
        <a:graphic>
          <a:graphicData uri="http://schemas.openxmlformats.org/drawingml/2006/table">
            <a:tbl>
              <a:tblPr firstRow="0" bandRow="0">
                <a:tableStyleId>{5940675A-B579-460E-94D1-54222C63F5DA}</a:tableStyleId>
              </a:tblPr>
              <a:tblGrid>
                <a:gridCol w="1584000"/>
                <a:gridCol w="2160000"/>
                <a:gridCol w="1296000"/>
                <a:gridCol w="2160000"/>
                <a:gridCol w="1296000"/>
                <a:gridCol w="2160000"/>
              </a:tblGrid>
              <a:tr h="194768">
                <a:tc>
                  <a:txBody>
                    <a:bodyPr/>
                    <a:lstStyle/>
                    <a:p>
                      <a:pPr marL="0" indent="0" lvl="0">
                        <a:buNone/>
                      </a:pPr>
                      <a:r>
                        <a:rPr sz="900" b="1">
                          <a:solidFill>
                            <a:srgbClr val="FFFFFF"/>
                          </a:solidFill>
                          <a:latin typeface="Helvetica"/>
                        </a:rPr>
                        <a:t>Compte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Nature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Écritures au débit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Débit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Écritures au crédit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Crédit</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PEP (41195100)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Précomptes et cotisations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1 453 812 250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PEP (41195100)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Remboursements PEP</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788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1 163 234 713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PEP (41195100)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Rachats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32 124 275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PEP (41195100)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Autres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-4 678 500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7 086 400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EFC (41195200)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Précomptes et cotisations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130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1 837 450 440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EFC (41195200)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Règlements EFC</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355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442 318 346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EFC (41195200)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Remboursements PEP</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1 862 400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 FCFA</a:t>
                      </a:r>
                    </a:p>
                  </a:txBody>
                  <a:tcPr marL="43200" marR="43200" marT="14400" marB="14400" anchor="ctr">
                    <a:solidFill>
                      <a:srgbClr val="FFFFFF"/>
                    </a:solidFill>
                  </a:tcPr>
                </a:tc>
              </a:tr>
            </a:tbl>
          </a:graphicData>
        </a:graphic>
      </p:graphicFrame>
      <p:sp>
        <p:nvSpPr>
          <p:cNvPr id="33" name="TextBox 32"/>
          <p:cNvSpPr txBox="1"/>
          <p:nvPr/>
        </p:nvSpPr>
        <p:spPr>
          <a:xfrm>
            <a:off x="503999" y="3232149"/>
            <a:ext cx="11232000" cy="162000"/>
          </a:xfrm>
          <a:prstGeom prst="rect">
            <a:avLst/>
          </a:prstGeom>
          <a:noFill/>
        </p:spPr>
        <p:txBody>
          <a:bodyPr wrap="square" anchor="t" lIns="54000" rIns="54000"/>
          <a:lstStyle/>
          <a:p>
            <a:pPr algn="l"/>
            <a:r>
              <a:rPr sz="850" b="0">
                <a:solidFill>
                  <a:srgbClr val="53565A"/>
                </a:solidFill>
                <a:latin typeface="Helvetica"/>
              </a:rPr>
              <a:t>Valable pour : grand livre 2024 pour le détail des écritures. Balances de 2020 au 31/08/2026 pour l'absence de charge d'intérêts.</a:t>
            </a:r>
          </a:p>
        </p:txBody>
      </p:sp>
      <p:sp>
        <p:nvSpPr>
          <p:cNvPr id="34" name="TextBox 33"/>
          <p:cNvSpPr txBox="1"/>
          <p:nvPr/>
        </p:nvSpPr>
        <p:spPr>
          <a:xfrm>
            <a:off x="503999" y="3520149"/>
            <a:ext cx="11232000" cy="2347850"/>
          </a:xfrm>
          <a:prstGeom prst="rect">
            <a:avLst/>
          </a:prstGeom>
          <a:noFill/>
        </p:spPr>
        <p:txBody>
          <a:bodyPr wrap="square" lIns="54000" rIns="54000"/>
          <a:lstStyle/>
          <a:p>
            <a:pPr algn="just">
              <a:spcAft>
                <a:spcPts val="600"/>
              </a:spcAft>
            </a:pPr>
            <a:r>
              <a:rPr sz="1300" b="1">
                <a:solidFill>
                  <a:srgbClr val="060606"/>
                </a:solidFill>
                <a:latin typeface="Helvetica"/>
              </a:rPr>
              <a:t>Aucune écriture d'intérêts ne figure sur les comptes d'épargne en 2024, et aucun compte de charge d'intérêts servis n'existe dans les balances de 2020 au 31/08/2026.</a:t>
            </a:r>
            <a:r>
              <a:rPr sz="1300" b="0">
                <a:solidFill>
                  <a:srgbClr val="060606"/>
                </a:solidFill>
                <a:latin typeface="Helvetica"/>
              </a:rPr>
              <a:t> En 2024, le solde comptable de l'épargne n'évolue donc que par les cotisations, les remboursements et les rachats.</a:t>
            </a:r>
          </a:p>
          <a:p>
            <a:pPr algn="just">
              <a:spcAft>
                <a:spcPts val="600"/>
              </a:spcAft>
            </a:pPr>
            <a:r>
              <a:rPr sz="1300" b="1">
                <a:solidFill>
                  <a:srgbClr val="060606"/>
                </a:solidFill>
                <a:latin typeface="Helvetica"/>
              </a:rPr>
              <a:t>En 2024, 355 règlements EFC ont été payés pour 442 318 346 FCFA.</a:t>
            </a:r>
            <a:r>
              <a:rPr sz="1300" b="0">
                <a:solidFill>
                  <a:srgbClr val="060606"/>
                </a:solidFill>
                <a:latin typeface="Helvetica"/>
              </a:rPr>
              <a:t> Le grand livre ne dit pas si ces règlements comprennent des intérêts calculés hors comptabilité.</a:t>
            </a:r>
          </a:p>
          <a:p>
            <a:pPr algn="just">
              <a:spcAft>
                <a:spcPts val="600"/>
              </a:spcAft>
            </a:pPr>
            <a:r>
              <a:rPr sz="1300" b="0">
                <a:solidFill>
                  <a:srgbClr val="060606"/>
                </a:solidFill>
                <a:latin typeface="Helvetica"/>
              </a:rPr>
              <a:t>Si un taux est dû aux mutualistes, la dette d'épargne inscrite au bilan est inférieure à l'engagement réel du montant des intérêts acquis et non comptabilisés. Ce montant ne peut être chiffré qu'avec le taux applicable et l'historique individuel des versements.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a:t>
            </a:r>
          </a:p>
        </p:txBody>
      </p:sp>
    </p:spTree>
    <p:extLst>
      <p:ext uri="{BB962C8B-B14F-4D97-AF65-F5344CB8AC3E}">
        <p14:creationId xmlns:p14="http://schemas.microsoft.com/office/powerpoint/2010/main" val="3146280561"/>
      </p:ext>
    </p:extLst>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Sensibilité : intérêts annuels dus sur l'EFC</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Au taux de 5,5 %, les intérêts dus chaque année dépassent les produits financiers du FPPN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EFC au 31/12/2025 : 8 848 845 044 FCFA. Intérêts d'une année à 5,5 % : 486 686 477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CAHIER DE CHARGEEFC &amp; PEP 2021.pdf. MANUEL DE PRODUIT D'EPARGNE FPPN VF VF.docx. CARTOGRAPHIE DES RISQUES COUVERTS ET DES PRESTATIONS OFFERTES.docx (reçus le 22/10/2026). Entretien du chef comptable du 19/10/2026. Balances des comptes du FPPN (Sage 100), exercices 2020 à 2025 et du 01/01 au 31/08/2026 (provisoire). Traitements Adenka</a:t>
            </a:r>
          </a:p>
        </p:txBody>
      </p:sp>
      <p:sp>
        <p:nvSpPr>
          <p:cNvPr id="31" name="TextBox 30"/>
          <p:cNvSpPr txBox="1"/>
          <p:nvPr/>
        </p:nvSpPr>
        <p:spPr>
          <a:xfrm>
            <a:off x="503999" y="1386000"/>
            <a:ext cx="11160000" cy="216000"/>
          </a:xfrm>
          <a:prstGeom prst="rect">
            <a:avLst/>
          </a:prstGeom>
          <a:noFill/>
        </p:spPr>
        <p:txBody>
          <a:bodyPr wrap="square" anchor="t" lIns="54000" rIns="54000"/>
          <a:lstStyle/>
          <a:p>
            <a:pPr algn="ctr"/>
            <a:r>
              <a:rPr sz="1200" b="0">
                <a:solidFill>
                  <a:srgbClr val="EFAC62"/>
                </a:solidFill>
                <a:latin typeface="Helvetica"/>
              </a:rPr>
              <a:t>Tableau 28 : Intérêts d'une année sur l'encours EFC selon le taux servi</a:t>
            </a:r>
          </a:p>
        </p:txBody>
      </p:sp>
      <p:graphicFrame>
        <p:nvGraphicFramePr>
          <p:cNvPr id="32" name="Table 31"/>
          <p:cNvGraphicFramePr>
            <a:graphicFrameLocks noGrp="1"/>
          </p:cNvGraphicFramePr>
          <p:nvPr/>
        </p:nvGraphicFramePr>
        <p:xfrm>
          <a:off x="503999" y="1655999"/>
          <a:ext cx="11159999" cy="1558144"/>
        </p:xfrm>
        <a:graphic>
          <a:graphicData uri="http://schemas.openxmlformats.org/drawingml/2006/table">
            <a:tbl>
              <a:tblPr firstRow="0" bandRow="0">
                <a:tableStyleId>{5940675A-B579-460E-94D1-54222C63F5DA}</a:tableStyleId>
              </a:tblPr>
              <a:tblGrid>
                <a:gridCol w="1080000"/>
                <a:gridCol w="2160000"/>
                <a:gridCol w="1872000"/>
                <a:gridCol w="1872000"/>
                <a:gridCol w="2160000"/>
                <a:gridCol w="2015999"/>
              </a:tblGrid>
              <a:tr h="194768">
                <a:tc>
                  <a:txBody>
                    <a:bodyPr/>
                    <a:lstStyle/>
                    <a:p>
                      <a:pPr marL="0" indent="0" lvl="0">
                        <a:buNone/>
                      </a:pPr>
                      <a:r>
                        <a:rPr sz="9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Encours EFC (41195200)</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Intérêts à 3,5 %</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Intérêts à 5,5 %</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Intérêts à 14 % (borne haute)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Produits financiers</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2020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3 461 975 893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121 169 156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190 408 674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484 676 625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3 785 064 982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132 477 274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208 178 574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529 909 097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32 409 354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4 453 948 287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155 888 190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244 967 156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623 552 760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7 258 416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5 561 470 959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194 651 484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305 880 903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778 605 934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7 124 778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6 954 740 653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243 415 923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382 510 736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973 663 691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9 176 280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8 848 845 044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309 709 577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486 686 477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1 238 838 306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117 912 488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31/08/2026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10 514 270 966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367 999 484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578 284 903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1 471 997 935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t>
                      </a:r>
                    </a:p>
                  </a:txBody>
                  <a:tcPr marL="43200" marR="43200" marT="14400" marB="14400" anchor="ctr">
                    <a:solidFill>
                      <a:srgbClr val="FFFFFF"/>
                    </a:solidFill>
                  </a:tcPr>
                </a:tc>
              </a:tr>
            </a:tbl>
          </a:graphicData>
        </a:graphic>
      </p:graphicFrame>
      <p:sp>
        <p:nvSpPr>
          <p:cNvPr id="33" name="TextBox 32"/>
          <p:cNvSpPr txBox="1"/>
          <p:nvPr/>
        </p:nvSpPr>
        <p:spPr>
          <a:xfrm>
            <a:off x="503999" y="3232149"/>
            <a:ext cx="11232000" cy="162000"/>
          </a:xfrm>
          <a:prstGeom prst="rect">
            <a:avLst/>
          </a:prstGeom>
          <a:noFill/>
        </p:spPr>
        <p:txBody>
          <a:bodyPr wrap="square" anchor="t" lIns="54000" rIns="54000"/>
          <a:lstStyle/>
          <a:p>
            <a:pPr algn="l"/>
            <a:r>
              <a:rPr sz="850" b="0">
                <a:solidFill>
                  <a:srgbClr val="53565A"/>
                </a:solidFill>
                <a:latin typeface="Helvetica"/>
              </a:rPr>
              <a:t>Valable pour : encours EFC comptable au 31/12 de 2020 à 2025 et au 31/08/2026, une année d'intérêts, sans projection ni capitalisation.</a:t>
            </a:r>
          </a:p>
        </p:txBody>
      </p:sp>
      <p:sp>
        <p:nvSpPr>
          <p:cNvPr id="34" name="TextBox 33"/>
          <p:cNvSpPr txBox="1"/>
          <p:nvPr/>
        </p:nvSpPr>
        <p:spPr>
          <a:xfrm>
            <a:off x="503999" y="3520149"/>
            <a:ext cx="11232000" cy="2347850"/>
          </a:xfrm>
          <a:prstGeom prst="rect">
            <a:avLst/>
          </a:prstGeom>
          <a:noFill/>
        </p:spPr>
        <p:txBody>
          <a:bodyPr wrap="square" lIns="54000" rIns="54000"/>
          <a:lstStyle/>
          <a:p>
            <a:pPr algn="just">
              <a:spcAft>
                <a:spcPts val="600"/>
              </a:spcAft>
            </a:pPr>
            <a:r>
              <a:rPr sz="1300" b="1">
                <a:solidFill>
                  <a:srgbClr val="060606"/>
                </a:solidFill>
                <a:latin typeface="Helvetica"/>
              </a:rPr>
              <a:t>Même au taux le plus bas (3,5 %), les intérêts d'une année sur l'EFC (309 709 577 FCFA en 2025) dépassent, chaque année de 2021 à 2025, les produits financiers de l'année.</a:t>
            </a:r>
          </a:p>
          <a:p>
            <a:pPr algn="just">
              <a:spcAft>
                <a:spcPts val="600"/>
              </a:spcAft>
            </a:pPr>
            <a:r>
              <a:rPr sz="1300" b="1">
                <a:solidFill>
                  <a:srgbClr val="060606"/>
                </a:solidFill>
                <a:latin typeface="Helvetica"/>
              </a:rPr>
              <a:t>L'épargne n'est couverte qu'en faible part par des actifs qui lui sont réservés (partie 6, adossement de l'épargne).</a:t>
            </a:r>
            <a:r>
              <a:rPr sz="1300" b="0">
                <a:solidFill>
                  <a:srgbClr val="060606"/>
                </a:solidFill>
                <a:latin typeface="Helvetica"/>
              </a:rPr>
              <a:t> Les produits de ces actifs ne suffisent pas à servir un taux, quel qu'il soit, sans recourir aux cotisations des garanties.</a:t>
            </a:r>
          </a:p>
          <a:p>
            <a:pPr algn="just">
              <a:spcAft>
                <a:spcPts val="600"/>
              </a:spcAft>
            </a:pPr>
            <a:r>
              <a:rPr sz="1300" b="0">
                <a:solidFill>
                  <a:srgbClr val="060606"/>
                </a:solidFill>
                <a:latin typeface="Helvetica"/>
              </a:rPr>
              <a:t>Le taux promis aux mutualistes doit être cohérent avec le rendement des actifs qui couvrent l'épargne. À défaut, chaque point de taux servi crée une perte récurrente que les excédents des garanties maladie et décès devront combler.</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a:t>
            </a:r>
          </a:p>
        </p:txBody>
      </p:sp>
    </p:spTree>
    <p:extLst>
      <p:ext uri="{BB962C8B-B14F-4D97-AF65-F5344CB8AC3E}">
        <p14:creationId xmlns:p14="http://schemas.microsoft.com/office/powerpoint/2010/main" val="2495472182"/>
      </p:ext>
    </p:extLst>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Rapport de gestion 2025 : l'épargne présentée est la collecte de l'année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rapport annonce 4,39 milliards de FCFA d'épargne, alors que la dette d'épargne atteint 13,81 milliards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montants du rapport de gestion 2025 sont les crédits de l'année des comptes 41195100 et 41195200, présentés comme « le montant de ces épargnes au 31/12/2025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Rapport de Gestion  2025 Final (2).pdf, pages 97 et 98, tableau 2 (III). Balances des comptes du FPPN (Sage 100), exercices 2020 à 2025 et du 01/01 au 31/08/2026 (provisoire). Traitements Adenka</a:t>
            </a:r>
          </a:p>
        </p:txBody>
      </p:sp>
      <p:sp>
        <p:nvSpPr>
          <p:cNvPr id="31" name="TextBox 30"/>
          <p:cNvSpPr txBox="1"/>
          <p:nvPr/>
        </p:nvSpPr>
        <p:spPr>
          <a:xfrm>
            <a:off x="503999" y="1386000"/>
            <a:ext cx="11160000" cy="216000"/>
          </a:xfrm>
          <a:prstGeom prst="rect">
            <a:avLst/>
          </a:prstGeom>
          <a:noFill/>
        </p:spPr>
        <p:txBody>
          <a:bodyPr wrap="square" anchor="t" lIns="54000" rIns="54000"/>
          <a:lstStyle/>
          <a:p>
            <a:pPr algn="ctr"/>
            <a:r>
              <a:rPr sz="1200" b="0">
                <a:solidFill>
                  <a:srgbClr val="EFAC62"/>
                </a:solidFill>
                <a:latin typeface="Helvetica"/>
              </a:rPr>
              <a:t>Tableau 29 : Épargne au 31/12/2025 : rapport de gestion et balance</a:t>
            </a:r>
          </a:p>
        </p:txBody>
      </p:sp>
      <p:graphicFrame>
        <p:nvGraphicFramePr>
          <p:cNvPr id="32" name="Table 31"/>
          <p:cNvGraphicFramePr>
            <a:graphicFrameLocks noGrp="1"/>
          </p:cNvGraphicFramePr>
          <p:nvPr/>
        </p:nvGraphicFramePr>
        <p:xfrm>
          <a:off x="503999" y="1655999"/>
          <a:ext cx="11159999" cy="779072"/>
        </p:xfrm>
        <a:graphic>
          <a:graphicData uri="http://schemas.openxmlformats.org/drawingml/2006/table">
            <a:tbl>
              <a:tblPr firstRow="0" bandRow="0">
                <a:tableStyleId>{5940675A-B579-460E-94D1-54222C63F5DA}</a:tableStyleId>
              </a:tblPr>
              <a:tblGrid>
                <a:gridCol w="1655999"/>
                <a:gridCol w="2304000"/>
                <a:gridCol w="2304000"/>
                <a:gridCol w="2448000"/>
                <a:gridCol w="2448000"/>
              </a:tblGrid>
              <a:tr h="194768">
                <a:tc>
                  <a:txBody>
                    <a:bodyPr/>
                    <a:lstStyle/>
                    <a:p>
                      <a:pPr marL="0" indent="0" lvl="0">
                        <a:buNone/>
                      </a:pPr>
                      <a:r>
                        <a:rPr sz="900" b="1">
                          <a:solidFill>
                            <a:srgbClr val="FFFFFF"/>
                          </a:solidFill>
                          <a:latin typeface="Helvetica"/>
                        </a:rPr>
                        <a:t>Compte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Rapport de gestion 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Crédits de l'année (balance)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Solde au 31/12/2025 (balance)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Solde au 31/12/2024 (balance)</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PEP (41195100)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2 038 935 495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2 038 935 495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4 965 221 920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3 830 323 779 FCFA</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EFC (41195200)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2 348 888 140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2 348 888 140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8 848 845 044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6 954 740 653 FCFA</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Total</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4 387 823 635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4 387 823 635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13 814 066 964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10 785 064 432 FCFA</a:t>
                      </a:r>
                    </a:p>
                  </a:txBody>
                  <a:tcPr marL="43200" marR="43200" marT="14400" marB="14400" anchor="ctr">
                    <a:solidFill>
                      <a:srgbClr val="FFFFFF"/>
                    </a:solidFill>
                  </a:tcPr>
                </a:tc>
              </a:tr>
            </a:tbl>
          </a:graphicData>
        </a:graphic>
      </p:graphicFrame>
      <p:sp>
        <p:nvSpPr>
          <p:cNvPr id="33" name="TextBox 32"/>
          <p:cNvSpPr txBox="1"/>
          <p:nvPr/>
        </p:nvSpPr>
        <p:spPr>
          <a:xfrm>
            <a:off x="503999" y="2453074"/>
            <a:ext cx="11232000" cy="162000"/>
          </a:xfrm>
          <a:prstGeom prst="rect">
            <a:avLst/>
          </a:prstGeom>
          <a:noFill/>
        </p:spPr>
        <p:txBody>
          <a:bodyPr wrap="square" anchor="t" lIns="54000" rIns="54000"/>
          <a:lstStyle/>
          <a:p>
            <a:pPr algn="l"/>
            <a:r>
              <a:rPr sz="850" b="0">
                <a:solidFill>
                  <a:srgbClr val="53565A"/>
                </a:solidFill>
                <a:latin typeface="Helvetica"/>
              </a:rPr>
              <a:t>Valable pour : exercice 2025. Les rapports de gestion des autres années n'ont pas été contrôlés sur ce point.</a:t>
            </a:r>
          </a:p>
        </p:txBody>
      </p:sp>
      <p:sp>
        <p:nvSpPr>
          <p:cNvPr id="34" name="TextBox 33"/>
          <p:cNvSpPr txBox="1"/>
          <p:nvPr/>
        </p:nvSpPr>
        <p:spPr>
          <a:xfrm>
            <a:off x="503999" y="2741074"/>
            <a:ext cx="11232000" cy="3126925"/>
          </a:xfrm>
          <a:prstGeom prst="rect">
            <a:avLst/>
          </a:prstGeom>
          <a:noFill/>
        </p:spPr>
        <p:txBody>
          <a:bodyPr wrap="square" lIns="54000" rIns="54000"/>
          <a:lstStyle/>
          <a:p>
            <a:pPr algn="just">
              <a:spcAft>
                <a:spcPts val="600"/>
              </a:spcAft>
            </a:pPr>
            <a:r>
              <a:rPr sz="1300" b="1">
                <a:solidFill>
                  <a:srgbClr val="060606"/>
                </a:solidFill>
                <a:latin typeface="Helvetica"/>
              </a:rPr>
              <a:t>Les montants du rapport de gestion sont exactement les crédits de l'année dans la balance</a:t>
            </a:r>
            <a:r>
              <a:rPr sz="1300" b="0">
                <a:solidFill>
                  <a:srgbClr val="060606"/>
                </a:solidFill>
                <a:latin typeface="Helvetica"/>
              </a:rPr>
              <a:t>, c'est-à-dire les cotisations d'épargne collectées en 2025, et non l'épargne due aux mutualistes.</a:t>
            </a:r>
          </a:p>
          <a:p>
            <a:pPr algn="just">
              <a:spcAft>
                <a:spcPts val="600"/>
              </a:spcAft>
            </a:pPr>
            <a:r>
              <a:rPr sz="1300" b="1">
                <a:solidFill>
                  <a:srgbClr val="060606"/>
                </a:solidFill>
                <a:latin typeface="Helvetica"/>
              </a:rPr>
              <a:t>La dette d'épargne réelle au 31/12/2025 est plus de trois fois supérieure au montant présenté.</a:t>
            </a:r>
            <a:r>
              <a:rPr sz="1300" b="0">
                <a:solidFill>
                  <a:srgbClr val="060606"/>
                </a:solidFill>
                <a:latin typeface="Helvetica"/>
              </a:rPr>
              <a:t> Le rapport compare aussi la collecte 2025 à la collecte 2024 en la qualifiant de « variation » de l'épargne.</a:t>
            </a:r>
          </a:p>
          <a:p>
            <a:pPr algn="just">
              <a:spcAft>
                <a:spcPts val="600"/>
              </a:spcAft>
            </a:pPr>
            <a:r>
              <a:rPr sz="1300" b="0">
                <a:solidFill>
                  <a:srgbClr val="060606"/>
                </a:solidFill>
                <a:latin typeface="Helvetica"/>
              </a:rPr>
              <a:t>L'information donnée à l'Assemblée générale minore l'engagement d'épargne du FPPN. Le rapport de gestion doit présenter le solde dû aux mutualistes, distinct de la collecte de l'année (PBC, item 112).</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PBC : liste des documents demandés au client</a:t>
            </a:r>
          </a:p>
        </p:txBody>
      </p:sp>
    </p:spTree>
    <p:extLst>
      <p:ext uri="{BB962C8B-B14F-4D97-AF65-F5344CB8AC3E}">
        <p14:creationId xmlns:p14="http://schemas.microsoft.com/office/powerpoint/2010/main" val="2215951743"/>
      </p:ext>
    </p:extLst>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7</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Prêts du Grenier</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Encours, production, retards, précomptes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447827982"/>
      </p:ext>
    </p:extLst>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Part en retard (montant)</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rapporte l'encours des prêts en retard de plus de 30 jours à l'encours total, sur les 37 balances âgées reçues.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Part en retard (nombre)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rapporte le nombre de prêts en retard au nombre de prêts au 31/08/2026, avec un intervalle de confiance de Wilson à 95 %.</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Précompte des échéances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rapporte les précomptes 9X4 du mois aux échéances des prêts en cours, pour les mois de 2026.</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retard est celui que calcule le logiciel de prêts. Il dépend de la date à laquelle la Solde verse les précomptes.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risque de crédit</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risque des prêts se mesure par la part de l'encours en retard</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en retard de plus de 30 jours / encours total, à chaque date de balance âgée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9X4 : poste Grenier</a:t>
            </a:r>
          </a:p>
        </p:txBody>
      </p:sp>
    </p:spTree>
    <p:extLst>
      <p:ext uri="{BB962C8B-B14F-4D97-AF65-F5344CB8AC3E}">
        <p14:creationId xmlns:p14="http://schemas.microsoft.com/office/powerpoint/2010/main" val="2625359216"/>
      </p:ext>
    </p:extLst>
  </p:cSld>
  <p:clrMapOvr>
    <a:masterClrMapping/>
  </p:clrMapOvr>
  <p:transition>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Encours du Grenier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L'encours de prêts a été multiplié par 132 depuis fin 2021</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31/08/2026 : 2 959 prêts, 1 044 302 107 FCFA, dont 915 477 260 FCFA financés par le FPPN</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23 : Encours des prêts et financement du FPPN</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3888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L'encours passe de 7 900 000 FCFA fin 2021 à 1 044 302 107 FCFA au 31/08/2026</a:t>
            </a:r>
            <a:r>
              <a:rPr sz="1400" b="0">
                <a:solidFill>
                  <a:srgbClr val="060606"/>
                </a:solidFill>
                <a:latin typeface="Helvetica"/>
              </a:rPr>
              <a:t>, soit 132,19 fois plus.</a:t>
            </a:r>
          </a:p>
          <a:p>
            <a:pPr algn="just">
              <a:spcAft>
                <a:spcPts val="600"/>
              </a:spcAft>
            </a:pPr>
            <a:r>
              <a:rPr sz="1400" b="1">
                <a:solidFill>
                  <a:srgbClr val="060606"/>
                </a:solidFill>
                <a:latin typeface="Helvetica"/>
              </a:rPr>
              <a:t>Le FPPN finance 87,66 % de l'encours.</a:t>
            </a:r>
            <a:r>
              <a:rPr sz="1400" b="0">
                <a:solidFill>
                  <a:srgbClr val="060606"/>
                </a:solidFill>
                <a:latin typeface="Helvetica"/>
              </a:rPr>
              <a:t> Le Grenier repose donc presque entièrement sur les ressources du FPPN.</a:t>
            </a:r>
          </a:p>
          <a:p>
            <a:pPr algn="just">
              <a:spcAft>
                <a:spcPts val="600"/>
              </a:spcAft>
            </a:pPr>
            <a:r>
              <a:rPr sz="1400" b="1">
                <a:solidFill>
                  <a:srgbClr val="060606"/>
                </a:solidFill>
                <a:latin typeface="Helvetica"/>
              </a:rPr>
              <a:t>Les prêts sont courts et chers.</a:t>
            </a:r>
            <a:r>
              <a:rPr sz="1400" b="0">
                <a:solidFill>
                  <a:srgbClr val="060606"/>
                </a:solidFill>
                <a:latin typeface="Helvetica"/>
              </a:rPr>
              <a:t> La durée médiane est de 10 mois et le taux médian de 18,00 %.</a:t>
            </a:r>
          </a:p>
          <a:p>
            <a:pPr algn="just">
              <a:spcAft>
                <a:spcPts val="600"/>
              </a:spcAft>
            </a:pPr>
            <a:r>
              <a:rPr sz="1400" b="0">
                <a:solidFill>
                  <a:srgbClr val="060606"/>
                </a:solidFill>
                <a:latin typeface="Helvetica"/>
              </a:rPr>
              <a:t>Si le Grenier relève des activités génératrices de revenus, le règlement d'exécution n° 004/2022 les autorise à condition qu'elles ne mettent pas en péril l'activité d'assurance et que leurs pertes ne soient pas couvertes par les cotisations ni par les réserves (art. 26) : le financement du Grenier doit être encadré par une décision formelle.</a:t>
            </a:r>
          </a:p>
        </p:txBody>
      </p:sp>
      <p:sp>
        <p:nvSpPr>
          <p:cNvPr id="35" name="TextBox 34"/>
          <p:cNvSpPr txBox="1"/>
          <p:nvPr/>
        </p:nvSpPr>
        <p:spPr>
          <a:xfrm>
            <a:off x="503999" y="5688000"/>
            <a:ext cx="6552000" cy="162000"/>
          </a:xfrm>
          <a:prstGeom prst="rect">
            <a:avLst/>
          </a:prstGeom>
          <a:noFill/>
        </p:spPr>
        <p:txBody>
          <a:bodyPr wrap="square" anchor="t" lIns="54000" rIns="54000"/>
          <a:lstStyle/>
          <a:p>
            <a:pPr algn="l"/>
            <a:r>
              <a:rPr sz="850" b="0">
                <a:solidFill>
                  <a:srgbClr val="53565A"/>
                </a:solidFill>
                <a:latin typeface="Helvetica"/>
              </a:rPr>
              <a:t>Valable pour : exports du logiciel de prêts du Grenier, arrêtés du 31/12/2021 au 30/09/2026, non rapprochés des contrats.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775730293"/>
      </p:ext>
    </p:extLst>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Production de prêts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crédits scolaires et habitat portent la croissance de la production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Montants débloqués : 269 775 100 FCFA en 2022, 1 609 400 144 FCFA en 2025 (4 774 prêts)</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24 : Montants débloqués par type de crédit</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3888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production a été multipliée par 5,97 entre 2022 et 2025.</a:t>
            </a:r>
          </a:p>
          <a:p>
            <a:pPr algn="just">
              <a:spcAft>
                <a:spcPts val="600"/>
              </a:spcAft>
            </a:pPr>
            <a:r>
              <a:rPr sz="1400" b="1">
                <a:solidFill>
                  <a:srgbClr val="060606"/>
                </a:solidFill>
                <a:latin typeface="Helvetica"/>
              </a:rPr>
              <a:t>Les crédits scolaires et habitat font 66,12 % des montants de 2025.</a:t>
            </a:r>
          </a:p>
          <a:p>
            <a:pPr algn="just">
              <a:spcAft>
                <a:spcPts val="600"/>
              </a:spcAft>
            </a:pPr>
            <a:r>
              <a:rPr sz="1400" b="1">
                <a:solidFill>
                  <a:srgbClr val="060606"/>
                </a:solidFill>
                <a:latin typeface="Helvetica"/>
              </a:rPr>
              <a:t>Le crédit habitat, aux montants unitaires plus importants, allonge la durée du risque.</a:t>
            </a:r>
          </a:p>
          <a:p>
            <a:pPr algn="just">
              <a:spcAft>
                <a:spcPts val="600"/>
              </a:spcAft>
            </a:pPr>
            <a:r>
              <a:rPr sz="1400" b="0">
                <a:solidFill>
                  <a:srgbClr val="060606"/>
                </a:solidFill>
                <a:latin typeface="Helvetica"/>
              </a:rPr>
              <a:t>Une production qui croît plus vite que les ressources propres du Grenier augmente le besoin de financement du FPPN : la politique de crédit doit fixer un plafond d'encours rapporté aux ressources disponibles.</a:t>
            </a:r>
          </a:p>
        </p:txBody>
      </p:sp>
      <p:sp>
        <p:nvSpPr>
          <p:cNvPr id="35" name="TextBox 34"/>
          <p:cNvSpPr txBox="1"/>
          <p:nvPr/>
        </p:nvSpPr>
        <p:spPr>
          <a:xfrm>
            <a:off x="503999" y="5688000"/>
            <a:ext cx="6552000" cy="162000"/>
          </a:xfrm>
          <a:prstGeom prst="rect">
            <a:avLst/>
          </a:prstGeom>
          <a:noFill/>
        </p:spPr>
        <p:txBody>
          <a:bodyPr wrap="square" anchor="t" lIns="54000" rIns="54000"/>
          <a:lstStyle/>
          <a:p>
            <a:pPr algn="l"/>
            <a:r>
              <a:rPr sz="850" b="0">
                <a:solidFill>
                  <a:srgbClr val="53565A"/>
                </a:solidFill>
                <a:latin typeface="Helvetica"/>
              </a:rPr>
              <a:t>Valable pour : exports du logiciel de prêts du Grenier, arrêtés du 31/12/2021 au 30/09/2026, non rapprochés des contrats.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470480947"/>
      </p:ext>
    </p:extLst>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Retards de remboursement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retards ont culminé début 2026 avant de revenir à un niveau faible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en retard de plus de 30 jours : 61,96 % fin janvier 2026, 1,83 % au 31/08/2026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25 : Part de l'encours en retard de plus de 30 et 90 jours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de l'encours</a:t>
            </a:r>
          </a:p>
        </p:txBody>
      </p:sp>
      <p:graphicFrame>
        <p:nvGraphicFramePr>
          <p:cNvPr id="32" name="Chart 31"/>
          <p:cNvGraphicFramePr>
            <a:graphicFrameLocks noGrp="1"/>
          </p:cNvGraphicFramePr>
          <p:nvPr/>
        </p:nvGraphicFramePr>
        <p:xfrm>
          <a:off x="503999" y="1782000"/>
          <a:ext cx="6552000" cy="3888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Fin janvier 2026, la plus grande part de l'encours avait entre 31 et 90 jours de retard.</a:t>
            </a:r>
          </a:p>
          <a:p>
            <a:pPr algn="just">
              <a:spcAft>
                <a:spcPts val="600"/>
              </a:spcAft>
            </a:pPr>
            <a:r>
              <a:rPr sz="1400" b="1">
                <a:solidFill>
                  <a:srgbClr val="060606"/>
                </a:solidFill>
                <a:latin typeface="Helvetica"/>
              </a:rPr>
              <a:t>Ces retards se sont résorbés en quelques mois.</a:t>
            </a:r>
            <a:r>
              <a:rPr sz="1400" b="0">
                <a:solidFill>
                  <a:srgbClr val="060606"/>
                </a:solidFill>
                <a:latin typeface="Helvetica"/>
              </a:rPr>
              <a:t> Ce profil fait penser à des échéances non précomptées en fin d'année 2025.</a:t>
            </a:r>
          </a:p>
          <a:p>
            <a:pPr algn="just">
              <a:spcAft>
                <a:spcPts val="600"/>
              </a:spcAft>
            </a:pPr>
            <a:r>
              <a:rPr sz="1400" b="1">
                <a:solidFill>
                  <a:srgbClr val="060606"/>
                </a:solidFill>
                <a:latin typeface="Helvetica"/>
              </a:rPr>
              <a:t>126 prêts ont plus de 180 jours de retard.</a:t>
            </a:r>
            <a:r>
              <a:rPr sz="1400" b="0">
                <a:solidFill>
                  <a:srgbClr val="060606"/>
                </a:solidFill>
                <a:latin typeface="Helvetica"/>
              </a:rPr>
              <a:t> Ces prêts doivent être provisionnés.</a:t>
            </a:r>
          </a:p>
          <a:p>
            <a:pPr algn="just">
              <a:spcAft>
                <a:spcPts val="600"/>
              </a:spcAft>
            </a:pPr>
            <a:r>
              <a:rPr sz="1400" b="0">
                <a:solidFill>
                  <a:srgbClr val="060606"/>
                </a:solidFill>
                <a:latin typeface="Helvetica"/>
              </a:rPr>
              <a:t>Les retards dépendent surtout du circuit de précompte, pas de la solvabilité des emprunteurs : le FPPN doit obtenir de la Solde un calendrier fiable et suivre chaque mois les échéances non précomptées.</a:t>
            </a:r>
          </a:p>
        </p:txBody>
      </p:sp>
      <p:sp>
        <p:nvSpPr>
          <p:cNvPr id="35" name="TextBox 34"/>
          <p:cNvSpPr txBox="1"/>
          <p:nvPr/>
        </p:nvSpPr>
        <p:spPr>
          <a:xfrm>
            <a:off x="503999" y="5688000"/>
            <a:ext cx="6552000" cy="162000"/>
          </a:xfrm>
          <a:prstGeom prst="rect">
            <a:avLst/>
          </a:prstGeom>
          <a:noFill/>
        </p:spPr>
        <p:txBody>
          <a:bodyPr wrap="square" anchor="t" lIns="54000" rIns="54000"/>
          <a:lstStyle/>
          <a:p>
            <a:pPr algn="l"/>
            <a:r>
              <a:rPr sz="850" b="0">
                <a:solidFill>
                  <a:srgbClr val="53565A"/>
                </a:solidFill>
                <a:latin typeface="Helvetica"/>
              </a:rPr>
              <a:t>Valable pour : exports du logiciel de prêts du Grenier, arrêtés du 31/12/2021 au 30/09/2026, non rapprochés des contrats.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386574429"/>
      </p:ext>
    </p:extLst>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prêts en retard</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retards les plus anciens dépassent trois ans et révèlent des mécanos anormaux</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quatre prêts les plus en retard au 31/08/2026 ont entre 1 105 et 1 308 jours de retard</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 Noms masqués</a:t>
            </a:r>
          </a:p>
        </p:txBody>
      </p:sp>
      <p:sp>
        <p:nvSpPr>
          <p:cNvPr id="31" name="TextBox 30"/>
          <p:cNvSpPr txBox="1"/>
          <p:nvPr/>
        </p:nvSpPr>
        <p:spPr>
          <a:xfrm>
            <a:off x="503999" y="1350000"/>
            <a:ext cx="8496000" cy="180000"/>
          </a:xfrm>
          <a:prstGeom prst="rect">
            <a:avLst/>
          </a:prstGeom>
          <a:noFill/>
        </p:spPr>
        <p:txBody>
          <a:bodyPr wrap="square" anchor="t" lIns="54000" rIns="54000"/>
          <a:lstStyle/>
          <a:p>
            <a:pPr algn="l"/>
            <a:r>
              <a:rPr sz="900" b="0">
                <a:solidFill>
                  <a:srgbClr val="53565A"/>
                </a:solidFill>
                <a:latin typeface="Helvetica"/>
              </a:rPr>
              <a:t>Extrait : AUDIT ADENKA\SERVICE GRENIER DU POLICIER\FICHIER ALLER\GRENIER AOÛT 2026\BalanceAgeeDetaille AOUT 2026.xls</a:t>
            </a:r>
          </a:p>
        </p:txBody>
      </p:sp>
      <p:graphicFrame>
        <p:nvGraphicFramePr>
          <p:cNvPr id="32" name="Table 31"/>
          <p:cNvGraphicFramePr>
            <a:graphicFrameLocks noGrp="1"/>
          </p:cNvGraphicFramePr>
          <p:nvPr/>
        </p:nvGraphicFramePr>
        <p:xfrm>
          <a:off x="503999" y="1548000"/>
          <a:ext cx="8495998" cy="1050045"/>
        </p:xfrm>
        <a:graphic>
          <a:graphicData uri="http://schemas.openxmlformats.org/drawingml/2006/table">
            <a:tbl>
              <a:tblPr firstRow="0" bandRow="0">
                <a:tableStyleId>{5940675A-B579-460E-94D1-54222C63F5DA}</a:tableStyleId>
              </a:tblPr>
              <a:tblGrid>
                <a:gridCol w="1224000"/>
                <a:gridCol w="1440000"/>
                <a:gridCol w="2160000"/>
                <a:gridCol w="2015999"/>
                <a:gridCol w="1655999"/>
              </a:tblGrid>
              <a:tr h="210009">
                <a:tc>
                  <a:txBody>
                    <a:bodyPr/>
                    <a:lstStyle/>
                    <a:p>
                      <a:pPr marL="0" indent="0" lvl="0">
                        <a:buNone/>
                      </a:pPr>
                      <a:r>
                        <a:rPr sz="1000" b="1">
                          <a:solidFill>
                            <a:srgbClr val="FFFFFF"/>
                          </a:solidFill>
                          <a:latin typeface="Helvetica"/>
                        </a:rPr>
                        <a:t>Mécano</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Nom</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débloqué</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Encours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Retard (jours)</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142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 M.</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500 000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90 536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1308</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87</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 K. M.</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400 000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83 743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1279</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166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M. 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800 000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60 468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1189</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418***9</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K. A. F.</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100 000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100 000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1105</a:t>
                      </a:r>
                    </a:p>
                  </a:txBody>
                  <a:tcPr marL="43200" marR="43200" marT="14400" marB="14400" anchor="ctr">
                    <a:solidFill>
                      <a:srgbClr val="F2F2F2"/>
                    </a:solidFill>
                  </a:tcPr>
                </a:tc>
              </a:tr>
            </a:tbl>
          </a:graphicData>
        </a:graphic>
      </p:graphicFrame>
      <p:sp>
        <p:nvSpPr>
          <p:cNvPr id="33" name="Rounded Rectangle 32"/>
          <p:cNvSpPr/>
          <p:nvPr/>
        </p:nvSpPr>
        <p:spPr>
          <a:xfrm>
            <a:off x="485999" y="1747209"/>
            <a:ext cx="126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548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7325999" y="1747209"/>
            <a:ext cx="169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820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485999" y="1957219"/>
            <a:ext cx="126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548000" y="180601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9216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9576000" y="1530000"/>
            <a:ext cx="2160000" cy="670023"/>
          </a:xfrm>
          <a:prstGeom prst="rect">
            <a:avLst/>
          </a:prstGeom>
          <a:noFill/>
        </p:spPr>
        <p:txBody>
          <a:bodyPr wrap="square" anchor="t" lIns="54000" rIns="54000"/>
          <a:lstStyle/>
          <a:p>
            <a:pPr algn="l"/>
            <a:r>
              <a:rPr sz="1200" b="0">
                <a:solidFill>
                  <a:srgbClr val="060606"/>
                </a:solidFill>
                <a:latin typeface="Helvetica"/>
              </a:rPr>
              <a:t>Ces prêts ont un mécano de 2 ou 3 chiffres, ce qui révèle une saisie anormale.</a:t>
            </a:r>
          </a:p>
        </p:txBody>
      </p:sp>
      <p:sp>
        <p:nvSpPr>
          <p:cNvPr id="41" name="Oval 40"/>
          <p:cNvSpPr/>
          <p:nvPr/>
        </p:nvSpPr>
        <p:spPr>
          <a:xfrm>
            <a:off x="9216000" y="2308023"/>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9576000" y="2290023"/>
            <a:ext cx="2160000" cy="670023"/>
          </a:xfrm>
          <a:prstGeom prst="rect">
            <a:avLst/>
          </a:prstGeom>
          <a:noFill/>
        </p:spPr>
        <p:txBody>
          <a:bodyPr wrap="square" anchor="t" lIns="54000" rIns="54000"/>
          <a:lstStyle/>
          <a:p>
            <a:pPr algn="l"/>
            <a:r>
              <a:rPr sz="1200" b="0">
                <a:solidFill>
                  <a:srgbClr val="060606"/>
                </a:solidFill>
                <a:latin typeface="Helvetica"/>
              </a:rPr>
              <a:t>Le plus ancien de ces prêts a plus de trois ans de retard.</a:t>
            </a:r>
          </a:p>
        </p:txBody>
      </p:sp>
      <p:sp>
        <p:nvSpPr>
          <p:cNvPr id="43" name="Oval 42"/>
          <p:cNvSpPr/>
          <p:nvPr/>
        </p:nvSpPr>
        <p:spPr>
          <a:xfrm>
            <a:off x="9216000" y="3068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9576000" y="3050047"/>
            <a:ext cx="2160000" cy="670023"/>
          </a:xfrm>
          <a:prstGeom prst="rect">
            <a:avLst/>
          </a:prstGeom>
          <a:noFill/>
        </p:spPr>
        <p:txBody>
          <a:bodyPr wrap="square" anchor="t" lIns="54000" rIns="54000"/>
          <a:lstStyle/>
          <a:p>
            <a:pPr algn="l"/>
            <a:r>
              <a:rPr sz="1200" b="0">
                <a:solidFill>
                  <a:srgbClr val="060606"/>
                </a:solidFill>
                <a:latin typeface="Helvetica"/>
              </a:rPr>
              <a:t>Ces prêts ont encore un encours inscrit, qui doit être provisionné.</a:t>
            </a:r>
          </a:p>
        </p:txBody>
      </p:sp>
      <p:sp>
        <p:nvSpPr>
          <p:cNvPr id="45" name="TextBox 44"/>
          <p:cNvSpPr txBox="1"/>
          <p:nvPr/>
        </p:nvSpPr>
        <p:spPr>
          <a:xfrm>
            <a:off x="9216000" y="3900071"/>
            <a:ext cx="2520000" cy="1967928"/>
          </a:xfrm>
          <a:prstGeom prst="rect">
            <a:avLst/>
          </a:prstGeom>
          <a:noFill/>
        </p:spPr>
        <p:txBody>
          <a:bodyPr wrap="square" lIns="54000" rIns="54000"/>
          <a:lstStyle/>
          <a:p>
            <a:pPr algn="just">
              <a:spcAft>
                <a:spcPts val="600"/>
              </a:spcAft>
            </a:pPr>
            <a:r>
              <a:rPr sz="1150" b="1">
                <a:solidFill>
                  <a:srgbClr val="060606"/>
                </a:solidFill>
                <a:latin typeface="Helvetica"/>
              </a:rPr>
              <a:t>Les prêts les plus anciens ne peuvent plus être précomptés, car leur mécano est faux.</a:t>
            </a:r>
            <a:r>
              <a:rPr sz="1150" b="0">
                <a:solidFill>
                  <a:srgbClr val="060606"/>
                </a:solidFill>
                <a:latin typeface="Helvetica"/>
              </a:rPr>
              <a:t> Sans mécano valide, la Solde ne peut pas retenir l'échéance sur le salaire.</a:t>
            </a:r>
          </a:p>
          <a:p>
            <a:pPr algn="just">
              <a:spcAft>
                <a:spcPts val="600"/>
              </a:spcAft>
            </a:pPr>
            <a:r>
              <a:rPr sz="1150" b="0">
                <a:solidFill>
                  <a:srgbClr val="060606"/>
                </a:solidFill>
                <a:latin typeface="Helvetica"/>
              </a:rPr>
              <a:t>Le Grenier doit corriger ces identifiants et décider, pour chaque prêt, d'une provision ou d'un passage en perte.</a:t>
            </a:r>
          </a:p>
        </p:txBody>
      </p:sp>
    </p:spTree>
    <p:extLst>
      <p:ext uri="{BB962C8B-B14F-4D97-AF65-F5344CB8AC3E}">
        <p14:creationId xmlns:p14="http://schemas.microsoft.com/office/powerpoint/2010/main" val="1914779593"/>
      </p:ext>
    </p:extLst>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Échéances et précomptes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précomptes ne couvrent que 76 à 85 % des échéances des prêts en cours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De janvier à août 2026, l'écart mensuel va de 25 226 684 FCFA à 44 655 924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26 : Échéances des prêts en cours et précomptes 9X4, 2026</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3888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 Fichiers de précomptes de la Solde, de la CGRAE et du FPPN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part précomptée va de 75,74 % à 85,38 % selon le mois.</a:t>
            </a:r>
          </a:p>
          <a:p>
            <a:pPr algn="just">
              <a:spcAft>
                <a:spcPts val="600"/>
              </a:spcAft>
            </a:pPr>
            <a:r>
              <a:rPr sz="1400" b="1">
                <a:solidFill>
                  <a:srgbClr val="060606"/>
                </a:solidFill>
                <a:latin typeface="Helvetica"/>
              </a:rPr>
              <a:t>L'export du logiciel perd la lettre-clé du mécano</a:t>
            </a:r>
            <a:r>
              <a:rPr sz="1400" b="0">
                <a:solidFill>
                  <a:srgbClr val="060606"/>
                </a:solidFill>
                <a:latin typeface="Helvetica"/>
              </a:rPr>
              <a:t> (321100C devient 321100), ce qui complique le rapprochement prêt par prêt.</a:t>
            </a:r>
          </a:p>
          <a:p>
            <a:pPr algn="just">
              <a:spcAft>
                <a:spcPts val="600"/>
              </a:spcAft>
            </a:pPr>
            <a:r>
              <a:rPr sz="1400" b="1">
                <a:solidFill>
                  <a:srgbClr val="060606"/>
                </a:solidFill>
                <a:latin typeface="Helvetica"/>
              </a:rPr>
              <a:t>Un rapprochement avec les encaissements bancaires du Grenier est nécessaire</a:t>
            </a:r>
            <a:r>
              <a:rPr sz="1400" b="0">
                <a:solidFill>
                  <a:srgbClr val="060606"/>
                </a:solidFill>
                <a:latin typeface="Helvetica"/>
              </a:rPr>
              <a:t> pour savoir si l'écart est payé autrement.</a:t>
            </a:r>
          </a:p>
          <a:p>
            <a:pPr algn="just">
              <a:spcAft>
                <a:spcPts val="600"/>
              </a:spcAft>
            </a:pPr>
            <a:r>
              <a:rPr sz="1400" b="0">
                <a:solidFill>
                  <a:srgbClr val="060606"/>
                </a:solidFill>
                <a:latin typeface="Helvetica"/>
              </a:rPr>
              <a:t>Si l'écart n'est pas encaissé par un autre canal, il alimente chaque mois de nouveaux retards : c'est la question à poser en priorité au service du Grenier.</a:t>
            </a:r>
          </a:p>
        </p:txBody>
      </p:sp>
      <p:sp>
        <p:nvSpPr>
          <p:cNvPr id="35" name="TextBox 34"/>
          <p:cNvSpPr txBox="1"/>
          <p:nvPr/>
        </p:nvSpPr>
        <p:spPr>
          <a:xfrm>
            <a:off x="503999" y="5688000"/>
            <a:ext cx="6552000" cy="162000"/>
          </a:xfrm>
          <a:prstGeom prst="rect">
            <a:avLst/>
          </a:prstGeom>
          <a:noFill/>
        </p:spPr>
        <p:txBody>
          <a:bodyPr wrap="square" anchor="t" lIns="54000" rIns="54000"/>
          <a:lstStyle/>
          <a:p>
            <a:pPr algn="l"/>
            <a:r>
              <a:rPr sz="850" b="0">
                <a:solidFill>
                  <a:srgbClr val="53565A"/>
                </a:solidFill>
                <a:latin typeface="Helvetica"/>
              </a:rPr>
              <a:t>Valable pour : exports du logiciel de prêts du Grenier, arrêtés du 31/12/2021 au 30/09/2026, non rapprochés des contrats.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9X4 : poste Grenier</a:t>
            </a:r>
          </a:p>
        </p:txBody>
      </p:sp>
    </p:spTree>
    <p:extLst>
      <p:ext uri="{BB962C8B-B14F-4D97-AF65-F5344CB8AC3E}">
        <p14:creationId xmlns:p14="http://schemas.microsoft.com/office/powerpoint/2010/main" val="3091393394"/>
      </p:ext>
    </p:extLst>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Sensibilité : pertes sur prêts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Même une perte totale sur les prêts très en retard reste limitée en montant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en retard de plus de 180 jours : 14 826 812 FCFA. De plus de 90 jours : 17 845 260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a:t>
            </a:r>
          </a:p>
        </p:txBody>
      </p:sp>
      <p:sp>
        <p:nvSpPr>
          <p:cNvPr id="31" name="TextBox 30"/>
          <p:cNvSpPr txBox="1"/>
          <p:nvPr/>
        </p:nvSpPr>
        <p:spPr>
          <a:xfrm>
            <a:off x="503999" y="1386000"/>
            <a:ext cx="6983999" cy="216000"/>
          </a:xfrm>
          <a:prstGeom prst="rect">
            <a:avLst/>
          </a:prstGeom>
          <a:noFill/>
        </p:spPr>
        <p:txBody>
          <a:bodyPr wrap="square" anchor="t" lIns="54000" rIns="54000"/>
          <a:lstStyle/>
          <a:p>
            <a:pPr algn="ctr"/>
            <a:r>
              <a:rPr sz="1200" b="0">
                <a:solidFill>
                  <a:srgbClr val="EFAC62"/>
                </a:solidFill>
                <a:latin typeface="Helvetica"/>
              </a:rPr>
              <a:t>Tableau 30 : Provision selon le taux de perte</a:t>
            </a:r>
          </a:p>
        </p:txBody>
      </p:sp>
      <p:graphicFrame>
        <p:nvGraphicFramePr>
          <p:cNvPr id="32" name="Table 31"/>
          <p:cNvGraphicFramePr>
            <a:graphicFrameLocks noGrp="1"/>
          </p:cNvGraphicFramePr>
          <p:nvPr/>
        </p:nvGraphicFramePr>
        <p:xfrm>
          <a:off x="503999" y="1655999"/>
          <a:ext cx="6984000" cy="901000"/>
        </p:xfrm>
        <a:graphic>
          <a:graphicData uri="http://schemas.openxmlformats.org/drawingml/2006/table">
            <a:tbl>
              <a:tblPr firstRow="0" bandRow="0">
                <a:tableStyleId>{5940675A-B579-460E-94D1-54222C63F5DA}</a:tableStyleId>
              </a:tblPr>
              <a:tblGrid>
                <a:gridCol w="1800000"/>
                <a:gridCol w="2592000"/>
                <a:gridCol w="2592000"/>
              </a:tblGrid>
              <a:tr h="225250">
                <a:tc>
                  <a:txBody>
                    <a:bodyPr/>
                    <a:lstStyle/>
                    <a:p>
                      <a:pPr marL="0" indent="0" lvl="0">
                        <a:buNone/>
                      </a:pPr>
                      <a:r>
                        <a:rPr sz="1100" b="1">
                          <a:solidFill>
                            <a:srgbClr val="FFFFFF"/>
                          </a:solidFill>
                          <a:latin typeface="Helvetica"/>
                        </a:rPr>
                        <a:t>Taux de perte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Sur l'encours &gt; 180 jours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Sur l'encours &gt; 90 jours</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25,00 %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3 706 703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4 461 315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50,00 %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7 413 406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8 922 630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100,00 %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14 826 812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17 845 260 FCFA</a:t>
                      </a:r>
                    </a:p>
                  </a:txBody>
                  <a:tcPr marL="43200" marR="43200" marT="14400" marB="14400" anchor="ctr">
                    <a:solidFill>
                      <a:srgbClr val="FFFFFF"/>
                    </a:solidFill>
                  </a:tcPr>
                </a:tc>
              </a:tr>
            </a:tbl>
          </a:graphicData>
        </a:graphic>
      </p:graphicFrame>
      <p:sp>
        <p:nvSpPr>
          <p:cNvPr id="33" name="TextBox 32"/>
          <p:cNvSpPr txBox="1"/>
          <p:nvPr/>
        </p:nvSpPr>
        <p:spPr>
          <a:xfrm>
            <a:off x="503999" y="2575002"/>
            <a:ext cx="6983999" cy="162000"/>
          </a:xfrm>
          <a:prstGeom prst="rect">
            <a:avLst/>
          </a:prstGeom>
          <a:noFill/>
        </p:spPr>
        <p:txBody>
          <a:bodyPr wrap="square" anchor="t" lIns="54000" rIns="54000"/>
          <a:lstStyle/>
          <a:p>
            <a:pPr algn="l"/>
            <a:r>
              <a:rPr sz="850" b="0">
                <a:solidFill>
                  <a:srgbClr val="53565A"/>
                </a:solidFill>
                <a:latin typeface="Helvetica"/>
              </a:rPr>
              <a:t>Valable pour : exports du logiciel de prêts du Grenier, arrêtés du 31/12/2021 au 30/09/2026, non rapprochés des contrats.</a:t>
            </a:r>
          </a:p>
        </p:txBody>
      </p:sp>
      <p:sp>
        <p:nvSpPr>
          <p:cNvPr id="34" name="TextBox 33"/>
          <p:cNvSpPr txBox="1"/>
          <p:nvPr/>
        </p:nvSpPr>
        <p:spPr>
          <a:xfrm>
            <a:off x="7703999" y="1386000"/>
            <a:ext cx="4032000" cy="4482000"/>
          </a:xfrm>
          <a:prstGeom prst="rect">
            <a:avLst/>
          </a:prstGeom>
          <a:noFill/>
        </p:spPr>
        <p:txBody>
          <a:bodyPr wrap="square" lIns="54000" rIns="54000"/>
          <a:lstStyle/>
          <a:p>
            <a:pPr algn="just">
              <a:spcAft>
                <a:spcPts val="600"/>
              </a:spcAft>
            </a:pPr>
            <a:r>
              <a:rPr sz="1400" b="1">
                <a:solidFill>
                  <a:srgbClr val="060606"/>
                </a:solidFill>
                <a:latin typeface="Helvetica"/>
              </a:rPr>
              <a:t>Une perte totale sur les prêts en retard de plus de 90 jours coûterait 17 845 260 FCFA.</a:t>
            </a:r>
            <a:r>
              <a:rPr sz="1400" b="0">
                <a:solidFill>
                  <a:srgbClr val="060606"/>
                </a:solidFill>
                <a:latin typeface="Helvetica"/>
              </a:rPr>
              <a:t> Ce montant reste faible au regard de l'encours.</a:t>
            </a:r>
          </a:p>
          <a:p>
            <a:pPr algn="just">
              <a:spcAft>
                <a:spcPts val="600"/>
              </a:spcAft>
            </a:pPr>
            <a:r>
              <a:rPr sz="1400" b="1">
                <a:solidFill>
                  <a:srgbClr val="060606"/>
                </a:solidFill>
                <a:latin typeface="Helvetica"/>
              </a:rPr>
              <a:t>Le risque du Grenier n'est donc pas la perte sur prêts.</a:t>
            </a:r>
            <a:r>
              <a:rPr sz="1400" b="0">
                <a:solidFill>
                  <a:srgbClr val="060606"/>
                </a:solidFill>
                <a:latin typeface="Helvetica"/>
              </a:rPr>
              <a:t> Il tient au volume de ressources du FPPN immobilisées dans les prêts.</a:t>
            </a:r>
          </a:p>
          <a:p>
            <a:pPr algn="just">
              <a:spcAft>
                <a:spcPts val="600"/>
              </a:spcAft>
            </a:pPr>
            <a:r>
              <a:rPr sz="1400" b="0">
                <a:solidFill>
                  <a:srgbClr val="060606"/>
                </a:solidFill>
                <a:latin typeface="Helvetica"/>
              </a:rPr>
              <a:t>Une politique de provisionnement écrite (taux par tranche de retard) suffirait à couvrir ce risque, mais elle ne règle pas la question de la liquidité de l'épargne.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877968191"/>
      </p:ext>
    </p:extLst>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Grenier a multiplié ses prêts en s'appuyant presque entièrement sur les ressources du FPPN.</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L'encours atteint 1 044 302 107 FCFA au 31/08/2026. Les précomptes couvrent 76 à 85 % des échéances, et 126 prêts ont plus de 180 jours de retard.</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principal risque n'est pas la perte sur prêts, limitée, mais l'immobilisation de l'épargne des mutualistes dans les prêts.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une politique de crédit lisible, les encaissements hors Solde et la décision qui encadre le financement du Grenier.</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Grenier</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Grenier croît très vite grâce au financement du FPPN</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multiplié par 132, financé à 87,66 %, retards maîtrisés mais précomptes incomplets</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15148624"/>
      </p:ext>
    </p:extLst>
  </p:cSld>
  <p:clrMapOvr>
    <a:masterClrMapping/>
  </p:clrMapOvr>
  <p:transition>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8</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Retraités et annexes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CGRAE, flotte automobile, MEDOC, projets immobiliers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259140062"/>
      </p:ext>
    </p:extLst>
  </p:cSld>
  <p:clrMapOvr>
    <a:masterClrMapping/>
  </p:clrMapOvr>
  <p:transition>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Retraités CGRAE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retraités cotisants sont passés de 16 à 610 en deux ans et demi</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Précompte moyen de 11 940 FCFA par mois sur la pension. Données depuis février 2024</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27 : Retraités précomptés par la CGRAE, par mois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de retraités</a:t>
            </a:r>
          </a:p>
        </p:txBody>
      </p:sp>
      <p:graphicFrame>
        <p:nvGraphicFramePr>
          <p:cNvPr id="32" name="Chart 31"/>
          <p:cNvGraphicFramePr>
            <a:graphicFrameLocks noGrp="1"/>
          </p:cNvGraphicFramePr>
          <p:nvPr/>
        </p:nvGraphicFramePr>
        <p:xfrm>
          <a:off x="503999" y="1782000"/>
          <a:ext cx="6552000" cy="3888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610 retraités sont précomptés en août 2026.</a:t>
            </a:r>
            <a:r>
              <a:rPr sz="1400" b="0">
                <a:solidFill>
                  <a:srgbClr val="060606"/>
                </a:solidFill>
                <a:latin typeface="Helvetica"/>
              </a:rPr>
              <a:t> Leur nombre augmente chaque mois depuis février 2024.</a:t>
            </a:r>
          </a:p>
          <a:p>
            <a:pPr algn="just">
              <a:spcAft>
                <a:spcPts val="600"/>
              </a:spcAft>
            </a:pPr>
            <a:r>
              <a:rPr sz="1400" b="1">
                <a:solidFill>
                  <a:srgbClr val="060606"/>
                </a:solidFill>
                <a:latin typeface="Helvetica"/>
              </a:rPr>
              <a:t>Plusieurs anomalies de gestion apparaissent dans les fichiers</a:t>
            </a:r>
            <a:r>
              <a:rPr sz="1400" b="0">
                <a:solidFill>
                  <a:srgbClr val="060606"/>
                </a:solidFill>
                <a:latin typeface="Helvetica"/>
              </a:rPr>
              <a:t> : précomptes en double ou indus remboursés, numéros de décision erronés, précomptes non effectués.</a:t>
            </a:r>
          </a:p>
          <a:p>
            <a:pPr algn="just">
              <a:spcAft>
                <a:spcPts val="600"/>
              </a:spcAft>
            </a:pPr>
            <a:r>
              <a:rPr sz="1400" b="1">
                <a:solidFill>
                  <a:srgbClr val="060606"/>
                </a:solidFill>
                <a:latin typeface="Helvetica"/>
              </a:rPr>
              <a:t>La CGRAE précompte 100,19 % des montants demandés</a:t>
            </a:r>
            <a:r>
              <a:rPr sz="1400" b="0">
                <a:solidFill>
                  <a:srgbClr val="060606"/>
                </a:solidFill>
                <a:latin typeface="Helvetica"/>
              </a:rPr>
              <a:t> sur 30 mois communs.</a:t>
            </a:r>
          </a:p>
          <a:p>
            <a:pPr algn="just">
              <a:spcAft>
                <a:spcPts val="600"/>
              </a:spcAft>
            </a:pPr>
            <a:r>
              <a:rPr sz="1400" b="0">
                <a:solidFill>
                  <a:srgbClr val="060606"/>
                </a:solidFill>
                <a:latin typeface="Helvetica"/>
              </a:rPr>
              <a:t>Si la garantie santé est maintenue à vie aux retraités pour une cotisation inférieure à son coût, elle devient un engagement viager : sa valeur se calculera avec la table CIMA F (partie 11) dès que les âges et les coûts de soins seront transmis.</a:t>
            </a:r>
          </a:p>
        </p:txBody>
      </p:sp>
      <p:sp>
        <p:nvSpPr>
          <p:cNvPr id="35" name="TextBox 34"/>
          <p:cNvSpPr txBox="1"/>
          <p:nvPr/>
        </p:nvSpPr>
        <p:spPr>
          <a:xfrm>
            <a:off x="503999" y="5688000"/>
            <a:ext cx="6552000" cy="162000"/>
          </a:xfrm>
          <a:prstGeom prst="rect">
            <a:avLst/>
          </a:prstGeom>
          <a:noFill/>
        </p:spPr>
        <p:txBody>
          <a:bodyPr wrap="square" anchor="t" lIns="54000" rIns="54000"/>
          <a:lstStyle/>
          <a:p>
            <a:pPr algn="l"/>
            <a:r>
              <a:rPr sz="850" b="0">
                <a:solidFill>
                  <a:srgbClr val="53565A"/>
                </a:solidFill>
                <a:latin typeface="Helvetica"/>
              </a:rPr>
              <a:t>Valable pour : retraités précomptés par la CGRAE de février 2024 à septembre 2026. Produits annexes sur les mois reçus.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CGRAE : Caisse générale de retraite des agents de l'État</a:t>
            </a:r>
          </a:p>
        </p:txBody>
      </p:sp>
    </p:spTree>
    <p:extLst>
      <p:ext uri="{BB962C8B-B14F-4D97-AF65-F5344CB8AC3E}">
        <p14:creationId xmlns:p14="http://schemas.microsoft.com/office/powerpoint/2010/main" val="1863804027"/>
      </p:ext>
    </p:extLst>
  </p:cSld>
  <p:clrMapOvr>
    <a:masterClrMapping/>
  </p:clrMapOvr>
  <p:transition>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Convention IPS-CGRAE : santé des policiers retraités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assure la santé des retraités souscripteurs, même si la CGRAE reverse en retard</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La convention organise le précompte des cotisations sur les pensions. Elle confirme une garantie santé des retraités, donc un risque long</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CONVENTION DE PARTENARIAT ENTRE IPS-CGRAE ET LE FPPN.pdf (scan lu par reconnaissance de caractères, articles 3 à 7). Fichiers de précomptes de la Solde, de la CGRAE et du FPPN reçus le 15/10/2026.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31 : Clauses de la convention IPS-CGRAE utiles à la mission</a:t>
            </a:r>
          </a:p>
        </p:txBody>
      </p:sp>
      <p:graphicFrame>
        <p:nvGraphicFramePr>
          <p:cNvPr id="32" name="Table 31"/>
          <p:cNvGraphicFramePr>
            <a:graphicFrameLocks noGrp="1"/>
          </p:cNvGraphicFramePr>
          <p:nvPr/>
        </p:nvGraphicFramePr>
        <p:xfrm>
          <a:off x="503999" y="1655999"/>
          <a:ext cx="11232000" cy="1381984"/>
        </p:xfrm>
        <a:graphic>
          <a:graphicData uri="http://schemas.openxmlformats.org/drawingml/2006/table">
            <a:tbl>
              <a:tblPr firstRow="0" bandRow="0">
                <a:tableStyleId>{5940675A-B579-460E-94D1-54222C63F5DA}</a:tableStyleId>
              </a:tblPr>
              <a:tblGrid>
                <a:gridCol w="1080000"/>
                <a:gridCol w="5472000"/>
                <a:gridCol w="4680000"/>
              </a:tblGrid>
              <a:tr h="187148">
                <a:tc>
                  <a:txBody>
                    <a:bodyPr/>
                    <a:lstStyle/>
                    <a:p>
                      <a:pPr marL="0" indent="0" lvl="0">
                        <a:buNone/>
                      </a:pPr>
                      <a:r>
                        <a:rPr sz="850" b="1">
                          <a:solidFill>
                            <a:srgbClr val="FFFFFF"/>
                          </a:solidFill>
                          <a:latin typeface="Helvetica"/>
                        </a:rPr>
                        <a:t>Article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Clause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Effet sur la mission</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Art. 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Précompte, sur la pension, des cotisations de prise en charge médicale du policier retraité qui l'autorise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Les retraités deviennent des cotisants à part entière (partie 8 : 610 en août 26)</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Art. 4.1 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Le FPPN ne suspend aucune prestation pour cause de retard de reversement par l'IPS-CGRAE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Le FPPN porte le risque de trésorerie entre le soin et l'encaissement</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Art. 4.2 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Précompte dans la limite de la quotité cessible. Seuls les retraités qui en disposent sont précomptés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Une partie des retraités souscripteurs peut ne pas être précomptée</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Art. 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Aucun frais de gestion facturé par l'IPS-CGRAE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Pas de charge de gestion à prévoir</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Art. 7</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En cas de décès, le FPPN reverse les précomptes perçus après le décès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Dette envers la CGRAE à suivre</a:t>
                      </a:r>
                    </a:p>
                  </a:txBody>
                  <a:tcPr marL="43200" marR="43200" marT="14400" marB="14400" anchor="ctr">
                    <a:solidFill>
                      <a:srgbClr val="FFFFFF"/>
                    </a:solidFill>
                  </a:tcPr>
                </a:tc>
              </a:tr>
            </a:tbl>
          </a:graphicData>
        </a:graphic>
      </p:graphicFrame>
      <p:sp>
        <p:nvSpPr>
          <p:cNvPr id="33" name="TextBox 32"/>
          <p:cNvSpPr txBox="1"/>
          <p:nvPr/>
        </p:nvSpPr>
        <p:spPr>
          <a:xfrm>
            <a:off x="503999" y="3055985"/>
            <a:ext cx="11232000" cy="162000"/>
          </a:xfrm>
          <a:prstGeom prst="rect">
            <a:avLst/>
          </a:prstGeom>
          <a:noFill/>
        </p:spPr>
        <p:txBody>
          <a:bodyPr wrap="square" anchor="t" lIns="54000" rIns="54000"/>
          <a:lstStyle/>
          <a:p>
            <a:pPr algn="l"/>
            <a:r>
              <a:rPr sz="850" b="0">
                <a:solidFill>
                  <a:srgbClr val="53565A"/>
                </a:solidFill>
                <a:latin typeface="Helvetica"/>
              </a:rPr>
              <a:t>Valable pour : texte de la convention reçu le 22/10/2026. Son application (nombre de retraités, montants précomptés) est mesurée en partie 8 de février 2024 à septembre 2026.</a:t>
            </a:r>
          </a:p>
        </p:txBody>
      </p:sp>
      <p:sp>
        <p:nvSpPr>
          <p:cNvPr id="34" name="TextBox 33"/>
          <p:cNvSpPr txBox="1"/>
          <p:nvPr/>
        </p:nvSpPr>
        <p:spPr>
          <a:xfrm>
            <a:off x="503999" y="3343985"/>
            <a:ext cx="11232000" cy="2524014"/>
          </a:xfrm>
          <a:prstGeom prst="rect">
            <a:avLst/>
          </a:prstGeom>
          <a:noFill/>
        </p:spPr>
        <p:txBody>
          <a:bodyPr wrap="square" lIns="54000" rIns="54000"/>
          <a:lstStyle/>
          <a:p>
            <a:pPr algn="just">
              <a:spcAft>
                <a:spcPts val="600"/>
              </a:spcAft>
            </a:pPr>
            <a:r>
              <a:rPr sz="1300" b="1">
                <a:solidFill>
                  <a:srgbClr val="060606"/>
                </a:solidFill>
                <a:latin typeface="Helvetica"/>
              </a:rPr>
              <a:t>La convention confirme que le FPPN assure la santé des policiers retraités qui y souscrivent.</a:t>
            </a:r>
            <a:r>
              <a:rPr sz="1300" b="0">
                <a:solidFill>
                  <a:srgbClr val="060606"/>
                </a:solidFill>
                <a:latin typeface="Helvetica"/>
              </a:rPr>
              <a:t> Les statuts (art. 7 et 80) laissaient la question ouverte.</a:t>
            </a:r>
          </a:p>
          <a:p>
            <a:pPr algn="just">
              <a:spcAft>
                <a:spcPts val="600"/>
              </a:spcAft>
            </a:pPr>
            <a:r>
              <a:rPr sz="1300" b="1">
                <a:solidFill>
                  <a:srgbClr val="060606"/>
                </a:solidFill>
                <a:latin typeface="Helvetica"/>
              </a:rPr>
              <a:t>La garantie santé des retraités relève des risques longs</a:t>
            </a:r>
            <a:r>
              <a:rPr sz="1300" b="0">
                <a:solidFill>
                  <a:srgbClr val="060606"/>
                </a:solidFill>
                <a:latin typeface="Helvetica"/>
              </a:rPr>
              <a:t> : sa tarification et sa provision demandent les âges des retraités, leurs consommations et la cotisation appliquée.</a:t>
            </a:r>
          </a:p>
          <a:p>
            <a:pPr algn="just">
              <a:spcAft>
                <a:spcPts val="600"/>
              </a:spcAft>
            </a:pPr>
            <a:r>
              <a:rPr sz="1300" b="0">
                <a:solidFill>
                  <a:srgbClr val="060606"/>
                </a:solidFill>
                <a:latin typeface="Helvetica"/>
              </a:rPr>
              <a:t>L'engagement santé des retraités doit être évalué séparément de celui des actifs, avec ses propres cotisations (PBC, items 108 et 114).</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PBC : liste des documents demandés au client | IPS-CGRAE : Institution de prévoyance sociale - Caisse générale de retraite des agents de l'État</a:t>
            </a:r>
          </a:p>
        </p:txBody>
      </p:sp>
    </p:spTree>
    <p:extLst>
      <p:ext uri="{BB962C8B-B14F-4D97-AF65-F5344CB8AC3E}">
        <p14:creationId xmlns:p14="http://schemas.microsoft.com/office/powerpoint/2010/main" val="369158929"/>
      </p:ext>
    </p:extLst>
  </p:cSld>
  <p:clrMapOvr>
    <a:masterClrMapping/>
  </p:clrMapOvr>
  <p:transition>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Produits annexes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Deux produits sont précomptés sans documentation transmise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Flotte automobile (9W3) et MEDOC (8Z7) : nature, garanties et comptabilisation à préciser. Projets immobiliers suivis en compte d'attente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Balances des comptes du FPPN (Sage 100), exercices 2020 à 2025 et du 01/01 au 31/08/2026 (provisoire).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32 : Produits annexes et points à clarifier</a:t>
            </a:r>
          </a:p>
        </p:txBody>
      </p:sp>
      <p:graphicFrame>
        <p:nvGraphicFramePr>
          <p:cNvPr id="32" name="Table 31"/>
          <p:cNvGraphicFramePr>
            <a:graphicFrameLocks noGrp="1"/>
          </p:cNvGraphicFramePr>
          <p:nvPr/>
        </p:nvGraphicFramePr>
        <p:xfrm>
          <a:off x="503999" y="1655999"/>
          <a:ext cx="11232000" cy="2132154"/>
        </p:xfrm>
        <a:graphic>
          <a:graphicData uri="http://schemas.openxmlformats.org/drawingml/2006/table">
            <a:tbl>
              <a:tblPr firstRow="0" bandRow="0">
                <a:tableStyleId>{5940675A-B579-460E-94D1-54222C63F5DA}</a:tableStyleId>
              </a:tblPr>
              <a:tblGrid>
                <a:gridCol w="1728000"/>
                <a:gridCol w="4752000"/>
                <a:gridCol w="4752000"/>
              </a:tblGrid>
              <a:tr h="225250">
                <a:tc>
                  <a:txBody>
                    <a:bodyPr/>
                    <a:lstStyle/>
                    <a:p>
                      <a:pPr marL="0" indent="0" lvl="0">
                        <a:buNone/>
                      </a:pPr>
                      <a:r>
                        <a:rPr sz="110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Ce que montrent les données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À obtenir du FPPN</a:t>
                      </a:r>
                    </a:p>
                  </a:txBody>
                  <a:tcPr marL="43200" marR="43200" marT="14400" marB="14400" anchor="ctr">
                    <a:solidFill>
                      <a:srgbClr val="060606"/>
                    </a:solidFill>
                  </a:tcPr>
                </a:tc>
              </a:tr>
              <a:tr h="560551">
                <a:tc>
                  <a:txBody>
                    <a:bodyPr/>
                    <a:lstStyle/>
                    <a:p>
                      <a:pPr marL="0" indent="0" lvl="0">
                        <a:buNone/>
                      </a:pPr>
                      <a:r>
                        <a:rPr sz="1100" b="1">
                          <a:solidFill>
                            <a:srgbClr val="060606"/>
                          </a:solidFill>
                          <a:latin typeface="Helvetica"/>
                        </a:rPr>
                        <a:t>Flotte automobile (9W3)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La Solde précompte environ 10 000 FCFA par mois et par adhérent de 2023 à 2026. Le compte 47111106 « GNA ASSURANCE » suit l'assureur.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La convention avec GNA, les primes reversées, les sinistres et les soldes par adhérent : selon le responsable des cotisations, GNA met mal à jour les soldes (entretien du 19/10/2026).</a:t>
                      </a:r>
                    </a:p>
                  </a:txBody>
                  <a:tcPr marL="43200" marR="43200" marT="14400" marB="14400" anchor="ctr">
                    <a:solidFill>
                      <a:srgbClr val="FFFFFF"/>
                    </a:solidFill>
                  </a:tcPr>
                </a:tc>
              </a:tr>
              <a:tr h="560551">
                <a:tc>
                  <a:txBody>
                    <a:bodyPr/>
                    <a:lstStyle/>
                    <a:p>
                      <a:pPr marL="0" indent="0" lvl="0">
                        <a:buNone/>
                      </a:pPr>
                      <a:r>
                        <a:rPr sz="1100" b="1">
                          <a:solidFill>
                            <a:srgbClr val="060606"/>
                          </a:solidFill>
                          <a:latin typeface="Helvetica"/>
                        </a:rPr>
                        <a:t>MEDOC (8Z7)</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 FPPN précompte 5 000 FCFA par mois depuis novembre 2025. Les retours de février et avril 2026 sont vides.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La période de fonctionnement et la décision de suspension : produit décrit comme un complément pharmacie, en pause depuis environ deux mois (entretien du 19/10/2026).</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Projets immobiliers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comptes 47111200 et 47111201 portent des projets immobiliers. Aucun compte n'est intitulé SCI.</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 statut juridique des projets et le lien éventuel avec la SCI « La Prévoyance ».</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Identifiants « 183FPPN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fichiers aller PEP et Grenier de 2025 et 2026 contiennent 34 identifiants sans mécano.</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L'identité et le mécano de ces personnes.</a:t>
                      </a:r>
                    </a:p>
                  </a:txBody>
                  <a:tcPr marL="43200" marR="43200" marT="14400" marB="14400" anchor="ctr">
                    <a:solidFill>
                      <a:srgbClr val="F2F2F2"/>
                    </a:solidFill>
                  </a:tcPr>
                </a:tc>
              </a:tr>
            </a:tbl>
          </a:graphicData>
        </a:graphic>
      </p:graphicFrame>
      <p:sp>
        <p:nvSpPr>
          <p:cNvPr id="33" name="TextBox 32"/>
          <p:cNvSpPr txBox="1"/>
          <p:nvPr/>
        </p:nvSpPr>
        <p:spPr>
          <a:xfrm>
            <a:off x="503999" y="3806156"/>
            <a:ext cx="11232000" cy="162000"/>
          </a:xfrm>
          <a:prstGeom prst="rect">
            <a:avLst/>
          </a:prstGeom>
          <a:noFill/>
        </p:spPr>
        <p:txBody>
          <a:bodyPr wrap="square" anchor="t" lIns="54000" rIns="54000"/>
          <a:lstStyle/>
          <a:p>
            <a:pPr algn="l"/>
            <a:r>
              <a:rPr sz="850" b="0">
                <a:solidFill>
                  <a:srgbClr val="53565A"/>
                </a:solidFill>
                <a:latin typeface="Helvetica"/>
              </a:rPr>
              <a:t>Valable pour : retraités précomptés par la CGRAE de février 2024 à septembre 2026. Produits annexes sur les mois reçus.</a:t>
            </a:r>
          </a:p>
        </p:txBody>
      </p:sp>
      <p:sp>
        <p:nvSpPr>
          <p:cNvPr id="34" name="TextBox 33"/>
          <p:cNvSpPr txBox="1"/>
          <p:nvPr/>
        </p:nvSpPr>
        <p:spPr>
          <a:xfrm>
            <a:off x="503999" y="4094156"/>
            <a:ext cx="11232000" cy="1773843"/>
          </a:xfrm>
          <a:prstGeom prst="rect">
            <a:avLst/>
          </a:prstGeom>
          <a:noFill/>
        </p:spPr>
        <p:txBody>
          <a:bodyPr wrap="square" lIns="54000" rIns="54000"/>
          <a:lstStyle/>
          <a:p>
            <a:pPr algn="just">
              <a:spcAft>
                <a:spcPts val="600"/>
              </a:spcAft>
            </a:pPr>
            <a:r>
              <a:rPr sz="1300" b="1">
                <a:solidFill>
                  <a:srgbClr val="060606"/>
                </a:solidFill>
                <a:latin typeface="Helvetica"/>
              </a:rPr>
              <a:t>Ces activités engagent le FPPN sans que leurs règles soient documentées.</a:t>
            </a:r>
            <a:r>
              <a:rPr sz="1300" b="0">
                <a:solidFill>
                  <a:srgbClr val="060606"/>
                </a:solidFill>
                <a:latin typeface="Helvetica"/>
              </a:rPr>
              <a:t> Le FPPN encaisse des précomptes pour le compte de tiers ou pour des produits dont la nature n'est pas écrite.</a:t>
            </a:r>
          </a:p>
          <a:p>
            <a:pPr algn="just">
              <a:spcAft>
                <a:spcPts val="600"/>
              </a:spcAft>
            </a:pPr>
            <a:r>
              <a:rPr sz="1300" b="0">
                <a:solidFill>
                  <a:srgbClr val="060606"/>
                </a:solidFill>
                <a:latin typeface="Helvetica"/>
              </a:rPr>
              <a:t>Si le FPPN porte lui-même le risque de la flotte automobile, il exerce une activité d'assurance de dommages qui sort du champ des mutuelles sociales : la convention doit le préciser.</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GNA : assureur de la flotte automobile (compte 47111106) | MEDOC : produit santé complémentaire du poste 8Z7 | SCI : société civile immobilière | 9W3 : poste flotte automobile | 8Z7 : poste MEDOC</a:t>
            </a:r>
          </a:p>
        </p:txBody>
      </p:sp>
    </p:spTree>
    <p:extLst>
      <p:ext uri="{BB962C8B-B14F-4D97-AF65-F5344CB8AC3E}">
        <p14:creationId xmlns:p14="http://schemas.microsoft.com/office/powerpoint/2010/main" val="263122596"/>
      </p:ext>
    </p:extLst>
  </p:cSld>
  <p:clrMapOvr>
    <a:masterClrMapping/>
  </p:clrMapOvr>
  <p:transition>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9</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Bilan, provisions et placements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Provisions par produit, adossement, fonds propres, rendement</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432127227"/>
      </p:ext>
    </p:extLst>
  </p:cSld>
  <p:clrMapOvr>
    <a:masterClrMapping/>
  </p:clrMapOvr>
  <p:transition>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Provisions techniques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lit les comptes 19011000 et 19012000 jusqu'en 2023, puis 15801000 et 15802000 à partir de 2024 (prestations à payer).</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Fonds propres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fonds propres additionnent les comptes 10, 11 et 12 et le résultat de l'exercice, à chaque clôture.</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Adossement par échéance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classe l'actif selon son délai de mobilisation et le passif selon son échéance, puis compare les deux, tranche par tranche.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bilan n'a pas été transmis, et le 31/08/2026 est provisoire : il ne comprend ni amortissements ni écritures de fin d'année.</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lecture du bilan</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bilan est reconstitué compte par compte à partir des balances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Provisions, épargne, actifs et fonds propres sont calculés à chaque clôture, de 2020 au 31/08/2026</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Tree>
    <p:extLst>
      <p:ext uri="{BB962C8B-B14F-4D97-AF65-F5344CB8AC3E}">
        <p14:creationId xmlns:p14="http://schemas.microsoft.com/office/powerpoint/2010/main" val="1962872076"/>
      </p:ext>
    </p:extLst>
  </p:cSld>
  <p:clrMapOvr>
    <a:masterClrMapping/>
  </p:clrMapOvr>
  <p:transition>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provisions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deux comptes de provisions portent exactement le même montant sept ans de suite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Maladie 2 867 602 878 FCFA et obsèques 1 961 695 412 FCFA à chaque clôture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1" name="TextBox 30"/>
          <p:cNvSpPr txBox="1"/>
          <p:nvPr/>
        </p:nvSpPr>
        <p:spPr>
          <a:xfrm>
            <a:off x="503999" y="1350000"/>
            <a:ext cx="9072000" cy="180000"/>
          </a:xfrm>
          <a:prstGeom prst="rect">
            <a:avLst/>
          </a:prstGeom>
          <a:noFill/>
        </p:spPr>
        <p:txBody>
          <a:bodyPr wrap="square" anchor="t" lIns="54000" rIns="54000"/>
          <a:lstStyle/>
          <a:p>
            <a:pPr algn="l"/>
            <a:r>
              <a:rPr sz="900" b="0">
                <a:solidFill>
                  <a:srgbClr val="53565A"/>
                </a:solidFill>
                <a:latin typeface="Helvetica"/>
              </a:rPr>
              <a:t>Extrait : AUDIT ADENKA\DAFC\2020 à 2026 (balances des comptes)</a:t>
            </a:r>
          </a:p>
        </p:txBody>
      </p:sp>
      <p:graphicFrame>
        <p:nvGraphicFramePr>
          <p:cNvPr id="32" name="Table 31"/>
          <p:cNvGraphicFramePr>
            <a:graphicFrameLocks noGrp="1"/>
          </p:cNvGraphicFramePr>
          <p:nvPr/>
        </p:nvGraphicFramePr>
        <p:xfrm>
          <a:off x="503999" y="1548000"/>
          <a:ext cx="9072000" cy="1680072"/>
        </p:xfrm>
        <a:graphic>
          <a:graphicData uri="http://schemas.openxmlformats.org/drawingml/2006/table">
            <a:tbl>
              <a:tblPr firstRow="0" bandRow="0">
                <a:tableStyleId>{5940675A-B579-460E-94D1-54222C63F5DA}</a:tableStyleId>
              </a:tblPr>
              <a:tblGrid>
                <a:gridCol w="1296000"/>
                <a:gridCol w="1440000"/>
                <a:gridCol w="2448000"/>
                <a:gridCol w="1440000"/>
                <a:gridCol w="2448000"/>
              </a:tblGrid>
              <a:tr h="210009">
                <a:tc>
                  <a:txBody>
                    <a:bodyPr/>
                    <a:lstStyle/>
                    <a:p>
                      <a:pPr marL="0" indent="0" lvl="0">
                        <a:buNone/>
                      </a:pPr>
                      <a:r>
                        <a:rPr sz="1000" b="1">
                          <a:solidFill>
                            <a:srgbClr val="FFFFFF"/>
                          </a:solidFill>
                          <a:latin typeface="Helvetica"/>
                        </a:rPr>
                        <a:t>Clôture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 maladie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Provision maladie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 obsèques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Provision obsèques</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2020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2022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2023</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2024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15801000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15802000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31/08/2026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bl>
          </a:graphicData>
        </a:graphic>
      </p:graphicFrame>
      <p:sp>
        <p:nvSpPr>
          <p:cNvPr id="33" name="Rounded Rectangle 32"/>
          <p:cNvSpPr/>
          <p:nvPr/>
        </p:nvSpPr>
        <p:spPr>
          <a:xfrm>
            <a:off x="3221999" y="1747209"/>
            <a:ext cx="2484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5508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3221999" y="3007267"/>
            <a:ext cx="2484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508000" y="285606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1782000" y="2587247"/>
            <a:ext cx="1475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060000" y="2436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503999" y="33540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864000" y="3336076"/>
            <a:ext cx="8712000" cy="298144"/>
          </a:xfrm>
          <a:prstGeom prst="rect">
            <a:avLst/>
          </a:prstGeom>
          <a:noFill/>
        </p:spPr>
        <p:txBody>
          <a:bodyPr wrap="square" anchor="t" lIns="54000" rIns="54000"/>
          <a:lstStyle/>
          <a:p>
            <a:pPr algn="l"/>
            <a:r>
              <a:rPr sz="1200" b="0">
                <a:solidFill>
                  <a:srgbClr val="060606"/>
                </a:solidFill>
                <a:latin typeface="Helvetica"/>
              </a:rPr>
              <a:t>La provision maladie vaut le même montant en 2020…</a:t>
            </a:r>
          </a:p>
        </p:txBody>
      </p:sp>
      <p:sp>
        <p:nvSpPr>
          <p:cNvPr id="41" name="Oval 40"/>
          <p:cNvSpPr/>
          <p:nvPr/>
        </p:nvSpPr>
        <p:spPr>
          <a:xfrm>
            <a:off x="503999" y="3742221"/>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864000" y="3724221"/>
            <a:ext cx="8712000" cy="298144"/>
          </a:xfrm>
          <a:prstGeom prst="rect">
            <a:avLst/>
          </a:prstGeom>
          <a:noFill/>
        </p:spPr>
        <p:txBody>
          <a:bodyPr wrap="square" anchor="t" lIns="54000" rIns="54000"/>
          <a:lstStyle/>
          <a:p>
            <a:pPr algn="l"/>
            <a:r>
              <a:rPr sz="1200" b="0">
                <a:solidFill>
                  <a:srgbClr val="060606"/>
                </a:solidFill>
                <a:latin typeface="Helvetica"/>
              </a:rPr>
              <a:t>… et au 31/08/2026, au franc près.</a:t>
            </a:r>
          </a:p>
        </p:txBody>
      </p:sp>
      <p:sp>
        <p:nvSpPr>
          <p:cNvPr id="43" name="Oval 42"/>
          <p:cNvSpPr/>
          <p:nvPr/>
        </p:nvSpPr>
        <p:spPr>
          <a:xfrm>
            <a:off x="503999" y="4130365"/>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864000" y="4112365"/>
            <a:ext cx="8712000" cy="298144"/>
          </a:xfrm>
          <a:prstGeom prst="rect">
            <a:avLst/>
          </a:prstGeom>
          <a:noFill/>
        </p:spPr>
        <p:txBody>
          <a:bodyPr wrap="square" anchor="t" lIns="54000" rIns="54000"/>
          <a:lstStyle/>
          <a:p>
            <a:pPr algn="l"/>
            <a:r>
              <a:rPr sz="1200" b="0">
                <a:solidFill>
                  <a:srgbClr val="060606"/>
                </a:solidFill>
                <a:latin typeface="Helvetica"/>
              </a:rPr>
              <a:t>Seul le numéro de compte change en 2024, du compte 19 vers le compte 158.</a:t>
            </a:r>
          </a:p>
        </p:txBody>
      </p:sp>
      <p:sp>
        <p:nvSpPr>
          <p:cNvPr id="45" name="TextBox 44"/>
          <p:cNvSpPr txBox="1"/>
          <p:nvPr/>
        </p:nvSpPr>
        <p:spPr>
          <a:xfrm>
            <a:off x="503999" y="4554510"/>
            <a:ext cx="11232000" cy="1313489"/>
          </a:xfrm>
          <a:prstGeom prst="rect">
            <a:avLst/>
          </a:prstGeom>
          <a:noFill/>
        </p:spPr>
        <p:txBody>
          <a:bodyPr wrap="square" lIns="54000" rIns="54000"/>
          <a:lstStyle/>
          <a:p>
            <a:pPr algn="just">
              <a:spcAft>
                <a:spcPts val="600"/>
              </a:spcAft>
            </a:pPr>
            <a:r>
              <a:rPr sz="1200" b="1">
                <a:solidFill>
                  <a:srgbClr val="060606"/>
                </a:solidFill>
                <a:latin typeface="Helvetica"/>
              </a:rPr>
              <a:t>La provision n'est pas recalculée.</a:t>
            </a:r>
            <a:r>
              <a:rPr sz="1200" b="0">
                <a:solidFill>
                  <a:srgbClr val="060606"/>
                </a:solidFill>
                <a:latin typeface="Helvetica"/>
              </a:rPr>
              <a:t> Un montant identique au franc près pendant sept ans ne peut pas résulter d'une évaluation des dossiers en cours.</a:t>
            </a:r>
          </a:p>
          <a:p>
            <a:pPr algn="just">
              <a:spcAft>
                <a:spcPts val="600"/>
              </a:spcAft>
            </a:pPr>
            <a:r>
              <a:rPr sz="1200" b="0">
                <a:solidFill>
                  <a:srgbClr val="060606"/>
                </a:solidFill>
                <a:latin typeface="Helvetica"/>
              </a:rPr>
              <a:t>Le règlement d'exécution n° 004/2022 impose une provision pour prestations à payer calculée exercice par exercice, dossier par dossier, augmentée des sinistres non déclarés (art. 10). Le compte 158 est par ailleurs réservé aux provisions réglementées à caractère fiscal.</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957641371"/>
      </p:ext>
    </p:extLst>
  </p:cSld>
  <p:clrMapOvr>
    <a:masterClrMapping/>
  </p:clrMapOvr>
  <p:transition>
    <p:fad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Provisions techniques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provision ne couvre plus que 21 mois de prestations, contre 115 en 2021</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Provisions / prestations mensuelles : 115,14 mois en 2021, 29,50 en 2025, 21,48 en 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28 : Mois de prestations couverts par les provisions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de mois de prestations</a:t>
            </a:r>
          </a:p>
        </p:txBody>
      </p:sp>
      <p:graphicFrame>
        <p:nvGraphicFramePr>
          <p:cNvPr id="32" name="Chart 31"/>
          <p:cNvGraphicFramePr>
            <a:graphicFrameLocks noGrp="1"/>
          </p:cNvGraphicFramePr>
          <p:nvPr/>
        </p:nvGraphicFramePr>
        <p:xfrm>
          <a:off x="503999" y="1782000"/>
          <a:ext cx="6552000" cy="3888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provision vaut 4 829 298 290 FCFA chaque année.</a:t>
            </a:r>
          </a:p>
          <a:p>
            <a:pPr algn="just">
              <a:spcAft>
                <a:spcPts val="600"/>
              </a:spcAft>
            </a:pPr>
            <a:r>
              <a:rPr sz="1400" b="1">
                <a:solidFill>
                  <a:srgbClr val="060606"/>
                </a:solidFill>
                <a:latin typeface="Helvetica"/>
              </a:rPr>
              <a:t>Les prestations mensuelles passent de 41 942 486 FCFA en 2021 à 224 856 973 FCFA en 2026.</a:t>
            </a:r>
            <a:r>
              <a:rPr sz="1400" b="0">
                <a:solidFill>
                  <a:srgbClr val="060606"/>
                </a:solidFill>
                <a:latin typeface="Helvetica"/>
              </a:rPr>
              <a:t> La provision représente donc de moins en moins de mois de prestations.</a:t>
            </a:r>
          </a:p>
          <a:p>
            <a:pPr algn="just">
              <a:spcAft>
                <a:spcPts val="600"/>
              </a:spcAft>
            </a:pPr>
            <a:r>
              <a:rPr sz="1400" b="1">
                <a:solidFill>
                  <a:srgbClr val="060606"/>
                </a:solidFill>
                <a:latin typeface="Helvetica"/>
              </a:rPr>
              <a:t>Le calcul de la provision (PSAP, Chain Ladder) suppose les bases de prestations demandées</a:t>
            </a:r>
            <a:r>
              <a:rPr sz="1400" b="0">
                <a:solidFill>
                  <a:srgbClr val="060606"/>
                </a:solidFill>
                <a:latin typeface="Helvetica"/>
              </a:rPr>
              <a:t> (partie 12).</a:t>
            </a:r>
          </a:p>
          <a:p>
            <a:pPr algn="just">
              <a:spcAft>
                <a:spcPts val="600"/>
              </a:spcAft>
            </a:pPr>
            <a:r>
              <a:rPr sz="1400" b="0">
                <a:solidFill>
                  <a:srgbClr val="060606"/>
                </a:solidFill>
                <a:latin typeface="Helvetica"/>
              </a:rPr>
              <a:t>Si les délais de paiement s'allongent pendant que les prestations augmentent, la provision deviendra insuffisante : son recalcul est la première tâche dès réception des bases de prestations.</a:t>
            </a:r>
          </a:p>
        </p:txBody>
      </p:sp>
      <p:sp>
        <p:nvSpPr>
          <p:cNvPr id="35" name="TextBox 34"/>
          <p:cNvSpPr txBox="1"/>
          <p:nvPr/>
        </p:nvSpPr>
        <p:spPr>
          <a:xfrm>
            <a:off x="503999" y="5688000"/>
            <a:ext cx="6552000" cy="162000"/>
          </a:xfrm>
          <a:prstGeom prst="rect">
            <a:avLst/>
          </a:prstGeom>
          <a:noFill/>
        </p:spPr>
        <p:txBody>
          <a:bodyPr wrap="square" anchor="t" lIns="54000" rIns="54000"/>
          <a:lstStyle/>
          <a:p>
            <a:pPr algn="l"/>
            <a:r>
              <a:rPr sz="850" b="0">
                <a:solidFill>
                  <a:srgbClr val="53565A"/>
                </a:solidFill>
                <a:latin typeface="Helvetica"/>
              </a:rPr>
              <a:t>Valable pour : balances de 2020 au 31/08/2026, valeurs comptables non réévaluées. 2026 provisoire (huit mois).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PSAP : provision pour sinistres à payer</a:t>
            </a:r>
          </a:p>
        </p:txBody>
      </p:sp>
    </p:spTree>
    <p:extLst>
      <p:ext uri="{BB962C8B-B14F-4D97-AF65-F5344CB8AC3E}">
        <p14:creationId xmlns:p14="http://schemas.microsoft.com/office/powerpoint/2010/main" val="3369078462"/>
      </p:ext>
    </p:extLst>
  </p:cSld>
  <p:clrMapOvr>
    <a:masterClrMapping/>
  </p:clrMapOvr>
  <p:transition>
    <p:fad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Provisions attendues par produit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Seules la maladie et le décès ont une provision, figée depuis 2020</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règlement d'exécution n° 004/2022 prévoit quatre provisions techniques. Le FPPN n'en a constitué qu'une, sans la recalculer</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7 à 11. PCMS. Balances des comptes du FPPN (Sage 100), exercices 2020 à 2025 et du 01/01 au 31/08/2026 (provisoire).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33 : Provisions exigées et provisions au bilan, par produit</a:t>
            </a:r>
          </a:p>
        </p:txBody>
      </p:sp>
      <p:graphicFrame>
        <p:nvGraphicFramePr>
          <p:cNvPr id="32" name="Table 31"/>
          <p:cNvGraphicFramePr>
            <a:graphicFrameLocks noGrp="1"/>
          </p:cNvGraphicFramePr>
          <p:nvPr/>
        </p:nvGraphicFramePr>
        <p:xfrm>
          <a:off x="503999" y="1655999"/>
          <a:ext cx="11231998" cy="2438756"/>
        </p:xfrm>
        <a:graphic>
          <a:graphicData uri="http://schemas.openxmlformats.org/drawingml/2006/table">
            <a:tbl>
              <a:tblPr firstRow="0" bandRow="0">
                <a:tableStyleId>{5940675A-B579-460E-94D1-54222C63F5DA}</a:tableStyleId>
              </a:tblPr>
              <a:tblGrid>
                <a:gridCol w="1655999"/>
                <a:gridCol w="3384000"/>
                <a:gridCol w="2520000"/>
                <a:gridCol w="3671999"/>
              </a:tblGrid>
              <a:tr h="194768">
                <a:tc>
                  <a:txBody>
                    <a:bodyPr/>
                    <a:lstStyle/>
                    <a:p>
                      <a:pPr marL="0" indent="0" lvl="0">
                        <a:buNone/>
                      </a:pPr>
                      <a:r>
                        <a:rPr sz="90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Provision exigée (texte)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Au bilan du FPPN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Constat</a:t>
                      </a:r>
                    </a:p>
                  </a:txBody>
                  <a:tcPr marL="43200" marR="43200" marT="14400" marB="14400" anchor="ctr">
                    <a:solidFill>
                      <a:srgbClr val="060606"/>
                    </a:solidFill>
                  </a:tcPr>
                </a:tc>
              </a:tr>
              <a:tr h="469105">
                <a:tc>
                  <a:txBody>
                    <a:bodyPr/>
                    <a:lstStyle/>
                    <a:p>
                      <a:pPr marL="0" indent="0" lvl="0">
                        <a:buNone/>
                      </a:pPr>
                      <a:r>
                        <a:rPr sz="900" b="1">
                          <a:solidFill>
                            <a:srgbClr val="060606"/>
                          </a:solidFill>
                          <a:latin typeface="Helvetica"/>
                        </a:rPr>
                        <a:t>Maladie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PSAP dossier par dossier et sinistres tardifs (art. 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Montant hérité d'environ 2004. Aucune provision maladie calculée, factures rattachées jusqu'en mars (chef comptable, 19/10/2026).</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Décès (obsèques)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PSAP dossier par dossier et sinistres tardifs (art. 10)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1 961 695 412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Montant hérité d'environ 2004, inchangé. Calcul annuel des allocations restant à payer, compte à préciser.</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Toutes garanties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Provision pour risques en cours (art. 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Cotisation mensuelle : période non couverte d'un mois au plus, montant probablement faible.</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EFC, PEP</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Provision mathématique si un capital est garanti (art. 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Dettes d'épargne seulement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Règlement de l'EFC et du PEP non reçu : besoin non mesurable.</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Santé des retraités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Provision mathématique si garantie à vie (art. 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Âges et règles de la garantie non reçus.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Prêts du Grenier</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Dépréciation des créances (PCMS, prudence)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Aucune depuis 2022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Encours en retard connu par tranche, barème à appliquer.</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Flotte automobile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 provision technique (risque porté par GNA)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Compte de tiers 47111106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Trop-perçus à traiter comme une dette envers les adhérents.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Personnel du FPPN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Indemnités de départ à la retraite (SYSCOHADA révisé)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43 666 678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Provision annuelle au compte 196, méthode non communiquée.</a:t>
                      </a:r>
                    </a:p>
                  </a:txBody>
                  <a:tcPr marL="43200" marR="43200" marT="14400" marB="14400" anchor="ctr">
                    <a:solidFill>
                      <a:srgbClr val="F2F2F2"/>
                    </a:solidFill>
                  </a:tcPr>
                </a:tc>
              </a:tr>
            </a:tbl>
          </a:graphicData>
        </a:graphic>
      </p:graphicFrame>
      <p:sp>
        <p:nvSpPr>
          <p:cNvPr id="33" name="TextBox 32"/>
          <p:cNvSpPr txBox="1"/>
          <p:nvPr/>
        </p:nvSpPr>
        <p:spPr>
          <a:xfrm>
            <a:off x="503999" y="4112760"/>
            <a:ext cx="11232000" cy="162000"/>
          </a:xfrm>
          <a:prstGeom prst="rect">
            <a:avLst/>
          </a:prstGeom>
          <a:noFill/>
        </p:spPr>
        <p:txBody>
          <a:bodyPr wrap="square" anchor="t" lIns="54000" rIns="54000"/>
          <a:lstStyle/>
          <a:p>
            <a:pPr algn="l"/>
            <a:r>
              <a:rPr sz="850" b="0">
                <a:solidFill>
                  <a:srgbClr val="53565A"/>
                </a:solidFill>
                <a:latin typeface="Helvetica"/>
              </a:rPr>
              <a:t>Valable pour : balances de 2020 au 31/08/2026, valeurs comptables non réévaluées. 2026 provisoire (huit mois).</a:t>
            </a:r>
          </a:p>
        </p:txBody>
      </p:sp>
      <p:sp>
        <p:nvSpPr>
          <p:cNvPr id="34" name="TextBox 33"/>
          <p:cNvSpPr txBox="1"/>
          <p:nvPr/>
        </p:nvSpPr>
        <p:spPr>
          <a:xfrm>
            <a:off x="503999" y="4400760"/>
            <a:ext cx="11232000" cy="1467239"/>
          </a:xfrm>
          <a:prstGeom prst="rect">
            <a:avLst/>
          </a:prstGeom>
          <a:noFill/>
        </p:spPr>
        <p:txBody>
          <a:bodyPr wrap="square" lIns="54000" rIns="54000"/>
          <a:lstStyle/>
          <a:p>
            <a:pPr algn="just">
              <a:spcAft>
                <a:spcPts val="600"/>
              </a:spcAft>
            </a:pPr>
            <a:r>
              <a:rPr sz="1300" b="1">
                <a:solidFill>
                  <a:srgbClr val="060606"/>
                </a:solidFill>
                <a:latin typeface="Helvetica"/>
              </a:rPr>
              <a:t>La revue produit par produit montre trois manques : provision non recalculée, provisions mathématiques absentes, dépréciation des prêts absente.</a:t>
            </a:r>
            <a:r>
              <a:rPr sz="1300" b="0">
                <a:solidFill>
                  <a:srgbClr val="060606"/>
                </a:solidFill>
                <a:latin typeface="Helvetica"/>
              </a:rPr>
              <a:t> Le sens des écritures est correct (provisions au passif, au crédit), mais leur montant n'est pas une estimation.</a:t>
            </a:r>
          </a:p>
          <a:p>
            <a:pPr algn="just">
              <a:spcAft>
                <a:spcPts val="600"/>
              </a:spcAft>
            </a:pPr>
            <a:r>
              <a:rPr sz="1300" b="0">
                <a:solidFill>
                  <a:srgbClr val="060606"/>
                </a:solidFill>
                <a:latin typeface="Helvetica"/>
              </a:rPr>
              <a:t>Le FPPN ne peut pas justifier « à tout moment » des provisions suffisantes, comme l'exige l'article 7 du règlement d'exécution n° 004/2022. Les diapositives suivantes détaillent chaque point.</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PCMS : plan comptable des mutuelles sociales | PEP : Plan Épargne Plus | EFC : entraide fin de carrière | PSAP : provision pour sinistres à payer | SYSCOHADA : système comptable de l'OHADA | GNA : assureur de la flotte automobile (compte 47111106)</a:t>
            </a:r>
          </a:p>
        </p:txBody>
      </p:sp>
    </p:spTree>
    <p:extLst>
      <p:ext uri="{BB962C8B-B14F-4D97-AF65-F5344CB8AC3E}">
        <p14:creationId xmlns:p14="http://schemas.microsoft.com/office/powerpoint/2010/main" val="3500747108"/>
      </p:ext>
    </p:extLst>
  </p:cSld>
  <p:clrMapOvr>
    <a:masterClrMapping/>
  </p:clrMapOvr>
  <p:transition>
    <p:fad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PSAP et dettes envers les cliniques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factures des cliniques déjà enregistrées ne représentent qu'une petite part de la provision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2025 : PSAP maladie 2 867 602 878 FCFA, dettes envers les cliniques 242 140 869 FCFA</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29 : PSAP maladie et dettes envers les cliniques</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5976000" cy="3888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Les factures enregistrées représentent 1,64 mois de prestations en 2025, la PSAP 19,42 mois.</a:t>
            </a:r>
            <a:r>
              <a:rPr sz="1400" b="0">
                <a:solidFill>
                  <a:srgbClr val="060606"/>
                </a:solidFill>
                <a:latin typeface="Helvetica"/>
              </a:rPr>
              <a:t> La PSAP vaut 11,84 fois les dettes envers les cliniques.</a:t>
            </a:r>
          </a:p>
          <a:p>
            <a:pPr algn="just">
              <a:spcAft>
                <a:spcPts val="600"/>
              </a:spcAft>
            </a:pPr>
            <a:r>
              <a:rPr sz="1400" b="1">
                <a:solidFill>
                  <a:srgbClr val="060606"/>
                </a:solidFill>
                <a:latin typeface="Helvetica"/>
              </a:rPr>
              <a:t>La provision décès représente 121,88 mois de prestations décès de 2025.</a:t>
            </a:r>
            <a:r>
              <a:rPr sz="1400" b="0">
                <a:solidFill>
                  <a:srgbClr val="060606"/>
                </a:solidFill>
                <a:latin typeface="Helvetica"/>
              </a:rPr>
              <a:t> Un tel niveau n'a de sens que s'il correspond à des dossiers anciens non payés, dont la liste a été demandée.</a:t>
            </a:r>
          </a:p>
          <a:p>
            <a:pPr algn="just">
              <a:spcAft>
                <a:spcPts val="600"/>
              </a:spcAft>
            </a:pPr>
            <a:r>
              <a:rPr sz="1400" b="1">
                <a:solidFill>
                  <a:srgbClr val="060606"/>
                </a:solidFill>
                <a:latin typeface="Helvetica"/>
              </a:rPr>
              <a:t>Sans la base des prestations, on ne peut dire si la provision est trop forte ou trop faible.</a:t>
            </a:r>
            <a:r>
              <a:rPr sz="1400" b="0">
                <a:solidFill>
                  <a:srgbClr val="060606"/>
                </a:solidFill>
                <a:latin typeface="Helvetica"/>
              </a:rPr>
              <a:t> On peut seulement dire qu'elle ne suit ni les dettes, ni les prestations.</a:t>
            </a:r>
          </a:p>
          <a:p>
            <a:pPr algn="just">
              <a:spcAft>
                <a:spcPts val="600"/>
              </a:spcAft>
            </a:pPr>
            <a:r>
              <a:rPr sz="1400" b="0">
                <a:solidFill>
                  <a:srgbClr val="060606"/>
                </a:solidFill>
                <a:latin typeface="Helvetica"/>
              </a:rPr>
              <a:t>Le recalcul de la PSAP, dossier par dossier puis par la méthode CIMA des sinistres tardifs, est la première tâche dès réception des bases de prestations. D'ici là, le résultat de chaque exercice ne tient compte d'aucune variation de provision.</a:t>
            </a:r>
          </a:p>
        </p:txBody>
      </p:sp>
      <p:sp>
        <p:nvSpPr>
          <p:cNvPr id="35" name="TextBox 34"/>
          <p:cNvSpPr txBox="1"/>
          <p:nvPr/>
        </p:nvSpPr>
        <p:spPr>
          <a:xfrm>
            <a:off x="503999" y="5688000"/>
            <a:ext cx="5976000" cy="162000"/>
          </a:xfrm>
          <a:prstGeom prst="rect">
            <a:avLst/>
          </a:prstGeom>
          <a:noFill/>
        </p:spPr>
        <p:txBody>
          <a:bodyPr wrap="square" anchor="t" lIns="54000" rIns="54000"/>
          <a:lstStyle/>
          <a:p>
            <a:pPr algn="l"/>
            <a:r>
              <a:rPr sz="850" b="0">
                <a:solidFill>
                  <a:srgbClr val="53565A"/>
                </a:solidFill>
                <a:latin typeface="Helvetica"/>
              </a:rPr>
              <a:t>Valable pour : balances de 2020 au 31/08/2026, valeurs comptables non réévaluées. 2026 provisoire (huit mois).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PSAP : provision pour sinistres à payer</a:t>
            </a:r>
          </a:p>
        </p:txBody>
      </p:sp>
    </p:spTree>
    <p:extLst>
      <p:ext uri="{BB962C8B-B14F-4D97-AF65-F5344CB8AC3E}">
        <p14:creationId xmlns:p14="http://schemas.microsoft.com/office/powerpoint/2010/main" val="3265047766"/>
      </p:ext>
    </p:extLst>
  </p:cSld>
  <p:clrMapOvr>
    <a:masterClrMapping/>
  </p:clrMapOvr>
  <p:transition>
    <p:fad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Allocations décès : méthode du FPPN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dossiers non payés sont valorisés au barème, mais le compte utilisé n'est pas connu</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Question ouverte : où le calcul de fin d'année des allocations restant à payer est-il comptabilisé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(16h) avec M. Koffi, chef comptable (déclarations à confirmer par document)</a:t>
            </a:r>
          </a:p>
        </p:txBody>
      </p:sp>
      <p:sp>
        <p:nvSpPr>
          <p:cNvPr id="31" name="Logigramme d1"/>
          <p:cNvSpPr/>
          <p:nvPr/>
        </p:nvSpPr>
        <p:spPr>
          <a:xfrm>
            <a:off x="576000" y="1655999"/>
            <a:ext cx="1296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FFFFFF"/>
                </a:solidFill>
                <a:latin typeface="Helvetica"/>
              </a:rPr>
              <a:t>Liste des décès</a:t>
            </a:r>
          </a:p>
          <a:p>
            <a:pPr algn="ctr"/>
            <a:r>
              <a:rPr sz="900" b="1">
                <a:solidFill>
                  <a:srgbClr val="FFFFFF"/>
                </a:solidFill>
                <a:latin typeface="Helvetica"/>
              </a:rPr>
              <a:t>(direction du personnel)</a:t>
            </a:r>
          </a:p>
        </p:txBody>
      </p:sp>
      <p:sp>
        <p:nvSpPr>
          <p:cNvPr id="32" name="Logigramme d2"/>
          <p:cNvSpPr/>
          <p:nvPr/>
        </p:nvSpPr>
        <p:spPr>
          <a:xfrm>
            <a:off x="2178000" y="1655999"/>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Informaticien :</a:t>
            </a:r>
          </a:p>
          <a:p>
            <a:pPr algn="ctr"/>
            <a:r>
              <a:rPr sz="900" b="0">
                <a:solidFill>
                  <a:srgbClr val="060606"/>
                </a:solidFill>
                <a:latin typeface="Helvetica"/>
              </a:rPr>
              <a:t>arrêt du précompte</a:t>
            </a:r>
          </a:p>
        </p:txBody>
      </p:sp>
      <p:sp>
        <p:nvSpPr>
          <p:cNvPr id="33" name="Logigramme d3"/>
          <p:cNvSpPr/>
          <p:nvPr/>
        </p:nvSpPr>
        <p:spPr>
          <a:xfrm>
            <a:off x="3780000" y="1655999"/>
            <a:ext cx="1296000" cy="576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Liste annuelle</a:t>
            </a:r>
          </a:p>
          <a:p>
            <a:pPr algn="ctr"/>
            <a:r>
              <a:rPr sz="900" b="0">
                <a:solidFill>
                  <a:srgbClr val="060606"/>
                </a:solidFill>
                <a:latin typeface="Helvetica"/>
              </a:rPr>
              <a:t>au chef comptable</a:t>
            </a:r>
          </a:p>
        </p:txBody>
      </p:sp>
      <p:sp>
        <p:nvSpPr>
          <p:cNvPr id="34" name="Logigramme d4"/>
          <p:cNvSpPr/>
          <p:nvPr/>
        </p:nvSpPr>
        <p:spPr>
          <a:xfrm>
            <a:off x="5382000" y="1655999"/>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Pointage avec les</a:t>
            </a:r>
          </a:p>
          <a:p>
            <a:pPr algn="ctr"/>
            <a:r>
              <a:rPr sz="900" b="0">
                <a:solidFill>
                  <a:srgbClr val="060606"/>
                </a:solidFill>
                <a:latin typeface="Helvetica"/>
              </a:rPr>
              <a:t>allocations payées</a:t>
            </a:r>
          </a:p>
        </p:txBody>
      </p:sp>
      <p:sp>
        <p:nvSpPr>
          <p:cNvPr id="35" name="Logigramme d5"/>
          <p:cNvSpPr/>
          <p:nvPr/>
        </p:nvSpPr>
        <p:spPr>
          <a:xfrm>
            <a:off x="6984000" y="1601999"/>
            <a:ext cx="1296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Allocation</a:t>
            </a:r>
          </a:p>
          <a:p>
            <a:pPr algn="ctr"/>
            <a:r>
              <a:rPr sz="850" b="0">
                <a:solidFill>
                  <a:srgbClr val="060606"/>
                </a:solidFill>
                <a:latin typeface="Helvetica"/>
              </a:rPr>
              <a:t>payée ?</a:t>
            </a:r>
          </a:p>
        </p:txBody>
      </p:sp>
      <p:sp>
        <p:nvSpPr>
          <p:cNvPr id="36" name="Logigramme d6"/>
          <p:cNvSpPr/>
          <p:nvPr/>
        </p:nvSpPr>
        <p:spPr>
          <a:xfrm>
            <a:off x="8586000" y="1655999"/>
            <a:ext cx="1296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FFFFFF"/>
                </a:solidFill>
                <a:latin typeface="Helvetica"/>
              </a:rPr>
              <a:t>Charge de</a:t>
            </a:r>
          </a:p>
          <a:p>
            <a:pPr algn="ctr"/>
            <a:r>
              <a:rPr sz="900" b="1">
                <a:solidFill>
                  <a:srgbClr val="FFFFFF"/>
                </a:solidFill>
                <a:latin typeface="Helvetica"/>
              </a:rPr>
              <a:t>l'exercice</a:t>
            </a:r>
          </a:p>
        </p:txBody>
      </p:sp>
      <p:sp>
        <p:nvSpPr>
          <p:cNvPr id="37" name="Logigramme d7"/>
          <p:cNvSpPr/>
          <p:nvPr/>
        </p:nvSpPr>
        <p:spPr>
          <a:xfrm>
            <a:off x="6984000" y="2951999"/>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Valorisation au</a:t>
            </a:r>
          </a:p>
          <a:p>
            <a:pPr algn="ctr"/>
            <a:r>
              <a:rPr sz="900" b="0">
                <a:solidFill>
                  <a:srgbClr val="060606"/>
                </a:solidFill>
                <a:latin typeface="Helvetica"/>
              </a:rPr>
              <a:t>barème par grade</a:t>
            </a:r>
          </a:p>
        </p:txBody>
      </p:sp>
      <p:sp>
        <p:nvSpPr>
          <p:cNvPr id="38" name="Logigramme d8"/>
          <p:cNvSpPr/>
          <p:nvPr/>
        </p:nvSpPr>
        <p:spPr>
          <a:xfrm>
            <a:off x="8586000" y="2951999"/>
            <a:ext cx="1296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C00000"/>
                </a:solidFill>
                <a:latin typeface="Helvetica"/>
              </a:rPr>
              <a:t>Compte de la</a:t>
            </a:r>
          </a:p>
          <a:p>
            <a:pPr algn="ctr"/>
            <a:r>
              <a:rPr sz="900" b="1">
                <a:solidFill>
                  <a:srgbClr val="C00000"/>
                </a:solidFill>
                <a:latin typeface="Helvetica"/>
              </a:rPr>
              <a:t>provision à préciser</a:t>
            </a:r>
          </a:p>
        </p:txBody>
      </p:sp>
      <p:sp>
        <p:nvSpPr>
          <p:cNvPr id="39" name="Logigramme d9"/>
          <p:cNvSpPr/>
          <p:nvPr/>
        </p:nvSpPr>
        <p:spPr>
          <a:xfrm>
            <a:off x="576000" y="2951999"/>
            <a:ext cx="1296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C00000"/>
                </a:solidFill>
                <a:latin typeface="Helvetica"/>
              </a:rPr>
              <a:t>Décès d'ayants droit</a:t>
            </a:r>
          </a:p>
          <a:p>
            <a:pPr algn="ctr"/>
            <a:r>
              <a:rPr sz="900" b="1">
                <a:solidFill>
                  <a:srgbClr val="C00000"/>
                </a:solidFill>
                <a:latin typeface="Helvetica"/>
              </a:rPr>
              <a:t>non déclarés</a:t>
            </a:r>
          </a:p>
        </p:txBody>
      </p:sp>
      <p:cxnSp>
        <p:nvCxnSpPr>
          <p:cNvPr id="40" name="Flèche d1 vers d2"/>
          <p:cNvCxnSpPr>
            <a:stCxn id="31" idx="3"/>
            <a:endCxn id="32" idx="1"/>
          </p:cNvCxnSpPr>
          <p:nvPr/>
        </p:nvCxnSpPr>
        <p:spPr>
          <a:xfrm flipV="1">
            <a:off x="1872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Flèche d2 vers d3"/>
          <p:cNvCxnSpPr>
            <a:stCxn id="32" idx="3"/>
            <a:endCxn id="33" idx="1"/>
          </p:cNvCxnSpPr>
          <p:nvPr/>
        </p:nvCxnSpPr>
        <p:spPr>
          <a:xfrm flipV="1">
            <a:off x="3474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Flèche d3 vers d4"/>
          <p:cNvCxnSpPr>
            <a:stCxn id="33" idx="3"/>
            <a:endCxn id="34" idx="1"/>
          </p:cNvCxnSpPr>
          <p:nvPr/>
        </p:nvCxnSpPr>
        <p:spPr>
          <a:xfrm flipV="1">
            <a:off x="5076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Flèche d4 vers d5"/>
          <p:cNvCxnSpPr>
            <a:stCxn id="34" idx="3"/>
            <a:endCxn id="35" idx="1"/>
          </p:cNvCxnSpPr>
          <p:nvPr/>
        </p:nvCxnSpPr>
        <p:spPr>
          <a:xfrm flipV="1">
            <a:off x="6678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Flèche d5 vers d6"/>
          <p:cNvCxnSpPr>
            <a:stCxn id="35" idx="3"/>
            <a:endCxn id="36" idx="1"/>
          </p:cNvCxnSpPr>
          <p:nvPr/>
        </p:nvCxnSpPr>
        <p:spPr>
          <a:xfrm flipV="1">
            <a:off x="8280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8323200" y="1763998"/>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oui</a:t>
            </a:r>
          </a:p>
        </p:txBody>
      </p:sp>
      <p:cxnSp>
        <p:nvCxnSpPr>
          <p:cNvPr id="46" name="Flèche d5 vers d7"/>
          <p:cNvCxnSpPr>
            <a:stCxn id="35" idx="2"/>
            <a:endCxn id="37" idx="0"/>
          </p:cNvCxnSpPr>
          <p:nvPr/>
        </p:nvCxnSpPr>
        <p:spPr>
          <a:xfrm flipH="1">
            <a:off x="7632000" y="2285999"/>
            <a:ext cx="0" cy="666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7685999" y="23039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non</a:t>
            </a:r>
          </a:p>
        </p:txBody>
      </p:sp>
      <p:cxnSp>
        <p:nvCxnSpPr>
          <p:cNvPr id="48" name="Flèche d7 vers d8"/>
          <p:cNvCxnSpPr>
            <a:stCxn id="37" idx="3"/>
            <a:endCxn id="38" idx="1"/>
          </p:cNvCxnSpPr>
          <p:nvPr/>
        </p:nvCxnSpPr>
        <p:spPr>
          <a:xfrm flipV="1">
            <a:off x="8280000" y="3239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Flèche d1 vers d9"/>
          <p:cNvCxnSpPr>
            <a:stCxn id="31" idx="2"/>
            <a:endCxn id="39" idx="0"/>
          </p:cNvCxnSpPr>
          <p:nvPr/>
        </p:nvCxnSpPr>
        <p:spPr>
          <a:xfrm flipH="1">
            <a:off x="1224000" y="2231999"/>
            <a:ext cx="0" cy="720000"/>
          </a:xfrm>
          <a:prstGeom prst="line">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1278000" y="22499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hors liste</a:t>
            </a:r>
          </a:p>
        </p:txBody>
      </p:sp>
      <p:sp>
        <p:nvSpPr>
          <p:cNvPr id="51" name="TextBox 50"/>
          <p:cNvSpPr txBox="1"/>
          <p:nvPr/>
        </p:nvSpPr>
        <p:spPr>
          <a:xfrm>
            <a:off x="503999" y="3816000"/>
            <a:ext cx="11232000" cy="2052000"/>
          </a:xfrm>
          <a:prstGeom prst="rect">
            <a:avLst/>
          </a:prstGeom>
          <a:noFill/>
        </p:spPr>
        <p:txBody>
          <a:bodyPr wrap="square" lIns="54000" rIns="54000"/>
          <a:lstStyle/>
          <a:p>
            <a:pPr algn="just">
              <a:spcAft>
                <a:spcPts val="600"/>
              </a:spcAft>
            </a:pPr>
            <a:r>
              <a:rPr sz="1200" b="1">
                <a:solidFill>
                  <a:srgbClr val="060606"/>
                </a:solidFill>
                <a:latin typeface="Helvetica"/>
              </a:rPr>
              <a:t>La méthode du FPPN se rapproche d'une évaluation dossier par dossier.</a:t>
            </a:r>
            <a:r>
              <a:rPr sz="1200" b="0">
                <a:solidFill>
                  <a:srgbClr val="060606"/>
                </a:solidFill>
                <a:latin typeface="Helvetica"/>
              </a:rPr>
              <a:t> La liste des décès transmise par la direction du personnel est rapprochée des allocations payées. Les dossiers restants sont valorisés au barème par grade.</a:t>
            </a:r>
          </a:p>
          <a:p>
            <a:pPr algn="just">
              <a:spcAft>
                <a:spcPts val="600"/>
              </a:spcAft>
            </a:pPr>
            <a:r>
              <a:rPr sz="1200" b="1">
                <a:solidFill>
                  <a:srgbClr val="060606"/>
                </a:solidFill>
                <a:latin typeface="Helvetica"/>
              </a:rPr>
              <a:t>Question ouverte : le compte de provision décès (15802000) ne bouge pas depuis 2020.</a:t>
            </a:r>
            <a:r>
              <a:rPr sz="1200" b="0">
                <a:solidFill>
                  <a:srgbClr val="060606"/>
                </a:solidFill>
                <a:latin typeface="Helvetica"/>
              </a:rPr>
              <a:t> Le rapport ne peut donc pas dire où ce calcul annuel est comptabilisé, ni s'il l'est.</a:t>
            </a:r>
          </a:p>
          <a:p>
            <a:pPr algn="just">
              <a:spcAft>
                <a:spcPts val="600"/>
              </a:spcAft>
            </a:pPr>
            <a:r>
              <a:rPr sz="1200" b="1">
                <a:solidFill>
                  <a:srgbClr val="060606"/>
                </a:solidFill>
                <a:latin typeface="Helvetica"/>
              </a:rPr>
              <a:t>Les décès de conjoints et d'enfants n'apparaissent que s'ils sont déclarés.</a:t>
            </a:r>
            <a:r>
              <a:rPr sz="1200" b="0">
                <a:solidFill>
                  <a:srgbClr val="060606"/>
                </a:solidFill>
                <a:latin typeface="Helvetica"/>
              </a:rPr>
              <a:t> Ils relèvent des sinistres tardifs.</a:t>
            </a:r>
          </a:p>
          <a:p>
            <a:pPr algn="just">
              <a:spcAft>
                <a:spcPts val="600"/>
              </a:spcAft>
            </a:pPr>
            <a:r>
              <a:rPr sz="1200" b="0">
                <a:solidFill>
                  <a:srgbClr val="060606"/>
                </a:solidFill>
                <a:latin typeface="Helvetica"/>
              </a:rPr>
              <a:t>Le règlement d'exécution n° 004/2022 (art. 10) demande cette évaluation dossier par dossier, plus les sinistres tardifs. La méthode du FPPN peut servir de base, si son résultat est comptabilisé et documenté.</a:t>
            </a:r>
          </a:p>
        </p:txBody>
      </p:sp>
      <p:sp>
        <p:nvSpPr>
          <p:cNvPr id="52" name="TextBox 5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876473848"/>
      </p:ext>
    </p:extLst>
  </p:cSld>
  <p:clrMapOvr>
    <a:masterClrMapping/>
  </p:clrMapOvr>
  <p:transition>
    <p:fad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CIMA des sinistres tardifs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texte UEMOA exige d'estimer les sinistres non déclarés sans dire comment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attente des bases de prestations : la méthode CIMA sert de référence technique, appliquée garantie par garantie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10. Code CIMA (méthode de référence, article à citer à réception du texte)</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34 : Étapes de la méthode CIMA des sinistres tardifs</a:t>
            </a:r>
          </a:p>
        </p:txBody>
      </p:sp>
      <p:graphicFrame>
        <p:nvGraphicFramePr>
          <p:cNvPr id="32" name="Table 31"/>
          <p:cNvGraphicFramePr>
            <a:graphicFrameLocks noGrp="1"/>
          </p:cNvGraphicFramePr>
          <p:nvPr/>
        </p:nvGraphicFramePr>
        <p:xfrm>
          <a:off x="503999" y="1655999"/>
          <a:ext cx="11232000" cy="1637714"/>
        </p:xfrm>
        <a:graphic>
          <a:graphicData uri="http://schemas.openxmlformats.org/drawingml/2006/table">
            <a:tbl>
              <a:tblPr firstRow="0" bandRow="0">
                <a:tableStyleId>{5940675A-B579-460E-94D1-54222C63F5DA}</a:tableStyleId>
              </a:tblPr>
              <a:tblGrid>
                <a:gridCol w="1440000"/>
                <a:gridCol w="4536000"/>
                <a:gridCol w="5256000"/>
              </a:tblGrid>
              <a:tr h="194768">
                <a:tc>
                  <a:txBody>
                    <a:bodyPr/>
                    <a:lstStyle/>
                    <a:p>
                      <a:pPr marL="0" indent="0" lvl="0">
                        <a:buNone/>
                      </a:pPr>
                      <a:r>
                        <a:rPr sz="900" b="1">
                          <a:solidFill>
                            <a:srgbClr val="FFFFFF"/>
                          </a:solidFill>
                          <a:latin typeface="Helvetica"/>
                        </a:rPr>
                        <a:t>Étape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Calcul</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Explication simple</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1. Triangle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N(n, n + k) : sinistres survenus l'année n et déclarés l'année n + k</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On compte les sinistres selon l'année des soins ou du décès et l'année où le FPPN les apprend.</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 Taux de retard</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N(n, n + k) / N(n, 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Pour chaque année, on rapporte les déclarations tardives aux déclarations de l'année.</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3. Coefficient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coef(k) = Σ des moyennes des taux de retard au-delà de k</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On fait la moyenne sur les années connues, puis on additionne les retards encore à venir.</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4. Nombre de tardifs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coef × N(n, 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On estime combien de sinistres de chaque année ne sont pas encore connus.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5. Coût moyen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Charge cumulée / nombre cumulé de sinistres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On mesure ce que coûte un sinistre en moyenne.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6. Provision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Σ nombre de tardifs × coût moyen. PSAP = dossiers connus + tardifs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On ajoute ce montant à la provision des dossiers connus.</a:t>
                      </a:r>
                    </a:p>
                  </a:txBody>
                  <a:tcPr marL="43200" marR="43200" marT="14400" marB="14400" anchor="ctr">
                    <a:solidFill>
                      <a:srgbClr val="F2F2F2"/>
                    </a:solidFill>
                  </a:tcPr>
                </a:tc>
              </a:tr>
            </a:tbl>
          </a:graphicData>
        </a:graphic>
      </p:graphicFrame>
      <p:sp>
        <p:nvSpPr>
          <p:cNvPr id="33" name="TextBox 32"/>
          <p:cNvSpPr txBox="1"/>
          <p:nvPr/>
        </p:nvSpPr>
        <p:spPr>
          <a:xfrm>
            <a:off x="503999" y="3311717"/>
            <a:ext cx="11232000" cy="162000"/>
          </a:xfrm>
          <a:prstGeom prst="rect">
            <a:avLst/>
          </a:prstGeom>
          <a:noFill/>
        </p:spPr>
        <p:txBody>
          <a:bodyPr wrap="square" anchor="t" lIns="54000" rIns="54000"/>
          <a:lstStyle/>
          <a:p>
            <a:pPr algn="l"/>
            <a:r>
              <a:rPr sz="850" b="0">
                <a:solidFill>
                  <a:srgbClr val="53565A"/>
                </a:solidFill>
                <a:latin typeface="Helvetica"/>
              </a:rPr>
              <a:t>Valable pour : balances de 2020 au 31/08/2026, valeurs comptables non réévaluées. 2026 provisoire (huit mois).</a:t>
            </a:r>
          </a:p>
        </p:txBody>
      </p:sp>
      <p:sp>
        <p:nvSpPr>
          <p:cNvPr id="34" name="TextBox 33"/>
          <p:cNvSpPr txBox="1"/>
          <p:nvPr/>
        </p:nvSpPr>
        <p:spPr>
          <a:xfrm>
            <a:off x="503999" y="3599717"/>
            <a:ext cx="11232000" cy="2268282"/>
          </a:xfrm>
          <a:prstGeom prst="rect">
            <a:avLst/>
          </a:prstGeom>
          <a:noFill/>
        </p:spPr>
        <p:txBody>
          <a:bodyPr wrap="square" lIns="54000" rIns="54000"/>
          <a:lstStyle/>
          <a:p>
            <a:pPr algn="just">
              <a:spcAft>
                <a:spcPts val="600"/>
              </a:spcAft>
            </a:pPr>
            <a:r>
              <a:rPr sz="1300" b="1">
                <a:solidFill>
                  <a:srgbClr val="060606"/>
                </a:solidFill>
                <a:latin typeface="Helvetica"/>
              </a:rPr>
              <a:t>Le calcul demande, pour chaque dossier, la date de survenance, la date de déclaration et le montant.</a:t>
            </a:r>
            <a:r>
              <a:rPr sz="1300" b="0">
                <a:solidFill>
                  <a:srgbClr val="060606"/>
                </a:solidFill>
                <a:latin typeface="Helvetica"/>
              </a:rPr>
              <a:t> Ces bases ont été demandées pour la maladie et le décès et ne sont pas encore reçues (PBC).</a:t>
            </a:r>
          </a:p>
          <a:p>
            <a:pPr algn="just">
              <a:spcAft>
                <a:spcPts val="600"/>
              </a:spcAft>
            </a:pPr>
            <a:r>
              <a:rPr sz="1300" b="0">
                <a:solidFill>
                  <a:srgbClr val="060606"/>
                </a:solidFill>
                <a:latin typeface="Helvetica"/>
              </a:rPr>
              <a:t>Analyse en attente des documents. Le rapport présentera, pour chaque garantie, la PSAP du FPPN, la PSAP dossier par dossier et la PSAP selon la méthode CIMA, avec l'écart et son effet sur le résultat.</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CIMA : Conférence interafricaine des marchés d'assurances | PSAP : provision pour sinistres à payer | PBC : liste des documents demandés au client</a:t>
            </a:r>
          </a:p>
        </p:txBody>
      </p:sp>
    </p:spTree>
    <p:extLst>
      <p:ext uri="{BB962C8B-B14F-4D97-AF65-F5344CB8AC3E}">
        <p14:creationId xmlns:p14="http://schemas.microsoft.com/office/powerpoint/2010/main" val="2876760931"/>
      </p:ext>
    </p:extLst>
  </p:cSld>
  <p:clrMapOvr>
    <a:masterClrMapping/>
  </p:clrMapOvr>
  <p:transition>
    <p:fad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Dépréciation des prêts du Grenier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Aucune dépréciation n'est passée, alors que des prêts ont plus d'un an de retard</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en retard de plus de 90 jours : 7 044 342 FCFA au 31/12/2025 et 17 845 260 FCFA au 31/08/2026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 PCMS. BCEAO (barème des SFD, à transmettre)</a:t>
            </a:r>
          </a:p>
        </p:txBody>
      </p:sp>
      <p:sp>
        <p:nvSpPr>
          <p:cNvPr id="31" name="TextBox 30"/>
          <p:cNvSpPr txBox="1"/>
          <p:nvPr/>
        </p:nvSpPr>
        <p:spPr>
          <a:xfrm>
            <a:off x="503999" y="1386000"/>
            <a:ext cx="9864000" cy="216000"/>
          </a:xfrm>
          <a:prstGeom prst="rect">
            <a:avLst/>
          </a:prstGeom>
          <a:noFill/>
        </p:spPr>
        <p:txBody>
          <a:bodyPr wrap="square" anchor="t" lIns="54000" rIns="54000"/>
          <a:lstStyle/>
          <a:p>
            <a:pPr algn="ctr"/>
            <a:r>
              <a:rPr sz="1200" b="0">
                <a:solidFill>
                  <a:srgbClr val="EFAC62"/>
                </a:solidFill>
                <a:latin typeface="Helvetica"/>
              </a:rPr>
              <a:t>Tableau 35 : Encours du Grenier par tranche de retard</a:t>
            </a:r>
          </a:p>
        </p:txBody>
      </p:sp>
      <p:graphicFrame>
        <p:nvGraphicFramePr>
          <p:cNvPr id="32" name="Table 31"/>
          <p:cNvGraphicFramePr>
            <a:graphicFrameLocks noGrp="1"/>
          </p:cNvGraphicFramePr>
          <p:nvPr/>
        </p:nvGraphicFramePr>
        <p:xfrm>
          <a:off x="503999" y="1655999"/>
          <a:ext cx="9863999" cy="1500545"/>
        </p:xfrm>
        <a:graphic>
          <a:graphicData uri="http://schemas.openxmlformats.org/drawingml/2006/table">
            <a:tbl>
              <a:tblPr firstRow="0" bandRow="0">
                <a:tableStyleId>{5940675A-B579-460E-94D1-54222C63F5DA}</a:tableStyleId>
              </a:tblPr>
              <a:tblGrid>
                <a:gridCol w="1655999"/>
                <a:gridCol w="1224000"/>
                <a:gridCol w="2160000"/>
                <a:gridCol w="1224000"/>
                <a:gridCol w="2160000"/>
                <a:gridCol w="1440000"/>
              </a:tblGrid>
              <a:tr h="331937">
                <a:tc>
                  <a:txBody>
                    <a:bodyPr/>
                    <a:lstStyle/>
                    <a:p>
                      <a:pPr marL="0" indent="0" lvl="0">
                        <a:buNone/>
                      </a:pPr>
                      <a:r>
                        <a:rPr sz="900" b="1">
                          <a:solidFill>
                            <a:srgbClr val="FFFFFF"/>
                          </a:solidFill>
                          <a:latin typeface="Helvetica"/>
                        </a:rPr>
                        <a:t>Tranche de retard</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Prêts au 31/12/2025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Encours au 31/12/2025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Prêts au 31/08/2026</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Encours au 31/08/2026</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Taux BCEAO</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À jour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672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232 132 444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2 793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1 018 427 306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En attente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1 à 30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1 793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566 005 320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6 712 196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En attente</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31 à 90 jours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24 441 213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1 317 345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En attente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91 à 180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2 683 220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3 018 448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En attente</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181 à 365 jours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3 441 406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10 088 997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En attente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Plus de 365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919 716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4 737 815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En attente</a:t>
                      </a:r>
                    </a:p>
                  </a:txBody>
                  <a:tcPr marL="43200" marR="43200" marT="14400" marB="14400" anchor="ctr">
                    <a:solidFill>
                      <a:srgbClr val="F2F2F2"/>
                    </a:solidFill>
                  </a:tcPr>
                </a:tc>
              </a:tr>
            </a:tbl>
          </a:graphicData>
        </a:graphic>
      </p:graphicFrame>
      <p:sp>
        <p:nvSpPr>
          <p:cNvPr id="33" name="TextBox 32"/>
          <p:cNvSpPr txBox="1"/>
          <p:nvPr/>
        </p:nvSpPr>
        <p:spPr>
          <a:xfrm>
            <a:off x="503999" y="3174549"/>
            <a:ext cx="11232000" cy="162000"/>
          </a:xfrm>
          <a:prstGeom prst="rect">
            <a:avLst/>
          </a:prstGeom>
          <a:noFill/>
        </p:spPr>
        <p:txBody>
          <a:bodyPr wrap="square" anchor="t" lIns="54000" rIns="54000"/>
          <a:lstStyle/>
          <a:p>
            <a:pPr algn="l"/>
            <a:r>
              <a:rPr sz="850" b="0">
                <a:solidFill>
                  <a:srgbClr val="53565A"/>
                </a:solidFill>
                <a:latin typeface="Helvetica"/>
              </a:rPr>
              <a:t>Valable pour : balances de 2020 au 31/08/2026, valeurs comptables non réévaluées. 2026 provisoire (huit mois).</a:t>
            </a:r>
          </a:p>
        </p:txBody>
      </p:sp>
      <p:sp>
        <p:nvSpPr>
          <p:cNvPr id="34" name="TextBox 33"/>
          <p:cNvSpPr txBox="1"/>
          <p:nvPr/>
        </p:nvSpPr>
        <p:spPr>
          <a:xfrm>
            <a:off x="503999" y="3462549"/>
            <a:ext cx="11232000" cy="2405450"/>
          </a:xfrm>
          <a:prstGeom prst="rect">
            <a:avLst/>
          </a:prstGeom>
          <a:noFill/>
        </p:spPr>
        <p:txBody>
          <a:bodyPr wrap="square" lIns="54000" rIns="54000"/>
          <a:lstStyle/>
          <a:p>
            <a:pPr algn="just">
              <a:spcAft>
                <a:spcPts val="600"/>
              </a:spcAft>
            </a:pPr>
            <a:r>
              <a:rPr sz="1300" b="1">
                <a:solidFill>
                  <a:srgbClr val="060606"/>
                </a:solidFill>
                <a:latin typeface="Helvetica"/>
              </a:rPr>
              <a:t>La dépréciation sera calculée tranche par tranche dès réception du barème</a:t>
            </a:r>
            <a:r>
              <a:rPr sz="1300" b="0">
                <a:solidFill>
                  <a:srgbClr val="060606"/>
                </a:solidFill>
                <a:latin typeface="Helvetica"/>
              </a:rPr>
              <a:t> : encours de la tranche multiplié par le taux de la tranche. Les tranches de plus de 90 jours portent l'essentiel du risque.</a:t>
            </a:r>
          </a:p>
          <a:p>
            <a:pPr algn="just">
              <a:spcAft>
                <a:spcPts val="600"/>
              </a:spcAft>
            </a:pPr>
            <a:r>
              <a:rPr sz="1300" b="1">
                <a:solidFill>
                  <a:srgbClr val="060606"/>
                </a:solidFill>
                <a:latin typeface="Helvetica"/>
              </a:rPr>
              <a:t>Le remboursement par précompte réduit le risque, sauf pour les agents sortis ou non précomptés.</a:t>
            </a:r>
            <a:r>
              <a:rPr sz="1300" b="0">
                <a:solidFill>
                  <a:srgbClr val="060606"/>
                </a:solidFill>
                <a:latin typeface="Helvetica"/>
              </a:rPr>
              <a:t> Les prêts à mécano anormal (partie 7) sont à examiner un par un.</a:t>
            </a:r>
          </a:p>
          <a:p>
            <a:pPr algn="just">
              <a:spcAft>
                <a:spcPts val="600"/>
              </a:spcAft>
            </a:pPr>
            <a:r>
              <a:rPr sz="1300" b="0">
                <a:solidFill>
                  <a:srgbClr val="060606"/>
                </a:solidFill>
                <a:latin typeface="Helvetica"/>
              </a:rPr>
              <a:t>Sans dépréciation, l'actif et les fonds propres sont surévalués, et les ratios de la partie 10 un peu trop favorables. Le montant en jeu reste faible au regard de l'encours (partie 7).</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PCMS : plan comptable des mutuelles sociales | BCEAO : Banque centrale des États de l'Afrique de l'Ouest | SFD : systèmes financiers décentralisés</a:t>
            </a:r>
          </a:p>
        </p:txBody>
      </p:sp>
    </p:spTree>
    <p:extLst>
      <p:ext uri="{BB962C8B-B14F-4D97-AF65-F5344CB8AC3E}">
        <p14:creationId xmlns:p14="http://schemas.microsoft.com/office/powerpoint/2010/main" val="2297680522"/>
      </p:ext>
    </p:extLst>
  </p:cSld>
  <p:clrMapOvr>
    <a:masterClrMapping/>
  </p:clrMapOvr>
  <p:transition>
    <p:fad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Flotte automobile : risque porté par GNA</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est apporteur d'affaires de GNA et ne doit pas de provision technique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Commission déclarée de 20 % des primes collectées, versée en fin d'année. Trop-perçus à traiter comme une dette envers les adhérents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entretiens du 19/10/2026 (à confirmer par document). Balances des comptes du FPPN (Sage 100), exercices 2020 à 2025 et du 01/01 au 31/08/2026 (provisoire). Traitements Adenka. Fichiers de précomptes reçus le 15/10/2026</a:t>
            </a:r>
          </a:p>
        </p:txBody>
      </p:sp>
      <p:sp>
        <p:nvSpPr>
          <p:cNvPr id="31" name="TextBox 30"/>
          <p:cNvSpPr txBox="1"/>
          <p:nvPr/>
        </p:nvSpPr>
        <p:spPr>
          <a:xfrm>
            <a:off x="503999" y="1386000"/>
            <a:ext cx="7056000" cy="216000"/>
          </a:xfrm>
          <a:prstGeom prst="rect">
            <a:avLst/>
          </a:prstGeom>
          <a:noFill/>
        </p:spPr>
        <p:txBody>
          <a:bodyPr wrap="square" anchor="t" lIns="54000" rIns="54000"/>
          <a:lstStyle/>
          <a:p>
            <a:pPr algn="ctr"/>
            <a:r>
              <a:rPr sz="1200" b="0">
                <a:solidFill>
                  <a:srgbClr val="EFAC62"/>
                </a:solidFill>
                <a:latin typeface="Helvetica"/>
              </a:rPr>
              <a:t>Tableau 36 : Compte GNA (47111106) et produits des activités annexes (71800000)</a:t>
            </a:r>
          </a:p>
        </p:txBody>
      </p:sp>
      <p:graphicFrame>
        <p:nvGraphicFramePr>
          <p:cNvPr id="32" name="Table 31"/>
          <p:cNvGraphicFramePr>
            <a:graphicFrameLocks noGrp="1"/>
          </p:cNvGraphicFramePr>
          <p:nvPr/>
        </p:nvGraphicFramePr>
        <p:xfrm>
          <a:off x="503999" y="1655999"/>
          <a:ext cx="7056000" cy="1293901"/>
        </p:xfrm>
        <a:graphic>
          <a:graphicData uri="http://schemas.openxmlformats.org/drawingml/2006/table">
            <a:tbl>
              <a:tblPr firstRow="0" bandRow="0">
                <a:tableStyleId>{5940675A-B579-460E-94D1-54222C63F5DA}</a:tableStyleId>
              </a:tblPr>
              <a:tblGrid>
                <a:gridCol w="1162800"/>
                <a:gridCol w="1918800"/>
                <a:gridCol w="1918800"/>
                <a:gridCol w="2055600"/>
              </a:tblGrid>
              <a:tr h="392901">
                <a:tc>
                  <a:txBody>
                    <a:bodyPr/>
                    <a:lstStyle/>
                    <a:p>
                      <a:pPr marL="0" indent="0" lvl="0">
                        <a:buNone/>
                      </a:pPr>
                      <a:r>
                        <a:rPr sz="11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Débit du compte GNA</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Solde du compte GNA</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Produits annexes (71800000)</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2023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1 024 011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1 024 011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6 024 011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2024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3 676 481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4 700 492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3 676 481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837 513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2 457 312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43 668 069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31/08/2026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600 586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3 057 898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932 138 FCFA</a:t>
                      </a:r>
                    </a:p>
                  </a:txBody>
                  <a:tcPr marL="43200" marR="43200" marT="14400" marB="14400" anchor="ctr">
                    <a:solidFill>
                      <a:srgbClr val="F2F2F2"/>
                    </a:solidFill>
                  </a:tcPr>
                </a:tc>
              </a:tr>
            </a:tbl>
          </a:graphicData>
        </a:graphic>
      </p:graphicFrame>
      <p:sp>
        <p:nvSpPr>
          <p:cNvPr id="33" name="TextBox 32"/>
          <p:cNvSpPr txBox="1"/>
          <p:nvPr/>
        </p:nvSpPr>
        <p:spPr>
          <a:xfrm>
            <a:off x="503999" y="2967903"/>
            <a:ext cx="7056000" cy="162000"/>
          </a:xfrm>
          <a:prstGeom prst="rect">
            <a:avLst/>
          </a:prstGeom>
          <a:noFill/>
        </p:spPr>
        <p:txBody>
          <a:bodyPr wrap="square" anchor="t" lIns="54000" rIns="54000"/>
          <a:lstStyle/>
          <a:p>
            <a:pPr algn="l"/>
            <a:r>
              <a:rPr sz="850" b="0">
                <a:solidFill>
                  <a:srgbClr val="53565A"/>
                </a:solidFill>
                <a:latin typeface="Helvetica"/>
              </a:rPr>
              <a:t>Valable pour : balances de 2020 au 31/08/2026, valeurs comptables non réévaluées. 2026 provisoire (huit mois).</a:t>
            </a:r>
          </a:p>
        </p:txBody>
      </p:sp>
      <p:sp>
        <p:nvSpPr>
          <p:cNvPr id="34" name="TextBox 33"/>
          <p:cNvSpPr txBox="1"/>
          <p:nvPr/>
        </p:nvSpPr>
        <p:spPr>
          <a:xfrm>
            <a:off x="7776000" y="1386000"/>
            <a:ext cx="3960000" cy="4482000"/>
          </a:xfrm>
          <a:prstGeom prst="rect">
            <a:avLst/>
          </a:prstGeom>
          <a:noFill/>
        </p:spPr>
        <p:txBody>
          <a:bodyPr wrap="square" lIns="54000" rIns="54000"/>
          <a:lstStyle/>
          <a:p>
            <a:pPr algn="just">
              <a:spcAft>
                <a:spcPts val="600"/>
              </a:spcAft>
            </a:pPr>
            <a:r>
              <a:rPr sz="1400" b="1">
                <a:solidFill>
                  <a:srgbClr val="060606"/>
                </a:solidFill>
                <a:latin typeface="Helvetica"/>
              </a:rPr>
              <a:t>En 2024, le débit du compte GNA est égal aux produits des activités annexes</a:t>
            </a:r>
            <a:r>
              <a:rPr sz="1400" b="0">
                <a:solidFill>
                  <a:srgbClr val="060606"/>
                </a:solidFill>
                <a:latin typeface="Helvetica"/>
              </a:rPr>
              <a:t> : le compte enregistre les commissions dues par GNA. Ses crédits correspondraient aux versements de GNA (à confirmer).</a:t>
            </a:r>
          </a:p>
          <a:p>
            <a:pPr algn="just">
              <a:spcAft>
                <a:spcPts val="600"/>
              </a:spcAft>
            </a:pPr>
            <a:r>
              <a:rPr sz="1400" b="1">
                <a:solidFill>
                  <a:srgbClr val="060606"/>
                </a:solidFill>
                <a:latin typeface="Helvetica"/>
              </a:rPr>
              <a:t>La commission comptabilisée en 2024 ne vaut pas 20 % des précomptes 9W3 de l'année (7 913 002 FCFA).</a:t>
            </a:r>
            <a:r>
              <a:rPr sz="1400" b="0">
                <a:solidFill>
                  <a:srgbClr val="060606"/>
                </a:solidFill>
                <a:latin typeface="Helvetica"/>
              </a:rPr>
              <a:t> L'assiette (primes précomptées et primes payées autrement) est à préciser.</a:t>
            </a:r>
          </a:p>
          <a:p>
            <a:pPr algn="just">
              <a:spcAft>
                <a:spcPts val="600"/>
              </a:spcAft>
            </a:pPr>
            <a:r>
              <a:rPr sz="1400" b="0">
                <a:solidFill>
                  <a:srgbClr val="060606"/>
                </a:solidFill>
                <a:latin typeface="Helvetica"/>
              </a:rPr>
              <a:t>Aucune provision technique n'est due par le FPPN. La convention avec GNA doit fixer l'assiette de la commission et le traitement des trop-perçus (PBC, item 89).</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PBC : liste des documents demandés au client | GNA : assureur de la flotte automobile (compte 47111106) | 9W3 : poste flotte automobile</a:t>
            </a:r>
          </a:p>
        </p:txBody>
      </p:sp>
    </p:spTree>
    <p:extLst>
      <p:ext uri="{BB962C8B-B14F-4D97-AF65-F5344CB8AC3E}">
        <p14:creationId xmlns:p14="http://schemas.microsoft.com/office/powerpoint/2010/main" val="124178802"/>
      </p:ext>
    </p:extLst>
  </p:cSld>
  <p:clrMapOvr>
    <a:masterClrMapping/>
  </p:clrMapOvr>
  <p:transition>
    <p:fad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Départ à la retraite du personnel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provision du personnel est reprise puis dotée en totalité chaque année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 au compte 196 : 24 155 943 FCFA en 2020, 43 666 678 FCFA en 2025. Recalcul agent par agent dans les diapositives suivantes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Décret n° 2017-210 du 30/03/2017. Convention collective interprofessionnelle du 19/07/1977, art. 40. SYSCOHADA révisé</a:t>
            </a:r>
          </a:p>
        </p:txBody>
      </p:sp>
      <p:sp>
        <p:nvSpPr>
          <p:cNvPr id="31" name="TextBox 30"/>
          <p:cNvSpPr txBox="1"/>
          <p:nvPr/>
        </p:nvSpPr>
        <p:spPr>
          <a:xfrm>
            <a:off x="503999" y="1386000"/>
            <a:ext cx="7056000" cy="216000"/>
          </a:xfrm>
          <a:prstGeom prst="rect">
            <a:avLst/>
          </a:prstGeom>
          <a:noFill/>
        </p:spPr>
        <p:txBody>
          <a:bodyPr wrap="square" anchor="t" lIns="54000" rIns="54000"/>
          <a:lstStyle/>
          <a:p>
            <a:pPr algn="ctr"/>
            <a:r>
              <a:rPr sz="1200" b="0">
                <a:solidFill>
                  <a:srgbClr val="EFAC62"/>
                </a:solidFill>
                <a:latin typeface="Helvetica"/>
              </a:rPr>
              <a:t>Tableau 37 : Provision pour départ à la retraite du personnel</a:t>
            </a:r>
          </a:p>
        </p:txBody>
      </p:sp>
      <p:graphicFrame>
        <p:nvGraphicFramePr>
          <p:cNvPr id="32" name="Table 31"/>
          <p:cNvGraphicFramePr>
            <a:graphicFrameLocks noGrp="1"/>
          </p:cNvGraphicFramePr>
          <p:nvPr/>
        </p:nvGraphicFramePr>
        <p:xfrm>
          <a:off x="503999" y="1655999"/>
          <a:ext cx="7056000" cy="1576750"/>
        </p:xfrm>
        <a:graphic>
          <a:graphicData uri="http://schemas.openxmlformats.org/drawingml/2006/table">
            <a:tbl>
              <a:tblPr firstRow="0" bandRow="0">
                <a:tableStyleId>{5940675A-B579-460E-94D1-54222C63F5DA}</a:tableStyleId>
              </a:tblPr>
              <a:tblGrid>
                <a:gridCol w="1245600"/>
                <a:gridCol w="1936800"/>
                <a:gridCol w="1936800"/>
                <a:gridCol w="1936800"/>
              </a:tblGrid>
              <a:tr h="225250">
                <a:tc>
                  <a:txBody>
                    <a:bodyPr/>
                    <a:lstStyle/>
                    <a:p>
                      <a:pPr marL="0" indent="0" lvl="0">
                        <a:buNone/>
                      </a:pPr>
                      <a:r>
                        <a:rPr sz="11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Provision (196)</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Dotation (6911)</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Reprise (7911)</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2020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24 155 943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24 155 943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21 855 876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22 542 542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22 542 542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24 155 943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2022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28 325 794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28 325 794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22 542 542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2023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35 312 179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35 312 179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28 325 794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2024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34 753 547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34 753 547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35 312 179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43 666 678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43 666 678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34 753 547 FCFA</a:t>
                      </a:r>
                    </a:p>
                  </a:txBody>
                  <a:tcPr marL="43200" marR="43200" marT="14400" marB="14400" anchor="ctr">
                    <a:solidFill>
                      <a:srgbClr val="F2F2F2"/>
                    </a:solidFill>
                  </a:tcPr>
                </a:tc>
              </a:tr>
            </a:tbl>
          </a:graphicData>
        </a:graphic>
      </p:graphicFrame>
      <p:sp>
        <p:nvSpPr>
          <p:cNvPr id="33" name="TextBox 32"/>
          <p:cNvSpPr txBox="1"/>
          <p:nvPr/>
        </p:nvSpPr>
        <p:spPr>
          <a:xfrm>
            <a:off x="503999" y="3250753"/>
            <a:ext cx="7056000" cy="162000"/>
          </a:xfrm>
          <a:prstGeom prst="rect">
            <a:avLst/>
          </a:prstGeom>
          <a:noFill/>
        </p:spPr>
        <p:txBody>
          <a:bodyPr wrap="square" anchor="t" lIns="54000" rIns="54000"/>
          <a:lstStyle/>
          <a:p>
            <a:pPr algn="l"/>
            <a:r>
              <a:rPr sz="850" b="0">
                <a:solidFill>
                  <a:srgbClr val="53565A"/>
                </a:solidFill>
                <a:latin typeface="Helvetica"/>
              </a:rPr>
              <a:t>Valable pour : balances de 2020 au 31/08/2026, valeurs comptables non réévaluées. 2026 provisoire (huit mois).</a:t>
            </a:r>
          </a:p>
        </p:txBody>
      </p:sp>
      <p:sp>
        <p:nvSpPr>
          <p:cNvPr id="34" name="TextBox 33"/>
          <p:cNvSpPr txBox="1"/>
          <p:nvPr/>
        </p:nvSpPr>
        <p:spPr>
          <a:xfrm>
            <a:off x="7776000" y="1386000"/>
            <a:ext cx="3960000" cy="4482000"/>
          </a:xfrm>
          <a:prstGeom prst="rect">
            <a:avLst/>
          </a:prstGeom>
          <a:noFill/>
        </p:spPr>
        <p:txBody>
          <a:bodyPr wrap="square" lIns="54000" rIns="54000"/>
          <a:lstStyle/>
          <a:p>
            <a:pPr algn="just">
              <a:spcAft>
                <a:spcPts val="600"/>
              </a:spcAft>
            </a:pPr>
            <a:r>
              <a:rPr sz="1300" b="1">
                <a:solidFill>
                  <a:srgbClr val="060606"/>
                </a:solidFill>
                <a:latin typeface="Helvetica"/>
              </a:rPr>
              <a:t>Chaque année, la provision de l'année précédente est reprise en totalité et la nouvelle est dotée en totalité.</a:t>
            </a:r>
            <a:r>
              <a:rPr sz="1300" b="0">
                <a:solidFill>
                  <a:srgbClr val="060606"/>
                </a:solidFill>
                <a:latin typeface="Helvetica"/>
              </a:rPr>
              <a:t> Selon le chef comptable (entretien du 19/10/2026), le calcul applique la convention collective à l'ancienneté acquise.</a:t>
            </a:r>
          </a:p>
          <a:p>
            <a:pPr algn="just">
              <a:spcAft>
                <a:spcPts val="600"/>
              </a:spcAft>
            </a:pPr>
            <a:r>
              <a:rPr sz="1300" b="1">
                <a:solidFill>
                  <a:srgbClr val="060606"/>
                </a:solidFill>
                <a:latin typeface="Helvetica"/>
              </a:rPr>
              <a:t>Les charges patronales s'ajoutent à l'indemnité</a:t>
            </a:r>
            <a:r>
              <a:rPr sz="1300" b="0">
                <a:solidFill>
                  <a:srgbClr val="060606"/>
                </a:solidFill>
                <a:latin typeface="Helvetica"/>
              </a:rPr>
              <a:t> : charges fiscales de 2,80 % (IS 1,20 %, FDFP 0,40 % et 1,20 %), retraite 7,70 % plafonnée à 3 375 000 FCFA, prestations familiales 5,75 % et risques professionnels 2 % (taux du FPPN), plafonnés à 75 000 FCFA.</a:t>
            </a:r>
          </a:p>
          <a:p>
            <a:pPr algn="just">
              <a:spcAft>
                <a:spcPts val="600"/>
              </a:spcAft>
            </a:pPr>
            <a:r>
              <a:rPr sz="1300" b="1">
                <a:solidFill>
                  <a:srgbClr val="060606"/>
                </a:solidFill>
                <a:latin typeface="Helvetica"/>
              </a:rPr>
              <a:t>Les DISA reçues le 22/10/2026 donnent l'âge, l'ancienneté et le salaire de chaque agent civil.</a:t>
            </a:r>
            <a:r>
              <a:rPr sz="1300" b="0">
                <a:solidFill>
                  <a:srgbClr val="060606"/>
                </a:solidFill>
                <a:latin typeface="Helvetica"/>
              </a:rPr>
              <a:t> Le recalcul est présenté dans les diapositives suivantes.</a:t>
            </a:r>
          </a:p>
          <a:p>
            <a:pPr algn="just">
              <a:spcAft>
                <a:spcPts val="600"/>
              </a:spcAft>
            </a:pPr>
            <a:r>
              <a:rPr sz="1300" b="0">
                <a:solidFill>
                  <a:srgbClr val="060606"/>
                </a:solidFill>
                <a:latin typeface="Helvetica"/>
              </a:rPr>
              <a:t>Le montant est faible au regard des provisions techniques, mais il entre dans les dettes à long terme et dans les ratios de la partie 10.</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IS : impôt sur les salaires (part patronale) | FDFP : Fonds de développement de la formation professionnelle | SYSCOHADA : système comptable de l'OHADA | DISA : déclaration individuelle des salaires annuels à la CNPS</a:t>
            </a:r>
          </a:p>
        </p:txBody>
      </p:sp>
    </p:spTree>
    <p:extLst>
      <p:ext uri="{BB962C8B-B14F-4D97-AF65-F5344CB8AC3E}">
        <p14:creationId xmlns:p14="http://schemas.microsoft.com/office/powerpoint/2010/main" val="3045549199"/>
      </p:ext>
    </p:extLst>
  </p:cSld>
  <p:clrMapOvr>
    <a:masterClrMapping/>
  </p:clrMapOvr>
  <p:transition>
    <p:fade/>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du personnel : méthode et paramètres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agent civil est évalué à partir de sa déclaration CNPS, avec des paramètres observés ou fixés par les textes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Méthode des unités de crédit projetées : indemnité projetée au départ, acquise au prorata de l'ancienneté, pondérée par la survie, la rotation et l'actualisation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DISA_256927_2021.xls, DISA_256927_2022.xls, DISA_256927_2023.xls, DISA_256927_2025.xls (déclarations CNPS). ETAT 301 &amp; DISA 2024 FPPN.xls (RECAPSALAIRES 2024 CMP). ETAT 301 &amp; DISA 2025 FPPN.xls (RECAPSALAIRES 2025 GRENIER). Décret n° 2017-210 du 30/03/2017. Convention collective du 19/07/1977, art. 40. IAS 19, § 67 et 83. Investing.com. Table CIMA F</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38 : Paramètres de la provision du personnel au 31/12/2025</a:t>
            </a:r>
          </a:p>
        </p:txBody>
      </p:sp>
      <p:graphicFrame>
        <p:nvGraphicFramePr>
          <p:cNvPr id="32" name="Table 31"/>
          <p:cNvGraphicFramePr>
            <a:graphicFrameLocks noGrp="1"/>
          </p:cNvGraphicFramePr>
          <p:nvPr/>
        </p:nvGraphicFramePr>
        <p:xfrm>
          <a:off x="503999" y="1655999"/>
          <a:ext cx="11232000" cy="1943428"/>
        </p:xfrm>
        <a:graphic>
          <a:graphicData uri="http://schemas.openxmlformats.org/drawingml/2006/table">
            <a:tbl>
              <a:tblPr firstRow="0" bandRow="0">
                <a:tableStyleId>{5940675A-B579-460E-94D1-54222C63F5DA}</a:tableStyleId>
              </a:tblPr>
              <a:tblGrid>
                <a:gridCol w="2304000"/>
                <a:gridCol w="1440000"/>
                <a:gridCol w="7488000"/>
              </a:tblGrid>
              <a:tr h="187148">
                <a:tc>
                  <a:txBody>
                    <a:bodyPr/>
                    <a:lstStyle/>
                    <a:p>
                      <a:pPr marL="0" indent="0" lvl="0">
                        <a:buNone/>
                      </a:pPr>
                      <a:r>
                        <a:rPr sz="850" b="1">
                          <a:solidFill>
                            <a:srgbClr val="FFFFFF"/>
                          </a:solidFill>
                          <a:latin typeface="Helvetica"/>
                        </a:rPr>
                        <a:t>Paramètre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Valeur</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Justification</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Âge de départ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55 ans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Convention collective interprofessionnelle du 19/07/1977, art. 40 : 55 ans, plus un an par enfant à charge (au plus 3). Les enfants ne figurent pas dans les fichiers reçus.</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Barème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30 %. 35 %. 40 %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Décret n° 2017-210, art. 4 : jusqu'à 5 ans, de 6 à 10 ans, au-delà de 10 ans, fractions d'année au mois inférieur.</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Salaire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Brut annuel / mois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Salaire brut de la DISA divisé par la durée d'activité de l'année (salaire global mensuel moyen, art. 4).</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Taux d'actualisation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7,19 %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Moyenne de 2025 du rendement de l'obligation de l'État de Côte d'Ivoire à 10 ans, 248 cotations Investing.com (IAS 19, § 83).</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Croissance des salaires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10,36 %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Médiane de la croissance annuelle observée sur les 26 agents présents douze mois en 2021 et en 2025.</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Rotation du personnel</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9,79 %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Moyenne des taux annuels de sortie observés entre les DISA 2021, 2022, 2023 et 2025.</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Survie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Table CIMA F</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Table de survie, prudente pour une indemnité versée si l'agent est en vie au départ (principe de prudence, partie 11).</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Entité</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DG, CMP, Grenier</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Listes nominatives des récapitulatifs de salaires 2024 (CMP) et 2025 (Grenier). Agents absents de ces listes : rattachement non documenté.</a:t>
                      </a:r>
                    </a:p>
                  </a:txBody>
                  <a:tcPr marL="43200" marR="43200" marT="14400" marB="14400" anchor="ctr">
                    <a:solidFill>
                      <a:srgbClr val="F2F2F2"/>
                    </a:solidFill>
                  </a:tcPr>
                </a:tc>
              </a:tr>
            </a:tbl>
          </a:graphicData>
        </a:graphic>
      </p:graphicFrame>
      <p:sp>
        <p:nvSpPr>
          <p:cNvPr id="33" name="TextBox 32"/>
          <p:cNvSpPr txBox="1"/>
          <p:nvPr/>
        </p:nvSpPr>
        <p:spPr>
          <a:xfrm>
            <a:off x="503999" y="3617429"/>
            <a:ext cx="11232000" cy="162000"/>
          </a:xfrm>
          <a:prstGeom prst="rect">
            <a:avLst/>
          </a:prstGeom>
          <a:noFill/>
        </p:spPr>
        <p:txBody>
          <a:bodyPr wrap="square" anchor="t" lIns="54000" rIns="54000"/>
          <a:lstStyle/>
          <a:p>
            <a:pPr algn="l"/>
            <a:r>
              <a:rPr sz="850" b="0">
                <a:solidFill>
                  <a:srgbClr val="53565A"/>
                </a:solidFill>
                <a:latin typeface="Helvetica"/>
              </a:rPr>
              <a:t>Valable pour : personnel civil déclaré à la CNPS (DISA), hors travailleurs occasionnels et fonctionnaires de police détachés, évaluation au 31/12.</a:t>
            </a:r>
          </a:p>
        </p:txBody>
      </p:sp>
      <p:sp>
        <p:nvSpPr>
          <p:cNvPr id="34" name="TextBox 33"/>
          <p:cNvSpPr txBox="1"/>
          <p:nvPr/>
        </p:nvSpPr>
        <p:spPr>
          <a:xfrm>
            <a:off x="503999" y="3905429"/>
            <a:ext cx="11232000" cy="1962570"/>
          </a:xfrm>
          <a:prstGeom prst="rect">
            <a:avLst/>
          </a:prstGeom>
          <a:noFill/>
        </p:spPr>
        <p:txBody>
          <a:bodyPr wrap="square" lIns="54000" rIns="54000"/>
          <a:lstStyle/>
          <a:p>
            <a:pPr algn="just">
              <a:spcAft>
                <a:spcPts val="600"/>
              </a:spcAft>
            </a:pPr>
            <a:r>
              <a:rPr sz="1300" b="1">
                <a:solidFill>
                  <a:srgbClr val="060606"/>
                </a:solidFill>
                <a:latin typeface="Helvetica"/>
              </a:rPr>
              <a:t>Tous les paramètres viennent d'un texte ou d'une observation sur les fichiers du FPPN.</a:t>
            </a:r>
            <a:r>
              <a:rPr sz="1300" b="0">
                <a:solidFill>
                  <a:srgbClr val="060606"/>
                </a:solidFill>
                <a:latin typeface="Helvetica"/>
              </a:rPr>
              <a:t> Seuls l'âge de départ, faute d'enfants déclarés, et le taux d'actualisation, faute de marché profond, relèvent d'un choix justifié.</a:t>
            </a:r>
          </a:p>
          <a:p>
            <a:pPr algn="just">
              <a:spcAft>
                <a:spcPts val="600"/>
              </a:spcAft>
            </a:pPr>
            <a:r>
              <a:rPr sz="1300" b="0">
                <a:solidFill>
                  <a:srgbClr val="060606"/>
                </a:solidFill>
                <a:latin typeface="Helvetica"/>
              </a:rPr>
              <a:t>Les effets de l'âge de départ, du taux, de la rotation et des salaires sont mesurés plus loin, une hypothèse à la fois.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CIMA : Conférence interafricaine des marchés d'assurances | CMP : Centre Médical du Policier (rapport de gestion 2023) | CNPS : Caisse nationale de prévoyance sociale | IAS, IFRS : normes comptables internationales | DISA : déclaration individuelle des salaires annuels à la CNPS | DG : Direction Générale du FPPN</a:t>
            </a:r>
          </a:p>
        </p:txBody>
      </p:sp>
    </p:spTree>
    <p:extLst>
      <p:ext uri="{BB962C8B-B14F-4D97-AF65-F5344CB8AC3E}">
        <p14:creationId xmlns:p14="http://schemas.microsoft.com/office/powerpoint/2010/main" val="506488550"/>
      </p:ext>
    </p:extLst>
  </p:cSld>
  <p:clrMapOvr>
    <a:masterClrMapping/>
  </p:clrMapOvr>
  <p:transition>
    <p:fad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du personnel par entité de 2021 à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provision recalculée est inférieure au compte 196. Les droits acquis en sont proches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31/12/2025 : provision recalculée 24 446 566 FCFA, droits acquis 43 195 084 FCFA, compte 196 43 666 678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DISA_256927_2021.xls, DISA_256927_2022.xls, DISA_256927_2023.xls, DISA_256927_2025.xls (déclarations CNPS). ETAT 301 &amp; DISA 2024 FPPN.xls (RECAPSALAIRES 2024 CMP). ETAT 301 &amp; DISA 2025 FPPN.xls (RECAPSALAIRES 2025 GRENIER). Balances des comptes du FPPN (Sage 100), exercices 2020 à 2025 et du 01/01 au 31/08/2026 (provisoire). Traitements Adenka. Onglets 14b et 14c du classeur v9</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39 : Provision du personnel par entité, droits acquis et compte 196</a:t>
            </a:r>
          </a:p>
        </p:txBody>
      </p:sp>
      <p:graphicFrame>
        <p:nvGraphicFramePr>
          <p:cNvPr id="32" name="Table 31"/>
          <p:cNvGraphicFramePr>
            <a:graphicFrameLocks noGrp="1"/>
          </p:cNvGraphicFramePr>
          <p:nvPr/>
        </p:nvGraphicFramePr>
        <p:xfrm>
          <a:off x="503999" y="1655999"/>
          <a:ext cx="11232000" cy="935740"/>
        </p:xfrm>
        <a:graphic>
          <a:graphicData uri="http://schemas.openxmlformats.org/drawingml/2006/table">
            <a:tbl>
              <a:tblPr firstRow="0" bandRow="0">
                <a:tableStyleId>{5940675A-B579-460E-94D1-54222C63F5DA}</a:tableStyleId>
              </a:tblPr>
              <a:tblGrid>
                <a:gridCol w="864000"/>
                <a:gridCol w="792000"/>
                <a:gridCol w="1368000"/>
                <a:gridCol w="1224000"/>
                <a:gridCol w="1152000"/>
                <a:gridCol w="1296000"/>
                <a:gridCol w="1512000"/>
                <a:gridCol w="1512000"/>
                <a:gridCol w="1512000"/>
              </a:tblGrid>
              <a:tr h="187148">
                <a:tc>
                  <a:txBody>
                    <a:bodyPr/>
                    <a:lstStyle/>
                    <a:p>
                      <a:pPr marL="0" indent="0" lvl="0">
                        <a:buNone/>
                      </a:pPr>
                      <a:r>
                        <a:rPr sz="85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Agents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Direction Générale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CMP</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Grenier</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Non documentée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Provision recalculée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Droits acquis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Compte 196 (FPPN)</a:t>
                      </a:r>
                    </a:p>
                  </a:txBody>
                  <a:tcPr marL="43200" marR="43200" marT="14400" marB="14400" anchor="ctr">
                    <a:solidFill>
                      <a:srgbClr val="060606"/>
                    </a:solidFill>
                  </a:tcPr>
                </a:tc>
              </a:tr>
              <a:tr h="187148">
                <a:tc>
                  <a:txBody>
                    <a:bodyPr/>
                    <a:lstStyle/>
                    <a:p>
                      <a:pPr marL="0" indent="0" lvl="0">
                        <a:buNone/>
                      </a:pPr>
                      <a:r>
                        <a:rPr sz="850" b="1">
                          <a:solidFill>
                            <a:srgbClr val="060606"/>
                          </a:solidFill>
                          <a:latin typeface="Helvetica"/>
                        </a:rPr>
                        <a:t>2021</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49</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7 630 201</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1 319 886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466 838</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5 602 748</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15 019 673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28 162 298</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22 542 542</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2022</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56</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9 003 702</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2 099 651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593 156</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7 367 571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19 064 081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33 558 812</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28 325 794</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2023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62</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12 501 712</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3 243 122</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851 186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6 302 573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22 898 594</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40 339 551</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35 312 179</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79</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16 118 202</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6 680 600</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1 454 296</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193 469</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24 446 566</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43 195 084</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43 666 678</a:t>
                      </a:r>
                    </a:p>
                  </a:txBody>
                  <a:tcPr marL="43200" marR="43200" marT="14400" marB="14400" anchor="ctr">
                    <a:solidFill>
                      <a:srgbClr val="F2F2F2"/>
                    </a:solidFill>
                  </a:tcPr>
                </a:tc>
              </a:tr>
            </a:tbl>
          </a:graphicData>
        </a:graphic>
      </p:graphicFrame>
      <p:sp>
        <p:nvSpPr>
          <p:cNvPr id="33" name="TextBox 32"/>
          <p:cNvSpPr txBox="1"/>
          <p:nvPr/>
        </p:nvSpPr>
        <p:spPr>
          <a:xfrm>
            <a:off x="503999" y="2609740"/>
            <a:ext cx="11232000" cy="162000"/>
          </a:xfrm>
          <a:prstGeom prst="rect">
            <a:avLst/>
          </a:prstGeom>
          <a:noFill/>
        </p:spPr>
        <p:txBody>
          <a:bodyPr wrap="square" anchor="t" lIns="54000" rIns="54000"/>
          <a:lstStyle/>
          <a:p>
            <a:pPr algn="l"/>
            <a:r>
              <a:rPr sz="850" b="0">
                <a:solidFill>
                  <a:srgbClr val="53565A"/>
                </a:solidFill>
                <a:latin typeface="Helvetica"/>
              </a:rPr>
              <a:t>Valable pour : exercices 2021, 2022, 2023 et 2025 (pas de DISA exploitable en 2024), personnel civil déclaré à la CNPS. Montants en FCFA.</a:t>
            </a:r>
          </a:p>
        </p:txBody>
      </p:sp>
      <p:sp>
        <p:nvSpPr>
          <p:cNvPr id="34" name="TextBox 33"/>
          <p:cNvSpPr txBox="1"/>
          <p:nvPr/>
        </p:nvSpPr>
        <p:spPr>
          <a:xfrm>
            <a:off x="503999" y="2897740"/>
            <a:ext cx="11232000" cy="2970259"/>
          </a:xfrm>
          <a:prstGeom prst="rect">
            <a:avLst/>
          </a:prstGeom>
          <a:noFill/>
        </p:spPr>
        <p:txBody>
          <a:bodyPr wrap="square" lIns="54000" rIns="54000"/>
          <a:lstStyle/>
          <a:p>
            <a:pPr algn="just">
              <a:spcAft>
                <a:spcPts val="600"/>
              </a:spcAft>
            </a:pPr>
            <a:r>
              <a:rPr sz="1300" b="1">
                <a:solidFill>
                  <a:srgbClr val="060606"/>
                </a:solidFill>
                <a:latin typeface="Helvetica"/>
              </a:rPr>
              <a:t>Au 31/12/2025, la provision recalculée vaut 55,98 % du compte 196. Les droits acquis en valent 98,92 %.</a:t>
            </a:r>
            <a:r>
              <a:rPr sz="1300" b="0">
                <a:solidFill>
                  <a:srgbClr val="060606"/>
                </a:solidFill>
                <a:latin typeface="Helvetica"/>
              </a:rPr>
              <a:t> Le montant du FPPN est donc proche d'un calcul sans projection ni actualisation, comme l'a décrit le chef comptable.</a:t>
            </a:r>
          </a:p>
          <a:p>
            <a:pPr algn="just">
              <a:spcAft>
                <a:spcPts val="600"/>
              </a:spcAft>
            </a:pPr>
            <a:r>
              <a:rPr sz="1300" b="1">
                <a:solidFill>
                  <a:srgbClr val="060606"/>
                </a:solidFill>
                <a:latin typeface="Helvetica"/>
              </a:rPr>
              <a:t>La Direction Générale porte 65,93 % de la provision 2025 avec 20 agents.</a:t>
            </a:r>
            <a:r>
              <a:rPr sz="1300" b="0">
                <a:solidFill>
                  <a:srgbClr val="060606"/>
                </a:solidFill>
                <a:latin typeface="Helvetica"/>
              </a:rPr>
              <a:t> Le CMP compte 37 agents, dont 27 recrutés depuis 2022 : leurs droits acquis restent faibles.</a:t>
            </a:r>
          </a:p>
          <a:p>
            <a:pPr algn="just">
              <a:spcAft>
                <a:spcPts val="600"/>
              </a:spcAft>
            </a:pPr>
            <a:r>
              <a:rPr sz="1300" b="0">
                <a:solidFill>
                  <a:srgbClr val="060606"/>
                </a:solidFill>
                <a:latin typeface="Helvetica"/>
              </a:rPr>
              <a:t>Le compte 196 couvre la provision recalculée selon les deux approches. La méthode du FPPN (droits acquis) reste à confirmer par sa note de calcul (PBC, item 113).</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CMP : Centre Médical du Policier (rapport de gestion 2023) | CNPS : Caisse nationale de prévoyance sociale | PBC : liste des documents demandés au client | DISA : déclaration individuelle des salaires annuels à la CNPS</a:t>
            </a:r>
          </a:p>
        </p:txBody>
      </p:sp>
    </p:spTree>
    <p:extLst>
      <p:ext uri="{BB962C8B-B14F-4D97-AF65-F5344CB8AC3E}">
        <p14:creationId xmlns:p14="http://schemas.microsoft.com/office/powerpoint/2010/main" val="1122747915"/>
      </p:ext>
    </p:extLst>
  </p:cSld>
  <p:clrMapOvr>
    <a:masterClrMapping/>
  </p:clrMapOvr>
  <p:transition>
    <p:fade/>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du personnel agent par agent : Direction Générale (1/2)</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cinq provisions les plus élevées font 66,04 % de la provision de l'entité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10 agents. Provision recalculée 14 040 396 FCFA. Droits acquis 21 620 323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DISA_256927_2021.xls, DISA_256927_2022.xls, DISA_256927_2023.xls, DISA_256927_2025.xls (déclarations CNPS). ETAT 301 &amp; DISA 2024 FPPN.xls (RECAPSALAIRES 2024 CMP). ETAT 301 &amp; DISA 2025 FPPN.xls (RECAPSALAIRES 2025 GRENIER). Onglet 14b du classeur v9</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40 : Provision du personnel au 31/12/2025 : Direction Générale (1/2)</a:t>
            </a:r>
          </a:p>
        </p:txBody>
      </p:sp>
      <p:graphicFrame>
        <p:nvGraphicFramePr>
          <p:cNvPr id="32" name="Table 31"/>
          <p:cNvGraphicFramePr>
            <a:graphicFrameLocks noGrp="1"/>
          </p:cNvGraphicFramePr>
          <p:nvPr/>
        </p:nvGraphicFramePr>
        <p:xfrm>
          <a:off x="503999" y="1655999"/>
          <a:ext cx="11231999" cy="1980000"/>
        </p:xfrm>
        <a:graphic>
          <a:graphicData uri="http://schemas.openxmlformats.org/drawingml/2006/table">
            <a:tbl>
              <a:tblPr firstRow="0" bandRow="0">
                <a:tableStyleId>{5940675A-B579-460E-94D1-54222C63F5DA}</a:tableStyleId>
              </a:tblPr>
              <a:tblGrid>
                <a:gridCol w="1080000"/>
                <a:gridCol w="1080000"/>
                <a:gridCol w="1296000"/>
                <a:gridCol w="864000"/>
                <a:gridCol w="1296000"/>
                <a:gridCol w="1800000"/>
                <a:gridCol w="1800000"/>
                <a:gridCol w="2015999"/>
              </a:tblGrid>
              <a:tr h="180000">
                <a:tc>
                  <a:txBody>
                    <a:bodyPr/>
                    <a:lstStyle/>
                    <a:p>
                      <a:pPr marL="0" indent="0" lvl="0">
                        <a:buNone/>
                      </a:pPr>
                      <a:r>
                        <a:rPr sz="800" b="1">
                          <a:solidFill>
                            <a:srgbClr val="FFFFFF"/>
                          </a:solidFill>
                          <a:latin typeface="Helvetica"/>
                        </a:rPr>
                        <a:t>Agent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Naissance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Embauche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Âge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Ancienneté (ans)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Salaire mensuel moyen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Droits acquis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Provision recalculée</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A25-01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28/10/2013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12,17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1 234 373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5 081 501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3 617 604</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A25-04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1978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01/10/2014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11,17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1 341 090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4 984 383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2 896 107</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A25-02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28/10/2013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12,17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617 329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2 541 339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1 940 839</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A25-05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01/01/2014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11,92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677 034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2 719 421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1 172 709</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A25-07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22/07/2014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11,42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266 335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1 016 512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1 016 512</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A25-09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1979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01/09/2016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9,25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609 510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1 820 911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1 003 992</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A25-03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28/10/2013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12,17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296 617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1 221 075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701 666</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1965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01/01/2017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8,92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235 750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676 800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676 800</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A25-08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01/06/2016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9,50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323 675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995 301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548 419</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A25-11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1973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01/01/2017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8,92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196 138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563 080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465 751</a:t>
                      </a:r>
                    </a:p>
                  </a:txBody>
                  <a:tcPr marL="43200" marR="43200" marT="14400" marB="14400" anchor="ctr">
                    <a:solidFill>
                      <a:srgbClr val="F2F2F2"/>
                    </a:solidFill>
                  </a:tcPr>
                </a:tc>
              </a:tr>
            </a:tbl>
          </a:graphicData>
        </a:graphic>
      </p:graphicFrame>
      <p:sp>
        <p:nvSpPr>
          <p:cNvPr id="33" name="TextBox 32"/>
          <p:cNvSpPr txBox="1"/>
          <p:nvPr/>
        </p:nvSpPr>
        <p:spPr>
          <a:xfrm>
            <a:off x="503999" y="3654000"/>
            <a:ext cx="11232000" cy="162000"/>
          </a:xfrm>
          <a:prstGeom prst="rect">
            <a:avLst/>
          </a:prstGeom>
          <a:noFill/>
        </p:spPr>
        <p:txBody>
          <a:bodyPr wrap="square" anchor="t" lIns="54000" rIns="54000"/>
          <a:lstStyle/>
          <a:p>
            <a:pPr algn="l"/>
            <a:r>
              <a:rPr sz="850" b="0">
                <a:solidFill>
                  <a:srgbClr val="53565A"/>
                </a:solidFill>
                <a:latin typeface="Helvetica"/>
              </a:rPr>
              <a:t>Valable pour : agents déclarés dans la DISA 2025, évaluation au 31/12/2025. Paramètres de l'onglet 14a.</a:t>
            </a:r>
          </a:p>
        </p:txBody>
      </p:sp>
      <p:sp>
        <p:nvSpPr>
          <p:cNvPr id="34" name="TextBox 33"/>
          <p:cNvSpPr txBox="1"/>
          <p:nvPr/>
        </p:nvSpPr>
        <p:spPr>
          <a:xfrm>
            <a:off x="503999" y="3942000"/>
            <a:ext cx="11232000" cy="1926000"/>
          </a:xfrm>
          <a:prstGeom prst="rect">
            <a:avLst/>
          </a:prstGeom>
          <a:noFill/>
        </p:spPr>
        <p:txBody>
          <a:bodyPr wrap="square" lIns="54000" rIns="54000"/>
          <a:lstStyle/>
          <a:p>
            <a:pPr algn="just">
              <a:spcAft>
                <a:spcPts val="600"/>
              </a:spcAft>
            </a:pPr>
            <a:r>
              <a:rPr sz="1300" b="1">
                <a:solidFill>
                  <a:srgbClr val="060606"/>
                </a:solidFill>
                <a:latin typeface="Helvetica"/>
              </a:rPr>
              <a:t>L'agent A25-01 porte la provision la plus élevée de ce tableau (3 617 604 FCFA)</a:t>
            </a:r>
            <a:r>
              <a:rPr sz="1300" b="0">
                <a:solidFill>
                  <a:srgbClr val="060606"/>
                </a:solidFill>
                <a:latin typeface="Helvetica"/>
              </a:rPr>
              <a:t>, avec 12,17 ans d'ancienneté.</a:t>
            </a:r>
          </a:p>
          <a:p>
            <a:pPr algn="just">
              <a:spcAft>
                <a:spcPts val="600"/>
              </a:spcAft>
            </a:pPr>
            <a:r>
              <a:rPr sz="1300" b="0">
                <a:solidFill>
                  <a:srgbClr val="060606"/>
                </a:solidFill>
                <a:latin typeface="Helvetica"/>
              </a:rPr>
              <a:t>Ces montants s'additionnent dans la diapositive « Provision du personnel par entité ». Ils changent avec l'âge de départ, la date d'embauche et l'entité que le FPPN confirmera (PBC, item 113).</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CMP : Centre Médical du Policier (rapport de gestion 2023) | CNPS : Caisse nationale de prévoyance sociale | PBC : liste des documents demandés au client | DISA : déclaration individuelle des salaires annuels à la CNPS</a:t>
            </a:r>
          </a:p>
        </p:txBody>
      </p:sp>
    </p:spTree>
    <p:extLst>
      <p:ext uri="{BB962C8B-B14F-4D97-AF65-F5344CB8AC3E}">
        <p14:creationId xmlns:p14="http://schemas.microsoft.com/office/powerpoint/2010/main" val="210951679"/>
      </p:ext>
    </p:extLst>
  </p:cSld>
  <p:clrMapOvr>
    <a:masterClrMapping/>
  </p:clrMapOvr>
  <p:transition>
    <p:fade/>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du personnel agent par agent : Direction Générale (2/2)</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cinq provisions les plus élevées font 66,04 % de la provision de l'entité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10 agents. Provision recalculée 2 077 805 FCFA. Droits acquis 5 820 351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DISA_256927_2021.xls, DISA_256927_2022.xls, DISA_256927_2023.xls, DISA_256927_2025.xls (déclarations CNPS). ETAT 301 &amp; DISA 2024 FPPN.xls (RECAPSALAIRES 2024 CMP). ETAT 301 &amp; DISA 2025 FPPN.xls (RECAPSALAIRES 2025 GRENIER). Onglet 14b du classeur v9</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41 : Provision du personnel au 31/12/2025 : Direction Générale (2/2)</a:t>
            </a:r>
          </a:p>
        </p:txBody>
      </p:sp>
      <p:graphicFrame>
        <p:nvGraphicFramePr>
          <p:cNvPr id="32" name="Table 31"/>
          <p:cNvGraphicFramePr>
            <a:graphicFrameLocks noGrp="1"/>
          </p:cNvGraphicFramePr>
          <p:nvPr/>
        </p:nvGraphicFramePr>
        <p:xfrm>
          <a:off x="503999" y="1655999"/>
          <a:ext cx="11231999" cy="1980000"/>
        </p:xfrm>
        <a:graphic>
          <a:graphicData uri="http://schemas.openxmlformats.org/drawingml/2006/table">
            <a:tbl>
              <a:tblPr firstRow="0" bandRow="0">
                <a:tableStyleId>{5940675A-B579-460E-94D1-54222C63F5DA}</a:tableStyleId>
              </a:tblPr>
              <a:tblGrid>
                <a:gridCol w="1080000"/>
                <a:gridCol w="1080000"/>
                <a:gridCol w="1296000"/>
                <a:gridCol w="864000"/>
                <a:gridCol w="1296000"/>
                <a:gridCol w="1800000"/>
                <a:gridCol w="1800000"/>
                <a:gridCol w="2015999"/>
              </a:tblGrid>
              <a:tr h="180000">
                <a:tc>
                  <a:txBody>
                    <a:bodyPr/>
                    <a:lstStyle/>
                    <a:p>
                      <a:pPr marL="0" indent="0" lvl="0">
                        <a:buNone/>
                      </a:pPr>
                      <a:r>
                        <a:rPr sz="800" b="1">
                          <a:solidFill>
                            <a:srgbClr val="FFFFFF"/>
                          </a:solidFill>
                          <a:latin typeface="Helvetica"/>
                        </a:rPr>
                        <a:t>Agent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Naissance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Embauche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Âge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Ancienneté (ans)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Salaire mensuel moyen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Droits acquis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Provision recalculée</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A25-16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01/01/2018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7,92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226 049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569 831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338 418</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A25-15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1990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01/01/2018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7,92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477 571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1 203 877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303 590</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A25-27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01/10/2020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5,17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309 299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481 991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257 399</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A25-26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1990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01/01/2020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5,92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507 094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923 334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239 581</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A25-30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1990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09/08/2022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3,33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877 150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877 150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231 458</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A25-23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01/01/2019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6,92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175 975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382 013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185 524</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A25-19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01/01/2019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180 401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391 621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177 290</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A25-17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01/09/2018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200 616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458 908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167 224</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A25-48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18/10/2022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3,17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292 815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278 175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136 962</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A25-38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1997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235 769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253 452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40 360</a:t>
                      </a:r>
                    </a:p>
                  </a:txBody>
                  <a:tcPr marL="43200" marR="43200" marT="14400" marB="14400" anchor="ctr">
                    <a:solidFill>
                      <a:srgbClr val="F2F2F2"/>
                    </a:solidFill>
                  </a:tcPr>
                </a:tc>
              </a:tr>
            </a:tbl>
          </a:graphicData>
        </a:graphic>
      </p:graphicFrame>
      <p:sp>
        <p:nvSpPr>
          <p:cNvPr id="33" name="TextBox 32"/>
          <p:cNvSpPr txBox="1"/>
          <p:nvPr/>
        </p:nvSpPr>
        <p:spPr>
          <a:xfrm>
            <a:off x="503999" y="3654000"/>
            <a:ext cx="11232000" cy="162000"/>
          </a:xfrm>
          <a:prstGeom prst="rect">
            <a:avLst/>
          </a:prstGeom>
          <a:noFill/>
        </p:spPr>
        <p:txBody>
          <a:bodyPr wrap="square" anchor="t" lIns="54000" rIns="54000"/>
          <a:lstStyle/>
          <a:p>
            <a:pPr algn="l"/>
            <a:r>
              <a:rPr sz="850" b="0">
                <a:solidFill>
                  <a:srgbClr val="53565A"/>
                </a:solidFill>
                <a:latin typeface="Helvetica"/>
              </a:rPr>
              <a:t>Valable pour : agents déclarés dans la DISA 2025, évaluation au 31/12/2025. Paramètres de l'onglet 14a.</a:t>
            </a:r>
          </a:p>
        </p:txBody>
      </p:sp>
      <p:sp>
        <p:nvSpPr>
          <p:cNvPr id="34" name="TextBox 33"/>
          <p:cNvSpPr txBox="1"/>
          <p:nvPr/>
        </p:nvSpPr>
        <p:spPr>
          <a:xfrm>
            <a:off x="503999" y="3942000"/>
            <a:ext cx="11232000" cy="1926000"/>
          </a:xfrm>
          <a:prstGeom prst="rect">
            <a:avLst/>
          </a:prstGeom>
          <a:noFill/>
        </p:spPr>
        <p:txBody>
          <a:bodyPr wrap="square" lIns="54000" rIns="54000"/>
          <a:lstStyle/>
          <a:p>
            <a:pPr algn="just">
              <a:spcAft>
                <a:spcPts val="600"/>
              </a:spcAft>
            </a:pPr>
            <a:r>
              <a:rPr sz="1300" b="1">
                <a:solidFill>
                  <a:srgbClr val="060606"/>
                </a:solidFill>
                <a:latin typeface="Helvetica"/>
              </a:rPr>
              <a:t>L'agent A25-16 porte la provision la plus élevée de ce tableau (338 418 FCFA)</a:t>
            </a:r>
            <a:r>
              <a:rPr sz="1300" b="0">
                <a:solidFill>
                  <a:srgbClr val="060606"/>
                </a:solidFill>
                <a:latin typeface="Helvetica"/>
              </a:rPr>
              <a:t>, avec 7,92 ans d'ancienneté.</a:t>
            </a:r>
          </a:p>
          <a:p>
            <a:pPr algn="just">
              <a:spcAft>
                <a:spcPts val="600"/>
              </a:spcAft>
            </a:pPr>
            <a:r>
              <a:rPr sz="1300" b="0">
                <a:solidFill>
                  <a:srgbClr val="060606"/>
                </a:solidFill>
                <a:latin typeface="Helvetica"/>
              </a:rPr>
              <a:t>Ces montants s'additionnent dans la diapositive « Provision du personnel par entité ». Ils changent avec l'âge de départ, la date d'embauche et l'entité que le FPPN confirmera (PBC, item 113).</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CMP : Centre Médical du Policier (rapport de gestion 2023) | CNPS : Caisse nationale de prévoyance sociale | PBC : liste des documents demandés au client | DISA : déclaration individuelle des salaires annuels à la CNPS</a:t>
            </a:r>
          </a:p>
        </p:txBody>
      </p:sp>
    </p:spTree>
    <p:extLst>
      <p:ext uri="{BB962C8B-B14F-4D97-AF65-F5344CB8AC3E}">
        <p14:creationId xmlns:p14="http://schemas.microsoft.com/office/powerpoint/2010/main" val="3720382290"/>
      </p:ext>
    </p:extLst>
  </p:cSld>
  <p:clrMapOvr>
    <a:masterClrMapping/>
  </p:clrMapOvr>
  <p:transition>
    <p:fade/>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du personnel agent par agent : CMP (1/3)</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 personnel récent : les droits acquis restent faibles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13 agents. Provision recalculée 5 160 374 FCFA. Droits acquis 8 217 341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DISA_256927_2021.xls, DISA_256927_2022.xls, DISA_256927_2023.xls, DISA_256927_2025.xls (déclarations CNPS). ETAT 301 &amp; DISA 2024 FPPN.xls (RECAPSALAIRES 2024 CMP). ETAT 301 &amp; DISA 2025 FPPN.xls (RECAPSALAIRES 2025 GRENIER). Onglet 14b du classeur v9</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42 : Provision du personnel au 31/12/2025 : CMP (1/3)</a:t>
            </a:r>
          </a:p>
        </p:txBody>
      </p:sp>
      <p:graphicFrame>
        <p:nvGraphicFramePr>
          <p:cNvPr id="32" name="Table 31"/>
          <p:cNvGraphicFramePr>
            <a:graphicFrameLocks noGrp="1"/>
          </p:cNvGraphicFramePr>
          <p:nvPr/>
        </p:nvGraphicFramePr>
        <p:xfrm>
          <a:off x="503999" y="1655999"/>
          <a:ext cx="11231999" cy="2520000"/>
        </p:xfrm>
        <a:graphic>
          <a:graphicData uri="http://schemas.openxmlformats.org/drawingml/2006/table">
            <a:tbl>
              <a:tblPr firstRow="0" bandRow="0">
                <a:tableStyleId>{5940675A-B579-460E-94D1-54222C63F5DA}</a:tableStyleId>
              </a:tblPr>
              <a:tblGrid>
                <a:gridCol w="1080000"/>
                <a:gridCol w="1080000"/>
                <a:gridCol w="1296000"/>
                <a:gridCol w="864000"/>
                <a:gridCol w="1296000"/>
                <a:gridCol w="1800000"/>
                <a:gridCol w="1800000"/>
                <a:gridCol w="2015999"/>
              </a:tblGrid>
              <a:tr h="180000">
                <a:tc>
                  <a:txBody>
                    <a:bodyPr/>
                    <a:lstStyle/>
                    <a:p>
                      <a:pPr marL="0" indent="0" lvl="0">
                        <a:buNone/>
                      </a:pPr>
                      <a:r>
                        <a:rPr sz="800" b="1">
                          <a:solidFill>
                            <a:srgbClr val="FFFFFF"/>
                          </a:solidFill>
                          <a:latin typeface="Helvetica"/>
                        </a:rPr>
                        <a:t>Agent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Naissance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Embauche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Âge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Ancienneté (ans)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Salaire mensuel moyen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Droits acquis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Provision recalculée</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A25-24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01/02/2019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6,83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649 853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1 391 768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1 138 786</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A25-28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1970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01/07/2021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4,42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834 630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1 105 884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1 105 884</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A25-12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01/01/2016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9,92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214 476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690 792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437 938</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A25-31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1990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1 473 449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1 583 957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418 355</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A25-13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01/01/2016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9,92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185 792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598 404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353 612</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A25-14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1978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01/01/2016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9,92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175 002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563 652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333 076</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A25-36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385 407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414 312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279 828</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01/02/2019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6,83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206 709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442 702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230 692</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A25-20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01/01/2019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164 534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357 176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213 283</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A25-55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1975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01/08/2023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2,33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375 286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262 700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187 015</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A25-40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256 677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275 928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165 245</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A25-32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1977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228 440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245 573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155 976</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A25-39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264 645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284 493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140 683</a:t>
                      </a:r>
                    </a:p>
                  </a:txBody>
                  <a:tcPr marL="43200" marR="43200" marT="14400" marB="14400" anchor="ctr">
                    <a:solidFill>
                      <a:srgbClr val="FFFFFF"/>
                    </a:solidFill>
                  </a:tcPr>
                </a:tc>
              </a:tr>
            </a:tbl>
          </a:graphicData>
        </a:graphic>
      </p:graphicFrame>
      <p:sp>
        <p:nvSpPr>
          <p:cNvPr id="33" name="TextBox 32"/>
          <p:cNvSpPr txBox="1"/>
          <p:nvPr/>
        </p:nvSpPr>
        <p:spPr>
          <a:xfrm>
            <a:off x="503999" y="4194000"/>
            <a:ext cx="11232000" cy="162000"/>
          </a:xfrm>
          <a:prstGeom prst="rect">
            <a:avLst/>
          </a:prstGeom>
          <a:noFill/>
        </p:spPr>
        <p:txBody>
          <a:bodyPr wrap="square" anchor="t" lIns="54000" rIns="54000"/>
          <a:lstStyle/>
          <a:p>
            <a:pPr algn="l"/>
            <a:r>
              <a:rPr sz="850" b="0">
                <a:solidFill>
                  <a:srgbClr val="53565A"/>
                </a:solidFill>
                <a:latin typeface="Helvetica"/>
              </a:rPr>
              <a:t>Valable pour : agents déclarés dans la DISA 2025, évaluation au 31/12/2025. Paramètres de l'onglet 14a.</a:t>
            </a:r>
          </a:p>
        </p:txBody>
      </p:sp>
      <p:sp>
        <p:nvSpPr>
          <p:cNvPr id="34" name="TextBox 33"/>
          <p:cNvSpPr txBox="1"/>
          <p:nvPr/>
        </p:nvSpPr>
        <p:spPr>
          <a:xfrm>
            <a:off x="503999" y="4482000"/>
            <a:ext cx="11232000" cy="1386000"/>
          </a:xfrm>
          <a:prstGeom prst="rect">
            <a:avLst/>
          </a:prstGeom>
          <a:noFill/>
        </p:spPr>
        <p:txBody>
          <a:bodyPr wrap="square" lIns="54000" rIns="54000"/>
          <a:lstStyle/>
          <a:p>
            <a:pPr algn="just">
              <a:spcAft>
                <a:spcPts val="600"/>
              </a:spcAft>
            </a:pPr>
            <a:r>
              <a:rPr sz="1300" b="1">
                <a:solidFill>
                  <a:srgbClr val="060606"/>
                </a:solidFill>
                <a:latin typeface="Helvetica"/>
              </a:rPr>
              <a:t>L'agent A25-24 porte la provision la plus élevée de ce tableau (1 138 786 FCFA)</a:t>
            </a:r>
            <a:r>
              <a:rPr sz="1300" b="0">
                <a:solidFill>
                  <a:srgbClr val="060606"/>
                </a:solidFill>
                <a:latin typeface="Helvetica"/>
              </a:rPr>
              <a:t>, avec 6,83 ans d'ancienneté.</a:t>
            </a:r>
          </a:p>
          <a:p>
            <a:pPr algn="just">
              <a:spcAft>
                <a:spcPts val="600"/>
              </a:spcAft>
            </a:pPr>
            <a:r>
              <a:rPr sz="1300" b="0">
                <a:solidFill>
                  <a:srgbClr val="060606"/>
                </a:solidFill>
                <a:latin typeface="Helvetica"/>
              </a:rPr>
              <a:t>Ces montants s'additionnent dans la diapositive « Provision du personnel par entité ». Ils changent avec l'âge de départ, la date d'embauche et l'entité que le FPPN confirmera (PBC, item 113).</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CMP : Centre Médical du Policier (rapport de gestion 2023) | CNPS : Caisse nationale de prévoyance sociale | PBC : liste des documents demandés au client | DISA : déclaration individuelle des salaires annuels à la CNPS</a:t>
            </a:r>
          </a:p>
        </p:txBody>
      </p:sp>
    </p:spTree>
    <p:extLst>
      <p:ext uri="{BB962C8B-B14F-4D97-AF65-F5344CB8AC3E}">
        <p14:creationId xmlns:p14="http://schemas.microsoft.com/office/powerpoint/2010/main" val="2639162259"/>
      </p:ext>
    </p:extLst>
  </p:cSld>
  <p:clrMapOvr>
    <a:masterClrMapping/>
  </p:clrMapOvr>
  <p:transition>
    <p:fade/>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du personnel agent par agent : CMP (2/3)</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 personnel récent : les droits acquis restent faibles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13 agents. Provision recalculée 1 179 170 FCFA. Droits acquis 2 957 567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DISA_256927_2021.xls, DISA_256927_2022.xls, DISA_256927_2023.xls, DISA_256927_2025.xls (déclarations CNPS). ETAT 301 &amp; DISA 2024 FPPN.xls (RECAPSALAIRES 2024 CMP). ETAT 301 &amp; DISA 2025 FPPN.xls (RECAPSALAIRES 2025 GRENIER). Onglet 14b du classeur v9</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43 : Provision du personnel au 31/12/2025 : CMP (2/3)</a:t>
            </a:r>
          </a:p>
        </p:txBody>
      </p:sp>
      <p:graphicFrame>
        <p:nvGraphicFramePr>
          <p:cNvPr id="32" name="Table 31"/>
          <p:cNvGraphicFramePr>
            <a:graphicFrameLocks noGrp="1"/>
          </p:cNvGraphicFramePr>
          <p:nvPr/>
        </p:nvGraphicFramePr>
        <p:xfrm>
          <a:off x="503999" y="1655999"/>
          <a:ext cx="11231999" cy="2520000"/>
        </p:xfrm>
        <a:graphic>
          <a:graphicData uri="http://schemas.openxmlformats.org/drawingml/2006/table">
            <a:tbl>
              <a:tblPr firstRow="0" bandRow="0">
                <a:tableStyleId>{5940675A-B579-460E-94D1-54222C63F5DA}</a:tableStyleId>
              </a:tblPr>
              <a:tblGrid>
                <a:gridCol w="1080000"/>
                <a:gridCol w="1080000"/>
                <a:gridCol w="1296000"/>
                <a:gridCol w="864000"/>
                <a:gridCol w="1296000"/>
                <a:gridCol w="1800000"/>
                <a:gridCol w="1800000"/>
                <a:gridCol w="2015999"/>
              </a:tblGrid>
              <a:tr h="180000">
                <a:tc>
                  <a:txBody>
                    <a:bodyPr/>
                    <a:lstStyle/>
                    <a:p>
                      <a:pPr marL="0" indent="0" lvl="0">
                        <a:buNone/>
                      </a:pPr>
                      <a:r>
                        <a:rPr sz="800" b="1">
                          <a:solidFill>
                            <a:srgbClr val="FFFFFF"/>
                          </a:solidFill>
                          <a:latin typeface="Helvetica"/>
                        </a:rPr>
                        <a:t>Agent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Naissance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Embauche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Âge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Ancienneté (ans)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Salaire mensuel moyen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Droits acquis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Provision recalculée</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A25-34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162 362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174 539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134 789</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A25-54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1972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09/06/2023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2,50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208 269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156 201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133 463</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01/01/2019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182 299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395 742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116 694</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A25-44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181 222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194 814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102 876</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A25-49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08/05/2023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2,58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200 788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155 610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97 269</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A25-43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235 549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253 215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82 796</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A25-21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01/01/2019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170 968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371 143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81 901</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A25-33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216 488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232 724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81 650</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A25-53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1969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23/05/2023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2,58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102 147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79 164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79 164</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A25-18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1996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01/01/2019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6,92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213 172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462 761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76 274</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A25-56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1967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19/01/2024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115 067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66 163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66 163</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A25-41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208 985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224 659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63 733</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A25-42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177 518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190 832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62 398</a:t>
                      </a:r>
                    </a:p>
                  </a:txBody>
                  <a:tcPr marL="43200" marR="43200" marT="14400" marB="14400" anchor="ctr">
                    <a:solidFill>
                      <a:srgbClr val="FFFFFF"/>
                    </a:solidFill>
                  </a:tcPr>
                </a:tc>
              </a:tr>
            </a:tbl>
          </a:graphicData>
        </a:graphic>
      </p:graphicFrame>
      <p:sp>
        <p:nvSpPr>
          <p:cNvPr id="33" name="TextBox 32"/>
          <p:cNvSpPr txBox="1"/>
          <p:nvPr/>
        </p:nvSpPr>
        <p:spPr>
          <a:xfrm>
            <a:off x="503999" y="4194000"/>
            <a:ext cx="11232000" cy="162000"/>
          </a:xfrm>
          <a:prstGeom prst="rect">
            <a:avLst/>
          </a:prstGeom>
          <a:noFill/>
        </p:spPr>
        <p:txBody>
          <a:bodyPr wrap="square" anchor="t" lIns="54000" rIns="54000"/>
          <a:lstStyle/>
          <a:p>
            <a:pPr algn="l"/>
            <a:r>
              <a:rPr sz="850" b="0">
                <a:solidFill>
                  <a:srgbClr val="53565A"/>
                </a:solidFill>
                <a:latin typeface="Helvetica"/>
              </a:rPr>
              <a:t>Valable pour : agents déclarés dans la DISA 2025, évaluation au 31/12/2025. Paramètres de l'onglet 14a.</a:t>
            </a:r>
          </a:p>
        </p:txBody>
      </p:sp>
      <p:sp>
        <p:nvSpPr>
          <p:cNvPr id="34" name="TextBox 33"/>
          <p:cNvSpPr txBox="1"/>
          <p:nvPr/>
        </p:nvSpPr>
        <p:spPr>
          <a:xfrm>
            <a:off x="503999" y="4482000"/>
            <a:ext cx="11232000" cy="1386000"/>
          </a:xfrm>
          <a:prstGeom prst="rect">
            <a:avLst/>
          </a:prstGeom>
          <a:noFill/>
        </p:spPr>
        <p:txBody>
          <a:bodyPr wrap="square" lIns="54000" rIns="54000"/>
          <a:lstStyle/>
          <a:p>
            <a:pPr algn="just">
              <a:spcAft>
                <a:spcPts val="600"/>
              </a:spcAft>
            </a:pPr>
            <a:r>
              <a:rPr sz="1300" b="1">
                <a:solidFill>
                  <a:srgbClr val="060606"/>
                </a:solidFill>
                <a:latin typeface="Helvetica"/>
              </a:rPr>
              <a:t>L'agent A25-34 porte la provision la plus élevée de ce tableau (134 789 FCFA)</a:t>
            </a:r>
            <a:r>
              <a:rPr sz="1300" b="0">
                <a:solidFill>
                  <a:srgbClr val="060606"/>
                </a:solidFill>
                <a:latin typeface="Helvetica"/>
              </a:rPr>
              <a:t>, avec 3,58 ans d'ancienneté.</a:t>
            </a:r>
          </a:p>
          <a:p>
            <a:pPr algn="just">
              <a:spcAft>
                <a:spcPts val="600"/>
              </a:spcAft>
            </a:pPr>
            <a:r>
              <a:rPr sz="1300" b="0">
                <a:solidFill>
                  <a:srgbClr val="060606"/>
                </a:solidFill>
                <a:latin typeface="Helvetica"/>
              </a:rPr>
              <a:t>Ces montants s'additionnent dans la diapositive « Provision du personnel par entité ». Ils changent avec l'âge de départ, la date d'embauche et l'entité que le FPPN confirmera (PBC, item 113).</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CMP : Centre Médical du Policier (rapport de gestion 2023) | CNPS : Caisse nationale de prévoyance sociale | PBC : liste des documents demandés au client | DISA : déclaration individuelle des salaires annuels à la CNPS</a:t>
            </a:r>
          </a:p>
        </p:txBody>
      </p:sp>
    </p:spTree>
    <p:extLst>
      <p:ext uri="{BB962C8B-B14F-4D97-AF65-F5344CB8AC3E}">
        <p14:creationId xmlns:p14="http://schemas.microsoft.com/office/powerpoint/2010/main" val="1649414767"/>
      </p:ext>
    </p:extLst>
  </p:cSld>
  <p:clrMapOvr>
    <a:masterClrMapping/>
  </p:clrMapOvr>
  <p:transition>
    <p:fade/>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du personnel agent par agent : CMP (3/3)</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 personnel récent : les droits acquis restent faibles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11 agents. Provision recalculée 341 056 FCFA. Droits acquis 1 215 565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DISA_256927_2021.xls, DISA_256927_2022.xls, DISA_256927_2023.xls, DISA_256927_2025.xls (déclarations CNPS). ETAT 301 &amp; DISA 2024 FPPN.xls (RECAPSALAIRES 2024 CMP). ETAT 301 &amp; DISA 2025 FPPN.xls (RECAPSALAIRES 2025 GRENIER). Onglet 14b du classeur v9</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44 : Provision du personnel au 31/12/2025 : CMP (3/3)</a:t>
            </a:r>
          </a:p>
        </p:txBody>
      </p:sp>
      <p:graphicFrame>
        <p:nvGraphicFramePr>
          <p:cNvPr id="32" name="Table 31"/>
          <p:cNvGraphicFramePr>
            <a:graphicFrameLocks noGrp="1"/>
          </p:cNvGraphicFramePr>
          <p:nvPr/>
        </p:nvGraphicFramePr>
        <p:xfrm>
          <a:off x="503999" y="1655999"/>
          <a:ext cx="11231999" cy="2160000"/>
        </p:xfrm>
        <a:graphic>
          <a:graphicData uri="http://schemas.openxmlformats.org/drawingml/2006/table">
            <a:tbl>
              <a:tblPr firstRow="0" bandRow="0">
                <a:tableStyleId>{5940675A-B579-460E-94D1-54222C63F5DA}</a:tableStyleId>
              </a:tblPr>
              <a:tblGrid>
                <a:gridCol w="1080000"/>
                <a:gridCol w="1080000"/>
                <a:gridCol w="1296000"/>
                <a:gridCol w="864000"/>
                <a:gridCol w="1296000"/>
                <a:gridCol w="1800000"/>
                <a:gridCol w="1800000"/>
                <a:gridCol w="2015999"/>
              </a:tblGrid>
              <a:tr h="180000">
                <a:tc>
                  <a:txBody>
                    <a:bodyPr/>
                    <a:lstStyle/>
                    <a:p>
                      <a:pPr marL="0" indent="0" lvl="0">
                        <a:buNone/>
                      </a:pPr>
                      <a:r>
                        <a:rPr sz="800" b="1">
                          <a:solidFill>
                            <a:srgbClr val="FFFFFF"/>
                          </a:solidFill>
                          <a:latin typeface="Helvetica"/>
                        </a:rPr>
                        <a:t>Agent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Naissance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Embauche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Âge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Ancienneté (ans)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Salaire mensuel moyen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Droits acquis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Provision recalculée</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A25-51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27/04/2023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2,67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159 843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127 874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51 239</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A25-47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01/09/2022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115 273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112 391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45 228</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A25-46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01/09/2022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113 347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110 513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38 702</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A25-52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01/05/2023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2,58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114 947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89 084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35 673</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A25-45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01/09/2022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108 698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105 980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32 235</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A25-37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1994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149 755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160 987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31 877</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A25-50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27/04/2023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2,67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151 077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120 861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27 569</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A25-61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03/02/2025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0,83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216 752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54 188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25 877</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A25-35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1998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03/05/2022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3,58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161 414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173 520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25 689</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A25-58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10/06/2024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1,50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121 201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54 541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15 330</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A25-57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2002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26/03/2024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1,75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201 192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105 626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11 636</a:t>
                      </a:r>
                    </a:p>
                  </a:txBody>
                  <a:tcPr marL="43200" marR="43200" marT="14400" marB="14400" anchor="ctr">
                    <a:solidFill>
                      <a:srgbClr val="FFFFFF"/>
                    </a:solidFill>
                  </a:tcPr>
                </a:tc>
              </a:tr>
            </a:tbl>
          </a:graphicData>
        </a:graphic>
      </p:graphicFrame>
      <p:sp>
        <p:nvSpPr>
          <p:cNvPr id="33" name="TextBox 32"/>
          <p:cNvSpPr txBox="1"/>
          <p:nvPr/>
        </p:nvSpPr>
        <p:spPr>
          <a:xfrm>
            <a:off x="503999" y="3834000"/>
            <a:ext cx="11232000" cy="162000"/>
          </a:xfrm>
          <a:prstGeom prst="rect">
            <a:avLst/>
          </a:prstGeom>
          <a:noFill/>
        </p:spPr>
        <p:txBody>
          <a:bodyPr wrap="square" anchor="t" lIns="54000" rIns="54000"/>
          <a:lstStyle/>
          <a:p>
            <a:pPr algn="l"/>
            <a:r>
              <a:rPr sz="850" b="0">
                <a:solidFill>
                  <a:srgbClr val="53565A"/>
                </a:solidFill>
                <a:latin typeface="Helvetica"/>
              </a:rPr>
              <a:t>Valable pour : agents déclarés dans la DISA 2025, évaluation au 31/12/2025. Paramètres de l'onglet 14a.</a:t>
            </a:r>
          </a:p>
        </p:txBody>
      </p:sp>
      <p:sp>
        <p:nvSpPr>
          <p:cNvPr id="34" name="TextBox 33"/>
          <p:cNvSpPr txBox="1"/>
          <p:nvPr/>
        </p:nvSpPr>
        <p:spPr>
          <a:xfrm>
            <a:off x="503999" y="4122000"/>
            <a:ext cx="11232000" cy="1746000"/>
          </a:xfrm>
          <a:prstGeom prst="rect">
            <a:avLst/>
          </a:prstGeom>
          <a:noFill/>
        </p:spPr>
        <p:txBody>
          <a:bodyPr wrap="square" lIns="54000" rIns="54000"/>
          <a:lstStyle/>
          <a:p>
            <a:pPr algn="just">
              <a:spcAft>
                <a:spcPts val="600"/>
              </a:spcAft>
            </a:pPr>
            <a:r>
              <a:rPr sz="1300" b="1">
                <a:solidFill>
                  <a:srgbClr val="060606"/>
                </a:solidFill>
                <a:latin typeface="Helvetica"/>
              </a:rPr>
              <a:t>L'agent A25-51 porte la provision la plus élevée de ce tableau (51 239 FCFA)</a:t>
            </a:r>
            <a:r>
              <a:rPr sz="1300" b="0">
                <a:solidFill>
                  <a:srgbClr val="060606"/>
                </a:solidFill>
                <a:latin typeface="Helvetica"/>
              </a:rPr>
              <a:t>, avec 2,67 ans d'ancienneté.</a:t>
            </a:r>
          </a:p>
          <a:p>
            <a:pPr algn="just">
              <a:spcAft>
                <a:spcPts val="600"/>
              </a:spcAft>
            </a:pPr>
            <a:r>
              <a:rPr sz="1300" b="0">
                <a:solidFill>
                  <a:srgbClr val="060606"/>
                </a:solidFill>
                <a:latin typeface="Helvetica"/>
              </a:rPr>
              <a:t>Ces montants s'additionnent dans la diapositive « Provision du personnel par entité ». Ils changent avec l'âge de départ, la date d'embauche et l'entité que le FPPN confirmera (PBC, item 113).</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CMP : Centre Médical du Policier (rapport de gestion 2023) | CNPS : Caisse nationale de prévoyance sociale | PBC : liste des documents demandés au client | DISA : déclaration individuelle des salaires annuels à la CNPS</a:t>
            </a:r>
          </a:p>
        </p:txBody>
      </p:sp>
    </p:spTree>
    <p:extLst>
      <p:ext uri="{BB962C8B-B14F-4D97-AF65-F5344CB8AC3E}">
        <p14:creationId xmlns:p14="http://schemas.microsoft.com/office/powerpoint/2010/main" val="1622195662"/>
      </p:ext>
    </p:extLst>
  </p:cSld>
  <p:clrMapOvr>
    <a:masterClrMapping/>
  </p:clrMapOvr>
  <p:transition>
    <p:fade/>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du personnel agent par agent : Grenier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Trois agents, dont un recruté en 2025</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3 agents. Provision recalculée 1 454 296 FCFA. Droits acquis 2 790 059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DISA_256927_2021.xls, DISA_256927_2022.xls, DISA_256927_2023.xls, DISA_256927_2025.xls (déclarations CNPS). ETAT 301 &amp; DISA 2024 FPPN.xls (RECAPSALAIRES 2024 CMP). ETAT 301 &amp; DISA 2025 FPPN.xls (RECAPSALAIRES 2025 GRENIER). Onglet 14b du classeur v9</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45 : Provision du personnel au 31/12/2025 : Grenier</a:t>
            </a:r>
          </a:p>
        </p:txBody>
      </p:sp>
      <p:graphicFrame>
        <p:nvGraphicFramePr>
          <p:cNvPr id="32" name="Table 31"/>
          <p:cNvGraphicFramePr>
            <a:graphicFrameLocks noGrp="1"/>
          </p:cNvGraphicFramePr>
          <p:nvPr/>
        </p:nvGraphicFramePr>
        <p:xfrm>
          <a:off x="503999" y="1655999"/>
          <a:ext cx="11231999" cy="720000"/>
        </p:xfrm>
        <a:graphic>
          <a:graphicData uri="http://schemas.openxmlformats.org/drawingml/2006/table">
            <a:tbl>
              <a:tblPr firstRow="0" bandRow="0">
                <a:tableStyleId>{5940675A-B579-460E-94D1-54222C63F5DA}</a:tableStyleId>
              </a:tblPr>
              <a:tblGrid>
                <a:gridCol w="1080000"/>
                <a:gridCol w="1080000"/>
                <a:gridCol w="1296000"/>
                <a:gridCol w="864000"/>
                <a:gridCol w="1296000"/>
                <a:gridCol w="1800000"/>
                <a:gridCol w="1800000"/>
                <a:gridCol w="2015999"/>
              </a:tblGrid>
              <a:tr h="180000">
                <a:tc>
                  <a:txBody>
                    <a:bodyPr/>
                    <a:lstStyle/>
                    <a:p>
                      <a:pPr marL="0" indent="0" lvl="0">
                        <a:buNone/>
                      </a:pPr>
                      <a:r>
                        <a:rPr sz="800" b="1">
                          <a:solidFill>
                            <a:srgbClr val="FFFFFF"/>
                          </a:solidFill>
                          <a:latin typeface="Helvetica"/>
                        </a:rPr>
                        <a:t>Agent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Naissance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Embauche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Âge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Ancienneté (ans)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Salaire mensuel moyen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Droits acquis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Provision recalculée</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A25-06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1979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01/01/2014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11,92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601 941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2 417 796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1 296 016</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A25-29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01/12/2021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4,00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278 607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334 328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155 168</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A25-64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2006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01/05/2025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0,58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216 771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37 935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3 113</a:t>
                      </a:r>
                    </a:p>
                  </a:txBody>
                  <a:tcPr marL="43200" marR="43200" marT="14400" marB="14400" anchor="ctr">
                    <a:solidFill>
                      <a:srgbClr val="FFFFFF"/>
                    </a:solidFill>
                  </a:tcPr>
                </a:tc>
              </a:tr>
            </a:tbl>
          </a:graphicData>
        </a:graphic>
      </p:graphicFrame>
      <p:sp>
        <p:nvSpPr>
          <p:cNvPr id="33" name="TextBox 32"/>
          <p:cNvSpPr txBox="1"/>
          <p:nvPr/>
        </p:nvSpPr>
        <p:spPr>
          <a:xfrm>
            <a:off x="503999" y="2394000"/>
            <a:ext cx="11232000" cy="162000"/>
          </a:xfrm>
          <a:prstGeom prst="rect">
            <a:avLst/>
          </a:prstGeom>
          <a:noFill/>
        </p:spPr>
        <p:txBody>
          <a:bodyPr wrap="square" anchor="t" lIns="54000" rIns="54000"/>
          <a:lstStyle/>
          <a:p>
            <a:pPr algn="l"/>
            <a:r>
              <a:rPr sz="850" b="0">
                <a:solidFill>
                  <a:srgbClr val="53565A"/>
                </a:solidFill>
                <a:latin typeface="Helvetica"/>
              </a:rPr>
              <a:t>Valable pour : agents déclarés dans la DISA 2025, évaluation au 31/12/2025. Paramètres de l'onglet 14a.</a:t>
            </a:r>
          </a:p>
        </p:txBody>
      </p:sp>
      <p:sp>
        <p:nvSpPr>
          <p:cNvPr id="34" name="TextBox 33"/>
          <p:cNvSpPr txBox="1"/>
          <p:nvPr/>
        </p:nvSpPr>
        <p:spPr>
          <a:xfrm>
            <a:off x="503999" y="2681999"/>
            <a:ext cx="11232000" cy="3186000"/>
          </a:xfrm>
          <a:prstGeom prst="rect">
            <a:avLst/>
          </a:prstGeom>
          <a:noFill/>
        </p:spPr>
        <p:txBody>
          <a:bodyPr wrap="square" lIns="54000" rIns="54000"/>
          <a:lstStyle/>
          <a:p>
            <a:pPr algn="just">
              <a:spcAft>
                <a:spcPts val="600"/>
              </a:spcAft>
            </a:pPr>
            <a:r>
              <a:rPr sz="1300" b="1">
                <a:solidFill>
                  <a:srgbClr val="060606"/>
                </a:solidFill>
                <a:latin typeface="Helvetica"/>
              </a:rPr>
              <a:t>L'agent A25-06 porte la provision la plus élevée de ce tableau (1 296 016 FCFA)</a:t>
            </a:r>
            <a:r>
              <a:rPr sz="1300" b="0">
                <a:solidFill>
                  <a:srgbClr val="060606"/>
                </a:solidFill>
                <a:latin typeface="Helvetica"/>
              </a:rPr>
              <a:t>, avec 11,92 ans d'ancienneté.</a:t>
            </a:r>
          </a:p>
          <a:p>
            <a:pPr algn="just">
              <a:spcAft>
                <a:spcPts val="600"/>
              </a:spcAft>
            </a:pPr>
            <a:r>
              <a:rPr sz="1300" b="0">
                <a:solidFill>
                  <a:srgbClr val="060606"/>
                </a:solidFill>
                <a:latin typeface="Helvetica"/>
              </a:rPr>
              <a:t>Ces montants s'additionnent dans la diapositive « Provision du personnel par entité ». Ils changent avec l'âge de départ, la date d'embauche et l'entité que le FPPN confirmera (PBC, item 113).</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CMP : Centre Médical du Policier (rapport de gestion 2023) | CNPS : Caisse nationale de prévoyance sociale | PBC : liste des documents demandés au client | DISA : déclaration individuelle des salaires annuels à la CNPS</a:t>
            </a:r>
          </a:p>
        </p:txBody>
      </p:sp>
    </p:spTree>
    <p:extLst>
      <p:ext uri="{BB962C8B-B14F-4D97-AF65-F5344CB8AC3E}">
        <p14:creationId xmlns:p14="http://schemas.microsoft.com/office/powerpoint/2010/main" val="1301279713"/>
      </p:ext>
    </p:extLst>
  </p:cSld>
  <p:clrMapOvr>
    <a:masterClrMapping/>
  </p:clrMapOvr>
  <p:transition>
    <p:fade/>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du personnel agent par agent : rattachement non documenté (1/2)</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19 agents recrutés en 2025 ne figurent dans aucun récapitulatif de salaires par entité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10 agents. Provision recalculée 143 225 FCFA. Droits acquis 355 935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DISA_256927_2021.xls, DISA_256927_2022.xls, DISA_256927_2023.xls, DISA_256927_2025.xls (déclarations CNPS). ETAT 301 &amp; DISA 2024 FPPN.xls (RECAPSALAIRES 2024 CMP). ETAT 301 &amp; DISA 2025 FPPN.xls (RECAPSALAIRES 2025 GRENIER). Onglet 14b du classeur v9</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46 : Provision du personnel au 31/12/2025 : Non documentée (1/2)</a:t>
            </a:r>
          </a:p>
        </p:txBody>
      </p:sp>
      <p:graphicFrame>
        <p:nvGraphicFramePr>
          <p:cNvPr id="32" name="Table 31"/>
          <p:cNvGraphicFramePr>
            <a:graphicFrameLocks noGrp="1"/>
          </p:cNvGraphicFramePr>
          <p:nvPr/>
        </p:nvGraphicFramePr>
        <p:xfrm>
          <a:off x="503999" y="1655999"/>
          <a:ext cx="11231999" cy="1980000"/>
        </p:xfrm>
        <a:graphic>
          <a:graphicData uri="http://schemas.openxmlformats.org/drawingml/2006/table">
            <a:tbl>
              <a:tblPr firstRow="0" bandRow="0">
                <a:tableStyleId>{5940675A-B579-460E-94D1-54222C63F5DA}</a:tableStyleId>
              </a:tblPr>
              <a:tblGrid>
                <a:gridCol w="1080000"/>
                <a:gridCol w="1080000"/>
                <a:gridCol w="1296000"/>
                <a:gridCol w="864000"/>
                <a:gridCol w="1296000"/>
                <a:gridCol w="1800000"/>
                <a:gridCol w="1800000"/>
                <a:gridCol w="2015999"/>
              </a:tblGrid>
              <a:tr h="180000">
                <a:tc>
                  <a:txBody>
                    <a:bodyPr/>
                    <a:lstStyle/>
                    <a:p>
                      <a:pPr marL="0" indent="0" lvl="0">
                        <a:buNone/>
                      </a:pPr>
                      <a:r>
                        <a:rPr sz="800" b="1">
                          <a:solidFill>
                            <a:srgbClr val="FFFFFF"/>
                          </a:solidFill>
                          <a:latin typeface="Helvetica"/>
                        </a:rPr>
                        <a:t>Agent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Naissance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Embauche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Âge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Ancienneté (ans)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Salaire mensuel moyen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Droits acquis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Provision recalculée</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A25-68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18/06/2025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0,50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329 861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49 479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23 500</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A25-67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1978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11/06/2025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0,50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216 619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32 493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18 608</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A25-59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1993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03/02/2025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0,83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297 488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74 372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15 692</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A25-63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1975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25/03/2025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0,75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95 176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21 415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14 792</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A25-72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11/06/2025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0,50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215 194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32 279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14 424</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A25-62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1976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07/04/2025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0,67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103 727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20 745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13 518</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A25-66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01/06/2025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0,50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195 447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29 317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13 101</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A25-70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11/06/2025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0,50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210 908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31 636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11 638</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A25-65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01/06/2025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0,50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219 636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32 945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9 212</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A25-71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09/06/2025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0,50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208 357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31 254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8 739</a:t>
                      </a:r>
                    </a:p>
                  </a:txBody>
                  <a:tcPr marL="43200" marR="43200" marT="14400" marB="14400" anchor="ctr">
                    <a:solidFill>
                      <a:srgbClr val="F2F2F2"/>
                    </a:solidFill>
                  </a:tcPr>
                </a:tc>
              </a:tr>
            </a:tbl>
          </a:graphicData>
        </a:graphic>
      </p:graphicFrame>
      <p:sp>
        <p:nvSpPr>
          <p:cNvPr id="33" name="TextBox 32"/>
          <p:cNvSpPr txBox="1"/>
          <p:nvPr/>
        </p:nvSpPr>
        <p:spPr>
          <a:xfrm>
            <a:off x="503999" y="3654000"/>
            <a:ext cx="11232000" cy="162000"/>
          </a:xfrm>
          <a:prstGeom prst="rect">
            <a:avLst/>
          </a:prstGeom>
          <a:noFill/>
        </p:spPr>
        <p:txBody>
          <a:bodyPr wrap="square" anchor="t" lIns="54000" rIns="54000"/>
          <a:lstStyle/>
          <a:p>
            <a:pPr algn="l"/>
            <a:r>
              <a:rPr sz="850" b="0">
                <a:solidFill>
                  <a:srgbClr val="53565A"/>
                </a:solidFill>
                <a:latin typeface="Helvetica"/>
              </a:rPr>
              <a:t>Valable pour : agents déclarés dans la DISA 2025, évaluation au 31/12/2025. Paramètres de l'onglet 14a.</a:t>
            </a:r>
          </a:p>
        </p:txBody>
      </p:sp>
      <p:sp>
        <p:nvSpPr>
          <p:cNvPr id="34" name="TextBox 33"/>
          <p:cNvSpPr txBox="1"/>
          <p:nvPr/>
        </p:nvSpPr>
        <p:spPr>
          <a:xfrm>
            <a:off x="503999" y="3942000"/>
            <a:ext cx="11232000" cy="1926000"/>
          </a:xfrm>
          <a:prstGeom prst="rect">
            <a:avLst/>
          </a:prstGeom>
          <a:noFill/>
        </p:spPr>
        <p:txBody>
          <a:bodyPr wrap="square" lIns="54000" rIns="54000"/>
          <a:lstStyle/>
          <a:p>
            <a:pPr algn="just">
              <a:spcAft>
                <a:spcPts val="600"/>
              </a:spcAft>
            </a:pPr>
            <a:r>
              <a:rPr sz="1300" b="1">
                <a:solidFill>
                  <a:srgbClr val="060606"/>
                </a:solidFill>
                <a:latin typeface="Helvetica"/>
              </a:rPr>
              <a:t>L'agent A25-68 porte la provision la plus élevée de ce tableau (23 500 FCFA)</a:t>
            </a:r>
            <a:r>
              <a:rPr sz="1300" b="0">
                <a:solidFill>
                  <a:srgbClr val="060606"/>
                </a:solidFill>
                <a:latin typeface="Helvetica"/>
              </a:rPr>
              <a:t>, avec 0,50 ans d'ancienneté.</a:t>
            </a:r>
          </a:p>
          <a:p>
            <a:pPr algn="just">
              <a:spcAft>
                <a:spcPts val="600"/>
              </a:spcAft>
            </a:pPr>
            <a:r>
              <a:rPr sz="1300" b="0">
                <a:solidFill>
                  <a:srgbClr val="060606"/>
                </a:solidFill>
                <a:latin typeface="Helvetica"/>
              </a:rPr>
              <a:t>Ces montants s'additionnent dans la diapositive « Provision du personnel par entité ». Ils changent avec l'âge de départ, la date d'embauche et l'entité que le FPPN confirmera (PBC, item 113).</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CMP : Centre Médical du Policier (rapport de gestion 2023) | CNPS : Caisse nationale de prévoyance sociale | PBC : liste des documents demandés au client | DISA : déclaration individuelle des salaires annuels à la CNPS</a:t>
            </a:r>
          </a:p>
        </p:txBody>
      </p:sp>
    </p:spTree>
    <p:extLst>
      <p:ext uri="{BB962C8B-B14F-4D97-AF65-F5344CB8AC3E}">
        <p14:creationId xmlns:p14="http://schemas.microsoft.com/office/powerpoint/2010/main" val="3256189895"/>
      </p:ext>
    </p:extLst>
  </p:cSld>
  <p:clrMapOvr>
    <a:masterClrMapping/>
  </p:clrMapOvr>
  <p:transition>
    <p:fade/>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du personnel agent par agent : rattachement non documenté (2/2)</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19 agents recrutés en 2025 ne figurent dans aucun récapitulatif de salaires par entité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9 agents. Provision recalculée 50 244 FCFA. Droits acquis 217 943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DISA_256927_2021.xls, DISA_256927_2022.xls, DISA_256927_2023.xls, DISA_256927_2025.xls (déclarations CNPS). ETAT 301 &amp; DISA 2024 FPPN.xls (RECAPSALAIRES 2024 CMP). ETAT 301 &amp; DISA 2025 FPPN.xls (RECAPSALAIRES 2025 GRENIER). Onglet 14b du classeur v9</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47 : Provision du personnel au 31/12/2025 : Non documentée (2/2)</a:t>
            </a:r>
          </a:p>
        </p:txBody>
      </p:sp>
      <p:graphicFrame>
        <p:nvGraphicFramePr>
          <p:cNvPr id="32" name="Table 31"/>
          <p:cNvGraphicFramePr>
            <a:graphicFrameLocks noGrp="1"/>
          </p:cNvGraphicFramePr>
          <p:nvPr/>
        </p:nvGraphicFramePr>
        <p:xfrm>
          <a:off x="503999" y="1655999"/>
          <a:ext cx="11231999" cy="1800000"/>
        </p:xfrm>
        <a:graphic>
          <a:graphicData uri="http://schemas.openxmlformats.org/drawingml/2006/table">
            <a:tbl>
              <a:tblPr firstRow="0" bandRow="0">
                <a:tableStyleId>{5940675A-B579-460E-94D1-54222C63F5DA}</a:tableStyleId>
              </a:tblPr>
              <a:tblGrid>
                <a:gridCol w="1080000"/>
                <a:gridCol w="1080000"/>
                <a:gridCol w="1296000"/>
                <a:gridCol w="864000"/>
                <a:gridCol w="1296000"/>
                <a:gridCol w="1800000"/>
                <a:gridCol w="1800000"/>
                <a:gridCol w="2015999"/>
              </a:tblGrid>
              <a:tr h="180000">
                <a:tc>
                  <a:txBody>
                    <a:bodyPr/>
                    <a:lstStyle/>
                    <a:p>
                      <a:pPr marL="0" indent="0" lvl="0">
                        <a:buNone/>
                      </a:pPr>
                      <a:r>
                        <a:rPr sz="800" b="1">
                          <a:solidFill>
                            <a:srgbClr val="FFFFFF"/>
                          </a:solidFill>
                          <a:latin typeface="Helvetica"/>
                        </a:rPr>
                        <a:t>Agent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Naissance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Embauche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Âge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Ancienneté (ans)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Salaire mensuel moyen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Droits acquis</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Provision recalculée</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A25-60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1999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03/02/2025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0,83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251 915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62 979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8 619</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A25-78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03/07/2025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0,42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194 348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24 294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7 799</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A25-77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1984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03/07/2025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0,42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137 651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17 206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6 758</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A25-73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04/07/2025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0,42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115 067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14 383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6 420</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A25-76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09/07/2025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0,42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205 256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25 657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5 804</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A25-75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1982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04/07/2025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0,42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103 727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12 966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5 787</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A25-69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2003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09/06/2025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0,50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229 527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34 429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3 518</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A25-79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1990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03/07/2025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0,42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98 590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12 324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3 211</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A25-74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1996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04/07/2025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0,42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109 642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13 705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2 328</a:t>
                      </a:r>
                    </a:p>
                  </a:txBody>
                  <a:tcPr marL="43200" marR="43200" marT="14400" marB="14400" anchor="ctr">
                    <a:solidFill>
                      <a:srgbClr val="FFFFFF"/>
                    </a:solidFill>
                  </a:tcPr>
                </a:tc>
              </a:tr>
            </a:tbl>
          </a:graphicData>
        </a:graphic>
      </p:graphicFrame>
      <p:sp>
        <p:nvSpPr>
          <p:cNvPr id="33" name="TextBox 32"/>
          <p:cNvSpPr txBox="1"/>
          <p:nvPr/>
        </p:nvSpPr>
        <p:spPr>
          <a:xfrm>
            <a:off x="503999" y="3474000"/>
            <a:ext cx="11232000" cy="162000"/>
          </a:xfrm>
          <a:prstGeom prst="rect">
            <a:avLst/>
          </a:prstGeom>
          <a:noFill/>
        </p:spPr>
        <p:txBody>
          <a:bodyPr wrap="square" anchor="t" lIns="54000" rIns="54000"/>
          <a:lstStyle/>
          <a:p>
            <a:pPr algn="l"/>
            <a:r>
              <a:rPr sz="850" b="0">
                <a:solidFill>
                  <a:srgbClr val="53565A"/>
                </a:solidFill>
                <a:latin typeface="Helvetica"/>
              </a:rPr>
              <a:t>Valable pour : agents déclarés dans la DISA 2025, évaluation au 31/12/2025. Paramètres de l'onglet 14a.</a:t>
            </a:r>
          </a:p>
        </p:txBody>
      </p:sp>
      <p:sp>
        <p:nvSpPr>
          <p:cNvPr id="34" name="TextBox 33"/>
          <p:cNvSpPr txBox="1"/>
          <p:nvPr/>
        </p:nvSpPr>
        <p:spPr>
          <a:xfrm>
            <a:off x="503999" y="3762000"/>
            <a:ext cx="11232000" cy="2106000"/>
          </a:xfrm>
          <a:prstGeom prst="rect">
            <a:avLst/>
          </a:prstGeom>
          <a:noFill/>
        </p:spPr>
        <p:txBody>
          <a:bodyPr wrap="square" lIns="54000" rIns="54000"/>
          <a:lstStyle/>
          <a:p>
            <a:pPr algn="just">
              <a:spcAft>
                <a:spcPts val="600"/>
              </a:spcAft>
            </a:pPr>
            <a:r>
              <a:rPr sz="1300" b="1">
                <a:solidFill>
                  <a:srgbClr val="060606"/>
                </a:solidFill>
                <a:latin typeface="Helvetica"/>
              </a:rPr>
              <a:t>L'agent A25-60 porte la provision la plus élevée de ce tableau (8 619 FCFA)</a:t>
            </a:r>
            <a:r>
              <a:rPr sz="1300" b="0">
                <a:solidFill>
                  <a:srgbClr val="060606"/>
                </a:solidFill>
                <a:latin typeface="Helvetica"/>
              </a:rPr>
              <a:t>, avec 0,83 ans d'ancienneté.</a:t>
            </a:r>
          </a:p>
          <a:p>
            <a:pPr algn="just">
              <a:spcAft>
                <a:spcPts val="600"/>
              </a:spcAft>
            </a:pPr>
            <a:r>
              <a:rPr sz="1300" b="0">
                <a:solidFill>
                  <a:srgbClr val="060606"/>
                </a:solidFill>
                <a:latin typeface="Helvetica"/>
              </a:rPr>
              <a:t>Ces montants s'additionnent dans la diapositive « Provision du personnel par entité ». Ils changent avec l'âge de départ, la date d'embauche et l'entité que le FPPN confirmera (PBC, item 113).</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CMP : Centre Médical du Policier (rapport de gestion 2023) | CNPS : Caisse nationale de prévoyance sociale | PBC : liste des documents demandés au client | DISA : déclaration individuelle des salaires annuels à la CNPS</a:t>
            </a:r>
          </a:p>
        </p:txBody>
      </p:sp>
    </p:spTree>
    <p:extLst>
      <p:ext uri="{BB962C8B-B14F-4D97-AF65-F5344CB8AC3E}">
        <p14:creationId xmlns:p14="http://schemas.microsoft.com/office/powerpoint/2010/main" val="2822938992"/>
      </p:ext>
    </p:extLst>
  </p:cSld>
  <p:clrMapOvr>
    <a:masterClrMapping/>
  </p:clrMapOvr>
  <p:transition>
    <p:fade/>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 du personnel : sensibilités et qualité des données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rotation du personnel pèse plus que l'âge de départ ou le taux d'actualisation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Sans rotation, la provision passerait de 24 446 566 FCFA à 62 618 476 FCFA. 12 dates d'embauche changent dans la DISA 2025</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DISA_256927_2021.xls, DISA_256927_2022.xls, DISA_256927_2023.xls, DISA_256927_2025.xls (déclarations CNPS). ETAT 301 &amp; DISA 2024 FPPN.xls (RECAPSALAIRES 2024 CMP). ETAT 301 &amp; DISA 2025 FPPN.xls (RECAPSALAIRES 2025 GRENIER). IAS 19, § 145. Onglets 14a à 14c du classeur v9</a:t>
            </a:r>
          </a:p>
        </p:txBody>
      </p:sp>
      <p:sp>
        <p:nvSpPr>
          <p:cNvPr id="31" name="TextBox 30"/>
          <p:cNvSpPr txBox="1"/>
          <p:nvPr/>
        </p:nvSpPr>
        <p:spPr>
          <a:xfrm>
            <a:off x="503999" y="1386000"/>
            <a:ext cx="10080000" cy="216000"/>
          </a:xfrm>
          <a:prstGeom prst="rect">
            <a:avLst/>
          </a:prstGeom>
          <a:noFill/>
        </p:spPr>
        <p:txBody>
          <a:bodyPr wrap="square" anchor="t" lIns="54000" rIns="54000"/>
          <a:lstStyle/>
          <a:p>
            <a:pPr algn="ctr"/>
            <a:r>
              <a:rPr sz="1200" b="0">
                <a:solidFill>
                  <a:srgbClr val="EFAC62"/>
                </a:solidFill>
                <a:latin typeface="Helvetica"/>
              </a:rPr>
              <a:t>Tableau 48 : Sensibilité de la provision du personnel au 31/12/2025</a:t>
            </a:r>
          </a:p>
        </p:txBody>
      </p:sp>
      <p:graphicFrame>
        <p:nvGraphicFramePr>
          <p:cNvPr id="32" name="Table 31"/>
          <p:cNvGraphicFramePr>
            <a:graphicFrameLocks noGrp="1"/>
          </p:cNvGraphicFramePr>
          <p:nvPr/>
        </p:nvGraphicFramePr>
        <p:xfrm>
          <a:off x="503999" y="1655999"/>
          <a:ext cx="10080000" cy="1363376"/>
        </p:xfrm>
        <a:graphic>
          <a:graphicData uri="http://schemas.openxmlformats.org/drawingml/2006/table">
            <a:tbl>
              <a:tblPr firstRow="0" bandRow="0">
                <a:tableStyleId>{5940675A-B579-460E-94D1-54222C63F5DA}</a:tableStyleId>
              </a:tblPr>
              <a:tblGrid>
                <a:gridCol w="4320000"/>
                <a:gridCol w="2880000"/>
                <a:gridCol w="2880000"/>
              </a:tblGrid>
              <a:tr h="194768">
                <a:tc>
                  <a:txBody>
                    <a:bodyPr/>
                    <a:lstStyle/>
                    <a:p>
                      <a:pPr marL="0" indent="0" lvl="0">
                        <a:buNone/>
                      </a:pPr>
                      <a:r>
                        <a:rPr sz="900" b="1">
                          <a:solidFill>
                            <a:srgbClr val="FFFFFF"/>
                          </a:solidFill>
                          <a:latin typeface="Helvetica"/>
                        </a:rPr>
                        <a:t>Hypothèse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Provision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Écart à l'hypothèse centrale</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Hypothèses centrales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24 446 566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0,00 %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Départ à 58 ans (trois enfants à charge)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19 848 492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-18,81 %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Départ à 60 ans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17 184 450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-29,71 %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Taux d'actualisation de 3,5 %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32 254 939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31,94 %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Sans rotation du personnel</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62 618 476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156,14 %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Salaires + 1 point par an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26 163 645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7,02 %</a:t>
                      </a:r>
                    </a:p>
                  </a:txBody>
                  <a:tcPr marL="43200" marR="43200" marT="14400" marB="14400" anchor="ctr">
                    <a:solidFill>
                      <a:srgbClr val="F2F2F2"/>
                    </a:solidFill>
                  </a:tcPr>
                </a:tc>
              </a:tr>
            </a:tbl>
          </a:graphicData>
        </a:graphic>
      </p:graphicFrame>
      <p:sp>
        <p:nvSpPr>
          <p:cNvPr id="33" name="TextBox 32"/>
          <p:cNvSpPr txBox="1"/>
          <p:nvPr/>
        </p:nvSpPr>
        <p:spPr>
          <a:xfrm>
            <a:off x="503999" y="3037380"/>
            <a:ext cx="11232000" cy="162000"/>
          </a:xfrm>
          <a:prstGeom prst="rect">
            <a:avLst/>
          </a:prstGeom>
          <a:noFill/>
        </p:spPr>
        <p:txBody>
          <a:bodyPr wrap="square" anchor="t" lIns="54000" rIns="54000"/>
          <a:lstStyle/>
          <a:p>
            <a:pPr algn="l"/>
            <a:r>
              <a:rPr sz="850" b="0">
                <a:solidFill>
                  <a:srgbClr val="53565A"/>
                </a:solidFill>
                <a:latin typeface="Helvetica"/>
              </a:rPr>
              <a:t>Valable pour : personnel civil de la DISA 2025, évaluation au 31/12/2025. Plafond conventionnel non appliqué.</a:t>
            </a:r>
          </a:p>
        </p:txBody>
      </p:sp>
      <p:sp>
        <p:nvSpPr>
          <p:cNvPr id="34" name="TextBox 33"/>
          <p:cNvSpPr txBox="1"/>
          <p:nvPr/>
        </p:nvSpPr>
        <p:spPr>
          <a:xfrm>
            <a:off x="503999" y="3325380"/>
            <a:ext cx="11232000" cy="2542619"/>
          </a:xfrm>
          <a:prstGeom prst="rect">
            <a:avLst/>
          </a:prstGeom>
          <a:noFill/>
        </p:spPr>
        <p:txBody>
          <a:bodyPr wrap="square" lIns="54000" rIns="54000"/>
          <a:lstStyle/>
          <a:p>
            <a:pPr algn="just">
              <a:spcAft>
                <a:spcPts val="600"/>
              </a:spcAft>
            </a:pPr>
            <a:r>
              <a:rPr sz="1300" b="1">
                <a:solidFill>
                  <a:srgbClr val="060606"/>
                </a:solidFill>
                <a:latin typeface="Helvetica"/>
              </a:rPr>
              <a:t>5 agents ont déjà 55 ans ou plus et sont toujours en poste en 2025, dont un de 60 ans.</a:t>
            </a:r>
            <a:r>
              <a:rPr sz="1300" b="0">
                <a:solidFill>
                  <a:srgbClr val="060606"/>
                </a:solidFill>
                <a:latin typeface="Helvetica"/>
              </a:rPr>
              <a:t> Le FPPN n'applique donc pas l'âge de 55 ans. L'âge retenu par le FPPN est à confirmer.</a:t>
            </a:r>
          </a:p>
          <a:p>
            <a:pPr algn="just">
              <a:spcAft>
                <a:spcPts val="600"/>
              </a:spcAft>
            </a:pPr>
            <a:r>
              <a:rPr sz="1300" b="1">
                <a:solidFill>
                  <a:srgbClr val="060606"/>
                </a:solidFill>
                <a:latin typeface="Helvetica"/>
              </a:rPr>
              <a:t>Pour 12 agents, la date d'embauche de la DISA 2025 diffère de celle des DISA 2021 à 2023</a:t>
            </a:r>
            <a:r>
              <a:rPr sz="1300" b="0">
                <a:solidFill>
                  <a:srgbClr val="060606"/>
                </a:solidFill>
                <a:latin typeface="Helvetica"/>
              </a:rPr>
              <a:t>, dont 3 remplacées par le 28/10/2013. Pour l'agent A25-01, embauché le 01/01/2006 selon les DISA 2021 à 2023, l'ancienneté retenue baisse de plus de sept ans.</a:t>
            </a:r>
          </a:p>
          <a:p>
            <a:pPr algn="just">
              <a:spcAft>
                <a:spcPts val="600"/>
              </a:spcAft>
            </a:pPr>
            <a:r>
              <a:rPr sz="1300" b="1">
                <a:solidFill>
                  <a:srgbClr val="060606"/>
                </a:solidFill>
                <a:latin typeface="Helvetica"/>
              </a:rPr>
              <a:t>L'indemnité projetée la plus élevée atteint 104 542 202 FCFA</a:t>
            </a:r>
            <a:r>
              <a:rPr sz="1300" b="0">
                <a:solidFill>
                  <a:srgbClr val="060606"/>
                </a:solidFill>
                <a:latin typeface="Helvetica"/>
              </a:rPr>
              <a:t> : le plafond de 25 fois le SMIG annuel (convention, art. 40) peut s'appliquer, mais le montant du SMIG ne figure dans aucun document reçu.</a:t>
            </a:r>
          </a:p>
          <a:p>
            <a:pPr algn="just">
              <a:spcAft>
                <a:spcPts val="600"/>
              </a:spcAft>
            </a:pPr>
            <a:r>
              <a:rPr sz="1300" b="0">
                <a:solidFill>
                  <a:srgbClr val="060606"/>
                </a:solidFill>
                <a:latin typeface="Helvetica"/>
              </a:rPr>
              <a:t>Le FPPN doit confirmer l'âge de départ appliqué, les dates d'embauche, le rattachement des agents recrutés en 2025 et le nombre d'enfants à charge (PBC, item 113).</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CMP : Centre Médical du Policier (rapport de gestion 2023) | CNPS : Caisse nationale de prévoyance sociale | PBC : liste des documents demandés au client | IAS, IFRS : normes comptables internationales | SMIG : salaire minimum interprofessionnel garanti | DISA : déclaration individuelle des salaires annuels à la CNPS</a:t>
            </a:r>
          </a:p>
        </p:txBody>
      </p:sp>
    </p:spTree>
    <p:extLst>
      <p:ext uri="{BB962C8B-B14F-4D97-AF65-F5344CB8AC3E}">
        <p14:creationId xmlns:p14="http://schemas.microsoft.com/office/powerpoint/2010/main" val="1194479932"/>
      </p:ext>
    </p:extLst>
  </p:cSld>
  <p:clrMapOvr>
    <a:masterClrMapping/>
  </p:clrMapOvr>
  <p:transition>
    <p:fade/>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Conclusion : engagements envers les adhérents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Seule l'épargne est mesurée. Les autres engagements sont absents ou non estimés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Engagements mesurés au 31/08/2026 : épargne 15 743 516 391 FCFA. Provisions comptables 4 829 298 290 FCFA, non recalculées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8 à 11. Balances des comptes du FPPN (Sage 100), exercices 2020 à 2025 et du 01/01 au 31/08/2026 (provisoire). Traitements Adenka. Entretiens du 19/10/2026 (à confirmer par document)</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49 : Engagements envers les adhérents et les ayants droit au 31/08/2026</a:t>
            </a:r>
          </a:p>
        </p:txBody>
      </p:sp>
      <p:graphicFrame>
        <p:nvGraphicFramePr>
          <p:cNvPr id="32" name="Table 31"/>
          <p:cNvGraphicFramePr>
            <a:graphicFrameLocks noGrp="1"/>
          </p:cNvGraphicFramePr>
          <p:nvPr/>
        </p:nvGraphicFramePr>
        <p:xfrm>
          <a:off x="503999" y="1655999"/>
          <a:ext cx="11231999" cy="1637714"/>
        </p:xfrm>
        <a:graphic>
          <a:graphicData uri="http://schemas.openxmlformats.org/drawingml/2006/table">
            <a:tbl>
              <a:tblPr firstRow="0" bandRow="0">
                <a:tableStyleId>{5940675A-B579-460E-94D1-54222C63F5DA}</a:tableStyleId>
              </a:tblPr>
              <a:tblGrid>
                <a:gridCol w="2520000"/>
                <a:gridCol w="2304000"/>
                <a:gridCol w="3456000"/>
                <a:gridCol w="2951999"/>
              </a:tblGrid>
              <a:tr h="194768">
                <a:tc>
                  <a:txBody>
                    <a:bodyPr/>
                    <a:lstStyle/>
                    <a:p>
                      <a:pPr marL="0" indent="0" lvl="0">
                        <a:buNone/>
                      </a:pPr>
                      <a:r>
                        <a:rPr sz="900" b="1">
                          <a:solidFill>
                            <a:srgbClr val="FFFFFF"/>
                          </a:solidFill>
                          <a:latin typeface="Helvetica"/>
                        </a:rPr>
                        <a:t>Engagement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Montant au bilan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État de la mesure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Pour mesurer (PBC)</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Épargne PEP (41195100)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5 229 245 425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Mesurée (solde comptable). Échéancier et taux servi à documenter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Règlement du PEP (57), taux servi (99)</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Épargne EFC (41195200)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10 514 270 966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Mesurée (solde comptable). Capital garanti à vérifier</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Règlement de l'EFC (57), âges des mutualistes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Prestations maladie à payer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Montant hérité, non estimé. Sinistres tardifs absents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Bases de prestations (71), note de calcul (72)</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Allocations décès à payer</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1 961 695 412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Montant hérité. Calcul annuel du FPPN non retrouvé au bilan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Fichiers des décès et barème (92, 93)</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Santé des retraités, si garantie à vie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 mesuré (provision mathématique absente)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Règles de la garantie (79), âges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Décès des ayants droit non déclarés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Non mesuré (sinistres tardifs)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Bases de prestations (71)</a:t>
                      </a:r>
                    </a:p>
                  </a:txBody>
                  <a:tcPr marL="43200" marR="43200" marT="14400" marB="14400" anchor="ctr">
                    <a:solidFill>
                      <a:srgbClr val="F2F2F2"/>
                    </a:solidFill>
                  </a:tcPr>
                </a:tc>
              </a:tr>
            </a:tbl>
          </a:graphicData>
        </a:graphic>
      </p:graphicFrame>
      <p:sp>
        <p:nvSpPr>
          <p:cNvPr id="33" name="TextBox 32"/>
          <p:cNvSpPr txBox="1"/>
          <p:nvPr/>
        </p:nvSpPr>
        <p:spPr>
          <a:xfrm>
            <a:off x="503999" y="3311717"/>
            <a:ext cx="11232000" cy="162000"/>
          </a:xfrm>
          <a:prstGeom prst="rect">
            <a:avLst/>
          </a:prstGeom>
          <a:noFill/>
        </p:spPr>
        <p:txBody>
          <a:bodyPr wrap="square" anchor="t" lIns="54000" rIns="54000"/>
          <a:lstStyle/>
          <a:p>
            <a:pPr algn="l"/>
            <a:r>
              <a:rPr sz="850" b="0">
                <a:solidFill>
                  <a:srgbClr val="53565A"/>
                </a:solidFill>
                <a:latin typeface="Helvetica"/>
              </a:rPr>
              <a:t>Valable pour : balances de 2020 au 31/08/2026, valeurs comptables non réévaluées. 2026 provisoire (huit mois).</a:t>
            </a:r>
          </a:p>
        </p:txBody>
      </p:sp>
      <p:sp>
        <p:nvSpPr>
          <p:cNvPr id="34" name="TextBox 33"/>
          <p:cNvSpPr txBox="1"/>
          <p:nvPr/>
        </p:nvSpPr>
        <p:spPr>
          <a:xfrm>
            <a:off x="503999" y="3599717"/>
            <a:ext cx="11232000" cy="2268282"/>
          </a:xfrm>
          <a:prstGeom prst="rect">
            <a:avLst/>
          </a:prstGeom>
          <a:noFill/>
        </p:spPr>
        <p:txBody>
          <a:bodyPr wrap="square" lIns="54000" rIns="54000"/>
          <a:lstStyle/>
          <a:p>
            <a:pPr algn="just">
              <a:spcAft>
                <a:spcPts val="600"/>
              </a:spcAft>
            </a:pPr>
            <a:r>
              <a:rPr sz="1300" b="1">
                <a:solidFill>
                  <a:srgbClr val="060606"/>
                </a:solidFill>
                <a:latin typeface="Helvetica"/>
              </a:rPr>
              <a:t>Les engagements du FPPN sont sous-estimés, sans que l'ampleur puisse être chiffrée aujourd'hui.</a:t>
            </a:r>
            <a:r>
              <a:rPr sz="1300" b="0">
                <a:solidFill>
                  <a:srgbClr val="060606"/>
                </a:solidFill>
                <a:latin typeface="Helvetica"/>
              </a:rPr>
              <a:t> Les seuls montants fiables sont les soldes d'épargne. Les provisions ne sont pas des estimations, et deux engagements possibles sont absents du bilan.</a:t>
            </a:r>
          </a:p>
          <a:p>
            <a:pPr algn="just">
              <a:spcAft>
                <a:spcPts val="600"/>
              </a:spcAft>
            </a:pPr>
            <a:r>
              <a:rPr sz="1300" b="0">
                <a:solidFill>
                  <a:srgbClr val="060606"/>
                </a:solidFill>
                <a:latin typeface="Helvetica"/>
              </a:rPr>
              <a:t>L'évaluation actuarielle des engagements (règlement d'exécution n° 004/2022, art. 10 et 11) reste à faire. Elle se fera garantie par garantie dès réception des documents listés, avec les tables CIMA déjà validées (partie 11).</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CIMA : Conférence interafricaine des marchés d'assurances | PEP : Plan Épargne Plus | EFC : entraide fin de carrière | PBC : liste des documents demandés au client</a:t>
            </a:r>
          </a:p>
        </p:txBody>
      </p:sp>
    </p:spTree>
    <p:extLst>
      <p:ext uri="{BB962C8B-B14F-4D97-AF65-F5344CB8AC3E}">
        <p14:creationId xmlns:p14="http://schemas.microsoft.com/office/powerpoint/2010/main" val="1242617321"/>
      </p:ext>
    </p:extLst>
  </p:cSld>
  <p:clrMapOvr>
    <a:masterClrMapping/>
  </p:clrMapOvr>
  <p:transition>
    <p:fade/>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Conclusion : suffisance des provisions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suffisance des provisions ne peut être ni démontrée ni infirmée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provisions ne résultent d'aucun calcul : elles ne peuvent pas être comparées à une estimation des prestations restant à payer</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10. Balances des comptes du FPPN (Sage 100), exercices 2020 à 2025 et du 01/01 au 31/08/2026 (provisoire). Traitements Adenka. Entretien du 19/10/2026 (16h) avec le chef comptable</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50 : Indicateurs de cohérence des provisions, 2021 et 2025</a:t>
            </a:r>
          </a:p>
        </p:txBody>
      </p:sp>
      <p:graphicFrame>
        <p:nvGraphicFramePr>
          <p:cNvPr id="32" name="Table 31"/>
          <p:cNvGraphicFramePr>
            <a:graphicFrameLocks noGrp="1"/>
          </p:cNvGraphicFramePr>
          <p:nvPr/>
        </p:nvGraphicFramePr>
        <p:xfrm>
          <a:off x="503999" y="1655999"/>
          <a:ext cx="11232000" cy="1297266"/>
        </p:xfrm>
        <a:graphic>
          <a:graphicData uri="http://schemas.openxmlformats.org/drawingml/2006/table">
            <a:tbl>
              <a:tblPr firstRow="0" bandRow="0">
                <a:tableStyleId>{5940675A-B579-460E-94D1-54222C63F5DA}</a:tableStyleId>
              </a:tblPr>
              <a:tblGrid>
                <a:gridCol w="3240000"/>
                <a:gridCol w="1584000"/>
                <a:gridCol w="1584000"/>
                <a:gridCol w="4824000"/>
              </a:tblGrid>
              <a:tr h="210009">
                <a:tc>
                  <a:txBody>
                    <a:bodyPr/>
                    <a:lstStyle/>
                    <a:p>
                      <a:pPr marL="0" indent="0" lvl="0">
                        <a:buNone/>
                      </a:pPr>
                      <a:r>
                        <a:rPr sz="10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2021</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Lecture</a:t>
                      </a:r>
                    </a:p>
                  </a:txBody>
                  <a:tcPr marL="43200" marR="43200" marT="14400" marB="14400" anchor="ctr">
                    <a:solidFill>
                      <a:srgbClr val="060606"/>
                    </a:solidFill>
                  </a:tcPr>
                </a:tc>
              </a:tr>
              <a:tr h="362419">
                <a:tc>
                  <a:txBody>
                    <a:bodyPr/>
                    <a:lstStyle/>
                    <a:p>
                      <a:pPr marL="0" indent="0" lvl="0">
                        <a:buNone/>
                      </a:pPr>
                      <a:r>
                        <a:rPr sz="1000" b="1">
                          <a:solidFill>
                            <a:srgbClr val="060606"/>
                          </a:solidFill>
                          <a:latin typeface="Helvetica"/>
                        </a:rPr>
                        <a:t>Provision maladie en mois de prestations maladie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339,18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19,42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La provision ne bouge pas, les prestations augmentent : le ratio baisse mécaniquement.</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Provision maladie / dettes envers les cliniques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3,28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11,84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Les factures déjà reçues sont en dettes. La provision n'en dépend pas.</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Provision décès en mois de prestations décès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58,58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121,88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Plus de dix ans de prestations : niveau possible seulement si des dossiers anciens restent à payer.</a:t>
                      </a:r>
                    </a:p>
                  </a:txBody>
                  <a:tcPr marL="43200" marR="43200" marT="14400" marB="14400" anchor="ctr">
                    <a:solidFill>
                      <a:srgbClr val="FFFFFF"/>
                    </a:solidFill>
                  </a:tcPr>
                </a:tc>
              </a:tr>
            </a:tbl>
          </a:graphicData>
        </a:graphic>
      </p:graphicFrame>
      <p:sp>
        <p:nvSpPr>
          <p:cNvPr id="33" name="TextBox 32"/>
          <p:cNvSpPr txBox="1"/>
          <p:nvPr/>
        </p:nvSpPr>
        <p:spPr>
          <a:xfrm>
            <a:off x="503999" y="2971267"/>
            <a:ext cx="11232000" cy="162000"/>
          </a:xfrm>
          <a:prstGeom prst="rect">
            <a:avLst/>
          </a:prstGeom>
          <a:noFill/>
        </p:spPr>
        <p:txBody>
          <a:bodyPr wrap="square" anchor="t" lIns="54000" rIns="54000"/>
          <a:lstStyle/>
          <a:p>
            <a:pPr algn="l"/>
            <a:r>
              <a:rPr sz="850" b="0">
                <a:solidFill>
                  <a:srgbClr val="53565A"/>
                </a:solidFill>
                <a:latin typeface="Helvetica"/>
              </a:rPr>
              <a:t>Valable pour : balances de 2020 au 31/08/2026, valeurs comptables non réévaluées. 2026 provisoire (huit mois).</a:t>
            </a:r>
          </a:p>
        </p:txBody>
      </p:sp>
      <p:sp>
        <p:nvSpPr>
          <p:cNvPr id="34" name="TextBox 33"/>
          <p:cNvSpPr txBox="1"/>
          <p:nvPr/>
        </p:nvSpPr>
        <p:spPr>
          <a:xfrm>
            <a:off x="503999" y="3259267"/>
            <a:ext cx="11232000" cy="2608732"/>
          </a:xfrm>
          <a:prstGeom prst="rect">
            <a:avLst/>
          </a:prstGeom>
          <a:noFill/>
        </p:spPr>
        <p:txBody>
          <a:bodyPr wrap="square" lIns="54000" rIns="54000"/>
          <a:lstStyle/>
          <a:p>
            <a:pPr algn="just">
              <a:spcAft>
                <a:spcPts val="600"/>
              </a:spcAft>
            </a:pPr>
            <a:r>
              <a:rPr sz="1300" b="1">
                <a:solidFill>
                  <a:srgbClr val="060606"/>
                </a:solidFill>
                <a:latin typeface="Helvetica"/>
              </a:rPr>
              <a:t>Les provisions sont des montants hérités d'environ 2004, reconduits chaque année sans calcul</a:t>
            </a:r>
            <a:r>
              <a:rPr sz="1300" b="0">
                <a:solidFill>
                  <a:srgbClr val="060606"/>
                </a:solidFill>
                <a:latin typeface="Helvetica"/>
              </a:rPr>
              <a:t> (chef comptable, entretien du 19/10/2026, à confirmer). Elles ne peuvent donc être ni « suffisantes » ni « insuffisantes » : elles ne mesurent rien.</a:t>
            </a:r>
          </a:p>
          <a:p>
            <a:pPr algn="just">
              <a:spcAft>
                <a:spcPts val="600"/>
              </a:spcAft>
            </a:pPr>
            <a:r>
              <a:rPr sz="1300" b="1">
                <a:solidFill>
                  <a:srgbClr val="060606"/>
                </a:solidFill>
                <a:latin typeface="Helvetica"/>
              </a:rPr>
              <a:t>La conclusion sur la suffisance demande un recalcul.</a:t>
            </a:r>
            <a:r>
              <a:rPr sz="1300" b="0">
                <a:solidFill>
                  <a:srgbClr val="060606"/>
                </a:solidFill>
                <a:latin typeface="Helvetica"/>
              </a:rPr>
              <a:t> La méthode sera celle du règlement d'exécution n° 004/2022 (art. 10) : dossier par dossier, plus les sinistres tardifs selon la méthode CIMA, garantie par garantie.</a:t>
            </a:r>
          </a:p>
          <a:p>
            <a:pPr algn="just">
              <a:spcAft>
                <a:spcPts val="600"/>
              </a:spcAft>
            </a:pPr>
            <a:r>
              <a:rPr sz="1300" b="0">
                <a:solidFill>
                  <a:srgbClr val="060606"/>
                </a:solidFill>
                <a:latin typeface="Helvetica"/>
              </a:rPr>
              <a:t>En attendant, le résultat de chaque exercice ne comprend aucune variation de provision, et la sinistralité réglementaire est calculée sans provision (partie 5). Le recalcul est la première tâche dès réception des bases de prestations (PBC, items 71, 72 et 92).</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CIMA : Conférence interafricaine des marchés d'assurances | PBC : liste des documents demandés au client</a:t>
            </a:r>
          </a:p>
        </p:txBody>
      </p:sp>
    </p:spTree>
    <p:extLst>
      <p:ext uri="{BB962C8B-B14F-4D97-AF65-F5344CB8AC3E}">
        <p14:creationId xmlns:p14="http://schemas.microsoft.com/office/powerpoint/2010/main" val="1430572569"/>
      </p:ext>
    </p:extLst>
  </p:cSld>
  <p:clrMapOvr>
    <a:masterClrMapping/>
  </p:clrMapOvr>
  <p:transition>
    <p:fade/>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Structure de l'actif</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L'actif repose sur des créances et des investissements peu liquides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31/08/2026 : CMP 7 083 534 565 FCFA, terrains 5 245 896 750 FCFA, trésorerie 3 359 100 618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30 : Principaux postes de l'actif</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3888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montants « CMP » passent de 2 984 680 712 FCFA en 2020 à 7 083 534 565 FCFA au 31/08/2026.</a:t>
            </a:r>
          </a:p>
          <a:p>
            <a:pPr algn="just">
              <a:spcAft>
                <a:spcPts val="600"/>
              </a:spcAft>
            </a:pPr>
            <a:r>
              <a:rPr sz="1400" b="1">
                <a:solidFill>
                  <a:srgbClr val="060606"/>
                </a:solidFill>
                <a:latin typeface="Helvetica"/>
              </a:rPr>
              <a:t>La créance sur l'Hôpital de la Police (3 407 519 850 FCFA) n'a pas bougé depuis 2020.</a:t>
            </a:r>
            <a:r>
              <a:rPr sz="1400" b="0">
                <a:solidFill>
                  <a:srgbClr val="060606"/>
                </a:solidFill>
                <a:latin typeface="Helvetica"/>
              </a:rPr>
              <a:t> Aucun remboursement n'apparaît.</a:t>
            </a:r>
          </a:p>
          <a:p>
            <a:pPr algn="just">
              <a:spcAft>
                <a:spcPts val="600"/>
              </a:spcAft>
            </a:pPr>
            <a:r>
              <a:rPr sz="1400" b="1">
                <a:solidFill>
                  <a:srgbClr val="060606"/>
                </a:solidFill>
                <a:latin typeface="Helvetica"/>
              </a:rPr>
              <a:t>Les dettes envers les cliniques atteignent 690 234 451 FCFA au 31/08/2026.</a:t>
            </a:r>
          </a:p>
          <a:p>
            <a:pPr algn="just">
              <a:spcAft>
                <a:spcPts val="600"/>
              </a:spcAft>
            </a:pPr>
            <a:r>
              <a:rPr sz="1400" b="0">
                <a:solidFill>
                  <a:srgbClr val="060606"/>
                </a:solidFill>
                <a:latin typeface="Helvetica"/>
              </a:rPr>
              <a:t>Le FPPN finance aussi des charges de fonctionnement « au CMP ». Le règlement d'exécution n° 004/2022 interdit de couvrir les pertes d'activités sanitaires par les cotisations ou les réserves obligatoires (art. 27) : une comptabilité séparée de ces activités doit le démontrer.</a:t>
            </a:r>
          </a:p>
        </p:txBody>
      </p:sp>
      <p:sp>
        <p:nvSpPr>
          <p:cNvPr id="35" name="TextBox 34"/>
          <p:cNvSpPr txBox="1"/>
          <p:nvPr/>
        </p:nvSpPr>
        <p:spPr>
          <a:xfrm>
            <a:off x="503999" y="5688000"/>
            <a:ext cx="6552000" cy="162000"/>
          </a:xfrm>
          <a:prstGeom prst="rect">
            <a:avLst/>
          </a:prstGeom>
          <a:noFill/>
        </p:spPr>
        <p:txBody>
          <a:bodyPr wrap="square" anchor="t" lIns="54000" rIns="54000"/>
          <a:lstStyle/>
          <a:p>
            <a:pPr algn="l"/>
            <a:r>
              <a:rPr sz="850" b="0">
                <a:solidFill>
                  <a:srgbClr val="53565A"/>
                </a:solidFill>
                <a:latin typeface="Helvetica"/>
              </a:rPr>
              <a:t>Valable pour : balances de 2020 au 31/08/2026, valeurs comptables non réévaluées. 2026 provisoire (huit mois).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CMP : Centre Médical du Policier (rapport de gestion 2023)</a:t>
            </a:r>
          </a:p>
        </p:txBody>
      </p:sp>
    </p:spTree>
    <p:extLst>
      <p:ext uri="{BB962C8B-B14F-4D97-AF65-F5344CB8AC3E}">
        <p14:creationId xmlns:p14="http://schemas.microsoft.com/office/powerpoint/2010/main" val="1083957156"/>
      </p:ext>
    </p:extLst>
  </p:cSld>
  <p:clrMapOvr>
    <a:masterClrMapping/>
  </p:clrMapOvr>
  <p:transition>
    <p:fade/>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Adossement de liquidité provisoire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L'actif mobilisable en moins d'un an couvre la moitié du passif à moins d'un an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31/08/2026 : actif mobilisable en moins d'un an 3 457 866 951 FCFA, passif à moins d'un an hors épargne 7 017 736 497 FCFA</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31 : Actif par délai de mobilisation et passif par échéance</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5976000" cy="3888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Dossier de préparation de la mission, § 3.1</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Plus des trois quarts de l'actif sont à plus de cinq ans ou de délai incertain.</a:t>
            </a:r>
            <a:r>
              <a:rPr sz="1400" b="0">
                <a:solidFill>
                  <a:srgbClr val="060606"/>
                </a:solidFill>
                <a:latin typeface="Helvetica"/>
              </a:rPr>
              <a:t> Cette tranche vaut 17 170 238 905 FCFA sur 21 925 420 866 FCFA au 31/08/2026.</a:t>
            </a:r>
          </a:p>
          <a:p>
            <a:pPr algn="just">
              <a:spcAft>
                <a:spcPts val="600"/>
              </a:spcAft>
            </a:pPr>
            <a:r>
              <a:rPr sz="1400" b="1">
                <a:solidFill>
                  <a:srgbClr val="060606"/>
                </a:solidFill>
                <a:latin typeface="Helvetica"/>
              </a:rPr>
              <a:t>L'actif à moins d'un an ne couvre pas le passif à moins d'un an.</a:t>
            </a:r>
            <a:r>
              <a:rPr sz="1400" b="0">
                <a:solidFill>
                  <a:srgbClr val="060606"/>
                </a:solidFill>
                <a:latin typeface="Helvetica"/>
              </a:rPr>
              <a:t> L'écart vaut 3 559 869 546 FCFA au 31/08/2026, avant même toute sortie d'épargne.</a:t>
            </a:r>
          </a:p>
          <a:p>
            <a:pPr algn="just">
              <a:spcAft>
                <a:spcPts val="600"/>
              </a:spcAft>
            </a:pPr>
            <a:r>
              <a:rPr sz="1400" b="1">
                <a:solidFill>
                  <a:srgbClr val="060606"/>
                </a:solidFill>
                <a:latin typeface="Helvetica"/>
              </a:rPr>
              <a:t>L'épargne (15 743 516 391 FCFA) n'a pas d'échéancier connu.</a:t>
            </a:r>
            <a:r>
              <a:rPr sz="1400" b="0">
                <a:solidFill>
                  <a:srgbClr val="060606"/>
                </a:solidFill>
                <a:latin typeface="Helvetica"/>
              </a:rPr>
              <a:t> Chaque départ à la retraite déclenche pourtant le versement de l'EFC.</a:t>
            </a:r>
          </a:p>
          <a:p>
            <a:pPr algn="just">
              <a:spcAft>
                <a:spcPts val="600"/>
              </a:spcAft>
            </a:pPr>
            <a:r>
              <a:rPr sz="1400" b="0">
                <a:solidFill>
                  <a:srgbClr val="060606"/>
                </a:solidFill>
                <a:latin typeface="Helvetica"/>
              </a:rPr>
              <a:t>Cet adossement est une borne favorable (diapositive suivante) : le passif à moins d'un an comprend les provisions pour prestations à payer, dont le montant n'est pas recalculé. Le FPPN finance des engagements courts avec des actifs longs : c'est le risque de liquidité central, à confirmer avec l'échéancier de l'épargne.</a:t>
            </a:r>
          </a:p>
        </p:txBody>
      </p:sp>
      <p:sp>
        <p:nvSpPr>
          <p:cNvPr id="35" name="TextBox 34"/>
          <p:cNvSpPr txBox="1"/>
          <p:nvPr/>
        </p:nvSpPr>
        <p:spPr>
          <a:xfrm>
            <a:off x="503999" y="5688000"/>
            <a:ext cx="5976000" cy="162000"/>
          </a:xfrm>
          <a:prstGeom prst="rect">
            <a:avLst/>
          </a:prstGeom>
          <a:noFill/>
        </p:spPr>
        <p:txBody>
          <a:bodyPr wrap="square" anchor="t" lIns="54000" rIns="54000"/>
          <a:lstStyle/>
          <a:p>
            <a:pPr algn="l"/>
            <a:r>
              <a:rPr sz="850" b="0">
                <a:solidFill>
                  <a:srgbClr val="53565A"/>
                </a:solidFill>
                <a:latin typeface="Helvetica"/>
              </a:rPr>
              <a:t>Valable pour : balances de 2020 au 31/08/2026, valeurs comptables non réévaluées. 2026 provisoire (huit mois).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EFC : entraide fin de carrière</a:t>
            </a:r>
          </a:p>
        </p:txBody>
      </p:sp>
    </p:spTree>
    <p:extLst>
      <p:ext uri="{BB962C8B-B14F-4D97-AF65-F5344CB8AC3E}">
        <p14:creationId xmlns:p14="http://schemas.microsoft.com/office/powerpoint/2010/main" val="391934609"/>
      </p:ext>
    </p:extLst>
  </p:cSld>
  <p:clrMapOvr>
    <a:masterClrMapping/>
  </p:clrMapOvr>
  <p:transition>
    <p:fade/>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Pourquoi l'adossement est une borne favorable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Toutes les corrections attendues augmentent le passif ou réduisent l'actif</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L'écart mesuré entre actifs et engagements est donc le meilleur cas possible : les données manquantes ne peuvent que l'aggraver</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17, 19, 20, 21 et 27. Décision n° 05/2022/COM/UEMOA du 1er juin 2022, annexe, section II, § 2.1. PCMS (règlement n° 03/2012/CM/UEMOA). Balances des comptes du FPPN (Sage 100), exercices 2020 à 2025 et du 01/01 au 31/08/2026 (provisoire).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51 : Corrections attendues et sens de leur effet sur l'adossement</a:t>
            </a:r>
          </a:p>
        </p:txBody>
      </p:sp>
      <p:graphicFrame>
        <p:nvGraphicFramePr>
          <p:cNvPr id="32" name="Table 31"/>
          <p:cNvGraphicFramePr>
            <a:graphicFrameLocks noGrp="1"/>
          </p:cNvGraphicFramePr>
          <p:nvPr/>
        </p:nvGraphicFramePr>
        <p:xfrm>
          <a:off x="503999" y="1655999"/>
          <a:ext cx="11232000" cy="2929830"/>
        </p:xfrm>
        <a:graphic>
          <a:graphicData uri="http://schemas.openxmlformats.org/drawingml/2006/table">
            <a:tbl>
              <a:tblPr firstRow="0" bandRow="0">
                <a:tableStyleId>{5940675A-B579-460E-94D1-54222C63F5DA}</a:tableStyleId>
              </a:tblPr>
              <a:tblGrid>
                <a:gridCol w="792000"/>
                <a:gridCol w="2232000"/>
                <a:gridCol w="3384000"/>
                <a:gridCol w="1800000"/>
                <a:gridCol w="3024000"/>
              </a:tblGrid>
              <a:tr h="194768">
                <a:tc>
                  <a:txBody>
                    <a:bodyPr/>
                    <a:lstStyle/>
                    <a:p>
                      <a:pPr marL="0" indent="0" lvl="0">
                        <a:buNone/>
                      </a:pPr>
                      <a:r>
                        <a:rPr sz="900" b="1">
                          <a:solidFill>
                            <a:srgbClr val="FFFFFF"/>
                          </a:solidFill>
                          <a:latin typeface="Helvetica"/>
                        </a:rPr>
                        <a:t>Côté</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Situation au 31/08/2026</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Sens de la correction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Texte de référence</a:t>
                      </a:r>
                    </a:p>
                  </a:txBody>
                  <a:tcPr marL="43200" marR="43200" marT="14400" marB="14400" anchor="ctr">
                    <a:solidFill>
                      <a:srgbClr val="060606"/>
                    </a:solidFill>
                  </a:tcPr>
                </a:tc>
              </a:tr>
              <a:tr h="469105">
                <a:tc>
                  <a:txBody>
                    <a:bodyPr/>
                    <a:lstStyle/>
                    <a:p>
                      <a:pPr marL="0" indent="0" lvl="0">
                        <a:buNone/>
                      </a:pPr>
                      <a:r>
                        <a:rPr sz="900" b="1">
                          <a:solidFill>
                            <a:srgbClr val="060606"/>
                          </a:solidFill>
                          <a:latin typeface="Helvetica"/>
                        </a:rPr>
                        <a:t>Passif</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Provisions maladie et décès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Montants hérités d'environ 2004, jamais recalculés. Aucune provision maladie calculée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Hausse probable (sinistres tardifs, allocations restant à payer)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règlement d'exécution n° 004/2022/COM/UEMOA du 1er juin 2022, art. 10</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Passif</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Provision mathématique (EFC, santé des retraités)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Absente du bilan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Hausse si un capital ou une garantie à vie est promis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règlement d'exécution n° 004/2022/COM/UEMOA du 1er juin 2022, art. 11</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Passif</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Épargne PEP et EFC</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15 743 516 391 FCFA, sans échéancier. Taux servi non établi (3,5 %, 5,5 % ou 14 % selon le document)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Hausse des flux futurs (intérêts servis, non comptabilisés)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Décision fixant le taux (non reçue)</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Actif</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Créance sur l'hôpital de la Police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3 407 519 850 FCFA, inchangée depuis 2020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Baisse (recouvrement non démontré)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PCMS (dépréciation des créances). Règlement d'exécution n° 004/2022/COM/UEMOA du 1er juin 2022, art. 20</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Actif</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Clinique du FPPN (CMP)</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5 803 025 455 FCFA d'investissements et 1 280 300 860 FCFA de charges en comptes 47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Baisse (charges consommées, valeur de marché non établie)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règlement d'exécution n° 004/2022/COM/UEMOA du 1er juin 2022, art. 20 et 27</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Actif</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Terrains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5 245 896 750 FCFA, sans évaluation récente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Baisse ou hausse, à établir</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règlement d'exécution n° 004/2022/COM/UEMOA du 1er juin 2022, art. 20</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Actif</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Prêts du Grenier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 dépréciation des prêts en retard</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Baisse (faible montant)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PCMS. Barème BCEAO des SFD</a:t>
                      </a:r>
                    </a:p>
                  </a:txBody>
                  <a:tcPr marL="43200" marR="43200" marT="14400" marB="14400" anchor="ctr">
                    <a:solidFill>
                      <a:srgbClr val="FFFFFF"/>
                    </a:solidFill>
                  </a:tcPr>
                </a:tc>
              </a:tr>
            </a:tbl>
          </a:graphicData>
        </a:graphic>
      </p:graphicFrame>
      <p:sp>
        <p:nvSpPr>
          <p:cNvPr id="33" name="TextBox 32"/>
          <p:cNvSpPr txBox="1"/>
          <p:nvPr/>
        </p:nvSpPr>
        <p:spPr>
          <a:xfrm>
            <a:off x="503999" y="4603835"/>
            <a:ext cx="11232000" cy="162000"/>
          </a:xfrm>
          <a:prstGeom prst="rect">
            <a:avLst/>
          </a:prstGeom>
          <a:noFill/>
        </p:spPr>
        <p:txBody>
          <a:bodyPr wrap="square" anchor="t" lIns="54000" rIns="54000"/>
          <a:lstStyle/>
          <a:p>
            <a:pPr algn="l"/>
            <a:r>
              <a:rPr sz="850" b="0">
                <a:solidFill>
                  <a:srgbClr val="53565A"/>
                </a:solidFill>
                <a:latin typeface="Helvetica"/>
              </a:rPr>
              <a:t>Valable pour : balances de 2020 au 31/08/2026, valeurs comptables non réévaluées. 2026 provisoire (huit mois).</a:t>
            </a:r>
          </a:p>
        </p:txBody>
      </p:sp>
      <p:sp>
        <p:nvSpPr>
          <p:cNvPr id="34" name="TextBox 33"/>
          <p:cNvSpPr txBox="1"/>
          <p:nvPr/>
        </p:nvSpPr>
        <p:spPr>
          <a:xfrm>
            <a:off x="503999" y="4891835"/>
            <a:ext cx="11232000" cy="976164"/>
          </a:xfrm>
          <a:prstGeom prst="rect">
            <a:avLst/>
          </a:prstGeom>
          <a:noFill/>
        </p:spPr>
        <p:txBody>
          <a:bodyPr wrap="square" lIns="54000" rIns="54000"/>
          <a:lstStyle/>
          <a:p>
            <a:pPr algn="just">
              <a:spcAft>
                <a:spcPts val="600"/>
              </a:spcAft>
            </a:pPr>
            <a:r>
              <a:rPr sz="1300" b="1">
                <a:solidFill>
                  <a:srgbClr val="060606"/>
                </a:solidFill>
                <a:latin typeface="Helvetica"/>
              </a:rPr>
              <a:t>Aucune correction attendue ne peut améliorer l'adossement, sauf une réévaluation des terrains.</a:t>
            </a:r>
            <a:r>
              <a:rPr sz="1300" b="0">
                <a:solidFill>
                  <a:srgbClr val="060606"/>
                </a:solidFill>
                <a:latin typeface="Helvetica"/>
              </a:rPr>
              <a:t> Les engagements non provisionnés ajouteront du passif, et les actifs dont la valeur n'est pas démontrée réduiront l'actif.</a:t>
            </a:r>
          </a:p>
          <a:p>
            <a:pPr algn="just">
              <a:spcAft>
                <a:spcPts val="600"/>
              </a:spcAft>
            </a:pPr>
            <a:r>
              <a:rPr sz="1300" b="0">
                <a:solidFill>
                  <a:srgbClr val="060606"/>
                </a:solidFill>
                <a:latin typeface="Helvetica"/>
              </a:rPr>
              <a:t>L'écart mesuré en partie 9 est un minimum. Le rapport peut donc affirmer que le FPPN n'est pas adossé, même dans l'hypothèse la plus favorable. Seule l'ampleur de l'écart reste à préciser.</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PCMS : plan comptable des mutuelles sociales | BCEAO : Banque centrale des États de l'Afrique de l'Ouest | PEP : Plan Épargne Plus | EFC : entraide fin de carrière | CMP : Centre Médical du Policier (rapport de gestion 2023) | SFD : systèmes financiers décentralisés</a:t>
            </a:r>
          </a:p>
        </p:txBody>
      </p:sp>
    </p:spTree>
    <p:extLst>
      <p:ext uri="{BB962C8B-B14F-4D97-AF65-F5344CB8AC3E}">
        <p14:creationId xmlns:p14="http://schemas.microsoft.com/office/powerpoint/2010/main" val="1111489875"/>
      </p:ext>
    </p:extLst>
  </p:cSld>
  <p:clrMapOvr>
    <a:masterClrMapping/>
  </p:clrMapOvr>
  <p:transition>
    <p:fade/>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Règles de valorisation des actifs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textes fixent quels actifs peuvent couvrir les engagements, et à quelle valeur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scénario applique une règle tirée d'un texte, et non un taux de décote choisi par Adenka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17, 19, 20, 21 et 27. Décision n° 05/2022/COM/UEMOA du 1er juin 2022, annexe, section II, § 2.1. PCMS (règlement n° 03/2012/CM/UEMOA)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52 : Règles de valorisation retenues dans chaque scénario</a:t>
            </a:r>
          </a:p>
        </p:txBody>
      </p:sp>
      <p:graphicFrame>
        <p:nvGraphicFramePr>
          <p:cNvPr id="32" name="Table 31"/>
          <p:cNvGraphicFramePr>
            <a:graphicFrameLocks noGrp="1"/>
          </p:cNvGraphicFramePr>
          <p:nvPr/>
        </p:nvGraphicFramePr>
        <p:xfrm>
          <a:off x="503999" y="1655999"/>
          <a:ext cx="11231998" cy="2071189"/>
        </p:xfrm>
        <a:graphic>
          <a:graphicData uri="http://schemas.openxmlformats.org/drawingml/2006/table">
            <a:tbl>
              <a:tblPr firstRow="0" bandRow="0">
                <a:tableStyleId>{5940675A-B579-460E-94D1-54222C63F5DA}</a:tableStyleId>
              </a:tblPr>
              <a:tblGrid>
                <a:gridCol w="1655999"/>
                <a:gridCol w="3456000"/>
                <a:gridCol w="3168000"/>
                <a:gridCol w="2951999"/>
              </a:tblGrid>
              <a:tr h="194768">
                <a:tc>
                  <a:txBody>
                    <a:bodyPr/>
                    <a:lstStyle/>
                    <a:p>
                      <a:pPr marL="0" indent="0" lvl="0">
                        <a:buNone/>
                      </a:pPr>
                      <a:r>
                        <a:rPr sz="900" b="1">
                          <a:solidFill>
                            <a:srgbClr val="FFFFFF"/>
                          </a:solidFill>
                          <a:latin typeface="Helvetica"/>
                        </a:rPr>
                        <a:t>Scénario</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Règle appliquée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Actifs retirés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Fondement</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1. Lecture comptable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Valeurs des balances, continuité de l'activité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PCMS (coût historique, continuité de l'exploitation)</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2. Actifs sans valeur réalisable retirés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Une dépense consommée ou une créance non recouvrée depuis 2020 n'a pas de valeur de marché démontrée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Créance sur l'hôpital. Charges de fonctionnement de la clinique (47111105)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règlement d'exécution n° 004/2022/COM/UEMOA du 1er juin 2022, art. 20 et 27. PCMS (dépréciation des créances)</a:t>
                      </a:r>
                    </a:p>
                  </a:txBody>
                  <a:tcPr marL="43200" marR="43200" marT="14400" marB="14400" anchor="ctr">
                    <a:solidFill>
                      <a:srgbClr val="F2F2F2"/>
                    </a:solidFill>
                  </a:tcPr>
                </a:tc>
              </a:tr>
              <a:tr h="606274">
                <a:tc>
                  <a:txBody>
                    <a:bodyPr/>
                    <a:lstStyle/>
                    <a:p>
                      <a:pPr marL="0" indent="0" lvl="0">
                        <a:buNone/>
                      </a:pPr>
                      <a:r>
                        <a:rPr sz="900" b="1">
                          <a:solidFill>
                            <a:srgbClr val="060606"/>
                          </a:solidFill>
                          <a:latin typeface="Helvetica"/>
                        </a:rPr>
                        <a:t>3. Actifs sans valeur de marché établie retirés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Un actif ne couvre les engagements que si sa valeur de marché est établie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Scénario 2, plus les investissements de la clinique (47111104) et les terrains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règlement d'exécution n° 004/2022/COM/UEMOA du 1er juin 2022, art. 20. Décision n° 05/2022/COM/UEMOA du 1er juin 2022, annexe, section II, § 2.1 (actifs admis)</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4. Actifs liquides à un an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Seuls les actifs mobilisables en moins d'un an paient les sorties de l'année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Tout actif à plus d'un an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PCMS (valeur liquidative). Règlement d'exécution n° 004/2022/COM/UEMOA du 1er juin 2022, art. 19 et 21 (liquidité)</a:t>
                      </a:r>
                    </a:p>
                  </a:txBody>
                  <a:tcPr marL="43200" marR="43200" marT="14400" marB="14400" anchor="ctr">
                    <a:solidFill>
                      <a:srgbClr val="F2F2F2"/>
                    </a:solidFill>
                  </a:tcPr>
                </a:tc>
              </a:tr>
            </a:tbl>
          </a:graphicData>
        </a:graphic>
      </p:graphicFrame>
      <p:sp>
        <p:nvSpPr>
          <p:cNvPr id="33" name="TextBox 32"/>
          <p:cNvSpPr txBox="1"/>
          <p:nvPr/>
        </p:nvSpPr>
        <p:spPr>
          <a:xfrm>
            <a:off x="503999" y="3745192"/>
            <a:ext cx="11232000" cy="162000"/>
          </a:xfrm>
          <a:prstGeom prst="rect">
            <a:avLst/>
          </a:prstGeom>
          <a:noFill/>
        </p:spPr>
        <p:txBody>
          <a:bodyPr wrap="square" anchor="t" lIns="54000" rIns="54000"/>
          <a:lstStyle/>
          <a:p>
            <a:pPr algn="l"/>
            <a:r>
              <a:rPr sz="850" b="0">
                <a:solidFill>
                  <a:srgbClr val="53565A"/>
                </a:solidFill>
                <a:latin typeface="Helvetica"/>
              </a:rPr>
              <a:t>Valable pour : balances de 2020 au 31/08/2026, valeurs comptables non réévaluées. 2026 provisoire (huit mois).</a:t>
            </a:r>
          </a:p>
        </p:txBody>
      </p:sp>
      <p:sp>
        <p:nvSpPr>
          <p:cNvPr id="34" name="TextBox 33"/>
          <p:cNvSpPr txBox="1"/>
          <p:nvPr/>
        </p:nvSpPr>
        <p:spPr>
          <a:xfrm>
            <a:off x="503999" y="4033192"/>
            <a:ext cx="11232000" cy="1834807"/>
          </a:xfrm>
          <a:prstGeom prst="rect">
            <a:avLst/>
          </a:prstGeom>
          <a:noFill/>
        </p:spPr>
        <p:txBody>
          <a:bodyPr wrap="square" lIns="54000" rIns="54000"/>
          <a:lstStyle/>
          <a:p>
            <a:pPr algn="just">
              <a:spcAft>
                <a:spcPts val="600"/>
              </a:spcAft>
            </a:pPr>
            <a:r>
              <a:rPr sz="1300" b="1">
                <a:solidFill>
                  <a:srgbClr val="060606"/>
                </a:solidFill>
                <a:latin typeface="Helvetica"/>
              </a:rPr>
              <a:t>Les scénarios 2 et 3 retirent un actif tant que sa valeur n'est pas démontrée : ce ne sont pas des pertes certaines.</a:t>
            </a:r>
            <a:r>
              <a:rPr sz="1300" b="0">
                <a:solidFill>
                  <a:srgbClr val="060606"/>
                </a:solidFill>
                <a:latin typeface="Helvetica"/>
              </a:rPr>
              <a:t> Un rapport d'évaluation des terrains ou de la clinique, ou un accord de recouvrement avec l'État, permettrait de les réintégrer.</a:t>
            </a:r>
          </a:p>
          <a:p>
            <a:pPr algn="just">
              <a:spcAft>
                <a:spcPts val="600"/>
              </a:spcAft>
            </a:pPr>
            <a:r>
              <a:rPr sz="1300" b="1">
                <a:solidFill>
                  <a:srgbClr val="060606"/>
                </a:solidFill>
                <a:latin typeface="Helvetica"/>
              </a:rPr>
              <a:t>Les prêts du Grenier restent dans tous les scénarios sauf le quatrième.</a:t>
            </a:r>
            <a:r>
              <a:rPr sz="1300" b="0">
                <a:solidFill>
                  <a:srgbClr val="060606"/>
                </a:solidFill>
                <a:latin typeface="Helvetica"/>
              </a:rPr>
              <a:t> Leur dépréciation sera calculée avec le barème de la BCEAO des SFD, dès réception du texte. Les montants en retard sont faibles (partie 9).</a:t>
            </a:r>
          </a:p>
          <a:p>
            <a:pPr algn="just">
              <a:spcAft>
                <a:spcPts val="600"/>
              </a:spcAft>
            </a:pPr>
            <a:r>
              <a:rPr sz="1300" b="0">
                <a:solidFill>
                  <a:srgbClr val="060606"/>
                </a:solidFill>
                <a:latin typeface="Helvetica"/>
              </a:rPr>
              <a:t>La décision ministérielle qui fixe, en Côte d'Ivoire, les conditions de placement et la liste des actifs admis (art. 17) n'a pas été reçue (PBC, item 54). Elle permettra de remplacer ces règles générales par la liste officielle.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UEMOA : Union économique et monétaire ouest-africaine | PCMS : plan comptable des mutuelles sociales | BCEAO : Banque centrale des États de l'Afrique de l'Ouest | SFD : systèmes financiers décentralisés | PBC : liste des documents demandés au client</a:t>
            </a:r>
          </a:p>
        </p:txBody>
      </p:sp>
    </p:spTree>
    <p:extLst>
      <p:ext uri="{BB962C8B-B14F-4D97-AF65-F5344CB8AC3E}">
        <p14:creationId xmlns:p14="http://schemas.microsoft.com/office/powerpoint/2010/main" val="1224541370"/>
      </p:ext>
    </p:extLst>
  </p:cSld>
  <p:clrMapOvr>
    <a:masterClrMapping/>
  </p:clrMapOvr>
  <p:transition>
    <p:fade/>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Scénarios de couverture des engagements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Même en lecture comptable, l'actif ne couvre pas tous les engagements connus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31/08/2026, couverture des engagements connus : 96,33 % en lecture comptable, 27,19 % sans les actifs de valeur non établie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17, 19, 20, 21 et 27. Décision n° 05/2022/COM/UEMOA du 1er juin 2022, annexe, section II, § 2.1. PCMS (règlement n° 03/2012/CM/UEMOA). Balances des comptes du FPPN (Sage 100), exercices 2020 à 2025 et du 01/01 au 31/08/2026 (provisoire). Traitements Adenka</a:t>
            </a:r>
          </a:p>
        </p:txBody>
      </p:sp>
      <p:sp>
        <p:nvSpPr>
          <p:cNvPr id="31" name="TextBox 30"/>
          <p:cNvSpPr txBox="1"/>
          <p:nvPr/>
        </p:nvSpPr>
        <p:spPr>
          <a:xfrm>
            <a:off x="503999" y="1386000"/>
            <a:ext cx="9792000" cy="216000"/>
          </a:xfrm>
          <a:prstGeom prst="rect">
            <a:avLst/>
          </a:prstGeom>
          <a:noFill/>
        </p:spPr>
        <p:txBody>
          <a:bodyPr wrap="square" anchor="t" lIns="54000" rIns="54000"/>
          <a:lstStyle/>
          <a:p>
            <a:pPr algn="ctr"/>
            <a:r>
              <a:rPr sz="1200" b="0">
                <a:solidFill>
                  <a:srgbClr val="EFAC62"/>
                </a:solidFill>
                <a:latin typeface="Helvetica"/>
              </a:rPr>
              <a:t>Tableau 53 : Couverture des engagements connus selon le scénario</a:t>
            </a:r>
          </a:p>
        </p:txBody>
      </p:sp>
      <p:graphicFrame>
        <p:nvGraphicFramePr>
          <p:cNvPr id="32" name="Table 31"/>
          <p:cNvGraphicFramePr>
            <a:graphicFrameLocks noGrp="1"/>
          </p:cNvGraphicFramePr>
          <p:nvPr/>
        </p:nvGraphicFramePr>
        <p:xfrm>
          <a:off x="503999" y="1655999"/>
          <a:ext cx="9792000" cy="1412464"/>
        </p:xfrm>
        <a:graphic>
          <a:graphicData uri="http://schemas.openxmlformats.org/drawingml/2006/table">
            <a:tbl>
              <a:tblPr firstRow="0" bandRow="0">
                <a:tableStyleId>{5940675A-B579-460E-94D1-54222C63F5DA}</a:tableStyleId>
              </a:tblPr>
              <a:tblGrid>
                <a:gridCol w="2736000"/>
                <a:gridCol w="2232000"/>
                <a:gridCol w="1296000"/>
                <a:gridCol w="2232000"/>
                <a:gridCol w="1296000"/>
              </a:tblGrid>
              <a:tr h="210009">
                <a:tc>
                  <a:txBody>
                    <a:bodyPr/>
                    <a:lstStyle/>
                    <a:p>
                      <a:pPr marL="0" indent="0" lvl="0">
                        <a:buNone/>
                      </a:pPr>
                      <a:r>
                        <a:rPr sz="1000" b="1">
                          <a:solidFill>
                            <a:srgbClr val="FFFFFF"/>
                          </a:solidFill>
                          <a:latin typeface="Helvetica"/>
                        </a:rPr>
                        <a:t>Scénario</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Actif retenu au 31/12/2025</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Couverture 2025</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Actif retenu au 31/08/2026</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Couverture 2026</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1. Lecture comptable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19 954 869 035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98,06 %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21 925 420 866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96,33 %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 Sans actifs de valeur non réalisable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15 732 740 110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77,31 %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17 237 600 156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75,73 %</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3. Sans actifs de valeur de marché non établie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5 298 475 488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26,04 %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6 188 677 951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27,19 %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4. Actifs à un an / passif à un an</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2 715 008 827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41,54 %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3 457 866 951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49,27 %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Engagements connus (scénarios 1 à 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20 349 444 557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22 761 252 888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r>
            </a:tbl>
          </a:graphicData>
        </a:graphic>
      </p:graphicFrame>
      <p:sp>
        <p:nvSpPr>
          <p:cNvPr id="33" name="TextBox 32"/>
          <p:cNvSpPr txBox="1"/>
          <p:nvPr/>
        </p:nvSpPr>
        <p:spPr>
          <a:xfrm>
            <a:off x="503999" y="3086467"/>
            <a:ext cx="11232000" cy="162000"/>
          </a:xfrm>
          <a:prstGeom prst="rect">
            <a:avLst/>
          </a:prstGeom>
          <a:noFill/>
        </p:spPr>
        <p:txBody>
          <a:bodyPr wrap="square" anchor="t" lIns="54000" rIns="54000"/>
          <a:lstStyle/>
          <a:p>
            <a:pPr algn="l"/>
            <a:r>
              <a:rPr sz="850" b="0">
                <a:solidFill>
                  <a:srgbClr val="53565A"/>
                </a:solidFill>
                <a:latin typeface="Helvetica"/>
              </a:rPr>
              <a:t>Valable pour : balances de 2020 au 31/08/2026, valeurs comptables non réévaluées. 2026 provisoire (huit mois).</a:t>
            </a:r>
          </a:p>
        </p:txBody>
      </p:sp>
      <p:sp>
        <p:nvSpPr>
          <p:cNvPr id="34" name="TextBox 33"/>
          <p:cNvSpPr txBox="1"/>
          <p:nvPr/>
        </p:nvSpPr>
        <p:spPr>
          <a:xfrm>
            <a:off x="503999" y="3374467"/>
            <a:ext cx="11232000" cy="2493532"/>
          </a:xfrm>
          <a:prstGeom prst="rect">
            <a:avLst/>
          </a:prstGeom>
          <a:noFill/>
        </p:spPr>
        <p:txBody>
          <a:bodyPr wrap="square" lIns="54000" rIns="54000"/>
          <a:lstStyle/>
          <a:p>
            <a:pPr algn="just">
              <a:spcAft>
                <a:spcPts val="600"/>
              </a:spcAft>
            </a:pPr>
            <a:r>
              <a:rPr sz="1300" b="1">
                <a:solidFill>
                  <a:srgbClr val="060606"/>
                </a:solidFill>
                <a:latin typeface="Helvetica"/>
              </a:rPr>
              <a:t>Même en lecture comptable, l'actif ne couvre que 96,33 % des engagements connus au 31/08/2026.</a:t>
            </a:r>
            <a:r>
              <a:rPr sz="1300" b="0">
                <a:solidFill>
                  <a:srgbClr val="060606"/>
                </a:solidFill>
                <a:latin typeface="Helvetica"/>
              </a:rPr>
              <a:t> C'est la traduction des fonds propres négatifs.</a:t>
            </a:r>
          </a:p>
          <a:p>
            <a:pPr algn="just">
              <a:spcAft>
                <a:spcPts val="600"/>
              </a:spcAft>
            </a:pPr>
            <a:r>
              <a:rPr sz="1300" b="1">
                <a:solidFill>
                  <a:srgbClr val="060606"/>
                </a:solidFill>
                <a:latin typeface="Helvetica"/>
              </a:rPr>
              <a:t>Sans les actifs dont la valeur n'est pas établie, la couverture tombe à 27,19 %.</a:t>
            </a:r>
            <a:r>
              <a:rPr sz="1300" b="0">
                <a:solidFill>
                  <a:srgbClr val="060606"/>
                </a:solidFill>
                <a:latin typeface="Helvetica"/>
              </a:rPr>
              <a:t> L'hôpital, la clinique et les terrains portent l'essentiel de l'actif.</a:t>
            </a:r>
          </a:p>
          <a:p>
            <a:pPr algn="just">
              <a:spcAft>
                <a:spcPts val="600"/>
              </a:spcAft>
            </a:pPr>
            <a:r>
              <a:rPr sz="1300" b="1">
                <a:solidFill>
                  <a:srgbClr val="060606"/>
                </a:solidFill>
                <a:latin typeface="Helvetica"/>
              </a:rPr>
              <a:t>À un an, l'actif liquide couvre 49,27 % du passif à un an</a:t>
            </a:r>
            <a:r>
              <a:rPr sz="1300" b="0">
                <a:solidFill>
                  <a:srgbClr val="060606"/>
                </a:solidFill>
                <a:latin typeface="Helvetica"/>
              </a:rPr>
              <a:t>, avant toute sortie d'épargne.</a:t>
            </a:r>
          </a:p>
          <a:p>
            <a:pPr algn="just">
              <a:spcAft>
                <a:spcPts val="600"/>
              </a:spcAft>
            </a:pPr>
            <a:r>
              <a:rPr sz="1300" b="0">
                <a:solidFill>
                  <a:srgbClr val="060606"/>
                </a:solidFill>
                <a:latin typeface="Helvetica"/>
              </a:rPr>
              <a:t>Ces couvertures sont des maxima : les engagements non provisionnés (provisions recalculées, provisions mathématiques) ne sont pas encore au dénominateur. Le FPPN doit faire évaluer ses actifs immobiliers et sa clinique, et documenter le recouvrement de la créance sur l'hôpital.</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a:t>
            </a:r>
          </a:p>
        </p:txBody>
      </p:sp>
    </p:spTree>
    <p:extLst>
      <p:ext uri="{BB962C8B-B14F-4D97-AF65-F5344CB8AC3E}">
        <p14:creationId xmlns:p14="http://schemas.microsoft.com/office/powerpoint/2010/main" val="2044634406"/>
      </p:ext>
    </p:extLst>
  </p:cSld>
  <p:clrMapOvr>
    <a:masterClrMapping/>
  </p:clrMapOvr>
  <p:transition>
    <p:fade/>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Sorties d'épargne observées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Faute d'échéancier, les sorties passées donnent l'ordre de grandeur des besoins de liquidité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Débits des comptes PEP et EFC : 2 579 886 392 FCFA en 2023, 1 358 821 103 FCFA en 2025</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19 et 21. Balances des comptes du FPPN (Sage 100), exercices 2020 à 2025 et du 01/01 au 31/08/2026 (provisoire). Traitements Adenka</a:t>
            </a:r>
          </a:p>
        </p:txBody>
      </p:sp>
      <p:sp>
        <p:nvSpPr>
          <p:cNvPr id="31" name="TextBox 30"/>
          <p:cNvSpPr txBox="1"/>
          <p:nvPr/>
        </p:nvSpPr>
        <p:spPr>
          <a:xfrm>
            <a:off x="503999" y="1386000"/>
            <a:ext cx="7059600" cy="216000"/>
          </a:xfrm>
          <a:prstGeom prst="rect">
            <a:avLst/>
          </a:prstGeom>
          <a:noFill/>
        </p:spPr>
        <p:txBody>
          <a:bodyPr wrap="square" anchor="t" lIns="54000" rIns="54000"/>
          <a:lstStyle/>
          <a:p>
            <a:pPr algn="ctr"/>
            <a:r>
              <a:rPr sz="1200" b="0">
                <a:solidFill>
                  <a:srgbClr val="EFAC62"/>
                </a:solidFill>
                <a:latin typeface="Helvetica"/>
              </a:rPr>
              <a:t>Tableau 54 : Mouvements annuels des comptes d'épargne PEP et EFC</a:t>
            </a:r>
          </a:p>
        </p:txBody>
      </p:sp>
      <p:graphicFrame>
        <p:nvGraphicFramePr>
          <p:cNvPr id="32" name="Table 31"/>
          <p:cNvGraphicFramePr>
            <a:graphicFrameLocks noGrp="1"/>
          </p:cNvGraphicFramePr>
          <p:nvPr/>
        </p:nvGraphicFramePr>
        <p:xfrm>
          <a:off x="503999" y="1655999"/>
          <a:ext cx="7059600" cy="1680072"/>
        </p:xfrm>
        <a:graphic>
          <a:graphicData uri="http://schemas.openxmlformats.org/drawingml/2006/table">
            <a:tbl>
              <a:tblPr firstRow="0" bandRow="0">
                <a:tableStyleId>{5940675A-B579-460E-94D1-54222C63F5DA}</a:tableStyleId>
              </a:tblPr>
              <a:tblGrid>
                <a:gridCol w="889200"/>
                <a:gridCol w="1483200"/>
                <a:gridCol w="1483200"/>
                <a:gridCol w="1602000"/>
                <a:gridCol w="1602000"/>
              </a:tblGrid>
              <a:tr h="210009">
                <a:tc>
                  <a:txBody>
                    <a:bodyPr/>
                    <a:lstStyle/>
                    <a:p>
                      <a:pPr marL="0" indent="0" lvl="0">
                        <a:buNone/>
                      </a:pPr>
                      <a:r>
                        <a:rPr sz="10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Débits PEP</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Débits EFC</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Total des sorties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Crédits (versements)</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2020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424 058 419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252 245 790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676 304 209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272 170 710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1 305 877 290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347 027 168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1 652 904 458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972 120 094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2022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1 943 882 078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374 092 363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2 317 974 441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1 535 398 458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2023</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2 267 285 389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312 601 003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2 579 886 392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2 336 617 675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2024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1 190 680 488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444 180 746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1 634 861 234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3 298 349 090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904 037 354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454 783 749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1 358 821 103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4 387 823 635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31/08/2026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1 347 386 639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127 846 918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1 475 233 557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3 404 682 984 FCFA</a:t>
                      </a:r>
                    </a:p>
                  </a:txBody>
                  <a:tcPr marL="43200" marR="43200" marT="14400" marB="14400" anchor="ctr">
                    <a:solidFill>
                      <a:srgbClr val="FFFFFF"/>
                    </a:solidFill>
                  </a:tcPr>
                </a:tc>
              </a:tr>
            </a:tbl>
          </a:graphicData>
        </a:graphic>
      </p:graphicFrame>
      <p:sp>
        <p:nvSpPr>
          <p:cNvPr id="33" name="TextBox 32"/>
          <p:cNvSpPr txBox="1"/>
          <p:nvPr/>
        </p:nvSpPr>
        <p:spPr>
          <a:xfrm>
            <a:off x="503999" y="3354076"/>
            <a:ext cx="7059600" cy="162000"/>
          </a:xfrm>
          <a:prstGeom prst="rect">
            <a:avLst/>
          </a:prstGeom>
          <a:noFill/>
        </p:spPr>
        <p:txBody>
          <a:bodyPr wrap="square" anchor="t" lIns="54000" rIns="54000"/>
          <a:lstStyle/>
          <a:p>
            <a:pPr algn="l"/>
            <a:r>
              <a:rPr sz="850" b="0">
                <a:solidFill>
                  <a:srgbClr val="53565A"/>
                </a:solidFill>
                <a:latin typeface="Helvetica"/>
              </a:rPr>
              <a:t>Valable pour : balances de 2020 au 31/08/2026, valeurs comptables non réévaluées. 2026 provisoire (huit mois).</a:t>
            </a:r>
          </a:p>
        </p:txBody>
      </p:sp>
      <p:sp>
        <p:nvSpPr>
          <p:cNvPr id="34" name="TextBox 33"/>
          <p:cNvSpPr txBox="1"/>
          <p:nvPr/>
        </p:nvSpPr>
        <p:spPr>
          <a:xfrm>
            <a:off x="7779600" y="1386000"/>
            <a:ext cx="3956400" cy="4482000"/>
          </a:xfrm>
          <a:prstGeom prst="rect">
            <a:avLst/>
          </a:prstGeom>
          <a:noFill/>
        </p:spPr>
        <p:txBody>
          <a:bodyPr wrap="square" lIns="54000" rIns="54000"/>
          <a:lstStyle/>
          <a:p>
            <a:pPr algn="just">
              <a:spcAft>
                <a:spcPts val="600"/>
              </a:spcAft>
            </a:pPr>
            <a:r>
              <a:rPr sz="1400" b="1">
                <a:solidFill>
                  <a:srgbClr val="060606"/>
                </a:solidFill>
                <a:latin typeface="Helvetica"/>
              </a:rPr>
              <a:t>Les sorties annuelles ont atteint 2 579 886 392 FCFA sur une année entre 2020 et 2025.</a:t>
            </a:r>
            <a:r>
              <a:rPr sz="1400" b="0">
                <a:solidFill>
                  <a:srgbClr val="060606"/>
                </a:solidFill>
                <a:latin typeface="Helvetica"/>
              </a:rPr>
              <a:t> Un trimestre de ce niveau représente 644 971 598 FCFA.</a:t>
            </a:r>
          </a:p>
          <a:p>
            <a:pPr algn="just">
              <a:spcAft>
                <a:spcPts val="600"/>
              </a:spcAft>
            </a:pPr>
            <a:r>
              <a:rPr sz="1400" b="1">
                <a:solidFill>
                  <a:srgbClr val="060606"/>
                </a:solidFill>
                <a:latin typeface="Helvetica"/>
              </a:rPr>
              <a:t>L'actif liquide à un an (2 715 008 827 FCFA au 31/12/2025) couvre les sorties d'une année, mais pas en plus le passif à moins d'un an.</a:t>
            </a:r>
          </a:p>
          <a:p>
            <a:pPr algn="just">
              <a:spcAft>
                <a:spcPts val="600"/>
              </a:spcAft>
            </a:pPr>
            <a:r>
              <a:rPr sz="1400" b="1">
                <a:solidFill>
                  <a:srgbClr val="060606"/>
                </a:solidFill>
                <a:latin typeface="Helvetica"/>
              </a:rPr>
              <a:t>Les débits de l'EFC restent faibles au regard du DAT annuel</a:t>
            </a:r>
            <a:r>
              <a:rPr sz="1400" b="0">
                <a:solidFill>
                  <a:srgbClr val="060606"/>
                </a:solidFill>
                <a:latin typeface="Helvetica"/>
              </a:rPr>
              <a:t>, qui finance donc d'autres sorties que l'EFC, conformément à la déclaration du chef comptable.</a:t>
            </a:r>
          </a:p>
          <a:p>
            <a:pPr algn="just">
              <a:spcAft>
                <a:spcPts val="600"/>
              </a:spcAft>
            </a:pPr>
            <a:r>
              <a:rPr sz="1400" b="0">
                <a:solidFill>
                  <a:srgbClr val="060606"/>
                </a:solidFill>
                <a:latin typeface="Helvetica"/>
              </a:rPr>
              <a:t>La liquidité tient tant que les sorties restent au niveau passé. Une vague de départs à la retraite ou de retraits du PEP la rendrait insuffisante : l'échéancier de l'épargne est la donnée prioritaire pour l'adossement.</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 | DAT : dépôt à terme</a:t>
            </a:r>
          </a:p>
        </p:txBody>
      </p:sp>
    </p:spTree>
    <p:extLst>
      <p:ext uri="{BB962C8B-B14F-4D97-AF65-F5344CB8AC3E}">
        <p14:creationId xmlns:p14="http://schemas.microsoft.com/office/powerpoint/2010/main" val="3359143094"/>
      </p:ext>
    </p:extLst>
  </p:cSld>
  <p:clrMapOvr>
    <a:masterClrMapping/>
  </p:clrMapOvr>
  <p:transition>
    <p:fade/>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Conclusion : adossement actif-passif</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n'est pas adossé, même dans l'hypothèse la plus favorable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Conclusion ferme sur le principe, provisoire sur l'ampleur : l'écart réel sera plus grand que l'écart mesuré</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17, 19, 20, 21 et 27. Décision n° 05/2022/COM/UEMOA du 1er juin 2022, annexe, section II, § 2.1. PCMS (règlement n° 03/2012/CM/UEMOA). Balances des comptes du FPPN (Sage 100), exercices 2020 à 2025 et du 01/01 au 31/08/2026 (provisoire).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55 : Adossement actif-passif : ce qui est établi et ce qui reste à faire</a:t>
            </a:r>
          </a:p>
        </p:txBody>
      </p:sp>
      <p:graphicFrame>
        <p:nvGraphicFramePr>
          <p:cNvPr id="32" name="Table 31"/>
          <p:cNvGraphicFramePr>
            <a:graphicFrameLocks noGrp="1"/>
          </p:cNvGraphicFramePr>
          <p:nvPr/>
        </p:nvGraphicFramePr>
        <p:xfrm>
          <a:off x="503999" y="1655999"/>
          <a:ext cx="11232000" cy="1659684"/>
        </p:xfrm>
        <a:graphic>
          <a:graphicData uri="http://schemas.openxmlformats.org/drawingml/2006/table">
            <a:tbl>
              <a:tblPr firstRow="0" bandRow="0">
                <a:tableStyleId>{5940675A-B579-460E-94D1-54222C63F5DA}</a:tableStyleId>
              </a:tblPr>
              <a:tblGrid>
                <a:gridCol w="2160000"/>
                <a:gridCol w="4176000"/>
                <a:gridCol w="1728000"/>
                <a:gridCol w="3168000"/>
              </a:tblGrid>
              <a:tr h="194768">
                <a:tc>
                  <a:txBody>
                    <a:bodyPr/>
                    <a:lstStyle/>
                    <a:p>
                      <a:pPr marL="0" indent="0" lvl="0">
                        <a:buNone/>
                      </a:pPr>
                      <a:r>
                        <a:rPr sz="900" b="1">
                          <a:solidFill>
                            <a:srgbClr val="FFFFFF"/>
                          </a:solidFill>
                          <a:latin typeface="Helvetica"/>
                        </a:rPr>
                        <a:t>Question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Réponse au 19/10/2026</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Niveau de preuve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Pour conclure</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L'actif couvre-t-il les engagements connus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 : 96,33 % en lecture comptable au 31/08/2026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Établi (balances)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Rien : le constat est un minimum</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La liquidité à un an est-elle suffisante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Non pour le passif à un an : 49,27 %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Établi (balances)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Échéancier de l'épargne</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Quel est l'écart réel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Plus grand que l'écart mesuré, ampleur inconnue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Borne favorable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Provisions recalculées (PBC, 71, 72, 92), provisions mathématiques (57, 79), évaluations d'actifs (84, 86 à 88)</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Les flux futurs sont-ils adossés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Non mesurable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En attente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Âges, règlements de l'EFC et du PEP, taux servi (99)</a:t>
                      </a:r>
                    </a:p>
                  </a:txBody>
                  <a:tcPr marL="43200" marR="43200" marT="14400" marB="14400" anchor="ctr">
                    <a:solidFill>
                      <a:srgbClr val="F2F2F2"/>
                    </a:solidFill>
                  </a:tcPr>
                </a:tc>
              </a:tr>
            </a:tbl>
          </a:graphicData>
        </a:graphic>
      </p:graphicFrame>
      <p:sp>
        <p:nvSpPr>
          <p:cNvPr id="33" name="TextBox 32"/>
          <p:cNvSpPr txBox="1"/>
          <p:nvPr/>
        </p:nvSpPr>
        <p:spPr>
          <a:xfrm>
            <a:off x="503999" y="3333686"/>
            <a:ext cx="11232000" cy="162000"/>
          </a:xfrm>
          <a:prstGeom prst="rect">
            <a:avLst/>
          </a:prstGeom>
          <a:noFill/>
        </p:spPr>
        <p:txBody>
          <a:bodyPr wrap="square" anchor="t" lIns="54000" rIns="54000"/>
          <a:lstStyle/>
          <a:p>
            <a:pPr algn="l"/>
            <a:r>
              <a:rPr sz="850" b="0">
                <a:solidFill>
                  <a:srgbClr val="53565A"/>
                </a:solidFill>
                <a:latin typeface="Helvetica"/>
              </a:rPr>
              <a:t>Valable pour : balances de 2020 au 31/08/2026, valeurs comptables non réévaluées. 2026 provisoire (huit mois).</a:t>
            </a:r>
          </a:p>
        </p:txBody>
      </p:sp>
      <p:sp>
        <p:nvSpPr>
          <p:cNvPr id="34" name="TextBox 33"/>
          <p:cNvSpPr txBox="1"/>
          <p:nvPr/>
        </p:nvSpPr>
        <p:spPr>
          <a:xfrm>
            <a:off x="503999" y="3621686"/>
            <a:ext cx="11232000" cy="2246313"/>
          </a:xfrm>
          <a:prstGeom prst="rect">
            <a:avLst/>
          </a:prstGeom>
          <a:noFill/>
        </p:spPr>
        <p:txBody>
          <a:bodyPr wrap="square" lIns="54000" rIns="54000"/>
          <a:lstStyle/>
          <a:p>
            <a:pPr algn="just">
              <a:spcAft>
                <a:spcPts val="600"/>
              </a:spcAft>
            </a:pPr>
            <a:r>
              <a:rPr sz="1300" b="1">
                <a:solidFill>
                  <a:srgbClr val="060606"/>
                </a:solidFill>
                <a:latin typeface="Helvetica"/>
              </a:rPr>
              <a:t>L'adossement actuariel complet, en flux de trésorerie projetés, ne peut pas être fait aujourd'hui.</a:t>
            </a:r>
            <a:r>
              <a:rPr sz="1300" b="0">
                <a:solidFill>
                  <a:srgbClr val="060606"/>
                </a:solidFill>
                <a:latin typeface="Helvetica"/>
              </a:rPr>
              <a:t> Le constat de non-adossement, lui, est démontré, car toutes les données manquantes l'aggraveraient.</a:t>
            </a:r>
          </a:p>
          <a:p>
            <a:pPr algn="just">
              <a:spcAft>
                <a:spcPts val="600"/>
              </a:spcAft>
            </a:pPr>
            <a:r>
              <a:rPr sz="1300" b="0">
                <a:solidFill>
                  <a:srgbClr val="060606"/>
                </a:solidFill>
                <a:latin typeface="Helvetica"/>
              </a:rPr>
              <a:t>Le FPPN finance des engagements courts et une épargne exigible avec des actifs longs, peu liquides et en partie non évalués. Le plan de redressement doit traiter la liquidité de l'épargne en priorité.</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PEP : Plan Épargne Plus | EFC : entraide fin de carrière | PBC : liste des documents demandés au client</a:t>
            </a:r>
          </a:p>
        </p:txBody>
      </p:sp>
    </p:spTree>
    <p:extLst>
      <p:ext uri="{BB962C8B-B14F-4D97-AF65-F5344CB8AC3E}">
        <p14:creationId xmlns:p14="http://schemas.microsoft.com/office/powerpoint/2010/main" val="3743874826"/>
      </p:ext>
    </p:extLst>
  </p:cSld>
  <p:clrMapOvr>
    <a:masterClrMapping/>
  </p:clrMapOvr>
  <p:transition>
    <p:fade/>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fonds propres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pertes reportées dépassent les réserves, d'où des fonds propres négatifs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Fonds propres 2025 = -876 142 111 FCFA + résultat 437 899 911 FCFA = -438 242 200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 des comptes 2025</a:t>
            </a:r>
          </a:p>
        </p:txBody>
      </p:sp>
      <p:sp>
        <p:nvSpPr>
          <p:cNvPr id="31" name="TextBox 30"/>
          <p:cNvSpPr txBox="1"/>
          <p:nvPr/>
        </p:nvSpPr>
        <p:spPr>
          <a:xfrm>
            <a:off x="503999" y="1350000"/>
            <a:ext cx="7703999"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7704000" cy="1680072"/>
        </p:xfrm>
        <a:graphic>
          <a:graphicData uri="http://schemas.openxmlformats.org/drawingml/2006/table">
            <a:tbl>
              <a:tblPr firstRow="0" bandRow="0">
                <a:tableStyleId>{5940675A-B579-460E-94D1-54222C63F5DA}</a:tableStyleId>
              </a:tblPr>
              <a:tblGrid>
                <a:gridCol w="1224000"/>
                <a:gridCol w="4104000"/>
                <a:gridCol w="2376000"/>
              </a:tblGrid>
              <a:tr h="210009">
                <a:tc>
                  <a:txBody>
                    <a:bodyPr/>
                    <a:lstStyle/>
                    <a:p>
                      <a:pPr marL="0" indent="0" lvl="0">
                        <a:buNone/>
                      </a:pPr>
                      <a:r>
                        <a:rPr sz="1000" b="1">
                          <a:solidFill>
                            <a:srgbClr val="FFFFFF"/>
                          </a:solidFill>
                          <a:latin typeface="Helvetica"/>
                        </a:rPr>
                        <a:t>Compte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Intitulé (balance 2025)</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10620000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Réévaluation matériels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2 899 400 000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11100000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Réserves légale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820 232 819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11880000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RESERVES FACULTATIVES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677 208 998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12900000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Report à nouveau débiteur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-5 272 983 928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Sous-total capitaux propres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-876 142 111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Résultat de l'exercice 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437 899 911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-438 242 200 FCFA</a:t>
                      </a:r>
                    </a:p>
                  </a:txBody>
                  <a:tcPr marL="43200" marR="43200" marT="14400" marB="14400" anchor="ctr">
                    <a:solidFill>
                      <a:srgbClr val="FFFFFF"/>
                    </a:solidFill>
                  </a:tcPr>
                </a:tc>
              </a:tr>
            </a:tbl>
          </a:graphicData>
        </a:graphic>
      </p:graphicFrame>
      <p:sp>
        <p:nvSpPr>
          <p:cNvPr id="33" name="Rounded Rectangle 32"/>
          <p:cNvSpPr/>
          <p:nvPr/>
        </p:nvSpPr>
        <p:spPr>
          <a:xfrm>
            <a:off x="5813999" y="2377238"/>
            <a:ext cx="241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27999"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813999" y="3007267"/>
            <a:ext cx="241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027999" y="285606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424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8784000" y="1530000"/>
            <a:ext cx="2952000" cy="484084"/>
          </a:xfrm>
          <a:prstGeom prst="rect">
            <a:avLst/>
          </a:prstGeom>
          <a:noFill/>
        </p:spPr>
        <p:txBody>
          <a:bodyPr wrap="square" anchor="t" lIns="54000" rIns="54000"/>
          <a:lstStyle/>
          <a:p>
            <a:pPr algn="l"/>
            <a:r>
              <a:rPr sz="1200" b="0">
                <a:solidFill>
                  <a:srgbClr val="060606"/>
                </a:solidFill>
                <a:latin typeface="Helvetica"/>
              </a:rPr>
              <a:t>Les pertes reportées (compte 129) dépassent l'ensemble des réserves.</a:t>
            </a:r>
          </a:p>
        </p:txBody>
      </p:sp>
      <p:sp>
        <p:nvSpPr>
          <p:cNvPr id="39" name="Oval 38"/>
          <p:cNvSpPr/>
          <p:nvPr/>
        </p:nvSpPr>
        <p:spPr>
          <a:xfrm>
            <a:off x="8424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8784000" y="2104084"/>
            <a:ext cx="2952000" cy="484084"/>
          </a:xfrm>
          <a:prstGeom prst="rect">
            <a:avLst/>
          </a:prstGeom>
          <a:noFill/>
        </p:spPr>
        <p:txBody>
          <a:bodyPr wrap="square" anchor="t" lIns="54000" rIns="54000"/>
          <a:lstStyle/>
          <a:p>
            <a:pPr algn="l"/>
            <a:r>
              <a:rPr sz="1200" b="0">
                <a:solidFill>
                  <a:srgbClr val="060606"/>
                </a:solidFill>
                <a:latin typeface="Helvetica"/>
              </a:rPr>
              <a:t>Les fonds propres restent négatifs malgré le résultat positif de 2025.</a:t>
            </a:r>
          </a:p>
        </p:txBody>
      </p:sp>
      <p:sp>
        <p:nvSpPr>
          <p:cNvPr id="41" name="Oval 40"/>
          <p:cNvSpPr/>
          <p:nvPr/>
        </p:nvSpPr>
        <p:spPr>
          <a:xfrm>
            <a:off x="8424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8784000" y="2678168"/>
            <a:ext cx="2952000" cy="484084"/>
          </a:xfrm>
          <a:prstGeom prst="rect">
            <a:avLst/>
          </a:prstGeom>
          <a:noFill/>
        </p:spPr>
        <p:txBody>
          <a:bodyPr wrap="square" anchor="t" lIns="54000" rIns="54000"/>
          <a:lstStyle/>
          <a:p>
            <a:pPr algn="l"/>
            <a:r>
              <a:rPr sz="1200" b="0">
                <a:solidFill>
                  <a:srgbClr val="060606"/>
                </a:solidFill>
                <a:latin typeface="Helvetica"/>
              </a:rPr>
              <a:t>Les excédents futurs devront absorber ce solde négatif.</a:t>
            </a:r>
          </a:p>
        </p:txBody>
      </p:sp>
      <p:sp>
        <p:nvSpPr>
          <p:cNvPr id="43" name="TextBox 42"/>
          <p:cNvSpPr txBox="1"/>
          <p:nvPr/>
        </p:nvSpPr>
        <p:spPr>
          <a:xfrm>
            <a:off x="8424000" y="3342252"/>
            <a:ext cx="3312000" cy="2525747"/>
          </a:xfrm>
          <a:prstGeom prst="rect">
            <a:avLst/>
          </a:prstGeom>
          <a:noFill/>
        </p:spPr>
        <p:txBody>
          <a:bodyPr wrap="square" lIns="54000" rIns="54000"/>
          <a:lstStyle/>
          <a:p>
            <a:pPr algn="just">
              <a:spcAft>
                <a:spcPts val="600"/>
              </a:spcAft>
            </a:pPr>
            <a:r>
              <a:rPr sz="1200" b="1">
                <a:solidFill>
                  <a:srgbClr val="060606"/>
                </a:solidFill>
                <a:latin typeface="Helvetica"/>
              </a:rPr>
              <a:t>Les réserves existent, mais les pertes passées les dépassent.</a:t>
            </a:r>
            <a:r>
              <a:rPr sz="1200" b="0">
                <a:solidFill>
                  <a:srgbClr val="060606"/>
                </a:solidFill>
                <a:latin typeface="Helvetica"/>
              </a:rPr>
              <a:t> Le compte 10620000, intitulé « Réévaluation matériels » de 2020 à 2025, est le plus important des comptes positifs. Le chef comptable l'explique par la réévaluation du terrain du siège (partie 10).</a:t>
            </a:r>
          </a:p>
          <a:p>
            <a:pPr algn="just">
              <a:spcAft>
                <a:spcPts val="600"/>
              </a:spcAft>
            </a:pPr>
            <a:r>
              <a:rPr sz="1200" b="0">
                <a:solidFill>
                  <a:srgbClr val="060606"/>
                </a:solidFill>
                <a:latin typeface="Helvetica"/>
              </a:rPr>
              <a:t>La marge de solvabilité de la Décision n° 05/2022 se calcule sur ces réserves : selon que les pertes reportées sont déduites ou non, le FPPN est conforme ou non (partie 10).</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427821465"/>
      </p:ext>
    </p:extLst>
  </p:cSld>
  <p:clrMapOvr>
    <a:masterClrMapping/>
  </p:clrMapOvr>
  <p:transition>
    <p:fade/>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Fonds propres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fonds propres restent négatifs malgré six années d'excédents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-6 743 081 733 FCFA fin 2020, -438 242 200 FCFA fin 2025, -879 498 700 FCFA au 31/08/2026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32 : Fonds propres et résultat de l'exercice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3888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excédents de 2020 à 2025 réduisent l'écart sans le combler.</a:t>
            </a:r>
            <a:r>
              <a:rPr sz="1400" b="0">
                <a:solidFill>
                  <a:srgbClr val="060606"/>
                </a:solidFill>
                <a:latin typeface="Helvetica"/>
              </a:rPr>
              <a:t> Les fonds propres passent de -6 743 081 733 FCFA à -438 242 200 FCFA.</a:t>
            </a:r>
          </a:p>
          <a:p>
            <a:pPr algn="just">
              <a:spcAft>
                <a:spcPts val="600"/>
              </a:spcAft>
            </a:pPr>
            <a:r>
              <a:rPr sz="1400" b="1">
                <a:solidFill>
                  <a:srgbClr val="060606"/>
                </a:solidFill>
                <a:latin typeface="Helvetica"/>
              </a:rPr>
              <a:t>Le déficit des huit premiers mois de 2026 inverse la tendance.</a:t>
            </a:r>
            <a:r>
              <a:rPr sz="1400" b="0">
                <a:solidFill>
                  <a:srgbClr val="060606"/>
                </a:solidFill>
                <a:latin typeface="Helvetica"/>
              </a:rPr>
              <a:t> Les fonds propres reculent à nouveau au 31/08/2026.</a:t>
            </a:r>
          </a:p>
          <a:p>
            <a:pPr algn="just">
              <a:spcAft>
                <a:spcPts val="600"/>
              </a:spcAft>
            </a:pPr>
            <a:r>
              <a:rPr sz="1400" b="1">
                <a:solidFill>
                  <a:srgbClr val="060606"/>
                </a:solidFill>
                <a:latin typeface="Helvetica"/>
              </a:rPr>
              <a:t>Le ratio des fonds propres et assimilés vaut 0,22 en 2025, pour une norme d'au moins 1.</a:t>
            </a:r>
          </a:p>
          <a:p>
            <a:pPr algn="just">
              <a:spcAft>
                <a:spcPts val="600"/>
              </a:spcAft>
            </a:pPr>
            <a:r>
              <a:rPr sz="1400" b="0">
                <a:solidFill>
                  <a:srgbClr val="060606"/>
                </a:solidFill>
                <a:latin typeface="Helvetica"/>
              </a:rPr>
              <a:t>Au rythme des excédents de 2024 et 2025, il faudrait encore au moins un exercice excédentaire pour revenir à des fonds propres positifs. Le déficit de 2026 éloigne cette échéance : le redressement dépend de la maîtrise de la sinistralité et des frais.</a:t>
            </a:r>
          </a:p>
        </p:txBody>
      </p:sp>
      <p:sp>
        <p:nvSpPr>
          <p:cNvPr id="35" name="TextBox 34"/>
          <p:cNvSpPr txBox="1"/>
          <p:nvPr/>
        </p:nvSpPr>
        <p:spPr>
          <a:xfrm>
            <a:off x="503999" y="5688000"/>
            <a:ext cx="6552000" cy="162000"/>
          </a:xfrm>
          <a:prstGeom prst="rect">
            <a:avLst/>
          </a:prstGeom>
          <a:noFill/>
        </p:spPr>
        <p:txBody>
          <a:bodyPr wrap="square" anchor="t" lIns="54000" rIns="54000"/>
          <a:lstStyle/>
          <a:p>
            <a:pPr algn="l"/>
            <a:r>
              <a:rPr sz="850" b="0">
                <a:solidFill>
                  <a:srgbClr val="53565A"/>
                </a:solidFill>
                <a:latin typeface="Helvetica"/>
              </a:rPr>
              <a:t>Valable pour : balances de 2020 au 31/08/2026, valeurs comptables non réévaluées. 2026 provisoire (huit mois).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685148407"/>
      </p:ext>
    </p:extLst>
  </p:cSld>
  <p:clrMapOvr>
    <a:masterClrMapping/>
  </p:clrMapOvr>
  <p:transition>
    <p:fade/>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Placements du FPPN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 DAT constitué chaque année et soldé à chaque clôture, et un FCP depuis 2025</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DAT BOA : 485 541 804 FCFA au 31/08/2026. FCP géré par United Capital (SGI) : 500 000 000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(14h) avec M. Koffi, chef comptable (déclarations à confirmer par document). Balances des comptes du FPPN (Sage 100), exercices 2020 à 2025 et du 01/01 au 31/08/2026 (provisoire). Traitements Adenka</a:t>
            </a:r>
          </a:p>
        </p:txBody>
      </p:sp>
      <p:sp>
        <p:nvSpPr>
          <p:cNvPr id="31" name="TextBox 30"/>
          <p:cNvSpPr txBox="1"/>
          <p:nvPr/>
        </p:nvSpPr>
        <p:spPr>
          <a:xfrm>
            <a:off x="503999" y="1386000"/>
            <a:ext cx="7059600" cy="216000"/>
          </a:xfrm>
          <a:prstGeom prst="rect">
            <a:avLst/>
          </a:prstGeom>
          <a:noFill/>
        </p:spPr>
        <p:txBody>
          <a:bodyPr wrap="square" anchor="t" lIns="54000" rIns="54000"/>
          <a:lstStyle/>
          <a:p>
            <a:pPr algn="ctr"/>
            <a:r>
              <a:rPr sz="1200" b="0">
                <a:solidFill>
                  <a:srgbClr val="EFAC62"/>
                </a:solidFill>
                <a:latin typeface="Helvetica"/>
              </a:rPr>
              <a:t>Tableau 56 : Mouvements annuels du DAT BOA (comptes 52210200 et 52210201)</a:t>
            </a:r>
          </a:p>
        </p:txBody>
      </p:sp>
      <p:graphicFrame>
        <p:nvGraphicFramePr>
          <p:cNvPr id="32" name="Table 31"/>
          <p:cNvGraphicFramePr>
            <a:graphicFrameLocks noGrp="1"/>
          </p:cNvGraphicFramePr>
          <p:nvPr/>
        </p:nvGraphicFramePr>
        <p:xfrm>
          <a:off x="503999" y="1655999"/>
          <a:ext cx="7059600" cy="1576750"/>
        </p:xfrm>
        <a:graphic>
          <a:graphicData uri="http://schemas.openxmlformats.org/drawingml/2006/table">
            <a:tbl>
              <a:tblPr firstRow="0" bandRow="0">
                <a:tableStyleId>{5940675A-B579-460E-94D1-54222C63F5DA}</a:tableStyleId>
              </a:tblPr>
              <a:tblGrid>
                <a:gridCol w="1152000"/>
                <a:gridCol w="1969200"/>
                <a:gridCol w="1969200"/>
                <a:gridCol w="1969200"/>
              </a:tblGrid>
              <a:tr h="225250">
                <a:tc>
                  <a:txBody>
                    <a:bodyPr/>
                    <a:lstStyle/>
                    <a:p>
                      <a:pPr marL="0" indent="0" lvl="0">
                        <a:buNone/>
                      </a:pPr>
                      <a:r>
                        <a:rPr sz="11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Versements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Débouclages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Solde de fin</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2021</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2 367 038 113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2 367 038 113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0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2022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2 363 639 657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2 363 499 130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140 527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2023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1 965 985 975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1 966 126 502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0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2024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2 669 457 975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2 669 457 975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3 335 116 874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3 335 116 874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0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31/08/2026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2 176 471 267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1 690 929 463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485 541 804 FCFA</a:t>
                      </a:r>
                    </a:p>
                  </a:txBody>
                  <a:tcPr marL="43200" marR="43200" marT="14400" marB="14400" anchor="ctr">
                    <a:solidFill>
                      <a:srgbClr val="F2F2F2"/>
                    </a:solidFill>
                  </a:tcPr>
                </a:tc>
              </a:tr>
            </a:tbl>
          </a:graphicData>
        </a:graphic>
      </p:graphicFrame>
      <p:sp>
        <p:nvSpPr>
          <p:cNvPr id="33" name="TextBox 32"/>
          <p:cNvSpPr txBox="1"/>
          <p:nvPr/>
        </p:nvSpPr>
        <p:spPr>
          <a:xfrm>
            <a:off x="503999" y="3250753"/>
            <a:ext cx="7059600" cy="162000"/>
          </a:xfrm>
          <a:prstGeom prst="rect">
            <a:avLst/>
          </a:prstGeom>
          <a:noFill/>
        </p:spPr>
        <p:txBody>
          <a:bodyPr wrap="square" anchor="t" lIns="54000" rIns="54000"/>
          <a:lstStyle/>
          <a:p>
            <a:pPr algn="l"/>
            <a:r>
              <a:rPr sz="850" b="0">
                <a:solidFill>
                  <a:srgbClr val="53565A"/>
                </a:solidFill>
                <a:latin typeface="Helvetica"/>
              </a:rPr>
              <a:t>Valable pour : balances de 2020 au 31/08/2026, valeurs comptables non réévaluées. 2026 provisoire (huit mois).</a:t>
            </a:r>
          </a:p>
        </p:txBody>
      </p:sp>
      <p:sp>
        <p:nvSpPr>
          <p:cNvPr id="34" name="TextBox 33"/>
          <p:cNvSpPr txBox="1"/>
          <p:nvPr/>
        </p:nvSpPr>
        <p:spPr>
          <a:xfrm>
            <a:off x="7779600" y="1386000"/>
            <a:ext cx="3956400" cy="4482000"/>
          </a:xfrm>
          <a:prstGeom prst="rect">
            <a:avLst/>
          </a:prstGeom>
          <a:noFill/>
        </p:spPr>
        <p:txBody>
          <a:bodyPr wrap="square" lIns="54000" rIns="54000"/>
          <a:lstStyle/>
          <a:p>
            <a:pPr algn="just">
              <a:spcAft>
                <a:spcPts val="600"/>
              </a:spcAft>
            </a:pPr>
            <a:r>
              <a:rPr sz="1400" b="1">
                <a:solidFill>
                  <a:srgbClr val="060606"/>
                </a:solidFill>
                <a:latin typeface="Helvetica"/>
              </a:rPr>
              <a:t>Le DAT annuel est le principal placement du FPPN.</a:t>
            </a:r>
            <a:r>
              <a:rPr sz="1400" b="0">
                <a:solidFill>
                  <a:srgbClr val="060606"/>
                </a:solidFill>
                <a:latin typeface="Helvetica"/>
              </a:rPr>
              <a:t> Les versements vont de 1 965 985 975 FCFA à 3 335 116 874 FCFA par an de 2021 à 2025, et le compte est soldé à chaque clôture.</a:t>
            </a:r>
          </a:p>
          <a:p>
            <a:pPr algn="just">
              <a:spcAft>
                <a:spcPts val="600"/>
              </a:spcAft>
            </a:pPr>
            <a:r>
              <a:rPr sz="1400" b="1">
                <a:solidFill>
                  <a:srgbClr val="060606"/>
                </a:solidFill>
                <a:latin typeface="Helvetica"/>
              </a:rPr>
              <a:t>Le FCP n'est pas revalorisé dans les comptes</a:t>
            </a:r>
            <a:r>
              <a:rPr sz="1400" b="0">
                <a:solidFill>
                  <a:srgbClr val="060606"/>
                </a:solidFill>
                <a:latin typeface="Helvetica"/>
              </a:rPr>
              <a:t>, et le DAT Orabank ouvert en 2022 a été soldé en 2023 après un arrêt des prélèvements par la banque.</a:t>
            </a:r>
          </a:p>
          <a:p>
            <a:pPr algn="just">
              <a:spcAft>
                <a:spcPts val="600"/>
              </a:spcAft>
            </a:pPr>
            <a:r>
              <a:rPr sz="1400" b="0">
                <a:solidFill>
                  <a:srgbClr val="060606"/>
                </a:solidFill>
                <a:latin typeface="Helvetica"/>
              </a:rPr>
              <a:t>Un placement débouclé chaque année ne couvre pas l'épargne longue : il finance les sorties de l'année. La couverture des engagements d'épargne reste faible (partie 6).</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FCP : fonds commun de placement | DAT : dépôt à terme | SGI : société de gestion et d'intermédiation</a:t>
            </a:r>
          </a:p>
        </p:txBody>
      </p:sp>
    </p:spTree>
    <p:extLst>
      <p:ext uri="{BB962C8B-B14F-4D97-AF65-F5344CB8AC3E}">
        <p14:creationId xmlns:p14="http://schemas.microsoft.com/office/powerpoint/2010/main" val="3156997686"/>
      </p:ext>
    </p:extLst>
  </p:cSld>
  <p:clrMapOvr>
    <a:masterClrMapping/>
  </p:clrMapOvr>
  <p:transition>
    <p:fade/>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Décision de placement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directeur général décide seul, sur la base d'un point de trésorerie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Ni comité, ni avis du conseil d'administration, ni politique de placement écrite selon le chef comptable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(14h) avec M. Koffi, chef comptable (déclarations à confirmer par document)</a:t>
            </a:r>
          </a:p>
        </p:txBody>
      </p:sp>
      <p:sp>
        <p:nvSpPr>
          <p:cNvPr id="31" name="Rectangle 30"/>
          <p:cNvSpPr/>
          <p:nvPr/>
        </p:nvSpPr>
        <p:spPr>
          <a:xfrm>
            <a:off x="503999" y="1404000"/>
            <a:ext cx="11232000" cy="846000"/>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3999" y="1404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Banque</a:t>
            </a:r>
          </a:p>
        </p:txBody>
      </p:sp>
      <p:sp>
        <p:nvSpPr>
          <p:cNvPr id="33" name="Rectangle 32"/>
          <p:cNvSpPr/>
          <p:nvPr/>
        </p:nvSpPr>
        <p:spPr>
          <a:xfrm>
            <a:off x="503999" y="2250000"/>
            <a:ext cx="11232000" cy="8460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3999" y="2250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Direction générale</a:t>
            </a:r>
          </a:p>
        </p:txBody>
      </p:sp>
      <p:sp>
        <p:nvSpPr>
          <p:cNvPr id="35" name="Rectangle 34"/>
          <p:cNvSpPr/>
          <p:nvPr/>
        </p:nvSpPr>
        <p:spPr>
          <a:xfrm>
            <a:off x="503999" y="3096000"/>
            <a:ext cx="11232000" cy="846000"/>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3999" y="3096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DAF</a:t>
            </a:r>
          </a:p>
        </p:txBody>
      </p:sp>
      <p:sp>
        <p:nvSpPr>
          <p:cNvPr id="37" name="Rectangle 36"/>
          <p:cNvSpPr/>
          <p:nvPr/>
        </p:nvSpPr>
        <p:spPr>
          <a:xfrm>
            <a:off x="503999" y="3942000"/>
            <a:ext cx="11232000" cy="8460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3999" y="3942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Comptabilité (chef comptable)</a:t>
            </a:r>
          </a:p>
        </p:txBody>
      </p:sp>
      <p:sp>
        <p:nvSpPr>
          <p:cNvPr id="39" name="Logigramme p1"/>
          <p:cNvSpPr/>
          <p:nvPr/>
        </p:nvSpPr>
        <p:spPr>
          <a:xfrm>
            <a:off x="2015999" y="1539000"/>
            <a:ext cx="1224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Proposition</a:t>
            </a:r>
          </a:p>
          <a:p>
            <a:pPr algn="ctr"/>
            <a:r>
              <a:rPr sz="850" b="1">
                <a:solidFill>
                  <a:srgbClr val="FFFFFF"/>
                </a:solidFill>
                <a:latin typeface="Helvetica"/>
              </a:rPr>
              <a:t>de placement</a:t>
            </a:r>
          </a:p>
        </p:txBody>
      </p:sp>
      <p:sp>
        <p:nvSpPr>
          <p:cNvPr id="40" name="Logigramme p2"/>
          <p:cNvSpPr/>
          <p:nvPr/>
        </p:nvSpPr>
        <p:spPr>
          <a:xfrm>
            <a:off x="3401999" y="2385000"/>
            <a:ext cx="1224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Analyse de</a:t>
            </a:r>
          </a:p>
          <a:p>
            <a:pPr algn="ctr"/>
            <a:r>
              <a:rPr sz="850" b="0">
                <a:solidFill>
                  <a:srgbClr val="060606"/>
                </a:solidFill>
                <a:latin typeface="Helvetica"/>
              </a:rPr>
              <a:t>la proposition</a:t>
            </a:r>
          </a:p>
        </p:txBody>
      </p:sp>
      <p:sp>
        <p:nvSpPr>
          <p:cNvPr id="41" name="Logigramme p3"/>
          <p:cNvSpPr/>
          <p:nvPr/>
        </p:nvSpPr>
        <p:spPr>
          <a:xfrm>
            <a:off x="4788000" y="3231000"/>
            <a:ext cx="1224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Demande du point</a:t>
            </a:r>
          </a:p>
          <a:p>
            <a:pPr algn="ctr"/>
            <a:r>
              <a:rPr sz="850" b="0">
                <a:solidFill>
                  <a:srgbClr val="060606"/>
                </a:solidFill>
                <a:latin typeface="Helvetica"/>
              </a:rPr>
              <a:t>de trésorerie</a:t>
            </a:r>
          </a:p>
        </p:txBody>
      </p:sp>
      <p:sp>
        <p:nvSpPr>
          <p:cNvPr id="42" name="Logigramme p4"/>
          <p:cNvSpPr/>
          <p:nvPr/>
        </p:nvSpPr>
        <p:spPr>
          <a:xfrm>
            <a:off x="4788000" y="4077000"/>
            <a:ext cx="1224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Point de</a:t>
            </a:r>
          </a:p>
          <a:p>
            <a:pPr algn="ctr"/>
            <a:r>
              <a:rPr sz="850" b="0">
                <a:solidFill>
                  <a:srgbClr val="060606"/>
                </a:solidFill>
                <a:latin typeface="Helvetica"/>
              </a:rPr>
              <a:t>trésorerie</a:t>
            </a:r>
          </a:p>
        </p:txBody>
      </p:sp>
      <p:sp>
        <p:nvSpPr>
          <p:cNvPr id="43" name="Logigramme p5"/>
          <p:cNvSpPr/>
          <p:nvPr/>
        </p:nvSpPr>
        <p:spPr>
          <a:xfrm>
            <a:off x="6173999" y="2331000"/>
            <a:ext cx="1224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0">
                <a:solidFill>
                  <a:srgbClr val="060606"/>
                </a:solidFill>
                <a:latin typeface="Helvetica"/>
              </a:rPr>
              <a:t>Investir ?</a:t>
            </a:r>
          </a:p>
        </p:txBody>
      </p:sp>
      <p:sp>
        <p:nvSpPr>
          <p:cNvPr id="44" name="Logigramme p6"/>
          <p:cNvSpPr/>
          <p:nvPr/>
        </p:nvSpPr>
        <p:spPr>
          <a:xfrm>
            <a:off x="6173999" y="1539000"/>
            <a:ext cx="1224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Pas de</a:t>
            </a:r>
          </a:p>
          <a:p>
            <a:pPr algn="ctr"/>
            <a:r>
              <a:rPr sz="850" b="1">
                <a:solidFill>
                  <a:srgbClr val="FFFFFF"/>
                </a:solidFill>
                <a:latin typeface="Helvetica"/>
              </a:rPr>
              <a:t>placement</a:t>
            </a:r>
          </a:p>
        </p:txBody>
      </p:sp>
      <p:sp>
        <p:nvSpPr>
          <p:cNvPr id="45" name="Logigramme p7"/>
          <p:cNvSpPr/>
          <p:nvPr/>
        </p:nvSpPr>
        <p:spPr>
          <a:xfrm>
            <a:off x="7560000" y="3231000"/>
            <a:ext cx="1224000" cy="576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Lettre d'ouverture</a:t>
            </a:r>
          </a:p>
          <a:p>
            <a:pPr algn="ctr"/>
            <a:r>
              <a:rPr sz="850" b="0">
                <a:solidFill>
                  <a:srgbClr val="060606"/>
                </a:solidFill>
                <a:latin typeface="Helvetica"/>
              </a:rPr>
              <a:t>à la banque</a:t>
            </a:r>
          </a:p>
        </p:txBody>
      </p:sp>
      <p:sp>
        <p:nvSpPr>
          <p:cNvPr id="46" name="Logigramme p8"/>
          <p:cNvSpPr/>
          <p:nvPr/>
        </p:nvSpPr>
        <p:spPr>
          <a:xfrm>
            <a:off x="8946000" y="1539000"/>
            <a:ext cx="1224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Prélèvements</a:t>
            </a:r>
          </a:p>
          <a:p>
            <a:pPr algn="ctr"/>
            <a:r>
              <a:rPr sz="850" b="0">
                <a:solidFill>
                  <a:srgbClr val="060606"/>
                </a:solidFill>
                <a:latin typeface="Helvetica"/>
              </a:rPr>
              <a:t>mensuels</a:t>
            </a:r>
          </a:p>
        </p:txBody>
      </p:sp>
      <p:sp>
        <p:nvSpPr>
          <p:cNvPr id="47" name="Logigramme p9"/>
          <p:cNvSpPr/>
          <p:nvPr/>
        </p:nvSpPr>
        <p:spPr>
          <a:xfrm>
            <a:off x="10332000" y="1539000"/>
            <a:ext cx="1224000" cy="576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Relevés</a:t>
            </a:r>
          </a:p>
          <a:p>
            <a:pPr algn="ctr"/>
            <a:r>
              <a:rPr sz="850" b="0">
                <a:solidFill>
                  <a:srgbClr val="060606"/>
                </a:solidFill>
                <a:latin typeface="Helvetica"/>
              </a:rPr>
              <a:t>bancaires</a:t>
            </a:r>
          </a:p>
        </p:txBody>
      </p:sp>
      <p:sp>
        <p:nvSpPr>
          <p:cNvPr id="48" name="Logigramme p10"/>
          <p:cNvSpPr/>
          <p:nvPr/>
        </p:nvSpPr>
        <p:spPr>
          <a:xfrm>
            <a:off x="10332000" y="4077000"/>
            <a:ext cx="1224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Comptabilisation</a:t>
            </a:r>
          </a:p>
          <a:p>
            <a:pPr algn="ctr"/>
            <a:r>
              <a:rPr sz="850" b="0">
                <a:solidFill>
                  <a:srgbClr val="060606"/>
                </a:solidFill>
                <a:latin typeface="Helvetica"/>
              </a:rPr>
              <a:t>sur relevés</a:t>
            </a:r>
          </a:p>
        </p:txBody>
      </p:sp>
      <p:sp>
        <p:nvSpPr>
          <p:cNvPr id="49" name="Logigramme p11"/>
          <p:cNvSpPr/>
          <p:nvPr/>
        </p:nvSpPr>
        <p:spPr>
          <a:xfrm>
            <a:off x="8946000" y="4077000"/>
            <a:ext cx="1224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Débouclage, dont</a:t>
            </a:r>
          </a:p>
          <a:p>
            <a:pPr algn="ctr"/>
            <a:r>
              <a:rPr sz="850" b="1">
                <a:solidFill>
                  <a:srgbClr val="FFFFFF"/>
                </a:solidFill>
                <a:latin typeface="Helvetica"/>
              </a:rPr>
              <a:t>paiement de l'EFC</a:t>
            </a:r>
          </a:p>
        </p:txBody>
      </p:sp>
      <p:sp>
        <p:nvSpPr>
          <p:cNvPr id="50" name="Logigramme p12"/>
          <p:cNvSpPr/>
          <p:nvPr/>
        </p:nvSpPr>
        <p:spPr>
          <a:xfrm>
            <a:off x="7560000" y="4077000"/>
            <a:ext cx="1224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C00000"/>
                </a:solidFill>
                <a:latin typeface="Helvetica"/>
              </a:rPr>
              <a:t>Ni comité, ni</a:t>
            </a:r>
          </a:p>
          <a:p>
            <a:pPr algn="ctr"/>
            <a:r>
              <a:rPr sz="850" b="1">
                <a:solidFill>
                  <a:srgbClr val="C00000"/>
                </a:solidFill>
                <a:latin typeface="Helvetica"/>
              </a:rPr>
              <a:t>procédure écrite</a:t>
            </a:r>
          </a:p>
        </p:txBody>
      </p:sp>
      <p:cxnSp>
        <p:nvCxnSpPr>
          <p:cNvPr id="51" name="Flèche p1 vers p2"/>
          <p:cNvCxnSpPr>
            <a:stCxn id="39" idx="3"/>
            <a:endCxn id="40" idx="0"/>
          </p:cNvCxnSpPr>
          <p:nvPr/>
        </p:nvCxnSpPr>
        <p:spPr>
          <a:xfrm>
            <a:off x="3239999" y="1827000"/>
            <a:ext cx="774000" cy="558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2" name="Flèche p2 vers p3"/>
          <p:cNvCxnSpPr>
            <a:stCxn id="40" idx="3"/>
            <a:endCxn id="41" idx="0"/>
          </p:cNvCxnSpPr>
          <p:nvPr/>
        </p:nvCxnSpPr>
        <p:spPr>
          <a:xfrm>
            <a:off x="4625999" y="2673000"/>
            <a:ext cx="774001" cy="558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Flèche p3 vers p4"/>
          <p:cNvCxnSpPr>
            <a:stCxn id="41" idx="2"/>
            <a:endCxn id="42" idx="0"/>
          </p:cNvCxnSpPr>
          <p:nvPr/>
        </p:nvCxnSpPr>
        <p:spPr>
          <a:xfrm flipH="1">
            <a:off x="5400000" y="3807000"/>
            <a:ext cx="0" cy="270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Flèche p4 vers p5"/>
          <p:cNvCxnSpPr>
            <a:stCxn id="42" idx="3"/>
            <a:endCxn id="43" idx="2"/>
          </p:cNvCxnSpPr>
          <p:nvPr/>
        </p:nvCxnSpPr>
        <p:spPr>
          <a:xfrm flipV="1">
            <a:off x="6012000" y="3015000"/>
            <a:ext cx="773999" cy="1350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5" name="Flèche p5 vers p6"/>
          <p:cNvCxnSpPr>
            <a:stCxn id="43" idx="0"/>
            <a:endCxn id="44" idx="2"/>
          </p:cNvCxnSpPr>
          <p:nvPr/>
        </p:nvCxnSpPr>
        <p:spPr>
          <a:xfrm flipH="1" flipV="1">
            <a:off x="6785999" y="2115000"/>
            <a:ext cx="0" cy="216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6839998" y="21510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a:t>
            </a:r>
          </a:p>
        </p:txBody>
      </p:sp>
      <p:cxnSp>
        <p:nvCxnSpPr>
          <p:cNvPr id="57" name="Flèche p5 vers p7"/>
          <p:cNvCxnSpPr>
            <a:stCxn id="43" idx="3"/>
            <a:endCxn id="45" idx="0"/>
          </p:cNvCxnSpPr>
          <p:nvPr/>
        </p:nvCxnSpPr>
        <p:spPr>
          <a:xfrm>
            <a:off x="7397999" y="2673000"/>
            <a:ext cx="774001" cy="558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7441199" y="24930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oui</a:t>
            </a:r>
          </a:p>
        </p:txBody>
      </p:sp>
      <p:cxnSp>
        <p:nvCxnSpPr>
          <p:cNvPr id="59" name="Flèche p7 vers p8"/>
          <p:cNvCxnSpPr>
            <a:stCxn id="45" idx="3"/>
            <a:endCxn id="46" idx="2"/>
          </p:cNvCxnSpPr>
          <p:nvPr/>
        </p:nvCxnSpPr>
        <p:spPr>
          <a:xfrm flipV="1">
            <a:off x="8784000" y="2115000"/>
            <a:ext cx="774000" cy="1404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0" name="Flèche p8 vers p9"/>
          <p:cNvCxnSpPr>
            <a:stCxn id="46" idx="3"/>
            <a:endCxn id="47" idx="1"/>
          </p:cNvCxnSpPr>
          <p:nvPr/>
        </p:nvCxnSpPr>
        <p:spPr>
          <a:xfrm flipV="1">
            <a:off x="10170000" y="1827000"/>
            <a:ext cx="16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1" name="Flèche p9 vers p10"/>
          <p:cNvCxnSpPr>
            <a:stCxn id="47" idx="2"/>
            <a:endCxn id="48" idx="0"/>
          </p:cNvCxnSpPr>
          <p:nvPr/>
        </p:nvCxnSpPr>
        <p:spPr>
          <a:xfrm flipH="1">
            <a:off x="10944000" y="2115000"/>
            <a:ext cx="0" cy="1962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2" name="Flèche p10 vers p11"/>
          <p:cNvCxnSpPr>
            <a:stCxn id="48" idx="1"/>
            <a:endCxn id="49" idx="3"/>
          </p:cNvCxnSpPr>
          <p:nvPr/>
        </p:nvCxnSpPr>
        <p:spPr>
          <a:xfrm flipH="1" flipV="1">
            <a:off x="10170000" y="4365000"/>
            <a:ext cx="16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503999" y="4878000"/>
            <a:ext cx="11232000" cy="990000"/>
          </a:xfrm>
          <a:prstGeom prst="rect">
            <a:avLst/>
          </a:prstGeom>
          <a:noFill/>
        </p:spPr>
        <p:txBody>
          <a:bodyPr wrap="square" lIns="54000" rIns="54000"/>
          <a:lstStyle/>
          <a:p>
            <a:pPr algn="just">
              <a:spcAft>
                <a:spcPts val="600"/>
              </a:spcAft>
            </a:pPr>
            <a:r>
              <a:rPr sz="1200" b="1">
                <a:solidFill>
                  <a:srgbClr val="060606"/>
                </a:solidFill>
                <a:latin typeface="Helvetica"/>
              </a:rPr>
              <a:t>Le choix des placements ne suit aucune politique validée par les organes du FPPN.</a:t>
            </a:r>
            <a:r>
              <a:rPr sz="1200" b="0">
                <a:solidFill>
                  <a:srgbClr val="060606"/>
                </a:solidFill>
                <a:latin typeface="Helvetica"/>
              </a:rPr>
              <a:t> La banque propose, le directeur général décide après un point de trésorerie, et la comptabilité enregistre sur la base des relevés.</a:t>
            </a:r>
          </a:p>
          <a:p>
            <a:pPr algn="just">
              <a:spcAft>
                <a:spcPts val="600"/>
              </a:spcAft>
            </a:pPr>
            <a:r>
              <a:rPr sz="1200" b="0">
                <a:solidFill>
                  <a:srgbClr val="060606"/>
                </a:solidFill>
                <a:latin typeface="Helvetica"/>
              </a:rPr>
              <a:t>Le règlement d'exécution n° 004/2022 (art. 17) exige que les placements satisfassent aux conditions de sécurité, de rendement, de liquidité et de diversification : sans politique écrite, le FPPN ne peut pas démontrer le respect de ces conditions.</a:t>
            </a:r>
          </a:p>
        </p:txBody>
      </p:sp>
      <p:sp>
        <p:nvSpPr>
          <p:cNvPr id="64" name="TextBox 6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EFC : entraide fin de carrière | DAF : directeur administratif et financier</a:t>
            </a:r>
          </a:p>
        </p:txBody>
      </p:sp>
    </p:spTree>
    <p:extLst>
      <p:ext uri="{BB962C8B-B14F-4D97-AF65-F5344CB8AC3E}">
        <p14:creationId xmlns:p14="http://schemas.microsoft.com/office/powerpoint/2010/main" val="2588191541"/>
      </p:ext>
    </p:extLst>
  </p:cSld>
  <p:clrMapOvr>
    <a:masterClrMapping/>
  </p:clrMapOvr>
  <p:transition>
    <p:fade/>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Rendement des placements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problème des placements est leur faible volume, pas leur rendement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Rendement moyen apparent 2021 à 2025 : 6,48 % par an. Taux directeur BCEAO entre 2,00 % et 3,50 %</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33 : Taux directeur de la BCEAO</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 date d'effet</a:t>
            </a:r>
          </a:p>
        </p:txBody>
      </p:sp>
      <p:graphicFrame>
        <p:nvGraphicFramePr>
          <p:cNvPr id="32" name="Chart 31"/>
          <p:cNvGraphicFramePr>
            <a:graphicFrameLocks noGrp="1"/>
          </p:cNvGraphicFramePr>
          <p:nvPr/>
        </p:nvGraphicFramePr>
        <p:xfrm>
          <a:off x="503999" y="1782000"/>
          <a:ext cx="5976000" cy="3888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BCEAO, communiqués du Comité de politique monétaire. Balances des comptes du FPPN (Sage 100), exercices 2020 à 2025 et du 01/01 au 31/08/2026 (provisoire).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Les produits financiers de 2021 à 2025 atteignent 173 881 316 FCFA</a:t>
            </a:r>
            <a:r>
              <a:rPr sz="1400" b="0">
                <a:solidFill>
                  <a:srgbClr val="060606"/>
                </a:solidFill>
                <a:latin typeface="Helvetica"/>
              </a:rPr>
              <a:t>, pour un encours moyen de placements d'environ 536 763 072 FCFA.</a:t>
            </a:r>
          </a:p>
          <a:p>
            <a:pPr algn="just">
              <a:spcAft>
                <a:spcPts val="600"/>
              </a:spcAft>
            </a:pPr>
            <a:r>
              <a:rPr sz="1400" b="1">
                <a:solidFill>
                  <a:srgbClr val="060606"/>
                </a:solidFill>
                <a:latin typeface="Helvetica"/>
              </a:rPr>
              <a:t>Le rendement moyen dépasse le taux directeur, mais il est irrégulier.</a:t>
            </a:r>
            <a:r>
              <a:rPr sz="1400" b="0">
                <a:solidFill>
                  <a:srgbClr val="060606"/>
                </a:solidFill>
                <a:latin typeface="Helvetica"/>
              </a:rPr>
              <a:t> L'essentiel des intérêts est comptabilisé en 2025, à la clôture d'un dépôt à terme.</a:t>
            </a:r>
          </a:p>
          <a:p>
            <a:pPr algn="just">
              <a:spcAft>
                <a:spcPts val="600"/>
              </a:spcAft>
            </a:pPr>
            <a:r>
              <a:rPr sz="1400" b="1">
                <a:solidFill>
                  <a:srgbClr val="060606"/>
                </a:solidFill>
                <a:latin typeface="Helvetica"/>
              </a:rPr>
              <a:t>Le FPPN sert 3,5 % par an sur le PEP et l'EFC</a:t>
            </a:r>
            <a:r>
              <a:rPr sz="1400" b="0">
                <a:solidFill>
                  <a:srgbClr val="060606"/>
                </a:solidFill>
                <a:latin typeface="Helvetica"/>
              </a:rPr>
              <a:t> (chef comptable, 19/10/2026) : ce taux est un engagement de rendement, à couvrir par les produits des placements.</a:t>
            </a:r>
          </a:p>
          <a:p>
            <a:pPr algn="just">
              <a:spcAft>
                <a:spcPts val="600"/>
              </a:spcAft>
            </a:pPr>
            <a:r>
              <a:rPr sz="1400" b="1">
                <a:solidFill>
                  <a:srgbClr val="060606"/>
                </a:solidFill>
                <a:latin typeface="Helvetica"/>
              </a:rPr>
              <a:t>Le vrai sujet est le volume placé</a:t>
            </a:r>
            <a:r>
              <a:rPr sz="1400" b="0">
                <a:solidFill>
                  <a:srgbClr val="060606"/>
                </a:solidFill>
                <a:latin typeface="Helvetica"/>
              </a:rPr>
              <a:t>, face à 15 743 516 391 FCFA d'épargne à restituer. Le solde des comptes courants non rémunérés atteint 2 356 399 123 FCFA au 31/08/2026.</a:t>
            </a:r>
          </a:p>
          <a:p>
            <a:pPr algn="just">
              <a:spcAft>
                <a:spcPts val="600"/>
              </a:spcAft>
            </a:pPr>
            <a:r>
              <a:rPr sz="1400" b="0">
                <a:solidFill>
                  <a:srgbClr val="060606"/>
                </a:solidFill>
                <a:latin typeface="Helvetica"/>
              </a:rPr>
              <a:t>La Décision n° 05/2022 demande aux mutuelles qui gèrent des risques longs un solde des comptes courants non rémunérés proche de zéro : une partie de cette trésorerie peut être placée à terme sans nuire à la liquidité.</a:t>
            </a:r>
          </a:p>
        </p:txBody>
      </p:sp>
      <p:sp>
        <p:nvSpPr>
          <p:cNvPr id="35" name="TextBox 34"/>
          <p:cNvSpPr txBox="1"/>
          <p:nvPr/>
        </p:nvSpPr>
        <p:spPr>
          <a:xfrm>
            <a:off x="503999" y="5688000"/>
            <a:ext cx="5976000" cy="162000"/>
          </a:xfrm>
          <a:prstGeom prst="rect">
            <a:avLst/>
          </a:prstGeom>
          <a:noFill/>
        </p:spPr>
        <p:txBody>
          <a:bodyPr wrap="square" anchor="t" lIns="54000" rIns="54000"/>
          <a:lstStyle/>
          <a:p>
            <a:pPr algn="l"/>
            <a:r>
              <a:rPr sz="850" b="0">
                <a:solidFill>
                  <a:srgbClr val="53565A"/>
                </a:solidFill>
                <a:latin typeface="Helvetica"/>
              </a:rPr>
              <a:t>Valable pour : balances de 2020 au 31/08/2026, valeurs comptables non réévaluées. 2026 provisoire (huit mois).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BCEAO : Banque centrale des États de l'Afrique de l'Ouest | PEP : Plan Épargne Plus | EFC : entraide fin de carrière</a:t>
            </a:r>
          </a:p>
        </p:txBody>
      </p:sp>
    </p:spTree>
    <p:extLst>
      <p:ext uri="{BB962C8B-B14F-4D97-AF65-F5344CB8AC3E}">
        <p14:creationId xmlns:p14="http://schemas.microsoft.com/office/powerpoint/2010/main" val="3532185043"/>
      </p:ext>
    </p:extLst>
  </p:cSld>
  <p:clrMapOvr>
    <a:masterClrMapping/>
  </p:clrMapOvr>
  <p:transition>
    <p:fade/>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Conclusion : adéquation des placements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placements du FPPN ne remplissent pas les quatre conditions de l'article 17</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Sécurité, rendement, liquidité et diversification : aucune des quatre conditions n'est démontrée pour l'ensemble des emplois du FPPN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17, 19, 20, 21 et 27. Décision n° 05/2022/COM/UEMOA du 1er juin 2022, annexe, section II, § 2.1. PCMS (règlement n° 03/2012/CM/UEMOA). Balances des comptes du FPPN (Sage 100), exercices 2020 à 2025 et du 01/01 au 31/08/2026 (provisoire). Traitements Adenka. Entretien du 19/10/2026 (14h) avec le chef comptable</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57 : Placements et emplois du FPPN confrontés aux conditions de l'article 17</a:t>
            </a:r>
          </a:p>
        </p:txBody>
      </p:sp>
      <p:graphicFrame>
        <p:nvGraphicFramePr>
          <p:cNvPr id="32" name="Table 31"/>
          <p:cNvGraphicFramePr>
            <a:graphicFrameLocks noGrp="1"/>
          </p:cNvGraphicFramePr>
          <p:nvPr/>
        </p:nvGraphicFramePr>
        <p:xfrm>
          <a:off x="503999" y="1655999"/>
          <a:ext cx="11232000" cy="1659684"/>
        </p:xfrm>
        <a:graphic>
          <a:graphicData uri="http://schemas.openxmlformats.org/drawingml/2006/table">
            <a:tbl>
              <a:tblPr firstRow="0" bandRow="0">
                <a:tableStyleId>{5940675A-B579-460E-94D1-54222C63F5DA}</a:tableStyleId>
              </a:tblPr>
              <a:tblGrid>
                <a:gridCol w="1296000"/>
                <a:gridCol w="4752000"/>
                <a:gridCol w="3240000"/>
                <a:gridCol w="1944000"/>
              </a:tblGrid>
              <a:tr h="194768">
                <a:tc>
                  <a:txBody>
                    <a:bodyPr/>
                    <a:lstStyle/>
                    <a:p>
                      <a:pPr marL="0" indent="0" lvl="0">
                        <a:buNone/>
                      </a:pPr>
                      <a:r>
                        <a:rPr sz="900" b="1">
                          <a:solidFill>
                            <a:srgbClr val="FFFFFF"/>
                          </a:solidFill>
                          <a:latin typeface="Helvetica"/>
                        </a:rPr>
                        <a:t>Condition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Constat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Preuve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Appréciation</a:t>
                      </a:r>
                    </a:p>
                  </a:txBody>
                  <a:tcPr marL="43200" marR="43200" marT="14400" marB="14400" anchor="ctr">
                    <a:solidFill>
                      <a:srgbClr val="060606"/>
                    </a:solidFill>
                  </a:tcPr>
                </a:tc>
              </a:tr>
              <a:tr h="469105">
                <a:tc>
                  <a:txBody>
                    <a:bodyPr/>
                    <a:lstStyle/>
                    <a:p>
                      <a:pPr marL="0" indent="0" lvl="0">
                        <a:buNone/>
                      </a:pPr>
                      <a:r>
                        <a:rPr sz="900" b="1">
                          <a:solidFill>
                            <a:srgbClr val="060606"/>
                          </a:solidFill>
                          <a:latin typeface="Helvetica"/>
                        </a:rPr>
                        <a:t>Sécurité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Les DAT sont placés en banque. Le FCP de 500 millions n'est pas garanti. L'essentiel des emplois est une créance sur l'hôpital, une clinique et des terrains.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Partie 9 (placements, structure de l'actif)</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 démontrée</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Rendement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Rendement apparent moyen de 6,48 % par an de 2021 à 2025, irrégulier. Taux servi non établi (3,5 %, 5,5 % ou 14 %). FCP non revalorisé.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Partie 9 (rendement des placements)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À apprécier</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Liquidité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Épargne couverte à 16,28 % par des actifs réservés. DAT soldé à chaque clôture. Actif à un an inférieur au passif à un an.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Parties 6 et 9 (adossement)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Insuffisante</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Diversification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Placements financiers concentrés sur une banque (DAT) et un FCP. Emplois dominés par trois actifs non financiers.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Partie 9 (placements)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Insuffisante</a:t>
                      </a:r>
                    </a:p>
                  </a:txBody>
                  <a:tcPr marL="43200" marR="43200" marT="14400" marB="14400" anchor="ctr">
                    <a:solidFill>
                      <a:srgbClr val="F2F2F2"/>
                    </a:solidFill>
                  </a:tcPr>
                </a:tc>
              </a:tr>
            </a:tbl>
          </a:graphicData>
        </a:graphic>
      </p:graphicFrame>
      <p:sp>
        <p:nvSpPr>
          <p:cNvPr id="33" name="TextBox 32"/>
          <p:cNvSpPr txBox="1"/>
          <p:nvPr/>
        </p:nvSpPr>
        <p:spPr>
          <a:xfrm>
            <a:off x="503999" y="3333686"/>
            <a:ext cx="11232000" cy="162000"/>
          </a:xfrm>
          <a:prstGeom prst="rect">
            <a:avLst/>
          </a:prstGeom>
          <a:noFill/>
        </p:spPr>
        <p:txBody>
          <a:bodyPr wrap="square" anchor="t" lIns="54000" rIns="54000"/>
          <a:lstStyle/>
          <a:p>
            <a:pPr algn="l"/>
            <a:r>
              <a:rPr sz="850" b="0">
                <a:solidFill>
                  <a:srgbClr val="53565A"/>
                </a:solidFill>
                <a:latin typeface="Helvetica"/>
              </a:rPr>
              <a:t>Valable pour : balances de 2020 au 31/08/2026, valeurs comptables non réévaluées. 2026 provisoire (huit mois).</a:t>
            </a:r>
          </a:p>
        </p:txBody>
      </p:sp>
      <p:sp>
        <p:nvSpPr>
          <p:cNvPr id="34" name="TextBox 33"/>
          <p:cNvSpPr txBox="1"/>
          <p:nvPr/>
        </p:nvSpPr>
        <p:spPr>
          <a:xfrm>
            <a:off x="503999" y="3621686"/>
            <a:ext cx="11232000" cy="2246313"/>
          </a:xfrm>
          <a:prstGeom prst="rect">
            <a:avLst/>
          </a:prstGeom>
          <a:noFill/>
        </p:spPr>
        <p:txBody>
          <a:bodyPr wrap="square" lIns="54000" rIns="54000"/>
          <a:lstStyle/>
          <a:p>
            <a:pPr algn="just">
              <a:spcAft>
                <a:spcPts val="600"/>
              </a:spcAft>
            </a:pPr>
            <a:r>
              <a:rPr sz="1300" b="1">
                <a:solidFill>
                  <a:srgbClr val="060606"/>
                </a:solidFill>
                <a:latin typeface="Helvetica"/>
              </a:rPr>
              <a:t>Le portefeuille de placements financiers est trop petit au regard des engagements, et le reste des ressources est immobilisé dans des actifs peu liquides.</a:t>
            </a:r>
            <a:r>
              <a:rPr sz="1300" b="0">
                <a:solidFill>
                  <a:srgbClr val="060606"/>
                </a:solidFill>
                <a:latin typeface="Helvetica"/>
              </a:rPr>
              <a:t> Le rendement des placements n'est pas le problème principal. Leur volume et leur liquidité le sont.</a:t>
            </a:r>
          </a:p>
          <a:p>
            <a:pPr algn="just">
              <a:spcAft>
                <a:spcPts val="600"/>
              </a:spcAft>
            </a:pPr>
            <a:r>
              <a:rPr sz="1300" b="1">
                <a:solidFill>
                  <a:srgbClr val="060606"/>
                </a:solidFill>
                <a:latin typeface="Helvetica"/>
              </a:rPr>
              <a:t>Sans politique de placement écrite ni comité (entretien du 19/10/2026), le FPPN ne peut pas démontrer le respect de l'article 17.</a:t>
            </a:r>
          </a:p>
          <a:p>
            <a:pPr algn="just">
              <a:spcAft>
                <a:spcPts val="600"/>
              </a:spcAft>
            </a:pPr>
            <a:r>
              <a:rPr sz="1300" b="0">
                <a:solidFill>
                  <a:srgbClr val="060606"/>
                </a:solidFill>
                <a:latin typeface="Helvetica"/>
              </a:rPr>
              <a:t>Une politique de placement validée par le conseil d'administration, adossée à l'échéancier de l'épargne, est la condition pour répondre à cette tâche de manière définitive. Elle doit fixer la part d'actifs liquides, les contreparties autorisées et le rendement minimal au regard du taux servi, qui doit d'abord être arrêté (3,5 %, 5,5 % ou 14 % selon les documents).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FCP : fonds commun de placement | DAT : dépôt à terme</a:t>
            </a:r>
          </a:p>
        </p:txBody>
      </p:sp>
    </p:spTree>
    <p:extLst>
      <p:ext uri="{BB962C8B-B14F-4D97-AF65-F5344CB8AC3E}">
        <p14:creationId xmlns:p14="http://schemas.microsoft.com/office/powerpoint/2010/main" val="1694131460"/>
      </p:ext>
    </p:extLst>
  </p:cSld>
  <p:clrMapOvr>
    <a:masterClrMapping/>
  </p:clrMapOvr>
  <p:transition>
    <p:fade/>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porte des engagements courts et une épargne croissante avec des actifs longs, des provisions non recalculées et des fonds propres négatifs.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provisions gardent le même montant de 2020 à 2026, les fonds propres sont négatifs à chaque clôture, et plus des trois quarts de l'actif sont à plus de cinq ans ou de délai incertain.</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ne peut absorber ni un choc de prestations, ni une vague de retraits, sans céder des actifs peu liquides.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adopter une politique de provisionnement, une politique de placement et un encadrement écrit des investissements dans les structures liées.</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bilan</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bilan combine provisions figées, fonds propres négatifs et actifs peu liquides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Trois fragilités cumulées limitent la capacité du FPPN à faire face à un choc</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241447114"/>
      </p:ext>
    </p:extLst>
  </p:cSld>
  <p:clrMapOvr>
    <a:masterClrMapping/>
  </p:clrMapOvr>
  <p:transition>
    <p:fade/>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10</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Conformité prudentielle</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Textes UEMOA, ratios, réserves, plan comptable, leviers de conformité</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093855651"/>
      </p:ext>
    </p:extLst>
  </p:cSld>
  <p:clrMapOvr>
    <a:masterClrMapping/>
  </p:clrMapOvr>
  <p:transition>
    <p:fade/>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Textes applicables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Cinq textes fixent les règles prudentielles que le FPPN doit respecter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articles cités sont lus dans les textes intégraux. Les pages scannées ont été lues par reconnaissance optique de caractères (OCR) et vérifiées à l'image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textes cités, documentation publique de l'AIRMS fournie le 18/10/2026 (validée)</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58 : Textes de la mutualité sociale appliqués au FPPN</a:t>
            </a:r>
          </a:p>
        </p:txBody>
      </p:sp>
      <p:graphicFrame>
        <p:nvGraphicFramePr>
          <p:cNvPr id="32" name="Table 31"/>
          <p:cNvGraphicFramePr>
            <a:graphicFrameLocks noGrp="1"/>
          </p:cNvGraphicFramePr>
          <p:nvPr/>
        </p:nvGraphicFramePr>
        <p:xfrm>
          <a:off x="503999" y="1655999"/>
          <a:ext cx="11232000" cy="2189754"/>
        </p:xfrm>
        <a:graphic>
          <a:graphicData uri="http://schemas.openxmlformats.org/drawingml/2006/table">
            <a:tbl>
              <a:tblPr firstRow="0" bandRow="0">
                <a:tableStyleId>{5940675A-B579-460E-94D1-54222C63F5DA}</a:tableStyleId>
              </a:tblPr>
              <a:tblGrid>
                <a:gridCol w="3096000"/>
                <a:gridCol w="5688000"/>
                <a:gridCol w="2448000"/>
              </a:tblGrid>
              <a:tr h="225250">
                <a:tc>
                  <a:txBody>
                    <a:bodyPr/>
                    <a:lstStyle/>
                    <a:p>
                      <a:pPr marL="0" indent="0" lvl="0">
                        <a:buNone/>
                      </a:pPr>
                      <a:r>
                        <a:rPr sz="1100" b="1">
                          <a:solidFill>
                            <a:srgbClr val="FFFFFF"/>
                          </a:solidFill>
                          <a:latin typeface="Helvetica"/>
                        </a:rPr>
                        <a:t>Texte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Ce qu'il impose au FPPN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Articles utilisés</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Règlement n° 07/2009/CM/UEMOA du 26/06/2009</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Il impose l'agrément, une comptabilité selon le plan comptable, la répartition des excédents en réserves et le placement des fonds en banque.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Art. 22, 28, 60 à 63, 83, 84</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Règlement d'exécution n° 004/2022/COM/UEMOA du 01/06/2022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 impose des provisions suffisantes, une réserve légale, des règles propres aux risques longs et le cantonnement des patrimoines.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Art. 3 à 27, 35</a:t>
                      </a:r>
                    </a:p>
                  </a:txBody>
                  <a:tcPr marL="43200" marR="43200" marT="14400" marB="14400" anchor="ctr">
                    <a:solidFill>
                      <a:srgbClr val="F2F2F2"/>
                    </a:solidFill>
                  </a:tcPr>
                </a:tc>
              </a:tr>
              <a:tr h="560551">
                <a:tc>
                  <a:txBody>
                    <a:bodyPr/>
                    <a:lstStyle/>
                    <a:p>
                      <a:pPr marL="0" indent="0" lvl="0">
                        <a:buNone/>
                      </a:pPr>
                      <a:r>
                        <a:rPr sz="1100" b="1">
                          <a:solidFill>
                            <a:srgbClr val="060606"/>
                          </a:solidFill>
                          <a:latin typeface="Helvetica"/>
                        </a:rPr>
                        <a:t>Décision n° 05/2022/COM/UEMOA du 01/06/2022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Elle fixe 13 indicateurs de gouvernance, 11 indicateurs de contrôle, 9 ratios pour les risques longs, la marge de solvabilité et l'affectation des excédents.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Annexe, tableaux 1 et 2, § 1.1 à 2.9</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Règlement n° 03/2012/CM/UEMOA et PCMS de mai 2012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Ils imposent le plan comptable des mutuelles sociales à partir de l'exercice ouvert le 1er janvier 2014.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Art. 2. Liste des comptes. Fiches 1, 2, 6, 25</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Arrêté n° 00115/MEPS/CAB du 12/12/2023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Il fixe les sanctions administratives et pécuniaires en cas de manquement.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Annexe, lignes 6 et 13</a:t>
                      </a:r>
                    </a:p>
                  </a:txBody>
                  <a:tcPr marL="43200" marR="43200" marT="14400" marB="14400" anchor="ctr">
                    <a:solidFill>
                      <a:srgbClr val="FFFFFF"/>
                    </a:solidFill>
                  </a:tcPr>
                </a:tc>
              </a:tr>
            </a:tbl>
          </a:graphicData>
        </a:graphic>
      </p:graphicFrame>
      <p:sp>
        <p:nvSpPr>
          <p:cNvPr id="33" name="TextBox 32"/>
          <p:cNvSpPr txBox="1"/>
          <p:nvPr/>
        </p:nvSpPr>
        <p:spPr>
          <a:xfrm>
            <a:off x="503999" y="3863756"/>
            <a:ext cx="11232000" cy="162000"/>
          </a:xfrm>
          <a:prstGeom prst="rect">
            <a:avLst/>
          </a:prstGeom>
          <a:noFill/>
        </p:spPr>
        <p:txBody>
          <a:bodyPr wrap="square" anchor="t" lIns="54000" rIns="54000"/>
          <a:lstStyle/>
          <a:p>
            <a:pPr algn="l"/>
            <a:r>
              <a:rPr sz="850" b="0">
                <a:solidFill>
                  <a:srgbClr val="53565A"/>
                </a:solidFill>
                <a:latin typeface="Helvetica"/>
              </a:rPr>
              <a:t>Valable pour : ratios de la Décision n° 05/2022 recalculés sur les balances. Statut opposable de 2022 à 2025, indicatif en 2020, 2021 et 2026.</a:t>
            </a:r>
          </a:p>
        </p:txBody>
      </p:sp>
      <p:sp>
        <p:nvSpPr>
          <p:cNvPr id="34" name="TextBox 33"/>
          <p:cNvSpPr txBox="1"/>
          <p:nvPr/>
        </p:nvSpPr>
        <p:spPr>
          <a:xfrm>
            <a:off x="503999" y="4151756"/>
            <a:ext cx="11232000" cy="1716243"/>
          </a:xfrm>
          <a:prstGeom prst="rect">
            <a:avLst/>
          </a:prstGeom>
          <a:noFill/>
        </p:spPr>
        <p:txBody>
          <a:bodyPr wrap="square" lIns="54000" rIns="54000"/>
          <a:lstStyle/>
          <a:p>
            <a:pPr algn="just">
              <a:spcAft>
                <a:spcPts val="600"/>
              </a:spcAft>
            </a:pPr>
            <a:r>
              <a:rPr sz="1300" b="1">
                <a:solidFill>
                  <a:srgbClr val="060606"/>
                </a:solidFill>
                <a:latin typeface="Helvetica"/>
              </a:rPr>
              <a:t>Ces textes forment un ensemble complet et chiffré depuis juin 2022.</a:t>
            </a:r>
            <a:r>
              <a:rPr sz="1300" b="0">
                <a:solidFill>
                  <a:srgbClr val="060606"/>
                </a:solidFill>
                <a:latin typeface="Helvetica"/>
              </a:rPr>
              <a:t> Ils couvrent la comptabilité, les provisions, les réserves, la liquidité et les sanctions.</a:t>
            </a:r>
          </a:p>
          <a:p>
            <a:pPr algn="just">
              <a:spcAft>
                <a:spcPts val="600"/>
              </a:spcAft>
            </a:pPr>
            <a:r>
              <a:rPr sz="1300" b="0">
                <a:solidFill>
                  <a:srgbClr val="060606"/>
                </a:solidFill>
                <a:latin typeface="Helvetica"/>
              </a:rPr>
              <a:t>Le FPPN dépasse les seuils du système normal du plan comptable (plus de 10 millions de FCFA de cotisations ou plus de 1 000 adhérents, art. 4 du règlement d'exécution) : il doit tenir une comptabilité d'engagement et produire un TAFIRE (art. 5).</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AIRMS : Agence ivoirienne de régulation de la mutualité sociale | UEMOA : Union économique et monétaire ouest-africaine | PCMS : plan comptable des mutuelles sociales | S/C : prestations / cotisations | MEPS : ministère de l'Emploi et de la Protection sociale | TAFIRE : tableau financier des ressources et des emplois | OCR : reconnaissance optique de caractères</a:t>
            </a:r>
          </a:p>
        </p:txBody>
      </p:sp>
    </p:spTree>
    <p:extLst>
      <p:ext uri="{BB962C8B-B14F-4D97-AF65-F5344CB8AC3E}">
        <p14:creationId xmlns:p14="http://schemas.microsoft.com/office/powerpoint/2010/main" val="1691233930"/>
      </p:ext>
    </p:extLst>
  </p:cSld>
  <p:clrMapOvr>
    <a:masterClrMapping/>
  </p:clrMapOvr>
  <p:transition>
    <p:fade/>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Risques courts et risques longs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couvre des risques courts et, avec l'épargne, des risques longs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Un risque est long quand plus d'un an sépare la cotisation de la prestation (règlement d'exécution n° 004/2022, art. 1)</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 3, 12 à 15. Fichiers de précomptes. Balances du FPPN</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59 : Qualification des garanties du FPPN</a:t>
            </a:r>
          </a:p>
        </p:txBody>
      </p:sp>
      <p:graphicFrame>
        <p:nvGraphicFramePr>
          <p:cNvPr id="32" name="Table 31"/>
          <p:cNvGraphicFramePr>
            <a:graphicFrameLocks noGrp="1"/>
          </p:cNvGraphicFramePr>
          <p:nvPr/>
        </p:nvGraphicFramePr>
        <p:xfrm>
          <a:off x="503999" y="1655999"/>
          <a:ext cx="11232000" cy="1629203"/>
        </p:xfrm>
        <a:graphic>
          <a:graphicData uri="http://schemas.openxmlformats.org/drawingml/2006/table">
            <a:tbl>
              <a:tblPr firstRow="0" bandRow="0">
                <a:tableStyleId>{5940675A-B579-460E-94D1-54222C63F5DA}</a:tableStyleId>
              </a:tblPr>
              <a:tblGrid>
                <a:gridCol w="1584000"/>
                <a:gridCol w="3024000"/>
                <a:gridCol w="2376000"/>
                <a:gridCol w="4248000"/>
              </a:tblGrid>
              <a:tr h="225250">
                <a:tc>
                  <a:txBody>
                    <a:bodyPr/>
                    <a:lstStyle/>
                    <a:p>
                      <a:pPr marL="0" indent="0" lvl="0">
                        <a:buNone/>
                      </a:pPr>
                      <a:r>
                        <a:rPr sz="1100" b="1">
                          <a:solidFill>
                            <a:srgbClr val="FFFFFF"/>
                          </a:solidFill>
                          <a:latin typeface="Helvetica"/>
                        </a:rPr>
                        <a:t>Garantie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Délai entre cotisation et prestation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Qualification proposée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Conséquence</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Maladie (936, CGRAE)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soins sont payés dans l'année.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Risque court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Ratios du tableau 1 de la Décision n° 05/2022.</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Décès (8Z6)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 capital est payé au décès, sans capitalisation connue.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Risque court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Ratios du tableau 1. Qualification à revoir si un mécanisme de capitalisation existe.</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EFC (870)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L'épargne est versée en fin de carrière, des années après les versements.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Risque long (vieillesse)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Ratios de la section II, réserve de trésorerie, étude actuarielle, certification.</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PEP (998)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L'épargne est restituée à l'échéance du plan, en général après plus d'un an.</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Risque long, à confirmer</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Mêmes obligations que l'EFC si la durée du plan dépasse un an.</a:t>
                      </a:r>
                    </a:p>
                  </a:txBody>
                  <a:tcPr marL="43200" marR="43200" marT="14400" marB="14400" anchor="ctr">
                    <a:solidFill>
                      <a:srgbClr val="F2F2F2"/>
                    </a:solidFill>
                  </a:tcPr>
                </a:tc>
              </a:tr>
            </a:tbl>
          </a:graphicData>
        </a:graphic>
      </p:graphicFrame>
      <p:sp>
        <p:nvSpPr>
          <p:cNvPr id="33" name="TextBox 32"/>
          <p:cNvSpPr txBox="1"/>
          <p:nvPr/>
        </p:nvSpPr>
        <p:spPr>
          <a:xfrm>
            <a:off x="503999" y="3303204"/>
            <a:ext cx="11232000" cy="162000"/>
          </a:xfrm>
          <a:prstGeom prst="rect">
            <a:avLst/>
          </a:prstGeom>
          <a:noFill/>
        </p:spPr>
        <p:txBody>
          <a:bodyPr wrap="square" anchor="t" lIns="54000" rIns="54000"/>
          <a:lstStyle/>
          <a:p>
            <a:pPr algn="l"/>
            <a:r>
              <a:rPr sz="850" b="0">
                <a:solidFill>
                  <a:srgbClr val="53565A"/>
                </a:solidFill>
                <a:latin typeface="Helvetica"/>
              </a:rPr>
              <a:t>Valable pour : ratios de la Décision n° 05/2022 recalculés sur les balances. Statut opposable de 2022 à 2025, indicatif en 2020, 2021 et 2026.</a:t>
            </a:r>
          </a:p>
        </p:txBody>
      </p:sp>
      <p:sp>
        <p:nvSpPr>
          <p:cNvPr id="34" name="TextBox 33"/>
          <p:cNvSpPr txBox="1"/>
          <p:nvPr/>
        </p:nvSpPr>
        <p:spPr>
          <a:xfrm>
            <a:off x="503999" y="3591204"/>
            <a:ext cx="11232000" cy="2276795"/>
          </a:xfrm>
          <a:prstGeom prst="rect">
            <a:avLst/>
          </a:prstGeom>
          <a:noFill/>
        </p:spPr>
        <p:txBody>
          <a:bodyPr wrap="square" lIns="54000" rIns="54000"/>
          <a:lstStyle/>
          <a:p>
            <a:pPr algn="just">
              <a:spcAft>
                <a:spcPts val="600"/>
              </a:spcAft>
            </a:pPr>
            <a:r>
              <a:rPr sz="1300" b="1">
                <a:solidFill>
                  <a:srgbClr val="060606"/>
                </a:solidFill>
                <a:latin typeface="Helvetica"/>
              </a:rPr>
              <a:t>Avec l'EFC et le PEP, le FPPN entre dans le champ des risques longs.</a:t>
            </a:r>
            <a:r>
              <a:rPr sz="1300" b="0">
                <a:solidFill>
                  <a:srgbClr val="060606"/>
                </a:solidFill>
                <a:latin typeface="Helvetica"/>
              </a:rPr>
              <a:t> Ces deux produits représentent 15 743 516 391 FCFA d'engagements au 31/08/2026.</a:t>
            </a:r>
          </a:p>
          <a:p>
            <a:pPr algn="just">
              <a:spcAft>
                <a:spcPts val="600"/>
              </a:spcAft>
            </a:pPr>
            <a:r>
              <a:rPr sz="1300" b="0">
                <a:solidFill>
                  <a:srgbClr val="060606"/>
                </a:solidFill>
                <a:latin typeface="Helvetica"/>
              </a:rPr>
              <a:t>Une mutuelle qui couvre à la fois des risques courts et longs doit cantonner ses patrimoines et séparer ses opérations (art. 15), faire certifier ses comptes par un commissaire aux comptes (art. 12) et réaliser une étude actuarielle tous les cinq ans (art. 14).</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CGRAE : Caisse générale de retraite des agents de l'État | PEP : Plan Épargne Plus | EFC : entraide fin de carrière | 936 : poste maladie | 8Z6 : poste décès | 870 : poste EFC | 998 : poste PEP</a:t>
            </a:r>
          </a:p>
        </p:txBody>
      </p:sp>
    </p:spTree>
    <p:extLst>
      <p:ext uri="{BB962C8B-B14F-4D97-AF65-F5344CB8AC3E}">
        <p14:creationId xmlns:p14="http://schemas.microsoft.com/office/powerpoint/2010/main" val="1385717275"/>
      </p:ext>
    </p:extLst>
  </p:cSld>
  <p:clrMapOvr>
    <a:masterClrMapping/>
  </p:clrMapOvr>
  <p:transition>
    <p:fade/>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B8E3EC90-0B67-5A40-9A33-0584F45B7F83}"/>
              </a:ext>
            </a:extLst>
          </p:cNvPr>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15" name="ZoneTexte 14">
            <a:extLst>
              <a:ext uri="{FF2B5EF4-FFF2-40B4-BE49-F238E27FC236}">
                <a16:creationId xmlns:a16="http://schemas.microsoft.com/office/drawing/2014/main" id="{105C7D73-CA09-E6BB-E55A-DE5ED4264F4C}"/>
              </a:ext>
            </a:extLst>
          </p:cNvPr>
          <p:cNvSpPr txBox="1"/>
          <p:nvPr/>
        </p:nvSpPr>
        <p:spPr>
          <a:xfrm>
            <a:off x="222607" y="6396590"/>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3" name="Rounded Rectangle 5">
            <a:extLst>
              <a:ext uri="{FF2B5EF4-FFF2-40B4-BE49-F238E27FC236}">
                <a16:creationId xmlns:a16="http://schemas.microsoft.com/office/drawing/2014/main" id="{F036A678-2139-4604-A2D8-3656B956898F}"/>
              </a:ext>
            </a:extLst>
          </p:cNvPr>
          <p:cNvSpPr/>
          <p:nvPr/>
        </p:nvSpPr>
        <p:spPr>
          <a:xfrm>
            <a:off x="3129156" y="1489204"/>
            <a:ext cx="3270872" cy="1990634"/>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4" name="Rounded Rectangle 5">
            <a:extLst>
              <a:ext uri="{FF2B5EF4-FFF2-40B4-BE49-F238E27FC236}">
                <a16:creationId xmlns:a16="http://schemas.microsoft.com/office/drawing/2014/main" id="{7D09F7F3-AD70-F22F-FF80-50BF6DD57968}"/>
              </a:ext>
            </a:extLst>
          </p:cNvPr>
          <p:cNvSpPr/>
          <p:nvPr/>
        </p:nvSpPr>
        <p:spPr>
          <a:xfrm>
            <a:off x="6391951" y="3585630"/>
            <a:ext cx="3270872" cy="1990634"/>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5" name="Rounded Rectangle 5">
            <a:extLst>
              <a:ext uri="{FF2B5EF4-FFF2-40B4-BE49-F238E27FC236}">
                <a16:creationId xmlns:a16="http://schemas.microsoft.com/office/drawing/2014/main" id="{91CD7C4B-BFBA-DBCC-083F-B9F54E841171}"/>
              </a:ext>
            </a:extLst>
          </p:cNvPr>
          <p:cNvSpPr/>
          <p:nvPr/>
        </p:nvSpPr>
        <p:spPr>
          <a:xfrm flipV="1">
            <a:off x="6514797" y="1769837"/>
            <a:ext cx="2434660" cy="1710001"/>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6" name="Rectangle 5">
            <a:extLst>
              <a:ext uri="{FF2B5EF4-FFF2-40B4-BE49-F238E27FC236}">
                <a16:creationId xmlns:a16="http://schemas.microsoft.com/office/drawing/2014/main" id="{B8A5BA39-707D-4505-CF26-1E9EC5011AB5}"/>
              </a:ext>
            </a:extLst>
          </p:cNvPr>
          <p:cNvSpPr/>
          <p:nvPr/>
        </p:nvSpPr>
        <p:spPr>
          <a:xfrm>
            <a:off x="3817401" y="1634006"/>
            <a:ext cx="2426584" cy="800458"/>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Ressources longues</a:t>
            </a:r>
          </a:p>
          <a:p>
            <a:pPr>
              <a:spcBef>
                <a:spcPts val="600"/>
              </a:spcBef>
            </a:pPr>
            <a:r>
              <a:rPr lang="fr-CI" sz="1200" noProof="0" b="0">
                <a:latin typeface="Helvetica" panose="020B0604020202020204" pitchFamily="34" charset="0"/>
                <a:cs typeface="Helvetica" panose="020B0604020202020204" pitchFamily="34" charset="0"/>
              </a:rPr>
              <a:t>Argent qui reste longtemps à la disposition du FPPN : fonds propres, provisions, emprunts.</a:t>
            </a:r>
          </a:p>
        </p:txBody>
      </p:sp>
      <p:cxnSp>
        <p:nvCxnSpPr>
          <p:cNvPr id="7" name="Straight Connector 51">
            <a:extLst>
              <a:ext uri="{FF2B5EF4-FFF2-40B4-BE49-F238E27FC236}">
                <a16:creationId xmlns:a16="http://schemas.microsoft.com/office/drawing/2014/main" id="{D644D8CD-15C8-1174-426A-80C46730AB94}"/>
              </a:ext>
            </a:extLst>
          </p:cNvPr>
          <p:cNvCxnSpPr/>
          <p:nvPr/>
        </p:nvCxnSpPr>
        <p:spPr>
          <a:xfrm>
            <a:off x="3823408" y="1885769"/>
            <a:ext cx="2223818"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15BAC69A-93C6-4C68-2B4D-52264A7239C0}"/>
              </a:ext>
            </a:extLst>
          </p:cNvPr>
          <p:cNvSpPr/>
          <p:nvPr/>
        </p:nvSpPr>
        <p:spPr>
          <a:xfrm>
            <a:off x="6667705" y="2099782"/>
            <a:ext cx="1900232" cy="654919"/>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Dettes à court terme</a:t>
            </a:r>
          </a:p>
          <a:p>
            <a:pPr>
              <a:spcBef>
                <a:spcPts val="600"/>
              </a:spcBef>
            </a:pPr>
            <a:r>
              <a:rPr lang="fr-CI" sz="1200" noProof="0" b="0">
                <a:latin typeface="Helvetica" panose="020B0604020202020204" pitchFamily="34" charset="0"/>
                <a:cs typeface="Helvetica" panose="020B0604020202020204" pitchFamily="34" charset="0"/>
              </a:rPr>
              <a:t>Argent que le FPPN doit rendre dans l'année : fournisseurs, cliniques, État.</a:t>
            </a:r>
          </a:p>
        </p:txBody>
      </p:sp>
      <p:cxnSp>
        <p:nvCxnSpPr>
          <p:cNvPr id="9" name="Straight Connector 53">
            <a:extLst>
              <a:ext uri="{FF2B5EF4-FFF2-40B4-BE49-F238E27FC236}">
                <a16:creationId xmlns:a16="http://schemas.microsoft.com/office/drawing/2014/main" id="{88E2B00B-A730-792A-F766-F69869238B01}"/>
              </a:ext>
            </a:extLst>
          </p:cNvPr>
          <p:cNvCxnSpPr/>
          <p:nvPr/>
        </p:nvCxnSpPr>
        <p:spPr>
          <a:xfrm>
            <a:off x="6637478" y="2360100"/>
            <a:ext cx="1489591"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E49CF9D8-9183-05A2-006C-E37491C14CB6}"/>
              </a:ext>
            </a:extLst>
          </p:cNvPr>
          <p:cNvSpPr/>
          <p:nvPr/>
        </p:nvSpPr>
        <p:spPr>
          <a:xfrm>
            <a:off x="6725638" y="3799190"/>
            <a:ext cx="2304183" cy="654919"/>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Trésorerie</a:t>
            </a:r>
          </a:p>
          <a:p>
            <a:pPr>
              <a:spcBef>
                <a:spcPts val="600"/>
              </a:spcBef>
            </a:pPr>
            <a:r>
              <a:rPr lang="fr-CI" sz="1200" noProof="0" b="0">
                <a:latin typeface="Helvetica" panose="020B0604020202020204" pitchFamily="34" charset="0"/>
                <a:cs typeface="Helvetica" panose="020B0604020202020204" pitchFamily="34" charset="0"/>
              </a:rPr>
              <a:t>Argent disponible tout de suite ou presque : caisse, comptes en banque, dépôts à terme.</a:t>
            </a:r>
          </a:p>
        </p:txBody>
      </p:sp>
      <p:cxnSp>
        <p:nvCxnSpPr>
          <p:cNvPr id="11" name="Straight Connector 59">
            <a:extLst>
              <a:ext uri="{FF2B5EF4-FFF2-40B4-BE49-F238E27FC236}">
                <a16:creationId xmlns:a16="http://schemas.microsoft.com/office/drawing/2014/main" id="{B837FEE1-6F73-8BCD-FE32-7B970AB912B9}"/>
              </a:ext>
            </a:extLst>
          </p:cNvPr>
          <p:cNvCxnSpPr/>
          <p:nvPr/>
        </p:nvCxnSpPr>
        <p:spPr>
          <a:xfrm>
            <a:off x="6725637" y="4046526"/>
            <a:ext cx="2223818"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2" name="Rounded Rectangle 5">
            <a:extLst>
              <a:ext uri="{FF2B5EF4-FFF2-40B4-BE49-F238E27FC236}">
                <a16:creationId xmlns:a16="http://schemas.microsoft.com/office/drawing/2014/main" id="{F4681A56-7E9F-9A36-2D0F-B0DE5726AF2E}"/>
              </a:ext>
            </a:extLst>
          </p:cNvPr>
          <p:cNvSpPr/>
          <p:nvPr/>
        </p:nvSpPr>
        <p:spPr>
          <a:xfrm flipV="1">
            <a:off x="2851616" y="3585630"/>
            <a:ext cx="3540335" cy="2211916"/>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13" name="Rectangle 12">
            <a:extLst>
              <a:ext uri="{FF2B5EF4-FFF2-40B4-BE49-F238E27FC236}">
                <a16:creationId xmlns:a16="http://schemas.microsoft.com/office/drawing/2014/main" id="{1F18419A-23F6-2CD0-B648-53C2736789A0}"/>
              </a:ext>
            </a:extLst>
          </p:cNvPr>
          <p:cNvSpPr/>
          <p:nvPr/>
        </p:nvSpPr>
        <p:spPr>
          <a:xfrm>
            <a:off x="3806664" y="3779137"/>
            <a:ext cx="2395004" cy="800458"/>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Emplois longs</a:t>
            </a:r>
          </a:p>
          <a:p>
            <a:pPr>
              <a:spcBef>
                <a:spcPts val="600"/>
              </a:spcBef>
            </a:pPr>
            <a:r>
              <a:rPr lang="fr-CI" sz="1200" noProof="0" b="0">
                <a:latin typeface="Helvetica" panose="020B0604020202020204" pitchFamily="34" charset="0"/>
                <a:cs typeface="Helvetica" panose="020B0604020202020204" pitchFamily="34" charset="0"/>
              </a:rPr>
              <a:t>Argent placé pour longtemps : terrains, bâtiments, prêts, avances aux structures liées.</a:t>
            </a:r>
          </a:p>
        </p:txBody>
      </p:sp>
      <p:cxnSp>
        <p:nvCxnSpPr>
          <p:cNvPr id="14" name="Straight Connector 67">
            <a:extLst>
              <a:ext uri="{FF2B5EF4-FFF2-40B4-BE49-F238E27FC236}">
                <a16:creationId xmlns:a16="http://schemas.microsoft.com/office/drawing/2014/main" id="{1187744F-1BE7-3A28-DBC2-3AB195946082}"/>
              </a:ext>
            </a:extLst>
          </p:cNvPr>
          <p:cNvCxnSpPr/>
          <p:nvPr/>
        </p:nvCxnSpPr>
        <p:spPr>
          <a:xfrm>
            <a:off x="3806664" y="4026471"/>
            <a:ext cx="2223818"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pic>
        <p:nvPicPr>
          <p:cNvPr id="20" name="Image 19">
            <a:extLst>
              <a:ext uri="{FF2B5EF4-FFF2-40B4-BE49-F238E27FC236}">
                <a16:creationId xmlns:a16="http://schemas.microsoft.com/office/drawing/2014/main" id="{DB69389C-778C-9663-739F-408FE8EC148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rot="19997307">
            <a:off x="3353573" y="1583438"/>
            <a:ext cx="372797" cy="372797"/>
          </a:xfrm>
          <a:prstGeom prst="rect">
            <a:avLst/>
          </a:prstGeom>
        </p:spPr>
      </p:pic>
      <p:pic>
        <p:nvPicPr>
          <p:cNvPr id="21" name="Image 20">
            <a:extLst>
              <a:ext uri="{FF2B5EF4-FFF2-40B4-BE49-F238E27FC236}">
                <a16:creationId xmlns:a16="http://schemas.microsoft.com/office/drawing/2014/main" id="{DC22CFF3-27E2-3D77-5D88-C5CF6EB0530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072301" y="3639438"/>
            <a:ext cx="398425" cy="407086"/>
          </a:xfrm>
          <a:prstGeom prst="rect">
            <a:avLst/>
          </a:prstGeom>
        </p:spPr>
      </p:pic>
      <p:pic>
        <p:nvPicPr>
          <p:cNvPr id="22" name="Image 21">
            <a:extLst>
              <a:ext uri="{FF2B5EF4-FFF2-40B4-BE49-F238E27FC236}">
                <a16:creationId xmlns:a16="http://schemas.microsoft.com/office/drawing/2014/main" id="{6B846A96-4C92-37D4-AE1E-706483CE7BB4}"/>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8278416" y="1993990"/>
            <a:ext cx="331566" cy="331566"/>
          </a:xfrm>
          <a:prstGeom prst="rect">
            <a:avLst/>
          </a:prstGeom>
        </p:spPr>
      </p:pic>
      <p:pic>
        <p:nvPicPr>
          <p:cNvPr id="23" name="Image 22">
            <a:extLst>
              <a:ext uri="{FF2B5EF4-FFF2-40B4-BE49-F238E27FC236}">
                <a16:creationId xmlns:a16="http://schemas.microsoft.com/office/drawing/2014/main" id="{78F0071B-D442-D38C-01FF-77DDC6787EAE}"/>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3131664" y="3693061"/>
            <a:ext cx="573169" cy="579832"/>
          </a:xfrm>
          <a:prstGeom prst="rect">
            <a:avLst/>
          </a:prstGeom>
        </p:spPr>
      </p:pic>
      <p:sp>
        <p:nvSpPr>
          <p:cNvPr id="24"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Lire un ratio : les tiroirs du bilan</a:t>
            </a:r>
          </a:p>
        </p:txBody>
      </p:sp>
      <p:sp>
        <p:nvSpPr>
          <p:cNvPr id="25"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compte est rangé dans un tiroir selon le temps que met l'argent à entrer ou sortir</a:t>
            </a:r>
          </a:p>
        </p:txBody>
      </p:sp>
      <p:sp>
        <p:nvSpPr>
          <p:cNvPr id="26"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Un ratio compare le contenu de deux tiroirs. Le classement des comptes décide donc du résultat</a:t>
            </a:r>
          </a:p>
        </p:txBody>
      </p:sp>
      <p:sp>
        <p:nvSpPr>
          <p:cNvPr id="27"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PCMS (structure des classes de comptes). Adenka</a:t>
            </a:r>
          </a:p>
        </p:txBody>
      </p:sp>
      <p:sp>
        <p:nvSpPr>
          <p:cNvPr id="28" name="TextBox 2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PCMS : plan comptable des mutuelles sociales</a:t>
            </a:r>
          </a:p>
        </p:txBody>
      </p:sp>
    </p:spTree>
    <p:extLst>
      <p:ext uri="{BB962C8B-B14F-4D97-AF65-F5344CB8AC3E}">
        <p14:creationId xmlns:p14="http://schemas.microsoft.com/office/powerpoint/2010/main" val="141916872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Deux lectures : comme le FPPN, puis retraitée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Trois groupes de comptes sont rangés dans un tiroir qui ne reflète pas leur nature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Adenka calcule d'abord chaque ratio avec les comptes tels qu'ils sont tenus, puis avec trois reclassements motivés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PCMS, fiches n° 1 et 25. Règlement d'exécution n° 004/2022/COM/UEMOA du 1er juin 2022, art. 3. Balances du FPPN. Classement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60 : Reclassements de la lecture retraitée</a:t>
            </a:r>
          </a:p>
        </p:txBody>
      </p:sp>
      <p:graphicFrame>
        <p:nvGraphicFramePr>
          <p:cNvPr id="32" name="Table 31"/>
          <p:cNvGraphicFramePr>
            <a:graphicFrameLocks noGrp="1"/>
          </p:cNvGraphicFramePr>
          <p:nvPr/>
        </p:nvGraphicFramePr>
        <p:xfrm>
          <a:off x="503999" y="1655999"/>
          <a:ext cx="11232000" cy="1739253"/>
        </p:xfrm>
        <a:graphic>
          <a:graphicData uri="http://schemas.openxmlformats.org/drawingml/2006/table">
            <a:tbl>
              <a:tblPr firstRow="0" bandRow="0">
                <a:tableStyleId>{5940675A-B579-460E-94D1-54222C63F5DA}</a:tableStyleId>
              </a:tblPr>
              <a:tblGrid>
                <a:gridCol w="2376000"/>
                <a:gridCol w="1944000"/>
                <a:gridCol w="1944000"/>
                <a:gridCol w="4968000"/>
              </a:tblGrid>
              <a:tr h="225250">
                <a:tc>
                  <a:txBody>
                    <a:bodyPr/>
                    <a:lstStyle/>
                    <a:p>
                      <a:pPr marL="0" indent="0" lvl="0">
                        <a:buNone/>
                      </a:pPr>
                      <a:r>
                        <a:rPr sz="11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Tiroir comme le FPPN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Tiroir retraité</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Raison du reclassement</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41195100, 41195200 : épargne PEP et EFC</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Dette à court terme (classe 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Ressource longue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L'épargne est un risque long (art. 3 du règlement d'exécution) : elle n'est pas exigible en totalité dans l'année.</a:t>
                      </a:r>
                    </a:p>
                  </a:txBody>
                  <a:tcPr marL="43200" marR="43200" marT="14400" marB="14400" anchor="ctr">
                    <a:solidFill>
                      <a:srgbClr val="FFFFFF"/>
                    </a:solidFill>
                  </a:tcPr>
                </a:tc>
              </a:tr>
              <a:tr h="560551">
                <a:tc>
                  <a:txBody>
                    <a:bodyPr/>
                    <a:lstStyle/>
                    <a:p>
                      <a:pPr marL="0" indent="0" lvl="0">
                        <a:buNone/>
                      </a:pPr>
                      <a:r>
                        <a:rPr sz="1100" b="1">
                          <a:solidFill>
                            <a:srgbClr val="060606"/>
                          </a:solidFill>
                          <a:latin typeface="Helvetica"/>
                        </a:rPr>
                        <a:t>47111100 à 47111105, 47111201, 485 : avances et créances durables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Créance à court terme (classe 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Emploi long</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Ces montants financent le CMP, le Grenier et l'Hôpital de la Police depuis plusieurs années, sans remboursement à court terme.</a:t>
                      </a:r>
                    </a:p>
                  </a:txBody>
                  <a:tcPr marL="43200" marR="43200" marT="14400" marB="14400" anchor="ctr">
                    <a:solidFill>
                      <a:srgbClr val="F2F2F2"/>
                    </a:solidFill>
                  </a:tcPr>
                </a:tc>
              </a:tr>
              <a:tr h="560551">
                <a:tc>
                  <a:txBody>
                    <a:bodyPr/>
                    <a:lstStyle/>
                    <a:p>
                      <a:pPr marL="0" indent="0" lvl="0">
                        <a:buNone/>
                      </a:pPr>
                      <a:r>
                        <a:rPr sz="1100" b="1">
                          <a:solidFill>
                            <a:srgbClr val="060606"/>
                          </a:solidFill>
                          <a:latin typeface="Helvetica"/>
                        </a:rPr>
                        <a:t>10620000 : réévaluation</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Réserve libre (libellé « Réserve disponible » en 2026)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Écart de réévaluation (terrain du siège selon le chef comptable)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 PCMS réserve le compte 106 aux écarts de réévaluation des immeubles, qui ne comptent pas dans la marge de solvabilité.</a:t>
                      </a:r>
                    </a:p>
                  </a:txBody>
                  <a:tcPr marL="43200" marR="43200" marT="14400" marB="14400" anchor="ctr">
                    <a:solidFill>
                      <a:srgbClr val="FFFFFF"/>
                    </a:solidFill>
                  </a:tcPr>
                </a:tc>
              </a:tr>
            </a:tbl>
          </a:graphicData>
        </a:graphic>
      </p:graphicFrame>
      <p:sp>
        <p:nvSpPr>
          <p:cNvPr id="33" name="TextBox 32"/>
          <p:cNvSpPr txBox="1"/>
          <p:nvPr/>
        </p:nvSpPr>
        <p:spPr>
          <a:xfrm>
            <a:off x="503999" y="3413255"/>
            <a:ext cx="11232000" cy="162000"/>
          </a:xfrm>
          <a:prstGeom prst="rect">
            <a:avLst/>
          </a:prstGeom>
          <a:noFill/>
        </p:spPr>
        <p:txBody>
          <a:bodyPr wrap="square" anchor="t" lIns="54000" rIns="54000"/>
          <a:lstStyle/>
          <a:p>
            <a:pPr algn="l"/>
            <a:r>
              <a:rPr sz="850" b="0">
                <a:solidFill>
                  <a:srgbClr val="53565A"/>
                </a:solidFill>
                <a:latin typeface="Helvetica"/>
              </a:rPr>
              <a:t>Valable pour : ratios de la Décision n° 05/2022 recalculés sur les balances. Statut opposable de 2022 à 2025, indicatif en 2020, 2021 et 2026.</a:t>
            </a:r>
          </a:p>
        </p:txBody>
      </p:sp>
      <p:sp>
        <p:nvSpPr>
          <p:cNvPr id="34" name="TextBox 33"/>
          <p:cNvSpPr txBox="1"/>
          <p:nvPr/>
        </p:nvSpPr>
        <p:spPr>
          <a:xfrm>
            <a:off x="503999" y="3701255"/>
            <a:ext cx="11232000" cy="2166744"/>
          </a:xfrm>
          <a:prstGeom prst="rect">
            <a:avLst/>
          </a:prstGeom>
          <a:noFill/>
        </p:spPr>
        <p:txBody>
          <a:bodyPr wrap="square" lIns="54000" rIns="54000"/>
          <a:lstStyle/>
          <a:p>
            <a:pPr algn="just">
              <a:spcAft>
                <a:spcPts val="600"/>
              </a:spcAft>
            </a:pPr>
            <a:r>
              <a:rPr sz="1300" b="1">
                <a:solidFill>
                  <a:srgbClr val="060606"/>
                </a:solidFill>
                <a:latin typeface="Helvetica"/>
              </a:rPr>
              <a:t>Les deux lectures encadrent la réalité.</a:t>
            </a:r>
            <a:r>
              <a:rPr sz="1300" b="0">
                <a:solidFill>
                  <a:srgbClr val="060606"/>
                </a:solidFill>
                <a:latin typeface="Helvetica"/>
              </a:rPr>
              <a:t> La lecture comme le FPPN est prudente pour l'épargne, mais optimiste pour les avances durables. La lecture retraitée corrige les deux.</a:t>
            </a:r>
          </a:p>
          <a:p>
            <a:pPr algn="just">
              <a:spcAft>
                <a:spcPts val="600"/>
              </a:spcAft>
            </a:pPr>
            <a:r>
              <a:rPr sz="1300" b="0">
                <a:solidFill>
                  <a:srgbClr val="060606"/>
                </a:solidFill>
                <a:latin typeface="Helvetica"/>
              </a:rPr>
              <a:t>La réponse définitive dépend de l'échéancier réel de l'épargne : les conditions de retrait et les âges des épargnants trancheront entre les deux lectures.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PEP : Plan Épargne Plus | EFC : entraide fin de carrière | CMP : Centre Médical du Policier (rapport de gestion 2023)</a:t>
            </a:r>
          </a:p>
        </p:txBody>
      </p:sp>
    </p:spTree>
    <p:extLst>
      <p:ext uri="{BB962C8B-B14F-4D97-AF65-F5344CB8AC3E}">
        <p14:creationId xmlns:p14="http://schemas.microsoft.com/office/powerpoint/2010/main" val="2023133667"/>
      </p:ext>
    </p:extLst>
  </p:cSld>
  <p:clrMapOvr>
    <a:masterClrMapping/>
  </p:clrMapOvr>
  <p:transition>
    <p:fade/>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Conforme ou non conforme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 ratio est conforme quand sa valeur respecte la norme chiffrée de la Décision n° 05/2022. Il est non conforme sinon. Pour une fourchette, une valeur au-dessus de la borne haute est signalée à part.</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En attente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 ratio est en attente quand une donnée nécessaire n'a pas été transmise : fichiers aller des postes 936 et 8Z6 (détenus par la direction du personnel de la Police), procès-verbaux, registre des contrôles, cotisation au FNG.</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À apprécier</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 ratio est à apprécier quand la norme n'est pas chiffrée : délai contractuel, objectif du plan stratégique, solde « avoisinant zéro », taux moyen du marché.</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Période jugée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Décision est entrée en vigueur le 1er juin 2022 : 2020 et 2021 sont indicatifs, comme les huit mois provisoires de 2026. Deux exercices non conformes de suite sont signalés, car l'article 84 du règlement n° 07/2009 prévoit alors le retrait d'agrément.</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Règle de statut</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statut de chaque ratio suit une règle écrite et vérifiable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statut compare la valeur calculée à la norme du texte. Il est jugé sur les exercices 2022 à 2025</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article 3. Règlement n° 07/2009/CM/UEMOA du 26 juin 2009, art. 84.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UEMOA : Union économique et monétaire ouest-africaine | FNG : fonds national de garantie | 936 : poste maladie | 8Z6 : poste décès</a:t>
            </a:r>
          </a:p>
        </p:txBody>
      </p:sp>
    </p:spTree>
    <p:extLst>
      <p:ext uri="{BB962C8B-B14F-4D97-AF65-F5344CB8AC3E}">
        <p14:creationId xmlns:p14="http://schemas.microsoft.com/office/powerpoint/2010/main" val="249838285"/>
      </p:ext>
    </p:extLst>
  </p:cSld>
  <p:clrMapOvr>
    <a:masterClrMapping/>
  </p:clrMapOvr>
  <p:transition>
    <p:fade/>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1" name="ZoneTexte 20">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9" name="Google Shape;8472;p64"/>
          <p:cNvSpPr/>
          <p:nvPr/>
        </p:nvSpPr>
        <p:spPr>
          <a:xfrm>
            <a:off x="6398615" y="4634460"/>
            <a:ext cx="27543" cy="15536"/>
          </a:xfrm>
          <a:custGeom>
            <a:avLst/>
            <a:gdLst/>
            <a:ahLst/>
            <a:cxnLst/>
            <a:rect l="l" t="t" r="r" b="b"/>
            <a:pathLst>
              <a:path w="718" h="405" extrusionOk="0">
                <a:moveTo>
                  <a:pt x="0" y="1"/>
                </a:moveTo>
                <a:cubicBezTo>
                  <a:pt x="157" y="92"/>
                  <a:pt x="313" y="196"/>
                  <a:pt x="469" y="300"/>
                </a:cubicBezTo>
                <a:cubicBezTo>
                  <a:pt x="535" y="327"/>
                  <a:pt x="587" y="379"/>
                  <a:pt x="665" y="392"/>
                </a:cubicBezTo>
                <a:cubicBezTo>
                  <a:pt x="678" y="405"/>
                  <a:pt x="691" y="405"/>
                  <a:pt x="717" y="405"/>
                </a:cubicBezTo>
                <a:cubicBezTo>
                  <a:pt x="482" y="261"/>
                  <a:pt x="248" y="118"/>
                  <a:pt x="0" y="1"/>
                </a:cubicBezTo>
                <a:close/>
              </a:path>
            </a:pathLst>
          </a:custGeom>
          <a:solidFill>
            <a:srgbClr val="BA6C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Google Shape;6489;p32"/>
          <p:cNvSpPr/>
          <p:nvPr/>
        </p:nvSpPr>
        <p:spPr>
          <a:xfrm rot="6194666">
            <a:off x="7534623" y="3415586"/>
            <a:ext cx="510848" cy="1956086"/>
          </a:xfrm>
          <a:custGeom>
            <a:avLst/>
            <a:gdLst/>
            <a:ahLst/>
            <a:cxnLst/>
            <a:rect l="l" t="t" r="r" b="b"/>
            <a:pathLst>
              <a:path w="5410" h="10537" extrusionOk="0">
                <a:moveTo>
                  <a:pt x="4708" y="1"/>
                </a:moveTo>
                <a:cubicBezTo>
                  <a:pt x="4660" y="1"/>
                  <a:pt x="4607" y="10"/>
                  <a:pt x="4549" y="28"/>
                </a:cubicBezTo>
                <a:cubicBezTo>
                  <a:pt x="4184" y="145"/>
                  <a:pt x="3872" y="354"/>
                  <a:pt x="3533" y="523"/>
                </a:cubicBezTo>
                <a:cubicBezTo>
                  <a:pt x="2021" y="1318"/>
                  <a:pt x="887" y="2478"/>
                  <a:pt x="274" y="4095"/>
                </a:cubicBezTo>
                <a:cubicBezTo>
                  <a:pt x="65" y="4616"/>
                  <a:pt x="13" y="5164"/>
                  <a:pt x="0" y="5985"/>
                </a:cubicBezTo>
                <a:cubicBezTo>
                  <a:pt x="13" y="7067"/>
                  <a:pt x="600" y="8110"/>
                  <a:pt x="1630" y="8931"/>
                </a:cubicBezTo>
                <a:cubicBezTo>
                  <a:pt x="1825" y="9087"/>
                  <a:pt x="2034" y="9231"/>
                  <a:pt x="2242" y="9387"/>
                </a:cubicBezTo>
                <a:cubicBezTo>
                  <a:pt x="2881" y="9895"/>
                  <a:pt x="3624" y="10221"/>
                  <a:pt x="4393" y="10469"/>
                </a:cubicBezTo>
                <a:cubicBezTo>
                  <a:pt x="4517" y="10503"/>
                  <a:pt x="4651" y="10537"/>
                  <a:pt x="4786" y="10537"/>
                </a:cubicBezTo>
                <a:cubicBezTo>
                  <a:pt x="4807" y="10537"/>
                  <a:pt x="4828" y="10536"/>
                  <a:pt x="4849" y="10534"/>
                </a:cubicBezTo>
                <a:cubicBezTo>
                  <a:pt x="5136" y="10521"/>
                  <a:pt x="5358" y="10326"/>
                  <a:pt x="5384" y="10065"/>
                </a:cubicBezTo>
                <a:cubicBezTo>
                  <a:pt x="5410" y="9752"/>
                  <a:pt x="5253" y="9504"/>
                  <a:pt x="4967" y="9439"/>
                </a:cubicBezTo>
                <a:cubicBezTo>
                  <a:pt x="4693" y="9387"/>
                  <a:pt x="4419" y="9348"/>
                  <a:pt x="4158" y="9296"/>
                </a:cubicBezTo>
                <a:cubicBezTo>
                  <a:pt x="4080" y="9283"/>
                  <a:pt x="4002" y="9270"/>
                  <a:pt x="3924" y="9244"/>
                </a:cubicBezTo>
                <a:cubicBezTo>
                  <a:pt x="3259" y="8957"/>
                  <a:pt x="2594" y="8631"/>
                  <a:pt x="2008" y="8188"/>
                </a:cubicBezTo>
                <a:cubicBezTo>
                  <a:pt x="1356" y="7706"/>
                  <a:pt x="1134" y="6989"/>
                  <a:pt x="1056" y="6219"/>
                </a:cubicBezTo>
                <a:cubicBezTo>
                  <a:pt x="939" y="5242"/>
                  <a:pt x="1238" y="4382"/>
                  <a:pt x="1812" y="3586"/>
                </a:cubicBezTo>
                <a:cubicBezTo>
                  <a:pt x="2281" y="2935"/>
                  <a:pt x="2738" y="2283"/>
                  <a:pt x="3298" y="1709"/>
                </a:cubicBezTo>
                <a:cubicBezTo>
                  <a:pt x="3559" y="1462"/>
                  <a:pt x="3819" y="1240"/>
                  <a:pt x="4184" y="1162"/>
                </a:cubicBezTo>
                <a:cubicBezTo>
                  <a:pt x="4406" y="1110"/>
                  <a:pt x="4602" y="992"/>
                  <a:pt x="4797" y="862"/>
                </a:cubicBezTo>
                <a:lnTo>
                  <a:pt x="4784" y="862"/>
                </a:lnTo>
                <a:cubicBezTo>
                  <a:pt x="5019" y="706"/>
                  <a:pt x="5097" y="445"/>
                  <a:pt x="4980" y="184"/>
                </a:cubicBezTo>
                <a:cubicBezTo>
                  <a:pt x="4923" y="62"/>
                  <a:pt x="4833" y="1"/>
                  <a:pt x="4708" y="1"/>
                </a:cubicBezTo>
                <a:close/>
              </a:path>
            </a:pathLst>
          </a:custGeom>
          <a:solidFill>
            <a:srgbClr val="EFAC62"/>
          </a:solidFill>
          <a:ln w="0">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6" name="Google Shape;6489;p32"/>
          <p:cNvSpPr/>
          <p:nvPr/>
        </p:nvSpPr>
        <p:spPr>
          <a:xfrm rot="14662897">
            <a:off x="7323071" y="1857476"/>
            <a:ext cx="426766" cy="1747435"/>
          </a:xfrm>
          <a:custGeom>
            <a:avLst/>
            <a:gdLst/>
            <a:ahLst/>
            <a:cxnLst/>
            <a:rect l="l" t="t" r="r" b="b"/>
            <a:pathLst>
              <a:path w="5410" h="10537" extrusionOk="0">
                <a:moveTo>
                  <a:pt x="4708" y="1"/>
                </a:moveTo>
                <a:cubicBezTo>
                  <a:pt x="4660" y="1"/>
                  <a:pt x="4607" y="10"/>
                  <a:pt x="4549" y="28"/>
                </a:cubicBezTo>
                <a:cubicBezTo>
                  <a:pt x="4184" y="145"/>
                  <a:pt x="3872" y="354"/>
                  <a:pt x="3533" y="523"/>
                </a:cubicBezTo>
                <a:cubicBezTo>
                  <a:pt x="2021" y="1318"/>
                  <a:pt x="887" y="2478"/>
                  <a:pt x="274" y="4095"/>
                </a:cubicBezTo>
                <a:cubicBezTo>
                  <a:pt x="65" y="4616"/>
                  <a:pt x="13" y="5164"/>
                  <a:pt x="0" y="5985"/>
                </a:cubicBezTo>
                <a:cubicBezTo>
                  <a:pt x="13" y="7067"/>
                  <a:pt x="600" y="8110"/>
                  <a:pt x="1630" y="8931"/>
                </a:cubicBezTo>
                <a:cubicBezTo>
                  <a:pt x="1825" y="9087"/>
                  <a:pt x="2034" y="9231"/>
                  <a:pt x="2242" y="9387"/>
                </a:cubicBezTo>
                <a:cubicBezTo>
                  <a:pt x="2881" y="9895"/>
                  <a:pt x="3624" y="10221"/>
                  <a:pt x="4393" y="10469"/>
                </a:cubicBezTo>
                <a:cubicBezTo>
                  <a:pt x="4517" y="10503"/>
                  <a:pt x="4651" y="10537"/>
                  <a:pt x="4786" y="10537"/>
                </a:cubicBezTo>
                <a:cubicBezTo>
                  <a:pt x="4807" y="10537"/>
                  <a:pt x="4828" y="10536"/>
                  <a:pt x="4849" y="10534"/>
                </a:cubicBezTo>
                <a:cubicBezTo>
                  <a:pt x="5136" y="10521"/>
                  <a:pt x="5358" y="10326"/>
                  <a:pt x="5384" y="10065"/>
                </a:cubicBezTo>
                <a:cubicBezTo>
                  <a:pt x="5410" y="9752"/>
                  <a:pt x="5253" y="9504"/>
                  <a:pt x="4967" y="9439"/>
                </a:cubicBezTo>
                <a:cubicBezTo>
                  <a:pt x="4693" y="9387"/>
                  <a:pt x="4419" y="9348"/>
                  <a:pt x="4158" y="9296"/>
                </a:cubicBezTo>
                <a:cubicBezTo>
                  <a:pt x="4080" y="9283"/>
                  <a:pt x="4002" y="9270"/>
                  <a:pt x="3924" y="9244"/>
                </a:cubicBezTo>
                <a:cubicBezTo>
                  <a:pt x="3259" y="8957"/>
                  <a:pt x="2594" y="8631"/>
                  <a:pt x="2008" y="8188"/>
                </a:cubicBezTo>
                <a:cubicBezTo>
                  <a:pt x="1356" y="7706"/>
                  <a:pt x="1134" y="6989"/>
                  <a:pt x="1056" y="6219"/>
                </a:cubicBezTo>
                <a:cubicBezTo>
                  <a:pt x="939" y="5242"/>
                  <a:pt x="1238" y="4382"/>
                  <a:pt x="1812" y="3586"/>
                </a:cubicBezTo>
                <a:cubicBezTo>
                  <a:pt x="2281" y="2935"/>
                  <a:pt x="2738" y="2283"/>
                  <a:pt x="3298" y="1709"/>
                </a:cubicBezTo>
                <a:cubicBezTo>
                  <a:pt x="3559" y="1462"/>
                  <a:pt x="3819" y="1240"/>
                  <a:pt x="4184" y="1162"/>
                </a:cubicBezTo>
                <a:cubicBezTo>
                  <a:pt x="4406" y="1110"/>
                  <a:pt x="4602" y="992"/>
                  <a:pt x="4797" y="862"/>
                </a:cubicBezTo>
                <a:lnTo>
                  <a:pt x="4784" y="862"/>
                </a:lnTo>
                <a:cubicBezTo>
                  <a:pt x="5019" y="706"/>
                  <a:pt x="5097" y="445"/>
                  <a:pt x="4980" y="184"/>
                </a:cubicBezTo>
                <a:cubicBezTo>
                  <a:pt x="4923" y="62"/>
                  <a:pt x="4833" y="1"/>
                  <a:pt x="4708" y="1"/>
                </a:cubicBezTo>
                <a:close/>
              </a:path>
            </a:pathLst>
          </a:custGeom>
          <a:solidFill>
            <a:srgbClr val="E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7" name="Google Shape;8472;p64"/>
          <p:cNvSpPr/>
          <p:nvPr/>
        </p:nvSpPr>
        <p:spPr>
          <a:xfrm>
            <a:off x="6398615" y="4634460"/>
            <a:ext cx="27543" cy="15536"/>
          </a:xfrm>
          <a:custGeom>
            <a:avLst/>
            <a:gdLst/>
            <a:ahLst/>
            <a:cxnLst/>
            <a:rect l="l" t="t" r="r" b="b"/>
            <a:pathLst>
              <a:path w="718" h="405" extrusionOk="0">
                <a:moveTo>
                  <a:pt x="0" y="1"/>
                </a:moveTo>
                <a:cubicBezTo>
                  <a:pt x="157" y="92"/>
                  <a:pt x="313" y="196"/>
                  <a:pt x="469" y="300"/>
                </a:cubicBezTo>
                <a:cubicBezTo>
                  <a:pt x="535" y="327"/>
                  <a:pt x="587" y="379"/>
                  <a:pt x="665" y="392"/>
                </a:cubicBezTo>
                <a:cubicBezTo>
                  <a:pt x="678" y="405"/>
                  <a:pt x="691" y="405"/>
                  <a:pt x="717" y="405"/>
                </a:cubicBezTo>
                <a:cubicBezTo>
                  <a:pt x="482" y="261"/>
                  <a:pt x="248" y="118"/>
                  <a:pt x="0" y="1"/>
                </a:cubicBezTo>
                <a:close/>
              </a:path>
            </a:pathLst>
          </a:custGeom>
          <a:solidFill>
            <a:srgbClr val="BA6C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8" name="Google Shape;6489;p32"/>
          <p:cNvSpPr/>
          <p:nvPr/>
        </p:nvSpPr>
        <p:spPr>
          <a:xfrm rot="7166758">
            <a:off x="4528324" y="1602745"/>
            <a:ext cx="510848" cy="2185420"/>
          </a:xfrm>
          <a:custGeom>
            <a:avLst/>
            <a:gdLst/>
            <a:ahLst/>
            <a:cxnLst/>
            <a:rect l="l" t="t" r="r" b="b"/>
            <a:pathLst>
              <a:path w="5410" h="10537" extrusionOk="0">
                <a:moveTo>
                  <a:pt x="4708" y="1"/>
                </a:moveTo>
                <a:cubicBezTo>
                  <a:pt x="4660" y="1"/>
                  <a:pt x="4607" y="10"/>
                  <a:pt x="4549" y="28"/>
                </a:cubicBezTo>
                <a:cubicBezTo>
                  <a:pt x="4184" y="145"/>
                  <a:pt x="3872" y="354"/>
                  <a:pt x="3533" y="523"/>
                </a:cubicBezTo>
                <a:cubicBezTo>
                  <a:pt x="2021" y="1318"/>
                  <a:pt x="887" y="2478"/>
                  <a:pt x="274" y="4095"/>
                </a:cubicBezTo>
                <a:cubicBezTo>
                  <a:pt x="65" y="4616"/>
                  <a:pt x="13" y="5164"/>
                  <a:pt x="0" y="5985"/>
                </a:cubicBezTo>
                <a:cubicBezTo>
                  <a:pt x="13" y="7067"/>
                  <a:pt x="600" y="8110"/>
                  <a:pt x="1630" y="8931"/>
                </a:cubicBezTo>
                <a:cubicBezTo>
                  <a:pt x="1825" y="9087"/>
                  <a:pt x="2034" y="9231"/>
                  <a:pt x="2242" y="9387"/>
                </a:cubicBezTo>
                <a:cubicBezTo>
                  <a:pt x="2881" y="9895"/>
                  <a:pt x="3624" y="10221"/>
                  <a:pt x="4393" y="10469"/>
                </a:cubicBezTo>
                <a:cubicBezTo>
                  <a:pt x="4517" y="10503"/>
                  <a:pt x="4651" y="10537"/>
                  <a:pt x="4786" y="10537"/>
                </a:cubicBezTo>
                <a:cubicBezTo>
                  <a:pt x="4807" y="10537"/>
                  <a:pt x="4828" y="10536"/>
                  <a:pt x="4849" y="10534"/>
                </a:cubicBezTo>
                <a:cubicBezTo>
                  <a:pt x="5136" y="10521"/>
                  <a:pt x="5358" y="10326"/>
                  <a:pt x="5384" y="10065"/>
                </a:cubicBezTo>
                <a:cubicBezTo>
                  <a:pt x="5410" y="9752"/>
                  <a:pt x="5253" y="9504"/>
                  <a:pt x="4967" y="9439"/>
                </a:cubicBezTo>
                <a:cubicBezTo>
                  <a:pt x="4693" y="9387"/>
                  <a:pt x="4419" y="9348"/>
                  <a:pt x="4158" y="9296"/>
                </a:cubicBezTo>
                <a:cubicBezTo>
                  <a:pt x="4080" y="9283"/>
                  <a:pt x="4002" y="9270"/>
                  <a:pt x="3924" y="9244"/>
                </a:cubicBezTo>
                <a:cubicBezTo>
                  <a:pt x="3259" y="8957"/>
                  <a:pt x="2594" y="8631"/>
                  <a:pt x="2008" y="8188"/>
                </a:cubicBezTo>
                <a:cubicBezTo>
                  <a:pt x="1356" y="7706"/>
                  <a:pt x="1134" y="6989"/>
                  <a:pt x="1056" y="6219"/>
                </a:cubicBezTo>
                <a:cubicBezTo>
                  <a:pt x="939" y="5242"/>
                  <a:pt x="1238" y="4382"/>
                  <a:pt x="1812" y="3586"/>
                </a:cubicBezTo>
                <a:cubicBezTo>
                  <a:pt x="2281" y="2935"/>
                  <a:pt x="2738" y="2283"/>
                  <a:pt x="3298" y="1709"/>
                </a:cubicBezTo>
                <a:cubicBezTo>
                  <a:pt x="3559" y="1462"/>
                  <a:pt x="3819" y="1240"/>
                  <a:pt x="4184" y="1162"/>
                </a:cubicBezTo>
                <a:cubicBezTo>
                  <a:pt x="4406" y="1110"/>
                  <a:pt x="4602" y="992"/>
                  <a:pt x="4797" y="862"/>
                </a:cubicBezTo>
                <a:lnTo>
                  <a:pt x="4784" y="862"/>
                </a:lnTo>
                <a:cubicBezTo>
                  <a:pt x="5019" y="706"/>
                  <a:pt x="5097" y="445"/>
                  <a:pt x="4980" y="184"/>
                </a:cubicBezTo>
                <a:cubicBezTo>
                  <a:pt x="4923" y="62"/>
                  <a:pt x="4833" y="1"/>
                  <a:pt x="4708" y="1"/>
                </a:cubicBezTo>
                <a:close/>
              </a:path>
            </a:pathLst>
          </a:custGeom>
          <a:solidFill>
            <a:srgbClr val="EFAC62"/>
          </a:solidFill>
          <a:ln w="0">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0" name="Google Shape;6489;p32"/>
          <p:cNvSpPr/>
          <p:nvPr/>
        </p:nvSpPr>
        <p:spPr>
          <a:xfrm rot="15357084">
            <a:off x="4507070" y="3638509"/>
            <a:ext cx="510848" cy="1998266"/>
          </a:xfrm>
          <a:custGeom>
            <a:avLst/>
            <a:gdLst/>
            <a:ahLst/>
            <a:cxnLst/>
            <a:rect l="l" t="t" r="r" b="b"/>
            <a:pathLst>
              <a:path w="5410" h="10537" extrusionOk="0">
                <a:moveTo>
                  <a:pt x="4708" y="1"/>
                </a:moveTo>
                <a:cubicBezTo>
                  <a:pt x="4660" y="1"/>
                  <a:pt x="4607" y="10"/>
                  <a:pt x="4549" y="28"/>
                </a:cubicBezTo>
                <a:cubicBezTo>
                  <a:pt x="4184" y="145"/>
                  <a:pt x="3872" y="354"/>
                  <a:pt x="3533" y="523"/>
                </a:cubicBezTo>
                <a:cubicBezTo>
                  <a:pt x="2021" y="1318"/>
                  <a:pt x="887" y="2478"/>
                  <a:pt x="274" y="4095"/>
                </a:cubicBezTo>
                <a:cubicBezTo>
                  <a:pt x="65" y="4616"/>
                  <a:pt x="13" y="5164"/>
                  <a:pt x="0" y="5985"/>
                </a:cubicBezTo>
                <a:cubicBezTo>
                  <a:pt x="13" y="7067"/>
                  <a:pt x="600" y="8110"/>
                  <a:pt x="1630" y="8931"/>
                </a:cubicBezTo>
                <a:cubicBezTo>
                  <a:pt x="1825" y="9087"/>
                  <a:pt x="2034" y="9231"/>
                  <a:pt x="2242" y="9387"/>
                </a:cubicBezTo>
                <a:cubicBezTo>
                  <a:pt x="2881" y="9895"/>
                  <a:pt x="3624" y="10221"/>
                  <a:pt x="4393" y="10469"/>
                </a:cubicBezTo>
                <a:cubicBezTo>
                  <a:pt x="4517" y="10503"/>
                  <a:pt x="4651" y="10537"/>
                  <a:pt x="4786" y="10537"/>
                </a:cubicBezTo>
                <a:cubicBezTo>
                  <a:pt x="4807" y="10537"/>
                  <a:pt x="4828" y="10536"/>
                  <a:pt x="4849" y="10534"/>
                </a:cubicBezTo>
                <a:cubicBezTo>
                  <a:pt x="5136" y="10521"/>
                  <a:pt x="5358" y="10326"/>
                  <a:pt x="5384" y="10065"/>
                </a:cubicBezTo>
                <a:cubicBezTo>
                  <a:pt x="5410" y="9752"/>
                  <a:pt x="5253" y="9504"/>
                  <a:pt x="4967" y="9439"/>
                </a:cubicBezTo>
                <a:cubicBezTo>
                  <a:pt x="4693" y="9387"/>
                  <a:pt x="4419" y="9348"/>
                  <a:pt x="4158" y="9296"/>
                </a:cubicBezTo>
                <a:cubicBezTo>
                  <a:pt x="4080" y="9283"/>
                  <a:pt x="4002" y="9270"/>
                  <a:pt x="3924" y="9244"/>
                </a:cubicBezTo>
                <a:cubicBezTo>
                  <a:pt x="3259" y="8957"/>
                  <a:pt x="2594" y="8631"/>
                  <a:pt x="2008" y="8188"/>
                </a:cubicBezTo>
                <a:cubicBezTo>
                  <a:pt x="1356" y="7706"/>
                  <a:pt x="1134" y="6989"/>
                  <a:pt x="1056" y="6219"/>
                </a:cubicBezTo>
                <a:cubicBezTo>
                  <a:pt x="939" y="5242"/>
                  <a:pt x="1238" y="4382"/>
                  <a:pt x="1812" y="3586"/>
                </a:cubicBezTo>
                <a:cubicBezTo>
                  <a:pt x="2281" y="2935"/>
                  <a:pt x="2738" y="2283"/>
                  <a:pt x="3298" y="1709"/>
                </a:cubicBezTo>
                <a:cubicBezTo>
                  <a:pt x="3559" y="1462"/>
                  <a:pt x="3819" y="1240"/>
                  <a:pt x="4184" y="1162"/>
                </a:cubicBezTo>
                <a:cubicBezTo>
                  <a:pt x="4406" y="1110"/>
                  <a:pt x="4602" y="992"/>
                  <a:pt x="4797" y="862"/>
                </a:cubicBezTo>
                <a:lnTo>
                  <a:pt x="4784" y="862"/>
                </a:lnTo>
                <a:cubicBezTo>
                  <a:pt x="5019" y="706"/>
                  <a:pt x="5097" y="445"/>
                  <a:pt x="4980" y="184"/>
                </a:cubicBezTo>
                <a:cubicBezTo>
                  <a:pt x="4923" y="62"/>
                  <a:pt x="4833" y="1"/>
                  <a:pt x="4708" y="1"/>
                </a:cubicBezTo>
                <a:close/>
              </a:path>
            </a:pathLst>
          </a:custGeom>
          <a:solidFill>
            <a:srgbClr val="E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1" name="Rectangle 30"/>
          <p:cNvSpPr/>
          <p:nvPr/>
        </p:nvSpPr>
        <p:spPr>
          <a:xfrm>
            <a:off x="8333454" y="1834006"/>
            <a:ext cx="3220254" cy="1083627"/>
          </a:xfrm>
          <a:prstGeom prst="rect">
            <a:avLst/>
          </a:prstGeom>
        </p:spPr>
        <p:txBody>
          <a:bodyPr wrap="square">
            <a:spAutoFit/>
          </a:bodyPr>
          <a:lstStyle/>
          <a:p>
            <a:pPr lvl="0">
              <a:lnSpc>
                <a:spcPct val="110000"/>
              </a:lnSpc>
            </a:pPr>
            <a:r>
              <a:rPr lang="fr-CI" sz="14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Réserves et fonds propres</a:t>
            </a:r>
            <a:endParaRPr lang="fr-CI" sz="16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endParaRPr>
          </a:p>
          <a:p>
            <a:r>
              <a:rPr lang="fr-CI" sz="1150" noProof="0" b="0">
                <a:latin typeface="Helvetica" panose="020B0604020202020204" pitchFamily="34" charset="0"/>
                <a:ea typeface="Open Sans Light" panose="020B0306030504020204" pitchFamily="34" charset="0"/>
                <a:cs typeface="Helvetica" panose="020B0604020202020204" pitchFamily="34" charset="0"/>
              </a:rPr>
              <a:t>Réserve obligatoire, fonds propres et assimilés, fonds des risques longs : ces ratios disent si le FPPN a mis de côté assez de ressources propres.</a:t>
            </a:r>
            <a:endParaRPr lang="fr-CI" sz="1600" noProof="0"/>
          </a:p>
        </p:txBody>
      </p:sp>
      <p:sp>
        <p:nvSpPr>
          <p:cNvPr id="32" name="Rectangle 31"/>
          <p:cNvSpPr/>
          <p:nvPr/>
        </p:nvSpPr>
        <p:spPr>
          <a:xfrm>
            <a:off x="327639" y="4236148"/>
            <a:ext cx="3220254" cy="1083627"/>
          </a:xfrm>
          <a:prstGeom prst="rect">
            <a:avLst/>
          </a:prstGeom>
        </p:spPr>
        <p:txBody>
          <a:bodyPr wrap="square">
            <a:spAutoFit/>
          </a:bodyPr>
          <a:lstStyle/>
          <a:p>
            <a:pPr lvl="0" algn="r">
              <a:lnSpc>
                <a:spcPct val="110000"/>
              </a:lnSpc>
            </a:pPr>
            <a:r>
              <a:rPr lang="fr-CI" sz="14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Liquidité et équilibre</a:t>
            </a:r>
            <a:endParaRPr lang="fr-CI" sz="16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endParaRPr>
          </a:p>
          <a:p>
            <a:pPr algn="r"/>
            <a:r>
              <a:rPr lang="fr-CI" sz="1150" noProof="0" b="0">
                <a:latin typeface="Helvetica" panose="020B0604020202020204" pitchFamily="34" charset="0"/>
                <a:ea typeface="Open Sans Light" panose="020B0306030504020204" pitchFamily="34" charset="0"/>
                <a:cs typeface="Helvetica" panose="020B0604020202020204" pitchFamily="34" charset="0"/>
              </a:rPr>
              <a:t>Liquidité, trésorerie à échéance et immédiate, équilibre stable, solvabilité de l'épargne : ces ratios disent si l'argent est disponible à temps.</a:t>
            </a:r>
            <a:endParaRPr lang="fr-CI" sz="1600" noProof="0"/>
          </a:p>
        </p:txBody>
      </p:sp>
      <p:sp>
        <p:nvSpPr>
          <p:cNvPr id="34" name="Rectangle 33"/>
          <p:cNvSpPr/>
          <p:nvPr/>
        </p:nvSpPr>
        <p:spPr>
          <a:xfrm>
            <a:off x="362962" y="1811347"/>
            <a:ext cx="3220254" cy="1083627"/>
          </a:xfrm>
          <a:prstGeom prst="rect">
            <a:avLst/>
          </a:prstGeom>
        </p:spPr>
        <p:txBody>
          <a:bodyPr wrap="square">
            <a:spAutoFit/>
          </a:bodyPr>
          <a:lstStyle/>
          <a:p>
            <a:pPr lvl="0" algn="r">
              <a:lnSpc>
                <a:spcPct val="110000"/>
              </a:lnSpc>
            </a:pPr>
            <a:r>
              <a:rPr lang="fr-CI" sz="14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Sinistralité et solvabilité</a:t>
            </a:r>
            <a:endParaRPr lang="fr-CI" sz="16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endParaRPr>
          </a:p>
          <a:p>
            <a:pPr algn="r"/>
            <a:r>
              <a:rPr lang="fr-CI" sz="1150" noProof="0" b="0">
                <a:latin typeface="Helvetica" panose="020B0604020202020204" pitchFamily="34" charset="0"/>
                <a:ea typeface="Open Sans Light" panose="020B0306030504020204" pitchFamily="34" charset="0"/>
                <a:cs typeface="Helvetica" panose="020B0604020202020204" pitchFamily="34" charset="0"/>
              </a:rPr>
              <a:t>Sinistralité, marge de solvabilité, autonomie financière, excédent net : ces ratios disent si les cotisations suffisent et si le FPPN peut absorber un choc.</a:t>
            </a:r>
            <a:endParaRPr lang="fr-CI" sz="1600" noProof="0">
              <a:solidFill>
                <a:schemeClr val="bg1"/>
              </a:solidFill>
            </a:endParaRPr>
          </a:p>
        </p:txBody>
      </p:sp>
      <p:sp>
        <p:nvSpPr>
          <p:cNvPr id="42" name="Rectangle 41"/>
          <p:cNvSpPr/>
          <p:nvPr/>
        </p:nvSpPr>
        <p:spPr>
          <a:xfrm>
            <a:off x="8677463" y="4236148"/>
            <a:ext cx="3220254" cy="1083627"/>
          </a:xfrm>
          <a:prstGeom prst="rect">
            <a:avLst/>
          </a:prstGeom>
        </p:spPr>
        <p:txBody>
          <a:bodyPr wrap="square">
            <a:spAutoFit/>
          </a:bodyPr>
          <a:lstStyle/>
          <a:p>
            <a:pPr lvl="0">
              <a:lnSpc>
                <a:spcPct val="110000"/>
              </a:lnSpc>
            </a:pPr>
            <a:r>
              <a:rPr lang="fr-CI" sz="14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Gestion et gouvernance</a:t>
            </a:r>
            <a:endParaRPr lang="fr-CI" sz="16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endParaRPr>
          </a:p>
          <a:p>
            <a:r>
              <a:rPr lang="fr-CI" sz="1150" noProof="0" b="0">
                <a:latin typeface="Helvetica" panose="020B0604020202020204" pitchFamily="34" charset="0"/>
                <a:ea typeface="Open Sans Light" panose="020B0306030504020204" pitchFamily="34" charset="0"/>
                <a:cs typeface="Helvetica" panose="020B0604020202020204" pitchFamily="34" charset="0"/>
              </a:rPr>
              <a:t>Frais, personnel, recouvrement, délais, contrôles, réunions des organes, FNG : ces ratios disent si l'organisation est efficace et contrôlée.</a:t>
            </a:r>
            <a:endParaRPr lang="fr-CI" sz="1600" noProof="0"/>
          </a:p>
        </p:txBody>
      </p:sp>
      <p:pic>
        <p:nvPicPr>
          <p:cNvPr id="43" name="Image 42"/>
          <p:cNvPicPr>
            <a:picLocks noChangeAspect="1"/>
          </p:cNvPicPr>
          <p:nvPr/>
        </p:nvPicPr>
        <p:blipFill rotWithShape="1">
          <a:blip r:embed="rId3">
            <a:extLst>
              <a:ext uri="{28A0092B-C50C-407E-A947-70E740481C1C}">
                <a14:useLocalDpi xmlns:a14="http://schemas.microsoft.com/office/drawing/2010/main" val="0"/>
              </a:ext>
            </a:extLst>
          </a:blip>
          <a:srcRect l="4165" t="11941" r="73679" b="13899"/>
          <a:stretch/>
        </p:blipFill>
        <p:spPr>
          <a:xfrm>
            <a:off x="5257860" y="2529185"/>
            <a:ext cx="2172929" cy="2231923"/>
          </a:xfrm>
          <a:prstGeom prst="rect">
            <a:avLst/>
          </a:prstGeom>
        </p:spPr>
      </p:pic>
      <p:sp>
        <p:nvSpPr>
          <p:cNvPr id="44"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Quatre familles de ratios</a:t>
            </a:r>
          </a:p>
        </p:txBody>
      </p:sp>
      <p:sp>
        <p:nvSpPr>
          <p:cNvPr id="45"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36 indicateurs examinés se regroupent en quatre familles, de la plus actuarielle à la gouvernance</a:t>
            </a:r>
          </a:p>
        </p:txBody>
      </p:sp>
      <p:sp>
        <p:nvSpPr>
          <p:cNvPr id="46"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L'ordre de priorité suit l'importance pour la protection des adhérents : solvabilité d'abord, gouvernance ensuite</a:t>
            </a:r>
          </a:p>
        </p:txBody>
      </p:sp>
      <p:sp>
        <p:nvSpPr>
          <p:cNvPr id="47"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Classement Adenka</a:t>
            </a:r>
          </a:p>
        </p:txBody>
      </p:sp>
      <p:sp>
        <p:nvSpPr>
          <p:cNvPr id="48" name="TextBox 4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FNG : fonds national de garantie</a:t>
            </a:r>
          </a:p>
        </p:txBody>
      </p:sp>
    </p:spTree>
    <p:extLst>
      <p:ext uri="{BB962C8B-B14F-4D97-AF65-F5344CB8AC3E}">
        <p14:creationId xmlns:p14="http://schemas.microsoft.com/office/powerpoint/2010/main" val="1762640310"/>
      </p:ext>
    </p:extLst>
  </p:cSld>
  <p:clrMapOvr>
    <a:masterClrMapping/>
  </p:clrMapOvr>
  <p:transition>
    <p:fade/>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Tableau de bord (1/4) : solvabilité et réserves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globale, les réserves, les fonds propres et la liquidité sont non conformes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Ratios de priorité actuarielle 1 à 9, lecture comme le FPPN. 2026 est indicatif</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61 : Tableau de bord des ratios prudentiels, priorités 1 à 9</a:t>
            </a:r>
          </a:p>
        </p:txBody>
      </p:sp>
      <p:graphicFrame>
        <p:nvGraphicFramePr>
          <p:cNvPr id="32" name="Table 31"/>
          <p:cNvGraphicFramePr>
            <a:graphicFrameLocks noGrp="1"/>
          </p:cNvGraphicFramePr>
          <p:nvPr/>
        </p:nvGraphicFramePr>
        <p:xfrm>
          <a:off x="503999" y="1655999"/>
          <a:ext cx="11232000" cy="1947680"/>
        </p:xfrm>
        <a:graphic>
          <a:graphicData uri="http://schemas.openxmlformats.org/drawingml/2006/table">
            <a:tbl>
              <a:tblPr firstRow="0" bandRow="0">
                <a:tableStyleId>{5940675A-B579-460E-94D1-54222C63F5DA}</a:tableStyleId>
              </a:tblPr>
              <a:tblGrid>
                <a:gridCol w="324000"/>
                <a:gridCol w="3024000"/>
                <a:gridCol w="1728000"/>
                <a:gridCol w="972000"/>
                <a:gridCol w="972000"/>
                <a:gridCol w="972000"/>
                <a:gridCol w="972000"/>
                <a:gridCol w="1044000"/>
                <a:gridCol w="1224000"/>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2026 (8 mois)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Statut</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sinistralité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Entre 70 % et 80 %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9,06 %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24,56 %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40,34 %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57,48 %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75,20 %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Marge de solvabilité disponible / exigée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6,65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6,70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7,22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7,77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7,15</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194768">
                <a:tc>
                  <a:txBody>
                    <a:bodyPr/>
                    <a:lstStyle/>
                    <a:p>
                      <a:pPr marL="0" indent="0" lvl="0">
                        <a:buNone/>
                      </a:pPr>
                      <a:r>
                        <a:rPr sz="9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de réserve obligatoire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Entre 6 et 9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-0,00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3,25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4,91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5,01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3,65 mois</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Ratio des fonds propres et assimilés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0,19</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0,22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0,17</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de liquidité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0,19</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Ratio d'équilibre stable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1,61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1,54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1,72</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d'autonomie financière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1,74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1,40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1,29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0,84</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194768">
                <a:tc>
                  <a:txBody>
                    <a:bodyPr/>
                    <a:lstStyle/>
                    <a:p>
                      <a:pPr marL="0" indent="0" lvl="0">
                        <a:buNone/>
                      </a:pPr>
                      <a:r>
                        <a:rPr sz="900" b="1">
                          <a:solidFill>
                            <a:srgbClr val="060606"/>
                          </a:solidFill>
                          <a:latin typeface="Helvetica"/>
                        </a:rPr>
                        <a:t>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d'excédent net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80,64 %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33,55 %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25,18 %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12,81 %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-18,45 %</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financement propre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100 %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240,20 %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146,82 %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132,48 %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113,47 %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84,54 %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bl>
          </a:graphicData>
        </a:graphic>
      </p:graphicFrame>
      <p:sp>
        <p:nvSpPr>
          <p:cNvPr id="33" name="TextBox 32"/>
          <p:cNvSpPr txBox="1"/>
          <p:nvPr/>
        </p:nvSpPr>
        <p:spPr>
          <a:xfrm>
            <a:off x="503999" y="3621686"/>
            <a:ext cx="11232000" cy="162000"/>
          </a:xfrm>
          <a:prstGeom prst="rect">
            <a:avLst/>
          </a:prstGeom>
          <a:noFill/>
        </p:spPr>
        <p:txBody>
          <a:bodyPr wrap="square" anchor="t" lIns="54000" rIns="54000"/>
          <a:lstStyle/>
          <a:p>
            <a:pPr algn="l"/>
            <a:r>
              <a:rPr sz="850" b="0">
                <a:solidFill>
                  <a:srgbClr val="53565A"/>
                </a:solidFill>
                <a:latin typeface="Helvetica"/>
              </a:rPr>
              <a:t>Valable pour : ratios de la Décision n° 05/2022 recalculés sur les balances. Statut opposable de 2022 à 2025, indicatif en 2020, 2021 et 2026.</a:t>
            </a:r>
          </a:p>
        </p:txBody>
      </p:sp>
      <p:sp>
        <p:nvSpPr>
          <p:cNvPr id="34" name="TextBox 33"/>
          <p:cNvSpPr txBox="1"/>
          <p:nvPr/>
        </p:nvSpPr>
        <p:spPr>
          <a:xfrm>
            <a:off x="503999" y="3909686"/>
            <a:ext cx="11232000" cy="1958313"/>
          </a:xfrm>
          <a:prstGeom prst="rect">
            <a:avLst/>
          </a:prstGeom>
          <a:noFill/>
        </p:spPr>
        <p:txBody>
          <a:bodyPr wrap="square" lIns="54000" rIns="54000"/>
          <a:lstStyle/>
          <a:p>
            <a:pPr algn="just">
              <a:spcAft>
                <a:spcPts val="600"/>
              </a:spcAft>
            </a:pPr>
            <a:r>
              <a:rPr sz="1300" b="1">
                <a:solidFill>
                  <a:srgbClr val="060606"/>
                </a:solidFill>
                <a:latin typeface="Helvetica"/>
              </a:rPr>
              <a:t>Six des neuf ratios prioritaires sont non conformes plusieurs années de suite.</a:t>
            </a:r>
            <a:r>
              <a:rPr sz="1300" b="0">
                <a:solidFill>
                  <a:srgbClr val="060606"/>
                </a:solidFill>
                <a:latin typeface="Helvetica"/>
              </a:rPr>
              <a:t> Seuls l'autonomie financière, le financement propre et la marge de solvabilité calculée comme le FPPN respectent la norme.</a:t>
            </a:r>
          </a:p>
          <a:p>
            <a:pPr algn="just">
              <a:spcAft>
                <a:spcPts val="600"/>
              </a:spcAft>
            </a:pPr>
            <a:r>
              <a:rPr sz="1300" b="0">
                <a:solidFill>
                  <a:srgbClr val="060606"/>
                </a:solidFill>
                <a:latin typeface="Helvetica"/>
              </a:rPr>
              <a:t>La non-conformité répétée de la réserve obligatoire, des fonds propres et de la liquidité expose le FPPN aux sanctions prévues pour le non-respect des règles prudentielles sur deux exercices.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2152845309"/>
      </p:ext>
    </p:extLst>
  </p:cSld>
  <p:clrMapOvr>
    <a:masterClrMapping/>
  </p:clrMapOvr>
  <p:transition>
    <p:fade/>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Tableau de bord (2/4) : risques longs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Aucun ratio propre aux risques longs n'est respecté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Ratios de priorité 10 à 16, applicables à l'épargne EFC et PEP qualifiée de risque long</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62 : Tableau de bord des ratios des risques longs, priorités 10 à 16</a:t>
            </a:r>
          </a:p>
        </p:txBody>
      </p:sp>
      <p:graphicFrame>
        <p:nvGraphicFramePr>
          <p:cNvPr id="32" name="Table 31"/>
          <p:cNvGraphicFramePr>
            <a:graphicFrameLocks noGrp="1"/>
          </p:cNvGraphicFramePr>
          <p:nvPr/>
        </p:nvGraphicFramePr>
        <p:xfrm>
          <a:off x="503999" y="1655999"/>
          <a:ext cx="11232000" cy="2106820"/>
        </p:xfrm>
        <a:graphic>
          <a:graphicData uri="http://schemas.openxmlformats.org/drawingml/2006/table">
            <a:tbl>
              <a:tblPr firstRow="0" bandRow="0">
                <a:tableStyleId>{5940675A-B579-460E-94D1-54222C63F5DA}</a:tableStyleId>
              </a:tblPr>
              <a:tblGrid>
                <a:gridCol w="324000"/>
                <a:gridCol w="3024000"/>
                <a:gridCol w="1728000"/>
                <a:gridCol w="972000"/>
                <a:gridCol w="972000"/>
                <a:gridCol w="972000"/>
                <a:gridCol w="972000"/>
                <a:gridCol w="1044000"/>
                <a:gridCol w="1224000"/>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2026 (8 mois)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Statut</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de solvabilité de la branche épargne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0,16</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Ratio de trésorerie à échéance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Supérieur à 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0,19</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12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de trésorerie immédiate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0,19</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331937">
                <a:tc>
                  <a:txBody>
                    <a:bodyPr/>
                    <a:lstStyle/>
                    <a:p>
                      <a:pPr marL="0" indent="0" lvl="0">
                        <a:buNone/>
                      </a:pPr>
                      <a:r>
                        <a:rPr sz="900" b="1">
                          <a:solidFill>
                            <a:srgbClr val="060606"/>
                          </a:solidFill>
                          <a:latin typeface="Helvetica"/>
                        </a:rPr>
                        <a:t>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Réserve de trésorerie des risques longs (un trimestre d'engagements et de frais)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1 trimestre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331937">
                <a:tc>
                  <a:txBody>
                    <a:bodyPr/>
                    <a:lstStyle/>
                    <a:p>
                      <a:pPr marL="0" indent="0" lvl="0">
                        <a:buNone/>
                      </a:pPr>
                      <a:r>
                        <a:rPr sz="900" b="1">
                          <a:solidFill>
                            <a:srgbClr val="060606"/>
                          </a:solidFill>
                          <a:latin typeface="Helvetica"/>
                        </a:rPr>
                        <a:t>14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Fonds propres / prestations des risques longs des deux derniers exercices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-0,65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-0,34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-0,31</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331937">
                <a:tc>
                  <a:txBody>
                    <a:bodyPr/>
                    <a:lstStyle/>
                    <a:p>
                      <a:pPr marL="0" indent="0" lvl="0">
                        <a:buNone/>
                      </a:pPr>
                      <a:r>
                        <a:rPr sz="900" b="1">
                          <a:solidFill>
                            <a:srgbClr val="060606"/>
                          </a:solidFill>
                          <a:latin typeface="Helvetica"/>
                        </a:rPr>
                        <a:t>15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brut de rentabilité des placements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le taux moyen du marché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1,30 %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1,28 %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1,73 %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22,88 %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1">
                          <a:solidFill>
                            <a:srgbClr val="060606"/>
                          </a:solidFill>
                          <a:latin typeface="Helvetica"/>
                        </a:rPr>
                        <a:t>À apprécier</a:t>
                      </a:r>
                    </a:p>
                  </a:txBody>
                  <a:tcPr marL="43200" marR="43200" marT="14400" marB="14400" anchor="ctr">
                    <a:solidFill>
                      <a:srgbClr val="BBBCBC"/>
                    </a:solidFill>
                  </a:tcPr>
                </a:tc>
              </a:tr>
              <a:tr h="331937">
                <a:tc>
                  <a:txBody>
                    <a:bodyPr/>
                    <a:lstStyle/>
                    <a:p>
                      <a:pPr marL="0" indent="0" lvl="0">
                        <a:buNone/>
                      </a:pPr>
                      <a:r>
                        <a:rPr sz="900" b="1">
                          <a:solidFill>
                            <a:srgbClr val="060606"/>
                          </a:solidFill>
                          <a:latin typeface="Helvetica"/>
                        </a:rPr>
                        <a:t>16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Solde moyen des comptes courants non rémunérés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Avoisinant zéro</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638 155 842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695 388 139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438 360 275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1 449 586 812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2 356 399 123 FCFA</a:t>
                      </a:r>
                    </a:p>
                  </a:txBody>
                  <a:tcPr marL="43200" marR="43200" marT="14400" marB="14400" anchor="ctr">
                    <a:solidFill>
                      <a:srgbClr val="FFFFFF"/>
                    </a:solidFill>
                  </a:tcPr>
                </a:tc>
                <a:tc>
                  <a:txBody>
                    <a:bodyPr/>
                    <a:lstStyle/>
                    <a:p>
                      <a:pPr marL="0" indent="0" lvl="0">
                        <a:buNone/>
                      </a:pPr>
                      <a:r>
                        <a:rPr sz="900" b="1">
                          <a:solidFill>
                            <a:srgbClr val="060606"/>
                          </a:solidFill>
                          <a:latin typeface="Helvetica"/>
                        </a:rPr>
                        <a:t>À apprécier</a:t>
                      </a:r>
                    </a:p>
                  </a:txBody>
                  <a:tcPr marL="43200" marR="43200" marT="14400" marB="14400" anchor="ctr">
                    <a:solidFill>
                      <a:srgbClr val="BBBCBC"/>
                    </a:solidFill>
                  </a:tcPr>
                </a:tc>
              </a:tr>
            </a:tbl>
          </a:graphicData>
        </a:graphic>
      </p:graphicFrame>
      <p:sp>
        <p:nvSpPr>
          <p:cNvPr id="33" name="TextBox 32"/>
          <p:cNvSpPr txBox="1"/>
          <p:nvPr/>
        </p:nvSpPr>
        <p:spPr>
          <a:xfrm>
            <a:off x="503999" y="3780823"/>
            <a:ext cx="11232000" cy="162000"/>
          </a:xfrm>
          <a:prstGeom prst="rect">
            <a:avLst/>
          </a:prstGeom>
          <a:noFill/>
        </p:spPr>
        <p:txBody>
          <a:bodyPr wrap="square" anchor="t" lIns="54000" rIns="54000"/>
          <a:lstStyle/>
          <a:p>
            <a:pPr algn="l"/>
            <a:r>
              <a:rPr sz="850" b="0">
                <a:solidFill>
                  <a:srgbClr val="53565A"/>
                </a:solidFill>
                <a:latin typeface="Helvetica"/>
              </a:rPr>
              <a:t>Valable pour : ratios de la Décision n° 05/2022 recalculés sur les balances. Statut opposable de 2022 à 2025, indicatif en 2020, 2021 et 2026.</a:t>
            </a:r>
          </a:p>
        </p:txBody>
      </p:sp>
      <p:sp>
        <p:nvSpPr>
          <p:cNvPr id="34" name="TextBox 33"/>
          <p:cNvSpPr txBox="1"/>
          <p:nvPr/>
        </p:nvSpPr>
        <p:spPr>
          <a:xfrm>
            <a:off x="503999" y="4068823"/>
            <a:ext cx="11232000" cy="1799176"/>
          </a:xfrm>
          <a:prstGeom prst="rect">
            <a:avLst/>
          </a:prstGeom>
          <a:noFill/>
        </p:spPr>
        <p:txBody>
          <a:bodyPr wrap="square" lIns="54000" rIns="54000"/>
          <a:lstStyle/>
          <a:p>
            <a:pPr algn="just">
              <a:spcAft>
                <a:spcPts val="600"/>
              </a:spcAft>
            </a:pPr>
            <a:r>
              <a:rPr sz="1300" b="1">
                <a:solidFill>
                  <a:srgbClr val="060606"/>
                </a:solidFill>
                <a:latin typeface="Helvetica"/>
              </a:rPr>
              <a:t>Les engagements d'épargne ne sont adossés ni à des actifs réservés suffisants, ni à une réserve de trésorerie, ni à des fonds propres positifs.</a:t>
            </a:r>
            <a:r>
              <a:rPr sz="1300" b="0">
                <a:solidFill>
                  <a:srgbClr val="060606"/>
                </a:solidFill>
                <a:latin typeface="Helvetica"/>
              </a:rPr>
              <a:t> Les deux derniers indicateurs n'ont pas de seuil chiffré et sont à apprécier.</a:t>
            </a:r>
          </a:p>
          <a:p>
            <a:pPr algn="just">
              <a:spcAft>
                <a:spcPts val="600"/>
              </a:spcAft>
            </a:pPr>
            <a:r>
              <a:rPr sz="1300" b="0">
                <a:solidFill>
                  <a:srgbClr val="060606"/>
                </a:solidFill>
                <a:latin typeface="Helvetica"/>
              </a:rPr>
              <a:t>Pour les risques longs, le règlement d'exécution exige aussi une étude actuarielle tous les cinq ans et la certification des comptes : le FPPN doit indiquer s'il les a réalisées.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2370544333"/>
      </p:ext>
    </p:extLst>
  </p:cSld>
  <p:clrMapOvr>
    <a:masterClrMapping/>
  </p:clrMapOvr>
  <p:transition>
    <p:fade/>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Tableau de bord (3/4) : gestion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frais dépassent nettement les normes, alors que le personnel et la fidélisation sont conformes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Ratios de gestion de priorité 17 à 25. Le recouvrement n'est mesurable que pour les retraités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 Fichiers de précomptes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63 : Tableau de bord des ratios de gestion, priorités 17 à 25</a:t>
            </a:r>
          </a:p>
        </p:txBody>
      </p:sp>
      <p:graphicFrame>
        <p:nvGraphicFramePr>
          <p:cNvPr id="32" name="Table 31"/>
          <p:cNvGraphicFramePr>
            <a:graphicFrameLocks noGrp="1"/>
          </p:cNvGraphicFramePr>
          <p:nvPr/>
        </p:nvGraphicFramePr>
        <p:xfrm>
          <a:off x="503999" y="1655999"/>
          <a:ext cx="11232000" cy="2359187"/>
        </p:xfrm>
        <a:graphic>
          <a:graphicData uri="http://schemas.openxmlformats.org/drawingml/2006/table">
            <a:tbl>
              <a:tblPr firstRow="0" bandRow="0">
                <a:tableStyleId>{5940675A-B579-460E-94D1-54222C63F5DA}</a:tableStyleId>
              </a:tblPr>
              <a:tblGrid>
                <a:gridCol w="324000"/>
                <a:gridCol w="3024000"/>
                <a:gridCol w="1728000"/>
                <a:gridCol w="972000"/>
                <a:gridCol w="972000"/>
                <a:gridCol w="972000"/>
                <a:gridCol w="972000"/>
                <a:gridCol w="1044000"/>
                <a:gridCol w="1224000"/>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2026 (8 mois)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Statut</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17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des charges de fonctionnement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20 %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47,35 %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44,82 %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36,07 %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36,34 %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44,12 %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18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des charges de fonctionnement brut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15 %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35,08 %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43,81 %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36,20 %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34,86 %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43,74 %</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19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Coût par unité monétaire prestée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15 %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522,78 %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182,49 %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89,40 %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63,21 %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58,67 %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20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 charges de personnel</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85 %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19,26 %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23,21 %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24,83 %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26,57 %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25,83 %</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194768">
                <a:tc>
                  <a:txBody>
                    <a:bodyPr/>
                    <a:lstStyle/>
                    <a:p>
                      <a:pPr marL="0" indent="0" lvl="0">
                        <a:buNone/>
                      </a:pPr>
                      <a:r>
                        <a:rPr sz="900" b="1">
                          <a:solidFill>
                            <a:srgbClr val="060606"/>
                          </a:solidFill>
                          <a:latin typeface="Helvetica"/>
                        </a:rPr>
                        <a:t>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fidélisation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80 %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96,49 %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97,83 %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331937">
                <a:tc>
                  <a:txBody>
                    <a:bodyPr/>
                    <a:lstStyle/>
                    <a:p>
                      <a:pPr marL="0" indent="0" lvl="0">
                        <a:buNone/>
                      </a:pPr>
                      <a:r>
                        <a:rPr sz="900" b="1">
                          <a:solidFill>
                            <a:srgbClr val="060606"/>
                          </a:solidFill>
                          <a:latin typeface="Helvetica"/>
                        </a:rPr>
                        <a:t>23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Délai moyen de paiement des prestataires de soins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Délai contractuel</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841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145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68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45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93 jours</a:t>
                      </a:r>
                    </a:p>
                  </a:txBody>
                  <a:tcPr marL="43200" marR="43200" marT="14400" marB="14400" anchor="ctr">
                    <a:solidFill>
                      <a:srgbClr val="F2F2F2"/>
                    </a:solidFill>
                  </a:tcPr>
                </a:tc>
                <a:tc>
                  <a:txBody>
                    <a:bodyPr/>
                    <a:lstStyle/>
                    <a:p>
                      <a:pPr marL="0" indent="0" lvl="0">
                        <a:buNone/>
                      </a:pPr>
                      <a:r>
                        <a:rPr sz="900" b="1">
                          <a:solidFill>
                            <a:srgbClr val="060606"/>
                          </a:solidFill>
                          <a:latin typeface="Helvetica"/>
                        </a:rPr>
                        <a:t>À apprécier</a:t>
                      </a:r>
                    </a:p>
                  </a:txBody>
                  <a:tcPr marL="43200" marR="43200" marT="14400" marB="14400" anchor="ctr">
                    <a:solidFill>
                      <a:srgbClr val="BBBCBC"/>
                    </a:solidFill>
                  </a:tcPr>
                </a:tc>
              </a:tr>
              <a:tr h="194768">
                <a:tc>
                  <a:txBody>
                    <a:bodyPr/>
                    <a:lstStyle/>
                    <a:p>
                      <a:pPr marL="0" indent="0" lvl="0">
                        <a:buNone/>
                      </a:pPr>
                      <a:r>
                        <a:rPr sz="900" b="1">
                          <a:solidFill>
                            <a:srgbClr val="060606"/>
                          </a:solidFill>
                          <a:latin typeface="Helvetica"/>
                        </a:rPr>
                        <a:t>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d'investissement brut en formation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3 %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0,01 %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0,19 %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0,04 %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0,75 %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0,04 %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331937">
                <a:tc>
                  <a:txBody>
                    <a:bodyPr/>
                    <a:lstStyle/>
                    <a:p>
                      <a:pPr marL="0" indent="0" lvl="0">
                        <a:buNone/>
                      </a:pPr>
                      <a:r>
                        <a:rPr sz="900" b="1">
                          <a:solidFill>
                            <a:srgbClr val="060606"/>
                          </a:solidFill>
                          <a:latin typeface="Helvetica"/>
                        </a:rPr>
                        <a:t>25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 croissance brute des bénéficiaires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Objectif du plan de développement stratégique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10,73 %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1">
                          <a:solidFill>
                            <a:srgbClr val="060606"/>
                          </a:solidFill>
                          <a:latin typeface="Helvetica"/>
                        </a:rPr>
                        <a:t>À apprécier</a:t>
                      </a:r>
                    </a:p>
                  </a:txBody>
                  <a:tcPr marL="43200" marR="43200" marT="14400" marB="14400" anchor="ctr">
                    <a:solidFill>
                      <a:srgbClr val="BBBCBC"/>
                    </a:solidFill>
                  </a:tcPr>
                </a:tc>
              </a:tr>
              <a:tr h="331937">
                <a:tc>
                  <a:txBody>
                    <a:bodyPr/>
                    <a:lstStyle/>
                    <a:p>
                      <a:pPr marL="0" indent="0" lvl="0">
                        <a:buNone/>
                      </a:pPr>
                      <a:r>
                        <a:rPr sz="900" b="1">
                          <a:solidFill>
                            <a:srgbClr val="060606"/>
                          </a:solidFill>
                          <a:latin typeface="Helvetica"/>
                        </a:rPr>
                        <a:t>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recouvrement des cotisations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90 %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100,19 %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 (retraités)</a:t>
                      </a:r>
                    </a:p>
                  </a:txBody>
                  <a:tcPr marL="43200" marR="43200" marT="14400" marB="14400" anchor="ctr">
                    <a:solidFill>
                      <a:srgbClr val="112A40"/>
                    </a:solidFill>
                  </a:tcPr>
                </a:tc>
              </a:tr>
            </a:tbl>
          </a:graphicData>
        </a:graphic>
      </p:graphicFrame>
      <p:sp>
        <p:nvSpPr>
          <p:cNvPr id="33" name="TextBox 32"/>
          <p:cNvSpPr txBox="1"/>
          <p:nvPr/>
        </p:nvSpPr>
        <p:spPr>
          <a:xfrm>
            <a:off x="503999" y="4033192"/>
            <a:ext cx="11232000" cy="162000"/>
          </a:xfrm>
          <a:prstGeom prst="rect">
            <a:avLst/>
          </a:prstGeom>
          <a:noFill/>
        </p:spPr>
        <p:txBody>
          <a:bodyPr wrap="square" anchor="t" lIns="54000" rIns="54000"/>
          <a:lstStyle/>
          <a:p>
            <a:pPr algn="l"/>
            <a:r>
              <a:rPr sz="850" b="0">
                <a:solidFill>
                  <a:srgbClr val="53565A"/>
                </a:solidFill>
                <a:latin typeface="Helvetica"/>
              </a:rPr>
              <a:t>Valable pour : ratios de la Décision n° 05/2022 recalculés sur les balances. Statut opposable de 2022 à 2025, indicatif en 2020, 2021 et 2026.</a:t>
            </a:r>
          </a:p>
        </p:txBody>
      </p:sp>
      <p:sp>
        <p:nvSpPr>
          <p:cNvPr id="34" name="TextBox 33"/>
          <p:cNvSpPr txBox="1"/>
          <p:nvPr/>
        </p:nvSpPr>
        <p:spPr>
          <a:xfrm>
            <a:off x="503999" y="4321192"/>
            <a:ext cx="11232000" cy="1546807"/>
          </a:xfrm>
          <a:prstGeom prst="rect">
            <a:avLst/>
          </a:prstGeom>
          <a:noFill/>
        </p:spPr>
        <p:txBody>
          <a:bodyPr wrap="square" lIns="54000" rIns="54000"/>
          <a:lstStyle/>
          <a:p>
            <a:pPr algn="just">
              <a:spcAft>
                <a:spcPts val="600"/>
              </a:spcAft>
            </a:pPr>
            <a:r>
              <a:rPr sz="1300" b="1">
                <a:solidFill>
                  <a:srgbClr val="060606"/>
                </a:solidFill>
                <a:latin typeface="Helvetica"/>
              </a:rPr>
              <a:t>Les trois ratios de frais sont non conformes chaque année.</a:t>
            </a:r>
            <a:r>
              <a:rPr sz="1300" b="0">
                <a:solidFill>
                  <a:srgbClr val="060606"/>
                </a:solidFill>
                <a:latin typeface="Helvetica"/>
              </a:rPr>
              <a:t> Les frais de fonctionnement absorbent plus d'un tiers des cotisations, contre 20 % au plus selon la norme.</a:t>
            </a:r>
          </a:p>
          <a:p>
            <a:pPr algn="just">
              <a:spcAft>
                <a:spcPts val="600"/>
              </a:spcAft>
            </a:pPr>
            <a:r>
              <a:rPr sz="1300" b="0">
                <a:solidFill>
                  <a:srgbClr val="060606"/>
                </a:solidFill>
                <a:latin typeface="Helvetica"/>
              </a:rPr>
              <a:t>La baisse du coût par unité prestée vient surtout de la hausse des prestations, pas d'une baisse des frais : le FPPN doit présenter un plan de réduction des charges de fonctionnement.</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1590361246"/>
      </p:ext>
    </p:extLst>
  </p:cSld>
  <p:clrMapOvr>
    <a:masterClrMapping/>
  </p:clrMapOvr>
  <p:transition>
    <p:fade/>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Tableau de bord (4/4) : données en attente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Onze indicateurs attendent des documents de gestion ou de gouvernance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Ces indicateurs ne sont pas exclus : ils seront calculés dès réception des pièces demandées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 Liste des documents demandés (PBC)</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64 : Indicateurs en attente de documents, priorités 26 à 36</a:t>
            </a:r>
          </a:p>
        </p:txBody>
      </p:sp>
      <p:graphicFrame>
        <p:nvGraphicFramePr>
          <p:cNvPr id="32" name="Table 31"/>
          <p:cNvGraphicFramePr>
            <a:graphicFrameLocks noGrp="1"/>
          </p:cNvGraphicFramePr>
          <p:nvPr/>
        </p:nvGraphicFramePr>
        <p:xfrm>
          <a:off x="503999" y="1655999"/>
          <a:ext cx="11232000" cy="3023061"/>
        </p:xfrm>
        <a:graphic>
          <a:graphicData uri="http://schemas.openxmlformats.org/drawingml/2006/table">
            <a:tbl>
              <a:tblPr firstRow="0" bandRow="0">
                <a:tableStyleId>{5940675A-B579-460E-94D1-54222C63F5DA}</a:tableStyleId>
              </a:tblPr>
              <a:tblGrid>
                <a:gridCol w="324000"/>
                <a:gridCol w="3960000"/>
                <a:gridCol w="2160000"/>
                <a:gridCol w="4788000"/>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Pièce à obtenir</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bénéficiaire-adhérent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Objectif du plan de développement stratégique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Fichier des ayants droit non transmis.</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27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 pénétration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Objectif du plan de développement stratégique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Effectif total de la Police nationale non transmis.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28</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prestations indues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2 %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Rapports de contrôle a posteriori non transmis.</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29</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Ratio de contrôle a posteriori</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5 % (10 % pour les risques longs)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Registre des contrôles non transmis.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Délai de liquidation des premières demandes (risques longs)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30 jours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Dossiers de prestations avec dates non transmis.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31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Restes à traiter en fin de période (risques longs)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Dossiers de prestations avec statut non transmis.</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32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Délai de remise en banque des titres de paiement (risques longs)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1 jour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Registre des encaissements non transmis.</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33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 règlement de la cotisation au Fonds national de garantie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compte FNG (FOMUS-CI) dans les balances : adhésion et cotisation à confirmer.</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tenue des réunions des organes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Procès-verbaux non transmis.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35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Existence et tenue des outils de suivi administratif</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Existence et tenue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Contrôle sur place, hors du champ des données reçues.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Existence et tenue des outils de suivi comptable et financier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Existence et tenue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Contrôle sur place, hors du champ des données reçues.</a:t>
                      </a:r>
                    </a:p>
                  </a:txBody>
                  <a:tcPr marL="43200" marR="43200" marT="14400" marB="14400" anchor="ctr">
                    <a:solidFill>
                      <a:srgbClr val="FFFFFF"/>
                    </a:solidFill>
                  </a:tcPr>
                </a:tc>
              </a:tr>
            </a:tbl>
          </a:graphicData>
        </a:graphic>
      </p:graphicFrame>
      <p:sp>
        <p:nvSpPr>
          <p:cNvPr id="33" name="TextBox 32"/>
          <p:cNvSpPr txBox="1"/>
          <p:nvPr/>
        </p:nvSpPr>
        <p:spPr>
          <a:xfrm>
            <a:off x="503999" y="4697066"/>
            <a:ext cx="11232000" cy="162000"/>
          </a:xfrm>
          <a:prstGeom prst="rect">
            <a:avLst/>
          </a:prstGeom>
          <a:noFill/>
        </p:spPr>
        <p:txBody>
          <a:bodyPr wrap="square" anchor="t" lIns="54000" rIns="54000"/>
          <a:lstStyle/>
          <a:p>
            <a:pPr algn="l"/>
            <a:r>
              <a:rPr sz="850" b="0">
                <a:solidFill>
                  <a:srgbClr val="53565A"/>
                </a:solidFill>
                <a:latin typeface="Helvetica"/>
              </a:rPr>
              <a:t>Valable pour : ratios de la Décision n° 05/2022 recalculés sur les balances. Statut opposable de 2022 à 2025, indicatif en 2020, 2021 et 2026.</a:t>
            </a:r>
          </a:p>
        </p:txBody>
      </p:sp>
      <p:sp>
        <p:nvSpPr>
          <p:cNvPr id="34" name="TextBox 33"/>
          <p:cNvSpPr txBox="1"/>
          <p:nvPr/>
        </p:nvSpPr>
        <p:spPr>
          <a:xfrm>
            <a:off x="503999" y="4985066"/>
            <a:ext cx="11232000" cy="882933"/>
          </a:xfrm>
          <a:prstGeom prst="rect">
            <a:avLst/>
          </a:prstGeom>
          <a:noFill/>
        </p:spPr>
        <p:txBody>
          <a:bodyPr wrap="square" lIns="54000" rIns="54000"/>
          <a:lstStyle/>
          <a:p>
            <a:pPr algn="just">
              <a:spcAft>
                <a:spcPts val="600"/>
              </a:spcAft>
            </a:pPr>
            <a:r>
              <a:rPr sz="1300" b="1">
                <a:solidFill>
                  <a:srgbClr val="060606"/>
                </a:solidFill>
                <a:latin typeface="Helvetica"/>
              </a:rPr>
              <a:t>L'absence de compte du fonds national de garantie dans les balances est le point le plus sensible.</a:t>
            </a:r>
            <a:r>
              <a:rPr sz="1300" b="0">
                <a:solidFill>
                  <a:srgbClr val="060606"/>
                </a:solidFill>
                <a:latin typeface="Helvetica"/>
              </a:rPr>
              <a:t> L'adhésion au fonds est obligatoire (règlement n° 07/2009, art. 63), et son défaut est sanctionné (arrêté n° 00115/MEPS/CAB, ligne 8).</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S/C : prestations / cotisations | PBC : liste des documents demandés au client | FNG : fonds national de garantie | FOMUS-CI : fonds de garantie des mutuelles sociales de Côte d'Ivoire | MEPS : ministère de l'Emploi et de la Protection sociale</a:t>
            </a:r>
          </a:p>
        </p:txBody>
      </p:sp>
    </p:spTree>
    <p:extLst>
      <p:ext uri="{BB962C8B-B14F-4D97-AF65-F5344CB8AC3E}">
        <p14:creationId xmlns:p14="http://schemas.microsoft.com/office/powerpoint/2010/main" val="3205163798"/>
      </p:ext>
    </p:extLst>
  </p:cSld>
  <p:clrMapOvr>
    <a:masterClrMapping/>
  </p:clrMapOvr>
  <p:transition>
    <p:fade/>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Liquidité et équilibre : deux lectures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classement de l'épargne décide de la conformité de la liquidité et de l'équilibre stable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Liquidité 2025 : 0,13 comme le FPPN, 1,15 retraitée. Équilibre stable 2025 : 1,54 et 0,94</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34 : Liquidité et équilibre stable, comme le FPPN et retraités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Ratio (sans unité)</a:t>
            </a:r>
          </a:p>
        </p:txBody>
      </p:sp>
      <p:graphicFrame>
        <p:nvGraphicFramePr>
          <p:cNvPr id="32" name="Chart 31"/>
          <p:cNvGraphicFramePr>
            <a:graphicFrameLocks noGrp="1"/>
          </p:cNvGraphicFramePr>
          <p:nvPr/>
        </p:nvGraphicFramePr>
        <p:xfrm>
          <a:off x="503999" y="1782000"/>
          <a:ext cx="6552000" cy="3888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Comme le FPPN tient ses comptes, la liquidité n'atteint jamais 1.</a:t>
            </a:r>
            <a:r>
              <a:rPr sz="1400" b="0">
                <a:solidFill>
                  <a:srgbClr val="060606"/>
                </a:solidFill>
                <a:latin typeface="Helvetica"/>
              </a:rPr>
              <a:t> Elle vaut au mieux 0,19 en 2021, car l'épargne figure parmi les dettes à court terme.</a:t>
            </a:r>
          </a:p>
          <a:p>
            <a:pPr algn="just">
              <a:spcAft>
                <a:spcPts val="600"/>
              </a:spcAft>
            </a:pPr>
            <a:r>
              <a:rPr sz="1400" b="1">
                <a:solidFill>
                  <a:srgbClr val="060606"/>
                </a:solidFill>
                <a:latin typeface="Helvetica"/>
              </a:rPr>
              <a:t>Retraitée, la liquidité devient conforme en 2025 et sur les huit mois de 2026.</a:t>
            </a:r>
            <a:r>
              <a:rPr sz="1400" b="0">
                <a:solidFill>
                  <a:srgbClr val="060606"/>
                </a:solidFill>
                <a:latin typeface="Helvetica"/>
              </a:rPr>
              <a:t> La trésorerie a fortement augmenté pendant que les dettes à court terme hors épargne restaient stables.</a:t>
            </a:r>
          </a:p>
          <a:p>
            <a:pPr algn="just">
              <a:spcAft>
                <a:spcPts val="600"/>
              </a:spcAft>
            </a:pPr>
            <a:r>
              <a:rPr sz="1400" b="1">
                <a:solidFill>
                  <a:srgbClr val="060606"/>
                </a:solidFill>
                <a:latin typeface="Helvetica"/>
              </a:rPr>
              <a:t>Retraité, l'équilibre stable devient conforme en 2025</a:t>
            </a:r>
            <a:r>
              <a:rPr sz="1400" b="0">
                <a:solidFill>
                  <a:srgbClr val="060606"/>
                </a:solidFill>
                <a:latin typeface="Helvetica"/>
              </a:rPr>
              <a:t> (0,94), car l'épargne finance alors durablement les emplois longs.</a:t>
            </a:r>
          </a:p>
          <a:p>
            <a:pPr algn="just">
              <a:spcAft>
                <a:spcPts val="600"/>
              </a:spcAft>
            </a:pPr>
            <a:r>
              <a:rPr sz="1400" b="0">
                <a:solidFill>
                  <a:srgbClr val="060606"/>
                </a:solidFill>
                <a:latin typeface="Helvetica"/>
              </a:rPr>
              <a:t>La conformité dépend de la part réellement exigible de l'épargne dans l'année : le FPPN doit établir l'échéancier de l'EFC (départs à la retraite) et du PEP (échéances des plans).</a:t>
            </a:r>
          </a:p>
        </p:txBody>
      </p:sp>
      <p:sp>
        <p:nvSpPr>
          <p:cNvPr id="35" name="TextBox 34"/>
          <p:cNvSpPr txBox="1"/>
          <p:nvPr/>
        </p:nvSpPr>
        <p:spPr>
          <a:xfrm>
            <a:off x="503999" y="5688000"/>
            <a:ext cx="6552000" cy="162000"/>
          </a:xfrm>
          <a:prstGeom prst="rect">
            <a:avLst/>
          </a:prstGeom>
          <a:noFill/>
        </p:spPr>
        <p:txBody>
          <a:bodyPr wrap="square" anchor="t" lIns="54000" rIns="54000"/>
          <a:lstStyle/>
          <a:p>
            <a:pPr algn="l"/>
            <a:r>
              <a:rPr sz="850" b="0">
                <a:solidFill>
                  <a:srgbClr val="53565A"/>
                </a:solidFill>
                <a:latin typeface="Helvetica"/>
              </a:rPr>
              <a:t>Valable pour : ratios de la Décision n° 05/2022 recalculés sur les balances. Statut opposable de 2022 à 2025, indicatif en 2020, 2021 et 2026.</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1270582221"/>
      </p:ext>
    </p:extLst>
  </p:cSld>
  <p:clrMapOvr>
    <a:masterClrMapping/>
  </p:clrMapOvr>
  <p:transition>
    <p:fade/>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sinistralité réglementaire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globale est sous la fourchette parce que le décès consomme peu</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Charges de prestations 1 964 772 027 FCFA / cotisations acquises 3 418 141 722 FCFA = 57,48 %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1.2.1.2.5</a:t>
            </a:r>
          </a:p>
        </p:txBody>
      </p:sp>
      <p:sp>
        <p:nvSpPr>
          <p:cNvPr id="31" name="TextBox 30"/>
          <p:cNvSpPr txBox="1"/>
          <p:nvPr/>
        </p:nvSpPr>
        <p:spPr>
          <a:xfrm>
            <a:off x="503999" y="1350000"/>
            <a:ext cx="6552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551999" cy="2100090"/>
        </p:xfrm>
        <a:graphic>
          <a:graphicData uri="http://schemas.openxmlformats.org/drawingml/2006/table">
            <a:tbl>
              <a:tblPr firstRow="0" bandRow="0">
                <a:tableStyleId>{5940675A-B579-460E-94D1-54222C63F5DA}</a:tableStyleId>
              </a:tblPr>
              <a:tblGrid>
                <a:gridCol w="2232000"/>
                <a:gridCol w="2304000"/>
                <a:gridCol w="2015999"/>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Cotisations maladie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701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2 409 281 030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Cotisations décès et MEDOC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702</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1 008 860 692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Autres produits techniques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704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Cotisations acquises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3 418 141 722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Prestations maladie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601, 6013, 6018, 60800007</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1 771 635 361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Prestations décès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6021, 6024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193 136 666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Autres prestations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60800008, 60850000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Charges de prestations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1 964 772 027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Taux de sinistralité</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 / 70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57,48 %</a:t>
                      </a:r>
                    </a:p>
                  </a:txBody>
                  <a:tcPr marL="43200" marR="43200" marT="14400" marB="14400" anchor="ctr">
                    <a:solidFill>
                      <a:srgbClr val="FFFFFF"/>
                    </a:solidFill>
                  </a:tcPr>
                </a:tc>
              </a:tr>
            </a:tbl>
          </a:graphicData>
        </a:graphic>
      </p:graphicFrame>
      <p:sp>
        <p:nvSpPr>
          <p:cNvPr id="33" name="Rounded Rectangle 32"/>
          <p:cNvSpPr/>
          <p:nvPr/>
        </p:nvSpPr>
        <p:spPr>
          <a:xfrm>
            <a:off x="5022000" y="2377238"/>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76000"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022000" y="3217276"/>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76000" y="30660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022000" y="3427286"/>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876000" y="327608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272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632000" y="1530000"/>
            <a:ext cx="4104000" cy="484084"/>
          </a:xfrm>
          <a:prstGeom prst="rect">
            <a:avLst/>
          </a:prstGeom>
          <a:noFill/>
        </p:spPr>
        <p:txBody>
          <a:bodyPr wrap="square" anchor="t" lIns="54000" rIns="54000"/>
          <a:lstStyle/>
          <a:p>
            <a:pPr algn="l"/>
            <a:r>
              <a:rPr sz="1200" b="0">
                <a:solidFill>
                  <a:srgbClr val="060606"/>
                </a:solidFill>
                <a:latin typeface="Helvetica"/>
              </a:rPr>
              <a:t>Les cotisations acquises additionnent toute la classe 70, y compris les autres produits techniques.</a:t>
            </a:r>
          </a:p>
        </p:txBody>
      </p:sp>
      <p:sp>
        <p:nvSpPr>
          <p:cNvPr id="41" name="Oval 40"/>
          <p:cNvSpPr/>
          <p:nvPr/>
        </p:nvSpPr>
        <p:spPr>
          <a:xfrm>
            <a:off x="7272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632000" y="2104084"/>
            <a:ext cx="4104000" cy="484084"/>
          </a:xfrm>
          <a:prstGeom prst="rect">
            <a:avLst/>
          </a:prstGeom>
          <a:noFill/>
        </p:spPr>
        <p:txBody>
          <a:bodyPr wrap="square" anchor="t" lIns="54000" rIns="54000"/>
          <a:lstStyle/>
          <a:p>
            <a:pPr algn="l"/>
            <a:r>
              <a:rPr sz="1200" b="0">
                <a:solidFill>
                  <a:srgbClr val="060606"/>
                </a:solidFill>
                <a:latin typeface="Helvetica"/>
              </a:rPr>
              <a:t>Les charges de prestations additionnent toute la classe 60, maladie et décès confondus.</a:t>
            </a:r>
          </a:p>
        </p:txBody>
      </p:sp>
      <p:sp>
        <p:nvSpPr>
          <p:cNvPr id="43" name="Oval 42"/>
          <p:cNvSpPr/>
          <p:nvPr/>
        </p:nvSpPr>
        <p:spPr>
          <a:xfrm>
            <a:off x="7272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632000" y="2678168"/>
            <a:ext cx="4104000" cy="484084"/>
          </a:xfrm>
          <a:prstGeom prst="rect">
            <a:avLst/>
          </a:prstGeom>
          <a:noFill/>
        </p:spPr>
        <p:txBody>
          <a:bodyPr wrap="square" anchor="t" lIns="54000" rIns="54000"/>
          <a:lstStyle/>
          <a:p>
            <a:pPr algn="l"/>
            <a:r>
              <a:rPr sz="1200" b="0">
                <a:solidFill>
                  <a:srgbClr val="060606"/>
                </a:solidFill>
                <a:latin typeface="Helvetica"/>
              </a:rPr>
              <a:t>Le taux global se situe sous la borne basse de 70 % de la norme.</a:t>
            </a:r>
          </a:p>
        </p:txBody>
      </p:sp>
      <p:sp>
        <p:nvSpPr>
          <p:cNvPr id="45" name="TextBox 44"/>
          <p:cNvSpPr txBox="1"/>
          <p:nvPr/>
        </p:nvSpPr>
        <p:spPr>
          <a:xfrm>
            <a:off x="7272000" y="3342252"/>
            <a:ext cx="4464000" cy="2525747"/>
          </a:xfrm>
          <a:prstGeom prst="rect">
            <a:avLst/>
          </a:prstGeom>
          <a:noFill/>
        </p:spPr>
        <p:txBody>
          <a:bodyPr wrap="square" lIns="54000" rIns="54000"/>
          <a:lstStyle/>
          <a:p>
            <a:pPr algn="just">
              <a:spcAft>
                <a:spcPts val="600"/>
              </a:spcAft>
            </a:pPr>
            <a:r>
              <a:rPr sz="1200" b="1">
                <a:solidFill>
                  <a:srgbClr val="060606"/>
                </a:solidFill>
                <a:latin typeface="Helvetica"/>
              </a:rPr>
              <a:t>Une sinistralité trop basse est aussi un écart à la norme.</a:t>
            </a:r>
            <a:r>
              <a:rPr sz="1200" b="0">
                <a:solidFill>
                  <a:srgbClr val="060606"/>
                </a:solidFill>
                <a:latin typeface="Helvetica"/>
              </a:rPr>
              <a:t> La fourchette de 70 % à 80 % vise à ce que les cotisations reviennent aux adhérents sous forme de prestations.</a:t>
            </a:r>
          </a:p>
          <a:p>
            <a:pPr algn="just">
              <a:spcAft>
                <a:spcPts val="600"/>
              </a:spcAft>
            </a:pPr>
            <a:r>
              <a:rPr sz="1200" b="0">
                <a:solidFill>
                  <a:srgbClr val="060606"/>
                </a:solidFill>
                <a:latin typeface="Helvetica"/>
              </a:rPr>
              <a:t>Appliqué à la seule maladie, le taux 2025 (73,53 %) se situe dans la fourchette. L'écart global vient de la garantie décès : son niveau de cotisation mérite d'être revu au vu de la mortalité observée, dès réception des données.</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MEDOC : produit santé complémentaire du poste 8Z7</a:t>
            </a:r>
          </a:p>
        </p:txBody>
      </p:sp>
    </p:spTree>
    <p:extLst>
      <p:ext uri="{BB962C8B-B14F-4D97-AF65-F5344CB8AC3E}">
        <p14:creationId xmlns:p14="http://schemas.microsoft.com/office/powerpoint/2010/main" val="943064680"/>
      </p:ext>
    </p:extLst>
  </p:cSld>
  <p:clrMapOvr>
    <a:masterClrMapping/>
  </p:clrMapOvr>
  <p:transition>
    <p:fade/>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marge de solvabilité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marge est conforme si l'on ignore les pertes reportées, non conforme sinon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Marge exigée 566 209 845 FCFA. Marge disponible 4 396 841 817 FCFA comme le FPPN, -438 242 200 FCFA nette des pertes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1.1.1. PCMS, fiche n° 2</a:t>
            </a:r>
          </a:p>
        </p:txBody>
      </p:sp>
      <p:sp>
        <p:nvSpPr>
          <p:cNvPr id="31" name="TextBox 30"/>
          <p:cNvSpPr txBox="1"/>
          <p:nvPr/>
        </p:nvSpPr>
        <p:spPr>
          <a:xfrm>
            <a:off x="503999" y="1350000"/>
            <a:ext cx="6696000" cy="180000"/>
          </a:xfrm>
          <a:prstGeom prst="rect">
            <a:avLst/>
          </a:prstGeom>
          <a:noFill/>
        </p:spPr>
        <p:txBody>
          <a:bodyPr wrap="square" anchor="t" lIns="54000" rIns="54000"/>
          <a:lstStyle/>
          <a:p>
            <a:pPr algn="l"/>
            <a:r>
              <a:rPr sz="900" b="0">
                <a:solidFill>
                  <a:srgbClr val="53565A"/>
                </a:solidFill>
                <a:latin typeface="Helvetica"/>
              </a:rPr>
              <a:t>Extrait : AUDIT ADENKA\DAFC\2024 et 2025 (balances des comptes)</a:t>
            </a:r>
          </a:p>
        </p:txBody>
      </p:sp>
      <p:graphicFrame>
        <p:nvGraphicFramePr>
          <p:cNvPr id="32" name="Table 31"/>
          <p:cNvGraphicFramePr>
            <a:graphicFrameLocks noGrp="1"/>
          </p:cNvGraphicFramePr>
          <p:nvPr/>
        </p:nvGraphicFramePr>
        <p:xfrm>
          <a:off x="503999" y="1548000"/>
          <a:ext cx="6696000" cy="2404910"/>
        </p:xfrm>
        <a:graphic>
          <a:graphicData uri="http://schemas.openxmlformats.org/drawingml/2006/table">
            <a:tbl>
              <a:tblPr firstRow="0" bandRow="0">
                <a:tableStyleId>{5940675A-B579-460E-94D1-54222C63F5DA}</a:tableStyleId>
              </a:tblPr>
              <a:tblGrid>
                <a:gridCol w="2376000"/>
                <a:gridCol w="2520000"/>
                <a:gridCol w="1800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Calcul</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a:t>
                      </a:r>
                    </a:p>
                  </a:txBody>
                  <a:tcPr marL="43200" marR="43200" marT="14400" marB="14400" anchor="ctr">
                    <a:solidFill>
                      <a:srgbClr val="060606"/>
                    </a:solidFill>
                  </a:tcPr>
                </a:tc>
              </a:tr>
              <a:tr h="362419">
                <a:tc>
                  <a:txBody>
                    <a:bodyPr/>
                    <a:lstStyle/>
                    <a:p>
                      <a:pPr marL="0" indent="0" lvl="0">
                        <a:buNone/>
                      </a:pPr>
                      <a:r>
                        <a:rPr sz="1000" b="1">
                          <a:solidFill>
                            <a:srgbClr val="060606"/>
                          </a:solidFill>
                          <a:latin typeface="Helvetica"/>
                        </a:rPr>
                        <a:t>18 % des cotisations acquises 2024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18 % x 3 145 610 249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566 209 845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26 % des prestations maladie 2023 à 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26 % x moyenne sur 3 ans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290 598 477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Marge exigée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 maximum des deux</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566 209 845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Réserve obligatoire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compte 111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820 232 819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Réserves libres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compte 1188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677 208 998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Réserve disponible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compte 106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2 899 400 000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Marge disponible comme le FPPN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111 + 1188 + 106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4 396 841 817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Pertes reportées et résultat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129, 121, résultat 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-4 835 084 017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Marge disponible nette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-438 242 200 FCFA</a:t>
                      </a:r>
                    </a:p>
                  </a:txBody>
                  <a:tcPr marL="43200" marR="43200" marT="14400" marB="14400" anchor="ctr">
                    <a:solidFill>
                      <a:srgbClr val="FFFFFF"/>
                    </a:solidFill>
                  </a:tcPr>
                </a:tc>
              </a:tr>
            </a:tbl>
          </a:graphicData>
        </a:graphic>
      </p:graphicFrame>
      <p:sp>
        <p:nvSpPr>
          <p:cNvPr id="33" name="Rounded Rectangle 32"/>
          <p:cNvSpPr/>
          <p:nvPr/>
        </p:nvSpPr>
        <p:spPr>
          <a:xfrm>
            <a:off x="5382000" y="2472047"/>
            <a:ext cx="1835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020000" y="23208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382000" y="3312086"/>
            <a:ext cx="1835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020000" y="316088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382000" y="3732105"/>
            <a:ext cx="1835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20000" y="3580905"/>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416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776000" y="1530000"/>
            <a:ext cx="3959999" cy="484084"/>
          </a:xfrm>
          <a:prstGeom prst="rect">
            <a:avLst/>
          </a:prstGeom>
          <a:noFill/>
        </p:spPr>
        <p:txBody>
          <a:bodyPr wrap="square" anchor="t" lIns="54000" rIns="54000"/>
          <a:lstStyle/>
          <a:p>
            <a:pPr algn="l"/>
            <a:r>
              <a:rPr sz="1200" b="0">
                <a:solidFill>
                  <a:srgbClr val="060606"/>
                </a:solidFill>
                <a:latin typeface="Helvetica"/>
              </a:rPr>
              <a:t>La marge exigée vient de la règle des 18 % des cotisations, supérieure à celle des prestations.</a:t>
            </a:r>
          </a:p>
        </p:txBody>
      </p:sp>
      <p:sp>
        <p:nvSpPr>
          <p:cNvPr id="41" name="Oval 40"/>
          <p:cNvSpPr/>
          <p:nvPr/>
        </p:nvSpPr>
        <p:spPr>
          <a:xfrm>
            <a:off x="7416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776000" y="2104084"/>
            <a:ext cx="3959999" cy="484084"/>
          </a:xfrm>
          <a:prstGeom prst="rect">
            <a:avLst/>
          </a:prstGeom>
          <a:noFill/>
        </p:spPr>
        <p:txBody>
          <a:bodyPr wrap="square" anchor="t" lIns="54000" rIns="54000"/>
          <a:lstStyle/>
          <a:p>
            <a:pPr algn="l"/>
            <a:r>
              <a:rPr sz="1200" b="0">
                <a:solidFill>
                  <a:srgbClr val="060606"/>
                </a:solidFill>
                <a:latin typeface="Helvetica"/>
              </a:rPr>
              <a:t>Sans déduire les pertes, la marge disponible dépasse largement la marge exigée.</a:t>
            </a:r>
          </a:p>
        </p:txBody>
      </p:sp>
      <p:sp>
        <p:nvSpPr>
          <p:cNvPr id="43" name="Oval 42"/>
          <p:cNvSpPr/>
          <p:nvPr/>
        </p:nvSpPr>
        <p:spPr>
          <a:xfrm>
            <a:off x="7416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776000" y="2678168"/>
            <a:ext cx="3959999" cy="484084"/>
          </a:xfrm>
          <a:prstGeom prst="rect">
            <a:avLst/>
          </a:prstGeom>
          <a:noFill/>
        </p:spPr>
        <p:txBody>
          <a:bodyPr wrap="square" anchor="t" lIns="54000" rIns="54000"/>
          <a:lstStyle/>
          <a:p>
            <a:pPr algn="l"/>
            <a:r>
              <a:rPr sz="1200" b="0">
                <a:solidFill>
                  <a:srgbClr val="060606"/>
                </a:solidFill>
                <a:latin typeface="Helvetica"/>
              </a:rPr>
              <a:t>Une fois les pertes reportées déduites, la marge disponible devient négative.</a:t>
            </a:r>
          </a:p>
        </p:txBody>
      </p:sp>
      <p:sp>
        <p:nvSpPr>
          <p:cNvPr id="45" name="TextBox 44"/>
          <p:cNvSpPr txBox="1"/>
          <p:nvPr/>
        </p:nvSpPr>
        <p:spPr>
          <a:xfrm>
            <a:off x="7416000" y="3342252"/>
            <a:ext cx="4319999" cy="2525747"/>
          </a:xfrm>
          <a:prstGeom prst="rect">
            <a:avLst/>
          </a:prstGeom>
          <a:noFill/>
        </p:spPr>
        <p:txBody>
          <a:bodyPr wrap="square" lIns="54000" rIns="54000"/>
          <a:lstStyle/>
          <a:p>
            <a:pPr algn="just">
              <a:spcAft>
                <a:spcPts val="600"/>
              </a:spcAft>
            </a:pPr>
            <a:r>
              <a:rPr sz="1200" b="1">
                <a:solidFill>
                  <a:srgbClr val="060606"/>
                </a:solidFill>
                <a:latin typeface="Helvetica"/>
              </a:rPr>
              <a:t>La conformité dépend de la lecture des pertes reportées.</a:t>
            </a:r>
            <a:r>
              <a:rPr sz="1200" b="0">
                <a:solidFill>
                  <a:srgbClr val="060606"/>
                </a:solidFill>
                <a:latin typeface="Helvetica"/>
              </a:rPr>
              <a:t> Le ratio vaut 7,77 comme le FPPN et -0,77 net des pertes.</a:t>
            </a:r>
          </a:p>
          <a:p>
            <a:pPr algn="just">
              <a:spcAft>
                <a:spcPts val="600"/>
              </a:spcAft>
            </a:pPr>
            <a:r>
              <a:rPr sz="1200" b="0">
                <a:solidFill>
                  <a:srgbClr val="060606"/>
                </a:solidFill>
                <a:latin typeface="Helvetica"/>
              </a:rPr>
              <a:t>Le FPPN n'a pas de fonds d'établissement, alors que la Décision exige un niveau minimal égal au tiers de la marge exigée, soit 188 736 615 FCFA en 2025.</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a:t>
            </a:r>
          </a:p>
        </p:txBody>
      </p:sp>
    </p:spTree>
    <p:extLst>
      <p:ext uri="{BB962C8B-B14F-4D97-AF65-F5344CB8AC3E}">
        <p14:creationId xmlns:p14="http://schemas.microsoft.com/office/powerpoint/2010/main" val="3584429879"/>
      </p:ext>
    </p:extLst>
  </p:cSld>
  <p:clrMapOvr>
    <a:masterClrMapping/>
  </p:clrMapOvr>
  <p:transition>
    <p:fade/>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réserve obligatoire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réserve obligatoire couvre cinq mois de prestations, contre six au minimum</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820 232 819 FCFA x 12 / 1 964 772 027 FCFA = 5,01 mois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tableau 1 et § 1.2.2.5.4</a:t>
            </a:r>
          </a:p>
        </p:txBody>
      </p:sp>
      <p:sp>
        <p:nvSpPr>
          <p:cNvPr id="31" name="TextBox 30"/>
          <p:cNvSpPr txBox="1"/>
          <p:nvPr/>
        </p:nvSpPr>
        <p:spPr>
          <a:xfrm>
            <a:off x="503999" y="1350000"/>
            <a:ext cx="6552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552000" cy="1260054"/>
        </p:xfrm>
        <a:graphic>
          <a:graphicData uri="http://schemas.openxmlformats.org/drawingml/2006/table">
            <a:tbl>
              <a:tblPr firstRow="0" bandRow="0">
                <a:tableStyleId>{5940675A-B579-460E-94D1-54222C63F5DA}</a:tableStyleId>
              </a:tblPr>
              <a:tblGrid>
                <a:gridCol w="2448000"/>
                <a:gridCol w="1872000"/>
                <a:gridCol w="2232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Calcul</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Réserve obligatoire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compte 111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820 232 819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Charges de prestations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classe 60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1 964 772 027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Ratio de réserve obligatoire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111 x 12 / 60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5,01 mois</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Réserve nécessaire pour 6 mois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60 x 6 / 12</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982 386 014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Écart à combler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besoin - réserve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162 153 194 FCFA</a:t>
                      </a:r>
                    </a:p>
                  </a:txBody>
                  <a:tcPr marL="43200" marR="43200" marT="14400" marB="14400" anchor="ctr">
                    <a:solidFill>
                      <a:srgbClr val="FFFFFF"/>
                    </a:solidFill>
                  </a:tcPr>
                </a:tc>
              </a:tr>
            </a:tbl>
          </a:graphicData>
        </a:graphic>
      </p:graphicFrame>
      <p:sp>
        <p:nvSpPr>
          <p:cNvPr id="33" name="Rounded Rectangle 32"/>
          <p:cNvSpPr/>
          <p:nvPr/>
        </p:nvSpPr>
        <p:spPr>
          <a:xfrm>
            <a:off x="4806000" y="2167228"/>
            <a:ext cx="2268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76000" y="20160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4806000" y="2587247"/>
            <a:ext cx="2268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76000" y="2436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7272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7632000" y="1530000"/>
            <a:ext cx="4104000" cy="484084"/>
          </a:xfrm>
          <a:prstGeom prst="rect">
            <a:avLst/>
          </a:prstGeom>
          <a:noFill/>
        </p:spPr>
        <p:txBody>
          <a:bodyPr wrap="square" anchor="t" lIns="54000" rIns="54000"/>
          <a:lstStyle/>
          <a:p>
            <a:pPr algn="l"/>
            <a:r>
              <a:rPr sz="1200" b="0">
                <a:solidFill>
                  <a:srgbClr val="060606"/>
                </a:solidFill>
                <a:latin typeface="Helvetica"/>
              </a:rPr>
              <a:t>La réserve obligatoire couvre un peu plus de cinq mois de prestations.</a:t>
            </a:r>
          </a:p>
        </p:txBody>
      </p:sp>
      <p:sp>
        <p:nvSpPr>
          <p:cNvPr id="39" name="Oval 38"/>
          <p:cNvSpPr/>
          <p:nvPr/>
        </p:nvSpPr>
        <p:spPr>
          <a:xfrm>
            <a:off x="7272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7632000" y="2104084"/>
            <a:ext cx="4104000" cy="484084"/>
          </a:xfrm>
          <a:prstGeom prst="rect">
            <a:avLst/>
          </a:prstGeom>
          <a:noFill/>
        </p:spPr>
        <p:txBody>
          <a:bodyPr wrap="square" anchor="t" lIns="54000" rIns="54000"/>
          <a:lstStyle/>
          <a:p>
            <a:pPr algn="l"/>
            <a:r>
              <a:rPr sz="1200" b="0">
                <a:solidFill>
                  <a:srgbClr val="060606"/>
                </a:solidFill>
                <a:latin typeface="Helvetica"/>
              </a:rPr>
              <a:t>Il manque ce montant pour atteindre la borne basse de six mois.</a:t>
            </a:r>
          </a:p>
        </p:txBody>
      </p:sp>
      <p:sp>
        <p:nvSpPr>
          <p:cNvPr id="41" name="TextBox 40"/>
          <p:cNvSpPr txBox="1"/>
          <p:nvPr/>
        </p:nvSpPr>
        <p:spPr>
          <a:xfrm>
            <a:off x="7272000" y="2768168"/>
            <a:ext cx="4464000" cy="3099831"/>
          </a:xfrm>
          <a:prstGeom prst="rect">
            <a:avLst/>
          </a:prstGeom>
          <a:noFill/>
        </p:spPr>
        <p:txBody>
          <a:bodyPr wrap="square" lIns="54000" rIns="54000"/>
          <a:lstStyle/>
          <a:p>
            <a:pPr algn="just">
              <a:spcAft>
                <a:spcPts val="600"/>
              </a:spcAft>
            </a:pPr>
            <a:r>
              <a:rPr sz="1200" b="1">
                <a:solidFill>
                  <a:srgbClr val="060606"/>
                </a:solidFill>
                <a:latin typeface="Helvetica"/>
              </a:rPr>
              <a:t>La réserve progresse, mais moins vite que les prestations.</a:t>
            </a:r>
            <a:r>
              <a:rPr sz="1200" b="0">
                <a:solidFill>
                  <a:srgbClr val="060606"/>
                </a:solidFill>
                <a:latin typeface="Helvetica"/>
              </a:rPr>
              <a:t> Elle vaut zéro jusqu'en 2022 et couvre 3,25 mois en 2023, puis 5,01 mois en 2025.</a:t>
            </a:r>
          </a:p>
          <a:p>
            <a:pPr algn="just">
              <a:spcAft>
                <a:spcPts val="600"/>
              </a:spcAft>
            </a:pPr>
            <a:r>
              <a:rPr sz="1200" b="0">
                <a:solidFill>
                  <a:srgbClr val="060606"/>
                </a:solidFill>
                <a:latin typeface="Helvetica"/>
              </a:rPr>
              <a:t>Comme les prestations augmentent chaque année, le besoin de réserve augmente aussi : la dotation annuelle doit suivre la sinistralité et non seulement le résultat.</a:t>
            </a:r>
          </a:p>
        </p:txBody>
      </p:sp>
      <p:sp>
        <p:nvSpPr>
          <p:cNvPr id="42" name="TextBox 4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776290907"/>
      </p:ext>
    </p:extLst>
  </p:cSld>
  <p:clrMapOvr>
    <a:masterClrMapping/>
  </p:clrMapOvr>
  <p:transition>
    <p:fade/>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fonds propres et assimilés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ressources propres et les provisions couvrent un cinquième des dettes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Fonds propres et assimilés 4 391 056 090 FCFA / dettes 20 393 111 235 FCFA = 0,22</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1.2.2.5.3</a:t>
            </a:r>
          </a:p>
        </p:txBody>
      </p:sp>
      <p:sp>
        <p:nvSpPr>
          <p:cNvPr id="31" name="TextBox 30"/>
          <p:cNvSpPr txBox="1"/>
          <p:nvPr/>
        </p:nvSpPr>
        <p:spPr>
          <a:xfrm>
            <a:off x="503999" y="1350000"/>
            <a:ext cx="6552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552000" cy="2347311"/>
        </p:xfrm>
        <a:graphic>
          <a:graphicData uri="http://schemas.openxmlformats.org/drawingml/2006/table">
            <a:tbl>
              <a:tblPr firstRow="0" bandRow="0">
                <a:tableStyleId>{5940675A-B579-460E-94D1-54222C63F5DA}</a:tableStyleId>
              </a:tblPr>
              <a:tblGrid>
                <a:gridCol w="2448000"/>
                <a:gridCol w="2160000"/>
                <a:gridCol w="1944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10, 11, 12, résultat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-438 242 200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Provisions techniques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15801000, 15802000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4 829 298 290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Fonds propres et assimilés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numérateur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4 391 056 090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Dettes à court terme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classe 4 créditrice, 5 créditeur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15 520 146 267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dont épargne PEP et EFC</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41195100, 41195200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13 814 066 964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Provisions et autres dettes longues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15, 16, 196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4 872 964 968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Dettes, provisions comprises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dénominateur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20 393 111 235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Ratio des fonds propres et assimilés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numérateur / dénominateur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0,22</a:t>
                      </a:r>
                    </a:p>
                  </a:txBody>
                  <a:tcPr marL="43200" marR="43200" marT="14400" marB="14400" anchor="ctr">
                    <a:solidFill>
                      <a:srgbClr val="F2F2F2"/>
                    </a:solidFill>
                  </a:tcPr>
                </a:tc>
              </a:tr>
            </a:tbl>
          </a:graphicData>
        </a:graphic>
      </p:graphicFrame>
      <p:sp>
        <p:nvSpPr>
          <p:cNvPr id="33" name="Rounded Rectangle 32"/>
          <p:cNvSpPr/>
          <p:nvPr/>
        </p:nvSpPr>
        <p:spPr>
          <a:xfrm>
            <a:off x="5094000" y="1747209"/>
            <a:ext cx="198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76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094000" y="2739657"/>
            <a:ext cx="198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76000" y="258845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094000" y="3522096"/>
            <a:ext cx="1980000" cy="38401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876000" y="337089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272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632000" y="1530000"/>
            <a:ext cx="4104000" cy="484084"/>
          </a:xfrm>
          <a:prstGeom prst="rect">
            <a:avLst/>
          </a:prstGeom>
          <a:noFill/>
        </p:spPr>
        <p:txBody>
          <a:bodyPr wrap="square" anchor="t" lIns="54000" rIns="54000"/>
          <a:lstStyle/>
          <a:p>
            <a:pPr algn="l"/>
            <a:r>
              <a:rPr sz="1200" b="0">
                <a:solidFill>
                  <a:srgbClr val="060606"/>
                </a:solidFill>
                <a:latin typeface="Helvetica"/>
              </a:rPr>
              <a:t>Les fonds propres sont négatifs : seules les provisions rendent le numérateur positif.</a:t>
            </a:r>
          </a:p>
        </p:txBody>
      </p:sp>
      <p:sp>
        <p:nvSpPr>
          <p:cNvPr id="41" name="Oval 40"/>
          <p:cNvSpPr/>
          <p:nvPr/>
        </p:nvSpPr>
        <p:spPr>
          <a:xfrm>
            <a:off x="7272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632000" y="2104084"/>
            <a:ext cx="4104000" cy="298144"/>
          </a:xfrm>
          <a:prstGeom prst="rect">
            <a:avLst/>
          </a:prstGeom>
          <a:noFill/>
        </p:spPr>
        <p:txBody>
          <a:bodyPr wrap="square" anchor="t" lIns="54000" rIns="54000"/>
          <a:lstStyle/>
          <a:p>
            <a:pPr algn="l"/>
            <a:r>
              <a:rPr sz="1200" b="0">
                <a:solidFill>
                  <a:srgbClr val="060606"/>
                </a:solidFill>
                <a:latin typeface="Helvetica"/>
              </a:rPr>
              <a:t>L'épargne représente l'essentiel des dettes.</a:t>
            </a:r>
          </a:p>
        </p:txBody>
      </p:sp>
      <p:sp>
        <p:nvSpPr>
          <p:cNvPr id="43" name="Oval 42"/>
          <p:cNvSpPr/>
          <p:nvPr/>
        </p:nvSpPr>
        <p:spPr>
          <a:xfrm>
            <a:off x="7272000" y="25102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632000" y="2492228"/>
            <a:ext cx="4104000" cy="298144"/>
          </a:xfrm>
          <a:prstGeom prst="rect">
            <a:avLst/>
          </a:prstGeom>
          <a:noFill/>
        </p:spPr>
        <p:txBody>
          <a:bodyPr wrap="square" anchor="t" lIns="54000" rIns="54000"/>
          <a:lstStyle/>
          <a:p>
            <a:pPr algn="l"/>
            <a:r>
              <a:rPr sz="1200" b="0">
                <a:solidFill>
                  <a:srgbClr val="060606"/>
                </a:solidFill>
                <a:latin typeface="Helvetica"/>
              </a:rPr>
              <a:t>Le ratio reste très loin de la norme d'au moins 1.</a:t>
            </a:r>
          </a:p>
        </p:txBody>
      </p:sp>
      <p:sp>
        <p:nvSpPr>
          <p:cNvPr id="45" name="TextBox 44"/>
          <p:cNvSpPr txBox="1"/>
          <p:nvPr/>
        </p:nvSpPr>
        <p:spPr>
          <a:xfrm>
            <a:off x="7272000" y="2970373"/>
            <a:ext cx="4464000" cy="2897626"/>
          </a:xfrm>
          <a:prstGeom prst="rect">
            <a:avLst/>
          </a:prstGeom>
          <a:noFill/>
        </p:spPr>
        <p:txBody>
          <a:bodyPr wrap="square" lIns="54000" rIns="54000"/>
          <a:lstStyle/>
          <a:p>
            <a:pPr algn="just">
              <a:spcAft>
                <a:spcPts val="600"/>
              </a:spcAft>
            </a:pPr>
            <a:r>
              <a:rPr sz="1200" b="1">
                <a:solidFill>
                  <a:srgbClr val="060606"/>
                </a:solidFill>
                <a:latin typeface="Helvetica"/>
              </a:rPr>
              <a:t>Même en comptant les provisions comme des fonds propres, le FPPN reste loin de la norme.</a:t>
            </a:r>
            <a:r>
              <a:rPr sz="1200" b="0">
                <a:solidFill>
                  <a:srgbClr val="060606"/>
                </a:solidFill>
                <a:latin typeface="Helvetica"/>
              </a:rPr>
              <a:t> Le ratio passe de 0,13 en 2022 à 0,22 en 2025.</a:t>
            </a:r>
          </a:p>
          <a:p>
            <a:pPr algn="just">
              <a:spcAft>
                <a:spcPts val="600"/>
              </a:spcAft>
            </a:pPr>
            <a:r>
              <a:rPr sz="1200" b="0">
                <a:solidFill>
                  <a:srgbClr val="060606"/>
                </a:solidFill>
                <a:latin typeface="Helvetica"/>
              </a:rPr>
              <a:t>Ce ratio ne peut s'améliorer que par des excédents mis en réserve pendant plusieurs années : il mesure la profondeur du retard de fonds propres, plus qu'un problème de l'année.</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2169538358"/>
      </p:ext>
    </p:extLst>
  </p:cSld>
  <p:clrMapOvr>
    <a:masterClrMapping/>
  </p:clrMapOvr>
  <p:transition>
    <p:fade/>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liquidité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trésorerie couvre un huitième des dettes à court terme, épargne comprise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Liquidité 0,13 comme le FPPN, 1,15 sans l'épargne. Trésorerie à échéance 0,17 et 1,59</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1.2.2.5.2 et section II</a:t>
            </a:r>
          </a:p>
        </p:txBody>
      </p:sp>
      <p:sp>
        <p:nvSpPr>
          <p:cNvPr id="31" name="TextBox 30"/>
          <p:cNvSpPr txBox="1"/>
          <p:nvPr/>
        </p:nvSpPr>
        <p:spPr>
          <a:xfrm>
            <a:off x="503999" y="1350000"/>
            <a:ext cx="6768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768000" cy="1832482"/>
        </p:xfrm>
        <a:graphic>
          <a:graphicData uri="http://schemas.openxmlformats.org/drawingml/2006/table">
            <a:tbl>
              <a:tblPr firstRow="0" bandRow="0">
                <a:tableStyleId>{5940675A-B579-460E-94D1-54222C63F5DA}</a:tableStyleId>
              </a:tblPr>
              <a:tblGrid>
                <a:gridCol w="2376000"/>
                <a:gridCol w="2664000"/>
                <a:gridCol w="1728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Trésorerie actif</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5 débitrice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1 964 171 543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Créances à court terme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classes 3 et 4 débitrices, hors avances durables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750 837 284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Dettes à court terme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4 créditrice, 5 créditeur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15 520 146 267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dont épargne PEP et EFC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41195100, 41195200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13 814 066 964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Dettes à court terme hors épargne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lecture retraitée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1 706 079 303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Liquidité comme le FPPN</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trésorerie / dettes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0,13</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Liquidité retraitée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trésorerie / dettes hors épargne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1,15</a:t>
                      </a:r>
                    </a:p>
                  </a:txBody>
                  <a:tcPr marL="43200" marR="43200" marT="14400" marB="14400" anchor="ctr">
                    <a:solidFill>
                      <a:srgbClr val="FFFFFF"/>
                    </a:solidFill>
                  </a:tcPr>
                </a:tc>
              </a:tr>
            </a:tbl>
          </a:graphicData>
        </a:graphic>
      </p:graphicFrame>
      <p:sp>
        <p:nvSpPr>
          <p:cNvPr id="33" name="Rounded Rectangle 32"/>
          <p:cNvSpPr/>
          <p:nvPr/>
        </p:nvSpPr>
        <p:spPr>
          <a:xfrm>
            <a:off x="5526000" y="252964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092000" y="23784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526000" y="294966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092000" y="279846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526000" y="3159676"/>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92000" y="30084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488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848000" y="1530000"/>
            <a:ext cx="3887999" cy="484084"/>
          </a:xfrm>
          <a:prstGeom prst="rect">
            <a:avLst/>
          </a:prstGeom>
          <a:noFill/>
        </p:spPr>
        <p:txBody>
          <a:bodyPr wrap="square" anchor="t" lIns="54000" rIns="54000"/>
          <a:lstStyle/>
          <a:p>
            <a:pPr algn="l"/>
            <a:r>
              <a:rPr sz="1200" b="0">
                <a:solidFill>
                  <a:srgbClr val="060606"/>
                </a:solidFill>
                <a:latin typeface="Helvetica"/>
              </a:rPr>
              <a:t>L'épargne représente presque toutes les dettes à court terme du plan comptable.</a:t>
            </a:r>
          </a:p>
        </p:txBody>
      </p:sp>
      <p:sp>
        <p:nvSpPr>
          <p:cNvPr id="41" name="Oval 40"/>
          <p:cNvSpPr/>
          <p:nvPr/>
        </p:nvSpPr>
        <p:spPr>
          <a:xfrm>
            <a:off x="7488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848000" y="2104084"/>
            <a:ext cx="3887999" cy="484084"/>
          </a:xfrm>
          <a:prstGeom prst="rect">
            <a:avLst/>
          </a:prstGeom>
          <a:noFill/>
        </p:spPr>
        <p:txBody>
          <a:bodyPr wrap="square" anchor="t" lIns="54000" rIns="54000"/>
          <a:lstStyle/>
          <a:p>
            <a:pPr algn="l"/>
            <a:r>
              <a:rPr sz="1200" b="0">
                <a:solidFill>
                  <a:srgbClr val="060606"/>
                </a:solidFill>
                <a:latin typeface="Helvetica"/>
              </a:rPr>
              <a:t>Dans cette lecture, la trésorerie couvre environ un huitième des dettes.</a:t>
            </a:r>
          </a:p>
        </p:txBody>
      </p:sp>
      <p:sp>
        <p:nvSpPr>
          <p:cNvPr id="43" name="Oval 42"/>
          <p:cNvSpPr/>
          <p:nvPr/>
        </p:nvSpPr>
        <p:spPr>
          <a:xfrm>
            <a:off x="7488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848000" y="2678168"/>
            <a:ext cx="3887999" cy="484084"/>
          </a:xfrm>
          <a:prstGeom prst="rect">
            <a:avLst/>
          </a:prstGeom>
          <a:noFill/>
        </p:spPr>
        <p:txBody>
          <a:bodyPr wrap="square" anchor="t" lIns="54000" rIns="54000"/>
          <a:lstStyle/>
          <a:p>
            <a:pPr algn="l"/>
            <a:r>
              <a:rPr sz="1200" b="0">
                <a:solidFill>
                  <a:srgbClr val="060606"/>
                </a:solidFill>
                <a:latin typeface="Helvetica"/>
              </a:rPr>
              <a:t>Sans l'épargne, la trésorerie couvre toutes les dettes à court terme.</a:t>
            </a:r>
          </a:p>
        </p:txBody>
      </p:sp>
      <p:sp>
        <p:nvSpPr>
          <p:cNvPr id="45" name="TextBox 44"/>
          <p:cNvSpPr txBox="1"/>
          <p:nvPr/>
        </p:nvSpPr>
        <p:spPr>
          <a:xfrm>
            <a:off x="7488000" y="3342252"/>
            <a:ext cx="4248000" cy="2525747"/>
          </a:xfrm>
          <a:prstGeom prst="rect">
            <a:avLst/>
          </a:prstGeom>
          <a:noFill/>
        </p:spPr>
        <p:txBody>
          <a:bodyPr wrap="square" lIns="54000" rIns="54000"/>
          <a:lstStyle/>
          <a:p>
            <a:pPr algn="just">
              <a:spcAft>
                <a:spcPts val="600"/>
              </a:spcAft>
            </a:pPr>
            <a:r>
              <a:rPr sz="1200" b="1">
                <a:solidFill>
                  <a:srgbClr val="060606"/>
                </a:solidFill>
                <a:latin typeface="Helvetica"/>
              </a:rPr>
              <a:t>Toute la question de la liquidité se ramène à l'épargne.</a:t>
            </a:r>
            <a:r>
              <a:rPr sz="1200" b="0">
                <a:solidFill>
                  <a:srgbClr val="060606"/>
                </a:solidFill>
                <a:latin typeface="Helvetica"/>
              </a:rPr>
              <a:t> Les autres dettes à court terme sont couvertes par la trésorerie en 2025.</a:t>
            </a:r>
          </a:p>
          <a:p>
            <a:pPr algn="just">
              <a:spcAft>
                <a:spcPts val="600"/>
              </a:spcAft>
            </a:pPr>
            <a:r>
              <a:rPr sz="1200" b="0">
                <a:solidFill>
                  <a:srgbClr val="060606"/>
                </a:solidFill>
                <a:latin typeface="Helvetica"/>
              </a:rPr>
              <a:t>Le FPPN doit connaître la part de l'épargne exigible dans l'année : sans cet échéancier, la lecture prudente du plan comptable s'impose et la liquidité est non conforme.</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188260734"/>
      </p:ext>
    </p:extLst>
  </p:cSld>
  <p:clrMapOvr>
    <a:masterClrMapping/>
  </p:clrMapOvr>
  <p:transition>
    <p:fade/>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équilibre stable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emplois longs dépassent les ressources longues, sauf si l'épargne est une ressource longue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Équilibre stable 1,54 comme le FPPN, 0,94 retraité. Norme d'au plus 1</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1.2.3.1</a:t>
            </a:r>
          </a:p>
        </p:txBody>
      </p:sp>
      <p:sp>
        <p:nvSpPr>
          <p:cNvPr id="31" name="TextBox 30"/>
          <p:cNvSpPr txBox="1"/>
          <p:nvPr/>
        </p:nvSpPr>
        <p:spPr>
          <a:xfrm>
            <a:off x="503999" y="1350000"/>
            <a:ext cx="6768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768000" cy="1470063"/>
        </p:xfrm>
        <a:graphic>
          <a:graphicData uri="http://schemas.openxmlformats.org/drawingml/2006/table">
            <a:tbl>
              <a:tblPr firstRow="0" bandRow="0">
                <a:tableStyleId>{5940675A-B579-460E-94D1-54222C63F5DA}</a:tableStyleId>
              </a:tblPr>
              <a:tblGrid>
                <a:gridCol w="2376000"/>
                <a:gridCol w="2664000"/>
                <a:gridCol w="1728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Actif immobilisé net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6 814 784 076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Avances et créances durables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47111100 à 47111105, 47111201, 485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10 425 076 132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Ressources longues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10 à 19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4 434 722 768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Épargne PEP et EFC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41195100, 41195200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13 814 066 964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Équilibre stable comme le FPPN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2 / classe 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1,54</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Équilibre stable retraité</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 avances) / (1 + épargne)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0,94</a:t>
                      </a:r>
                    </a:p>
                  </a:txBody>
                  <a:tcPr marL="43200" marR="43200" marT="14400" marB="14400" anchor="ctr">
                    <a:solidFill>
                      <a:srgbClr val="F2F2F2"/>
                    </a:solidFill>
                  </a:tcPr>
                </a:tc>
              </a:tr>
            </a:tbl>
          </a:graphicData>
        </a:graphic>
      </p:graphicFrame>
      <p:sp>
        <p:nvSpPr>
          <p:cNvPr id="33" name="Rounded Rectangle 32"/>
          <p:cNvSpPr/>
          <p:nvPr/>
        </p:nvSpPr>
        <p:spPr>
          <a:xfrm>
            <a:off x="5526000" y="1957219"/>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092000" y="180601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526000" y="258724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092000" y="2436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526000" y="279725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92000" y="264605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488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848000" y="1530000"/>
            <a:ext cx="3887999" cy="484084"/>
          </a:xfrm>
          <a:prstGeom prst="rect">
            <a:avLst/>
          </a:prstGeom>
          <a:noFill/>
        </p:spPr>
        <p:txBody>
          <a:bodyPr wrap="square" anchor="t" lIns="54000" rIns="54000"/>
          <a:lstStyle/>
          <a:p>
            <a:pPr algn="l"/>
            <a:r>
              <a:rPr sz="1200" b="0">
                <a:solidFill>
                  <a:srgbClr val="060606"/>
                </a:solidFill>
                <a:latin typeface="Helvetica"/>
              </a:rPr>
              <a:t>Des avances durables supérieures à l'actif immobilisé sont suivies hors de la classe 2.</a:t>
            </a:r>
          </a:p>
        </p:txBody>
      </p:sp>
      <p:sp>
        <p:nvSpPr>
          <p:cNvPr id="41" name="Oval 40"/>
          <p:cNvSpPr/>
          <p:nvPr/>
        </p:nvSpPr>
        <p:spPr>
          <a:xfrm>
            <a:off x="7488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848000" y="2104084"/>
            <a:ext cx="3887999" cy="484084"/>
          </a:xfrm>
          <a:prstGeom prst="rect">
            <a:avLst/>
          </a:prstGeom>
          <a:noFill/>
        </p:spPr>
        <p:txBody>
          <a:bodyPr wrap="square" anchor="t" lIns="54000" rIns="54000"/>
          <a:lstStyle/>
          <a:p>
            <a:pPr algn="l"/>
            <a:r>
              <a:rPr sz="1200" b="0">
                <a:solidFill>
                  <a:srgbClr val="060606"/>
                </a:solidFill>
                <a:latin typeface="Helvetica"/>
              </a:rPr>
              <a:t>Comme le FPPN, les emplois longs valent plus d'une fois et demie les ressources longues.</a:t>
            </a:r>
          </a:p>
        </p:txBody>
      </p:sp>
      <p:sp>
        <p:nvSpPr>
          <p:cNvPr id="43" name="Oval 42"/>
          <p:cNvSpPr/>
          <p:nvPr/>
        </p:nvSpPr>
        <p:spPr>
          <a:xfrm>
            <a:off x="7488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848000" y="2678168"/>
            <a:ext cx="3887999" cy="484084"/>
          </a:xfrm>
          <a:prstGeom prst="rect">
            <a:avLst/>
          </a:prstGeom>
          <a:noFill/>
        </p:spPr>
        <p:txBody>
          <a:bodyPr wrap="square" anchor="t" lIns="54000" rIns="54000"/>
          <a:lstStyle/>
          <a:p>
            <a:pPr algn="l"/>
            <a:r>
              <a:rPr sz="1200" b="0">
                <a:solidFill>
                  <a:srgbClr val="060606"/>
                </a:solidFill>
                <a:latin typeface="Helvetica"/>
              </a:rPr>
              <a:t>Avec l'épargne en ressource longue, l'équilibre est respecté de peu.</a:t>
            </a:r>
          </a:p>
        </p:txBody>
      </p:sp>
      <p:sp>
        <p:nvSpPr>
          <p:cNvPr id="45" name="TextBox 44"/>
          <p:cNvSpPr txBox="1"/>
          <p:nvPr/>
        </p:nvSpPr>
        <p:spPr>
          <a:xfrm>
            <a:off x="7488000" y="3342252"/>
            <a:ext cx="4248000" cy="2525747"/>
          </a:xfrm>
          <a:prstGeom prst="rect">
            <a:avLst/>
          </a:prstGeom>
          <a:noFill/>
        </p:spPr>
        <p:txBody>
          <a:bodyPr wrap="square" lIns="54000" rIns="54000"/>
          <a:lstStyle/>
          <a:p>
            <a:pPr algn="just">
              <a:spcAft>
                <a:spcPts val="600"/>
              </a:spcAft>
            </a:pPr>
            <a:r>
              <a:rPr sz="1200" b="1">
                <a:solidFill>
                  <a:srgbClr val="060606"/>
                </a:solidFill>
                <a:latin typeface="Helvetica"/>
              </a:rPr>
              <a:t>L'épargne des adhérents finance les emplois longs du FPPN.</a:t>
            </a:r>
            <a:r>
              <a:rPr sz="1200" b="0">
                <a:solidFill>
                  <a:srgbClr val="060606"/>
                </a:solidFill>
                <a:latin typeface="Helvetica"/>
              </a:rPr>
              <a:t> Sans elle, les ressources longues ne couvrent pas les terrains, les bâtiments et les avances durables.</a:t>
            </a:r>
          </a:p>
          <a:p>
            <a:pPr algn="just">
              <a:spcAft>
                <a:spcPts val="600"/>
              </a:spcAft>
            </a:pPr>
            <a:r>
              <a:rPr sz="1200" b="0">
                <a:solidFill>
                  <a:srgbClr val="060606"/>
                </a:solidFill>
                <a:latin typeface="Helvetica"/>
              </a:rPr>
              <a:t>Financer des emplois longs avec de l'épargne n'est soutenable que si cette épargne reste longtemps : c'est précisément ce que l'échéancier de l'EFC et du PEP doit démontrer.</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1030150348"/>
      </p:ext>
    </p:extLst>
  </p:cSld>
  <p:clrMapOvr>
    <a:masterClrMapping/>
  </p:clrMapOvr>
  <p:transition>
    <p:fade/>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taux d'excédent net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L'excédent dépasse le plafond de 5 % des cotisations, ce qui sert à reconstituer les fonds propres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Excédent net 437 899 911 FCFA / cotisations acquises 3 418 141 722 FCFA = 12,81 %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1.2.2.5.5</a:t>
            </a:r>
          </a:p>
        </p:txBody>
      </p:sp>
      <p:sp>
        <p:nvSpPr>
          <p:cNvPr id="31" name="TextBox 30"/>
          <p:cNvSpPr txBox="1"/>
          <p:nvPr/>
        </p:nvSpPr>
        <p:spPr>
          <a:xfrm>
            <a:off x="503999" y="1350000"/>
            <a:ext cx="6480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479998" cy="1470063"/>
        </p:xfrm>
        <a:graphic>
          <a:graphicData uri="http://schemas.openxmlformats.org/drawingml/2006/table">
            <a:tbl>
              <a:tblPr firstRow="0" bandRow="0">
                <a:tableStyleId>{5940675A-B579-460E-94D1-54222C63F5DA}</a:tableStyleId>
              </a:tblPr>
              <a:tblGrid>
                <a:gridCol w="2448000"/>
                <a:gridCol w="2015999"/>
                <a:gridCol w="2015999"/>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Produits des activités ordinaires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7</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3 671 499 865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Charges des activités ordinaires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classe 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3 250 431 812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Résultat hors activités ordinaires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16 831 858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Excédent net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7 - 6 + 8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437 899 911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Cotisations acquises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70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3 418 141 722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Taux d'excédent net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excédent / cotisations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12,81 %</a:t>
                      </a:r>
                    </a:p>
                  </a:txBody>
                  <a:tcPr marL="43200" marR="43200" marT="14400" marB="14400" anchor="ctr">
                    <a:solidFill>
                      <a:srgbClr val="F2F2F2"/>
                    </a:solidFill>
                  </a:tcPr>
                </a:tc>
              </a:tr>
            </a:tbl>
          </a:graphicData>
        </a:graphic>
      </p:graphicFrame>
      <p:sp>
        <p:nvSpPr>
          <p:cNvPr id="33" name="Rounded Rectangle 32"/>
          <p:cNvSpPr/>
          <p:nvPr/>
        </p:nvSpPr>
        <p:spPr>
          <a:xfrm>
            <a:off x="4949999" y="2377238"/>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03999"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4949999" y="2797257"/>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03999" y="264605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7200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7560000" y="1530000"/>
            <a:ext cx="4176000" cy="484084"/>
          </a:xfrm>
          <a:prstGeom prst="rect">
            <a:avLst/>
          </a:prstGeom>
          <a:noFill/>
        </p:spPr>
        <p:txBody>
          <a:bodyPr wrap="square" anchor="t" lIns="54000" rIns="54000"/>
          <a:lstStyle/>
          <a:p>
            <a:pPr algn="l"/>
            <a:r>
              <a:rPr sz="1200" b="0">
                <a:solidFill>
                  <a:srgbClr val="060606"/>
                </a:solidFill>
                <a:latin typeface="Helvetica"/>
              </a:rPr>
              <a:t>L'excédent net 2025 est positif, mais il baisse depuis 2021.</a:t>
            </a:r>
          </a:p>
        </p:txBody>
      </p:sp>
      <p:sp>
        <p:nvSpPr>
          <p:cNvPr id="39" name="Oval 38"/>
          <p:cNvSpPr/>
          <p:nvPr/>
        </p:nvSpPr>
        <p:spPr>
          <a:xfrm>
            <a:off x="7200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7560000" y="2104084"/>
            <a:ext cx="4176000" cy="298144"/>
          </a:xfrm>
          <a:prstGeom prst="rect">
            <a:avLst/>
          </a:prstGeom>
          <a:noFill/>
        </p:spPr>
        <p:txBody>
          <a:bodyPr wrap="square" anchor="t" lIns="54000" rIns="54000"/>
          <a:lstStyle/>
          <a:p>
            <a:pPr algn="l"/>
            <a:r>
              <a:rPr sz="1200" b="0">
                <a:solidFill>
                  <a:srgbClr val="060606"/>
                </a:solidFill>
                <a:latin typeface="Helvetica"/>
              </a:rPr>
              <a:t>Le taux dépasse le plafond de 5 % fixé par la norme.</a:t>
            </a:r>
          </a:p>
        </p:txBody>
      </p:sp>
      <p:sp>
        <p:nvSpPr>
          <p:cNvPr id="41" name="TextBox 40"/>
          <p:cNvSpPr txBox="1"/>
          <p:nvPr/>
        </p:nvSpPr>
        <p:spPr>
          <a:xfrm>
            <a:off x="7200000" y="2582228"/>
            <a:ext cx="4536000" cy="3285771"/>
          </a:xfrm>
          <a:prstGeom prst="rect">
            <a:avLst/>
          </a:prstGeom>
          <a:noFill/>
        </p:spPr>
        <p:txBody>
          <a:bodyPr wrap="square" lIns="54000" rIns="54000"/>
          <a:lstStyle/>
          <a:p>
            <a:pPr algn="just">
              <a:spcAft>
                <a:spcPts val="600"/>
              </a:spcAft>
            </a:pPr>
            <a:r>
              <a:rPr sz="1200" b="1">
                <a:solidFill>
                  <a:srgbClr val="060606"/>
                </a:solidFill>
                <a:latin typeface="Helvetica"/>
              </a:rPr>
              <a:t>Ce dépassement n'est pas un défaut en soi pour le FPPN.</a:t>
            </a:r>
            <a:r>
              <a:rPr sz="1200" b="0">
                <a:solidFill>
                  <a:srgbClr val="060606"/>
                </a:solidFill>
                <a:latin typeface="Helvetica"/>
              </a:rPr>
              <a:t> Ses fonds propres sont négatifs, et les excédents sont le seul moyen de les reconstituer et de doter la réserve obligatoire.</a:t>
            </a:r>
          </a:p>
          <a:p>
            <a:pPr algn="just">
              <a:spcAft>
                <a:spcPts val="600"/>
              </a:spcAft>
            </a:pPr>
            <a:r>
              <a:rPr sz="1200" b="0">
                <a:solidFill>
                  <a:srgbClr val="060606"/>
                </a:solidFill>
                <a:latin typeface="Helvetica"/>
              </a:rPr>
              <a:t>Un plan de mise en conformité présenté à l'AIRMS doit justifier ce dépassement temporaire par l'objectif de fonds propres, avec un calendrier de retour sous le plafond.</a:t>
            </a:r>
          </a:p>
        </p:txBody>
      </p:sp>
      <p:sp>
        <p:nvSpPr>
          <p:cNvPr id="42" name="TextBox 4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a:t>
            </a:r>
          </a:p>
        </p:txBody>
      </p:sp>
    </p:spTree>
    <p:extLst>
      <p:ext uri="{BB962C8B-B14F-4D97-AF65-F5344CB8AC3E}">
        <p14:creationId xmlns:p14="http://schemas.microsoft.com/office/powerpoint/2010/main" val="1891776121"/>
      </p:ext>
    </p:extLst>
  </p:cSld>
  <p:clrMapOvr>
    <a:masterClrMapping/>
  </p:clrMapOvr>
  <p:transition>
    <p:fade/>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frais de fonctionnement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charges de fonctionnement absorbent plus d'un tiers des cotisations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Taux des charges de fonctionnement 36,34 % (norme 20 %), brut 34,86 % (norme 15 %), par unité prestée 63,21 % (norme 15 %)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1.2.1.2.1 à 1.2.1.2.4</a:t>
            </a:r>
          </a:p>
        </p:txBody>
      </p:sp>
      <p:sp>
        <p:nvSpPr>
          <p:cNvPr id="31" name="TextBox 30"/>
          <p:cNvSpPr txBox="1"/>
          <p:nvPr/>
        </p:nvSpPr>
        <p:spPr>
          <a:xfrm>
            <a:off x="503999" y="1350000"/>
            <a:ext cx="6552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552000" cy="2252500"/>
        </p:xfrm>
        <a:graphic>
          <a:graphicData uri="http://schemas.openxmlformats.org/drawingml/2006/table">
            <a:tbl>
              <a:tblPr firstRow="0" bandRow="0">
                <a:tableStyleId>{5940675A-B579-460E-94D1-54222C63F5DA}</a:tableStyleId>
              </a:tblPr>
              <a:tblGrid>
                <a:gridCol w="2592000"/>
                <a:gridCol w="2232000"/>
                <a:gridCol w="1728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Charges de fonctionnement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612, 613, 618, 62 à 68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1 241 993 107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Cotisations acquises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3 418 141 722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Taux des charges de fonctionnement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norme : au plus 20 %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36,34 %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Charges de fonctionnement brut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61 à 68, 691, 697</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1 285 659 785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Total des produits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liste de l'annexe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3 688 331 723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Taux brut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norme : au plus 15 %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34,86 %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Charges de prestations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1 964 772 027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Coût par unité prestée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norme : au plus 15 %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63,21 %</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Charges de personnel / fonctionnement brut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66, norme : moins de 85 %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26,57 %</a:t>
                      </a:r>
                    </a:p>
                  </a:txBody>
                  <a:tcPr marL="43200" marR="43200" marT="14400" marB="14400" anchor="ctr">
                    <a:solidFill>
                      <a:srgbClr val="FFFFFF"/>
                    </a:solidFill>
                  </a:tcPr>
                </a:tc>
              </a:tr>
            </a:tbl>
          </a:graphicData>
        </a:graphic>
      </p:graphicFrame>
      <p:sp>
        <p:nvSpPr>
          <p:cNvPr id="33" name="Rounded Rectangle 32"/>
          <p:cNvSpPr/>
          <p:nvPr/>
        </p:nvSpPr>
        <p:spPr>
          <a:xfrm>
            <a:off x="5310000" y="2167228"/>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76000" y="20160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310000" y="279725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76000" y="264605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310000" y="3217276"/>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876000" y="30660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272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632000" y="1530000"/>
            <a:ext cx="4104000" cy="484084"/>
          </a:xfrm>
          <a:prstGeom prst="rect">
            <a:avLst/>
          </a:prstGeom>
          <a:noFill/>
        </p:spPr>
        <p:txBody>
          <a:bodyPr wrap="square" anchor="t" lIns="54000" rIns="54000"/>
          <a:lstStyle/>
          <a:p>
            <a:pPr algn="l"/>
            <a:r>
              <a:rPr sz="1200" b="0">
                <a:solidFill>
                  <a:srgbClr val="060606"/>
                </a:solidFill>
                <a:latin typeface="Helvetica"/>
              </a:rPr>
              <a:t>Les charges de fonctionnement représentent plus d'un tiers des cotisations.</a:t>
            </a:r>
          </a:p>
        </p:txBody>
      </p:sp>
      <p:sp>
        <p:nvSpPr>
          <p:cNvPr id="41" name="Oval 40"/>
          <p:cNvSpPr/>
          <p:nvPr/>
        </p:nvSpPr>
        <p:spPr>
          <a:xfrm>
            <a:off x="7272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632000" y="2104084"/>
            <a:ext cx="4104000" cy="298144"/>
          </a:xfrm>
          <a:prstGeom prst="rect">
            <a:avLst/>
          </a:prstGeom>
          <a:noFill/>
        </p:spPr>
        <p:txBody>
          <a:bodyPr wrap="square" anchor="t" lIns="54000" rIns="54000"/>
          <a:lstStyle/>
          <a:p>
            <a:pPr algn="l"/>
            <a:r>
              <a:rPr sz="1200" b="0">
                <a:solidFill>
                  <a:srgbClr val="060606"/>
                </a:solidFill>
                <a:latin typeface="Helvetica"/>
              </a:rPr>
              <a:t>Le taux brut dépasse aussi sa norme de 15 %.</a:t>
            </a:r>
          </a:p>
        </p:txBody>
      </p:sp>
      <p:sp>
        <p:nvSpPr>
          <p:cNvPr id="43" name="Oval 42"/>
          <p:cNvSpPr/>
          <p:nvPr/>
        </p:nvSpPr>
        <p:spPr>
          <a:xfrm>
            <a:off x="7272000" y="25102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632000" y="2492228"/>
            <a:ext cx="4104000" cy="484084"/>
          </a:xfrm>
          <a:prstGeom prst="rect">
            <a:avLst/>
          </a:prstGeom>
          <a:noFill/>
        </p:spPr>
        <p:txBody>
          <a:bodyPr wrap="square" anchor="t" lIns="54000" rIns="54000"/>
          <a:lstStyle/>
          <a:p>
            <a:pPr algn="l"/>
            <a:r>
              <a:rPr sz="1200" b="0">
                <a:solidFill>
                  <a:srgbClr val="060606"/>
                </a:solidFill>
                <a:latin typeface="Helvetica"/>
              </a:rPr>
              <a:t>Le FPPN dépense 63 FCFA de fonctionnement pour 100 FCFA de prestations.</a:t>
            </a:r>
          </a:p>
        </p:txBody>
      </p:sp>
      <p:sp>
        <p:nvSpPr>
          <p:cNvPr id="45" name="TextBox 44"/>
          <p:cNvSpPr txBox="1"/>
          <p:nvPr/>
        </p:nvSpPr>
        <p:spPr>
          <a:xfrm>
            <a:off x="7272000" y="3156312"/>
            <a:ext cx="4464000" cy="2711687"/>
          </a:xfrm>
          <a:prstGeom prst="rect">
            <a:avLst/>
          </a:prstGeom>
          <a:noFill/>
        </p:spPr>
        <p:txBody>
          <a:bodyPr wrap="square" lIns="54000" rIns="54000"/>
          <a:lstStyle/>
          <a:p>
            <a:pPr algn="just">
              <a:spcAft>
                <a:spcPts val="600"/>
              </a:spcAft>
            </a:pPr>
            <a:r>
              <a:rPr sz="1200" b="1">
                <a:solidFill>
                  <a:srgbClr val="060606"/>
                </a:solidFill>
                <a:latin typeface="Helvetica"/>
              </a:rPr>
              <a:t>Le personnel n'explique pas l'écart.</a:t>
            </a:r>
            <a:r>
              <a:rPr sz="1200" b="0">
                <a:solidFill>
                  <a:srgbClr val="060606"/>
                </a:solidFill>
                <a:latin typeface="Helvetica"/>
              </a:rPr>
              <a:t> Les charges de personnel ne représentent qu'un quart des charges de fonctionnement brut. Les indemnités des organes, les services extérieurs et les amortissements pèsent ensemble davantage.</a:t>
            </a:r>
          </a:p>
          <a:p>
            <a:pPr algn="just">
              <a:spcAft>
                <a:spcPts val="600"/>
              </a:spcAft>
            </a:pPr>
            <a:r>
              <a:rPr sz="1200" b="0">
                <a:solidFill>
                  <a:srgbClr val="060606"/>
                </a:solidFill>
                <a:latin typeface="Helvetica"/>
              </a:rPr>
              <a:t>Pour atteindre 20 % des cotisations de 2025, les charges de fonctionnement doivent baisser de 558 364 763 FCFA : l'effort doit porter sur les postes autres que le personnel.</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624874092"/>
      </p:ext>
    </p:extLst>
  </p:cSld>
  <p:clrMapOvr>
    <a:masterClrMapping/>
  </p:clrMapOvr>
  <p:transition>
    <p:fade/>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réserves des risques longs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Aucune réserve de trésorerie n'est constituée pour l'épargne, et les fonds propres sont négatifs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Besoin d'un trimestre d'engagements et de frais : 588 613 821 FCFA. Réserve de trésorerie constituée : 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Règlement d'exécution n° 004/2022/COM/UEMOA du 1er juin 2022, art. 19 et 21</a:t>
            </a:r>
          </a:p>
        </p:txBody>
      </p:sp>
      <p:sp>
        <p:nvSpPr>
          <p:cNvPr id="31" name="TextBox 30"/>
          <p:cNvSpPr txBox="1"/>
          <p:nvPr/>
        </p:nvSpPr>
        <p:spPr>
          <a:xfrm>
            <a:off x="503999" y="1350000"/>
            <a:ext cx="6696000" cy="180000"/>
          </a:xfrm>
          <a:prstGeom prst="rect">
            <a:avLst/>
          </a:prstGeom>
          <a:noFill/>
        </p:spPr>
        <p:txBody>
          <a:bodyPr wrap="square" anchor="t" lIns="54000" rIns="54000"/>
          <a:lstStyle/>
          <a:p>
            <a:pPr algn="l"/>
            <a:r>
              <a:rPr sz="900" b="0">
                <a:solidFill>
                  <a:srgbClr val="53565A"/>
                </a:solidFill>
                <a:latin typeface="Helvetica"/>
              </a:rPr>
              <a:t>Extrait : AUDIT ADENKA\DAFC\2024 et 2025 (balances des comptes)</a:t>
            </a:r>
          </a:p>
        </p:txBody>
      </p:sp>
      <p:graphicFrame>
        <p:nvGraphicFramePr>
          <p:cNvPr id="32" name="Table 31"/>
          <p:cNvGraphicFramePr>
            <a:graphicFrameLocks noGrp="1"/>
          </p:cNvGraphicFramePr>
          <p:nvPr/>
        </p:nvGraphicFramePr>
        <p:xfrm>
          <a:off x="503999" y="1548000"/>
          <a:ext cx="6695999" cy="2194901"/>
        </p:xfrm>
        <a:graphic>
          <a:graphicData uri="http://schemas.openxmlformats.org/drawingml/2006/table">
            <a:tbl>
              <a:tblPr firstRow="0" bandRow="0">
                <a:tableStyleId>{5940675A-B579-460E-94D1-54222C63F5DA}</a:tableStyleId>
              </a:tblPr>
              <a:tblGrid>
                <a:gridCol w="2520000"/>
                <a:gridCol w="2520000"/>
                <a:gridCol w="1655999"/>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Calcul</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Sorties d'épargne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débits 41195100 et 41195200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1 358 821 103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Frais attribués à l'épargne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prorata épargne / (épargne + cotisations)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995 634 179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Besoin d'un trimestre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(sorties + frais) / 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588 613 821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Réserve de trésorerie constituée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aucun compte identifié</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 FCFA</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Actifs réservés à l'épargne (pour comparaison)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banques, DAT et FCP réservés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1 608 155 525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Fonds propres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 à 14 + résultat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-438 242 200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Sorties d'épargne 2024 et 2025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art. 21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2 993 682 337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Fonds propres / sorties de deux ans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norme : au moins 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-0,15</a:t>
                      </a:r>
                    </a:p>
                  </a:txBody>
                  <a:tcPr marL="43200" marR="43200" marT="14400" marB="14400" anchor="ctr">
                    <a:solidFill>
                      <a:srgbClr val="F2F2F2"/>
                    </a:solidFill>
                  </a:tcPr>
                </a:tc>
              </a:tr>
            </a:tbl>
          </a:graphicData>
        </a:graphic>
      </p:graphicFrame>
      <p:sp>
        <p:nvSpPr>
          <p:cNvPr id="33" name="Rounded Rectangle 32"/>
          <p:cNvSpPr/>
          <p:nvPr/>
        </p:nvSpPr>
        <p:spPr>
          <a:xfrm>
            <a:off x="5526000" y="2319638"/>
            <a:ext cx="169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020000" y="21684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526000" y="2529647"/>
            <a:ext cx="169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020000" y="23784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526000" y="3522096"/>
            <a:ext cx="169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20000" y="337089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416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776000" y="1530000"/>
            <a:ext cx="3959999" cy="484084"/>
          </a:xfrm>
          <a:prstGeom prst="rect">
            <a:avLst/>
          </a:prstGeom>
          <a:noFill/>
        </p:spPr>
        <p:txBody>
          <a:bodyPr wrap="square" anchor="t" lIns="54000" rIns="54000"/>
          <a:lstStyle/>
          <a:p>
            <a:pPr algn="l"/>
            <a:r>
              <a:rPr sz="1200" b="0">
                <a:solidFill>
                  <a:srgbClr val="060606"/>
                </a:solidFill>
                <a:latin typeface="Helvetica"/>
              </a:rPr>
              <a:t>Le besoin d'un trimestre se calcule à partir des sorties réelles d'épargne.</a:t>
            </a:r>
          </a:p>
        </p:txBody>
      </p:sp>
      <p:sp>
        <p:nvSpPr>
          <p:cNvPr id="41" name="Oval 40"/>
          <p:cNvSpPr/>
          <p:nvPr/>
        </p:nvSpPr>
        <p:spPr>
          <a:xfrm>
            <a:off x="7416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776000" y="2104084"/>
            <a:ext cx="3959999" cy="484084"/>
          </a:xfrm>
          <a:prstGeom prst="rect">
            <a:avLst/>
          </a:prstGeom>
          <a:noFill/>
        </p:spPr>
        <p:txBody>
          <a:bodyPr wrap="square" anchor="t" lIns="54000" rIns="54000"/>
          <a:lstStyle/>
          <a:p>
            <a:pPr algn="l"/>
            <a:r>
              <a:rPr sz="1200" b="0">
                <a:solidFill>
                  <a:srgbClr val="060606"/>
                </a:solidFill>
                <a:latin typeface="Helvetica"/>
              </a:rPr>
              <a:t>Aucun compte de réserve de trésorerie n'existe dans les balances.</a:t>
            </a:r>
          </a:p>
        </p:txBody>
      </p:sp>
      <p:sp>
        <p:nvSpPr>
          <p:cNvPr id="43" name="Oval 42"/>
          <p:cNvSpPr/>
          <p:nvPr/>
        </p:nvSpPr>
        <p:spPr>
          <a:xfrm>
            <a:off x="7416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776000" y="2678168"/>
            <a:ext cx="3959999" cy="484084"/>
          </a:xfrm>
          <a:prstGeom prst="rect">
            <a:avLst/>
          </a:prstGeom>
          <a:noFill/>
        </p:spPr>
        <p:txBody>
          <a:bodyPr wrap="square" anchor="t" lIns="54000" rIns="54000"/>
          <a:lstStyle/>
          <a:p>
            <a:pPr algn="l"/>
            <a:r>
              <a:rPr sz="1200" b="0">
                <a:solidFill>
                  <a:srgbClr val="060606"/>
                </a:solidFill>
                <a:latin typeface="Helvetica"/>
              </a:rPr>
              <a:t>Les fonds propres négatifs rendent le ratio de l'article 21 négatif.</a:t>
            </a:r>
          </a:p>
        </p:txBody>
      </p:sp>
      <p:sp>
        <p:nvSpPr>
          <p:cNvPr id="45" name="TextBox 44"/>
          <p:cNvSpPr txBox="1"/>
          <p:nvPr/>
        </p:nvSpPr>
        <p:spPr>
          <a:xfrm>
            <a:off x="7416000" y="3342252"/>
            <a:ext cx="4319999" cy="2525747"/>
          </a:xfrm>
          <a:prstGeom prst="rect">
            <a:avLst/>
          </a:prstGeom>
          <a:noFill/>
        </p:spPr>
        <p:txBody>
          <a:bodyPr wrap="square" lIns="54000" rIns="54000"/>
          <a:lstStyle/>
          <a:p>
            <a:pPr algn="just">
              <a:spcAft>
                <a:spcPts val="600"/>
              </a:spcAft>
            </a:pPr>
            <a:r>
              <a:rPr sz="1200" b="1">
                <a:solidFill>
                  <a:srgbClr val="060606"/>
                </a:solidFill>
                <a:latin typeface="Helvetica"/>
              </a:rPr>
              <a:t>Les actifs réservés à l'épargne dépassent le besoin d'un trimestre, mais ils ne forment pas une réserve.</a:t>
            </a:r>
            <a:r>
              <a:rPr sz="1200" b="0">
                <a:solidFill>
                  <a:srgbClr val="060606"/>
                </a:solidFill>
                <a:latin typeface="Helvetica"/>
              </a:rPr>
              <a:t> Une réserve est une part des fonds propres affectée, et les fonds propres du FPPN sont négatifs.</a:t>
            </a:r>
          </a:p>
          <a:p>
            <a:pPr algn="just">
              <a:spcAft>
                <a:spcPts val="600"/>
              </a:spcAft>
            </a:pPr>
            <a:r>
              <a:rPr sz="1200" b="0">
                <a:solidFill>
                  <a:srgbClr val="060606"/>
                </a:solidFill>
                <a:latin typeface="Helvetica"/>
              </a:rPr>
              <a:t>La constitution de cette réserve passe par l'affectation d'excédents futurs, après reconstitution des fonds propres : elle doit figurer dans le plan de mise en conformité.</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FCP : fonds commun de placement | DAT : dépôt à terme</a:t>
            </a:r>
          </a:p>
        </p:txBody>
      </p:sp>
    </p:spTree>
    <p:extLst>
      <p:ext uri="{BB962C8B-B14F-4D97-AF65-F5344CB8AC3E}">
        <p14:creationId xmlns:p14="http://schemas.microsoft.com/office/powerpoint/2010/main" val="1568744838"/>
      </p:ext>
    </p:extLst>
  </p:cSld>
  <p:clrMapOvr>
    <a:masterClrMapping/>
  </p:clrMapOvr>
  <p:transition>
    <p:fade/>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Ce que dit la norme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Décision n° 05/2022 impose d'affecter à la réserve obligatoire au moins 30 % de l'excédent net du risque maladie et au moins 50 % de celui des autres risques (§ 1.1.1). Le règlement d'exécution fixe une dotation de 20 à 50 % du résultat excédentaire de l'exercice précédent (art. 18).</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Ce qui nous y a conduits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résultat global du FPPN est positif, mais la sinistralité maladie monte vite pendant que le décès reste très excédentaire (partie 5). Un excédent global peut donc cacher un déficit de la maladie, ce que la norme veut précisément rendre visible.</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Ce que fait le FPPN</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comptabilité sépare les cotisations et les prestations de chaque risque, mais pas les frais de fonctionnement. Adenka reprend d'abord la dotation réellement passée en réserve, telle que le FPPN l'a décidée.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Pourquoi répartir les frais</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L'excédent par risque est la différence entre les produits et toutes les charges affectées au risque (Décision, § 1.1.1). Sans clé fournie par le FPPN, Adenka répartit les frais au prorata des cotisations de chaque risque, la clé la plus neutre.</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Excédent par risque : pourquoi le calculer</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norme d'affectation des excédents oblige à connaître le résultat de chaque risque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FPPN ne présente qu'un résultat global. Adenka reconstitue le résultat de la maladie et du décès</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 1.1.1. Règlement d'exécution n° 004/2022/COM/UEMOA du 1er juin 2022, art. 18.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556378074"/>
      </p:ext>
    </p:extLst>
  </p:cSld>
  <p:clrMapOvr>
    <a:masterClrMapping/>
  </p:clrMapOvr>
  <p:transition>
    <p:fade/>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Excédent par risque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Depuis 2025, la maladie est déficitaire et le décès finance l'ensemble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Excédent maladie 2025 : -237 774 567 FCFA. Excédent décès 2025 : 449 151 155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35 : Excédent technique par risque, frais répartis au prorata des cotisations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3888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Répartition des frais par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maladie devient déficitaire en 2025, une fois ses frais pris en compte.</a:t>
            </a:r>
            <a:r>
              <a:rPr sz="1400" b="0">
                <a:solidFill>
                  <a:srgbClr val="060606"/>
                </a:solidFill>
                <a:latin typeface="Helvetica"/>
              </a:rPr>
              <a:t> Son excédent passe de 818 990 532 FCFA en 2022 à -237 774 567 FCFA en 2025.</a:t>
            </a:r>
          </a:p>
          <a:p>
            <a:pPr algn="just">
              <a:spcAft>
                <a:spcPts val="600"/>
              </a:spcAft>
            </a:pPr>
            <a:r>
              <a:rPr sz="1400" b="1">
                <a:solidFill>
                  <a:srgbClr val="060606"/>
                </a:solidFill>
                <a:latin typeface="Helvetica"/>
              </a:rPr>
              <a:t>Le décès est excédentaire chaque année depuis 2022.</a:t>
            </a:r>
            <a:r>
              <a:rPr sz="1400" b="0">
                <a:solidFill>
                  <a:srgbClr val="060606"/>
                </a:solidFill>
                <a:latin typeface="Helvetica"/>
              </a:rPr>
              <a:t> Il dégage 449 151 155 FCFA en 2025.</a:t>
            </a:r>
          </a:p>
          <a:p>
            <a:pPr algn="just">
              <a:spcAft>
                <a:spcPts val="600"/>
              </a:spcAft>
            </a:pPr>
            <a:r>
              <a:rPr sz="1400" b="1">
                <a:solidFill>
                  <a:srgbClr val="060606"/>
                </a:solidFill>
                <a:latin typeface="Helvetica"/>
              </a:rPr>
              <a:t>Sur les huit mois de 2026, le déficit maladie atteint -701 679 552 FCFA.</a:t>
            </a:r>
          </a:p>
          <a:p>
            <a:pPr algn="just">
              <a:spcAft>
                <a:spcPts val="600"/>
              </a:spcAft>
            </a:pPr>
            <a:r>
              <a:rPr sz="1400" b="0">
                <a:solidFill>
                  <a:srgbClr val="060606"/>
                </a:solidFill>
                <a:latin typeface="Helvetica"/>
              </a:rPr>
              <a:t>Le décès subventionne la maladie : si le barème officiel confirme une clé de 70 % pour la maladie, la cotisation maladie ne couvre plus son coût complet et doit être revue.</a:t>
            </a:r>
          </a:p>
        </p:txBody>
      </p:sp>
      <p:sp>
        <p:nvSpPr>
          <p:cNvPr id="35" name="TextBox 34"/>
          <p:cNvSpPr txBox="1"/>
          <p:nvPr/>
        </p:nvSpPr>
        <p:spPr>
          <a:xfrm>
            <a:off x="503999" y="5688000"/>
            <a:ext cx="6552000" cy="162000"/>
          </a:xfrm>
          <a:prstGeom prst="rect">
            <a:avLst/>
          </a:prstGeom>
          <a:noFill/>
        </p:spPr>
        <p:txBody>
          <a:bodyPr wrap="square" anchor="t" lIns="54000" rIns="54000"/>
          <a:lstStyle/>
          <a:p>
            <a:pPr algn="l"/>
            <a:r>
              <a:rPr sz="850" b="0">
                <a:solidFill>
                  <a:srgbClr val="53565A"/>
                </a:solidFill>
                <a:latin typeface="Helvetica"/>
              </a:rPr>
              <a:t>Valable pour : ratios de la Décision n° 05/2022 recalculés sur les balances. Statut opposable de 2022 à 2025, indicatif en 2020, 2021 et 2026.</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851322785"/>
      </p:ext>
    </p:extLst>
  </p:cSld>
  <p:clrMapOvr>
    <a:masterClrMapping/>
  </p:clrMapOvr>
  <p:transition>
    <p:fade/>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Affectation des excédents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Depuis 2024, la dotation à la réserve obligatoire atteint le minimum exigé par risque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Dotation de la réserve légale (compte 111) rapportée au résultat de l'exercice précédent, puis comparée aux deux normes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1.1.1. Règlement d'exécution n° 004/2022/COM/UEMOA du 1er juin 2022, art. 18</a:t>
            </a:r>
          </a:p>
        </p:txBody>
      </p:sp>
      <p:sp>
        <p:nvSpPr>
          <p:cNvPr id="31" name="TextBox 30"/>
          <p:cNvSpPr txBox="1"/>
          <p:nvPr/>
        </p:nvSpPr>
        <p:spPr>
          <a:xfrm>
            <a:off x="503999" y="1386000"/>
            <a:ext cx="10368000" cy="216000"/>
          </a:xfrm>
          <a:prstGeom prst="rect">
            <a:avLst/>
          </a:prstGeom>
          <a:noFill/>
        </p:spPr>
        <p:txBody>
          <a:bodyPr wrap="square" anchor="t" lIns="54000" rIns="54000"/>
          <a:lstStyle/>
          <a:p>
            <a:pPr algn="ctr"/>
            <a:r>
              <a:rPr sz="1200" b="0">
                <a:solidFill>
                  <a:srgbClr val="EFAC62"/>
                </a:solidFill>
                <a:latin typeface="Helvetica"/>
              </a:rPr>
              <a:t>Tableau 65 : Dotation de la réserve obligatoire et normes</a:t>
            </a:r>
          </a:p>
        </p:txBody>
      </p:sp>
      <p:graphicFrame>
        <p:nvGraphicFramePr>
          <p:cNvPr id="32" name="Table 31"/>
          <p:cNvGraphicFramePr>
            <a:graphicFrameLocks noGrp="1"/>
          </p:cNvGraphicFramePr>
          <p:nvPr/>
        </p:nvGraphicFramePr>
        <p:xfrm>
          <a:off x="503999" y="1655999"/>
          <a:ext cx="10368000" cy="992446"/>
        </p:xfrm>
        <a:graphic>
          <a:graphicData uri="http://schemas.openxmlformats.org/drawingml/2006/table">
            <a:tbl>
              <a:tblPr firstRow="0" bandRow="0">
                <a:tableStyleId>{5940675A-B579-460E-94D1-54222C63F5DA}</a:tableStyleId>
              </a:tblPr>
              <a:tblGrid>
                <a:gridCol w="1152000"/>
                <a:gridCol w="1800000"/>
                <a:gridCol w="1584000"/>
                <a:gridCol w="936000"/>
                <a:gridCol w="1584000"/>
                <a:gridCol w="1584000"/>
                <a:gridCol w="1728000"/>
              </a:tblGrid>
              <a:tr h="362419">
                <a:tc>
                  <a:txBody>
                    <a:bodyPr/>
                    <a:lstStyle/>
                    <a:p>
                      <a:pPr marL="0" indent="0" lvl="0">
                        <a:buNone/>
                      </a:pPr>
                      <a:r>
                        <a:rPr sz="1000" b="1">
                          <a:solidFill>
                            <a:srgbClr val="FFFFFF"/>
                          </a:solidFill>
                          <a:latin typeface="Helvetica"/>
                        </a:rPr>
                        <a:t>Affectation en</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Résultat de l'exercice précédent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Dotation réelle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Taux</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Minimum de 20 %</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Minimum par risque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Écart au minimum par risque</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2023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2 060 332 677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184 219 879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8,94 %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412 066 535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387 843 936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-203 624 057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930 629 102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335 026 477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36,00 %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186 125 820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320 983 343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14 043 134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2025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792 069 641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300 986 463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38,00 %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158 413 928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300 300 308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686 155 FCFA</a:t>
                      </a:r>
                    </a:p>
                  </a:txBody>
                  <a:tcPr marL="43200" marR="43200" marT="14400" marB="14400" anchor="ctr">
                    <a:solidFill>
                      <a:srgbClr val="FFFFFF"/>
                    </a:solidFill>
                  </a:tcPr>
                </a:tc>
              </a:tr>
            </a:tbl>
          </a:graphicData>
        </a:graphic>
      </p:graphicFrame>
      <p:sp>
        <p:nvSpPr>
          <p:cNvPr id="33" name="TextBox 32"/>
          <p:cNvSpPr txBox="1"/>
          <p:nvPr/>
        </p:nvSpPr>
        <p:spPr>
          <a:xfrm>
            <a:off x="503999" y="2666448"/>
            <a:ext cx="11232000" cy="162000"/>
          </a:xfrm>
          <a:prstGeom prst="rect">
            <a:avLst/>
          </a:prstGeom>
          <a:noFill/>
        </p:spPr>
        <p:txBody>
          <a:bodyPr wrap="square" anchor="t" lIns="54000" rIns="54000"/>
          <a:lstStyle/>
          <a:p>
            <a:pPr algn="l"/>
            <a:r>
              <a:rPr sz="850" b="0">
                <a:solidFill>
                  <a:srgbClr val="53565A"/>
                </a:solidFill>
                <a:latin typeface="Helvetica"/>
              </a:rPr>
              <a:t>Valable pour : ratios de la Décision n° 05/2022 recalculés sur les balances. Statut opposable de 2022 à 2025, indicatif en 2020, 2021 et 2026.</a:t>
            </a:r>
          </a:p>
        </p:txBody>
      </p:sp>
      <p:sp>
        <p:nvSpPr>
          <p:cNvPr id="34" name="TextBox 33"/>
          <p:cNvSpPr txBox="1"/>
          <p:nvPr/>
        </p:nvSpPr>
        <p:spPr>
          <a:xfrm>
            <a:off x="503999" y="2954448"/>
            <a:ext cx="11232000" cy="2913552"/>
          </a:xfrm>
          <a:prstGeom prst="rect">
            <a:avLst/>
          </a:prstGeom>
          <a:noFill/>
        </p:spPr>
        <p:txBody>
          <a:bodyPr wrap="square" lIns="54000" rIns="54000"/>
          <a:lstStyle/>
          <a:p>
            <a:pPr algn="just">
              <a:spcAft>
                <a:spcPts val="600"/>
              </a:spcAft>
            </a:pPr>
            <a:r>
              <a:rPr sz="1300" b="1">
                <a:solidFill>
                  <a:srgbClr val="060606"/>
                </a:solidFill>
                <a:latin typeface="Helvetica"/>
              </a:rPr>
              <a:t>La dotation passe de 8,94 % du résultat en 2023 à 38,00 % en 2025.</a:t>
            </a:r>
            <a:r>
              <a:rPr sz="1300" b="0">
                <a:solidFill>
                  <a:srgbClr val="060606"/>
                </a:solidFill>
                <a:latin typeface="Helvetica"/>
              </a:rPr>
              <a:t> En 2023, elle restait sous les deux minimums, pendant le délai de mise en conformité de trois ans.</a:t>
            </a:r>
          </a:p>
          <a:p>
            <a:pPr algn="just">
              <a:spcAft>
                <a:spcPts val="600"/>
              </a:spcAft>
            </a:pPr>
            <a:r>
              <a:rPr sz="1300" b="1">
                <a:solidFill>
                  <a:srgbClr val="060606"/>
                </a:solidFill>
                <a:latin typeface="Helvetica"/>
              </a:rPr>
              <a:t>En 2024, une partie des excédents a aussi servi à apurer les pertes reportées et à doter les réserves facultatives.</a:t>
            </a:r>
          </a:p>
          <a:p>
            <a:pPr algn="just">
              <a:spcAft>
                <a:spcPts val="600"/>
              </a:spcAft>
            </a:pPr>
            <a:r>
              <a:rPr sz="1300" b="0">
                <a:solidFill>
                  <a:srgbClr val="060606"/>
                </a:solidFill>
                <a:latin typeface="Helvetica"/>
              </a:rPr>
              <a:t>Le FPPN respecte désormais la règle d'affectation, mais la réserve reste sous six mois de prestations : la règle d'affectation seule ne suffit pas à rattraper le retard.</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1352537658"/>
      </p:ext>
    </p:extLst>
  </p:cSld>
  <p:clrMapOvr>
    <a:masterClrMapping/>
  </p:clrMapOvr>
  <p:transition>
    <p:fade/>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Marge de solvabilité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marge disponible ne couvre la marge exigée que si l'on ignore les pertes reportées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2025 : marge exigée 566 209 845 FCFA, disponible 4 396 841 817 FCFA comme le FPPN, -438 242 200 FCFA nette des pertes</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36 : Marge de solvabilité exigée et disponible</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5976000" cy="3888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1.1.1. PCMS, fiche n° 1</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La marge disponible comme le FPPN repose surtout sur le compte 10620000</a:t>
            </a:r>
            <a:r>
              <a:rPr sz="1400" b="0">
                <a:solidFill>
                  <a:srgbClr val="060606"/>
                </a:solidFill>
                <a:latin typeface="Helvetica"/>
              </a:rPr>
              <a:t> (2 899 400 000 FCFA). Le chef comptable l'explique par la réévaluation du terrain du siège, ce que son intitulé de 2020 à 2025 (« Réévaluation matériels ») ne contredit pas.</a:t>
            </a:r>
          </a:p>
          <a:p>
            <a:pPr algn="just">
              <a:spcAft>
                <a:spcPts val="600"/>
              </a:spcAft>
            </a:pPr>
            <a:r>
              <a:rPr sz="1400" b="1">
                <a:solidFill>
                  <a:srgbClr val="060606"/>
                </a:solidFill>
                <a:latin typeface="Helvetica"/>
              </a:rPr>
              <a:t>Nette des pertes reportées, la marge disponible est négative chaque année</a:t>
            </a:r>
            <a:r>
              <a:rPr sz="1400" b="0">
                <a:solidFill>
                  <a:srgbClr val="060606"/>
                </a:solidFill>
                <a:latin typeface="Helvetica"/>
              </a:rPr>
              <a:t>, même si elle se rapproche de zéro jusqu'en 2025.</a:t>
            </a:r>
          </a:p>
          <a:p>
            <a:pPr algn="just">
              <a:spcAft>
                <a:spcPts val="600"/>
              </a:spcAft>
            </a:pPr>
            <a:r>
              <a:rPr sz="1400" b="1">
                <a:solidFill>
                  <a:srgbClr val="060606"/>
                </a:solidFill>
                <a:latin typeface="Helvetica"/>
              </a:rPr>
              <a:t>La marge exigée augmente avec les cotisations</a:t>
            </a:r>
            <a:r>
              <a:rPr sz="1400" b="0">
                <a:solidFill>
                  <a:srgbClr val="060606"/>
                </a:solidFill>
                <a:latin typeface="Helvetica"/>
              </a:rPr>
              <a:t> : elle passe de 423 039 138 FCFA en 2021 à 615 265 510 FCFA en 2026.</a:t>
            </a:r>
          </a:p>
          <a:p>
            <a:pPr algn="just">
              <a:spcAft>
                <a:spcPts val="600"/>
              </a:spcAft>
            </a:pPr>
            <a:r>
              <a:rPr sz="1400" b="0">
                <a:solidFill>
                  <a:srgbClr val="060606"/>
                </a:solidFill>
                <a:latin typeface="Helvetica"/>
              </a:rPr>
              <a:t>Un écart de réévaluation ne compte pas dans la marge de solvabilité : la lecture retraitée, qui l'exclut, devient la lecture de référence, et le FPPN est non conforme. Le rapport de réévaluation reste à transmettre (PBC, item 86).</a:t>
            </a:r>
          </a:p>
        </p:txBody>
      </p:sp>
      <p:sp>
        <p:nvSpPr>
          <p:cNvPr id="35" name="TextBox 34"/>
          <p:cNvSpPr txBox="1"/>
          <p:nvPr/>
        </p:nvSpPr>
        <p:spPr>
          <a:xfrm>
            <a:off x="503999" y="5688000"/>
            <a:ext cx="5976000" cy="162000"/>
          </a:xfrm>
          <a:prstGeom prst="rect">
            <a:avLst/>
          </a:prstGeom>
          <a:noFill/>
        </p:spPr>
        <p:txBody>
          <a:bodyPr wrap="square" anchor="t" lIns="54000" rIns="54000"/>
          <a:lstStyle/>
          <a:p>
            <a:pPr algn="l"/>
            <a:r>
              <a:rPr sz="850" b="0">
                <a:solidFill>
                  <a:srgbClr val="53565A"/>
                </a:solidFill>
                <a:latin typeface="Helvetica"/>
              </a:rPr>
              <a:t>Valable pour : ratios de la Décision n° 05/2022 recalculés sur les balances. Statut opposable de 2022 à 2025, indicatif en 2020, 2021 et 2026.</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PBC : liste des documents demandés au client</a:t>
            </a:r>
          </a:p>
        </p:txBody>
      </p:sp>
    </p:spTree>
    <p:extLst>
      <p:ext uri="{BB962C8B-B14F-4D97-AF65-F5344CB8AC3E}">
        <p14:creationId xmlns:p14="http://schemas.microsoft.com/office/powerpoint/2010/main" val="1852274731"/>
      </p:ext>
    </p:extLst>
  </p:cSld>
  <p:clrMapOvr>
    <a:masterClrMapping/>
  </p:clrMapOvr>
  <p:transition>
    <p:fade/>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Contrôle du plan comptable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Deux écarts au plan comptable touchent directement les calculs actuariels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Contrôle limité aux comptes qui alimentent les provisions, les réserves, l'épargne, les cotisations, les prestations et les placements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PCMS (mai 2012), liste des comptes et fiches n° 1, 2, 6 et 25. Balances du FPPN</a:t>
            </a:r>
          </a:p>
        </p:txBody>
      </p:sp>
      <p:sp>
        <p:nvSpPr>
          <p:cNvPr id="31" name="TextBox 30"/>
          <p:cNvSpPr txBox="1"/>
          <p:nvPr/>
        </p:nvSpPr>
        <p:spPr>
          <a:xfrm>
            <a:off x="503999" y="1386000"/>
            <a:ext cx="11231999" cy="216000"/>
          </a:xfrm>
          <a:prstGeom prst="rect">
            <a:avLst/>
          </a:prstGeom>
          <a:noFill/>
        </p:spPr>
        <p:txBody>
          <a:bodyPr wrap="square" anchor="t" lIns="54000" rIns="54000"/>
          <a:lstStyle/>
          <a:p>
            <a:pPr algn="ctr"/>
            <a:r>
              <a:rPr sz="1200" b="0">
                <a:solidFill>
                  <a:srgbClr val="EFAC62"/>
                </a:solidFill>
                <a:latin typeface="Helvetica"/>
              </a:rPr>
              <a:t>Tableau 66 : Contrôle du classement des comptes selon le PCMS</a:t>
            </a:r>
          </a:p>
        </p:txBody>
      </p:sp>
      <p:graphicFrame>
        <p:nvGraphicFramePr>
          <p:cNvPr id="32" name="Table 31"/>
          <p:cNvGraphicFramePr>
            <a:graphicFrameLocks noGrp="1"/>
          </p:cNvGraphicFramePr>
          <p:nvPr/>
        </p:nvGraphicFramePr>
        <p:xfrm>
          <a:off x="503999" y="1655999"/>
          <a:ext cx="11231996" cy="3051760"/>
        </p:xfrm>
        <a:graphic>
          <a:graphicData uri="http://schemas.openxmlformats.org/drawingml/2006/table">
            <a:tbl>
              <a:tblPr firstRow="0" bandRow="0">
                <a:tableStyleId>{5940675A-B579-460E-94D1-54222C63F5DA}</a:tableStyleId>
              </a:tblPr>
              <a:tblGrid>
                <a:gridCol w="1655999"/>
                <a:gridCol w="2951999"/>
                <a:gridCol w="3311999"/>
                <a:gridCol w="3311999"/>
              </a:tblGrid>
              <a:tr h="187148">
                <a:tc>
                  <a:txBody>
                    <a:bodyPr/>
                    <a:lstStyle/>
                    <a:p>
                      <a:pPr marL="0" indent="0" lvl="0">
                        <a:buNone/>
                      </a:pPr>
                      <a:r>
                        <a:rPr sz="850" b="1">
                          <a:solidFill>
                            <a:srgbClr val="FFFFFF"/>
                          </a:solidFill>
                          <a:latin typeface="Helvetica"/>
                        </a:rPr>
                        <a:t>Point</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Attendu selon le PCMS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Constat</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Incidence</a:t>
                      </a:r>
                    </a:p>
                  </a:txBody>
                  <a:tcPr marL="43200" marR="43200" marT="14400" marB="14400" anchor="ctr">
                    <a:solidFill>
                      <a:srgbClr val="060606"/>
                    </a:solidFill>
                  </a:tcPr>
                </a:tc>
              </a:tr>
              <a:tr h="575792">
                <a:tc>
                  <a:txBody>
                    <a:bodyPr/>
                    <a:lstStyle/>
                    <a:p>
                      <a:pPr marL="0" indent="0" lvl="0">
                        <a:buNone/>
                      </a:pPr>
                      <a:r>
                        <a:rPr sz="850" b="1">
                          <a:solidFill>
                            <a:srgbClr val="060606"/>
                          </a:solidFill>
                          <a:latin typeface="Helvetica"/>
                        </a:rPr>
                        <a:t>Provisions pour prestations à payer</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19011 et 19012 (classe 19, provisions techniques). La rubrique 15 est réservée aux provisions réglementées à caractère fiscal.</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Conforme de 2020 à 2023. Depuis 2024, les provisions techniques sont classées en provisions réglementées (158), sans changement de montant.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Aucune sur les montants. Les provisions techniques n'apparaissent plus comme telles dans le bilan, ce qui gêne leur lecture et le contrôle de l'article 7 du règlement d'exécution.</a:t>
                      </a:r>
                    </a:p>
                  </a:txBody>
                  <a:tcPr marL="43200" marR="43200" marT="14400" marB="14400" anchor="ctr">
                    <a:solidFill>
                      <a:srgbClr val="FFFFFF"/>
                    </a:solidFill>
                  </a:tcPr>
                </a:tc>
              </a:tr>
              <a:tr h="446244">
                <a:tc>
                  <a:txBody>
                    <a:bodyPr/>
                    <a:lstStyle/>
                    <a:p>
                      <a:pPr marL="0" indent="0" lvl="0">
                        <a:buNone/>
                      </a:pPr>
                      <a:r>
                        <a:rPr sz="850" b="1">
                          <a:solidFill>
                            <a:srgbClr val="060606"/>
                          </a:solidFill>
                          <a:latin typeface="Helvetica"/>
                        </a:rPr>
                        <a:t>Réserve disponible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106 = écarts de réévaluation des immeubles (fonds mutualistes). Les réserves vont en 11.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Libellé et rubrique ne concordent pas. L'origine du montant (réévaluation ou excédents mis en réserve) n'est pas documentée.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Le montant compte ou non dans la marge de solvabilité selon sa nature : à confirmer par le FPPN.</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Réserves légales et facultatives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111 réserves légales, 118 autres réserves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Conforme.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Base du ratio de réserve obligatoire et de la marge de solvabilité.</a:t>
                      </a:r>
                    </a:p>
                  </a:txBody>
                  <a:tcPr marL="43200" marR="43200" marT="14400" marB="14400" anchor="ctr">
                    <a:solidFill>
                      <a:srgbClr val="FFFFFF"/>
                    </a:solidFill>
                  </a:tcPr>
                </a:tc>
              </a:tr>
              <a:tr h="446244">
                <a:tc>
                  <a:txBody>
                    <a:bodyPr/>
                    <a:lstStyle/>
                    <a:p>
                      <a:pPr marL="0" indent="0" lvl="0">
                        <a:buNone/>
                      </a:pPr>
                      <a:r>
                        <a:rPr sz="850" b="1">
                          <a:solidFill>
                            <a:srgbClr val="060606"/>
                          </a:solidFill>
                          <a:latin typeface="Helvetica"/>
                        </a:rPr>
                        <a:t>Épargne des adhérents (PEP, EFC)</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41195 « Autres comptes créditeurs des adhérents » (classe 4, tiers).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Compte conforme au PCMS. Le PCMS ne prévoit pas de compte propre aux risques longs. Le règlement d'exécution exige des états financiers par risque long (art. 13).</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Classée en dette à court terme, l'épargne pèse sur les ratios de liquidité. Son échéance réelle reste à établir avec les âges.</a:t>
                      </a:r>
                    </a:p>
                  </a:txBody>
                  <a:tcPr marL="43200" marR="43200" marT="14400" marB="14400" anchor="ctr">
                    <a:solidFill>
                      <a:srgbClr val="F2F2F2"/>
                    </a:solidFill>
                  </a:tcPr>
                </a:tc>
              </a:tr>
              <a:tr h="446244">
                <a:tc>
                  <a:txBody>
                    <a:bodyPr/>
                    <a:lstStyle/>
                    <a:p>
                      <a:pPr marL="0" indent="0" lvl="0">
                        <a:buNone/>
                      </a:pPr>
                      <a:r>
                        <a:rPr sz="850" b="1">
                          <a:solidFill>
                            <a:srgbClr val="060606"/>
                          </a:solidFill>
                          <a:latin typeface="Helvetica"/>
                        </a:rPr>
                        <a:t>Avances au CMP, au Grenier et créance sur l'Hôpital de la Police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471 = comptes d'attente débiteurs (opérations à régulariser). Les prêts et placements durables relèvent des classes 26 et 27.</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Des emplois durables de 11 603 989 675 FCFA au 31/08/2026 sont suivis en comptes d'attente ou de tiers.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Ils sont comptés en court terme dans les ratios de liquidité et absents des emplois longs du ratio d'équilibre stable.</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Cotisations et prestations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701 maladie, 702 décès. 601 maladie, 602 obsèques, 608 autres prestations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Conforme.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Base de la sinistralité réglementaire.</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Primes, indemnités et supplément familial du personnel</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641 = impôts et taxes sur salaires. Les rémunérations relèvent de 66.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Ces montants sont classés en impôts et taxes.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Faible (moins de 8 000 000 FCFA par an) : le taux de charges de personnel est légèrement sous-estimé.</a:t>
                      </a:r>
                    </a:p>
                  </a:txBody>
                  <a:tcPr marL="43200" marR="43200" marT="14400" marB="14400" anchor="ctr">
                    <a:solidFill>
                      <a:srgbClr val="FFFFFF"/>
                    </a:solidFill>
                  </a:tcPr>
                </a:tc>
              </a:tr>
            </a:tbl>
          </a:graphicData>
        </a:graphic>
      </p:graphicFrame>
      <p:sp>
        <p:nvSpPr>
          <p:cNvPr id="33" name="TextBox 32"/>
          <p:cNvSpPr txBox="1"/>
          <p:nvPr/>
        </p:nvSpPr>
        <p:spPr>
          <a:xfrm>
            <a:off x="503999" y="4725763"/>
            <a:ext cx="11232000" cy="162000"/>
          </a:xfrm>
          <a:prstGeom prst="rect">
            <a:avLst/>
          </a:prstGeom>
          <a:noFill/>
        </p:spPr>
        <p:txBody>
          <a:bodyPr wrap="square" anchor="t" lIns="54000" rIns="54000"/>
          <a:lstStyle/>
          <a:p>
            <a:pPr algn="l"/>
            <a:r>
              <a:rPr sz="850" b="0">
                <a:solidFill>
                  <a:srgbClr val="53565A"/>
                </a:solidFill>
                <a:latin typeface="Helvetica"/>
              </a:rPr>
              <a:t>Valable pour : ratios de la Décision n° 05/2022 recalculés sur les balances. Statut opposable de 2022 à 2025, indicatif en 2020, 2021 et 2026.</a:t>
            </a:r>
          </a:p>
        </p:txBody>
      </p:sp>
      <p:sp>
        <p:nvSpPr>
          <p:cNvPr id="34" name="TextBox 33"/>
          <p:cNvSpPr txBox="1"/>
          <p:nvPr/>
        </p:nvSpPr>
        <p:spPr>
          <a:xfrm>
            <a:off x="503999" y="5013763"/>
            <a:ext cx="11232000" cy="854236"/>
          </a:xfrm>
          <a:prstGeom prst="rect">
            <a:avLst/>
          </a:prstGeom>
          <a:noFill/>
        </p:spPr>
        <p:txBody>
          <a:bodyPr wrap="square" lIns="54000" rIns="54000"/>
          <a:lstStyle/>
          <a:p>
            <a:pPr algn="just">
              <a:spcAft>
                <a:spcPts val="600"/>
              </a:spcAft>
            </a:pPr>
            <a:r>
              <a:rPr sz="1300" b="1">
                <a:solidFill>
                  <a:srgbClr val="060606"/>
                </a:solidFill>
                <a:latin typeface="Helvetica"/>
              </a:rPr>
              <a:t>Le reclassement des provisions techniques en provisions réglementées depuis 2024 et l'usage du compte 106 sont les deux écarts qui changent la lecture du bilan.</a:t>
            </a:r>
            <a:r>
              <a:rPr sz="1300" b="0">
                <a:solidFill>
                  <a:srgbClr val="060606"/>
                </a:solidFill>
                <a:latin typeface="Helvetica"/>
              </a:rPr>
              <a:t> Les autres comptes suivent le plan comptable.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PCMS : plan comptable des mutuelles sociales | PEP : Plan Épargne Plus | EFC : entraide fin de carrière | CMP : Centre Médical du Policier (rapport de gestion 2023)</a:t>
            </a:r>
          </a:p>
        </p:txBody>
      </p:sp>
    </p:spTree>
    <p:extLst>
      <p:ext uri="{BB962C8B-B14F-4D97-AF65-F5344CB8AC3E}">
        <p14:creationId xmlns:p14="http://schemas.microsoft.com/office/powerpoint/2010/main" val="419665088"/>
      </p:ext>
    </p:extLst>
  </p:cSld>
  <p:clrMapOvr>
    <a:masterClrMapping/>
  </p:clrMapOvr>
  <p:transition>
    <p:fade/>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Exigences non chiffrées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Plusieurs obligations du règlement d'exécution ne se mesurent pas par un ratio</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obligation est comparée aux pièces disponibles. Plusieurs restent à documenter par le FPPN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Règlement n° 07/2009/CM/UEMOA du 26 juin 2009. Documents reçus le 15/10/2026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67 : Exigences non chiffrées et situation du FPPN</a:t>
            </a:r>
          </a:p>
        </p:txBody>
      </p:sp>
      <p:graphicFrame>
        <p:nvGraphicFramePr>
          <p:cNvPr id="32" name="Table 31"/>
          <p:cNvGraphicFramePr>
            <a:graphicFrameLocks noGrp="1"/>
          </p:cNvGraphicFramePr>
          <p:nvPr/>
        </p:nvGraphicFramePr>
        <p:xfrm>
          <a:off x="503999" y="1655999"/>
          <a:ext cx="11232000" cy="2301588"/>
        </p:xfrm>
        <a:graphic>
          <a:graphicData uri="http://schemas.openxmlformats.org/drawingml/2006/table">
            <a:tbl>
              <a:tblPr firstRow="0" bandRow="0">
                <a:tableStyleId>{5940675A-B579-460E-94D1-54222C63F5DA}</a:tableStyleId>
              </a:tblPr>
              <a:tblGrid>
                <a:gridCol w="3456000"/>
                <a:gridCol w="2232000"/>
                <a:gridCol w="5544000"/>
              </a:tblGrid>
              <a:tr h="194768">
                <a:tc>
                  <a:txBody>
                    <a:bodyPr/>
                    <a:lstStyle/>
                    <a:p>
                      <a:pPr marL="0" indent="0" lvl="0">
                        <a:buNone/>
                      </a:pPr>
                      <a:r>
                        <a:rPr sz="900" b="1">
                          <a:solidFill>
                            <a:srgbClr val="FFFFFF"/>
                          </a:solidFill>
                          <a:latin typeface="Helvetica"/>
                        </a:rPr>
                        <a:t>Exigence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Texte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Situation constatée</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Provisions techniques suffisantes à tout moment, calculées dossier par dossier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 d'exécution, art. 7 à 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Montant identique de 2020 à 2026 : la provision n'est pas recalculée (partie 9).</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Comptes certifiés par un commissaire aux comptes (risques longs)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 d'exécution, art. 12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rapport de commissaire aux comptes n'a été transmis.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États financiers propres à chaque risque long</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 d'exécution, art. 13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Les balances ne séparent pas l'EFC et le PEP en états distincts.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Étude actuarielle tous les cinq ans (risques longs)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 d'exécution, art. 14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Aucune étude antérieure n'a été transmise. La présente mission peut y contribuer.</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Cantonnement des patrimoines entre risques courts et longs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 d'exécution, art. 15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Des comptes bancaires réservés existent, mais ils couvrent seulement 16,28 % de l'épargne.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Placements sûrs, rentables, liquides et diversifiés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 d'exécution, art. 17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La décision ministérielle qui fixe ces conditions n'a pas été transmise.</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Pertes des activités sanitaires non couvertes par les cotisations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 d'exécution, art. 27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 FPPN finance des charges de fonctionnement « au CMP » sans comptabilité séparée transmise.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Adhésion et cotisation au fonds national de garantie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 n° 07/2009, art. 63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compte du fonds de garantie n'apparaît dans les balances.</a:t>
                      </a:r>
                    </a:p>
                  </a:txBody>
                  <a:tcPr marL="43200" marR="43200" marT="14400" marB="14400" anchor="ctr">
                    <a:solidFill>
                      <a:srgbClr val="F2F2F2"/>
                    </a:solidFill>
                  </a:tcPr>
                </a:tc>
              </a:tr>
            </a:tbl>
          </a:graphicData>
        </a:graphic>
      </p:graphicFrame>
      <p:sp>
        <p:nvSpPr>
          <p:cNvPr id="33" name="TextBox 32"/>
          <p:cNvSpPr txBox="1"/>
          <p:nvPr/>
        </p:nvSpPr>
        <p:spPr>
          <a:xfrm>
            <a:off x="503999" y="3975592"/>
            <a:ext cx="11232000" cy="162000"/>
          </a:xfrm>
          <a:prstGeom prst="rect">
            <a:avLst/>
          </a:prstGeom>
          <a:noFill/>
        </p:spPr>
        <p:txBody>
          <a:bodyPr wrap="square" anchor="t" lIns="54000" rIns="54000"/>
          <a:lstStyle/>
          <a:p>
            <a:pPr algn="l"/>
            <a:r>
              <a:rPr sz="850" b="0">
                <a:solidFill>
                  <a:srgbClr val="53565A"/>
                </a:solidFill>
                <a:latin typeface="Helvetica"/>
              </a:rPr>
              <a:t>Valable pour : ratios de la Décision n° 05/2022 recalculés sur les balances. Statut opposable de 2022 à 2025, indicatif en 2020, 2021 et 2026.</a:t>
            </a:r>
          </a:p>
        </p:txBody>
      </p:sp>
      <p:sp>
        <p:nvSpPr>
          <p:cNvPr id="34" name="TextBox 33"/>
          <p:cNvSpPr txBox="1"/>
          <p:nvPr/>
        </p:nvSpPr>
        <p:spPr>
          <a:xfrm>
            <a:off x="503999" y="4263592"/>
            <a:ext cx="11232000" cy="1604407"/>
          </a:xfrm>
          <a:prstGeom prst="rect">
            <a:avLst/>
          </a:prstGeom>
          <a:noFill/>
        </p:spPr>
        <p:txBody>
          <a:bodyPr wrap="square" lIns="54000" rIns="54000"/>
          <a:lstStyle/>
          <a:p>
            <a:pPr algn="just">
              <a:spcAft>
                <a:spcPts val="600"/>
              </a:spcAft>
            </a:pPr>
            <a:r>
              <a:rPr sz="1300" b="1">
                <a:solidFill>
                  <a:srgbClr val="060606"/>
                </a:solidFill>
                <a:latin typeface="Helvetica"/>
              </a:rPr>
              <a:t>Les exigences propres aux risques longs ne sont pas documentées.</a:t>
            </a:r>
            <a:r>
              <a:rPr sz="1300" b="0">
                <a:solidFill>
                  <a:srgbClr val="060606"/>
                </a:solidFill>
                <a:latin typeface="Helvetica"/>
              </a:rPr>
              <a:t> Elles découlent pourtant directement de la gestion de l'EFC et du PEP.</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 | CMP : Centre Médical du Policier (rapport de gestion 2023)</a:t>
            </a:r>
          </a:p>
        </p:txBody>
      </p:sp>
    </p:spTree>
    <p:extLst>
      <p:ext uri="{BB962C8B-B14F-4D97-AF65-F5344CB8AC3E}">
        <p14:creationId xmlns:p14="http://schemas.microsoft.com/office/powerpoint/2010/main" val="3319820282"/>
      </p:ext>
    </p:extLst>
  </p:cSld>
  <p:clrMapOvr>
    <a:masterClrMapping/>
  </p:clrMapOvr>
  <p:transition>
    <p:fade/>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Exposition aux sanctions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non-respect des règles prudentielles expose le FPPN à des sanctions graduées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Barème de l'arrêté n° 00115/MEPS/CAB du 12/12/2023 pour une mutuelle de plus de 10 000 000 FCFA de cotisations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arrêté n° 00115/MEPS/CAB du 12/12/2023, annexe. Règlement n° 07/2009/CM/UEMOA du 26 juin 2009, art. 83 et 84. Règlement d'exécution n° 004/2022/COM/UEMOA du 1er juin 2022, art. 38 à 41</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68 : Manquements liés aux constats du rapport et sanctions prévues</a:t>
            </a:r>
          </a:p>
        </p:txBody>
      </p:sp>
      <p:graphicFrame>
        <p:nvGraphicFramePr>
          <p:cNvPr id="32" name="Table 31"/>
          <p:cNvGraphicFramePr>
            <a:graphicFrameLocks noGrp="1"/>
          </p:cNvGraphicFramePr>
          <p:nvPr/>
        </p:nvGraphicFramePr>
        <p:xfrm>
          <a:off x="503999" y="1655999"/>
          <a:ext cx="11231999" cy="1602085"/>
        </p:xfrm>
        <a:graphic>
          <a:graphicData uri="http://schemas.openxmlformats.org/drawingml/2006/table">
            <a:tbl>
              <a:tblPr firstRow="0" bandRow="0">
                <a:tableStyleId>{5940675A-B579-460E-94D1-54222C63F5DA}</a:tableStyleId>
              </a:tblPr>
              <a:tblGrid>
                <a:gridCol w="3600000"/>
                <a:gridCol w="1224000"/>
                <a:gridCol w="3671999"/>
                <a:gridCol w="2736000"/>
              </a:tblGrid>
              <a:tr h="362419">
                <a:tc>
                  <a:txBody>
                    <a:bodyPr/>
                    <a:lstStyle/>
                    <a:p>
                      <a:pPr marL="0" indent="0" lvl="0">
                        <a:buNone/>
                      </a:pPr>
                      <a:r>
                        <a:rPr sz="1000" b="1">
                          <a:solidFill>
                            <a:srgbClr val="FFFFFF"/>
                          </a:solidFill>
                          <a:latin typeface="Helvetica"/>
                        </a:rPr>
                        <a:t>Manquement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Ligne de l'arrêté</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Sanction</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Peine pécuniaire</a:t>
                      </a:r>
                    </a:p>
                  </a:txBody>
                  <a:tcPr marL="43200" marR="43200" marT="14400" marB="14400" anchor="ctr">
                    <a:solidFill>
                      <a:srgbClr val="060606"/>
                    </a:solidFill>
                  </a:tcPr>
                </a:tc>
              </a:tr>
              <a:tr h="514828">
                <a:tc>
                  <a:txBody>
                    <a:bodyPr/>
                    <a:lstStyle/>
                    <a:p>
                      <a:pPr marL="0" indent="0" lvl="0">
                        <a:buNone/>
                      </a:pPr>
                      <a:r>
                        <a:rPr sz="1000" b="1">
                          <a:solidFill>
                            <a:srgbClr val="060606"/>
                          </a:solidFill>
                          <a:latin typeface="Helvetica"/>
                        </a:rPr>
                        <a:t>Non-respect des règles comptables et prudentielles durant un exercice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Avertissement, injonction de régularisation, suspension des dirigeants ou suspension provisoire de l'agrément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1 000 000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Défaut d'adhésion ou de versement au fonds national de garantie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Mêmes sanctions que la ligne 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1 000 000 FCFA</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Non-respect des règles prudentielles sur deux exercices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Retrait de l'agrément (règlement n° 07/2009, art. 84)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3 000 000 FCFA</a:t>
                      </a:r>
                    </a:p>
                  </a:txBody>
                  <a:tcPr marL="43200" marR="43200" marT="14400" marB="14400" anchor="ctr">
                    <a:solidFill>
                      <a:srgbClr val="FFFFFF"/>
                    </a:solidFill>
                  </a:tcPr>
                </a:tc>
              </a:tr>
            </a:tbl>
          </a:graphicData>
        </a:graphic>
      </p:graphicFrame>
      <p:sp>
        <p:nvSpPr>
          <p:cNvPr id="33" name="TextBox 32"/>
          <p:cNvSpPr txBox="1"/>
          <p:nvPr/>
        </p:nvSpPr>
        <p:spPr>
          <a:xfrm>
            <a:off x="503999" y="3276086"/>
            <a:ext cx="11232000" cy="162000"/>
          </a:xfrm>
          <a:prstGeom prst="rect">
            <a:avLst/>
          </a:prstGeom>
          <a:noFill/>
        </p:spPr>
        <p:txBody>
          <a:bodyPr wrap="square" anchor="t" lIns="54000" rIns="54000"/>
          <a:lstStyle/>
          <a:p>
            <a:pPr algn="l"/>
            <a:r>
              <a:rPr sz="850" b="0">
                <a:solidFill>
                  <a:srgbClr val="53565A"/>
                </a:solidFill>
                <a:latin typeface="Helvetica"/>
              </a:rPr>
              <a:t>Valable pour : ratios de la Décision n° 05/2022 recalculés sur les balances. Statut opposable de 2022 à 2025, indicatif en 2020, 2021 et 2026.</a:t>
            </a:r>
          </a:p>
        </p:txBody>
      </p:sp>
      <p:sp>
        <p:nvSpPr>
          <p:cNvPr id="34" name="TextBox 33"/>
          <p:cNvSpPr txBox="1"/>
          <p:nvPr/>
        </p:nvSpPr>
        <p:spPr>
          <a:xfrm>
            <a:off x="503999" y="3564086"/>
            <a:ext cx="11232000" cy="2303913"/>
          </a:xfrm>
          <a:prstGeom prst="rect">
            <a:avLst/>
          </a:prstGeom>
          <a:noFill/>
        </p:spPr>
        <p:txBody>
          <a:bodyPr wrap="square" lIns="54000" rIns="54000"/>
          <a:lstStyle/>
          <a:p>
            <a:pPr algn="just">
              <a:spcAft>
                <a:spcPts val="600"/>
              </a:spcAft>
            </a:pPr>
            <a:r>
              <a:rPr sz="1300" b="1">
                <a:solidFill>
                  <a:srgbClr val="060606"/>
                </a:solidFill>
                <a:latin typeface="Helvetica"/>
              </a:rPr>
              <a:t>Les peines pécuniaires sont faibles. La sanction lourde est le retrait d'agrément.</a:t>
            </a:r>
            <a:r>
              <a:rPr sz="1300" b="0">
                <a:solidFill>
                  <a:srgbClr val="060606"/>
                </a:solidFill>
                <a:latin typeface="Helvetica"/>
              </a:rPr>
              <a:t> Celui-ci emporte la dissolution de la mutuelle dès sa publication au Journal officiel (règlement n° 07/2009, art. 84).</a:t>
            </a:r>
          </a:p>
          <a:p>
            <a:pPr algn="just">
              <a:spcAft>
                <a:spcPts val="600"/>
              </a:spcAft>
            </a:pPr>
            <a:r>
              <a:rPr sz="1300" b="0">
                <a:solidFill>
                  <a:srgbClr val="060606"/>
                </a:solidFill>
                <a:latin typeface="Helvetica"/>
              </a:rPr>
              <a:t>Un plan de mise en conformité daté et chiffré, présenté à l'AIRMS, est le meilleur moyen de démontrer la volonté de régularisation et d'éviter les sanctions les plus lourdes.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 | S/C : prestations / cotisations | MEPS : ministère de l'Emploi et de la Protection sociale</a:t>
            </a:r>
          </a:p>
        </p:txBody>
      </p:sp>
    </p:spTree>
    <p:extLst>
      <p:ext uri="{BB962C8B-B14F-4D97-AF65-F5344CB8AC3E}">
        <p14:creationId xmlns:p14="http://schemas.microsoft.com/office/powerpoint/2010/main" val="3447039695"/>
      </p:ext>
    </p:extLst>
  </p:cSld>
  <p:clrMapOvr>
    <a:masterClrMapping/>
  </p:clrMapOvr>
  <p:transition>
    <p:fade/>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respecte les ratios d'activité courante, mais pas ceux de réserves, de fonds propres, de liquidité et de frais.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réserve obligatoire couvre 5,01 mois de prestations, les fonds propres et assimilés 0,22 fois les dettes, et les frais 36,34 % des cotisations.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Des non-conformités répétées exposent le FPPN au retrait d'agrément prévu par l'article 84 du règlement n° 07/2009.</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présenter à l'AIRMS un plan de mise en conformité daté, et documenter le compte 106, le fonds de garantie et l'échéancier de l'épargne.</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conformité prudentielle</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normes de solidité financière de l'UEMOA ne sont pas respectées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14 ratios non conformes sur 36, souvent plusieurs années de suite</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a:t>
            </a:r>
          </a:p>
        </p:txBody>
      </p:sp>
    </p:spTree>
    <p:extLst>
      <p:ext uri="{BB962C8B-B14F-4D97-AF65-F5344CB8AC3E}">
        <p14:creationId xmlns:p14="http://schemas.microsoft.com/office/powerpoint/2010/main" val="3016458624"/>
      </p:ext>
    </p:extLst>
  </p:cSld>
  <p:clrMapOvr>
    <a:masterClrMapping/>
  </p:clrMapOvr>
  <p:transition>
    <p:fade/>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Analyses de sensibilité : méthode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Huit étapes, chacune appuyée sur un texte ou une norme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montants à combler viennent de la formule du texte inversée. Les leviers viennent des statuts et des textes UEMOA. Tout est recalculé par formules dans le classeur</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Association Actuarielle Internationale, ISAP 1 (adoptée le 01/12/2018), § 2.7.7. IAS 19 révisée, § 145. IFRS 17, § 128 et 129. IFRS 7, § 40. Textes cités. Classeur v8, onglet 13a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69 : Étapes des analyses de sensibilité et références</a:t>
            </a:r>
          </a:p>
        </p:txBody>
      </p:sp>
      <p:graphicFrame>
        <p:nvGraphicFramePr>
          <p:cNvPr id="32" name="Table 31"/>
          <p:cNvGraphicFramePr>
            <a:graphicFrameLocks noGrp="1"/>
          </p:cNvGraphicFramePr>
          <p:nvPr/>
        </p:nvGraphicFramePr>
        <p:xfrm>
          <a:off x="503999" y="1655999"/>
          <a:ext cx="11231999" cy="2371591"/>
        </p:xfrm>
        <a:graphic>
          <a:graphicData uri="http://schemas.openxmlformats.org/drawingml/2006/table">
            <a:tbl>
              <a:tblPr firstRow="0" bandRow="0">
                <a:tableStyleId>{5940675A-B579-460E-94D1-54222C63F5DA}</a:tableStyleId>
              </a:tblPr>
              <a:tblGrid>
                <a:gridCol w="1512000"/>
                <a:gridCol w="6768000"/>
                <a:gridCol w="2951999"/>
              </a:tblGrid>
              <a:tr h="180000">
                <a:tc>
                  <a:txBody>
                    <a:bodyPr/>
                    <a:lstStyle/>
                    <a:p>
                      <a:pPr marL="0" indent="0" lvl="0">
                        <a:buNone/>
                      </a:pPr>
                      <a:r>
                        <a:rPr sz="750" b="1">
                          <a:solidFill>
                            <a:srgbClr val="FFFFFF"/>
                          </a:solidFill>
                          <a:latin typeface="Helvetica"/>
                        </a:rPr>
                        <a:t>Étape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Ce qui est fait</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Référence</a:t>
                      </a:r>
                    </a:p>
                  </a:txBody>
                  <a:tcPr marL="43200" marR="43200" marT="14400" marB="14400" anchor="ctr">
                    <a:solidFill>
                      <a:srgbClr val="060606"/>
                    </a:solidFill>
                  </a:tcPr>
                </a:tc>
              </a:tr>
              <a:tr h="286214">
                <a:tc>
                  <a:txBody>
                    <a:bodyPr/>
                    <a:lstStyle/>
                    <a:p>
                      <a:pPr marL="0" indent="0" lvl="0">
                        <a:buNone/>
                      </a:pPr>
                      <a:r>
                        <a:rPr sz="750" b="1">
                          <a:solidFill>
                            <a:srgbClr val="060606"/>
                          </a:solidFill>
                          <a:latin typeface="Helvetica"/>
                        </a:rPr>
                        <a:t>1. Données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Numérateurs et dénominateurs des ratios, recalculés depuis les balances de 2020 au 31/08/2026</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Décision n° 05/2022/COM/UEMOA du 1er juin 2022, annexe, tableaux 1 et 2</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2. Statut</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Conforme si la valeur respecte la borne du texte. Un excédent ou des ressources longues négatifs sont non conformes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Décision n° 05/2022/COM/UEMOA du 1er juin 2022, annexe</a:t>
                      </a:r>
                    </a:p>
                  </a:txBody>
                  <a:tcPr marL="43200" marR="43200" marT="14400" marB="14400" anchor="ctr">
                    <a:solidFill>
                      <a:srgbClr val="F2F2F2"/>
                    </a:solidFill>
                  </a:tcPr>
                </a:tc>
              </a:tr>
              <a:tr h="286214">
                <a:tc>
                  <a:txBody>
                    <a:bodyPr/>
                    <a:lstStyle/>
                    <a:p>
                      <a:pPr marL="0" indent="0" lvl="0">
                        <a:buNone/>
                      </a:pPr>
                      <a:r>
                        <a:rPr sz="750" b="1">
                          <a:solidFill>
                            <a:srgbClr val="060606"/>
                          </a:solidFill>
                          <a:latin typeface="Helvetica"/>
                        </a:rPr>
                        <a:t>3. Qualification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Structurel : non conforme toutes les années mesurées. Récurrent : au moins deux exercices de 2022 à 2025</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Règlement n° 07/2009/CM/UEMOA du 26 juin 2009, art. 83 et 84. Arrêté n° 00115/MEPS/CAB, ligne 13</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4. Montant à combler</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Montant qui ramène le ratio sur la borne la plus proche, les autres termes restant inchangés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Décision n° 05/2022/COM/UEMOA du 1er juin 2022, annexe (formule inversée)</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5. Facteurs récurrents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Regroupement des ratios par comptes qui expliquent l'écart chaque année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Balances du FPPN. PCMS</a:t>
                      </a:r>
                    </a:p>
                  </a:txBody>
                  <a:tcPr marL="43200" marR="43200" marT="14400" marB="14400" anchor="ctr">
                    <a:solidFill>
                      <a:srgbClr val="FFFFFF"/>
                    </a:solidFill>
                  </a:tcPr>
                </a:tc>
              </a:tr>
              <a:tr h="400521">
                <a:tc>
                  <a:txBody>
                    <a:bodyPr/>
                    <a:lstStyle/>
                    <a:p>
                      <a:pPr marL="0" indent="0" lvl="0">
                        <a:buNone/>
                      </a:pPr>
                      <a:r>
                        <a:rPr sz="750" b="1">
                          <a:solidFill>
                            <a:srgbClr val="060606"/>
                          </a:solidFill>
                          <a:latin typeface="Helvetica"/>
                        </a:rPr>
                        <a:t>6. Leviers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Montant d'équilibre de chaque levier, et effet d'un choc de 100 000 000 FCFA enregistré en partie double, une hypothèse à la fois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Statuts, art. 17, 79, 81, 85, 90 et 93. Règlement d'exécution n° 004/2022/COM/UEMOA du 1er juin 2022, art. 16, 17, 19 et 21. IAS 19, § 145</a:t>
                      </a:r>
                    </a:p>
                  </a:txBody>
                  <a:tcPr marL="43200" marR="43200" marT="14400" marB="14400" anchor="ctr">
                    <a:solidFill>
                      <a:srgbClr val="F2F2F2"/>
                    </a:solidFill>
                  </a:tcPr>
                </a:tc>
              </a:tr>
              <a:tr h="286214">
                <a:tc>
                  <a:txBody>
                    <a:bodyPr/>
                    <a:lstStyle/>
                    <a:p>
                      <a:pPr marL="0" indent="0" lvl="0">
                        <a:buNone/>
                      </a:pPr>
                      <a:r>
                        <a:rPr sz="750" b="1">
                          <a:solidFill>
                            <a:srgbClr val="060606"/>
                          </a:solidFill>
                          <a:latin typeface="Helvetica"/>
                        </a:rPr>
                        <a:t>7. Faisabilité conjointe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Démonstration algébrique : les normes de flux peuvent-elles être respectées ensemble ?</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Décision n° 05/2022/COM/UEMOA du 1er juin 2022, annexe, tableau 1, lignes 2 et 5. Tableau 2, lignes 5 et 10</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8. Inflation et rendement</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Sous-indices de prix de la santé pondérés par les prestations du FPPN. Rendement comparé aux taux du marché</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ANStat (IHPC). BCEAO, Rapport sur la Politique Monétaire, mars 2026, tableaux 12, 17 et 22. Investing.com</a:t>
                      </a:r>
                    </a:p>
                  </a:txBody>
                  <a:tcPr marL="43200" marR="43200" marT="14400" marB="14400" anchor="ctr">
                    <a:solidFill>
                      <a:srgbClr val="F2F2F2"/>
                    </a:solidFill>
                  </a:tcPr>
                </a:tc>
              </a:tr>
            </a:tbl>
          </a:graphicData>
        </a:graphic>
      </p:graphicFrame>
      <p:sp>
        <p:nvSpPr>
          <p:cNvPr id="33" name="TextBox 32"/>
          <p:cNvSpPr txBox="1"/>
          <p:nvPr/>
        </p:nvSpPr>
        <p:spPr>
          <a:xfrm>
            <a:off x="503999" y="4045593"/>
            <a:ext cx="11232000" cy="162000"/>
          </a:xfrm>
          <a:prstGeom prst="rect">
            <a:avLst/>
          </a:prstGeom>
          <a:noFill/>
        </p:spPr>
        <p:txBody>
          <a:bodyPr wrap="square" anchor="t" lIns="54000" rIns="54000"/>
          <a:lstStyle/>
          <a:p>
            <a:pPr algn="l"/>
            <a:r>
              <a:rPr sz="850" b="0">
                <a:solidFill>
                  <a:srgbClr val="53565A"/>
                </a:solidFill>
                <a:latin typeface="Helvetica"/>
              </a:rPr>
              <a:t>Valable pour : ratios de la Décision n° 05/2022 recalculés sur les balances. Statut opposable de 2022 à 2025, indicatif en 2020, 2021 et 2026.</a:t>
            </a:r>
          </a:p>
        </p:txBody>
      </p:sp>
      <p:sp>
        <p:nvSpPr>
          <p:cNvPr id="34" name="TextBox 33"/>
          <p:cNvSpPr txBox="1"/>
          <p:nvPr/>
        </p:nvSpPr>
        <p:spPr>
          <a:xfrm>
            <a:off x="503999" y="4333593"/>
            <a:ext cx="11232000" cy="1534406"/>
          </a:xfrm>
          <a:prstGeom prst="rect">
            <a:avLst/>
          </a:prstGeom>
          <a:noFill/>
        </p:spPr>
        <p:txBody>
          <a:bodyPr wrap="square" lIns="54000" rIns="54000"/>
          <a:lstStyle/>
          <a:p>
            <a:pPr algn="just">
              <a:spcAft>
                <a:spcPts val="600"/>
              </a:spcAft>
            </a:pPr>
            <a:r>
              <a:rPr sz="1300" b="1">
                <a:solidFill>
                  <a:srgbClr val="060606"/>
                </a:solidFill>
                <a:latin typeface="Helvetica"/>
              </a:rPr>
              <a:t>La démarche suit la norme internationale de pratique actuarielle ISAP 1 (§ 2.7.7) : l'actuaire examine la sensibilité des résultats aux variations des hypothèses clés.</a:t>
            </a:r>
            <a:r>
              <a:rPr sz="1300" b="0">
                <a:solidFill>
                  <a:srgbClr val="060606"/>
                </a:solidFill>
                <a:latin typeface="Helvetica"/>
              </a:rPr>
              <a:t> Les normes IAS 19 (§ 145) et IFRS 17 (§ 128) fixent la présentation : une hypothèse à la fois, changements raisonnablement possibles, méthode et limites décrites.</a:t>
            </a:r>
          </a:p>
          <a:p>
            <a:pPr algn="just">
              <a:spcAft>
                <a:spcPts val="600"/>
              </a:spcAft>
            </a:pPr>
            <a:r>
              <a:rPr sz="1300" b="0">
                <a:solidFill>
                  <a:srgbClr val="060606"/>
                </a:solidFill>
                <a:latin typeface="Helvetica"/>
              </a:rPr>
              <a:t>Les normes ISAP 1, IAS 19 et IFRS 17 sont des références de bonne pratique, retenues pour la méthode. Elles ne sont pas opposables au FPPN. Les textes UEMOA et les statuts, eux, le sont.</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PCMS : plan comptable des mutuelles sociales | BCEAO : Banque centrale des États de l'Afrique de l'Ouest | S/C : prestations / cotisations | MEPS : ministère de l'Emploi et de la Protection sociale | ANStat : Agence nationale de la statistique de Côte d'Ivoire | IHPC : indice harmonisé des prix à la consommation | ISAP : norme internationale de pratique actuarielle de l'Association Actuarielle Internationale | IAS, IFRS : normes comptables internationales</a:t>
            </a:r>
          </a:p>
        </p:txBody>
      </p:sp>
    </p:spTree>
    <p:extLst>
      <p:ext uri="{BB962C8B-B14F-4D97-AF65-F5344CB8AC3E}">
        <p14:creationId xmlns:p14="http://schemas.microsoft.com/office/powerpoint/2010/main" val="3845143359"/>
      </p:ext>
    </p:extLst>
  </p:cSld>
  <p:clrMapOvr>
    <a:masterClrMapping/>
  </p:clrMapOvr>
  <p:transition>
    <p:fade/>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Ratios non conformes de 2020 au 31/08/2026</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13 ratios sur 14 sont non conformes toutes les années mesurées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écarts ne sont pas accidentels : ils se répètent chaque année, ce qui les rend structurels au sens des textes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des calculs v8, onglets 13a à 13i (formules). Décision n° 05/2022/COM/UEMOA du 1er juin 2022, annexe. Balances du FPPN. Calculs Adenka. Règlement n° 07/2009/CM/UEMOA du 26 juin 2009, art. 84</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70 : Conformité de chaque ratio, année par année</a:t>
            </a:r>
          </a:p>
        </p:txBody>
      </p:sp>
      <p:graphicFrame>
        <p:nvGraphicFramePr>
          <p:cNvPr id="32" name="Table 31"/>
          <p:cNvGraphicFramePr>
            <a:graphicFrameLocks noGrp="1"/>
          </p:cNvGraphicFramePr>
          <p:nvPr/>
        </p:nvGraphicFramePr>
        <p:xfrm>
          <a:off x="503999" y="1655999"/>
          <a:ext cx="11231993" cy="2700000"/>
        </p:xfrm>
        <a:graphic>
          <a:graphicData uri="http://schemas.openxmlformats.org/drawingml/2006/table">
            <a:tbl>
              <a:tblPr firstRow="0" bandRow="0">
                <a:tableStyleId>{5940675A-B579-460E-94D1-54222C63F5DA}</a:tableStyleId>
              </a:tblPr>
              <a:tblGrid>
                <a:gridCol w="2520000"/>
                <a:gridCol w="1584000"/>
                <a:gridCol w="827999"/>
                <a:gridCol w="827999"/>
                <a:gridCol w="827999"/>
                <a:gridCol w="827999"/>
                <a:gridCol w="827999"/>
                <a:gridCol w="827999"/>
                <a:gridCol w="827999"/>
                <a:gridCol w="1332000"/>
              </a:tblGrid>
              <a:tr h="180000">
                <a:tc>
                  <a:txBody>
                    <a:bodyPr/>
                    <a:lstStyle/>
                    <a:p>
                      <a:pPr marL="0" indent="0" lvl="0">
                        <a:buNone/>
                      </a:pPr>
                      <a:r>
                        <a:rPr sz="75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2020</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2021</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31/08/2026</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Qualification</a:t>
                      </a:r>
                    </a:p>
                  </a:txBody>
                  <a:tcPr marL="43200" marR="43200" marT="14400" marB="14400" anchor="ctr">
                    <a:solidFill>
                      <a:srgbClr val="060606"/>
                    </a:solidFill>
                  </a:tcPr>
                </a:tc>
              </a:tr>
              <a:tr h="180000">
                <a:tc>
                  <a:txBody>
                    <a:bodyPr/>
                    <a:lstStyle/>
                    <a:p>
                      <a:pPr marL="0" indent="0" lvl="0">
                        <a:buNone/>
                      </a:pPr>
                      <a:r>
                        <a:rPr sz="750" b="1">
                          <a:solidFill>
                            <a:srgbClr val="060606"/>
                          </a:solidFill>
                          <a:latin typeface="Helvetica"/>
                        </a:rPr>
                        <a:t>Sinistralité</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70,00 % à 80,00 %</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Oui</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Récurrent</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Réserve obligatoire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6 à 9 mois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Structurel</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Fonds propres et assimilés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Structurel</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Liquidité</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Structurel</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Équilibre stable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Au plus 1</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Structurel</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Excédent net</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0,00 % à 5,00 %</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Structurel</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Solvabilité de l'épargne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Structurel</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Trésorerie à échéance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Plus de 1</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Structurel</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Trésorerie immédiate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Structurel</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Réserve de trésorerie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Au moins 1 trimestre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Structurel</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Fonds propres / prestations longues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Structurel</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Charges de fonctionnement</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Au plus 20,00 %</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Structurel</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Charges de fonctionnement brut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Au plus 15,00 %</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Structurel</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Coût par unité prestée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Au plus 15,00 %</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Structurel</a:t>
                      </a:r>
                    </a:p>
                  </a:txBody>
                  <a:tcPr marL="43200" marR="43200" marT="14400" marB="14400" anchor="ctr">
                    <a:solidFill>
                      <a:srgbClr val="F2F2F2"/>
                    </a:solidFill>
                  </a:tcPr>
                </a:tc>
              </a:tr>
            </a:tbl>
          </a:graphicData>
        </a:graphic>
      </p:graphicFrame>
      <p:sp>
        <p:nvSpPr>
          <p:cNvPr id="33" name="TextBox 32"/>
          <p:cNvSpPr txBox="1"/>
          <p:nvPr/>
        </p:nvSpPr>
        <p:spPr>
          <a:xfrm>
            <a:off x="503999" y="4374000"/>
            <a:ext cx="11232000" cy="162000"/>
          </a:xfrm>
          <a:prstGeom prst="rect">
            <a:avLst/>
          </a:prstGeom>
          <a:noFill/>
        </p:spPr>
        <p:txBody>
          <a:bodyPr wrap="square" anchor="t" lIns="54000" rIns="54000"/>
          <a:lstStyle/>
          <a:p>
            <a:pPr algn="l"/>
            <a:r>
              <a:rPr sz="850" b="0">
                <a:solidFill>
                  <a:srgbClr val="53565A"/>
                </a:solidFill>
                <a:latin typeface="Helvetica"/>
              </a:rPr>
              <a:t>Valable pour : ratios de la Décision n° 05/2022 recalculés sur les balances. Statut opposable de 2022 à 2025, indicatif en 2020, 2021 et 2026.</a:t>
            </a:r>
          </a:p>
        </p:txBody>
      </p:sp>
      <p:sp>
        <p:nvSpPr>
          <p:cNvPr id="34" name="TextBox 33"/>
          <p:cNvSpPr txBox="1"/>
          <p:nvPr/>
        </p:nvSpPr>
        <p:spPr>
          <a:xfrm>
            <a:off x="503999" y="4662000"/>
            <a:ext cx="11232000" cy="1206000"/>
          </a:xfrm>
          <a:prstGeom prst="rect">
            <a:avLst/>
          </a:prstGeom>
          <a:noFill/>
        </p:spPr>
        <p:txBody>
          <a:bodyPr wrap="square" lIns="54000" rIns="54000"/>
          <a:lstStyle/>
          <a:p>
            <a:pPr algn="just">
              <a:spcAft>
                <a:spcPts val="600"/>
              </a:spcAft>
            </a:pPr>
            <a:r>
              <a:rPr sz="1050" b="1">
                <a:solidFill>
                  <a:srgbClr val="060606"/>
                </a:solidFill>
                <a:latin typeface="Helvetica"/>
              </a:rPr>
              <a:t>13 ratios sont non conformes toutes les années mesurées, et la sinistralité l'est de 2020 à 2025.</a:t>
            </a:r>
            <a:r>
              <a:rPr sz="1050" b="0">
                <a:solidFill>
                  <a:srgbClr val="060606"/>
                </a:solidFill>
                <a:latin typeface="Helvetica"/>
              </a:rPr>
              <a:t> Seule la sinistralité de 2026 respecte sa norme, sur huit mois.</a:t>
            </a:r>
          </a:p>
          <a:p>
            <a:pPr algn="just">
              <a:spcAft>
                <a:spcPts val="600"/>
              </a:spcAft>
            </a:pPr>
            <a:r>
              <a:rPr sz="1050" b="1">
                <a:solidFill>
                  <a:srgbClr val="060606"/>
                </a:solidFill>
                <a:latin typeface="Helvetica"/>
              </a:rPr>
              <a:t>Le règlement n° 07/2009 (art. 84) prévoit le retrait d'agrément pour un non-respect des règles prudentielles sur deux exercices.</a:t>
            </a:r>
            <a:r>
              <a:rPr sz="1050" b="0">
                <a:solidFill>
                  <a:srgbClr val="060606"/>
                </a:solidFill>
                <a:latin typeface="Helvetica"/>
              </a:rPr>
              <a:t> Tous ces ratios dépassent ce seuil sur la période 2022 à 2025.</a:t>
            </a:r>
          </a:p>
          <a:p>
            <a:pPr algn="just">
              <a:spcAft>
                <a:spcPts val="600"/>
              </a:spcAft>
            </a:pPr>
            <a:r>
              <a:rPr sz="1050" b="0">
                <a:solidFill>
                  <a:srgbClr val="060606"/>
                </a:solidFill>
                <a:latin typeface="Helvetica"/>
              </a:rPr>
              <a:t>Un écart structurel ne se corrige pas par un ajustement d'une année : il faut traiter les causes qui se répètent. Les diapositives suivantes les identifient et chiffrent ce qu'il faudrait changer.</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194962767"/>
      </p:ext>
    </p:extLst>
  </p:cSld>
  <p:clrMapOvr>
    <a:masterClrMapping/>
  </p:clrMapOvr>
  <p:transition>
    <p:fade/>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Cinq facteurs récurrents expliquent les écarts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facteur se retrouve dans les comptes de chacune des sept années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L'épargne non adossée, les pertes reportées, la réserve tardive, des frais au-delà des plafonds et des prestations faibles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des calculs v8, onglets 13a à 13i (formules). Décision n° 05/2022/COM/UEMOA du 1er juin 2022, annexe. Balances du FPPN.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71 : Facteurs récurrents, comptes en cause et preuves</a:t>
            </a:r>
          </a:p>
        </p:txBody>
      </p:sp>
      <p:graphicFrame>
        <p:nvGraphicFramePr>
          <p:cNvPr id="32" name="Table 31"/>
          <p:cNvGraphicFramePr>
            <a:graphicFrameLocks noGrp="1"/>
          </p:cNvGraphicFramePr>
          <p:nvPr/>
        </p:nvGraphicFramePr>
        <p:xfrm>
          <a:off x="503999" y="1655999"/>
          <a:ext cx="11231999" cy="2288820"/>
        </p:xfrm>
        <a:graphic>
          <a:graphicData uri="http://schemas.openxmlformats.org/drawingml/2006/table">
            <a:tbl>
              <a:tblPr firstRow="0" bandRow="0">
                <a:tableStyleId>{5940675A-B579-460E-94D1-54222C63F5DA}</a:tableStyleId>
              </a:tblPr>
              <a:tblGrid>
                <a:gridCol w="2304000"/>
                <a:gridCol w="2160000"/>
                <a:gridCol w="2015999"/>
                <a:gridCol w="1800000"/>
                <a:gridCol w="1800000"/>
                <a:gridCol w="1152000"/>
              </a:tblGrid>
              <a:tr h="187148">
                <a:tc>
                  <a:txBody>
                    <a:bodyPr/>
                    <a:lstStyle/>
                    <a:p>
                      <a:pPr marL="0" indent="0" lvl="0">
                        <a:buNone/>
                      </a:pPr>
                      <a:r>
                        <a:rPr sz="850" b="1">
                          <a:solidFill>
                            <a:srgbClr val="FFFFFF"/>
                          </a:solidFill>
                          <a:latin typeface="Helvetica"/>
                        </a:rPr>
                        <a:t>Facteur</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Comptes en cause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Ratios touchés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Preuve 2020</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Preuve 2025</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Structurels</a:t>
                      </a:r>
                    </a:p>
                  </a:txBody>
                  <a:tcPr marL="43200" marR="43200" marT="14400" marB="14400" anchor="ctr">
                    <a:solidFill>
                      <a:srgbClr val="060606"/>
                    </a:solidFill>
                  </a:tcPr>
                </a:tc>
              </a:tr>
              <a:tr h="575792">
                <a:tc>
                  <a:txBody>
                    <a:bodyPr/>
                    <a:lstStyle/>
                    <a:p>
                      <a:pPr marL="0" indent="0" lvl="0">
                        <a:buNone/>
                      </a:pPr>
                      <a:r>
                        <a:rPr sz="850" b="1">
                          <a:solidFill>
                            <a:srgbClr val="060606"/>
                          </a:solidFill>
                          <a:latin typeface="Helvetica"/>
                        </a:rPr>
                        <a:t>F1. Épargne des adhérents non adossée à des actifs liquides dédiés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41195100 et 41195200 (épargne) en dettes à court terme. Classe 5 et DAT dédiés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Liquidité, Solvabilité de l'épargne, Trésorerie à échéance, Trésorerie immédiate, Réserve de trésorerie, Équilibre stable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Épargne couverte à 6,59 %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Épargne couverte à 11,64 %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6 / 6</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F2. Pertes reportées non apurées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129 (report à nouveau débiteur) dans les fonds propres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Fonds propres et assimilés, Fonds propres / prestations longues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11 391 759 309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5 272 983 928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 / 2</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F3. Réserve obligatoire absente puis insuffisante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111 (réserve légale). Affectations des excédents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Réserve obligatoire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Réserve nulle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820 232 819 FCFA pour 982 386 014 FCFA requis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 / 1</a:t>
                      </a:r>
                    </a:p>
                  </a:txBody>
                  <a:tcPr marL="43200" marR="43200" marT="14400" marB="14400" anchor="ctr">
                    <a:solidFill>
                      <a:srgbClr val="FFFFFF"/>
                    </a:solidFill>
                  </a:tcPr>
                </a:tc>
              </a:tr>
              <a:tr h="446244">
                <a:tc>
                  <a:txBody>
                    <a:bodyPr/>
                    <a:lstStyle/>
                    <a:p>
                      <a:pPr marL="0" indent="0" lvl="0">
                        <a:buNone/>
                      </a:pPr>
                      <a:r>
                        <a:rPr sz="850" b="1">
                          <a:solidFill>
                            <a:srgbClr val="060606"/>
                          </a:solidFill>
                          <a:latin typeface="Helvetica"/>
                        </a:rPr>
                        <a:t>F4. Charges de fonctionnement au-delà des plafonds de la Décision (cotisations et prestations)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612, 613, 618, 62 à 68 (dont 6518, prime de la garantie décès, en 2020)</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Charges de fonctionnement, Charges de fonctionnement brut, Coût par unité prestée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84,31 % des cotisations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36,34 % des cotisations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 / 3</a:t>
                      </a:r>
                    </a:p>
                  </a:txBody>
                  <a:tcPr marL="43200" marR="43200" marT="14400" marB="14400" anchor="ctr">
                    <a:solidFill>
                      <a:srgbClr val="F2F2F2"/>
                    </a:solidFill>
                  </a:tcPr>
                </a:tc>
              </a:tr>
              <a:tr h="446244">
                <a:tc>
                  <a:txBody>
                    <a:bodyPr/>
                    <a:lstStyle/>
                    <a:p>
                      <a:pPr marL="0" indent="0" lvl="0">
                        <a:buNone/>
                      </a:pPr>
                      <a:r>
                        <a:rPr sz="850" b="1">
                          <a:solidFill>
                            <a:srgbClr val="060606"/>
                          </a:solidFill>
                          <a:latin typeface="Helvetica"/>
                        </a:rPr>
                        <a:t>F5. Prestations faibles par rapport aux cotisations (couverture limitée à l'hospitalisation, provisions figées)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60 (prestations), 70 (cotisations), 6901 et 7901 absents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Sinistralité, Excédent net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Prestations : 8,92 % des cotisations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Prestations : 57,48 % des cotisations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 / 2</a:t>
                      </a:r>
                    </a:p>
                  </a:txBody>
                  <a:tcPr marL="43200" marR="43200" marT="14400" marB="14400" anchor="ctr">
                    <a:solidFill>
                      <a:srgbClr val="FFFFFF"/>
                    </a:solidFill>
                  </a:tcPr>
                </a:tc>
              </a:tr>
            </a:tbl>
          </a:graphicData>
        </a:graphic>
      </p:graphicFrame>
      <p:sp>
        <p:nvSpPr>
          <p:cNvPr id="33" name="TextBox 32"/>
          <p:cNvSpPr txBox="1"/>
          <p:nvPr/>
        </p:nvSpPr>
        <p:spPr>
          <a:xfrm>
            <a:off x="503999" y="3962822"/>
            <a:ext cx="11232000" cy="162000"/>
          </a:xfrm>
          <a:prstGeom prst="rect">
            <a:avLst/>
          </a:prstGeom>
          <a:noFill/>
        </p:spPr>
        <p:txBody>
          <a:bodyPr wrap="square" anchor="t" lIns="54000" rIns="54000"/>
          <a:lstStyle/>
          <a:p>
            <a:pPr algn="l"/>
            <a:r>
              <a:rPr sz="850" b="0">
                <a:solidFill>
                  <a:srgbClr val="53565A"/>
                </a:solidFill>
                <a:latin typeface="Helvetica"/>
              </a:rPr>
              <a:t>Valable pour : ratios de la Décision n° 05/2022 recalculés sur les balances. Statut opposable de 2022 à 2025, indicatif en 2020, 2021 et 2026.</a:t>
            </a:r>
          </a:p>
        </p:txBody>
      </p:sp>
      <p:sp>
        <p:nvSpPr>
          <p:cNvPr id="34" name="TextBox 33"/>
          <p:cNvSpPr txBox="1"/>
          <p:nvPr/>
        </p:nvSpPr>
        <p:spPr>
          <a:xfrm>
            <a:off x="503999" y="4250822"/>
            <a:ext cx="11232000" cy="1617177"/>
          </a:xfrm>
          <a:prstGeom prst="rect">
            <a:avLst/>
          </a:prstGeom>
          <a:noFill/>
        </p:spPr>
        <p:txBody>
          <a:bodyPr wrap="square" lIns="54000" rIns="54000"/>
          <a:lstStyle/>
          <a:p>
            <a:pPr algn="just">
              <a:spcAft>
                <a:spcPts val="600"/>
              </a:spcAft>
            </a:pPr>
            <a:r>
              <a:rPr sz="1300" b="1">
                <a:solidFill>
                  <a:srgbClr val="060606"/>
                </a:solidFill>
                <a:latin typeface="Helvetica"/>
              </a:rPr>
              <a:t>Les facteurs F1 et F2 expliquent à eux seuls huit ratios : ce sont des problèmes de bilan, hérités et cumulés, que l'excédent d'une année ne peut pas corriger.</a:t>
            </a:r>
          </a:p>
          <a:p>
            <a:pPr algn="just">
              <a:spcAft>
                <a:spcPts val="600"/>
              </a:spcAft>
            </a:pPr>
            <a:r>
              <a:rPr sz="1300" b="1">
                <a:solidFill>
                  <a:srgbClr val="060606"/>
                </a:solidFill>
                <a:latin typeface="Helvetica"/>
              </a:rPr>
              <a:t>Les facteurs F4 et F5 sont des problèmes de compte de résultat</a:t>
            </a:r>
            <a:r>
              <a:rPr sz="1300" b="0">
                <a:solidFill>
                  <a:srgbClr val="060606"/>
                </a:solidFill>
                <a:latin typeface="Helvetica"/>
              </a:rPr>
              <a:t> : les frais dépassent les plafonds fixés en proportion des cotisations et des prestations, et les prestations restent sous 70 % des cotisations jusqu'en 2025.</a:t>
            </a:r>
          </a:p>
          <a:p>
            <a:pPr algn="just">
              <a:spcAft>
                <a:spcPts val="600"/>
              </a:spcAft>
            </a:pPr>
            <a:r>
              <a:rPr sz="1300" b="0">
                <a:solidFill>
                  <a:srgbClr val="060606"/>
                </a:solidFill>
                <a:latin typeface="Helvetica"/>
              </a:rPr>
              <a:t>Les leviers doivent viser les facteurs, pas les ratios un par un : un même levier agit sur plusieurs ratios, parfois en sens contraire.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DAT : dépôt à terme</a:t>
            </a:r>
          </a:p>
        </p:txBody>
      </p:sp>
    </p:spTree>
    <p:extLst>
      <p:ext uri="{BB962C8B-B14F-4D97-AF65-F5344CB8AC3E}">
        <p14:creationId xmlns:p14="http://schemas.microsoft.com/office/powerpoint/2010/main" val="1051112111"/>
      </p:ext>
    </p:extLst>
  </p:cSld>
  <p:clrMapOvr>
    <a:masterClrMapping/>
  </p:clrMapOvr>
  <p:transition>
    <p:fade/>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Montant à combler par ratio</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L'épargne et les fonds propres concentrent l'essentiel des écarts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2025 : 13 555 974 724 FCFA de trésorerie et 16 002 055 145 FCFA de fonds propres manquent pour atteindre la norme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des calculs v8, onglets 13a à 13i (formules). Décision n° 05/2022/COM/UEMOA du 1er juin 2022, annexe. Balances du FPPN.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72 : Montant à combler par ratio (FCFA)</a:t>
            </a:r>
          </a:p>
        </p:txBody>
      </p:sp>
      <p:graphicFrame>
        <p:nvGraphicFramePr>
          <p:cNvPr id="32" name="Table 31"/>
          <p:cNvGraphicFramePr>
            <a:graphicFrameLocks noGrp="1"/>
          </p:cNvGraphicFramePr>
          <p:nvPr/>
        </p:nvGraphicFramePr>
        <p:xfrm>
          <a:off x="503999" y="1655999"/>
          <a:ext cx="11231999" cy="2700000"/>
        </p:xfrm>
        <a:graphic>
          <a:graphicData uri="http://schemas.openxmlformats.org/drawingml/2006/table">
            <a:tbl>
              <a:tblPr firstRow="0" bandRow="0">
                <a:tableStyleId>{5940675A-B579-460E-94D1-54222C63F5DA}</a:tableStyleId>
              </a:tblPr>
              <a:tblGrid>
                <a:gridCol w="2015999"/>
                <a:gridCol w="3096000"/>
                <a:gridCol w="1512000"/>
                <a:gridCol w="1512000"/>
                <a:gridCol w="1512000"/>
                <a:gridCol w="1584000"/>
              </a:tblGrid>
              <a:tr h="180000">
                <a:tc>
                  <a:txBody>
                    <a:bodyPr/>
                    <a:lstStyle/>
                    <a:p>
                      <a:pPr marL="0" indent="0" lvl="0">
                        <a:buNone/>
                      </a:pPr>
                      <a:r>
                        <a:rPr sz="8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Variable d'ajustement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2020</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31/08/2026</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Moyenne 2020-2026</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Sinistralité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Prestations à ajouter (+) ou à retirer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1 435 406 814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427 927 178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0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972 352 423 FCFA</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Réserve obligatoire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Réserve obligatoire à constituer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104 872 696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162 153 194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79 195 072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140 750 908 FCFA</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Fonds propres et assimilés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Fonds propres à constituer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21 892 570 704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16 002 055 145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18 855 119 976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16 922 874 366 FCFA</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Liquidité</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Trésorerie à constituer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14 230 404 472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13 555 974 724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14 572 853 980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12 524 806 990 FCFA</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Équilibre stable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Ressources longues à ajouter (ou emplois longs à céder)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7 296 144 385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2 380 061 308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2 870 097 972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3 492 842 881 FCFA</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Excédent net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Excédent à réduire (déficit à combler si négatif)</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901 068 827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266 992 825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441 256 500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990 198 700 FCFA</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Solvabilité de l'épargne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Actifs admis à affecter à l'épargne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10 114 162 856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12 205 911 439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13 180 630 730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10 076 345 639 FCFA</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Trésorerie à échéance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Valeurs réalisables ou disponibles à constituer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14 118 394 524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12 805 137 440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14 474 087 647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12 234 546 477 FCFA</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Trésorerie immédiate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Disponibilités à constituer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14 230 404 472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13 555 974 724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14 572 853 980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12 524 806 990 FCFA</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Réserve de trésorerie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Réserve de trésorerie à constituer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576 084 804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588 613 821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597 868 370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677 039 532 FCFA</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Fonds propres / prestations longues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Fonds propres à constituer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3 431 924 537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3 713 553 360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5 393 423 695 FCFA</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Charges de fonctionnement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Charges de fonctionnement à réduire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1 511 349 815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558 364 763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577 021 368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745 442 862 FCFA</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Charges de fonctionnement brut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Charges brutes à réduire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1 422 334 629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732 410 027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693 501 819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804 346 104 FCFA</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Coût par unité prestée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Charges de fonctionnement à réduire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1 949 931 493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947 277 303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785 632 470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1 147 274 623 FCFA</a:t>
                      </a:r>
                    </a:p>
                  </a:txBody>
                  <a:tcPr marL="43200" marR="43200" marT="14400" marB="14400" anchor="ctr">
                    <a:solidFill>
                      <a:srgbClr val="F2F2F2"/>
                    </a:solidFill>
                  </a:tcPr>
                </a:tc>
              </a:tr>
            </a:tbl>
          </a:graphicData>
        </a:graphic>
      </p:graphicFrame>
      <p:sp>
        <p:nvSpPr>
          <p:cNvPr id="33" name="TextBox 32"/>
          <p:cNvSpPr txBox="1"/>
          <p:nvPr/>
        </p:nvSpPr>
        <p:spPr>
          <a:xfrm>
            <a:off x="503999" y="4374000"/>
            <a:ext cx="11232000" cy="162000"/>
          </a:xfrm>
          <a:prstGeom prst="rect">
            <a:avLst/>
          </a:prstGeom>
          <a:noFill/>
        </p:spPr>
        <p:txBody>
          <a:bodyPr wrap="square" anchor="t" lIns="54000" rIns="54000"/>
          <a:lstStyle/>
          <a:p>
            <a:pPr algn="l"/>
            <a:r>
              <a:rPr sz="850" b="0">
                <a:solidFill>
                  <a:srgbClr val="53565A"/>
                </a:solidFill>
                <a:latin typeface="Helvetica"/>
              </a:rPr>
              <a:t>Valable pour : ratios de la Décision n° 05/2022 recalculés sur les balances. Statut opposable de 2022 à 2025, indicatif en 2020, 2021 et 2026.</a:t>
            </a:r>
          </a:p>
        </p:txBody>
      </p:sp>
      <p:sp>
        <p:nvSpPr>
          <p:cNvPr id="34" name="TextBox 33"/>
          <p:cNvSpPr txBox="1"/>
          <p:nvPr/>
        </p:nvSpPr>
        <p:spPr>
          <a:xfrm>
            <a:off x="503999" y="4662000"/>
            <a:ext cx="11232000" cy="1206000"/>
          </a:xfrm>
          <a:prstGeom prst="rect">
            <a:avLst/>
          </a:prstGeom>
          <a:noFill/>
        </p:spPr>
        <p:txBody>
          <a:bodyPr wrap="square" lIns="54000" rIns="54000"/>
          <a:lstStyle/>
          <a:p>
            <a:pPr algn="just">
              <a:spcAft>
                <a:spcPts val="600"/>
              </a:spcAft>
            </a:pPr>
            <a:r>
              <a:rPr sz="1150" b="1">
                <a:solidFill>
                  <a:srgbClr val="060606"/>
                </a:solidFill>
                <a:latin typeface="Helvetica"/>
              </a:rPr>
              <a:t>Les écarts de bilan se comptent en milliards : 12 205 911 439 FCFA d'actifs à affecter à l'épargne en 2025, et 16 002 055 145 FCFA de fonds propres.</a:t>
            </a:r>
          </a:p>
          <a:p>
            <a:pPr algn="just">
              <a:spcAft>
                <a:spcPts val="600"/>
              </a:spcAft>
            </a:pPr>
            <a:r>
              <a:rPr sz="1150" b="1">
                <a:solidFill>
                  <a:srgbClr val="060606"/>
                </a:solidFill>
                <a:latin typeface="Helvetica"/>
              </a:rPr>
              <a:t>Les écarts de compte de résultat se comptent en centaines de millions : 558 364 763 FCFA de charges de fonctionnement à réduire pour le taux des charges en 2025.</a:t>
            </a:r>
          </a:p>
          <a:p>
            <a:pPr algn="just">
              <a:spcAft>
                <a:spcPts val="600"/>
              </a:spcAft>
            </a:pPr>
            <a:r>
              <a:rPr sz="1150" b="0">
                <a:solidFill>
                  <a:srgbClr val="060606"/>
                </a:solidFill>
                <a:latin typeface="Helvetica"/>
              </a:rPr>
              <a:t>Les écarts de bilan ne peuvent pas être comblés par les seuls excédents annuels : ils demandent des décisions de structure (adossement de l'épargne, apurement des pertes, politique de réserves).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113950991"/>
      </p:ext>
    </p:extLst>
  </p:cSld>
  <p:clrMapOvr>
    <a:masterClrMapping/>
  </p:clrMapOvr>
  <p:transition>
    <p:fade/>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Effet de chaque levier sur chaque ratio</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Aucun levier n'améliore tous les ratios. Plusieurs en dégradent certains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Choc de 100 000 000 FCFA sur l'exercice 2025, enregistré en partie double, une hypothèse à la fois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des calculs v8, onglets 13a à 13i (formules). Décision n° 05/2022/COM/UEMOA du 1er juin 2022, annexe. Balances du FPPN. Calculs Adenka. Statuts, art. 79, 81, 85, 90 et 93</a:t>
            </a:r>
          </a:p>
        </p:txBody>
      </p:sp>
      <p:sp>
        <p:nvSpPr>
          <p:cNvPr id="31" name="TextBox 30"/>
          <p:cNvSpPr txBox="1"/>
          <p:nvPr/>
        </p:nvSpPr>
        <p:spPr>
          <a:xfrm>
            <a:off x="503999" y="1386000"/>
            <a:ext cx="11217600" cy="216000"/>
          </a:xfrm>
          <a:prstGeom prst="rect">
            <a:avLst/>
          </a:prstGeom>
          <a:noFill/>
        </p:spPr>
        <p:txBody>
          <a:bodyPr wrap="square" anchor="t" lIns="54000" rIns="54000"/>
          <a:lstStyle/>
          <a:p>
            <a:pPr algn="ctr"/>
            <a:r>
              <a:rPr sz="1200" b="0">
                <a:solidFill>
                  <a:srgbClr val="EFAC62"/>
                </a:solidFill>
                <a:latin typeface="Helvetica"/>
              </a:rPr>
              <a:t>Tableau 73 : Sens de l'effet d'un choc de 100 000 000 FCFA (exercice 2025)</a:t>
            </a:r>
          </a:p>
        </p:txBody>
      </p:sp>
      <p:graphicFrame>
        <p:nvGraphicFramePr>
          <p:cNvPr id="32" name="Table 31"/>
          <p:cNvGraphicFramePr>
            <a:graphicFrameLocks noGrp="1"/>
          </p:cNvGraphicFramePr>
          <p:nvPr/>
        </p:nvGraphicFramePr>
        <p:xfrm>
          <a:off x="503999" y="1655999"/>
          <a:ext cx="11217600" cy="1457660"/>
        </p:xfrm>
        <a:graphic>
          <a:graphicData uri="http://schemas.openxmlformats.org/drawingml/2006/table">
            <a:tbl>
              <a:tblPr firstRow="0" bandRow="0">
                <a:tableStyleId>{5940675A-B579-460E-94D1-54222C63F5DA}</a:tableStyleId>
              </a:tblPr>
              <a:tblGrid>
                <a:gridCol w="1944000"/>
                <a:gridCol w="662400"/>
                <a:gridCol w="662400"/>
                <a:gridCol w="662400"/>
                <a:gridCol w="662400"/>
                <a:gridCol w="662400"/>
                <a:gridCol w="662400"/>
                <a:gridCol w="662400"/>
                <a:gridCol w="662400"/>
                <a:gridCol w="662400"/>
                <a:gridCol w="662400"/>
                <a:gridCol w="662400"/>
                <a:gridCol w="662400"/>
                <a:gridCol w="662400"/>
                <a:gridCol w="662400"/>
              </a:tblGrid>
              <a:tr h="377660">
                <a:tc>
                  <a:txBody>
                    <a:bodyPr/>
                    <a:lstStyle/>
                    <a:p>
                      <a:pPr marL="0" indent="0" lvl="0">
                        <a:buNone/>
                      </a:pPr>
                      <a:r>
                        <a:rPr sz="700" b="1">
                          <a:solidFill>
                            <a:srgbClr val="FFFFFF"/>
                          </a:solidFill>
                          <a:latin typeface="Helvetica"/>
                        </a:rPr>
                        <a:t>Levier</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Sinistralité</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Réserve obligatoire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Fonds propres et assimilés</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Liquidité</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Équilibre stable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Excédent net</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Solvabilité de l'épargne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Trésorerie à échéance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Trésorerie immédiate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Réserve de trésorerie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Fonds propres / prestations longues</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Charges de fonctionnement</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Charges de fonctionnement brut</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Coût par unité prestée</a:t>
                      </a:r>
                    </a:p>
                  </a:txBody>
                  <a:tcPr marL="43200" marR="43200" marT="14400" marB="14400" anchor="ctr">
                    <a:solidFill>
                      <a:srgbClr val="060606"/>
                    </a:solidFill>
                  </a:tcPr>
                </a:tc>
              </a:tr>
              <a:tr h="180000">
                <a:tc>
                  <a:txBody>
                    <a:bodyPr/>
                    <a:lstStyle/>
                    <a:p>
                      <a:pPr marL="0" indent="0" lvl="0">
                        <a:buNone/>
                      </a:pPr>
                      <a:r>
                        <a:rPr sz="700" b="1">
                          <a:solidFill>
                            <a:srgbClr val="060606"/>
                          </a:solidFill>
                          <a:latin typeface="Helvetica"/>
                        </a:rPr>
                        <a:t>Hausse des cotisations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r>
              <a:tr h="180000">
                <a:tc>
                  <a:txBody>
                    <a:bodyPr/>
                    <a:lstStyle/>
                    <a:p>
                      <a:pPr marL="0" indent="0" lvl="0">
                        <a:buNone/>
                      </a:pPr>
                      <a:r>
                        <a:rPr sz="700" b="1">
                          <a:solidFill>
                            <a:srgbClr val="060606"/>
                          </a:solidFill>
                          <a:latin typeface="Helvetica"/>
                        </a:rPr>
                        <a:t>Hausse des prestations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r>
              <a:tr h="180000">
                <a:tc>
                  <a:txBody>
                    <a:bodyPr/>
                    <a:lstStyle/>
                    <a:p>
                      <a:pPr marL="0" indent="0" lvl="0">
                        <a:buNone/>
                      </a:pPr>
                      <a:r>
                        <a:rPr sz="700" b="1">
                          <a:solidFill>
                            <a:srgbClr val="060606"/>
                          </a:solidFill>
                          <a:latin typeface="Helvetica"/>
                        </a:rPr>
                        <a:t>Baisse des charges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r>
              <a:tr h="180000">
                <a:tc>
                  <a:txBody>
                    <a:bodyPr/>
                    <a:lstStyle/>
                    <a:p>
                      <a:pPr marL="0" indent="0" lvl="0">
                        <a:buNone/>
                      </a:pPr>
                      <a:r>
                        <a:rPr sz="700" b="1">
                          <a:solidFill>
                            <a:srgbClr val="060606"/>
                          </a:solidFill>
                          <a:latin typeface="Helvetica"/>
                        </a:rPr>
                        <a:t>Dotation à la réserve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r>
              <a:tr h="180000">
                <a:tc>
                  <a:txBody>
                    <a:bodyPr/>
                    <a:lstStyle/>
                    <a:p>
                      <a:pPr marL="0" indent="0" lvl="0">
                        <a:buNone/>
                      </a:pPr>
                      <a:r>
                        <a:rPr sz="700" b="1">
                          <a:solidFill>
                            <a:srgbClr val="060606"/>
                          </a:solidFill>
                          <a:latin typeface="Helvetica"/>
                        </a:rPr>
                        <a:t>Réallocation des placements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FFFFF"/>
                    </a:solidFill>
                  </a:tcPr>
                </a:tc>
              </a:tr>
              <a:tr h="180000">
                <a:tc>
                  <a:txBody>
                    <a:bodyPr/>
                    <a:lstStyle/>
                    <a:p>
                      <a:pPr marL="0" indent="0" lvl="0">
                        <a:buNone/>
                      </a:pPr>
                      <a:r>
                        <a:rPr sz="700" b="1">
                          <a:solidFill>
                            <a:srgbClr val="060606"/>
                          </a:solidFill>
                          <a:latin typeface="Helvetica"/>
                        </a:rPr>
                        <a:t>Apport en fonds propres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0</a:t>
                      </a:r>
                    </a:p>
                  </a:txBody>
                  <a:tcPr marL="43200" marR="43200" marT="14400" marB="14400" anchor="ctr">
                    <a:solidFill>
                      <a:srgbClr val="F2F2F2"/>
                    </a:solidFill>
                  </a:tcPr>
                </a:tc>
              </a:tr>
            </a:tbl>
          </a:graphicData>
        </a:graphic>
      </p:graphicFrame>
      <p:sp>
        <p:nvSpPr>
          <p:cNvPr id="33" name="TextBox 32"/>
          <p:cNvSpPr txBox="1"/>
          <p:nvPr/>
        </p:nvSpPr>
        <p:spPr>
          <a:xfrm>
            <a:off x="503999" y="3131660"/>
            <a:ext cx="11232000" cy="162000"/>
          </a:xfrm>
          <a:prstGeom prst="rect">
            <a:avLst/>
          </a:prstGeom>
          <a:noFill/>
        </p:spPr>
        <p:txBody>
          <a:bodyPr wrap="square" anchor="t" lIns="54000" rIns="54000"/>
          <a:lstStyle/>
          <a:p>
            <a:pPr algn="l"/>
            <a:r>
              <a:rPr sz="850" b="0">
                <a:solidFill>
                  <a:srgbClr val="53565A"/>
                </a:solidFill>
                <a:latin typeface="Helvetica"/>
              </a:rPr>
              <a:t>Valable pour : ratios de la Décision n° 05/2022 recalculés sur les balances. Statut opposable de 2022 à 2025, indicatif en 2020, 2021 et 2026.</a:t>
            </a:r>
          </a:p>
        </p:txBody>
      </p:sp>
      <p:sp>
        <p:nvSpPr>
          <p:cNvPr id="34" name="TextBox 33"/>
          <p:cNvSpPr txBox="1"/>
          <p:nvPr/>
        </p:nvSpPr>
        <p:spPr>
          <a:xfrm>
            <a:off x="503999" y="3419660"/>
            <a:ext cx="11232000" cy="2448339"/>
          </a:xfrm>
          <a:prstGeom prst="rect">
            <a:avLst/>
          </a:prstGeom>
          <a:noFill/>
        </p:spPr>
        <p:txBody>
          <a:bodyPr wrap="square" lIns="54000" rIns="54000"/>
          <a:lstStyle/>
          <a:p>
            <a:pPr algn="just">
              <a:spcAft>
                <a:spcPts val="600"/>
              </a:spcAft>
            </a:pPr>
            <a:r>
              <a:rPr sz="1300" b="1">
                <a:solidFill>
                  <a:srgbClr val="060606"/>
                </a:solidFill>
                <a:latin typeface="Helvetica"/>
              </a:rPr>
              <a:t>La hausse des cotisations améliore les frais et la liquidité, mais éloigne la sinistralité et l'excédent net de leur norme.</a:t>
            </a:r>
            <a:r>
              <a:rPr sz="1300" b="0">
                <a:solidFill>
                  <a:srgbClr val="060606"/>
                </a:solidFill>
                <a:latin typeface="Helvetica"/>
              </a:rPr>
              <a:t> La hausse des prestations fait l'inverse.</a:t>
            </a:r>
          </a:p>
          <a:p>
            <a:pPr algn="just">
              <a:spcAft>
                <a:spcPts val="600"/>
              </a:spcAft>
            </a:pPr>
            <a:r>
              <a:rPr sz="1300" b="1">
                <a:solidFill>
                  <a:srgbClr val="060606"/>
                </a:solidFill>
                <a:latin typeface="Helvetica"/>
              </a:rPr>
              <a:t>La dotation à la réserve, la réallocation des placements et l'apport en fonds propres n'ont aucun effet défavorable. La baisse des charges n'éloigne que l'excédent net de sa norme.</a:t>
            </a:r>
          </a:p>
          <a:p>
            <a:pPr algn="just">
              <a:spcAft>
                <a:spcPts val="600"/>
              </a:spcAft>
            </a:pPr>
            <a:r>
              <a:rPr sz="1300" b="0">
                <a:solidFill>
                  <a:srgbClr val="060606"/>
                </a:solidFill>
                <a:latin typeface="Helvetica"/>
              </a:rPr>
              <a:t>Le plan de redressement prévu par les statuts (art. 93) doit combiner les leviers : agir sur les cotisations seules ne peut pas rendre le FPPN conforme.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1473339157"/>
      </p:ext>
    </p:extLst>
  </p:cSld>
  <p:clrMapOvr>
    <a:masterClrMapping/>
  </p:clrMapOvr>
  <p:transition>
    <p:fade/>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Montants d'équilibre de chaque levier en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Sur quoi agir, et de combien, pour rendre chaque ratio conforme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Taux de cotisation : 4,11 % pour la sinistralité, mais 9,08 % pour les frais. Réduction des frais de 44,96 % pour le taux des charges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des calculs v8, onglets 13a à 13i (formules). Décision n° 05/2022/COM/UEMOA du 1er juin 2022, annexe. Balances du FPPN. Calculs Adenka. Statuts, art. 17, 79, 81, 85, 90 et 93</a:t>
            </a:r>
          </a:p>
        </p:txBody>
      </p:sp>
      <p:sp>
        <p:nvSpPr>
          <p:cNvPr id="31" name="TextBox 30"/>
          <p:cNvSpPr txBox="1"/>
          <p:nvPr/>
        </p:nvSpPr>
        <p:spPr>
          <a:xfrm>
            <a:off x="503999" y="1386000"/>
            <a:ext cx="10872000" cy="216000"/>
          </a:xfrm>
          <a:prstGeom prst="rect">
            <a:avLst/>
          </a:prstGeom>
          <a:noFill/>
        </p:spPr>
        <p:txBody>
          <a:bodyPr wrap="square" anchor="t" lIns="54000" rIns="54000"/>
          <a:lstStyle/>
          <a:p>
            <a:pPr algn="ctr"/>
            <a:r>
              <a:rPr sz="1200" b="0">
                <a:solidFill>
                  <a:srgbClr val="EFAC62"/>
                </a:solidFill>
                <a:latin typeface="Helvetica"/>
              </a:rPr>
              <a:t>Tableau 74 : Montants d'équilibre 2025 par levier et par ratio</a:t>
            </a:r>
          </a:p>
        </p:txBody>
      </p:sp>
      <p:graphicFrame>
        <p:nvGraphicFramePr>
          <p:cNvPr id="32" name="Table 31"/>
          <p:cNvGraphicFramePr>
            <a:graphicFrameLocks noGrp="1"/>
          </p:cNvGraphicFramePr>
          <p:nvPr/>
        </p:nvGraphicFramePr>
        <p:xfrm>
          <a:off x="503999" y="1655999"/>
          <a:ext cx="10872000" cy="2058628"/>
        </p:xfrm>
        <a:graphic>
          <a:graphicData uri="http://schemas.openxmlformats.org/drawingml/2006/table">
            <a:tbl>
              <a:tblPr firstRow="0" bandRow="0">
                <a:tableStyleId>{5940675A-B579-460E-94D1-54222C63F5DA}</a:tableStyleId>
              </a:tblPr>
              <a:tblGrid>
                <a:gridCol w="2592000"/>
                <a:gridCol w="1944000"/>
                <a:gridCol w="1800000"/>
                <a:gridCol w="3456000"/>
                <a:gridCol w="1080000"/>
              </a:tblGrid>
              <a:tr h="187148">
                <a:tc>
                  <a:txBody>
                    <a:bodyPr/>
                    <a:lstStyle/>
                    <a:p>
                      <a:pPr marL="0" indent="0" lvl="0">
                        <a:buNone/>
                      </a:pPr>
                      <a:r>
                        <a:rPr sz="850" b="1">
                          <a:solidFill>
                            <a:srgbClr val="FFFFFF"/>
                          </a:solidFill>
                          <a:latin typeface="Helvetica"/>
                        </a:rPr>
                        <a:t>Levier (texte)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Ratio visé</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Montant 2025</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Lecture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Années d'effort</a:t>
                      </a:r>
                    </a:p>
                  </a:txBody>
                  <a:tcPr marL="43200" marR="43200" marT="14400" marB="14400" anchor="ctr">
                    <a:solidFill>
                      <a:srgbClr val="060606"/>
                    </a:solidFill>
                  </a:tcPr>
                </a:tc>
              </a:tr>
              <a:tr h="187148">
                <a:tc>
                  <a:txBody>
                    <a:bodyPr/>
                    <a:lstStyle/>
                    <a:p>
                      <a:pPr marL="0" indent="0" lvl="0">
                        <a:buNone/>
                      </a:pPr>
                      <a:r>
                        <a:rPr sz="850" b="1">
                          <a:solidFill>
                            <a:srgbClr val="060606"/>
                          </a:solidFill>
                          <a:latin typeface="Helvetica"/>
                        </a:rPr>
                        <a:t>Cotisations (statuts, art. 17 et 93)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Sinistralité</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-611 324 541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Taux de cotisation ramené à 4,11 %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6</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Cotisations (statuts, art. 17 et 93)</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Charges de fonctionnement</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2 791 823 813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Taux de cotisation porté à 9,08 %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Prestations (statuts, art. 93)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Sinistralité</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427 927 178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21,78 % de prestations en plus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6</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Prestations (statuts, art. 93)</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Excédent net</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266 992 825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13,59 % de prestations en plus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Charges (Décision n° 05/2022)</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Charges de fonctionnement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558 364 763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44,96 % des charges en moins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7</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Charges (Décision n° 05/2022)</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Coût par unité prestée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947 277 303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76,27 % des charges en moins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Réserve légale (statuts, art. 90)</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Réserve obligatoire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162 153 194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Dotation supplémentaire, interne aux fonds propres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7</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Placements (statuts, art. 85)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Liquidité</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13 555 974 724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Supérieur à toute la classe 2 (6 814 784 076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Placements (statuts, art. 85)</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Solvabilité de l'épargne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12 205 911 439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Actifs à affecter à l'épargne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7</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Fonds propres (statuts, art. 79 et 81)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Fonds propres et assimilés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16 002 055 145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22,22 années d'excédent moyen 2023 à 2025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a:t>
                      </a:r>
                    </a:p>
                  </a:txBody>
                  <a:tcPr marL="43200" marR="43200" marT="14400" marB="14400" anchor="ctr">
                    <a:solidFill>
                      <a:srgbClr val="F2F2F2"/>
                    </a:solidFill>
                  </a:tcPr>
                </a:tc>
              </a:tr>
            </a:tbl>
          </a:graphicData>
        </a:graphic>
      </p:graphicFrame>
      <p:sp>
        <p:nvSpPr>
          <p:cNvPr id="33" name="TextBox 32"/>
          <p:cNvSpPr txBox="1"/>
          <p:nvPr/>
        </p:nvSpPr>
        <p:spPr>
          <a:xfrm>
            <a:off x="503999" y="3732629"/>
            <a:ext cx="11232000" cy="162000"/>
          </a:xfrm>
          <a:prstGeom prst="rect">
            <a:avLst/>
          </a:prstGeom>
          <a:noFill/>
        </p:spPr>
        <p:txBody>
          <a:bodyPr wrap="square" anchor="t" lIns="54000" rIns="54000"/>
          <a:lstStyle/>
          <a:p>
            <a:pPr algn="l"/>
            <a:r>
              <a:rPr sz="850" b="0">
                <a:solidFill>
                  <a:srgbClr val="53565A"/>
                </a:solidFill>
                <a:latin typeface="Helvetica"/>
              </a:rPr>
              <a:t>Valable pour : ratios de la Décision n° 05/2022 recalculés sur les balances. Statut opposable de 2022 à 2025, indicatif en 2020, 2021 et 2026.</a:t>
            </a:r>
          </a:p>
        </p:txBody>
      </p:sp>
      <p:sp>
        <p:nvSpPr>
          <p:cNvPr id="34" name="TextBox 33"/>
          <p:cNvSpPr txBox="1"/>
          <p:nvPr/>
        </p:nvSpPr>
        <p:spPr>
          <a:xfrm>
            <a:off x="503999" y="4020629"/>
            <a:ext cx="11232000" cy="1847370"/>
          </a:xfrm>
          <a:prstGeom prst="rect">
            <a:avLst/>
          </a:prstGeom>
          <a:noFill/>
        </p:spPr>
        <p:txBody>
          <a:bodyPr wrap="square" lIns="54000" rIns="54000"/>
          <a:lstStyle/>
          <a:p>
            <a:pPr algn="just">
              <a:spcAft>
                <a:spcPts val="600"/>
              </a:spcAft>
            </a:pPr>
            <a:r>
              <a:rPr sz="1200" b="1">
                <a:solidFill>
                  <a:srgbClr val="060606"/>
                </a:solidFill>
                <a:latin typeface="Helvetica"/>
              </a:rPr>
              <a:t>Pour la sinistralité, il faudrait baisser le taux de cotisation ou servir 427 927 178 FCFA de prestations en plus. Pour les frais, il faudrait au contraire presque doubler le taux.</a:t>
            </a:r>
            <a:r>
              <a:rPr sz="1200" b="0">
                <a:solidFill>
                  <a:srgbClr val="060606"/>
                </a:solidFill>
                <a:latin typeface="Helvetica"/>
              </a:rPr>
              <a:t> Le levier des cotisations est donc contradictoire.</a:t>
            </a:r>
          </a:p>
          <a:p>
            <a:pPr algn="just">
              <a:spcAft>
                <a:spcPts val="600"/>
              </a:spcAft>
            </a:pPr>
            <a:r>
              <a:rPr sz="1200" b="1">
                <a:solidFill>
                  <a:srgbClr val="060606"/>
                </a:solidFill>
                <a:latin typeface="Helvetica"/>
              </a:rPr>
              <a:t>Le levier le plus direct est la baisse des charges de fonctionnement</a:t>
            </a:r>
            <a:r>
              <a:rPr sz="1200" b="0">
                <a:solidFill>
                  <a:srgbClr val="060606"/>
                </a:solidFill>
                <a:latin typeface="Helvetica"/>
              </a:rPr>
              <a:t> : 558 364 763 FCFA en 2025 pour le taux des charges, davantage pour le coût par unité prestée.</a:t>
            </a:r>
          </a:p>
          <a:p>
            <a:pPr algn="just">
              <a:spcAft>
                <a:spcPts val="600"/>
              </a:spcAft>
            </a:pPr>
            <a:r>
              <a:rPr sz="1200" b="1">
                <a:solidFill>
                  <a:srgbClr val="060606"/>
                </a:solidFill>
                <a:latin typeface="Helvetica"/>
              </a:rPr>
              <a:t>Les écarts de bilan dépassent les moyens du FPPN</a:t>
            </a:r>
            <a:r>
              <a:rPr sz="1200" b="0">
                <a:solidFill>
                  <a:srgbClr val="060606"/>
                </a:solidFill>
                <a:latin typeface="Helvetica"/>
              </a:rPr>
              <a:t> : la trésorerie manquante excède toute la classe 2, et les fonds propres demanderaient 22,22 années d'excédent moyen.</a:t>
            </a:r>
          </a:p>
          <a:p>
            <a:pPr algn="just">
              <a:spcAft>
                <a:spcPts val="600"/>
              </a:spcAft>
            </a:pPr>
            <a:r>
              <a:rPr sz="1200" b="0">
                <a:solidFill>
                  <a:srgbClr val="060606"/>
                </a:solidFill>
                <a:latin typeface="Helvetica"/>
              </a:rPr>
              <a:t>Les ratios de compte de résultat peuvent être corrigés en quelques exercices par une maîtrise des frais et une revue du régime des prestations. Les ratios de bilan demandent un plan pluriannuel, présenté à l'AIRMS.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a:t>
            </a:r>
          </a:p>
        </p:txBody>
      </p:sp>
    </p:spTree>
    <p:extLst>
      <p:ext uri="{BB962C8B-B14F-4D97-AF65-F5344CB8AC3E}">
        <p14:creationId xmlns:p14="http://schemas.microsoft.com/office/powerpoint/2010/main" val="3901086166"/>
      </p:ext>
    </p:extLst>
  </p:cSld>
  <p:clrMapOvr>
    <a:masterClrMapping/>
  </p:clrMapOvr>
  <p:transition>
    <p:fade/>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Cotisations : deux ratios demandent des mouvements opposés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appelle une baisse du taux, les frais une hausse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2025, taux de cotisation équivalent : 4,11 % pour la sinistralité, 9,08 % pour le taux des charges, contre 5,00 % dans les statuts</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37 : Taux de cotisation équivalent selon le ratio visé</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de la solde de base</a:t>
            </a:r>
          </a:p>
        </p:txBody>
      </p:sp>
      <p:graphicFrame>
        <p:nvGraphicFramePr>
          <p:cNvPr id="32" name="Chart 31"/>
          <p:cNvGraphicFramePr>
            <a:graphicFrameLocks noGrp="1"/>
          </p:cNvGraphicFramePr>
          <p:nvPr/>
        </p:nvGraphicFramePr>
        <p:xfrm>
          <a:off x="503999" y="1782000"/>
          <a:ext cx="6552000" cy="3888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des calculs v8, onglets 13a à 13i (formules). Décision n° 05/2022/COM/UEMOA du 1er juin 2022, annexe. Balances du FPPN. Calculs Adenka. Statuts, art. 17</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L'écart entre les deux exigences se réduit, mais reste large : de 0,64 % contre 21,08 % en 2020, à 4,11 % contre 9,08 % en 2025.</a:t>
            </a:r>
          </a:p>
          <a:p>
            <a:pPr algn="just">
              <a:spcAft>
                <a:spcPts val="600"/>
              </a:spcAft>
            </a:pPr>
            <a:r>
              <a:rPr sz="1400" b="1">
                <a:solidFill>
                  <a:srgbClr val="060606"/>
                </a:solidFill>
                <a:latin typeface="Helvetica"/>
              </a:rPr>
              <a:t>La hausse des prestations maladie rapproche la sinistralité de sa norme</a:t>
            </a:r>
            <a:r>
              <a:rPr sz="1400" b="0">
                <a:solidFill>
                  <a:srgbClr val="060606"/>
                </a:solidFill>
                <a:latin typeface="Helvetica"/>
              </a:rPr>
              <a:t> : en 2026, sur huit mois, le taux de 5 % suffit à la respecter.</a:t>
            </a:r>
          </a:p>
          <a:p>
            <a:pPr algn="just">
              <a:spcAft>
                <a:spcPts val="600"/>
              </a:spcAft>
            </a:pPr>
            <a:r>
              <a:rPr sz="1400" b="0">
                <a:solidFill>
                  <a:srgbClr val="060606"/>
                </a:solidFill>
                <a:latin typeface="Helvetica"/>
              </a:rPr>
              <a:t>Le taux de cotisation n'est pas le bon levier pour les frais : c'est le niveau des charges qui dépasse les plafonds du texte. Le taux devra être revu une fois les provisions recalculées, car elles entrent dans la sinistralité.</a:t>
            </a:r>
          </a:p>
        </p:txBody>
      </p:sp>
      <p:sp>
        <p:nvSpPr>
          <p:cNvPr id="35" name="TextBox 34"/>
          <p:cNvSpPr txBox="1"/>
          <p:nvPr/>
        </p:nvSpPr>
        <p:spPr>
          <a:xfrm>
            <a:off x="503999" y="5688000"/>
            <a:ext cx="6552000" cy="162000"/>
          </a:xfrm>
          <a:prstGeom prst="rect">
            <a:avLst/>
          </a:prstGeom>
          <a:noFill/>
        </p:spPr>
        <p:txBody>
          <a:bodyPr wrap="square" anchor="t" lIns="54000" rIns="54000"/>
          <a:lstStyle/>
          <a:p>
            <a:pPr algn="l"/>
            <a:r>
              <a:rPr sz="850" b="0">
                <a:solidFill>
                  <a:srgbClr val="53565A"/>
                </a:solidFill>
                <a:latin typeface="Helvetica"/>
              </a:rPr>
              <a:t>Valable pour : ratios de la Décision n° 05/2022 recalculés sur les balances. Statut opposable de 2022 à 2025, indicatif en 2020, 2021 et 2026.</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1309168141"/>
      </p:ext>
    </p:extLst>
  </p:cSld>
  <p:clrMapOvr>
    <a:masterClrMapping/>
  </p:clrMapOvr>
  <p:transition>
    <p:fade/>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Liquidité : la vente des placements longs ne suffirait pas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Même en vendant toute la classe 2, la liquidité resterait sous la norme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Liquidité maximale théorique : 0,57 en 2025. Liquidité hors épargne : 1,15, conforme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des calculs v8, onglets 13a à 13i (formules). Décision n° 05/2022/COM/UEMOA du 1er juin 2022, annexe. Balances du FPPN. Calculs Adenka. Règlement d'exécution n° 004/2022/COM/UEMOA du 1er juin 2022, art. 3, 17 et 19</a:t>
            </a:r>
          </a:p>
        </p:txBody>
      </p:sp>
      <p:sp>
        <p:nvSpPr>
          <p:cNvPr id="31" name="TextBox 30"/>
          <p:cNvSpPr txBox="1"/>
          <p:nvPr/>
        </p:nvSpPr>
        <p:spPr>
          <a:xfrm>
            <a:off x="503999" y="1386000"/>
            <a:ext cx="11217599" cy="216000"/>
          </a:xfrm>
          <a:prstGeom prst="rect">
            <a:avLst/>
          </a:prstGeom>
          <a:noFill/>
        </p:spPr>
        <p:txBody>
          <a:bodyPr wrap="square" anchor="t" lIns="54000" rIns="54000"/>
          <a:lstStyle/>
          <a:p>
            <a:pPr algn="ctr"/>
            <a:r>
              <a:rPr sz="1200" b="0">
                <a:solidFill>
                  <a:srgbClr val="EFAC62"/>
                </a:solidFill>
                <a:latin typeface="Helvetica"/>
              </a:rPr>
              <a:t>Tableau 75 : Liquidité : écart, plafond de réallocation et lecture hors épargne</a:t>
            </a:r>
          </a:p>
        </p:txBody>
      </p:sp>
      <p:graphicFrame>
        <p:nvGraphicFramePr>
          <p:cNvPr id="32" name="Table 31"/>
          <p:cNvGraphicFramePr>
            <a:graphicFrameLocks noGrp="1"/>
          </p:cNvGraphicFramePr>
          <p:nvPr/>
        </p:nvGraphicFramePr>
        <p:xfrm>
          <a:off x="503999" y="1655999"/>
          <a:ext cx="11217599" cy="1252436"/>
        </p:xfrm>
        <a:graphic>
          <a:graphicData uri="http://schemas.openxmlformats.org/drawingml/2006/table">
            <a:tbl>
              <a:tblPr firstRow="0" bandRow="0">
                <a:tableStyleId>{5940675A-B579-460E-94D1-54222C63F5DA}</a:tableStyleId>
              </a:tblPr>
              <a:tblGrid>
                <a:gridCol w="2951999"/>
                <a:gridCol w="1180800"/>
                <a:gridCol w="1180800"/>
                <a:gridCol w="1180800"/>
                <a:gridCol w="1180800"/>
                <a:gridCol w="1180800"/>
                <a:gridCol w="1180800"/>
                <a:gridCol w="1180800"/>
              </a:tblGrid>
              <a:tr h="187148">
                <a:tc>
                  <a:txBody>
                    <a:bodyPr/>
                    <a:lstStyle/>
                    <a:p>
                      <a:pPr marL="0" indent="0" lvl="0">
                        <a:buNone/>
                      </a:pPr>
                      <a:r>
                        <a:rPr sz="85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2020</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2021</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31/08/2026</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Trésorerie manquante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14 230 404 472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11 761 869 725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10 573 204 487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10 196 077 155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12 783 264 390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13 555 974 724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14 572 853 980 FCFA</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Classe 2 nette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5 420 135 286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4 916 701 524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4 888 463 485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5 151 329 261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6 790 107 498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6 814 784 076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6 863 564 240 FCFA</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Liquidité maximale théorique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0,42</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0,53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0,52</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0,56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0,56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0,57</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0,57</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Liquidité hors épargne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0,21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0,64</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0,51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0,54</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0,33</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1,15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1,53</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Conforme hors épargne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Oui</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Oui</a:t>
                      </a:r>
                    </a:p>
                  </a:txBody>
                  <a:tcPr marL="43200" marR="43200" marT="14400" marB="14400" anchor="ctr">
                    <a:solidFill>
                      <a:srgbClr val="FFFFFF"/>
                    </a:solidFill>
                  </a:tcPr>
                </a:tc>
              </a:tr>
            </a:tbl>
          </a:graphicData>
        </a:graphic>
      </p:graphicFrame>
      <p:sp>
        <p:nvSpPr>
          <p:cNvPr id="33" name="TextBox 32"/>
          <p:cNvSpPr txBox="1"/>
          <p:nvPr/>
        </p:nvSpPr>
        <p:spPr>
          <a:xfrm>
            <a:off x="503999" y="2926437"/>
            <a:ext cx="11232000" cy="162000"/>
          </a:xfrm>
          <a:prstGeom prst="rect">
            <a:avLst/>
          </a:prstGeom>
          <a:noFill/>
        </p:spPr>
        <p:txBody>
          <a:bodyPr wrap="square" anchor="t" lIns="54000" rIns="54000"/>
          <a:lstStyle/>
          <a:p>
            <a:pPr algn="l"/>
            <a:r>
              <a:rPr sz="850" b="0">
                <a:solidFill>
                  <a:srgbClr val="53565A"/>
                </a:solidFill>
                <a:latin typeface="Helvetica"/>
              </a:rPr>
              <a:t>Valable pour : ratios de la Décision n° 05/2022 recalculés sur les balances. Statut opposable de 2022 à 2025, indicatif en 2020, 2021 et 2026.</a:t>
            </a:r>
          </a:p>
        </p:txBody>
      </p:sp>
      <p:sp>
        <p:nvSpPr>
          <p:cNvPr id="34" name="TextBox 33"/>
          <p:cNvSpPr txBox="1"/>
          <p:nvPr/>
        </p:nvSpPr>
        <p:spPr>
          <a:xfrm>
            <a:off x="503999" y="3214437"/>
            <a:ext cx="11232000" cy="2653562"/>
          </a:xfrm>
          <a:prstGeom prst="rect">
            <a:avLst/>
          </a:prstGeom>
          <a:noFill/>
        </p:spPr>
        <p:txBody>
          <a:bodyPr wrap="square" lIns="54000" rIns="54000"/>
          <a:lstStyle/>
          <a:p>
            <a:pPr algn="just">
              <a:spcAft>
                <a:spcPts val="600"/>
              </a:spcAft>
            </a:pPr>
            <a:r>
              <a:rPr sz="1300" b="1">
                <a:solidFill>
                  <a:srgbClr val="060606"/>
                </a:solidFill>
                <a:latin typeface="Helvetica"/>
              </a:rPr>
              <a:t>La trésorerie manquante dépasse, chaque année, toute la classe 2 : la réallocation des placements, seule, ne peut pas rendre la liquidité conforme.</a:t>
            </a:r>
          </a:p>
          <a:p>
            <a:pPr algn="just">
              <a:spcAft>
                <a:spcPts val="600"/>
              </a:spcAft>
            </a:pPr>
            <a:r>
              <a:rPr sz="1300" b="1">
                <a:solidFill>
                  <a:srgbClr val="060606"/>
                </a:solidFill>
                <a:latin typeface="Helvetica"/>
              </a:rPr>
              <a:t>Hors épargne, la liquidité devient conforme en 2025 et au 31/08/2026.</a:t>
            </a:r>
            <a:r>
              <a:rPr sz="1300" b="0">
                <a:solidFill>
                  <a:srgbClr val="060606"/>
                </a:solidFill>
                <a:latin typeface="Helvetica"/>
              </a:rPr>
              <a:t> Le problème de liquidité est donc celui de l'épargne PEP et EFC, classée en dettes à court terme.</a:t>
            </a:r>
          </a:p>
          <a:p>
            <a:pPr algn="just">
              <a:spcAft>
                <a:spcPts val="600"/>
              </a:spcAft>
            </a:pPr>
            <a:r>
              <a:rPr sz="1300" b="0">
                <a:solidFill>
                  <a:srgbClr val="060606"/>
                </a:solidFill>
                <a:latin typeface="Helvetica"/>
              </a:rPr>
              <a:t>Le levier de liquidité est l'adossement de l'épargne : des actifs dédiés, constitués au fil des versements, et un échéancier qui justifie le classement de l'épargne en ressource longue. Sans échéancier, ce classement n'est pas démontré.</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625004832"/>
      </p:ext>
    </p:extLst>
  </p:cSld>
  <p:clrMapOvr>
    <a:masterClrMapping/>
  </p:clrMapOvr>
  <p:transition>
    <p:fade/>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Réserve et fonds propres : la règle des statuts aurait suffi pour la réserve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Avec 20 % des excédents depuis 2020, la réserve aurait été conforme en 2025</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Réserve obligatoire 2025 : 5,01 mois réels. 8,41 mois avec 20 % des excédents passés. Norme de 6 à 9 mois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des calculs v8, onglets 13a à 13i (formules). Décision n° 05/2022/COM/UEMOA du 1er juin 2022, annexe. Balances du FPPN. Calculs Adenka. Statuts, art. 81 et 90</a:t>
            </a:r>
          </a:p>
        </p:txBody>
      </p:sp>
      <p:sp>
        <p:nvSpPr>
          <p:cNvPr id="31" name="TextBox 30"/>
          <p:cNvSpPr txBox="1"/>
          <p:nvPr/>
        </p:nvSpPr>
        <p:spPr>
          <a:xfrm>
            <a:off x="503999" y="1386000"/>
            <a:ext cx="11217599" cy="216000"/>
          </a:xfrm>
          <a:prstGeom prst="rect">
            <a:avLst/>
          </a:prstGeom>
          <a:noFill/>
        </p:spPr>
        <p:txBody>
          <a:bodyPr wrap="square" anchor="t" lIns="54000" rIns="54000"/>
          <a:lstStyle/>
          <a:p>
            <a:pPr algn="ctr"/>
            <a:r>
              <a:rPr sz="1200" b="0">
                <a:solidFill>
                  <a:srgbClr val="EFAC62"/>
                </a:solidFill>
                <a:latin typeface="Helvetica"/>
              </a:rPr>
              <a:t>Tableau 76 : Réserve obligatoire selon la dotation statutaire, et horizon des fonds propres</a:t>
            </a:r>
          </a:p>
        </p:txBody>
      </p:sp>
      <p:graphicFrame>
        <p:nvGraphicFramePr>
          <p:cNvPr id="32" name="Table 31"/>
          <p:cNvGraphicFramePr>
            <a:graphicFrameLocks noGrp="1"/>
          </p:cNvGraphicFramePr>
          <p:nvPr/>
        </p:nvGraphicFramePr>
        <p:xfrm>
          <a:off x="503999" y="1655999"/>
          <a:ext cx="11217599" cy="1122888"/>
        </p:xfrm>
        <a:graphic>
          <a:graphicData uri="http://schemas.openxmlformats.org/drawingml/2006/table">
            <a:tbl>
              <a:tblPr firstRow="0" bandRow="0">
                <a:tableStyleId>{5940675A-B579-460E-94D1-54222C63F5DA}</a:tableStyleId>
              </a:tblPr>
              <a:tblGrid>
                <a:gridCol w="2951999"/>
                <a:gridCol w="1180800"/>
                <a:gridCol w="1180800"/>
                <a:gridCol w="1180800"/>
                <a:gridCol w="1180800"/>
                <a:gridCol w="1180800"/>
                <a:gridCol w="1180800"/>
                <a:gridCol w="1180800"/>
              </a:tblGrid>
              <a:tr h="187148">
                <a:tc>
                  <a:txBody>
                    <a:bodyPr/>
                    <a:lstStyle/>
                    <a:p>
                      <a:pPr marL="0" indent="0" lvl="0">
                        <a:buNone/>
                      </a:pPr>
                      <a:r>
                        <a:rPr sz="85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2020</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2021</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31/08/2026</a:t>
                      </a:r>
                    </a:p>
                  </a:txBody>
                  <a:tcPr marL="43200" marR="43200" marT="14400" marB="14400" anchor="ctr">
                    <a:solidFill>
                      <a:srgbClr val="060606"/>
                    </a:solidFill>
                  </a:tcPr>
                </a:tc>
              </a:tr>
              <a:tr h="187148">
                <a:tc>
                  <a:txBody>
                    <a:bodyPr/>
                    <a:lstStyle/>
                    <a:p>
                      <a:pPr marL="0" indent="0" lvl="0">
                        <a:buNone/>
                      </a:pPr>
                      <a:r>
                        <a:rPr sz="850" b="1">
                          <a:solidFill>
                            <a:srgbClr val="060606"/>
                          </a:solidFill>
                          <a:latin typeface="Helvetica"/>
                        </a:rPr>
                        <a:t>Réserve réelle (mois)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0,00</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0,00</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0,00</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3,25</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4,91</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5,01</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5,47</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Avec 20 % des excédents (mois)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4,86</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32,17</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18,19</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11,52</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8,41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9,77</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Conforme avec 20 %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Oui</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Avec 50 % des excédents (mois)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12,14</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80,44</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45,47</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28,81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21,03</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24,43</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Années d'excédent pour les fonds propres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30,40</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26,97</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20,09</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18,25</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20,38</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22,22</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26,18</a:t>
                      </a:r>
                    </a:p>
                  </a:txBody>
                  <a:tcPr marL="43200" marR="43200" marT="14400" marB="14400" anchor="ctr">
                    <a:solidFill>
                      <a:srgbClr val="FFFFFF"/>
                    </a:solidFill>
                  </a:tcPr>
                </a:tc>
              </a:tr>
            </a:tbl>
          </a:graphicData>
        </a:graphic>
      </p:graphicFrame>
      <p:sp>
        <p:nvSpPr>
          <p:cNvPr id="33" name="TextBox 32"/>
          <p:cNvSpPr txBox="1"/>
          <p:nvPr/>
        </p:nvSpPr>
        <p:spPr>
          <a:xfrm>
            <a:off x="503999" y="2796888"/>
            <a:ext cx="11232000" cy="162000"/>
          </a:xfrm>
          <a:prstGeom prst="rect">
            <a:avLst/>
          </a:prstGeom>
          <a:noFill/>
        </p:spPr>
        <p:txBody>
          <a:bodyPr wrap="square" anchor="t" lIns="54000" rIns="54000"/>
          <a:lstStyle/>
          <a:p>
            <a:pPr algn="l"/>
            <a:r>
              <a:rPr sz="850" b="0">
                <a:solidFill>
                  <a:srgbClr val="53565A"/>
                </a:solidFill>
                <a:latin typeface="Helvetica"/>
              </a:rPr>
              <a:t>Valable pour : ratios de la Décision n° 05/2022 recalculés sur les balances. Statut opposable de 2022 à 2025, indicatif en 2020, 2021 et 2026.</a:t>
            </a:r>
          </a:p>
        </p:txBody>
      </p:sp>
      <p:sp>
        <p:nvSpPr>
          <p:cNvPr id="34" name="TextBox 33"/>
          <p:cNvSpPr txBox="1"/>
          <p:nvPr/>
        </p:nvSpPr>
        <p:spPr>
          <a:xfrm>
            <a:off x="503999" y="3084888"/>
            <a:ext cx="11232000" cy="2783111"/>
          </a:xfrm>
          <a:prstGeom prst="rect">
            <a:avLst/>
          </a:prstGeom>
          <a:noFill/>
        </p:spPr>
        <p:txBody>
          <a:bodyPr wrap="square" lIns="54000" rIns="54000"/>
          <a:lstStyle/>
          <a:p>
            <a:pPr algn="just">
              <a:spcAft>
                <a:spcPts val="600"/>
              </a:spcAft>
            </a:pPr>
            <a:r>
              <a:rPr sz="1300" b="1">
                <a:solidFill>
                  <a:srgbClr val="060606"/>
                </a:solidFill>
                <a:latin typeface="Helvetica"/>
              </a:rPr>
              <a:t>Une dotation de 20 % des excédents dès 2020 aurait donné une réserve conforme en 2025. Au-delà de 9 mois, la réserve dépasse la borne haute.</a:t>
            </a:r>
            <a:r>
              <a:rPr sz="1300" b="0">
                <a:solidFill>
                  <a:srgbClr val="060606"/>
                </a:solidFill>
                <a:latin typeface="Helvetica"/>
              </a:rPr>
              <a:t> Le problème de la réserve tient à l'affectation des excédents, pas à leur montant.</a:t>
            </a:r>
          </a:p>
          <a:p>
            <a:pPr algn="just">
              <a:spcAft>
                <a:spcPts val="600"/>
              </a:spcAft>
            </a:pPr>
            <a:r>
              <a:rPr sz="1300" b="1">
                <a:solidFill>
                  <a:srgbClr val="060606"/>
                </a:solidFill>
                <a:latin typeface="Helvetica"/>
              </a:rPr>
              <a:t>Les fonds propres demanderaient 22,22 années d'excédent moyen pour atteindre la norme</a:t>
            </a:r>
            <a:r>
              <a:rPr sz="1300" b="0">
                <a:solidFill>
                  <a:srgbClr val="060606"/>
                </a:solidFill>
                <a:latin typeface="Helvetica"/>
              </a:rPr>
              <a:t> : l'excédent seul ne peut pas les reconstituer dans un délai raisonnable.</a:t>
            </a:r>
          </a:p>
          <a:p>
            <a:pPr algn="just">
              <a:spcAft>
                <a:spcPts val="600"/>
              </a:spcAft>
            </a:pPr>
            <a:r>
              <a:rPr sz="1300" b="0">
                <a:solidFill>
                  <a:srgbClr val="060606"/>
                </a:solidFill>
                <a:latin typeface="Helvetica"/>
              </a:rPr>
              <a:t>La réserve obligatoire peut être mise en conformité par la seule application de l'article 90 des statuts. Les fonds propres demandent d'autres ressources (dons et legs, art. 81) ou une réduction des dettes, à inscrire dans le plan de redressement.</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1132429109"/>
      </p:ext>
    </p:extLst>
  </p:cSld>
  <p:clrMapOvr>
    <a:masterClrMapping/>
  </p:clrMapOvr>
  <p:transition>
    <p:fade/>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Les normes de flux ne peuvent pas être respectées ensemble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Avec les formules de la Décision, sinistralité, coût par unité prestée et excédent net se contredisent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Il faudrait que les autres éléments du résultat soient une charge d'au moins 3,00 % des cotisations. Ils sont un produit de 6,63 % en 2025</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des calculs v8, onglets 13a à 13i (formules). Décision n° 05/2022/COM/UEMOA du 1er juin 2022, annexe. Balances du FPPN. Calculs Adenka. Décision n° 05/2022/COM/UEMOA du 1er juin 2022, annexe, tableau 1, lignes 2 et 5. Tableau 2, lignes 5 et 10</a:t>
            </a:r>
          </a:p>
        </p:txBody>
      </p:sp>
      <p:sp>
        <p:nvSpPr>
          <p:cNvPr id="31" name="TextBox 30"/>
          <p:cNvSpPr txBox="1"/>
          <p:nvPr/>
        </p:nvSpPr>
        <p:spPr>
          <a:xfrm>
            <a:off x="503999" y="1386000"/>
            <a:ext cx="11217599" cy="216000"/>
          </a:xfrm>
          <a:prstGeom prst="rect">
            <a:avLst/>
          </a:prstGeom>
          <a:noFill/>
        </p:spPr>
        <p:txBody>
          <a:bodyPr wrap="square" anchor="t" lIns="54000" rIns="54000"/>
          <a:lstStyle/>
          <a:p>
            <a:pPr algn="ctr"/>
            <a:r>
              <a:rPr sz="1200" b="0">
                <a:solidFill>
                  <a:srgbClr val="EFAC62"/>
                </a:solidFill>
                <a:latin typeface="Helvetica"/>
              </a:rPr>
              <a:t>Tableau 77 : Condition de faisabilité conjointe des normes de flux</a:t>
            </a:r>
          </a:p>
        </p:txBody>
      </p:sp>
      <p:graphicFrame>
        <p:nvGraphicFramePr>
          <p:cNvPr id="32" name="Table 31"/>
          <p:cNvGraphicFramePr>
            <a:graphicFrameLocks noGrp="1"/>
          </p:cNvGraphicFramePr>
          <p:nvPr/>
        </p:nvGraphicFramePr>
        <p:xfrm>
          <a:off x="503999" y="1655999"/>
          <a:ext cx="11217599" cy="1122888"/>
        </p:xfrm>
        <a:graphic>
          <a:graphicData uri="http://schemas.openxmlformats.org/drawingml/2006/table">
            <a:tbl>
              <a:tblPr firstRow="0" bandRow="0">
                <a:tableStyleId>{5940675A-B579-460E-94D1-54222C63F5DA}</a:tableStyleId>
              </a:tblPr>
              <a:tblGrid>
                <a:gridCol w="2951999"/>
                <a:gridCol w="1180800"/>
                <a:gridCol w="1180800"/>
                <a:gridCol w="1180800"/>
                <a:gridCol w="1180800"/>
                <a:gridCol w="1180800"/>
                <a:gridCol w="1180800"/>
                <a:gridCol w="1180800"/>
              </a:tblGrid>
              <a:tr h="187148">
                <a:tc>
                  <a:txBody>
                    <a:bodyPr/>
                    <a:lstStyle/>
                    <a:p>
                      <a:pPr marL="0" indent="0" lvl="0">
                        <a:buNone/>
                      </a:pPr>
                      <a:r>
                        <a:rPr sz="85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2020</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2021</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31/08/2026</a:t>
                      </a:r>
                    </a:p>
                  </a:txBody>
                  <a:tcPr marL="43200" marR="43200" marT="14400" marB="14400" anchor="ctr">
                    <a:solidFill>
                      <a:srgbClr val="060606"/>
                    </a:solidFill>
                  </a:tcPr>
                </a:tc>
              </a:tr>
              <a:tr h="187148">
                <a:tc>
                  <a:txBody>
                    <a:bodyPr/>
                    <a:lstStyle/>
                    <a:p>
                      <a:pPr marL="0" indent="0" lvl="0">
                        <a:buNone/>
                      </a:pPr>
                      <a:r>
                        <a:rPr sz="850" b="1">
                          <a:solidFill>
                            <a:srgbClr val="060606"/>
                          </a:solidFill>
                          <a:latin typeface="Helvetica"/>
                        </a:rPr>
                        <a:t>Autres éléments du résultat (A)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859 500 956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1 327 261 802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946 571 355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81 577 995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50 025 847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226 523 323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20 862 774 FCFA</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A en % des cotisations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36,57 %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54,77 %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37,05 %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2,94 %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1,59 %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6,63 %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0,87 %</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Seuil maximal de 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-3,00 %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-3,00 %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-3,00 %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-3,00 %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-3,00 %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-3,00 %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-3,00 %</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Normes conciliables ?</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Non</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Exercices pour 6 mois de réserve à 5 % d'excédent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0,89</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2,08</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0,91</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2,46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4,03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5,75</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7,52</a:t>
                      </a:r>
                    </a:p>
                  </a:txBody>
                  <a:tcPr marL="43200" marR="43200" marT="14400" marB="14400" anchor="ctr">
                    <a:solidFill>
                      <a:srgbClr val="FFFFFF"/>
                    </a:solidFill>
                  </a:tcPr>
                </a:tc>
              </a:tr>
            </a:tbl>
          </a:graphicData>
        </a:graphic>
      </p:graphicFrame>
      <p:sp>
        <p:nvSpPr>
          <p:cNvPr id="33" name="TextBox 32"/>
          <p:cNvSpPr txBox="1"/>
          <p:nvPr/>
        </p:nvSpPr>
        <p:spPr>
          <a:xfrm>
            <a:off x="503999" y="2796888"/>
            <a:ext cx="11232000" cy="162000"/>
          </a:xfrm>
          <a:prstGeom prst="rect">
            <a:avLst/>
          </a:prstGeom>
          <a:noFill/>
        </p:spPr>
        <p:txBody>
          <a:bodyPr wrap="square" anchor="t" lIns="54000" rIns="54000"/>
          <a:lstStyle/>
          <a:p>
            <a:pPr algn="l"/>
            <a:r>
              <a:rPr sz="850" b="0">
                <a:solidFill>
                  <a:srgbClr val="53565A"/>
                </a:solidFill>
                <a:latin typeface="Helvetica"/>
              </a:rPr>
              <a:t>Valable pour : ratios de la Décision n° 05/2022 recalculés sur les balances. Statut opposable de 2022 à 2025, indicatif en 2020, 2021 et 2026.</a:t>
            </a:r>
          </a:p>
        </p:txBody>
      </p:sp>
      <p:sp>
        <p:nvSpPr>
          <p:cNvPr id="34" name="TextBox 33"/>
          <p:cNvSpPr txBox="1"/>
          <p:nvPr/>
        </p:nvSpPr>
        <p:spPr>
          <a:xfrm>
            <a:off x="503999" y="3084888"/>
            <a:ext cx="11232000" cy="2783111"/>
          </a:xfrm>
          <a:prstGeom prst="rect">
            <a:avLst/>
          </a:prstGeom>
          <a:noFill/>
        </p:spPr>
        <p:txBody>
          <a:bodyPr wrap="square" lIns="54000" rIns="54000"/>
          <a:lstStyle/>
          <a:p>
            <a:pPr algn="just">
              <a:spcAft>
                <a:spcPts val="600"/>
              </a:spcAft>
            </a:pPr>
            <a:r>
              <a:rPr sz="1300" b="1">
                <a:solidFill>
                  <a:srgbClr val="060606"/>
                </a:solidFill>
                <a:latin typeface="Helvetica"/>
              </a:rPr>
              <a:t>Tant que les produits financiers et autres produits dépassent les autres charges, aucune combinaison des cotisations, des prestations et des frais ne respecte en même temps la sinistralité, le coût par unité prestée et l'excédent net.</a:t>
            </a:r>
          </a:p>
          <a:p>
            <a:pPr algn="just">
              <a:spcAft>
                <a:spcPts val="600"/>
              </a:spcAft>
            </a:pPr>
            <a:r>
              <a:rPr sz="1300" b="1">
                <a:solidFill>
                  <a:srgbClr val="060606"/>
                </a:solidFill>
                <a:latin typeface="Helvetica"/>
              </a:rPr>
              <a:t>Les normes se contraignent aussi dans le temps</a:t>
            </a:r>
            <a:r>
              <a:rPr sz="1300" b="0">
                <a:solidFill>
                  <a:srgbClr val="060606"/>
                </a:solidFill>
                <a:latin typeface="Helvetica"/>
              </a:rPr>
              <a:t> : avec un excédent plafonné à 5 % et la sinistralité de 2025, constituer six mois de réserve prend 5,75 exercices.</a:t>
            </a:r>
          </a:p>
          <a:p>
            <a:pPr algn="just">
              <a:spcAft>
                <a:spcPts val="600"/>
              </a:spcAft>
            </a:pPr>
            <a:r>
              <a:rPr sz="1300" b="0">
                <a:solidFill>
                  <a:srgbClr val="060606"/>
                </a:solidFill>
                <a:latin typeface="Helvetica"/>
              </a:rPr>
              <a:t>Cette tension tient aux formules du texte, pas à la gestion du FPPN. Elle doit être exposée à l'AIRMS : le plan de mise en conformité doit dire quels ratios de flux sont visés en priorité et sur quel horizon.</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a:t>
            </a:r>
          </a:p>
        </p:txBody>
      </p:sp>
    </p:spTree>
    <p:extLst>
      <p:ext uri="{BB962C8B-B14F-4D97-AF65-F5344CB8AC3E}">
        <p14:creationId xmlns:p14="http://schemas.microsoft.com/office/powerpoint/2010/main" val="3331223196"/>
      </p:ext>
    </p:extLst>
  </p:cSld>
  <p:clrMapOvr>
    <a:masterClrMapping/>
  </p:clrMapOvr>
  <p:transition>
    <p:fade/>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Inflation médicale : sous-indices de prix de la santé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prix des analyses et de l'imagerie ont le plus augmenté depuis 2020</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Inflation médicale pondérée par les prestations du FPPN : 3,21 % par an en moyenne de 2021 à 2024, 8,04 % au plus (2022)</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38 : Variation annuelle des prix de la santé retenus et inflation pondérée du FPPN</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2024 : glissement d'octobre pour l'inflation pondérée, moyenne de janvier à octobre pour les postes</a:t>
            </a:r>
          </a:p>
        </p:txBody>
      </p:sp>
      <p:graphicFrame>
        <p:nvGraphicFramePr>
          <p:cNvPr id="32" name="Chart 31"/>
          <p:cNvGraphicFramePr>
            <a:graphicFrameLocks noGrp="1"/>
          </p:cNvGraphicFramePr>
          <p:nvPr/>
        </p:nvGraphicFramePr>
        <p:xfrm>
          <a:off x="503999" y="1782000"/>
          <a:ext cx="6552000" cy="3888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ANStat, IHPC par poste de consommation (national), extraction du 19/10/2026. BCEAO, Rapport sur la Politique Monétaire dans l'UMOA, mars 2026, tableau 12. Prestations du FPPN (balances 2025). Classeur v8, onglet 13g</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analyses et l'imagerie, qui pèsent 67,31 % des prestations détaillées du FPPN, ont connu un saut de prix en 2022.</a:t>
            </a:r>
            <a:r>
              <a:rPr sz="1400" b="0">
                <a:solidFill>
                  <a:srgbClr val="060606"/>
                </a:solidFill>
                <a:latin typeface="Helvetica"/>
              </a:rPr>
              <a:t> L'indice passe de 102,79 en avril à 124,25 en juillet 2022.</a:t>
            </a:r>
          </a:p>
          <a:p>
            <a:pPr algn="just">
              <a:spcAft>
                <a:spcPts val="600"/>
              </a:spcAft>
            </a:pPr>
            <a:r>
              <a:rPr sz="1400" b="1">
                <a:solidFill>
                  <a:srgbClr val="060606"/>
                </a:solidFill>
                <a:latin typeface="Helvetica"/>
              </a:rPr>
              <a:t>En 2025, faute de série ANStat, l'inflation de la santé de l'UEMOA est négative (-1,87 % en moyenne de trois trimestres)</a:t>
            </a:r>
            <a:r>
              <a:rPr sz="1400" b="0">
                <a:solidFill>
                  <a:srgbClr val="060606"/>
                </a:solidFill>
                <a:latin typeface="Helvetica"/>
              </a:rPr>
              <a:t> selon la BCEAO.</a:t>
            </a:r>
          </a:p>
          <a:p>
            <a:pPr algn="just">
              <a:spcAft>
                <a:spcPts val="600"/>
              </a:spcAft>
            </a:pPr>
            <a:r>
              <a:rPr sz="1400" b="0">
                <a:solidFill>
                  <a:srgbClr val="060606"/>
                </a:solidFill>
                <a:latin typeface="Helvetica"/>
              </a:rPr>
              <a:t>Les prix de la santé ont augmenté d'au plus 8,04 % par an, alors que les prestations maladie ont été multipliées par 8,61 de 2020 à 2025 : l'essentiel de la hausse vient du volume des soins, pas des prix. La série ANStat après octobre 2024 et les pondérations officielles restent à obtenir.</a:t>
            </a:r>
          </a:p>
        </p:txBody>
      </p:sp>
      <p:sp>
        <p:nvSpPr>
          <p:cNvPr id="35" name="TextBox 34"/>
          <p:cNvSpPr txBox="1"/>
          <p:nvPr/>
        </p:nvSpPr>
        <p:spPr>
          <a:xfrm>
            <a:off x="503999" y="5688000"/>
            <a:ext cx="6552000" cy="162000"/>
          </a:xfrm>
          <a:prstGeom prst="rect">
            <a:avLst/>
          </a:prstGeom>
          <a:noFill/>
        </p:spPr>
        <p:txBody>
          <a:bodyPr wrap="square" anchor="t" lIns="54000" rIns="54000"/>
          <a:lstStyle/>
          <a:p>
            <a:pPr algn="l"/>
            <a:r>
              <a:rPr sz="850" b="0">
                <a:solidFill>
                  <a:srgbClr val="53565A"/>
                </a:solidFill>
                <a:latin typeface="Helvetica"/>
              </a:rPr>
              <a:t>Valable pour : ratios de la Décision n° 05/2022 recalculés sur les balances. Statut opposable de 2022 à 2025, indicatif en 2020, 2021 et 2026.</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BCEAO : Banque centrale des États de l'Afrique de l'Ouest | ANStat : Agence nationale de la statistique de Côte d'Ivoire | IHPC : indice harmonisé des prix à la consommation | UMOA : Union monétaire ouest-africaine</a:t>
            </a:r>
          </a:p>
        </p:txBody>
      </p:sp>
    </p:spTree>
    <p:extLst>
      <p:ext uri="{BB962C8B-B14F-4D97-AF65-F5344CB8AC3E}">
        <p14:creationId xmlns:p14="http://schemas.microsoft.com/office/powerpoint/2010/main" val="1852267256"/>
      </p:ext>
    </p:extLst>
  </p:cSld>
  <p:clrMapOvr>
    <a:masterClrMapping/>
  </p:clrMapOvr>
  <p:transition>
    <p:fade/>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Sinistralité face à une hausse des prestations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hausse de 6,39 % des prestations de 2026 ferait dépasser 80 %</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Seuil de dépassement : 6,39 % de hausse sur 2026. L'inflation pondérée maximale observée (8,04 %) le franchirait</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classeur v8, onglet 13g. ANStat. Décision n° 05/2022/COM/UEMOA du 1er juin 2022, annexe, tableau 1, ligne 5</a:t>
            </a:r>
          </a:p>
        </p:txBody>
      </p:sp>
      <p:sp>
        <p:nvSpPr>
          <p:cNvPr id="31" name="TextBox 30"/>
          <p:cNvSpPr txBox="1"/>
          <p:nvPr/>
        </p:nvSpPr>
        <p:spPr>
          <a:xfrm>
            <a:off x="503999" y="1386000"/>
            <a:ext cx="7056000" cy="216000"/>
          </a:xfrm>
          <a:prstGeom prst="rect">
            <a:avLst/>
          </a:prstGeom>
          <a:noFill/>
        </p:spPr>
        <p:txBody>
          <a:bodyPr wrap="square" anchor="t" lIns="54000" rIns="54000"/>
          <a:lstStyle/>
          <a:p>
            <a:pPr algn="ctr"/>
            <a:r>
              <a:rPr sz="1200" b="0">
                <a:solidFill>
                  <a:srgbClr val="EFAC62"/>
                </a:solidFill>
                <a:latin typeface="Helvetica"/>
              </a:rPr>
              <a:t>Tableau 78 : Sinistralité selon la hausse des prestations</a:t>
            </a:r>
          </a:p>
        </p:txBody>
      </p:sp>
      <p:graphicFrame>
        <p:nvGraphicFramePr>
          <p:cNvPr id="32" name="Table 31"/>
          <p:cNvGraphicFramePr>
            <a:graphicFrameLocks noGrp="1"/>
          </p:cNvGraphicFramePr>
          <p:nvPr/>
        </p:nvGraphicFramePr>
        <p:xfrm>
          <a:off x="503999" y="1655999"/>
          <a:ext cx="7056000" cy="2222018"/>
        </p:xfrm>
        <a:graphic>
          <a:graphicData uri="http://schemas.openxmlformats.org/drawingml/2006/table">
            <a:tbl>
              <a:tblPr firstRow="0" bandRow="0">
                <a:tableStyleId>{5940675A-B579-460E-94D1-54222C63F5DA}</a:tableStyleId>
              </a:tblPr>
              <a:tblGrid>
                <a:gridCol w="2116800"/>
                <a:gridCol w="1360800"/>
                <a:gridCol w="1108800"/>
                <a:gridCol w="1360800"/>
                <a:gridCol w="1108800"/>
              </a:tblGrid>
              <a:tr h="194768">
                <a:tc>
                  <a:txBody>
                    <a:bodyPr/>
                    <a:lstStyle/>
                    <a:p>
                      <a:pPr marL="0" indent="0" lvl="0">
                        <a:buNone/>
                      </a:pPr>
                      <a:r>
                        <a:rPr sz="900" b="1">
                          <a:solidFill>
                            <a:srgbClr val="FFFFFF"/>
                          </a:solidFill>
                          <a:latin typeface="Helvetica"/>
                        </a:rPr>
                        <a:t>Hausse des prestations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Sinistralité 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Conforme 2025 ?</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Sinistralité 2026</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Conforme 2026 ?</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-2,00 %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56,33 %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73,69 %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Oui</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0,00 %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57,48 %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75,20 %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Oui</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2,00 %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58,63 %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76,70 %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Oui</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4,00 %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59,78 %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78,20 %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Oui</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6,00 %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60,93 %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79,71 %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Oui</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8,00 %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62,08 %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81,21 %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Non</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10,00 %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63,23 %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82,72 %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Inflation moyenne 2021-2024 : 3,21 %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59,32 %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77,61 %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Oui</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Inflation maximale 2018-2024 : 8,04 %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62,10 %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81,24 %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a:t>
                      </a:r>
                    </a:p>
                  </a:txBody>
                  <a:tcPr marL="43200" marR="43200" marT="14400" marB="14400" anchor="ctr">
                    <a:solidFill>
                      <a:srgbClr val="FFFFFF"/>
                    </a:solidFill>
                  </a:tcPr>
                </a:tc>
              </a:tr>
            </a:tbl>
          </a:graphicData>
        </a:graphic>
      </p:graphicFrame>
      <p:sp>
        <p:nvSpPr>
          <p:cNvPr id="33" name="TextBox 32"/>
          <p:cNvSpPr txBox="1"/>
          <p:nvPr/>
        </p:nvSpPr>
        <p:spPr>
          <a:xfrm>
            <a:off x="503999" y="3896023"/>
            <a:ext cx="7056000" cy="162000"/>
          </a:xfrm>
          <a:prstGeom prst="rect">
            <a:avLst/>
          </a:prstGeom>
          <a:noFill/>
        </p:spPr>
        <p:txBody>
          <a:bodyPr wrap="square" anchor="t" lIns="54000" rIns="54000"/>
          <a:lstStyle/>
          <a:p>
            <a:pPr algn="l"/>
            <a:r>
              <a:rPr sz="850" b="0">
                <a:solidFill>
                  <a:srgbClr val="53565A"/>
                </a:solidFill>
                <a:latin typeface="Helvetica"/>
              </a:rPr>
              <a:t>Valable pour : ratios de la Décision n° 05/2022 recalculés sur les balances. Statut opposable de 2022 à 2025, indicatif en 2020, 2021 et 2026.</a:t>
            </a:r>
          </a:p>
        </p:txBody>
      </p:sp>
      <p:sp>
        <p:nvSpPr>
          <p:cNvPr id="34" name="TextBox 33"/>
          <p:cNvSpPr txBox="1"/>
          <p:nvPr/>
        </p:nvSpPr>
        <p:spPr>
          <a:xfrm>
            <a:off x="7776000" y="1386000"/>
            <a:ext cx="3960000" cy="4482000"/>
          </a:xfrm>
          <a:prstGeom prst="rect">
            <a:avLst/>
          </a:prstGeom>
          <a:noFill/>
        </p:spPr>
        <p:txBody>
          <a:bodyPr wrap="square" lIns="54000" rIns="54000"/>
          <a:lstStyle/>
          <a:p>
            <a:pPr algn="just">
              <a:spcAft>
                <a:spcPts val="600"/>
              </a:spcAft>
            </a:pPr>
            <a:r>
              <a:rPr sz="1400" b="1">
                <a:solidFill>
                  <a:srgbClr val="060606"/>
                </a:solidFill>
                <a:latin typeface="Helvetica"/>
              </a:rPr>
              <a:t>En 2026, la sinistralité est déjà proche de sa borne haute</a:t>
            </a:r>
            <a:r>
              <a:rPr sz="1400" b="0">
                <a:solidFill>
                  <a:srgbClr val="060606"/>
                </a:solidFill>
                <a:latin typeface="Helvetica"/>
              </a:rPr>
              <a:t> : une hausse de 6,39 % des prestations la porterait au-delà de 80 %.</a:t>
            </a:r>
          </a:p>
          <a:p>
            <a:pPr algn="just">
              <a:spcAft>
                <a:spcPts val="600"/>
              </a:spcAft>
            </a:pPr>
            <a:r>
              <a:rPr sz="1400" b="1">
                <a:solidFill>
                  <a:srgbClr val="060606"/>
                </a:solidFill>
                <a:latin typeface="Helvetica"/>
              </a:rPr>
              <a:t>En 2025, il faudrait au contraire 21,78 % de prestations en plus pour atteindre 70 %.</a:t>
            </a:r>
          </a:p>
          <a:p>
            <a:pPr algn="just">
              <a:spcAft>
                <a:spcPts val="600"/>
              </a:spcAft>
            </a:pPr>
            <a:r>
              <a:rPr sz="1400" b="0">
                <a:solidFill>
                  <a:srgbClr val="060606"/>
                </a:solidFill>
                <a:latin typeface="Helvetica"/>
              </a:rPr>
              <a:t>La sinistralité est passée en deux ans d'un excès de marge à une marge faible : la revue du régime des prestations doit intégrer une hypothèse d'inflation médicale, et le recalcul des provisions, qui entre dans le ratio.</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UEMOA : Union économique et monétaire ouest-africaine | ANStat : Agence nationale de la statistique de Côte d'Ivoire</a:t>
            </a:r>
          </a:p>
        </p:txBody>
      </p:sp>
    </p:spTree>
    <p:extLst>
      <p:ext uri="{BB962C8B-B14F-4D97-AF65-F5344CB8AC3E}">
        <p14:creationId xmlns:p14="http://schemas.microsoft.com/office/powerpoint/2010/main" val="1845447300"/>
      </p:ext>
    </p:extLst>
  </p:cSld>
  <p:clrMapOvr>
    <a:masterClrMapping/>
  </p:clrMapOvr>
  <p:transition>
    <p:fade/>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Rendement des placements et taux du marché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rendement du FPPN est inférieur aux taux du marché de 2022 à 2024</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Obligations de l'État de Côte d'Ivoire : 7,11 % à 5 ans (15/10/2026), 7,40 % à 10 ans (19/10/2026). Taux servi sur l'épargne : 3,50 % selon le chef comptable, 5,50 % selon le manuel d'épargne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BCEAO, Rapport sur la Politique Monétaire dans l'UMOA, mars 2026, tableaux 17 et 22. Investing.com, « Rendement de l'Obligation Cote d'Ivoire 5-Year / 10-Year - Données Historiques », export du 19/10/2026. Classeur v8, onglet 13i. Entretien du 19/10/2026 (taux servi)</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79 : Rendement du FPPN et taux du marché, 2021 à 2025</a:t>
            </a:r>
          </a:p>
        </p:txBody>
      </p:sp>
      <p:graphicFrame>
        <p:nvGraphicFramePr>
          <p:cNvPr id="32" name="Table 31"/>
          <p:cNvGraphicFramePr>
            <a:graphicFrameLocks noGrp="1"/>
          </p:cNvGraphicFramePr>
          <p:nvPr/>
        </p:nvGraphicFramePr>
        <p:xfrm>
          <a:off x="503999" y="1655999"/>
          <a:ext cx="11232000" cy="1921455"/>
        </p:xfrm>
        <a:graphic>
          <a:graphicData uri="http://schemas.openxmlformats.org/drawingml/2006/table">
            <a:tbl>
              <a:tblPr firstRow="0" bandRow="0">
                <a:tableStyleId>{5940675A-B579-460E-94D1-54222C63F5DA}</a:tableStyleId>
              </a:tblPr>
              <a:tblGrid>
                <a:gridCol w="3168000"/>
                <a:gridCol w="1044000"/>
                <a:gridCol w="1044000"/>
                <a:gridCol w="1044000"/>
                <a:gridCol w="1044000"/>
                <a:gridCol w="1044000"/>
                <a:gridCol w="2844000"/>
              </a:tblGrid>
              <a:tr h="180000">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2021</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Rendement brut des placements du FPPN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6,20 %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1,30 %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1,28 %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1,73 %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22,88 %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Partie 10</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Dépôts à terme, Côte d'Ivoire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4,25 %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4,72 %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BCEAO, tableau 22</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État de Côte d'Ivoire, 5 ans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5,66 %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5,19 %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6,86 %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7,73 %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7,68 %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Investing.com</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État de Côte d'Ivoire, 10 ans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6,19 %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5,93 %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7,79 %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7,70 %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7,19 %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Investing.com</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Obligations de l'UMOA, 5 ans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6,94 %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6,83 %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BCEAO, tableau 17</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Conforme face aux dépôts à terme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Oui</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Onglet 13i</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Conforme face à l'État à 5 ans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Oui</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Oui</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Onglet 13i</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Solde moyen non rémunéré</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2 274 615 536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638 155 842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695 388 139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438 360 275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1 449 586 812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Partie 10</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Produit possible au taux des dépôts à terme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18 608 394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68 492 977 FCFA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Onglet 13i</a:t>
                      </a:r>
                    </a:p>
                  </a:txBody>
                  <a:tcPr marL="43200" marR="43200" marT="14400" marB="14400" anchor="ctr">
                    <a:solidFill>
                      <a:srgbClr val="FFFFFF"/>
                    </a:solidFill>
                  </a:tcPr>
                </a:tc>
              </a:tr>
            </a:tbl>
          </a:graphicData>
        </a:graphic>
      </p:graphicFrame>
      <p:sp>
        <p:nvSpPr>
          <p:cNvPr id="33" name="TextBox 32"/>
          <p:cNvSpPr txBox="1"/>
          <p:nvPr/>
        </p:nvSpPr>
        <p:spPr>
          <a:xfrm>
            <a:off x="503999" y="3595455"/>
            <a:ext cx="11232000" cy="162000"/>
          </a:xfrm>
          <a:prstGeom prst="rect">
            <a:avLst/>
          </a:prstGeom>
          <a:noFill/>
        </p:spPr>
        <p:txBody>
          <a:bodyPr wrap="square" anchor="t" lIns="54000" rIns="54000"/>
          <a:lstStyle/>
          <a:p>
            <a:pPr algn="l"/>
            <a:r>
              <a:rPr sz="850" b="0">
                <a:solidFill>
                  <a:srgbClr val="53565A"/>
                </a:solidFill>
                <a:latin typeface="Helvetica"/>
              </a:rPr>
              <a:t>Valable pour : ratios de la Décision n° 05/2022 recalculés sur les balances. Statut opposable de 2022 à 2025, indicatif en 2020, 2021 et 2026.</a:t>
            </a:r>
          </a:p>
        </p:txBody>
      </p:sp>
      <p:sp>
        <p:nvSpPr>
          <p:cNvPr id="34" name="TextBox 33"/>
          <p:cNvSpPr txBox="1"/>
          <p:nvPr/>
        </p:nvSpPr>
        <p:spPr>
          <a:xfrm>
            <a:off x="503999" y="3883455"/>
            <a:ext cx="11232000" cy="1984544"/>
          </a:xfrm>
          <a:prstGeom prst="rect">
            <a:avLst/>
          </a:prstGeom>
          <a:noFill/>
        </p:spPr>
        <p:txBody>
          <a:bodyPr wrap="square" lIns="54000" rIns="54000"/>
          <a:lstStyle/>
          <a:p>
            <a:pPr algn="just">
              <a:spcAft>
                <a:spcPts val="600"/>
              </a:spcAft>
            </a:pPr>
            <a:r>
              <a:rPr sz="1300" b="1">
                <a:solidFill>
                  <a:srgbClr val="060606"/>
                </a:solidFill>
                <a:latin typeface="Helvetica"/>
              </a:rPr>
              <a:t>De 2022 à 2024, le rendement des placements est inférieur à toutes les références de marché disponibles.</a:t>
            </a:r>
            <a:r>
              <a:rPr sz="1300" b="0">
                <a:solidFill>
                  <a:srgbClr val="060606"/>
                </a:solidFill>
                <a:latin typeface="Helvetica"/>
              </a:rPr>
              <a:t> Celui de 2025 les dépasse seulement parce que les intérêts d'un dépôt à terme sont comptabilisés à sa clôture.</a:t>
            </a:r>
          </a:p>
          <a:p>
            <a:pPr algn="just">
              <a:spcAft>
                <a:spcPts val="600"/>
              </a:spcAft>
            </a:pPr>
            <a:r>
              <a:rPr sz="1300" b="1">
                <a:solidFill>
                  <a:srgbClr val="060606"/>
                </a:solidFill>
                <a:latin typeface="Helvetica"/>
              </a:rPr>
              <a:t>Le taux servi de 3,5 % sur l'épargne est inférieur de 3,61 % au rendement actuel des obligations de l'État à 5 ans</a:t>
            </a:r>
            <a:r>
              <a:rPr sz="1300" b="0">
                <a:solidFill>
                  <a:srgbClr val="060606"/>
                </a:solidFill>
                <a:latin typeface="Helvetica"/>
              </a:rPr>
              <a:t> : un adossement de l'épargne en titres publics couvrirait le taux servi avec une marge.</a:t>
            </a:r>
          </a:p>
          <a:p>
            <a:pPr algn="just">
              <a:spcAft>
                <a:spcPts val="600"/>
              </a:spcAft>
            </a:pPr>
            <a:r>
              <a:rPr sz="1300" b="0">
                <a:solidFill>
                  <a:srgbClr val="060606"/>
                </a:solidFill>
                <a:latin typeface="Helvetica"/>
              </a:rPr>
              <a:t>Placer le solde non rémunéré rapporterait 68 492 977 FCFA par an au taux des dépôts à terme de 2025, sans réduire la liquidité au sens du texte, car un dépôt à terme reste en classe 5. Les échéances doivent suivre l'échéancier de l'épargne, à établir.</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BCEAO : Banque centrale des États de l'Afrique de l'Ouest | UMOA : Union monétaire ouest-africaine</a:t>
            </a:r>
          </a:p>
        </p:txBody>
      </p:sp>
    </p:spTree>
    <p:extLst>
      <p:ext uri="{BB962C8B-B14F-4D97-AF65-F5344CB8AC3E}">
        <p14:creationId xmlns:p14="http://schemas.microsoft.com/office/powerpoint/2010/main" val="1179106532"/>
      </p:ext>
    </p:extLst>
  </p:cSld>
  <p:clrMapOvr>
    <a:masterClrMapping/>
  </p:clrMapOvr>
  <p:transition>
    <p:fade/>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écarts de bilan (épargne, fonds propres) dépassent les moyens annuels du FPPN. Les écarts de compte de résultat (frais, réserve) peuvent être corrigés en quelques exercices.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Trésorerie manquante de 13 555 974 724 FCFA en 2025, supérieure à toute la classe 2. Fonds propres manquants de 16 002 055 145 FCFA. Frais à réduire de 558 364 763 FCFA. Une dotation de 20 % des excédents aurait suffi pour la réserve en 2025.</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taux de cotisation ne peut pas, seul, rendre le FPPN conforme : il améliore les frais mais éloigne la sinistralité et l'excédent net de leur norme. Les normes de flux ne sont pas conciliables tant que les autres produits dépassent les autres charges.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proposer à l'AIRMS un plan pluriannuel : maîtrise des frais, dotation statutaire de la réserve, adossement de l'épargne sur un échéancier, ressources propres, revue du régime des prestations.</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leviers de conformité</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écarts sont structurels. Seuls des leviers combinés peuvent rendre le FPPN conforme</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13 ratios non conformes toutes les années, cinq facteurs récurrents, des leviers parfois contradictoires</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a:t>
            </a:r>
          </a:p>
        </p:txBody>
      </p:sp>
    </p:spTree>
    <p:extLst>
      <p:ext uri="{BB962C8B-B14F-4D97-AF65-F5344CB8AC3E}">
        <p14:creationId xmlns:p14="http://schemas.microsoft.com/office/powerpoint/2010/main" val="1565035074"/>
      </p:ext>
    </p:extLst>
  </p:cSld>
  <p:clrMapOvr>
    <a:masterClrMapping/>
  </p:clrMapOvr>
  <p:transition>
    <p:fade/>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11</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Tables de mortalité</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Rôle, choix des tables, indicateurs de référence</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680937904"/>
      </p:ext>
    </p:extLst>
  </p:cSld>
  <p:clrMapOvr>
    <a:masterClrMapping/>
  </p:clrMapOvr>
  <p:transition>
    <p:fade/>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qx</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table donne, pour chaque âge x, la probabilité de décéder avant l'âge x + 1. C'est la brique de base de tous les calculs.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Lx</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table donne aussi le nombre de survivants à chaque âge, sur 1 000 000 de naissances. Le rapport de deux Lx donne une probabilité de survie.</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Premier usage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Comparer la mortalité réelle des policiers à la table de référence dit si la cotisation décès est bien calibrée.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Second usage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tables permettent de calculer la valeur des engagements qui durent toute la vie, comme une prise en charge santé maintenue aux retraités.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Pourquoi des tables de mortalité</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tables servent à mesurer et à évaluer tout engagement lié à la vie humaine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Elles préparent deux analyses de la mission : la mortalité des policiers et les engagements viagers</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CIMA : Conférence interafricaine des marchés d'assurances | FANAF : Fédération des sociétés d'assurances de droit national africaines | qx : probabilité de décès entre x et x + 1 ans | Lx : survivants à l'âge x | TD, TV : anciennes tables CIMA de décès et de survie</a:t>
            </a:r>
          </a:p>
        </p:txBody>
      </p:sp>
    </p:spTree>
    <p:extLst>
      <p:ext uri="{BB962C8B-B14F-4D97-AF65-F5344CB8AC3E}">
        <p14:creationId xmlns:p14="http://schemas.microsoft.com/office/powerpoint/2010/main" val="2071526669"/>
      </p:ext>
    </p:extLst>
  </p:cSld>
  <p:clrMapOvr>
    <a:masterClrMapping/>
  </p:clrMapOvr>
  <p:transition>
    <p:fade/>
  </p:transition>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Choix des tables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principe de prudence fixe la table selon le risque porté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CIMA H pour le risque décès, CIMA F pour le risque de survie, TD et TV en comparaison historique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80 : Tables de mortalité CIMA et usage retenu</a:t>
            </a:r>
          </a:p>
        </p:txBody>
      </p:sp>
      <p:graphicFrame>
        <p:nvGraphicFramePr>
          <p:cNvPr id="32" name="Table 31"/>
          <p:cNvGraphicFramePr>
            <a:graphicFrameLocks noGrp="1"/>
          </p:cNvGraphicFramePr>
          <p:nvPr/>
        </p:nvGraphicFramePr>
        <p:xfrm>
          <a:off x="503999" y="1655999"/>
          <a:ext cx="11231999" cy="1461552"/>
        </p:xfrm>
        <a:graphic>
          <a:graphicData uri="http://schemas.openxmlformats.org/drawingml/2006/table">
            <a:tbl>
              <a:tblPr firstRow="0" bandRow="0">
                <a:tableStyleId>{5940675A-B579-460E-94D1-54222C63F5DA}</a:tableStyleId>
              </a:tblPr>
              <a:tblGrid>
                <a:gridCol w="1368000"/>
                <a:gridCol w="2015999"/>
                <a:gridCol w="2520000"/>
                <a:gridCol w="5328000"/>
              </a:tblGrid>
              <a:tr h="225250">
                <a:tc>
                  <a:txBody>
                    <a:bodyPr/>
                    <a:lstStyle/>
                    <a:p>
                      <a:pPr marL="0" indent="0" lvl="0">
                        <a:buNone/>
                      </a:pPr>
                      <a:r>
                        <a:rPr sz="1100" b="1">
                          <a:solidFill>
                            <a:srgbClr val="FFFFFF"/>
                          </a:solidFill>
                          <a:latin typeface="Helvetica"/>
                        </a:rPr>
                        <a:t>Table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Feuille du fichier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Risque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Usage dans la mission</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CIMA H</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CIMA_H (décès)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Décès (paiement au décès)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Calibrage de la cotisation décès et comparaison à la mortalité observée</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CIMA F</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CIMA_F (vie)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Survie (paiement tant que la personne vit)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Engagements viagers : prise en charge des retraités, rentes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TD CIMA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TD_CIMA (décès)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Décès (ancienne table)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Comparaison historique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TV CIMA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TV_CIMA (vie)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Survie (ancienne table)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Comparaison historique</a:t>
                      </a:r>
                    </a:p>
                  </a:txBody>
                  <a:tcPr marL="43200" marR="43200" marT="14400" marB="14400" anchor="ctr">
                    <a:solidFill>
                      <a:srgbClr val="F2F2F2"/>
                    </a:solidFill>
                  </a:tcPr>
                </a:tc>
              </a:tr>
            </a:tbl>
          </a:graphicData>
        </a:graphic>
      </p:graphicFrame>
      <p:sp>
        <p:nvSpPr>
          <p:cNvPr id="33" name="TextBox 32"/>
          <p:cNvSpPr txBox="1"/>
          <p:nvPr/>
        </p:nvSpPr>
        <p:spPr>
          <a:xfrm>
            <a:off x="503999" y="3135553"/>
            <a:ext cx="11232000" cy="162000"/>
          </a:xfrm>
          <a:prstGeom prst="rect">
            <a:avLst/>
          </a:prstGeom>
          <a:noFill/>
        </p:spPr>
        <p:txBody>
          <a:bodyPr wrap="square" anchor="t" lIns="54000" rIns="54000"/>
          <a:lstStyle/>
          <a:p>
            <a:pPr algn="l"/>
            <a:r>
              <a:rPr sz="850" b="0">
                <a:solidFill>
                  <a:srgbClr val="53565A"/>
                </a:solidFill>
                <a:latin typeface="Helvetica"/>
              </a:rPr>
              <a:t>Valable pour : tables réglementaires CIMA. Non comparées à la mortalité par âge du FPPN (dates de naissance non reçues).</a:t>
            </a:r>
          </a:p>
        </p:txBody>
      </p:sp>
      <p:sp>
        <p:nvSpPr>
          <p:cNvPr id="34" name="TextBox 33"/>
          <p:cNvSpPr txBox="1"/>
          <p:nvPr/>
        </p:nvSpPr>
        <p:spPr>
          <a:xfrm>
            <a:off x="503999" y="3423553"/>
            <a:ext cx="11232000" cy="2444446"/>
          </a:xfrm>
          <a:prstGeom prst="rect">
            <a:avLst/>
          </a:prstGeom>
          <a:noFill/>
        </p:spPr>
        <p:txBody>
          <a:bodyPr wrap="square" lIns="54000" rIns="54000"/>
          <a:lstStyle/>
          <a:p>
            <a:pPr algn="just">
              <a:spcAft>
                <a:spcPts val="600"/>
              </a:spcAft>
            </a:pPr>
            <a:r>
              <a:rPr sz="1300" b="1">
                <a:solidFill>
                  <a:srgbClr val="060606"/>
                </a:solidFill>
                <a:latin typeface="Helvetica"/>
              </a:rPr>
              <a:t>La prudence change de sens selon le risque.</a:t>
            </a:r>
            <a:r>
              <a:rPr sz="1300" b="0">
                <a:solidFill>
                  <a:srgbClr val="060606"/>
                </a:solidFill>
                <a:latin typeface="Helvetica"/>
              </a:rPr>
              <a:t> Une même table peut être prudente pour un capital décès et imprudente pour une rente : c'est pourquoi deux tables sont retenues.</a:t>
            </a:r>
          </a:p>
          <a:p>
            <a:pPr algn="just">
              <a:spcAft>
                <a:spcPts val="600"/>
              </a:spcAft>
            </a:pPr>
            <a:r>
              <a:rPr sz="1300" b="0">
                <a:solidFill>
                  <a:srgbClr val="060606"/>
                </a:solidFill>
                <a:latin typeface="Helvetica"/>
              </a:rPr>
              <a:t>Le FPPN porte les deux risques (capital décès et, potentiellement, prise en charge viagère des retraités) : chaque engagement sera évalué avec la table qui le défavorise.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FANAF : Fédération des sociétés d'assurances de droit national africaines | TD, TV : anciennes tables CIMA de décès et de survie</a:t>
            </a:r>
          </a:p>
        </p:txBody>
      </p:sp>
    </p:spTree>
    <p:extLst>
      <p:ext uri="{BB962C8B-B14F-4D97-AF65-F5344CB8AC3E}">
        <p14:creationId xmlns:p14="http://schemas.microsoft.com/office/powerpoint/2010/main" val="3897854640"/>
      </p:ext>
    </p:extLst>
  </p:cSld>
  <p:clrMapOvr>
    <a:masterClrMapping/>
  </p:clrMapOvr>
  <p:transition>
    <p:fade/>
  </p:transition>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Courbes de survie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tables de survie prévoient des vies plus longues que les tables de décès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Survivants à 60 ans sur 100 naissances : 81,51 (CIMA H), 89,58 (CIMA F)</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39 : Survivants pour 100 naissances, par âge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des naissances</a:t>
            </a:r>
          </a:p>
        </p:txBody>
      </p:sp>
      <p:graphicFrame>
        <p:nvGraphicFramePr>
          <p:cNvPr id="32" name="Chart 31"/>
          <p:cNvGraphicFramePr>
            <a:graphicFrameLocks noGrp="1"/>
          </p:cNvGraphicFramePr>
          <p:nvPr/>
        </p:nvGraphicFramePr>
        <p:xfrm>
          <a:off x="503999" y="1782000"/>
          <a:ext cx="6552000" cy="3888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L'espérance de vie à la naissance vaut 73,50 ans avec CIMA H et 81,64 ans avec CIMA F.</a:t>
            </a:r>
          </a:p>
          <a:p>
            <a:pPr algn="just">
              <a:spcAft>
                <a:spcPts val="600"/>
              </a:spcAft>
            </a:pPr>
            <a:r>
              <a:rPr sz="1400" b="1">
                <a:solidFill>
                  <a:srgbClr val="060606"/>
                </a:solidFill>
                <a:latin typeface="Helvetica"/>
              </a:rPr>
              <a:t>Les anciennes tables prévoient davantage de décès</a:t>
            </a:r>
            <a:r>
              <a:rPr sz="1400" b="0">
                <a:solidFill>
                  <a:srgbClr val="060606"/>
                </a:solidFill>
                <a:latin typeface="Helvetica"/>
              </a:rPr>
              <a:t> : 67,51 ans avec TD et 74,56 ans avec TV.</a:t>
            </a:r>
          </a:p>
          <a:p>
            <a:pPr algn="just">
              <a:spcAft>
                <a:spcPts val="600"/>
              </a:spcAft>
            </a:pPr>
            <a:r>
              <a:rPr sz="1400" b="1">
                <a:solidFill>
                  <a:srgbClr val="060606"/>
                </a:solidFill>
                <a:latin typeface="Helvetica"/>
              </a:rPr>
              <a:t>Le choix de la table change donc fortement les montants calculés.</a:t>
            </a:r>
          </a:p>
          <a:p>
            <a:pPr algn="just">
              <a:spcAft>
                <a:spcPts val="600"/>
              </a:spcAft>
            </a:pPr>
            <a:r>
              <a:rPr sz="1400" b="0">
                <a:solidFill>
                  <a:srgbClr val="060606"/>
                </a:solidFill>
                <a:latin typeface="Helvetica"/>
              </a:rPr>
              <a:t>Un engagement viager évalué avec une ancienne table est sous-estimé : les calculs de la mission utiliseront les tables en vigueur depuis 2012.</a:t>
            </a:r>
          </a:p>
        </p:txBody>
      </p:sp>
      <p:sp>
        <p:nvSpPr>
          <p:cNvPr id="35" name="TextBox 34"/>
          <p:cNvSpPr txBox="1"/>
          <p:nvPr/>
        </p:nvSpPr>
        <p:spPr>
          <a:xfrm>
            <a:off x="503999" y="5688000"/>
            <a:ext cx="6552000" cy="162000"/>
          </a:xfrm>
          <a:prstGeom prst="rect">
            <a:avLst/>
          </a:prstGeom>
          <a:noFill/>
        </p:spPr>
        <p:txBody>
          <a:bodyPr wrap="square" anchor="t" lIns="54000" rIns="54000"/>
          <a:lstStyle/>
          <a:p>
            <a:pPr algn="l"/>
            <a:r>
              <a:rPr sz="850" b="0">
                <a:solidFill>
                  <a:srgbClr val="53565A"/>
                </a:solidFill>
                <a:latin typeface="Helvetica"/>
              </a:rPr>
              <a:t>Valable pour : tables réglementaires CIMA. Non comparées à la mortalité par âge du FPPN (dates de naissance non reçues).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FANAF : Fédération des sociétés d'assurances de droit national africaines | TD, TV : anciennes tables CIMA de décès et de survie</a:t>
            </a:r>
          </a:p>
        </p:txBody>
      </p:sp>
    </p:spTree>
    <p:extLst>
      <p:ext uri="{BB962C8B-B14F-4D97-AF65-F5344CB8AC3E}">
        <p14:creationId xmlns:p14="http://schemas.microsoft.com/office/powerpoint/2010/main" val="3742545955"/>
      </p:ext>
    </p:extLst>
  </p:cSld>
  <p:clrMapOvr>
    <a:masterClrMapping/>
  </p:clrMapOvr>
  <p:transition>
    <p:fade/>
  </p:transition>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Probabilités de décès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probabilité de décès double environ tous les dix ans aux âges actifs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Probabilité de décès à 40 ans : 3,50 pour mille (CIMA H), 1,89 pour mille (CIMA F)</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40 : Probabilité de décès dans l'année (qx), par âge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pour mille</a:t>
            </a:r>
          </a:p>
        </p:txBody>
      </p:sp>
      <p:graphicFrame>
        <p:nvGraphicFramePr>
          <p:cNvPr id="32" name="Chart 31"/>
          <p:cNvGraphicFramePr>
            <a:graphicFrameLocks noGrp="1"/>
          </p:cNvGraphicFramePr>
          <p:nvPr/>
        </p:nvGraphicFramePr>
        <p:xfrm>
          <a:off x="503999" y="1782000"/>
          <a:ext cx="6552000" cy="3888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À 55 ans, la probabilité de décès vaut 9,38 pour mille avec CIMA H et 5,09 pour mille avec CIMA F.</a:t>
            </a:r>
          </a:p>
          <a:p>
            <a:pPr algn="just">
              <a:spcAft>
                <a:spcPts val="600"/>
              </a:spcAft>
            </a:pPr>
            <a:r>
              <a:rPr sz="1400" b="1">
                <a:solidFill>
                  <a:srgbClr val="060606"/>
                </a:solidFill>
                <a:latin typeface="Helvetica"/>
              </a:rPr>
              <a:t>Entre 20 et 60 ans, CIMA H prévoit 18,77 % de décès de moins que TD</a:t>
            </a:r>
            <a:r>
              <a:rPr sz="1400" b="0">
                <a:solidFill>
                  <a:srgbClr val="060606"/>
                </a:solidFill>
                <a:latin typeface="Helvetica"/>
              </a:rPr>
              <a:t>, et CIMA F 9,06 % de moins que TV.</a:t>
            </a:r>
          </a:p>
          <a:p>
            <a:pPr algn="just">
              <a:spcAft>
                <a:spcPts val="600"/>
              </a:spcAft>
            </a:pPr>
            <a:r>
              <a:rPr sz="1400" b="1">
                <a:solidFill>
                  <a:srgbClr val="060606"/>
                </a:solidFill>
                <a:latin typeface="Helvetica"/>
              </a:rPr>
              <a:t>La table ronde CIMA FANAF de 2011 indique des écarts de 17 % pour CIMA H et d'environ 4 % pour CIMA F, sur l'ensemble des âges.</a:t>
            </a:r>
          </a:p>
          <a:p>
            <a:pPr algn="just">
              <a:spcAft>
                <a:spcPts val="600"/>
              </a:spcAft>
            </a:pPr>
            <a:r>
              <a:rPr sz="1400" b="0">
                <a:solidFill>
                  <a:srgbClr val="060606"/>
                </a:solidFill>
                <a:latin typeface="Helvetica"/>
              </a:rPr>
              <a:t>Pour une population de policiers, exposée à des risques professionnels, la mortalité réelle peut s'écarter de la table : seul le rapport décès observés / décès attendus le dira.</a:t>
            </a:r>
          </a:p>
        </p:txBody>
      </p:sp>
      <p:sp>
        <p:nvSpPr>
          <p:cNvPr id="35" name="TextBox 34"/>
          <p:cNvSpPr txBox="1"/>
          <p:nvPr/>
        </p:nvSpPr>
        <p:spPr>
          <a:xfrm>
            <a:off x="503999" y="5688000"/>
            <a:ext cx="6552000" cy="162000"/>
          </a:xfrm>
          <a:prstGeom prst="rect">
            <a:avLst/>
          </a:prstGeom>
          <a:noFill/>
        </p:spPr>
        <p:txBody>
          <a:bodyPr wrap="square" anchor="t" lIns="54000" rIns="54000"/>
          <a:lstStyle/>
          <a:p>
            <a:pPr algn="l"/>
            <a:r>
              <a:rPr sz="850" b="0">
                <a:solidFill>
                  <a:srgbClr val="53565A"/>
                </a:solidFill>
                <a:latin typeface="Helvetica"/>
              </a:rPr>
              <a:t>Valable pour : tables réglementaires CIMA. Non comparées à la mortalité par âge du FPPN (dates de naissance non reçues).</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FANAF : Fédération des sociétés d'assurances de droit national africaines | qx : probabilité de décès entre x et x + 1 ans | TD, TV : anciennes tables CIMA de décès et de survie</a:t>
            </a:r>
          </a:p>
        </p:txBody>
      </p:sp>
    </p:spTree>
    <p:extLst>
      <p:ext uri="{BB962C8B-B14F-4D97-AF65-F5344CB8AC3E}">
        <p14:creationId xmlns:p14="http://schemas.microsoft.com/office/powerpoint/2010/main" val="2388465278"/>
      </p:ext>
    </p:extLst>
  </p:cSld>
  <p:clrMapOvr>
    <a:masterClrMapping/>
  </p:clrMapOvr>
  <p:transition>
    <p:fade/>
  </p:transition>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Indicateurs de référence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rente viagère vaut entre 12 et 18 années de paiement selon l'âge et la table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Valeur d'une rente de 1 FCFA par an à 60 ans, au taux de 3,5 % : 16,84 (CIMA F), 14,26 (CIMA H)</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31" name="TextBox 30"/>
          <p:cNvSpPr txBox="1"/>
          <p:nvPr/>
        </p:nvSpPr>
        <p:spPr>
          <a:xfrm>
            <a:off x="503999" y="1386000"/>
            <a:ext cx="6768000" cy="216000"/>
          </a:xfrm>
          <a:prstGeom prst="rect">
            <a:avLst/>
          </a:prstGeom>
          <a:noFill/>
        </p:spPr>
        <p:txBody>
          <a:bodyPr wrap="square" anchor="t" lIns="54000" rIns="54000"/>
          <a:lstStyle/>
          <a:p>
            <a:pPr algn="ctr"/>
            <a:r>
              <a:rPr sz="1200" b="0">
                <a:solidFill>
                  <a:srgbClr val="EFAC62"/>
                </a:solidFill>
                <a:latin typeface="Helvetica"/>
              </a:rPr>
              <a:t>Tableau 81 : Espérance de vie et valeur de la rente viagère (taux de 3,5 %)</a:t>
            </a:r>
          </a:p>
        </p:txBody>
      </p:sp>
      <p:graphicFrame>
        <p:nvGraphicFramePr>
          <p:cNvPr id="32" name="Table 31"/>
          <p:cNvGraphicFramePr>
            <a:graphicFrameLocks noGrp="1"/>
          </p:cNvGraphicFramePr>
          <p:nvPr/>
        </p:nvGraphicFramePr>
        <p:xfrm>
          <a:off x="503999" y="1655999"/>
          <a:ext cx="6768000" cy="1126250"/>
        </p:xfrm>
        <a:graphic>
          <a:graphicData uri="http://schemas.openxmlformats.org/drawingml/2006/table">
            <a:tbl>
              <a:tblPr firstRow="0" bandRow="0">
                <a:tableStyleId>{5940675A-B579-460E-94D1-54222C63F5DA}</a:tableStyleId>
              </a:tblPr>
              <a:tblGrid>
                <a:gridCol w="1368000"/>
                <a:gridCol w="1080000"/>
                <a:gridCol w="1080000"/>
                <a:gridCol w="1080000"/>
                <a:gridCol w="1080000"/>
                <a:gridCol w="1080000"/>
              </a:tblGrid>
              <a:tr h="225250">
                <a:tc>
                  <a:txBody>
                    <a:bodyPr/>
                    <a:lstStyle/>
                    <a:p>
                      <a:pPr marL="0" indent="0" lvl="0">
                        <a:buNone/>
                      </a:pPr>
                      <a:r>
                        <a:rPr sz="1100" b="1">
                          <a:solidFill>
                            <a:srgbClr val="FFFFFF"/>
                          </a:solidFill>
                          <a:latin typeface="Helvetica"/>
                        </a:rPr>
                        <a:t>Table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e55 (ans)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e60 (ans)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ä55</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ä60</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ä65</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CIMA H</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24,15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20,34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15,96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14,26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12,52</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CIMA F</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30,23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26,04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18,39</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16,84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15,17</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TD CIMA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19,36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15,80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13,82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11,98</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10,13</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TV CIMA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24,04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19,90</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16,10</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14,20</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12,21</a:t>
                      </a:r>
                    </a:p>
                  </a:txBody>
                  <a:tcPr marL="43200" marR="43200" marT="14400" marB="14400" anchor="ctr">
                    <a:solidFill>
                      <a:srgbClr val="F2F2F2"/>
                    </a:solidFill>
                  </a:tcPr>
                </a:tc>
              </a:tr>
            </a:tbl>
          </a:graphicData>
        </a:graphic>
      </p:graphicFrame>
      <p:sp>
        <p:nvSpPr>
          <p:cNvPr id="33" name="TextBox 32"/>
          <p:cNvSpPr txBox="1"/>
          <p:nvPr/>
        </p:nvSpPr>
        <p:spPr>
          <a:xfrm>
            <a:off x="503999" y="2800252"/>
            <a:ext cx="6768000" cy="162000"/>
          </a:xfrm>
          <a:prstGeom prst="rect">
            <a:avLst/>
          </a:prstGeom>
          <a:noFill/>
        </p:spPr>
        <p:txBody>
          <a:bodyPr wrap="square" anchor="t" lIns="54000" rIns="54000"/>
          <a:lstStyle/>
          <a:p>
            <a:pPr algn="l"/>
            <a:r>
              <a:rPr sz="850" b="0">
                <a:solidFill>
                  <a:srgbClr val="53565A"/>
                </a:solidFill>
                <a:latin typeface="Helvetica"/>
              </a:rPr>
              <a:t>Valable pour : tables réglementaires CIMA. Non comparées à la mortalité par âge du FPPN (dates de naissance non reçues).</a:t>
            </a:r>
          </a:p>
        </p:txBody>
      </p:sp>
      <p:sp>
        <p:nvSpPr>
          <p:cNvPr id="34" name="TextBox 33"/>
          <p:cNvSpPr txBox="1"/>
          <p:nvPr/>
        </p:nvSpPr>
        <p:spPr>
          <a:xfrm>
            <a:off x="7488000" y="1386000"/>
            <a:ext cx="4248000" cy="4482000"/>
          </a:xfrm>
          <a:prstGeom prst="rect">
            <a:avLst/>
          </a:prstGeom>
          <a:noFill/>
        </p:spPr>
        <p:txBody>
          <a:bodyPr wrap="square" lIns="54000" rIns="54000"/>
          <a:lstStyle/>
          <a:p>
            <a:pPr algn="just">
              <a:spcAft>
                <a:spcPts val="600"/>
              </a:spcAft>
            </a:pPr>
            <a:r>
              <a:rPr sz="1400" b="1">
                <a:solidFill>
                  <a:srgbClr val="060606"/>
                </a:solidFill>
                <a:latin typeface="Helvetica"/>
              </a:rPr>
              <a:t>Une rente servie à partir de 60 ans vaut 16,84 années de paiement avec CIMA F.</a:t>
            </a:r>
            <a:r>
              <a:rPr sz="1400" b="0">
                <a:solidFill>
                  <a:srgbClr val="060606"/>
                </a:solidFill>
                <a:latin typeface="Helvetica"/>
              </a:rPr>
              <a:t> Avec CIMA H, elle n'en vaut que 14,26.</a:t>
            </a:r>
          </a:p>
          <a:p>
            <a:pPr algn="just">
              <a:spcAft>
                <a:spcPts val="600"/>
              </a:spcAft>
            </a:pPr>
            <a:r>
              <a:rPr sz="1400" b="1">
                <a:solidFill>
                  <a:srgbClr val="060606"/>
                </a:solidFill>
                <a:latin typeface="Helvetica"/>
              </a:rPr>
              <a:t>L'écart entre les deux tables dépasse deux années de paiement à 60 ans.</a:t>
            </a:r>
            <a:r>
              <a:rPr sz="1400" b="0">
                <a:solidFill>
                  <a:srgbClr val="060606"/>
                </a:solidFill>
                <a:latin typeface="Helvetica"/>
              </a:rPr>
              <a:t> C'est l'ordre de grandeur de l'enjeu du choix de la table.</a:t>
            </a:r>
          </a:p>
          <a:p>
            <a:pPr algn="just">
              <a:spcAft>
                <a:spcPts val="600"/>
              </a:spcAft>
            </a:pPr>
            <a:r>
              <a:rPr sz="1400" b="0">
                <a:solidFill>
                  <a:srgbClr val="060606"/>
                </a:solidFill>
                <a:latin typeface="Helvetica"/>
              </a:rPr>
              <a:t>Ces facteurs serviront à évaluer tout engagement viager du FPPN dès que les âges et les coûts annuels seront connus.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CIMA : Conférence interafricaine des marchés d'assurances | FANAF : Fédération des sociétés d'assurances de droit national africaines | e_x : espérance de vie à l'âge x | ä_x : valeur d'une rente viagère de 1 par an à l'âge x | TD, TV : anciennes tables CIMA de décès et de survie</a:t>
            </a:r>
          </a:p>
        </p:txBody>
      </p:sp>
    </p:spTree>
    <p:extLst>
      <p:ext uri="{BB962C8B-B14F-4D97-AF65-F5344CB8AC3E}">
        <p14:creationId xmlns:p14="http://schemas.microsoft.com/office/powerpoint/2010/main" val="422739588"/>
      </p:ext>
    </p:extLst>
  </p:cSld>
  <p:clrMapOvr>
    <a:masterClrMapping/>
  </p:clrMapOvr>
  <p:transition>
    <p:fade/>
  </p:transition>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outils de calcul sont en place, mais ils ne peuvent pas être appliqués aux mutualistes du FPPN sans leurs âges.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Une rente à 60 ans vaut 16,84 années de paiement avec CIMA F, contre 14,26 avec CIMA H. Les anciennes tables sous-estiment la durée de vie.</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mortalité des policiers et la valeur des engagements viagers restent inconnues tant que les dates de naissance manquent.</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le fichier des mutualistes avec date de naissance et sexe (PBC, item 9) et la base des décès (item 28).</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tables de mortalité</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tables CIMA sont prêtes. Il manque les dates de naissance pour les appliquer</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Choix prudent : CIMA H pour le décès, CIMA F pour la survie</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PBC : liste des documents demandés au client</a:t>
            </a:r>
          </a:p>
        </p:txBody>
      </p:sp>
    </p:spTree>
    <p:extLst>
      <p:ext uri="{BB962C8B-B14F-4D97-AF65-F5344CB8AC3E}">
        <p14:creationId xmlns:p14="http://schemas.microsoft.com/office/powerpoint/2010/main" val="3909871227"/>
      </p:ext>
    </p:extLst>
  </p:cSld>
  <p:clrMapOvr>
    <a:masterClrMapping/>
  </p:clrMapOvr>
  <p:transition>
    <p:fade/>
  </p:transition>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12</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Méthodes actuarielles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À venir : provisions, mortalité, projection</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404937525"/>
      </p:ext>
    </p:extLst>
  </p:cSld>
  <p:clrMapOvr>
    <a:masterClrMapping/>
  </p:clrMapOvr>
  <p:transition>
    <p:fade/>
  </p:transition>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759603"/>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Dossiers connus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additionne les montants dus des dossiers déclarés et non payés, dossier par dossier (PBC 14 et 29).</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50766"/>
            <a:ext cx="5748535" cy="148246"/>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667785"/>
            <a:ext cx="0" cy="3257265"/>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186341"/>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057953"/>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4918272"/>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679801"/>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Sinistres tardifs (IBNR)</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estime les sinistres survenus mais non encore déclarés à partir des délais observés dans le passé, par la méthode Chain Ladder (PBC 13, 28 et 40).</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597692"/>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Provision totale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provision additionne les dossiers connus et les tardifs, par garantie et par clôture, comme l'exige l'article 10 du règlement d'exécution.</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517890"/>
            <a:ext cx="9685766" cy="800764"/>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Comparaison</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compare la provision calculée aux comptes 15801000 et 15802000, et mesure l'écart (boni ou mali) à chaque clôture.</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3993555"/>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1938714"/>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2792334"/>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3711951"/>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4659107"/>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2758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Provisions : méthode PSAP</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provision pour sinistres à payer additionne dossiers connus et sinistres non déclarés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PSAP = dossiers déclarés non payés + sinistres survenus non encore déclarés (IBNR), par garantie et par clôture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 Règlement d'exécution n° 004/2022/COM/UEMOA du 1er juin 2022, art. 10</a:t>
            </a:r>
          </a:p>
        </p:txBody>
      </p:sp>
      <p:sp>
        <p:nvSpPr>
          <p:cNvPr id="56" name="Rounded Rectangle 55"/>
          <p:cNvSpPr/>
          <p:nvPr/>
        </p:nvSpPr>
        <p:spPr>
          <a:xfrm>
            <a:off x="503999" y="5454000"/>
            <a:ext cx="11232000" cy="342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060606"/>
                </a:solidFill>
                <a:latin typeface="Helvetica"/>
              </a:rPr>
              <a:t>Travail en attente des données : voir la liste des données manquantes (PBC pointée et partie 14)</a:t>
            </a:r>
          </a:p>
        </p:txBody>
      </p:sp>
      <p:sp>
        <p:nvSpPr>
          <p:cNvPr id="57" name="TextBox 5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UEMOA : Union économique et monétaire ouest-africaine | PSAP : provision pour sinistres à payer | IBNR : sinistres survenus non encore déclarés | PBC : liste des documents demandés au client</a:t>
            </a:r>
          </a:p>
        </p:txBody>
      </p:sp>
    </p:spTree>
    <p:extLst>
      <p:ext uri="{BB962C8B-B14F-4D97-AF65-F5344CB8AC3E}">
        <p14:creationId xmlns:p14="http://schemas.microsoft.com/office/powerpoint/2010/main" val="1856410017"/>
      </p:ext>
    </p:extLst>
  </p:cSld>
  <p:clrMapOvr>
    <a:masterClrMapping/>
  </p:clrMapOvr>
  <p:transition>
    <p:fade/>
  </p:transition>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 1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5" name="Google Shape;7418;p41"/>
          <p:cNvSpPr/>
          <p:nvPr/>
        </p:nvSpPr>
        <p:spPr>
          <a:xfrm rot="21013821">
            <a:off x="6297998" y="3758663"/>
            <a:ext cx="1054440" cy="80836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38" name="Google Shape;7421;p41"/>
          <p:cNvSpPr/>
          <p:nvPr/>
        </p:nvSpPr>
        <p:spPr>
          <a:xfrm rot="356255">
            <a:off x="6295963" y="1811723"/>
            <a:ext cx="1054365" cy="808304"/>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1" name="Google Shape;7424;p41"/>
          <p:cNvSpPr/>
          <p:nvPr/>
        </p:nvSpPr>
        <p:spPr>
          <a:xfrm rot="282502">
            <a:off x="1008889" y="3758495"/>
            <a:ext cx="1054406" cy="808335"/>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4" name="Google Shape;7427;p41"/>
          <p:cNvSpPr/>
          <p:nvPr/>
        </p:nvSpPr>
        <p:spPr>
          <a:xfrm rot="21275242">
            <a:off x="1044421" y="1815519"/>
            <a:ext cx="1054398" cy="808329"/>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7" name="Google Shape;7431;p41"/>
          <p:cNvSpPr txBox="1">
            <a:spLocks/>
          </p:cNvSpPr>
          <p:nvPr/>
        </p:nvSpPr>
        <p:spPr>
          <a:xfrm rot="21238167">
            <a:off x="1055515" y="1969994"/>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01</a:t>
            </a:r>
          </a:p>
        </p:txBody>
      </p:sp>
      <p:sp>
        <p:nvSpPr>
          <p:cNvPr id="48" name="Google Shape;7432;p41"/>
          <p:cNvSpPr txBox="1">
            <a:spLocks/>
          </p:cNvSpPr>
          <p:nvPr/>
        </p:nvSpPr>
        <p:spPr>
          <a:xfrm rot="395864">
            <a:off x="1055515" y="3896894"/>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02</a:t>
            </a:r>
          </a:p>
        </p:txBody>
      </p:sp>
      <p:sp>
        <p:nvSpPr>
          <p:cNvPr id="53" name="Google Shape;7437;p41"/>
          <p:cNvSpPr txBox="1">
            <a:spLocks/>
          </p:cNvSpPr>
          <p:nvPr/>
        </p:nvSpPr>
        <p:spPr>
          <a:xfrm rot="354388">
            <a:off x="6338696" y="1969994"/>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03</a:t>
            </a:r>
          </a:p>
        </p:txBody>
      </p:sp>
      <p:sp>
        <p:nvSpPr>
          <p:cNvPr id="54" name="Google Shape;7438;p41"/>
          <p:cNvSpPr txBox="1">
            <a:spLocks/>
          </p:cNvSpPr>
          <p:nvPr/>
        </p:nvSpPr>
        <p:spPr>
          <a:xfrm rot="21176429">
            <a:off x="6338696" y="3896894"/>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04</a:t>
            </a:r>
          </a:p>
        </p:txBody>
      </p:sp>
      <p:sp>
        <p:nvSpPr>
          <p:cNvPr id="19" name="Rectangle 18"/>
          <p:cNvSpPr/>
          <p:nvPr/>
        </p:nvSpPr>
        <p:spPr>
          <a:xfrm>
            <a:off x="2312337" y="1768956"/>
            <a:ext cx="3277758" cy="1067985"/>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Ranger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range les paiements cumulés dans un triangle : une ligne par année de survenance, une colonne par délai de règlement.</a:t>
            </a:r>
            <a:endParaRPr lang="fr-CI" sz="1600" noProof="0"/>
          </a:p>
        </p:txBody>
      </p:sp>
      <p:sp>
        <p:nvSpPr>
          <p:cNvPr id="20" name="Rectangle 19"/>
          <p:cNvSpPr/>
          <p:nvPr/>
        </p:nvSpPr>
        <p:spPr>
          <a:xfrm>
            <a:off x="2312337" y="3938169"/>
            <a:ext cx="3277758" cy="883319"/>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Mesurer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calcule pour chaque délai le facteur de développement : la progression moyenne des paiements d'un délai au suivant.</a:t>
            </a:r>
            <a:endParaRPr lang="fr-CI" sz="1600" noProof="0"/>
          </a:p>
        </p:txBody>
      </p:sp>
      <p:sp>
        <p:nvSpPr>
          <p:cNvPr id="22" name="Rectangle 21"/>
          <p:cNvSpPr/>
          <p:nvPr/>
        </p:nvSpPr>
        <p:spPr>
          <a:xfrm>
            <a:off x="7611772" y="1864980"/>
            <a:ext cx="3277758" cy="883319"/>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Compléter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complète le triangle avec ces facteurs pour obtenir la charge ultime de chaque année de survenance.</a:t>
            </a:r>
            <a:endParaRPr lang="fr-CI" sz="1600" noProof="0"/>
          </a:p>
        </p:txBody>
      </p:sp>
      <p:sp>
        <p:nvSpPr>
          <p:cNvPr id="23" name="Rectangle 22"/>
          <p:cNvSpPr/>
          <p:nvPr/>
        </p:nvSpPr>
        <p:spPr>
          <a:xfrm>
            <a:off x="7611772" y="3941859"/>
            <a:ext cx="3277758" cy="883319"/>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Provisionner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La provision est la charge ultime moins les paiements déjà faits. Elle s'ajoute aux dossiers connus.</a:t>
            </a:r>
            <a:endParaRPr lang="fr-CI" sz="1600" noProof="0"/>
          </a:p>
        </p:txBody>
      </p:sp>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55"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Chain Ladder</a:t>
            </a:r>
          </a:p>
        </p:txBody>
      </p:sp>
      <p:sp>
        <p:nvSpPr>
          <p:cNvPr id="56"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triangle des paiements révèle le rythme de règlement des sinistres</a:t>
            </a:r>
          </a:p>
        </p:txBody>
      </p:sp>
      <p:sp>
        <p:nvSpPr>
          <p:cNvPr id="57"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Quatre étapes, de la base des prestations à la provision pour sinistres tardifs</a:t>
            </a:r>
          </a:p>
        </p:txBody>
      </p:sp>
      <p:sp>
        <p:nvSpPr>
          <p:cNvPr id="58"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 (méthode actuarielle standard)</a:t>
            </a:r>
          </a:p>
        </p:txBody>
      </p:sp>
      <p:sp>
        <p:nvSpPr>
          <p:cNvPr id="59" name="Rounded Rectangle 58"/>
          <p:cNvSpPr/>
          <p:nvPr/>
        </p:nvSpPr>
        <p:spPr>
          <a:xfrm>
            <a:off x="503999" y="5454000"/>
            <a:ext cx="11232000" cy="342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060606"/>
                </a:solidFill>
                <a:latin typeface="Helvetica"/>
              </a:rPr>
              <a:t>Travail en attente des données : voir la liste des données manquantes (PBC pointée et partie 14)</a:t>
            </a:r>
          </a:p>
        </p:txBody>
      </p:sp>
      <p:sp>
        <p:nvSpPr>
          <p:cNvPr id="60" name="TextBox 5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PBC : liste des documents demandés au client</a:t>
            </a:r>
          </a:p>
        </p:txBody>
      </p:sp>
    </p:spTree>
    <p:extLst>
      <p:ext uri="{BB962C8B-B14F-4D97-AF65-F5344CB8AC3E}">
        <p14:creationId xmlns:p14="http://schemas.microsoft.com/office/powerpoint/2010/main" val="2311793766"/>
      </p:ext>
    </p:extLst>
  </p:cSld>
  <p:clrMapOvr>
    <a:masterClrMapping/>
  </p:clrMapOvr>
  <p:transition>
    <p:fade/>
  </p:transition>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Chain Ladder : le triangle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cases « ? » sont les paiements futurs que la méthode estime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Facteur de développement f(j) = Σ C(i, j+1) / Σ C(i, j). Charge ultime = dernier montant connu x produit des facteurs suivants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 (méthode actuarielle standard)</a:t>
            </a:r>
          </a:p>
        </p:txBody>
      </p:sp>
      <p:graphicFrame>
        <p:nvGraphicFramePr>
          <p:cNvPr id="31" name="Table 30"/>
          <p:cNvGraphicFramePr>
            <a:graphicFrameLocks noGrp="1"/>
          </p:cNvGraphicFramePr>
          <p:nvPr/>
        </p:nvGraphicFramePr>
        <p:xfrm>
          <a:off x="503999" y="1548000"/>
          <a:ext cx="6839999" cy="1980000"/>
        </p:xfrm>
        <a:graphic>
          <a:graphicData uri="http://schemas.openxmlformats.org/drawingml/2006/table">
            <a:tbl>
              <a:tblPr firstRow="0" bandRow="0">
                <a:tableStyleId>{5940675A-B579-460E-94D1-54222C63F5DA}</a:tableStyleId>
              </a:tblPr>
              <a:tblGrid>
                <a:gridCol w="1655999"/>
                <a:gridCol w="1296000"/>
                <a:gridCol w="1296000"/>
                <a:gridCol w="1296000"/>
                <a:gridCol w="1296000"/>
              </a:tblGrid>
              <a:tr h="396000">
                <a:tc>
                  <a:txBody>
                    <a:bodyPr/>
                    <a:lstStyle/>
                    <a:p>
                      <a:pPr marL="0" indent="0" lvl="0">
                        <a:buNone/>
                      </a:pPr>
                      <a:r>
                        <a:rPr sz="1400" b="1">
                          <a:solidFill>
                            <a:srgbClr val="FFFFFF"/>
                          </a:solidFill>
                          <a:latin typeface="Helvetica"/>
                        </a:rPr>
                        <a:t>Survenance</a:t>
                      </a:r>
                    </a:p>
                  </a:txBody>
                  <a:tcPr marL="43200" marR="43200" marT="14400" marB="14400" anchor="ctr">
                    <a:solidFill>
                      <a:srgbClr val="060606"/>
                    </a:solidFill>
                  </a:tcPr>
                </a:tc>
                <a:tc>
                  <a:txBody>
                    <a:bodyPr/>
                    <a:lstStyle/>
                    <a:p>
                      <a:pPr marL="0" indent="0" lvl="0">
                        <a:buNone/>
                      </a:pPr>
                      <a:r>
                        <a:rPr sz="1400" b="1">
                          <a:solidFill>
                            <a:srgbClr val="FFFFFF"/>
                          </a:solidFill>
                          <a:latin typeface="Helvetica"/>
                        </a:rPr>
                        <a:t>Délai 1</a:t>
                      </a:r>
                    </a:p>
                  </a:txBody>
                  <a:tcPr marL="43200" marR="43200" marT="14400" marB="14400" anchor="ctr">
                    <a:solidFill>
                      <a:srgbClr val="060606"/>
                    </a:solidFill>
                  </a:tcPr>
                </a:tc>
                <a:tc>
                  <a:txBody>
                    <a:bodyPr/>
                    <a:lstStyle/>
                    <a:p>
                      <a:pPr marL="0" indent="0" lvl="0">
                        <a:buNone/>
                      </a:pPr>
                      <a:r>
                        <a:rPr sz="1400" b="1">
                          <a:solidFill>
                            <a:srgbClr val="FFFFFF"/>
                          </a:solidFill>
                          <a:latin typeface="Helvetica"/>
                        </a:rPr>
                        <a:t>Délai 2</a:t>
                      </a:r>
                    </a:p>
                  </a:txBody>
                  <a:tcPr marL="43200" marR="43200" marT="14400" marB="14400" anchor="ctr">
                    <a:solidFill>
                      <a:srgbClr val="060606"/>
                    </a:solidFill>
                  </a:tcPr>
                </a:tc>
                <a:tc>
                  <a:txBody>
                    <a:bodyPr/>
                    <a:lstStyle/>
                    <a:p>
                      <a:pPr marL="0" indent="0" lvl="0">
                        <a:buNone/>
                      </a:pPr>
                      <a:r>
                        <a:rPr sz="1400" b="1">
                          <a:solidFill>
                            <a:srgbClr val="FFFFFF"/>
                          </a:solidFill>
                          <a:latin typeface="Helvetica"/>
                        </a:rPr>
                        <a:t>Délai 3</a:t>
                      </a:r>
                    </a:p>
                  </a:txBody>
                  <a:tcPr marL="43200" marR="43200" marT="14400" marB="14400" anchor="ctr">
                    <a:solidFill>
                      <a:srgbClr val="060606"/>
                    </a:solidFill>
                  </a:tcPr>
                </a:tc>
                <a:tc>
                  <a:txBody>
                    <a:bodyPr/>
                    <a:lstStyle/>
                    <a:p>
                      <a:pPr marL="0" indent="0" lvl="0">
                        <a:buNone/>
                      </a:pPr>
                      <a:r>
                        <a:rPr sz="1400" b="1">
                          <a:solidFill>
                            <a:srgbClr val="FFFFFF"/>
                          </a:solidFill>
                          <a:latin typeface="Helvetica"/>
                        </a:rPr>
                        <a:t>Délai 4</a:t>
                      </a:r>
                    </a:p>
                  </a:txBody>
                  <a:tcPr marL="43200" marR="43200" marT="14400" marB="14400" anchor="ctr">
                    <a:solidFill>
                      <a:srgbClr val="060606"/>
                    </a:solidFill>
                  </a:tcPr>
                </a:tc>
              </a:tr>
              <a:tr h="396000">
                <a:tc>
                  <a:txBody>
                    <a:bodyPr/>
                    <a:lstStyle/>
                    <a:p>
                      <a:pPr marL="0" indent="0" lvl="0">
                        <a:buNone/>
                      </a:pPr>
                      <a:r>
                        <a:rPr sz="1400" b="1">
                          <a:solidFill>
                            <a:srgbClr val="060606"/>
                          </a:solidFill>
                          <a:latin typeface="Helvetica"/>
                        </a:rPr>
                        <a:t>Année n-3</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C(1,1)</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C(1,2)</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C(1,3)</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C(1,4)</a:t>
                      </a:r>
                    </a:p>
                  </a:txBody>
                  <a:tcPr marL="43200" marR="43200" marT="14400" marB="14400" anchor="ctr">
                    <a:solidFill>
                      <a:srgbClr val="FFFFFF"/>
                    </a:solidFill>
                  </a:tcPr>
                </a:tc>
              </a:tr>
              <a:tr h="396000">
                <a:tc>
                  <a:txBody>
                    <a:bodyPr/>
                    <a:lstStyle/>
                    <a:p>
                      <a:pPr marL="0" indent="0" lvl="0">
                        <a:buNone/>
                      </a:pPr>
                      <a:r>
                        <a:rPr sz="1400" b="1">
                          <a:solidFill>
                            <a:srgbClr val="060606"/>
                          </a:solidFill>
                          <a:latin typeface="Helvetica"/>
                        </a:rPr>
                        <a:t>Année n-2</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C(2,1)</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C(2,2)</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C(2,3)</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2F2F2"/>
                    </a:solidFill>
                  </a:tcPr>
                </a:tc>
              </a:tr>
              <a:tr h="396000">
                <a:tc>
                  <a:txBody>
                    <a:bodyPr/>
                    <a:lstStyle/>
                    <a:p>
                      <a:pPr marL="0" indent="0" lvl="0">
                        <a:buNone/>
                      </a:pPr>
                      <a:r>
                        <a:rPr sz="1400" b="1">
                          <a:solidFill>
                            <a:srgbClr val="060606"/>
                          </a:solidFill>
                          <a:latin typeface="Helvetica"/>
                        </a:rPr>
                        <a:t>Année n-1</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C(3,1)</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C(3,2)</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FFFFF"/>
                    </a:solidFill>
                  </a:tcPr>
                </a:tc>
              </a:tr>
              <a:tr h="396000">
                <a:tc>
                  <a:txBody>
                    <a:bodyPr/>
                    <a:lstStyle/>
                    <a:p>
                      <a:pPr marL="0" indent="0" lvl="0">
                        <a:buNone/>
                      </a:pPr>
                      <a:r>
                        <a:rPr sz="1400" b="1">
                          <a:solidFill>
                            <a:srgbClr val="060606"/>
                          </a:solidFill>
                          <a:latin typeface="Helvetica"/>
                        </a:rPr>
                        <a:t>Année n</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C(4,1)</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2F2F2"/>
                    </a:solidFill>
                  </a:tcPr>
                </a:tc>
              </a:tr>
            </a:tbl>
          </a:graphicData>
        </a:graphic>
      </p:graphicFrame>
      <p:sp>
        <p:nvSpPr>
          <p:cNvPr id="32" name="TextBox 31"/>
          <p:cNvSpPr txBox="1"/>
          <p:nvPr/>
        </p:nvSpPr>
        <p:spPr>
          <a:xfrm>
            <a:off x="503999" y="3744000"/>
            <a:ext cx="6840000" cy="1584000"/>
          </a:xfrm>
          <a:prstGeom prst="rect">
            <a:avLst/>
          </a:prstGeom>
          <a:noFill/>
        </p:spPr>
        <p:txBody>
          <a:bodyPr wrap="square" anchor="t" lIns="54000" rIns="54000"/>
          <a:lstStyle/>
          <a:p>
            <a:pPr algn="l"/>
            <a:r>
              <a:rPr sz="1300" b="0">
                <a:solidFill>
                  <a:srgbClr val="060606"/>
                </a:solidFill>
                <a:latin typeface="Helvetica"/>
              </a:rPr>
              <a:t>C(i, j) : paiements cumulés de l'année de survenance i, au délai j.</a:t>
            </a:r>
          </a:p>
          <a:p>
            <a:pPr algn="l"/>
            <a:r>
              <a:rPr sz="1300" b="0">
                <a:solidFill>
                  <a:srgbClr val="060606"/>
                </a:solidFill>
                <a:latin typeface="Helvetica"/>
              </a:rPr>
              <a:t>« ? » : montants futurs à estimer.</a:t>
            </a:r>
          </a:p>
          <a:p>
            <a:pPr algn="l"/>
            <a:r>
              <a:rPr sz="1300" b="0">
                <a:solidFill>
                  <a:srgbClr val="060606"/>
                </a:solidFill>
                <a:latin typeface="Helvetica"/>
              </a:rPr>
              <a:t>Facteur de développement : f(j) = Σ C(i, j+1) / Σ C(i, j).</a:t>
            </a:r>
          </a:p>
          <a:p>
            <a:pPr algn="l"/>
            <a:r>
              <a:rPr sz="1300" b="0">
                <a:solidFill>
                  <a:srgbClr val="060606"/>
                </a:solidFill>
                <a:latin typeface="Helvetica"/>
              </a:rPr>
              <a:t>Charge ultime = dernier montant connu × produit des facteurs suivants.</a:t>
            </a:r>
          </a:p>
          <a:p>
            <a:pPr algn="l"/>
            <a:r>
              <a:rPr sz="1300" b="0">
                <a:solidFill>
                  <a:srgbClr val="060606"/>
                </a:solidFill>
                <a:latin typeface="Helvetica"/>
              </a:rPr>
              <a:t>Provision = charge ultime - paiements déjà faits.</a:t>
            </a:r>
          </a:p>
        </p:txBody>
      </p:sp>
      <p:sp>
        <p:nvSpPr>
          <p:cNvPr id="33" name="Rounded Rectangle 32"/>
          <p:cNvSpPr/>
          <p:nvPr/>
        </p:nvSpPr>
        <p:spPr>
          <a:xfrm>
            <a:off x="7776000" y="1548000"/>
            <a:ext cx="3960000" cy="1764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060606"/>
                </a:solidFill>
                <a:latin typeface="Helvetica"/>
              </a:rPr>
              <a:t>Hypothèse</a:t>
            </a:r>
          </a:p>
          <a:p>
            <a:pPr algn="ctr"/>
            <a:r>
              <a:rPr sz="1300" b="0">
                <a:solidFill>
                  <a:srgbClr val="060606"/>
                </a:solidFill>
                <a:latin typeface="Helvetica"/>
              </a:rPr>
              <a:t>Le rythme de règlement passé se répète dans le futur.</a:t>
            </a:r>
          </a:p>
        </p:txBody>
      </p:sp>
      <p:sp>
        <p:nvSpPr>
          <p:cNvPr id="34" name="Rounded Rectangle 33"/>
          <p:cNvSpPr/>
          <p:nvPr/>
        </p:nvSpPr>
        <p:spPr>
          <a:xfrm>
            <a:off x="7776000" y="3456000"/>
            <a:ext cx="3960000" cy="1764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060606"/>
                </a:solidFill>
                <a:latin typeface="Helvetica"/>
              </a:rPr>
              <a:t>Données</a:t>
            </a:r>
          </a:p>
          <a:p>
            <a:pPr algn="ctr"/>
            <a:r>
              <a:rPr sz="1300" b="0">
                <a:solidFill>
                  <a:srgbClr val="060606"/>
                </a:solidFill>
                <a:latin typeface="Helvetica"/>
              </a:rPr>
              <a:t>Paiements par année de survenance et par délai, issus des bases de prestations (PBC 13, 28, 40).</a:t>
            </a:r>
          </a:p>
        </p:txBody>
      </p:sp>
      <p:sp>
        <p:nvSpPr>
          <p:cNvPr id="35" name="Rounded Rectangle 34"/>
          <p:cNvSpPr/>
          <p:nvPr/>
        </p:nvSpPr>
        <p:spPr>
          <a:xfrm>
            <a:off x="503999" y="5454000"/>
            <a:ext cx="11232000" cy="342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060606"/>
                </a:solidFill>
                <a:latin typeface="Helvetica"/>
              </a:rPr>
              <a:t>Travail en attente des données : voir la liste des données manquantes (PBC pointée et partie 14)</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PBC : liste des documents demandés au client</a:t>
            </a:r>
          </a:p>
        </p:txBody>
      </p:sp>
    </p:spTree>
    <p:extLst>
      <p:ext uri="{BB962C8B-B14F-4D97-AF65-F5344CB8AC3E}">
        <p14:creationId xmlns:p14="http://schemas.microsoft.com/office/powerpoint/2010/main" val="3595344154"/>
      </p:ext>
    </p:extLst>
  </p:cSld>
  <p:clrMapOvr>
    <a:masterClrMapping/>
  </p:clrMapOvr>
  <p:transition>
    <p:fade/>
  </p:transition>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759603"/>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Exposition</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calcule le nombre d'années-personnes passées à chaque âge pendant la période, à partir des dates de naissance, d'entrée et de sortie.</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50766"/>
            <a:ext cx="5748535" cy="148246"/>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667785"/>
            <a:ext cx="0" cy="3257265"/>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186341"/>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057953"/>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4918272"/>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679801"/>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Décès attendus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décès attendus sont l'exposition de chaque âge multipliée par la probabilité de décès de la table CIMA H, additionnée sur tous les âges.</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597692"/>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Ratio A/E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ratio rapporte les décès observés aux décès attendus. Un ratio supérieur à 100 % signifie une mortalité plus forte que la table.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517890"/>
            <a:ext cx="9685766" cy="800764"/>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Signification</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 intervalle de confiance fondé sur la loi de Poisson dit si l'écart à la table est significatif ou dû au hasard.</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3993555"/>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1938714"/>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2792334"/>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3711951"/>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4659107"/>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2758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Mortalité observée</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rapport décès observés / décès attendus mesure l'écart à la table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 A/E = décès observés / Σ qx(table) × exposition au risque, par âge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Rounded Rectangle 55"/>
          <p:cNvSpPr/>
          <p:nvPr/>
        </p:nvSpPr>
        <p:spPr>
          <a:xfrm>
            <a:off x="503999" y="5454000"/>
            <a:ext cx="11232000" cy="342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060606"/>
                </a:solidFill>
                <a:latin typeface="Helvetica"/>
              </a:rPr>
              <a:t>Travail en attente des données : voir la liste des données manquantes (PBC pointée et partie 14)</a:t>
            </a:r>
          </a:p>
        </p:txBody>
      </p:sp>
      <p:sp>
        <p:nvSpPr>
          <p:cNvPr id="57" name="TextBox 5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CIMA : Conférence interafricaine des marchés d'assurances | A/E : décès observés / décès attendus | PBC : liste des documents demandés au client | qx : probabilité de décès entre x et x + 1 ans</a:t>
            </a:r>
          </a:p>
        </p:txBody>
      </p:sp>
    </p:spTree>
    <p:extLst>
      <p:ext uri="{BB962C8B-B14F-4D97-AF65-F5344CB8AC3E}">
        <p14:creationId xmlns:p14="http://schemas.microsoft.com/office/powerpoint/2010/main" val="3932352806"/>
      </p:ext>
    </p:extLst>
  </p:cSld>
  <p:clrMapOvr>
    <a:masterClrMapping/>
  </p:clrMapOvr>
  <p:transition>
    <p:fade/>
  </p:transition>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Image 32"/>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2" name="ZoneTexte 31">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35" name="Google Shape;7418;p41"/>
          <p:cNvSpPr/>
          <p:nvPr/>
        </p:nvSpPr>
        <p:spPr>
          <a:xfrm rot="21013821">
            <a:off x="6401695" y="3070947"/>
            <a:ext cx="1054440" cy="80836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38" name="Google Shape;7421;p41"/>
          <p:cNvSpPr/>
          <p:nvPr/>
        </p:nvSpPr>
        <p:spPr>
          <a:xfrm rot="356255">
            <a:off x="6399660" y="1666087"/>
            <a:ext cx="1054365" cy="808304"/>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1" name="Google Shape;7424;p41"/>
          <p:cNvSpPr/>
          <p:nvPr/>
        </p:nvSpPr>
        <p:spPr>
          <a:xfrm rot="282502">
            <a:off x="1112586" y="3070779"/>
            <a:ext cx="1054406" cy="808335"/>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4" name="Google Shape;7427;p41"/>
          <p:cNvSpPr/>
          <p:nvPr/>
        </p:nvSpPr>
        <p:spPr>
          <a:xfrm rot="21275242">
            <a:off x="1148118" y="1669883"/>
            <a:ext cx="1054398" cy="808329"/>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7" name="Google Shape;7431;p41"/>
          <p:cNvSpPr txBox="1">
            <a:spLocks/>
          </p:cNvSpPr>
          <p:nvPr/>
        </p:nvSpPr>
        <p:spPr>
          <a:xfrm rot="21433306">
            <a:off x="1159212" y="1824358"/>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01</a:t>
            </a:r>
          </a:p>
        </p:txBody>
      </p:sp>
      <p:sp>
        <p:nvSpPr>
          <p:cNvPr id="48" name="Google Shape;7432;p41"/>
          <p:cNvSpPr txBox="1">
            <a:spLocks/>
          </p:cNvSpPr>
          <p:nvPr/>
        </p:nvSpPr>
        <p:spPr>
          <a:xfrm rot="442454">
            <a:off x="1159212" y="3209179"/>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02</a:t>
            </a:r>
          </a:p>
        </p:txBody>
      </p:sp>
      <p:sp>
        <p:nvSpPr>
          <p:cNvPr id="53" name="Google Shape;7437;p41"/>
          <p:cNvSpPr txBox="1">
            <a:spLocks/>
          </p:cNvSpPr>
          <p:nvPr/>
        </p:nvSpPr>
        <p:spPr>
          <a:xfrm rot="494524">
            <a:off x="6442393" y="1824358"/>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03</a:t>
            </a:r>
          </a:p>
        </p:txBody>
      </p:sp>
      <p:sp>
        <p:nvSpPr>
          <p:cNvPr id="54" name="Google Shape;7438;p41"/>
          <p:cNvSpPr txBox="1">
            <a:spLocks/>
          </p:cNvSpPr>
          <p:nvPr/>
        </p:nvSpPr>
        <p:spPr>
          <a:xfrm rot="21135267">
            <a:off x="6442393" y="3209179"/>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04</a:t>
            </a:r>
          </a:p>
        </p:txBody>
      </p:sp>
      <p:sp>
        <p:nvSpPr>
          <p:cNvPr id="19" name="Rectangle 18"/>
          <p:cNvSpPr/>
          <p:nvPr/>
        </p:nvSpPr>
        <p:spPr>
          <a:xfrm>
            <a:off x="2416034" y="1593174"/>
            <a:ext cx="3277758" cy="820225"/>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Population</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Adenka répartit les mutualistes par âge, sexe et statut (actif, retraité), à partir du fichier des dates de naissance.</a:t>
            </a:r>
            <a:endParaRPr lang="fr-CI" sz="1600" noProof="0"/>
          </a:p>
        </p:txBody>
      </p:sp>
      <p:sp>
        <p:nvSpPr>
          <p:cNvPr id="20" name="Rectangle 19"/>
          <p:cNvSpPr/>
          <p:nvPr/>
        </p:nvSpPr>
        <p:spPr>
          <a:xfrm>
            <a:off x="2416034" y="2965014"/>
            <a:ext cx="3277758" cy="820225"/>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Vieillissement</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Chaque année, la population vieillit d'un an. Les décès suivent la table CIMA H et les départs à la retraite suivent l'âge légal.</a:t>
            </a:r>
            <a:endParaRPr lang="fr-CI" sz="1600" noProof="0"/>
          </a:p>
        </p:txBody>
      </p:sp>
      <p:sp>
        <p:nvSpPr>
          <p:cNvPr id="22" name="Rectangle 21"/>
          <p:cNvSpPr/>
          <p:nvPr/>
        </p:nvSpPr>
        <p:spPr>
          <a:xfrm>
            <a:off x="7755371" y="1575368"/>
            <a:ext cx="3277758" cy="820225"/>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Entrées</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Les promotions de recrues de juillet sont ajoutées selon une hypothèse de recrutement à valider avec le FPPN.</a:t>
            </a:r>
            <a:endParaRPr lang="fr-CI" sz="1600" noProof="0"/>
          </a:p>
        </p:txBody>
      </p:sp>
      <p:sp>
        <p:nvSpPr>
          <p:cNvPr id="23" name="Rectangle 22"/>
          <p:cNvSpPr/>
          <p:nvPr/>
        </p:nvSpPr>
        <p:spPr>
          <a:xfrm>
            <a:off x="7715469" y="3053344"/>
            <a:ext cx="3277758" cy="650947"/>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Cotisations</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Les cotisations futures sont les salaires projetés multipliés par le taux de 5 % du barème officiel.</a:t>
            </a:r>
            <a:endParaRPr lang="fr-CI" sz="1600" noProof="0"/>
          </a:p>
        </p:txBody>
      </p:sp>
      <p:sp>
        <p:nvSpPr>
          <p:cNvPr id="25" name="Google Shape;7418;p41"/>
          <p:cNvSpPr/>
          <p:nvPr/>
        </p:nvSpPr>
        <p:spPr>
          <a:xfrm rot="21013821">
            <a:off x="6441597" y="4488763"/>
            <a:ext cx="1054440" cy="80836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26" name="Google Shape;7424;p41"/>
          <p:cNvSpPr/>
          <p:nvPr/>
        </p:nvSpPr>
        <p:spPr>
          <a:xfrm rot="282502">
            <a:off x="1152488" y="4488595"/>
            <a:ext cx="1054406" cy="808335"/>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27" name="Google Shape;7432;p41"/>
          <p:cNvSpPr txBox="1">
            <a:spLocks/>
          </p:cNvSpPr>
          <p:nvPr/>
        </p:nvSpPr>
        <p:spPr>
          <a:xfrm rot="422494">
            <a:off x="1199114" y="4626994"/>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05</a:t>
            </a:r>
          </a:p>
        </p:txBody>
      </p:sp>
      <p:sp>
        <p:nvSpPr>
          <p:cNvPr id="28" name="Google Shape;7438;p41"/>
          <p:cNvSpPr txBox="1">
            <a:spLocks/>
          </p:cNvSpPr>
          <p:nvPr/>
        </p:nvSpPr>
        <p:spPr>
          <a:xfrm rot="21292494">
            <a:off x="6482295" y="4626994"/>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06</a:t>
            </a:r>
          </a:p>
        </p:txBody>
      </p:sp>
      <p:sp>
        <p:nvSpPr>
          <p:cNvPr id="29" name="Rectangle 28"/>
          <p:cNvSpPr/>
          <p:nvPr/>
        </p:nvSpPr>
        <p:spPr>
          <a:xfrm>
            <a:off x="2455936" y="4382830"/>
            <a:ext cx="3277758" cy="820225"/>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Prestations</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Les prestations futures sont les effectifs par âge multipliés par le coût moyen des soins et des décès à chaque âge.</a:t>
            </a:r>
            <a:endParaRPr lang="fr-CI" sz="1600" noProof="0"/>
          </a:p>
        </p:txBody>
      </p:sp>
      <p:sp>
        <p:nvSpPr>
          <p:cNvPr id="30" name="Rectangle 29"/>
          <p:cNvSpPr/>
          <p:nvPr/>
        </p:nvSpPr>
        <p:spPr>
          <a:xfrm>
            <a:off x="7755371" y="4386520"/>
            <a:ext cx="3277758" cy="820225"/>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Équilibre</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L'écart entre cotisations, prestations et frais donne l'équilibre de chaque année, testé par des sensibilités.</a:t>
            </a:r>
            <a:endParaRPr lang="fr-CI" sz="1600" noProof="0"/>
          </a:p>
        </p:txBody>
      </p:sp>
      <p:sp>
        <p:nvSpPr>
          <p:cNvPr id="55"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Projection de l'équilibre technique</a:t>
            </a:r>
          </a:p>
        </p:txBody>
      </p:sp>
      <p:sp>
        <p:nvSpPr>
          <p:cNvPr id="56"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projection teste si les cotisations futures couvriront les prestations futures</a:t>
            </a:r>
          </a:p>
        </p:txBody>
      </p:sp>
      <p:sp>
        <p:nvSpPr>
          <p:cNvPr id="57"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Six étapes, de la population d'aujourd'hui à l'équilibre de chaque année sur 5 à 10 ans</a:t>
            </a:r>
          </a:p>
        </p:txBody>
      </p:sp>
      <p:sp>
        <p:nvSpPr>
          <p:cNvPr id="58"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9" name="Rounded Rectangle 58"/>
          <p:cNvSpPr/>
          <p:nvPr/>
        </p:nvSpPr>
        <p:spPr>
          <a:xfrm>
            <a:off x="503999" y="5454000"/>
            <a:ext cx="11232000" cy="342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060606"/>
                </a:solidFill>
                <a:latin typeface="Helvetica"/>
              </a:rPr>
              <a:t>Travail en attente des données : voir la liste des données manquantes (PBC pointée et partie 14)</a:t>
            </a:r>
          </a:p>
        </p:txBody>
      </p:sp>
      <p:sp>
        <p:nvSpPr>
          <p:cNvPr id="60" name="TextBox 5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PBC : liste des documents demandés au client</a:t>
            </a:r>
          </a:p>
        </p:txBody>
      </p:sp>
    </p:spTree>
    <p:extLst>
      <p:ext uri="{BB962C8B-B14F-4D97-AF65-F5344CB8AC3E}">
        <p14:creationId xmlns:p14="http://schemas.microsoft.com/office/powerpoint/2010/main" val="3615259105"/>
      </p:ext>
    </p:extLst>
  </p:cSld>
  <p:clrMapOvr>
    <a:masterClrMapping/>
  </p:clrMapOvr>
  <p:transition>
    <p:fade/>
  </p:transition>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Travaux en attente des données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Ces méthodes seront appliquées dès réception des données listées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Voir la liste des documents demandés (PBC pointée) et la partie 14 du rapport</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liste des documents demandés (PBC) pointée au 18/10/2026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82 : Méthodes en attente et données nécessaires</a:t>
            </a:r>
          </a:p>
        </p:txBody>
      </p:sp>
      <p:graphicFrame>
        <p:nvGraphicFramePr>
          <p:cNvPr id="32" name="Table 31"/>
          <p:cNvGraphicFramePr>
            <a:graphicFrameLocks noGrp="1"/>
          </p:cNvGraphicFramePr>
          <p:nvPr/>
        </p:nvGraphicFramePr>
        <p:xfrm>
          <a:off x="503999" y="1655999"/>
          <a:ext cx="11232000" cy="1519151"/>
        </p:xfrm>
        <a:graphic>
          <a:graphicData uri="http://schemas.openxmlformats.org/drawingml/2006/table">
            <a:tbl>
              <a:tblPr firstRow="0" bandRow="0">
                <a:tableStyleId>{5940675A-B579-460E-94D1-54222C63F5DA}</a:tableStyleId>
              </a:tblPr>
              <a:tblGrid>
                <a:gridCol w="2664000"/>
                <a:gridCol w="6480000"/>
                <a:gridCol w="2088000"/>
              </a:tblGrid>
              <a:tr h="225250">
                <a:tc>
                  <a:txBody>
                    <a:bodyPr/>
                    <a:lstStyle/>
                    <a:p>
                      <a:pPr marL="0" indent="0" lvl="0">
                        <a:buNone/>
                      </a:pPr>
                      <a:r>
                        <a:rPr sz="1100" b="1">
                          <a:solidFill>
                            <a:srgbClr val="FFFFFF"/>
                          </a:solidFill>
                          <a:latin typeface="Helvetica"/>
                        </a:rPr>
                        <a:t>Méthode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Données nécessaires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PBC</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PSAP et Chain Ladder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Bases des prestations avec dates, dossiers non payés à chaque clôture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13, 14, 28, 29, 40</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Mortalité observée (A/E)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Mutualistes avec date de naissance, sexe, entrée et sortie, base des décès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9, 10, 11, 28</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Ratios de gestion en attente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Fichiers aller 936 et 8Z6, contrôles a posteriori, procès-verbaux, cotisation au fonds de garantie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Nouveaux points PBC</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Projection de l'équilibre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Âges, barèmes, coût des soins par âge, hypothèses de recrutement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1, 2, 3, 9, 40</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Engagements d'épargne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Comptes individuels PEP et EFC, règlement des produits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16, 17, 18, 19</a:t>
                      </a:r>
                    </a:p>
                  </a:txBody>
                  <a:tcPr marL="43200" marR="43200" marT="14400" marB="14400" anchor="ctr">
                    <a:solidFill>
                      <a:srgbClr val="FFFFFF"/>
                    </a:solidFill>
                  </a:tcPr>
                </a:tc>
              </a:tr>
            </a:tbl>
          </a:graphicData>
        </a:graphic>
      </p:graphicFrame>
      <p:sp>
        <p:nvSpPr>
          <p:cNvPr id="33" name="TextBox 32"/>
          <p:cNvSpPr txBox="1"/>
          <p:nvPr/>
        </p:nvSpPr>
        <p:spPr>
          <a:xfrm>
            <a:off x="503999" y="3193153"/>
            <a:ext cx="11232000" cy="162000"/>
          </a:xfrm>
          <a:prstGeom prst="rect">
            <a:avLst/>
          </a:prstGeom>
          <a:noFill/>
        </p:spPr>
        <p:txBody>
          <a:bodyPr wrap="square" anchor="t" lIns="54000" rIns="54000"/>
          <a:lstStyle/>
          <a:p>
            <a:pPr algn="l"/>
            <a:r>
              <a:rPr sz="850" b="0">
                <a:solidFill>
                  <a:srgbClr val="53565A"/>
                </a:solidFill>
                <a:latin typeface="Helvetica"/>
              </a:rPr>
              <a:t>Valable pour : méthodes décrites, non appliquées faute de données.</a:t>
            </a:r>
          </a:p>
        </p:txBody>
      </p:sp>
      <p:sp>
        <p:nvSpPr>
          <p:cNvPr id="34" name="TextBox 33"/>
          <p:cNvSpPr txBox="1"/>
          <p:nvPr/>
        </p:nvSpPr>
        <p:spPr>
          <a:xfrm>
            <a:off x="503999" y="3481153"/>
            <a:ext cx="11232000" cy="2386846"/>
          </a:xfrm>
          <a:prstGeom prst="rect">
            <a:avLst/>
          </a:prstGeom>
          <a:noFill/>
        </p:spPr>
        <p:txBody>
          <a:bodyPr wrap="square" lIns="54000" rIns="54000"/>
          <a:lstStyle/>
          <a:p>
            <a:pPr algn="just">
              <a:spcAft>
                <a:spcPts val="600"/>
              </a:spcAft>
            </a:pPr>
            <a:r>
              <a:rPr sz="1300" b="1">
                <a:solidFill>
                  <a:srgbClr val="060606"/>
                </a:solidFill>
                <a:latin typeface="Helvetica"/>
              </a:rPr>
              <a:t>Toutes les méthodes en attente dépendent de trois fichiers</a:t>
            </a:r>
            <a:r>
              <a:rPr sz="1300" b="0">
                <a:solidFill>
                  <a:srgbClr val="060606"/>
                </a:solidFill>
                <a:latin typeface="Helvetica"/>
              </a:rPr>
              <a:t> : les bases de prestations, le fichier des mutualistes avec dates de naissance et les comptes individuels d'épargne.</a:t>
            </a:r>
          </a:p>
          <a:p>
            <a:pPr algn="just">
              <a:spcAft>
                <a:spcPts val="600"/>
              </a:spcAft>
            </a:pPr>
            <a:r>
              <a:rPr sz="1300" b="0">
                <a:solidFill>
                  <a:srgbClr val="060606"/>
                </a:solidFill>
                <a:latin typeface="Helvetica"/>
              </a:rPr>
              <a:t>Ces trois fichiers permettront aussi de réaliser l'étude actuarielle quinquennale exigée pour les risques longs (art. 14 du règlement d'exécution).</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PEP : Plan Épargne Plus | EFC : entraide fin de carrière | PSAP : provision pour sinistres à payer | A/E : décès observés / décès attendus | PBC : liste des documents demandés au client | 8Z6 : poste décès</a:t>
            </a:r>
          </a:p>
        </p:txBody>
      </p:sp>
    </p:spTree>
    <p:extLst>
      <p:ext uri="{BB962C8B-B14F-4D97-AF65-F5344CB8AC3E}">
        <p14:creationId xmlns:p14="http://schemas.microsoft.com/office/powerpoint/2010/main" val="2284369687"/>
      </p:ext>
    </p:extLst>
  </p:cSld>
  <p:clrMapOvr>
    <a:masterClrMapping/>
  </p:clrMapOvr>
  <p:transition>
    <p:fade/>
  </p:transition>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13</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Outils et traçabilité</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Chaîne de traitement, extraits de code, contrôle des chiffres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263280882"/>
      </p:ext>
    </p:extLst>
  </p:cSld>
  <p:clrMapOvr>
    <a:masterClrMapping/>
  </p:clrMapOvr>
  <p:transition>
    <p:fade/>
  </p:transition>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Environnement de travail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traitements sont écrits en Python et exécutés dans VS Code sous Windows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Dix scripts conservés, rejouables à chaque nouvel envoi du FPPN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dépôt de la mission (dossier scripts)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83 : Scripts de la mission</a:t>
            </a:r>
          </a:p>
        </p:txBody>
      </p:sp>
      <p:graphicFrame>
        <p:nvGraphicFramePr>
          <p:cNvPr id="32" name="Table 31"/>
          <p:cNvGraphicFramePr>
            <a:graphicFrameLocks noGrp="1"/>
          </p:cNvGraphicFramePr>
          <p:nvPr/>
        </p:nvGraphicFramePr>
        <p:xfrm>
          <a:off x="503999" y="1655999"/>
          <a:ext cx="11232000" cy="3033155"/>
        </p:xfrm>
        <a:graphic>
          <a:graphicData uri="http://schemas.openxmlformats.org/drawingml/2006/table">
            <a:tbl>
              <a:tblPr firstRow="0" bandRow="0">
                <a:tableStyleId>{5940675A-B579-460E-94D1-54222C63F5DA}</a:tableStyleId>
              </a:tblPr>
              <a:tblGrid>
                <a:gridCol w="2664000"/>
                <a:gridCol w="4464000"/>
                <a:gridCol w="4104000"/>
              </a:tblGrid>
              <a:tr h="225250">
                <a:tc>
                  <a:txBody>
                    <a:bodyPr/>
                    <a:lstStyle/>
                    <a:p>
                      <a:pPr marL="0" indent="0" lvl="0">
                        <a:buNone/>
                      </a:pPr>
                      <a:r>
                        <a:rPr sz="1100" b="1">
                          <a:solidFill>
                            <a:srgbClr val="FFFFFF"/>
                          </a:solidFill>
                          <a:latin typeface="Helvetica"/>
                        </a:rPr>
                        <a:t>Script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Rôle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Contrôle intégré</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extraction_fppn.py</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Extraction sans perte, archive découpée pour l'envoi</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Empreintes SHA-256, lignes et cellules</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envoi_fichiers_fppn.py</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Envoi de fichiers précis en parties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Empreinte de chaque partie</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base_fppn.py</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Base d'analyse : lecture par en-tête ou par contenu</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Lignes de total, montants doublés</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grenier_fppn.py, compta_fppn.py</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Lecture des exports du logiciel de prêts et des balances Sage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Totaux imprimés retrouvés, débit = crédit</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analyses_fppn.py, analyses_complements_fppn.py</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Indicateurs, tests, sensibilités, tables CIMA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Classeur des calculs</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ratios_airms_fppn.py</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Ratios prudentiels, classement des comptes, excédent par risque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Rapprochement avec les agrégats de la version 2</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provisions_fppn.py, formules_fppn.py</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Provisions, variantes de sinistralité, registre des formules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Rapprochement avec les balances</a:t>
                      </a:r>
                    </a:p>
                  </a:txBody>
                  <a:tcPr marL="43200" marR="43200" marT="14400" marB="14400" anchor="ctr">
                    <a:solidFill>
                      <a:srgbClr val="FFFFFF"/>
                    </a:solidFill>
                  </a:tcPr>
                </a:tc>
              </a:tr>
              <a:tr h="560551">
                <a:tc>
                  <a:txBody>
                    <a:bodyPr/>
                    <a:lstStyle/>
                    <a:p>
                      <a:pPr marL="0" indent="0" lvl="0">
                        <a:buNone/>
                      </a:pPr>
                      <a:r>
                        <a:rPr sz="1100" b="1">
                          <a:solidFill>
                            <a:srgbClr val="060606"/>
                          </a:solidFill>
                          <a:latin typeface="Helvetica"/>
                        </a:rPr>
                        <a:t>rapport_v9_fppn.py, donnees_v9_fppn.py, sensibilites_fppn.py, logigramme_fppn.py, classeur_v2_fppn.py</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Rapport, logigrammes et graphiques natifs, classeur</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Contrôle automatique des chiffres</a:t>
                      </a:r>
                    </a:p>
                  </a:txBody>
                  <a:tcPr marL="43200" marR="43200" marT="14400" marB="14400" anchor="ctr">
                    <a:solidFill>
                      <a:srgbClr val="F2F2F2"/>
                    </a:solidFill>
                  </a:tcPr>
                </a:tc>
              </a:tr>
            </a:tbl>
          </a:graphicData>
        </a:graphic>
      </p:graphicFrame>
      <p:sp>
        <p:nvSpPr>
          <p:cNvPr id="33" name="TextBox 32"/>
          <p:cNvSpPr txBox="1"/>
          <p:nvPr/>
        </p:nvSpPr>
        <p:spPr>
          <a:xfrm>
            <a:off x="503999" y="4707158"/>
            <a:ext cx="11232000" cy="162000"/>
          </a:xfrm>
          <a:prstGeom prst="rect">
            <a:avLst/>
          </a:prstGeom>
          <a:noFill/>
        </p:spPr>
        <p:txBody>
          <a:bodyPr wrap="square" anchor="t" lIns="54000" rIns="54000"/>
          <a:lstStyle/>
          <a:p>
            <a:pPr algn="l"/>
            <a:r>
              <a:rPr sz="850" b="0">
                <a:solidFill>
                  <a:srgbClr val="53565A"/>
                </a:solidFill>
                <a:latin typeface="Helvetica"/>
              </a:rPr>
              <a:t>Valable pour : chaîne de traitement de la version 9.</a:t>
            </a:r>
          </a:p>
        </p:txBody>
      </p:sp>
      <p:sp>
        <p:nvSpPr>
          <p:cNvPr id="34" name="TextBox 33"/>
          <p:cNvSpPr txBox="1"/>
          <p:nvPr/>
        </p:nvSpPr>
        <p:spPr>
          <a:xfrm>
            <a:off x="503999" y="4995158"/>
            <a:ext cx="11232000" cy="872841"/>
          </a:xfrm>
          <a:prstGeom prst="rect">
            <a:avLst/>
          </a:prstGeom>
          <a:noFill/>
        </p:spPr>
        <p:txBody>
          <a:bodyPr wrap="square" lIns="54000" rIns="54000"/>
          <a:lstStyle/>
          <a:p>
            <a:pPr algn="just">
              <a:spcAft>
                <a:spcPts val="600"/>
              </a:spcAft>
            </a:pPr>
            <a:r>
              <a:rPr sz="1300" b="1">
                <a:solidFill>
                  <a:srgbClr val="060606"/>
                </a:solidFill>
                <a:latin typeface="Helvetica"/>
              </a:rPr>
              <a:t>Chaque chiffre du rapport peut être recalculé par un tiers.</a:t>
            </a:r>
            <a:r>
              <a:rPr sz="1300" b="0">
                <a:solidFill>
                  <a:srgbClr val="060606"/>
                </a:solidFill>
                <a:latin typeface="Helvetica"/>
              </a:rPr>
              <a:t> Les scripts sont conservés dans le dossier de la mission et rejoués à chaque nouvel envoi.</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SHA-256 : algorithme d'empreinte numérique | SHA-256 : algorithme d'empreinte numérique servant à vérifier qu'un fichier n'a pas été modifié</a:t>
            </a:r>
          </a:p>
        </p:txBody>
      </p:sp>
    </p:spTree>
    <p:extLst>
      <p:ext uri="{BB962C8B-B14F-4D97-AF65-F5344CB8AC3E}">
        <p14:creationId xmlns:p14="http://schemas.microsoft.com/office/powerpoint/2010/main" val="1291524302"/>
      </p:ext>
    </p:extLst>
  </p:cSld>
  <p:clrMapOvr>
    <a:masterClrMapping/>
  </p:clrMapOvr>
  <p:transition>
    <p:fade/>
  </p:transition>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Étapes de la chaîne de traitement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étape transforme une entrée en sortie, avec un contrôle automatique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Six étapes du logigramme de la partie 2, chacune avec son entrée, son traitement, son contrôle et sa sortie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Python Adenka (dossier scripts de la mission)</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84 : Entrée, traitement, contrôle et sortie de chaque étape</a:t>
            </a:r>
          </a:p>
        </p:txBody>
      </p:sp>
      <p:graphicFrame>
        <p:nvGraphicFramePr>
          <p:cNvPr id="32" name="Table 31"/>
          <p:cNvGraphicFramePr>
            <a:graphicFrameLocks noGrp="1"/>
          </p:cNvGraphicFramePr>
          <p:nvPr/>
        </p:nvGraphicFramePr>
        <p:xfrm>
          <a:off x="503999" y="1655999"/>
          <a:ext cx="11231999" cy="2872230"/>
        </p:xfrm>
        <a:graphic>
          <a:graphicData uri="http://schemas.openxmlformats.org/drawingml/2006/table">
            <a:tbl>
              <a:tblPr firstRow="0" bandRow="0">
                <a:tableStyleId>{5940675A-B579-460E-94D1-54222C63F5DA}</a:tableStyleId>
              </a:tblPr>
              <a:tblGrid>
                <a:gridCol w="936000"/>
                <a:gridCol w="2376000"/>
                <a:gridCol w="2951999"/>
                <a:gridCol w="2808000"/>
                <a:gridCol w="2160000"/>
              </a:tblGrid>
              <a:tr h="194768">
                <a:tc>
                  <a:txBody>
                    <a:bodyPr/>
                    <a:lstStyle/>
                    <a:p>
                      <a:pPr marL="0" indent="0" lvl="0">
                        <a:buNone/>
                      </a:pPr>
                      <a:r>
                        <a:rPr sz="900" b="1">
                          <a:solidFill>
                            <a:srgbClr val="FFFFFF"/>
                          </a:solidFill>
                          <a:latin typeface="Helvetica"/>
                        </a:rPr>
                        <a:t>Étape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Entrée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Traitement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Contrôle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Sortie</a:t>
                      </a:r>
                    </a:p>
                  </a:txBody>
                  <a:tcPr marL="43200" marR="43200" marT="14400" marB="14400" anchor="ctr">
                    <a:solidFill>
                      <a:srgbClr val="060606"/>
                    </a:solidFill>
                  </a:tcPr>
                </a:tc>
              </a:tr>
              <a:tr h="469105">
                <a:tc>
                  <a:txBody>
                    <a:bodyPr/>
                    <a:lstStyle/>
                    <a:p>
                      <a:pPr marL="0" indent="0" lvl="0">
                        <a:buNone/>
                      </a:pPr>
                      <a:r>
                        <a:rPr sz="900" b="1">
                          <a:solidFill>
                            <a:srgbClr val="060606"/>
                          </a:solidFill>
                          <a:latin typeface="Helvetica"/>
                        </a:rPr>
                        <a:t>Réception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4 287 fichiers envoyés par le FPPN, dont des exports de logiciels et des PDF.</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 script dresse l'inventaire, repère doublons, fichiers vides et formats mal nommés.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Chaque fichier reçoit une empreinte SHA-256 qui prouve qu'il n'a pas changé.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Inventaire des fichiers et liste des fichiers à renvoyer.</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Extraction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Tableurs Excel, pages web nommées « .xls » et fichiers texte de la Solde.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script lit les premiers octets pour reconnaître le vrai format, puis convertit chaque feuille en CSV sans perte.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Les lignes et les cellules sont comptées avant et après conversion : 491 feuilles identiques.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Fichiers CSV et journal des feuilles converties.</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Base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Fichiers CSV des précomptes, des balances et du Grenier.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 script reconnaît les colonnes par leur en-tête ou par leur contenu, puis réunit 4,45 millions de lignes.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Les lignes de total et les montants doublés sont écartés et enregistrés à part.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Base d'analyse au format Parquet et journal des rejets.</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Contrôles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Base d'analyse et totaux imprimés par les logiciels.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script recalcule les totaux et rapproche les fichiers aller et retour, poste par poste et mois par mois.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Les 37 balances âgées retrouvent leurs totaux et les 7 exercices sont équilibrés.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Tableaux de contrôle et anomalies signalées au FPPN.</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Analyses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Base contrôlée, données externes validées et textes de l'UEMOA.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Les scripts calculent les indicateurs, les tests statistiques, les tables CIMA et les 36 ratios prudentiels.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Les agrégats recalculés sont comparés à ceux de la version précédente au franc près.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Fichiers de résultats et classeur des calculs.</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Rapport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Fichiers de résultats et gabarits Timesaver Adenka.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script construit les graphiques et tableaux natifs, les schémas modifiables et les notes.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Chaque chiffre affiché est relu dans le PowerPoint produit et comparé à sa valeur exacte.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Rapport PowerPoint et onglet de traçabilité.</a:t>
                      </a:r>
                    </a:p>
                  </a:txBody>
                  <a:tcPr marL="43200" marR="43200" marT="14400" marB="14400" anchor="ctr">
                    <a:solidFill>
                      <a:srgbClr val="F2F2F2"/>
                    </a:solidFill>
                  </a:tcPr>
                </a:tc>
              </a:tr>
            </a:tbl>
          </a:graphicData>
        </a:graphic>
      </p:graphicFrame>
      <p:sp>
        <p:nvSpPr>
          <p:cNvPr id="33" name="TextBox 32"/>
          <p:cNvSpPr txBox="1"/>
          <p:nvPr/>
        </p:nvSpPr>
        <p:spPr>
          <a:xfrm>
            <a:off x="503999" y="4546235"/>
            <a:ext cx="11232000" cy="162000"/>
          </a:xfrm>
          <a:prstGeom prst="rect">
            <a:avLst/>
          </a:prstGeom>
          <a:noFill/>
        </p:spPr>
        <p:txBody>
          <a:bodyPr wrap="square" anchor="t" lIns="54000" rIns="54000"/>
          <a:lstStyle/>
          <a:p>
            <a:pPr algn="l"/>
            <a:r>
              <a:rPr sz="850" b="0">
                <a:solidFill>
                  <a:srgbClr val="53565A"/>
                </a:solidFill>
                <a:latin typeface="Helvetica"/>
              </a:rPr>
              <a:t>Valable pour : chaîne de traitement de la version 9.</a:t>
            </a:r>
          </a:p>
        </p:txBody>
      </p:sp>
      <p:sp>
        <p:nvSpPr>
          <p:cNvPr id="34" name="TextBox 33"/>
          <p:cNvSpPr txBox="1"/>
          <p:nvPr/>
        </p:nvSpPr>
        <p:spPr>
          <a:xfrm>
            <a:off x="503999" y="4834235"/>
            <a:ext cx="11232000" cy="1033764"/>
          </a:xfrm>
          <a:prstGeom prst="rect">
            <a:avLst/>
          </a:prstGeom>
          <a:noFill/>
        </p:spPr>
        <p:txBody>
          <a:bodyPr wrap="square" lIns="54000" rIns="54000"/>
          <a:lstStyle/>
          <a:p>
            <a:pPr algn="just">
              <a:spcAft>
                <a:spcPts val="600"/>
              </a:spcAft>
            </a:pPr>
            <a:r>
              <a:rPr sz="1300" b="1">
                <a:solidFill>
                  <a:srgbClr val="060606"/>
                </a:solidFill>
                <a:latin typeface="Helvetica"/>
              </a:rPr>
              <a:t>Chaque étape produit une trace vérifiable.</a:t>
            </a:r>
            <a:r>
              <a:rPr sz="1300" b="0">
                <a:solidFill>
                  <a:srgbClr val="060606"/>
                </a:solidFill>
                <a:latin typeface="Helvetica"/>
              </a:rPr>
              <a:t> L'inventaire, le journal des conversions, le journal des rejets, les tableaux de contrôle et l'onglet de traçabilité permettent à un tiers de refaire le chemin.</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CIMA : Conférence interafricaine des marchés d'assurances | SHA-256 : algorithme d'empreinte numérique | CSV : fichier texte de tableau | SHA-256 : algorithme d'empreinte numérique servant à vérifier qu'un fichier n'a pas été modifié</a:t>
            </a:r>
          </a:p>
        </p:txBody>
      </p:sp>
    </p:spTree>
    <p:extLst>
      <p:ext uri="{BB962C8B-B14F-4D97-AF65-F5344CB8AC3E}">
        <p14:creationId xmlns:p14="http://schemas.microsoft.com/office/powerpoint/2010/main" val="1152905272"/>
      </p:ext>
    </p:extLst>
  </p:cSld>
  <p:clrMapOvr>
    <a:masterClrMapping/>
  </p:clrMapOvr>
  <p:transition>
    <p:fade/>
  </p:transition>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reconnaître le vrai format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script lit les premiers octets pour reconnaître le vrai format d'un fichier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C'est ainsi que les 70 fichiers « .xls » du Grenier ont été reconnus comme des pages web lisibles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extraction.png"/>
          <p:cNvPicPr>
            <a:picLocks noChangeAspect="1"/>
          </p:cNvPicPr>
          <p:nvPr/>
        </p:nvPicPr>
        <p:blipFill>
          <a:blip r:embed="rId6"/>
          <a:stretch>
            <a:fillRect/>
          </a:stretch>
        </p:blipFill>
        <p:spPr>
          <a:xfrm>
            <a:off x="503999" y="1674000"/>
            <a:ext cx="7848000" cy="3205288"/>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41 : Extrait du script dans VS Code sous Windows (reconnaître le vrai format)</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Un fichier Excel moderne commence par les octets « PK », un ancien par d'autres octets.</a:t>
            </a:r>
          </a:p>
          <a:p>
            <a:pPr algn="just">
              <a:spcAft>
                <a:spcPts val="600"/>
              </a:spcAft>
            </a:pPr>
            <a:r>
              <a:rPr sz="1300" b="1">
                <a:solidFill>
                  <a:srgbClr val="060606"/>
                </a:solidFill>
                <a:latin typeface="Helvetica"/>
              </a:rPr>
              <a:t>Une page web contient « &lt;html » ou « &lt;table ».</a:t>
            </a:r>
            <a:r>
              <a:rPr sz="1300" b="0">
                <a:solidFill>
                  <a:srgbClr val="060606"/>
                </a:solidFill>
                <a:latin typeface="Helvetica"/>
              </a:rPr>
              <a:t> Le script la lit alors comme un tableau.</a:t>
            </a:r>
          </a:p>
          <a:p>
            <a:pPr algn="just">
              <a:spcAft>
                <a:spcPts val="600"/>
              </a:spcAft>
            </a:pPr>
            <a:r>
              <a:rPr sz="1300" b="1">
                <a:solidFill>
                  <a:srgbClr val="060606"/>
                </a:solidFill>
                <a:latin typeface="Helvetica"/>
              </a:rPr>
              <a:t>Le terminal montre la sortie réelle de l'extraction sur le poste de la mission</a:t>
            </a:r>
            <a:r>
              <a:rPr sz="1300" b="0">
                <a:solidFill>
                  <a:srgbClr val="060606"/>
                </a:solidFill>
                <a:latin typeface="Helvetica"/>
              </a:rPr>
              <a:t> : 91,5 Mo en 5 parties.</a:t>
            </a:r>
          </a:p>
          <a:p>
            <a:pPr algn="just">
              <a:spcAft>
                <a:spcPts val="600"/>
              </a:spcAft>
            </a:pPr>
            <a:r>
              <a:rPr sz="1300" b="0">
                <a:solidFill>
                  <a:srgbClr val="060606"/>
                </a:solidFill>
                <a:latin typeface="Helvetica"/>
              </a:rPr>
              <a:t>Ce test évite de déclarer illisible un fichier simplement mal nommé : aucun fichier du Grenier n'a été perdu.</a:t>
            </a:r>
          </a:p>
        </p:txBody>
      </p:sp>
    </p:spTree>
    <p:extLst>
      <p:ext uri="{BB962C8B-B14F-4D97-AF65-F5344CB8AC3E}">
        <p14:creationId xmlns:p14="http://schemas.microsoft.com/office/powerpoint/2010/main" val="2344772980"/>
      </p:ext>
    </p:extLst>
  </p:cSld>
  <p:clrMapOvr>
    <a:masterClrMapping/>
  </p:clrMapOvr>
  <p:transition>
    <p:fade/>
  </p:transition>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écarter les lignes de total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ligne égale à la somme des autres est écartée automatiquement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Règle appliquée feuille par feuille, avec une tolérance de 1 %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total.png"/>
          <p:cNvPicPr>
            <a:picLocks noChangeAspect="1"/>
          </p:cNvPicPr>
          <p:nvPr/>
        </p:nvPicPr>
        <p:blipFill>
          <a:blip r:embed="rId6"/>
          <a:stretch>
            <a:fillRect/>
          </a:stretch>
        </p:blipFill>
        <p:spPr>
          <a:xfrm>
            <a:off x="503999" y="1674000"/>
            <a:ext cx="7848000" cy="2598101"/>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42 : Extrait du script dans VS Code sous Windows (écarter les lignes de total)</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Le script calcule la somme de la feuille.</a:t>
            </a:r>
          </a:p>
          <a:p>
            <a:pPr algn="just">
              <a:spcAft>
                <a:spcPts val="600"/>
              </a:spcAft>
            </a:pPr>
            <a:r>
              <a:rPr sz="1300" b="1">
                <a:solidFill>
                  <a:srgbClr val="060606"/>
                </a:solidFill>
                <a:latin typeface="Helvetica"/>
              </a:rPr>
              <a:t>Une ligne dont le montant égale la somme des autres est un total</a:t>
            </a:r>
            <a:r>
              <a:rPr sz="1300" b="0">
                <a:solidFill>
                  <a:srgbClr val="060606"/>
                </a:solidFill>
                <a:latin typeface="Helvetica"/>
              </a:rPr>
              <a:t>, pas un mutualiste.</a:t>
            </a:r>
          </a:p>
          <a:p>
            <a:pPr algn="just">
              <a:spcAft>
                <a:spcPts val="600"/>
              </a:spcAft>
            </a:pPr>
            <a:r>
              <a:rPr sz="1300" b="1">
                <a:solidFill>
                  <a:srgbClr val="060606"/>
                </a:solidFill>
                <a:latin typeface="Helvetica"/>
              </a:rPr>
              <a:t>Chaque ligne écartée est enregistrée</a:t>
            </a:r>
            <a:r>
              <a:rPr sz="1300" b="0">
                <a:solidFill>
                  <a:srgbClr val="060606"/>
                </a:solidFill>
                <a:latin typeface="Helvetica"/>
              </a:rPr>
              <a:t> avec son fichier et son montant.</a:t>
            </a:r>
          </a:p>
          <a:p>
            <a:pPr algn="just">
              <a:spcAft>
                <a:spcPts val="600"/>
              </a:spcAft>
            </a:pPr>
            <a:r>
              <a:rPr sz="1300" b="0">
                <a:solidFill>
                  <a:srgbClr val="060606"/>
                </a:solidFill>
                <a:latin typeface="Helvetica"/>
              </a:rPr>
              <a:t>La règle est automatique et tracée : le FPPN peut vérifier chaque ligne écartée dans le journal des rejets.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322246086"/>
      </p:ext>
    </p:extLst>
  </p:cSld>
  <p:clrMapOvr>
    <a:masterClrMapping/>
  </p:clrMapOvr>
  <p:transition>
    <p:fade/>
  </p:transition>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corriger les montants doublés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montants écrits deux fois à la suite sont corrigés et signalés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Correction limitée au poste décès, au-delà d'un million de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double.png"/>
          <p:cNvPicPr>
            <a:picLocks noChangeAspect="1"/>
          </p:cNvPicPr>
          <p:nvPr/>
        </p:nvPicPr>
        <p:blipFill>
          <a:blip r:embed="rId6"/>
          <a:stretch>
            <a:fillRect/>
          </a:stretch>
        </p:blipFill>
        <p:spPr>
          <a:xfrm>
            <a:off x="503999" y="1674000"/>
            <a:ext cx="7848000" cy="3007023"/>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43 : Extrait du script dans VS Code sous Windows (corriger les montants doublés)</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Le script découpe le montant en deux moitiés.</a:t>
            </a:r>
          </a:p>
          <a:p>
            <a:pPr algn="just">
              <a:spcAft>
                <a:spcPts val="600"/>
              </a:spcAft>
            </a:pPr>
            <a:r>
              <a:rPr sz="1300" b="1">
                <a:solidFill>
                  <a:srgbClr val="060606"/>
                </a:solidFill>
                <a:latin typeface="Helvetica"/>
              </a:rPr>
              <a:t>Si les deux moitiés sont identiques, il retient la première.</a:t>
            </a:r>
          </a:p>
          <a:p>
            <a:pPr algn="just">
              <a:spcAft>
                <a:spcPts val="600"/>
              </a:spcAft>
            </a:pPr>
            <a:r>
              <a:rPr sz="1300" b="1">
                <a:solidFill>
                  <a:srgbClr val="060606"/>
                </a:solidFill>
                <a:latin typeface="Helvetica"/>
              </a:rPr>
              <a:t>Le montant d'origine est conservé</a:t>
            </a:r>
            <a:r>
              <a:rPr sz="1300" b="0">
                <a:solidFill>
                  <a:srgbClr val="060606"/>
                </a:solidFill>
                <a:latin typeface="Helvetica"/>
              </a:rPr>
              <a:t> dans une colonne à part.</a:t>
            </a:r>
          </a:p>
          <a:p>
            <a:pPr algn="just">
              <a:spcAft>
                <a:spcPts val="600"/>
              </a:spcAft>
            </a:pPr>
            <a:r>
              <a:rPr sz="1300" b="0">
                <a:solidFill>
                  <a:srgbClr val="060606"/>
                </a:solidFill>
                <a:latin typeface="Helvetica"/>
              </a:rPr>
              <a:t>La correction est réversible : le montant d'origine reste disponible pour le FPPN.</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793987831"/>
      </p:ext>
    </p:extLst>
  </p:cSld>
  <p:clrMapOvr>
    <a:masterClrMapping/>
  </p:clrMapOvr>
  <p:transition>
    <p:fade/>
  </p:transition>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lire les montants du Grenier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montants imprimés avec espaces et « XOF » sont convertis sans perte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totaux recalculés sont égaux aux totaux imprimés dans les 37 balances âgées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grenier.png"/>
          <p:cNvPicPr>
            <a:picLocks noChangeAspect="1"/>
          </p:cNvPicPr>
          <p:nvPr/>
        </p:nvPicPr>
        <p:blipFill>
          <a:blip r:embed="rId6"/>
          <a:stretch>
            <a:fillRect/>
          </a:stretch>
        </p:blipFill>
        <p:spPr>
          <a:xfrm>
            <a:off x="503999" y="1674000"/>
            <a:ext cx="7848000" cy="2052871"/>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44 : Extrait du script dans VS Code sous Windows (lire les montants du Grenier)</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Le script retire les espaces, y compris insécables.</a:t>
            </a:r>
          </a:p>
          <a:p>
            <a:pPr algn="just">
              <a:spcAft>
                <a:spcPts val="600"/>
              </a:spcAft>
            </a:pPr>
            <a:r>
              <a:rPr sz="1300" b="1">
                <a:solidFill>
                  <a:srgbClr val="060606"/>
                </a:solidFill>
                <a:latin typeface="Helvetica"/>
              </a:rPr>
              <a:t>Il retire aussi la mention « XOF ».</a:t>
            </a:r>
          </a:p>
          <a:p>
            <a:pPr algn="just">
              <a:spcAft>
                <a:spcPts val="600"/>
              </a:spcAft>
            </a:pPr>
            <a:r>
              <a:rPr sz="1300" b="1">
                <a:solidFill>
                  <a:srgbClr val="060606"/>
                </a:solidFill>
                <a:latin typeface="Helvetica"/>
              </a:rPr>
              <a:t>Le nombre obtenu est comparé au total imprimé</a:t>
            </a:r>
            <a:r>
              <a:rPr sz="1300" b="0">
                <a:solidFill>
                  <a:srgbClr val="060606"/>
                </a:solidFill>
                <a:latin typeface="Helvetica"/>
              </a:rPr>
              <a:t> par le logiciel.</a:t>
            </a:r>
          </a:p>
          <a:p>
            <a:pPr algn="just">
              <a:spcAft>
                <a:spcPts val="600"/>
              </a:spcAft>
            </a:pPr>
            <a:r>
              <a:rPr sz="1300" b="0">
                <a:solidFill>
                  <a:srgbClr val="060606"/>
                </a:solidFill>
                <a:latin typeface="Helvetica"/>
              </a:rPr>
              <a:t>L'égalité des totaux sur les 37 balances prouve que la lecture n'a rien perdu.</a:t>
            </a:r>
          </a:p>
        </p:txBody>
      </p:sp>
    </p:spTree>
    <p:extLst>
      <p:ext uri="{BB962C8B-B14F-4D97-AF65-F5344CB8AC3E}">
        <p14:creationId xmlns:p14="http://schemas.microsoft.com/office/powerpoint/2010/main" val="1931737019"/>
      </p:ext>
    </p:extLst>
  </p:cSld>
  <p:clrMapOvr>
    <a:masterClrMapping/>
  </p:clrMapOvr>
  <p:transition>
    <p:fade/>
  </p:transition>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calculer la sinistralité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ratio S/C est calculé compte par compte, pour chaque exercice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compte utilisé est cité dans l'annexe des méthodes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sc.png"/>
          <p:cNvPicPr>
            <a:picLocks noChangeAspect="1"/>
          </p:cNvPicPr>
          <p:nvPr/>
        </p:nvPicPr>
        <p:blipFill>
          <a:blip r:embed="rId6"/>
          <a:stretch>
            <a:fillRect/>
          </a:stretch>
        </p:blipFill>
        <p:spPr>
          <a:xfrm>
            <a:off x="503999" y="1674000"/>
            <a:ext cx="7848000" cy="3824867"/>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45 : Extrait du script dans VS Code sous Windows (calculer la sinistralité)</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Les cotisations viennent des comptes 7010 et 7021.</a:t>
            </a:r>
          </a:p>
          <a:p>
            <a:pPr algn="just">
              <a:spcAft>
                <a:spcPts val="600"/>
              </a:spcAft>
            </a:pPr>
            <a:r>
              <a:rPr sz="1300" b="1">
                <a:solidFill>
                  <a:srgbClr val="060606"/>
                </a:solidFill>
                <a:latin typeface="Helvetica"/>
              </a:rPr>
              <a:t>Les prestations viennent des comptes 601, 6013, 6018, 60800007, 6021 et 6024.</a:t>
            </a:r>
          </a:p>
          <a:p>
            <a:pPr algn="just">
              <a:spcAft>
                <a:spcPts val="600"/>
              </a:spcAft>
            </a:pPr>
            <a:r>
              <a:rPr sz="1300" b="1">
                <a:solidFill>
                  <a:srgbClr val="060606"/>
                </a:solidFill>
                <a:latin typeface="Helvetica"/>
              </a:rPr>
              <a:t>Le résultat est écrit dans le classeur des calculs.</a:t>
            </a:r>
          </a:p>
          <a:p>
            <a:pPr algn="just">
              <a:spcAft>
                <a:spcPts val="600"/>
              </a:spcAft>
            </a:pPr>
            <a:r>
              <a:rPr sz="1300" b="0">
                <a:solidFill>
                  <a:srgbClr val="060606"/>
                </a:solidFill>
                <a:latin typeface="Helvetica"/>
              </a:rPr>
              <a:t>Le choix des comptes est explicite dans le code : un lecteur peut le contester et le modifier.</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S/C : prestations / cotisations</a:t>
            </a:r>
          </a:p>
        </p:txBody>
      </p:sp>
    </p:spTree>
    <p:extLst>
      <p:ext uri="{BB962C8B-B14F-4D97-AF65-F5344CB8AC3E}">
        <p14:creationId xmlns:p14="http://schemas.microsoft.com/office/powerpoint/2010/main" val="2329027927"/>
      </p:ext>
    </p:extLst>
  </p:cSld>
  <p:clrMapOvr>
    <a:masterClrMapping/>
  </p:clrMapOvr>
  <p:transition>
    <p:fade/>
  </p:transition>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intervalle de confiance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L'intervalle de Wilson encadre la proportion de prêts en retard</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Méthode adaptée aux proportions, même faibles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stats.png"/>
          <p:cNvPicPr>
            <a:picLocks noChangeAspect="1"/>
          </p:cNvPicPr>
          <p:nvPr/>
        </p:nvPicPr>
        <p:blipFill>
          <a:blip r:embed="rId6"/>
          <a:stretch>
            <a:fillRect/>
          </a:stretch>
        </p:blipFill>
        <p:spPr>
          <a:xfrm>
            <a:off x="503999" y="1674000"/>
            <a:ext cx="7848000" cy="1780256"/>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46 : Extrait du script dans VS Code sous Windows (intervalle de confiance)</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La proportion vaut le nombre de prêts en retard divisé par le nombre de prêts.</a:t>
            </a:r>
          </a:p>
          <a:p>
            <a:pPr algn="just">
              <a:spcAft>
                <a:spcPts val="600"/>
              </a:spcAft>
            </a:pPr>
            <a:r>
              <a:rPr sz="1300" b="1">
                <a:solidFill>
                  <a:srgbClr val="060606"/>
                </a:solidFill>
                <a:latin typeface="Helvetica"/>
              </a:rPr>
              <a:t>L'intervalle est centré et élargi</a:t>
            </a:r>
            <a:r>
              <a:rPr sz="1300" b="0">
                <a:solidFill>
                  <a:srgbClr val="060606"/>
                </a:solidFill>
                <a:latin typeface="Helvetica"/>
              </a:rPr>
              <a:t> pour rester entre 0 et 1.</a:t>
            </a:r>
          </a:p>
          <a:p>
            <a:pPr algn="just">
              <a:spcAft>
                <a:spcPts val="600"/>
              </a:spcAft>
            </a:pPr>
            <a:r>
              <a:rPr sz="1300" b="1">
                <a:solidFill>
                  <a:srgbClr val="060606"/>
                </a:solidFill>
                <a:latin typeface="Helvetica"/>
              </a:rPr>
              <a:t>z vaut 1,96 pour un niveau de confiance de 95 %.</a:t>
            </a:r>
          </a:p>
          <a:p>
            <a:pPr algn="just">
              <a:spcAft>
                <a:spcPts val="600"/>
              </a:spcAft>
            </a:pPr>
            <a:r>
              <a:rPr sz="1300" b="0">
                <a:solidFill>
                  <a:srgbClr val="060606"/>
                </a:solidFill>
                <a:latin typeface="Helvetica"/>
              </a:rPr>
              <a:t>L'intervalle dit dans quelle plage se situe la vraie proportion de prêts en retard, compte tenu du hasard.</a:t>
            </a:r>
          </a:p>
        </p:txBody>
      </p:sp>
    </p:spTree>
    <p:extLst>
      <p:ext uri="{BB962C8B-B14F-4D97-AF65-F5344CB8AC3E}">
        <p14:creationId xmlns:p14="http://schemas.microsoft.com/office/powerpoint/2010/main" val="1331059729"/>
      </p:ext>
    </p:extLst>
  </p:cSld>
  <p:clrMapOvr>
    <a:masterClrMapping/>
  </p:clrMapOvr>
  <p:transition>
    <p:fade/>
  </p:transition>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statut d'un ratio prudentiel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statut de chaque ratio suit une règle écrite dans le code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Conforme, non conforme, en attente ou à apprécier, selon la norme du texte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statut.png"/>
          <p:cNvPicPr>
            <a:picLocks noChangeAspect="1"/>
          </p:cNvPicPr>
          <p:nvPr/>
        </p:nvPicPr>
        <p:blipFill>
          <a:blip r:embed="rId6"/>
          <a:stretch>
            <a:fillRect/>
          </a:stretch>
        </p:blipFill>
        <p:spPr>
          <a:xfrm>
            <a:off x="503999" y="1674000"/>
            <a:ext cx="7798815" cy="4158000"/>
          </a:xfrm>
          <a:prstGeom prst="rect">
            <a:avLst/>
          </a:prstGeom>
        </p:spPr>
      </p:pic>
      <p:sp>
        <p:nvSpPr>
          <p:cNvPr id="32" name="TextBox 31"/>
          <p:cNvSpPr txBox="1"/>
          <p:nvPr/>
        </p:nvSpPr>
        <p:spPr>
          <a:xfrm>
            <a:off x="503999" y="1386000"/>
            <a:ext cx="7798815" cy="251999"/>
          </a:xfrm>
          <a:prstGeom prst="rect">
            <a:avLst/>
          </a:prstGeom>
          <a:noFill/>
        </p:spPr>
        <p:txBody>
          <a:bodyPr wrap="square" anchor="t" lIns="54000" rIns="54000"/>
          <a:lstStyle/>
          <a:p>
            <a:pPr algn="ctr"/>
            <a:r>
              <a:rPr sz="1200" b="0">
                <a:solidFill>
                  <a:srgbClr val="EFAC62"/>
                </a:solidFill>
                <a:latin typeface="Helvetica"/>
              </a:rPr>
              <a:t>Figure 47 : Extrait du script dans VS Code sous Windows (statut d'un ratio prudentiel)</a:t>
            </a:r>
          </a:p>
        </p:txBody>
      </p:sp>
      <p:sp>
        <p:nvSpPr>
          <p:cNvPr id="33" name="TextBox 32"/>
          <p:cNvSpPr txBox="1"/>
          <p:nvPr/>
        </p:nvSpPr>
        <p:spPr>
          <a:xfrm>
            <a:off x="8518815" y="1440000"/>
            <a:ext cx="3217184" cy="4428000"/>
          </a:xfrm>
          <a:prstGeom prst="rect">
            <a:avLst/>
          </a:prstGeom>
          <a:noFill/>
        </p:spPr>
        <p:txBody>
          <a:bodyPr wrap="square" lIns="54000" rIns="54000"/>
          <a:lstStyle/>
          <a:p>
            <a:pPr algn="just">
              <a:spcAft>
                <a:spcPts val="600"/>
              </a:spcAft>
            </a:pPr>
            <a:r>
              <a:rPr sz="1300" b="1">
                <a:solidFill>
                  <a:srgbClr val="060606"/>
                </a:solidFill>
                <a:latin typeface="Helvetica"/>
              </a:rPr>
              <a:t>Une valeur absente donne « En attente ». Une norme non chiffrée donne « À apprécier ».</a:t>
            </a:r>
          </a:p>
          <a:p>
            <a:pPr algn="just">
              <a:spcAft>
                <a:spcPts val="600"/>
              </a:spcAft>
            </a:pPr>
            <a:r>
              <a:rPr sz="1300" b="1">
                <a:solidFill>
                  <a:srgbClr val="060606"/>
                </a:solidFill>
                <a:latin typeface="Helvetica"/>
              </a:rPr>
              <a:t>Le test compare la valeur à la norme</a:t>
            </a:r>
            <a:r>
              <a:rPr sz="1300" b="0">
                <a:solidFill>
                  <a:srgbClr val="060606"/>
                </a:solidFill>
                <a:latin typeface="Helvetica"/>
              </a:rPr>
              <a:t> : fourchette, minimum ou maximum.</a:t>
            </a:r>
          </a:p>
          <a:p>
            <a:pPr algn="just">
              <a:spcAft>
                <a:spcPts val="600"/>
              </a:spcAft>
            </a:pPr>
            <a:r>
              <a:rPr sz="1300" b="1">
                <a:solidFill>
                  <a:srgbClr val="060606"/>
                </a:solidFill>
                <a:latin typeface="Helvetica"/>
              </a:rPr>
              <a:t>Les années 2020, 2021 et 2026 portent la mention « indicatif ».</a:t>
            </a:r>
            <a:r>
              <a:rPr sz="1300" b="0">
                <a:solidFill>
                  <a:srgbClr val="060606"/>
                </a:solidFill>
                <a:latin typeface="Helvetica"/>
              </a:rPr>
              <a:t> Le terminal montre la sortie réelle du script.</a:t>
            </a:r>
          </a:p>
          <a:p>
            <a:pPr algn="just">
              <a:spcAft>
                <a:spcPts val="600"/>
              </a:spcAft>
            </a:pPr>
            <a:r>
              <a:rPr sz="1300" b="0">
                <a:solidFill>
                  <a:srgbClr val="060606"/>
                </a:solidFill>
                <a:latin typeface="Helvetica"/>
              </a:rPr>
              <a:t>La règle de statut est la même pour les 36 indicateurs : elle ne laisse aucune place à l'appréciation au cas par cas.</a:t>
            </a:r>
          </a:p>
        </p:txBody>
      </p:sp>
    </p:spTree>
    <p:extLst>
      <p:ext uri="{BB962C8B-B14F-4D97-AF65-F5344CB8AC3E}">
        <p14:creationId xmlns:p14="http://schemas.microsoft.com/office/powerpoint/2010/main" val="1034887867"/>
      </p:ext>
    </p:extLst>
  </p:cSld>
  <p:clrMapOvr>
    <a:masterClrMapping/>
  </p:clrMapOvr>
  <p:transition>
    <p:fade/>
  </p:transition>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Enregistrement</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À la construction, chaque chiffre est produit par une fonction qui garde sa valeur exacte, sa diapositive et le texte affiché.</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Relecture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Après la construction, un script relit le fichier PowerPoint, textes, tableaux et notes compris.</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Comparaison</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script vérifie la présence de chaque texte enregistré sur sa diapositive et compte les chiffres retrouvés.</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Résultat</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résultat figure dans l'onglet « Traçabilité » du classeur des calculs, ligne par ligne, avec la valeur exacte de chaque chiffre.</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Contrôle automatique des chiffres</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chiffre du rapport est recalculé et comparé au texte affiché</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contrôle relit le PowerPoint produit et vérifie que chaque chiffre enregistré figure sur sa diapositive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Tree>
    <p:extLst>
      <p:ext uri="{BB962C8B-B14F-4D97-AF65-F5344CB8AC3E}">
        <p14:creationId xmlns:p14="http://schemas.microsoft.com/office/powerpoint/2010/main" val="2850579719"/>
      </p:ext>
    </p:extLst>
  </p:cSld>
  <p:clrMapOvr>
    <a:masterClrMapping/>
  </p:clrMapOvr>
  <p:transition>
    <p:fade/>
  </p:transition>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14</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Analyses en attente</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Documents à obtenir, risques, points à clarifier</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277684284"/>
      </p:ext>
    </p:extLst>
  </p:cSld>
  <p:clrMapOvr>
    <a:masterClrMapping/>
  </p:clrMapOvr>
  <p:transition>
    <p:fade/>
  </p:transition>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Analyses en attente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analyses actuarielles centrales dépendent de trois bases non reçues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Provisions, mortalité, équilibre technique, contrôles santé et onze indicateurs prudentiels seront réalisés dès réception des documents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PBC pointée au 19/10/2026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85 : Analyses en attente et documents nécessaires</a:t>
            </a:r>
          </a:p>
        </p:txBody>
      </p:sp>
      <p:graphicFrame>
        <p:nvGraphicFramePr>
          <p:cNvPr id="32" name="Table 31"/>
          <p:cNvGraphicFramePr>
            <a:graphicFrameLocks noGrp="1"/>
          </p:cNvGraphicFramePr>
          <p:nvPr/>
        </p:nvGraphicFramePr>
        <p:xfrm>
          <a:off x="503999" y="1655999"/>
          <a:ext cx="11232000" cy="2194901"/>
        </p:xfrm>
        <a:graphic>
          <a:graphicData uri="http://schemas.openxmlformats.org/drawingml/2006/table">
            <a:tbl>
              <a:tblPr firstRow="0" bandRow="0">
                <a:tableStyleId>{5940675A-B579-460E-94D1-54222C63F5DA}</a:tableStyleId>
              </a:tblPr>
              <a:tblGrid>
                <a:gridCol w="2592000"/>
                <a:gridCol w="4176000"/>
                <a:gridCol w="4464000"/>
              </a:tblGrid>
              <a:tr h="210009">
                <a:tc>
                  <a:txBody>
                    <a:bodyPr/>
                    <a:lstStyle/>
                    <a:p>
                      <a:pPr marL="0" indent="0" lvl="0">
                        <a:buNone/>
                      </a:pPr>
                      <a:r>
                        <a:rPr sz="1000" b="1">
                          <a:solidFill>
                            <a:srgbClr val="FFFFFF"/>
                          </a:solidFill>
                          <a:latin typeface="Helvetica"/>
                        </a:rPr>
                        <a:t>Analyse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Objet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Documents nécessaires (PBC)</a:t>
                      </a:r>
                    </a:p>
                  </a:txBody>
                  <a:tcPr marL="43200" marR="43200" marT="14400" marB="14400" anchor="ctr">
                    <a:solidFill>
                      <a:srgbClr val="060606"/>
                    </a:solidFill>
                  </a:tcPr>
                </a:tc>
              </a:tr>
              <a:tr h="362419">
                <a:tc>
                  <a:txBody>
                    <a:bodyPr/>
                    <a:lstStyle/>
                    <a:p>
                      <a:pPr marL="0" indent="0" lvl="0">
                        <a:buNone/>
                      </a:pPr>
                      <a:r>
                        <a:rPr sz="1000" b="1">
                          <a:solidFill>
                            <a:srgbClr val="060606"/>
                          </a:solidFill>
                          <a:latin typeface="Helvetica"/>
                        </a:rPr>
                        <a:t>Provisions (PSAP, Chain Ladder)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Montant restant à payer, y compris non déclaré</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Prestations décès et santé, dossiers non payés (13, 14, 28, 29, 40)</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Sinistralité par année de survenance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Coût réel de chaque année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Bases des prestations (13, 28, 40)</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Mortalité observée (A/E)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Comparaison à CIMA H</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Mutualistes avec date de naissance (9), décès (28)</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Délais et dossiers en attente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Délais de déclaration et de paiement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Bases des prestations avec dates (28, 40)</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Contrôles santé</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Doublons, bénéficiaires hors fichier, prestations indues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Factures santé (40), cartes actives (42)</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Engagements d'épargne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Dette envers chaque épargnant et échéancier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Comptes individuels et règlements (16, 17)</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Indicateurs prudentiels en attente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Recouvrement, contrôles, réunions, fonds de garantie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Fichiers aller 936 et 8Z6 de la direction du personnel (51, 61), procès-verbaux, registres</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Équilibre technique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Projection sur 5 à 10 ans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Âges, barèmes, hypothèses (1, 2, 3, 9)</a:t>
                      </a:r>
                    </a:p>
                  </a:txBody>
                  <a:tcPr marL="43200" marR="43200" marT="14400" marB="14400" anchor="ctr">
                    <a:solidFill>
                      <a:srgbClr val="F2F2F2"/>
                    </a:solidFill>
                  </a:tcPr>
                </a:tc>
              </a:tr>
            </a:tbl>
          </a:graphicData>
        </a:graphic>
      </p:graphicFrame>
      <p:sp>
        <p:nvSpPr>
          <p:cNvPr id="33" name="TextBox 32"/>
          <p:cNvSpPr txBox="1"/>
          <p:nvPr/>
        </p:nvSpPr>
        <p:spPr>
          <a:xfrm>
            <a:off x="503999" y="3868905"/>
            <a:ext cx="11232000" cy="162000"/>
          </a:xfrm>
          <a:prstGeom prst="rect">
            <a:avLst/>
          </a:prstGeom>
          <a:noFill/>
        </p:spPr>
        <p:txBody>
          <a:bodyPr wrap="square" anchor="t" lIns="54000" rIns="54000"/>
          <a:lstStyle/>
          <a:p>
            <a:pPr algn="l"/>
            <a:r>
              <a:rPr sz="850" b="0">
                <a:solidFill>
                  <a:srgbClr val="53565A"/>
                </a:solidFill>
                <a:latin typeface="Helvetica"/>
              </a:rPr>
              <a:t>Valable pour : demandes et constats au 22/10/2026.</a:t>
            </a:r>
          </a:p>
        </p:txBody>
      </p:sp>
      <p:sp>
        <p:nvSpPr>
          <p:cNvPr id="34" name="TextBox 33"/>
          <p:cNvSpPr txBox="1"/>
          <p:nvPr/>
        </p:nvSpPr>
        <p:spPr>
          <a:xfrm>
            <a:off x="503999" y="4156905"/>
            <a:ext cx="11232000" cy="1711094"/>
          </a:xfrm>
          <a:prstGeom prst="rect">
            <a:avLst/>
          </a:prstGeom>
          <a:noFill/>
        </p:spPr>
        <p:txBody>
          <a:bodyPr wrap="square" lIns="54000" rIns="54000"/>
          <a:lstStyle/>
          <a:p>
            <a:pPr algn="just">
              <a:spcAft>
                <a:spcPts val="600"/>
              </a:spcAft>
            </a:pPr>
            <a:r>
              <a:rPr sz="1300" b="1">
                <a:solidFill>
                  <a:srgbClr val="060606"/>
                </a:solidFill>
                <a:latin typeface="Helvetica"/>
              </a:rPr>
              <a:t>Les analyses en attente portent sur le cœur de la mission : les engagements et les provisions.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CIMA : Conférence interafricaine des marchés d'assurances | PSAP : provision pour sinistres à payer | A/E : décès observés / décès attendus | PBC : liste des documents demandés au client | 8Z6 : poste décès</a:t>
            </a:r>
          </a:p>
        </p:txBody>
      </p:sp>
    </p:spTree>
    <p:extLst>
      <p:ext uri="{BB962C8B-B14F-4D97-AF65-F5344CB8AC3E}">
        <p14:creationId xmlns:p14="http://schemas.microsoft.com/office/powerpoint/2010/main" val="3990270001"/>
      </p:ext>
    </p:extLst>
  </p:cSld>
  <p:clrMapOvr>
    <a:masterClrMapping/>
  </p:clrMapOvr>
  <p:transition>
    <p:fade/>
  </p:transition>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Points à clarifier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Douze points demandent une réponse du FPPN avant la prochaine version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point est relié à un constat chiffré du rapport et repris dans les guides d'entretien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 Guides d'entretien mis à jour</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86 : Points à clarifier avec le FPPN</a:t>
            </a:r>
          </a:p>
        </p:txBody>
      </p:sp>
      <p:graphicFrame>
        <p:nvGraphicFramePr>
          <p:cNvPr id="32" name="Table 31"/>
          <p:cNvGraphicFramePr>
            <a:graphicFrameLocks noGrp="1"/>
          </p:cNvGraphicFramePr>
          <p:nvPr/>
        </p:nvGraphicFramePr>
        <p:xfrm>
          <a:off x="503999" y="1655999"/>
          <a:ext cx="11231999" cy="2531984"/>
        </p:xfrm>
        <a:graphic>
          <a:graphicData uri="http://schemas.openxmlformats.org/drawingml/2006/table">
            <a:tbl>
              <a:tblPr firstRow="0" bandRow="0">
                <a:tableStyleId>{5940675A-B579-460E-94D1-54222C63F5DA}</a:tableStyleId>
              </a:tblPr>
              <a:tblGrid>
                <a:gridCol w="360000"/>
                <a:gridCol w="2808000"/>
                <a:gridCol w="8063999"/>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Point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Question au FPPN</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Répartition du taux de 5 %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Les statuts (art. 17) fixent 3,5 / 1,5 : pourquoi la Solde applique-t-elle 3,77 / 1,23, et la comptabilité une autre clé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Provisions figées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Comment les provisions ont-elles été calculées, et pourquoi n'ont-elles pas changé depuis 2020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Couverture de l'épargne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Quelles sont les conditions de retrait et les échéances du PEP et de l'EFC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Créance sur l'Hôpital de la Police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Quelle est sa nature, et un remboursement est-il prévu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Retards du Grenier début 2026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Pourquoi la plus grande part de l'encours était-elle en retard fin janvier 2026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Écart échéances / précomptes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Comment les échéances non précomptées sont-elles réglées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Sinistralité 2020 à 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Des factures de ces années ont-elles été comptabilisées plus tard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Agrément AIRMS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Quels sont le numéro, la date et les risques autorisés de l'agrément du FPPN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Sigle CMP et compte 10620000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Que signifie le sigle CMP ? Le rapport de réévaluation du terrain du siège (compte 10620000) peut-il être transmis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10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Fonds national de garantie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FPPN adhère-t-il au FOMUS-CI, et à quel montant de cotisation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Risques longs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Une étude actuarielle et une certification des comptes ont-elles été réalisées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12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Données manquantes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Quand le FPPN transmettra-t-il les précomptes de 2020 à 2023, les fichiers de décembre 2024 et les grands livres endommagés ?</a:t>
                      </a:r>
                    </a:p>
                  </a:txBody>
                  <a:tcPr marL="43200" marR="43200" marT="14400" marB="14400" anchor="ctr">
                    <a:solidFill>
                      <a:srgbClr val="F2F2F2"/>
                    </a:solidFill>
                  </a:tcPr>
                </a:tc>
              </a:tr>
            </a:tbl>
          </a:graphicData>
        </a:graphic>
      </p:graphicFrame>
      <p:sp>
        <p:nvSpPr>
          <p:cNvPr id="33" name="TextBox 32"/>
          <p:cNvSpPr txBox="1"/>
          <p:nvPr/>
        </p:nvSpPr>
        <p:spPr>
          <a:xfrm>
            <a:off x="503999" y="4205992"/>
            <a:ext cx="11232000" cy="162000"/>
          </a:xfrm>
          <a:prstGeom prst="rect">
            <a:avLst/>
          </a:prstGeom>
          <a:noFill/>
        </p:spPr>
        <p:txBody>
          <a:bodyPr wrap="square" anchor="t" lIns="54000" rIns="54000"/>
          <a:lstStyle/>
          <a:p>
            <a:pPr algn="l"/>
            <a:r>
              <a:rPr sz="850" b="0">
                <a:solidFill>
                  <a:srgbClr val="53565A"/>
                </a:solidFill>
                <a:latin typeface="Helvetica"/>
              </a:rPr>
              <a:t>Valable pour : demandes et constats au 22/10/2026.</a:t>
            </a:r>
          </a:p>
        </p:txBody>
      </p:sp>
      <p:sp>
        <p:nvSpPr>
          <p:cNvPr id="34" name="TextBox 33"/>
          <p:cNvSpPr txBox="1"/>
          <p:nvPr/>
        </p:nvSpPr>
        <p:spPr>
          <a:xfrm>
            <a:off x="503999" y="4493992"/>
            <a:ext cx="11232000" cy="1374007"/>
          </a:xfrm>
          <a:prstGeom prst="rect">
            <a:avLst/>
          </a:prstGeom>
          <a:noFill/>
        </p:spPr>
        <p:txBody>
          <a:bodyPr wrap="square" lIns="54000" rIns="54000"/>
          <a:lstStyle/>
          <a:p>
            <a:pPr algn="just">
              <a:spcAft>
                <a:spcPts val="600"/>
              </a:spcAft>
            </a:pPr>
            <a:r>
              <a:rPr sz="1300" b="1">
                <a:solidFill>
                  <a:srgbClr val="060606"/>
                </a:solidFill>
                <a:latin typeface="Helvetica"/>
              </a:rPr>
              <a:t>Les points 8 à 11 sont nouveaux : ils découlent de la lecture des textes de l'AIRMS.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PEP : Plan Épargne Plus | EFC : entraide fin de carrière | CMP : Centre Médical du Policier (rapport de gestion 2023) | FOMUS-CI : fonds de garantie des mutuelles sociales de Côte d'Ivoire</a:t>
            </a:r>
          </a:p>
        </p:txBody>
      </p:sp>
    </p:spTree>
    <p:extLst>
      <p:ext uri="{BB962C8B-B14F-4D97-AF65-F5344CB8AC3E}">
        <p14:creationId xmlns:p14="http://schemas.microsoft.com/office/powerpoint/2010/main" val="1846090187"/>
      </p:ext>
    </p:extLst>
  </p:cSld>
  <p:clrMapOvr>
    <a:masterClrMapping/>
  </p:clrMapOvr>
  <p:transition>
    <p:fade/>
  </p:transition>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Points issus de l'entretien cotisations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Cinq points relevés le 19/10/2026 demandent une confirmation écrite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point est repris dans la PBC complémentaire cotisations (items 56 à 70) et dans les relances du guide d'entretien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(déclarations à confirmer par document)</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87 : Points à clarifier issus de l'entretien du 19/10/2026</a:t>
            </a:r>
          </a:p>
        </p:txBody>
      </p:sp>
      <p:graphicFrame>
        <p:nvGraphicFramePr>
          <p:cNvPr id="32" name="Table 31"/>
          <p:cNvGraphicFramePr>
            <a:graphicFrameLocks noGrp="1"/>
          </p:cNvGraphicFramePr>
          <p:nvPr/>
        </p:nvGraphicFramePr>
        <p:xfrm>
          <a:off x="503999" y="1655999"/>
          <a:ext cx="11231999" cy="1717284"/>
        </p:xfrm>
        <a:graphic>
          <a:graphicData uri="http://schemas.openxmlformats.org/drawingml/2006/table">
            <a:tbl>
              <a:tblPr firstRow="0" bandRow="0">
                <a:tableStyleId>{5940675A-B579-460E-94D1-54222C63F5DA}</a:tableStyleId>
              </a:tblPr>
              <a:tblGrid>
                <a:gridCol w="360000"/>
                <a:gridCol w="2808000"/>
                <a:gridCol w="8063999"/>
              </a:tblGrid>
              <a:tr h="210009">
                <a:tc>
                  <a:txBody>
                    <a:bodyPr/>
                    <a:lstStyle/>
                    <a:p>
                      <a:pPr marL="0" indent="0" lvl="0">
                        <a:buNone/>
                      </a:pPr>
                      <a:r>
                        <a:rPr sz="10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Point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Question au FPPN</a:t>
                      </a:r>
                    </a:p>
                  </a:txBody>
                  <a:tcPr marL="43200" marR="43200" marT="14400" marB="14400" anchor="ctr">
                    <a:solidFill>
                      <a:srgbClr val="060606"/>
                    </a:solidFill>
                  </a:tcPr>
                </a:tc>
              </a:tr>
              <a:tr h="362419">
                <a:tc>
                  <a:txBody>
                    <a:bodyPr/>
                    <a:lstStyle/>
                    <a:p>
                      <a:pPr marL="0" indent="0" lvl="0">
                        <a:buNone/>
                      </a:pPr>
                      <a:r>
                        <a:rPr sz="1000" b="1">
                          <a:solidFill>
                            <a:srgbClr val="060606"/>
                          </a:solidFill>
                          <a:latin typeface="Helvetica"/>
                        </a:rPr>
                        <a:t>13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Délai de trois mois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 délai d'au moins trois mois de cotisation s'applique-t-il à tous les produits, y compris la maladie et le décès ? L'entretien du 16/10/2026 indiquait l'absence de délai de carence.</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Retours maladie et décès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Par quel canal le FPPN reçoit-il les fichiers retour maladie et décès, et qui les reçoit ?</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15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Règles de l'EFC et du PEP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Quelle décision a porté l'EFC à 10 000 FCFA en 2021 ? La durée d'un plan PEP est d'au moins trois ans (règlement intérieur, art. 66) : où sont enregistrés les termes choisis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MEDOC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Sur quelle période le produit a-t-il fonctionné, et quand a-t-il été suspendu ?</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17</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Types de prêts du Grenier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Quels sont les types de prêts et leurs conditions ? Trois types ont été cités, les fichiers de production en comptent huit.</a:t>
                      </a:r>
                    </a:p>
                  </a:txBody>
                  <a:tcPr marL="43200" marR="43200" marT="14400" marB="14400" anchor="ctr">
                    <a:solidFill>
                      <a:srgbClr val="FFFFFF"/>
                    </a:solidFill>
                  </a:tcPr>
                </a:tc>
              </a:tr>
            </a:tbl>
          </a:graphicData>
        </a:graphic>
      </p:graphicFrame>
      <p:sp>
        <p:nvSpPr>
          <p:cNvPr id="33" name="TextBox 32"/>
          <p:cNvSpPr txBox="1"/>
          <p:nvPr/>
        </p:nvSpPr>
        <p:spPr>
          <a:xfrm>
            <a:off x="503999" y="3391286"/>
            <a:ext cx="11232000" cy="162000"/>
          </a:xfrm>
          <a:prstGeom prst="rect">
            <a:avLst/>
          </a:prstGeom>
          <a:noFill/>
        </p:spPr>
        <p:txBody>
          <a:bodyPr wrap="square" anchor="t" lIns="54000" rIns="54000"/>
          <a:lstStyle/>
          <a:p>
            <a:pPr algn="l"/>
            <a:r>
              <a:rPr sz="850" b="0">
                <a:solidFill>
                  <a:srgbClr val="53565A"/>
                </a:solidFill>
                <a:latin typeface="Helvetica"/>
              </a:rPr>
              <a:t>Valable pour : demandes et constats au 22/10/2026.</a:t>
            </a:r>
          </a:p>
        </p:txBody>
      </p:sp>
      <p:sp>
        <p:nvSpPr>
          <p:cNvPr id="34" name="TextBox 33"/>
          <p:cNvSpPr txBox="1"/>
          <p:nvPr/>
        </p:nvSpPr>
        <p:spPr>
          <a:xfrm>
            <a:off x="503999" y="3679286"/>
            <a:ext cx="11232000" cy="2188713"/>
          </a:xfrm>
          <a:prstGeom prst="rect">
            <a:avLst/>
          </a:prstGeom>
          <a:noFill/>
        </p:spPr>
        <p:txBody>
          <a:bodyPr wrap="square" lIns="54000" rIns="54000"/>
          <a:lstStyle/>
          <a:p>
            <a:pPr algn="just">
              <a:spcAft>
                <a:spcPts val="600"/>
              </a:spcAft>
            </a:pPr>
            <a:r>
              <a:rPr sz="1300" b="1">
                <a:solidFill>
                  <a:srgbClr val="060606"/>
                </a:solidFill>
                <a:latin typeface="Helvetica"/>
              </a:rPr>
              <a:t>Le point 13 contredit une déclaration antérieure.</a:t>
            </a:r>
            <a:r>
              <a:rPr sz="1300" b="0">
                <a:solidFill>
                  <a:srgbClr val="060606"/>
                </a:solidFill>
                <a:latin typeface="Helvetica"/>
              </a:rPr>
              <a:t> Il conditionne le calcul des délais de carence dans l'analyse des prestations.</a:t>
            </a:r>
          </a:p>
          <a:p>
            <a:pPr algn="just">
              <a:spcAft>
                <a:spcPts val="600"/>
              </a:spcAft>
            </a:pPr>
            <a:r>
              <a:rPr sz="1300" b="0">
                <a:solidFill>
                  <a:srgbClr val="060606"/>
                </a:solidFill>
                <a:latin typeface="Helvetica"/>
              </a:rPr>
              <a:t>Les réponses écrites à ces cinq points seront intégrées à la version suivante du rapport. D'ici là, les déclarations sont présentées comme telles.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PBC : liste des documents demandés au client | MEDOC : produit santé complémentaire du poste 8Z7</a:t>
            </a:r>
          </a:p>
        </p:txBody>
      </p:sp>
    </p:spTree>
    <p:extLst>
      <p:ext uri="{BB962C8B-B14F-4D97-AF65-F5344CB8AC3E}">
        <p14:creationId xmlns:p14="http://schemas.microsoft.com/office/powerpoint/2010/main" val="3853456439"/>
      </p:ext>
    </p:extLst>
  </p:cSld>
  <p:clrMapOvr>
    <a:masterClrMapping/>
  </p:clrMapOvr>
  <p:transition>
    <p:fade/>
  </p:transition>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Provisions : documents attendus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Cinq analyses de provisions attendent des documents du FPPN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analyse est décrite en partie 9 et reprise dans la PBC générale (items 71 à 109)</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PBC pointée au 19/10/2026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88 : Analyses de provisions en attente et documents nécessaires</a:t>
            </a:r>
          </a:p>
        </p:txBody>
      </p:sp>
      <p:graphicFrame>
        <p:nvGraphicFramePr>
          <p:cNvPr id="32" name="Table 31"/>
          <p:cNvGraphicFramePr>
            <a:graphicFrameLocks noGrp="1"/>
          </p:cNvGraphicFramePr>
          <p:nvPr/>
        </p:nvGraphicFramePr>
        <p:xfrm>
          <a:off x="503999" y="1655999"/>
          <a:ext cx="11232000" cy="2631741"/>
        </p:xfrm>
        <a:graphic>
          <a:graphicData uri="http://schemas.openxmlformats.org/drawingml/2006/table">
            <a:tbl>
              <a:tblPr firstRow="0" bandRow="0">
                <a:tableStyleId>{5940675A-B579-460E-94D1-54222C63F5DA}</a:tableStyleId>
              </a:tblPr>
              <a:tblGrid>
                <a:gridCol w="2304000"/>
                <a:gridCol w="4104000"/>
                <a:gridCol w="4824000"/>
              </a:tblGrid>
              <a:tr h="210009">
                <a:tc>
                  <a:txBody>
                    <a:bodyPr/>
                    <a:lstStyle/>
                    <a:p>
                      <a:pPr marL="0" indent="0" lvl="0">
                        <a:buNone/>
                      </a:pPr>
                      <a:r>
                        <a:rPr sz="1000" b="1">
                          <a:solidFill>
                            <a:srgbClr val="FFFFFF"/>
                          </a:solidFill>
                          <a:latin typeface="Helvetica"/>
                        </a:rPr>
                        <a:t>Analyse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Méthode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Documents nécessaires (PBC)</a:t>
                      </a:r>
                    </a:p>
                  </a:txBody>
                  <a:tcPr marL="43200" marR="43200" marT="14400" marB="14400" anchor="ctr">
                    <a:solidFill>
                      <a:srgbClr val="060606"/>
                    </a:solidFill>
                  </a:tcPr>
                </a:tc>
              </a:tr>
              <a:tr h="667238">
                <a:tc>
                  <a:txBody>
                    <a:bodyPr/>
                    <a:lstStyle/>
                    <a:p>
                      <a:pPr marL="0" indent="0" lvl="0">
                        <a:buNone/>
                      </a:pPr>
                      <a:r>
                        <a:rPr sz="1000" b="1">
                          <a:solidFill>
                            <a:srgbClr val="060606"/>
                          </a:solidFill>
                          <a:latin typeface="Helvetica"/>
                        </a:rPr>
                        <a:t>PSAP maladie et décès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Dossier par dossier et sinistres tardifs (méthode CIMA)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Bases de prestations avec dates de survenance, de déclaration et de paiement (71). Note de calcul et liste des dossiers provisionnés (72). Fichiers des décès et barème (92, 93). Circulaire n° 00230/CIMA/CRCA/PDT/2005 (reçue le 19/10/2026)</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Provision mathématique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Valeur actuelle des engagements (règlement d'exécution n° 004/2022, art. 11)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Règlements de l'EFC et du PEP (57). Règles de la garantie santé des retraités (79). Âges des mutualistes</a:t>
                      </a:r>
                    </a:p>
                  </a:txBody>
                  <a:tcPr marL="43200" marR="43200" marT="14400" marB="14400" anchor="ctr">
                    <a:solidFill>
                      <a:srgbClr val="F2F2F2"/>
                    </a:solidFill>
                  </a:tcPr>
                </a:tc>
              </a:tr>
              <a:tr h="514828">
                <a:tc>
                  <a:txBody>
                    <a:bodyPr/>
                    <a:lstStyle/>
                    <a:p>
                      <a:pPr marL="0" indent="0" lvl="0">
                        <a:buNone/>
                      </a:pPr>
                      <a:r>
                        <a:rPr sz="1000" b="1">
                          <a:solidFill>
                            <a:srgbClr val="060606"/>
                          </a:solidFill>
                          <a:latin typeface="Helvetica"/>
                        </a:rPr>
                        <a:t>Dépréciation des prêts du Grenier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Encours par tranche × taux du barème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État des impayés et politique de dépréciation (73). Politique de crédit et de recouvrement (74). Barème de la BCEAO pour les SFD (recherché par Adenka)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Flotte automobile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Dette des trop-perçus envers les adhérents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Convention avec GNA (68). Nature des mouvements du compte 47111106 (75)</a:t>
                      </a:r>
                    </a:p>
                  </a:txBody>
                  <a:tcPr marL="43200" marR="43200" marT="14400" marB="14400" anchor="ctr">
                    <a:solidFill>
                      <a:srgbClr val="F2F2F2"/>
                    </a:solidFill>
                  </a:tcPr>
                </a:tc>
              </a:tr>
              <a:tr h="514828">
                <a:tc>
                  <a:txBody>
                    <a:bodyPr/>
                    <a:lstStyle/>
                    <a:p>
                      <a:pPr marL="0" indent="0" lvl="0">
                        <a:buNone/>
                      </a:pPr>
                      <a:r>
                        <a:rPr sz="1000" b="1">
                          <a:solidFill>
                            <a:srgbClr val="060606"/>
                          </a:solidFill>
                          <a:latin typeface="Helvetica"/>
                        </a:rPr>
                        <a:t>Départ à la retraite du personnel</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Unités de crédit projetées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Fichier du personnel avec le statut civil ou policier (76, 103). Contrat type et convention appliquée (77, 104). Note de calcul du FPPN (78). Déclarations CNPS et fichiers de calcul (96 à 98)</a:t>
                      </a:r>
                    </a:p>
                  </a:txBody>
                  <a:tcPr marL="43200" marR="43200" marT="14400" marB="14400" anchor="ctr">
                    <a:solidFill>
                      <a:srgbClr val="FFFFFF"/>
                    </a:solidFill>
                  </a:tcPr>
                </a:tc>
              </a:tr>
            </a:tbl>
          </a:graphicData>
        </a:graphic>
      </p:graphicFrame>
      <p:sp>
        <p:nvSpPr>
          <p:cNvPr id="33" name="TextBox 32"/>
          <p:cNvSpPr txBox="1"/>
          <p:nvPr/>
        </p:nvSpPr>
        <p:spPr>
          <a:xfrm>
            <a:off x="503999" y="4305744"/>
            <a:ext cx="11232000" cy="162000"/>
          </a:xfrm>
          <a:prstGeom prst="rect">
            <a:avLst/>
          </a:prstGeom>
          <a:noFill/>
        </p:spPr>
        <p:txBody>
          <a:bodyPr wrap="square" anchor="t" lIns="54000" rIns="54000"/>
          <a:lstStyle/>
          <a:p>
            <a:pPr algn="l"/>
            <a:r>
              <a:rPr sz="850" b="0">
                <a:solidFill>
                  <a:srgbClr val="53565A"/>
                </a:solidFill>
                <a:latin typeface="Helvetica"/>
              </a:rPr>
              <a:t>Valable pour : demandes et constats au 22/10/2026.</a:t>
            </a:r>
          </a:p>
        </p:txBody>
      </p:sp>
      <p:sp>
        <p:nvSpPr>
          <p:cNvPr id="34" name="TextBox 33"/>
          <p:cNvSpPr txBox="1"/>
          <p:nvPr/>
        </p:nvSpPr>
        <p:spPr>
          <a:xfrm>
            <a:off x="503999" y="4593744"/>
            <a:ext cx="11232000" cy="1274256"/>
          </a:xfrm>
          <a:prstGeom prst="rect">
            <a:avLst/>
          </a:prstGeom>
          <a:noFill/>
        </p:spPr>
        <p:txBody>
          <a:bodyPr wrap="square" lIns="54000" rIns="54000"/>
          <a:lstStyle/>
          <a:p>
            <a:pPr algn="just">
              <a:spcAft>
                <a:spcPts val="600"/>
              </a:spcAft>
            </a:pPr>
            <a:r>
              <a:rPr sz="1300" b="1">
                <a:solidFill>
                  <a:srgbClr val="060606"/>
                </a:solidFill>
                <a:latin typeface="Helvetica"/>
              </a:rPr>
              <a:t>Les provisions sont le principal sujet en attente de la mission.</a:t>
            </a:r>
            <a:r>
              <a:rPr sz="1300" b="0">
                <a:solidFill>
                  <a:srgbClr val="060606"/>
                </a:solidFill>
                <a:latin typeface="Helvetica"/>
              </a:rPr>
              <a:t> Elles conditionnent le résultat de chaque garantie, la marge de solvabilité et la réserve obligatoire.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CIMA : Conférence interafricaine des marchés d'assurances | BCEAO : Banque centrale des États de l'Afrique de l'Ouest | PEP : Plan Épargne Plus | EFC : entraide fin de carrière | CNPS : Caisse nationale de prévoyance sociale | PSAP : provision pour sinistres à payer | SFD : systèmes financiers décentralisés | PBC : liste des documents demandés au client | GNA : assureur de la flotte automobile (compte 47111106)</a:t>
            </a:r>
          </a:p>
        </p:txBody>
      </p:sp>
    </p:spTree>
    <p:extLst>
      <p:ext uri="{BB962C8B-B14F-4D97-AF65-F5344CB8AC3E}">
        <p14:creationId xmlns:p14="http://schemas.microsoft.com/office/powerpoint/2010/main" val="3043751119"/>
      </p:ext>
    </p:extLst>
  </p:cSld>
  <p:clrMapOvr>
    <a:masterClrMapping/>
  </p:clrMapOvr>
  <p:transition>
    <p:fade/>
  </p:transition>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Points issus des entretiens du chef comptable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Six points relevés le 19/10/2026 demandent une confirmation écrite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point est repris dans la PBC complémentaire placements et provisions (items 80 à 99) et dans les relances des guides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(14h) avec M. Koffi, chef comptable (déclarations à confirmer par document. Entretien du 19/10/2026 (16h) avec M. Koffi, chef comptable (déclarations à confirmer par document)</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89 : Points à clarifier issus des entretiens du 19/10/2026 avec le chef comptable</a:t>
            </a:r>
          </a:p>
        </p:txBody>
      </p:sp>
      <p:graphicFrame>
        <p:nvGraphicFramePr>
          <p:cNvPr id="32" name="Table 31"/>
          <p:cNvGraphicFramePr>
            <a:graphicFrameLocks noGrp="1"/>
          </p:cNvGraphicFramePr>
          <p:nvPr/>
        </p:nvGraphicFramePr>
        <p:xfrm>
          <a:off x="503999" y="1655999"/>
          <a:ext cx="11231999" cy="1470063"/>
        </p:xfrm>
        <a:graphic>
          <a:graphicData uri="http://schemas.openxmlformats.org/drawingml/2006/table">
            <a:tbl>
              <a:tblPr firstRow="0" bandRow="0">
                <a:tableStyleId>{5940675A-B579-460E-94D1-54222C63F5DA}</a:tableStyleId>
              </a:tblPr>
              <a:tblGrid>
                <a:gridCol w="360000"/>
                <a:gridCol w="2808000"/>
                <a:gridCol w="8063999"/>
              </a:tblGrid>
              <a:tr h="210009">
                <a:tc>
                  <a:txBody>
                    <a:bodyPr/>
                    <a:lstStyle/>
                    <a:p>
                      <a:pPr marL="0" indent="0" lvl="0">
                        <a:buNone/>
                      </a:pPr>
                      <a:r>
                        <a:rPr sz="10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Point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Question au FPPN</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18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Allocations décès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Dans quel compte le calcul de fin d'année des allocations restant à payer est-il comptabilisé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19</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Barème décès des officiers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Quel est le montant de l'allocation décès d'un officier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Compte 10620000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 rapport de réévaluation du terrain du siège peut-il être transmis ? L'intitulé du compte parle de matériels.</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DAT BOA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Le DAT est-il un placement du FPPN ou un placement affecté à l'EFC, comme l'indique l'intitulé du compte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Commissions GNA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Sur quelle assiette la commission de 20 % est-elle calculée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23</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Provisions héritées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Quelle décision permettra de reprendre ou de justifier les provisions passées vers 2004 ?</a:t>
                      </a:r>
                    </a:p>
                  </a:txBody>
                  <a:tcPr marL="43200" marR="43200" marT="14400" marB="14400" anchor="ctr">
                    <a:solidFill>
                      <a:srgbClr val="F2F2F2"/>
                    </a:solidFill>
                  </a:tcPr>
                </a:tc>
              </a:tr>
            </a:tbl>
          </a:graphicData>
        </a:graphic>
      </p:graphicFrame>
      <p:sp>
        <p:nvSpPr>
          <p:cNvPr id="33" name="TextBox 32"/>
          <p:cNvSpPr txBox="1"/>
          <p:nvPr/>
        </p:nvSpPr>
        <p:spPr>
          <a:xfrm>
            <a:off x="503999" y="3144067"/>
            <a:ext cx="11232000" cy="162000"/>
          </a:xfrm>
          <a:prstGeom prst="rect">
            <a:avLst/>
          </a:prstGeom>
          <a:noFill/>
        </p:spPr>
        <p:txBody>
          <a:bodyPr wrap="square" anchor="t" lIns="54000" rIns="54000"/>
          <a:lstStyle/>
          <a:p>
            <a:pPr algn="l"/>
            <a:r>
              <a:rPr sz="850" b="0">
                <a:solidFill>
                  <a:srgbClr val="53565A"/>
                </a:solidFill>
                <a:latin typeface="Helvetica"/>
              </a:rPr>
              <a:t>Valable pour : demandes et constats au 22/10/2026.</a:t>
            </a:r>
          </a:p>
        </p:txBody>
      </p:sp>
      <p:sp>
        <p:nvSpPr>
          <p:cNvPr id="34" name="TextBox 33"/>
          <p:cNvSpPr txBox="1"/>
          <p:nvPr/>
        </p:nvSpPr>
        <p:spPr>
          <a:xfrm>
            <a:off x="503999" y="3432067"/>
            <a:ext cx="11232000" cy="2435932"/>
          </a:xfrm>
          <a:prstGeom prst="rect">
            <a:avLst/>
          </a:prstGeom>
          <a:noFill/>
        </p:spPr>
        <p:txBody>
          <a:bodyPr wrap="square" lIns="54000" rIns="54000"/>
          <a:lstStyle/>
          <a:p>
            <a:pPr algn="just">
              <a:spcAft>
                <a:spcPts val="600"/>
              </a:spcAft>
            </a:pPr>
            <a:r>
              <a:rPr sz="1300" b="1">
                <a:solidFill>
                  <a:srgbClr val="060606"/>
                </a:solidFill>
                <a:latin typeface="Helvetica"/>
              </a:rPr>
              <a:t>Les points 18 et 23 sont prioritaires</a:t>
            </a:r>
            <a:r>
              <a:rPr sz="1300" b="0">
                <a:solidFill>
                  <a:srgbClr val="060606"/>
                </a:solidFill>
                <a:latin typeface="Helvetica"/>
              </a:rPr>
              <a:t> : ils conditionnent le montant des provisions au bilan et donc le résultat et les fonds propres.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EFC : entraide fin de carrière | DAT : dépôt à terme | PBC : liste des documents demandés au client | GNA : assureur de la flotte automobile (compte 47111106)</a:t>
            </a:r>
          </a:p>
        </p:txBody>
      </p:sp>
    </p:spTree>
    <p:extLst>
      <p:ext uri="{BB962C8B-B14F-4D97-AF65-F5344CB8AC3E}">
        <p14:creationId xmlns:p14="http://schemas.microsoft.com/office/powerpoint/2010/main" val="2724109587"/>
      </p:ext>
    </p:extLst>
  </p:cSld>
  <p:clrMapOvr>
    <a:masterClrMapping/>
  </p:clrMapOvr>
  <p:transition>
    <p:fade/>
  </p:transition>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Points issus des documents du 22/10/2026</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Sept points demandent une réponse du FPPN, chacun repris dans la PBC</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Version des comptes 2023, clé de répartition avant mars 2024, taux servis, épargne présentée en Assemblée générale, personnel, retraités, chèques en suspens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documents reçus le 22/10/2026. FPPN_PBC_complete_pointee_20261022.xlsx</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90 : Points à clarifier issus des documents du 22/10/2026</a:t>
            </a:r>
          </a:p>
        </p:txBody>
      </p:sp>
      <p:graphicFrame>
        <p:nvGraphicFramePr>
          <p:cNvPr id="32" name="Table 31"/>
          <p:cNvGraphicFramePr>
            <a:graphicFrameLocks noGrp="1"/>
          </p:cNvGraphicFramePr>
          <p:nvPr/>
        </p:nvGraphicFramePr>
        <p:xfrm>
          <a:off x="503999" y="1655999"/>
          <a:ext cx="11232000" cy="2015376"/>
        </p:xfrm>
        <a:graphic>
          <a:graphicData uri="http://schemas.openxmlformats.org/drawingml/2006/table">
            <a:tbl>
              <a:tblPr firstRow="0" bandRow="0">
                <a:tableStyleId>{5940675A-B579-460E-94D1-54222C63F5DA}</a:tableStyleId>
              </a:tblPr>
              <a:tblGrid>
                <a:gridCol w="432000"/>
                <a:gridCol w="1800000"/>
                <a:gridCol w="5040000"/>
                <a:gridCol w="3960000"/>
              </a:tblGrid>
              <a:tr h="187148">
                <a:tc>
                  <a:txBody>
                    <a:bodyPr/>
                    <a:lstStyle/>
                    <a:p>
                      <a:pPr marL="0" indent="0" lvl="0">
                        <a:buNone/>
                      </a:pPr>
                      <a:r>
                        <a:rPr sz="85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Sujet</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Constat</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Demande (PBC)</a:t>
                      </a:r>
                    </a:p>
                  </a:txBody>
                  <a:tcPr marL="43200" marR="43200" marT="14400" marB="14400" anchor="ctr">
                    <a:solidFill>
                      <a:srgbClr val="060606"/>
                    </a:solidFill>
                  </a:tcPr>
                </a:tc>
              </a:tr>
              <a:tr h="316696">
                <a:tc>
                  <a:txBody>
                    <a:bodyPr/>
                    <a:lstStyle/>
                    <a:p>
                      <a:pPr marL="0" indent="0" lvl="0">
                        <a:buNone/>
                      </a:pPr>
                      <a:r>
                        <a:rPr sz="85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Comptes 2023 et 31/08/2026</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Deux versions des comptes 2023. Résultat au 31/08/2026 différent entre états financiers et balance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Version approuvée et explication des écarts (item 110)</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Clé maladie / décès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Autre clé que 3,77 / 1,23 en janvier et février 2024. Dix adhérents d'écart chaque mois de 2026</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Clé appliquée avant mars 2024 et liste des écarts (item 111)</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Taux servi sur l'épargne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3,5 %, 5,5 % ou 14 % selon le document. Aucune écriture d'intérêts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Décision fixant le taux et relevés individuels (item 99)</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Épargne en Assemblée générale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Le rapport de gestion 2025 présente la collecte de l'année comme l'épargne au 31/12/2025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Rapport rectifié avec le solde dû (item 112)</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Personnel</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Dates d'embauche modifiées dans la DISA 2025. Agents de plus de 55 ans en poste. Recrues de 2025 sans entité</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Âge de départ, dates, entités, enfants, note de calcul (item 113)</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Retraités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Cotisation des retraités souscripteurs absente de la convention IPS-CGRAE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Bulletin de souscription et barème (item 114)</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Chèques en suspens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Chèques émis depuis 2021 et non encaissés, en hausse chaque année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Liste et traitement des chèques périmés (item 91)</a:t>
                      </a:r>
                    </a:p>
                  </a:txBody>
                  <a:tcPr marL="43200" marR="43200" marT="14400" marB="14400" anchor="ctr">
                    <a:solidFill>
                      <a:srgbClr val="FFFFFF"/>
                    </a:solidFill>
                  </a:tcPr>
                </a:tc>
              </a:tr>
            </a:tbl>
          </a:graphicData>
        </a:graphic>
      </p:graphicFrame>
      <p:sp>
        <p:nvSpPr>
          <p:cNvPr id="33" name="TextBox 32"/>
          <p:cNvSpPr txBox="1"/>
          <p:nvPr/>
        </p:nvSpPr>
        <p:spPr>
          <a:xfrm>
            <a:off x="503999" y="3689377"/>
            <a:ext cx="11232000" cy="162000"/>
          </a:xfrm>
          <a:prstGeom prst="rect">
            <a:avLst/>
          </a:prstGeom>
          <a:noFill/>
        </p:spPr>
        <p:txBody>
          <a:bodyPr wrap="square" anchor="t" lIns="54000" rIns="54000"/>
          <a:lstStyle/>
          <a:p>
            <a:pPr algn="l"/>
            <a:r>
              <a:rPr sz="850" b="0">
                <a:solidFill>
                  <a:srgbClr val="53565A"/>
                </a:solidFill>
                <a:latin typeface="Helvetica"/>
              </a:rPr>
              <a:t>Valable pour : documents reçus le 22/10/2026.</a:t>
            </a:r>
          </a:p>
        </p:txBody>
      </p:sp>
      <p:sp>
        <p:nvSpPr>
          <p:cNvPr id="34" name="TextBox 33"/>
          <p:cNvSpPr txBox="1"/>
          <p:nvPr/>
        </p:nvSpPr>
        <p:spPr>
          <a:xfrm>
            <a:off x="503999" y="3977377"/>
            <a:ext cx="11232000" cy="1890622"/>
          </a:xfrm>
          <a:prstGeom prst="rect">
            <a:avLst/>
          </a:prstGeom>
          <a:noFill/>
        </p:spPr>
        <p:txBody>
          <a:bodyPr wrap="square" lIns="54000" rIns="54000"/>
          <a:lstStyle/>
          <a:p>
            <a:pPr algn="just">
              <a:spcAft>
                <a:spcPts val="600"/>
              </a:spcAft>
            </a:pPr>
            <a:r>
              <a:rPr sz="1300" b="1">
                <a:solidFill>
                  <a:srgbClr val="060606"/>
                </a:solidFill>
                <a:latin typeface="Helvetica"/>
              </a:rPr>
              <a:t>Les points 3 et 4 touchent directement l'évaluation de l'engagement d'épargne</a:t>
            </a:r>
            <a:r>
              <a:rPr sz="1300" b="0">
                <a:solidFill>
                  <a:srgbClr val="060606"/>
                </a:solidFill>
                <a:latin typeface="Helvetica"/>
              </a:rPr>
              <a:t>, la principale dette du FPPN envers ses adhérents.</a:t>
            </a:r>
          </a:p>
          <a:p>
            <a:pPr algn="just">
              <a:spcAft>
                <a:spcPts val="600"/>
              </a:spcAft>
            </a:pPr>
            <a:r>
              <a:rPr sz="1300" b="0">
                <a:solidFill>
                  <a:srgbClr val="060606"/>
                </a:solidFill>
                <a:latin typeface="Helvetica"/>
              </a:rPr>
              <a:t>Les réponses permettront de lever les réserves de la version 9 sur l'épargne et la provision du personnel.</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PBC : liste des documents demandés au client | DISA : déclaration individuelle des salaires annuels à la CNPS | IPS-CGRAE : Institution de prévoyance sociale - Caisse générale de retraite des agents de l'État</a:t>
            </a:r>
          </a:p>
        </p:txBody>
      </p:sp>
    </p:spTree>
    <p:extLst>
      <p:ext uri="{BB962C8B-B14F-4D97-AF65-F5344CB8AC3E}">
        <p14:creationId xmlns:p14="http://schemas.microsoft.com/office/powerpoint/2010/main" val="3296701968"/>
      </p:ext>
    </p:extLst>
  </p:cSld>
  <p:clrMapOvr>
    <a:masterClrMapping/>
  </p:clrMapOvr>
  <p:transition>
    <p:fade/>
  </p:transition>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Annexes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Méthodes, listes, abréviations, références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254861687"/>
      </p:ext>
    </p:extLst>
  </p:cSld>
  <p:clrMapOvr>
    <a:masterClrMapping/>
  </p:clrMapOvr>
  <p:transition>
    <p:fade/>
  </p:transition>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 lecture</a:t>
            </a:r>
          </a:p>
        </p:txBody>
      </p:sp>
      <p:sp>
        <p:nvSpPr>
          <p:cNvPr id="28" name="TextBox 27"/>
          <p:cNvSpPr txBox="1"/>
          <p:nvPr/>
        </p:nvSpPr>
        <p:spPr>
          <a:xfrm>
            <a:off x="503999" y="720000"/>
            <a:ext cx="11232000" cy="216000"/>
          </a:xfrm>
          <a:prstGeom prst="rect">
            <a:avLst/>
          </a:prstGeom>
          <a:noFill/>
        </p:spPr>
        <p:txBody>
          <a:bodyPr wrap="square" anchor="t" lIns="54000" rIns="54000"/>
          <a:lstStyle/>
          <a:p>
            <a:pPr algn="ctr"/>
            <a:r>
              <a:rPr sz="1200" b="0">
                <a:solidFill>
                  <a:srgbClr val="EFAC62"/>
                </a:solidFill>
                <a:latin typeface="Helvetica"/>
              </a:rPr>
              <a:t>Tableau 91 : Colonnes et statuts du tableau des formules</a:t>
            </a:r>
          </a:p>
        </p:txBody>
      </p:sp>
      <p:graphicFrame>
        <p:nvGraphicFramePr>
          <p:cNvPr id="29" name="Table 28"/>
          <p:cNvGraphicFramePr>
            <a:graphicFrameLocks noGrp="1"/>
          </p:cNvGraphicFramePr>
          <p:nvPr/>
        </p:nvGraphicFramePr>
        <p:xfrm>
          <a:off x="503999" y="990000"/>
          <a:ext cx="11232000" cy="1947680"/>
        </p:xfrm>
        <a:graphic>
          <a:graphicData uri="http://schemas.openxmlformats.org/drawingml/2006/table">
            <a:tbl>
              <a:tblPr firstRow="0" bandRow="0">
                <a:tableStyleId>{5940675A-B579-460E-94D1-54222C63F5DA}</a:tableStyleId>
              </a:tblPr>
              <a:tblGrid>
                <a:gridCol w="2520000"/>
                <a:gridCol w="8712000"/>
              </a:tblGrid>
              <a:tr h="194768">
                <a:tc>
                  <a:txBody>
                    <a:bodyPr/>
                    <a:lstStyle/>
                    <a:p>
                      <a:pPr marL="0" indent="0" lvl="0">
                        <a:buNone/>
                      </a:pPr>
                      <a:r>
                        <a:rPr sz="9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Signification</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Identifiant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F-partie-numéro : renvoie à la ligne du classeur, où figurent la formule détaillée, les données, l'écart chiffré, les risques et le calcul.</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Formule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Ce que calcule l'indicateur, en mots. La formule en comptes ou en colonnes est dans le classeur.</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Source de la méthode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Texte réglementaire (article ou paragraphe) ou, à défaut, référence technique.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Méthode du FPPN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Méthode du FPPN quand elle est connue. « Non communiquée » en rouge quand aucun calcul n'a été transmis.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Conforme au texte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La formule du texte est appliquée telle quelle.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Divergent, justifié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La formule diffère du texte. La raison et l'écart sont expliqués dans le rapport et dans le classeur.</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Sans texte applicable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 texte ne fixe la méthode. Une référence technique est citée.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En attente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calcul attend un document du FPPN (PBC).</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À apprécier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 texte ne fixe pas de norme chiffrée.</a:t>
                      </a:r>
                    </a:p>
                  </a:txBody>
                  <a:tcPr marL="43200" marR="43200" marT="14400" marB="14400" anchor="ctr">
                    <a:solidFill>
                      <a:srgbClr val="FFFFFF"/>
                    </a:solidFill>
                  </a:tcPr>
                </a:tc>
              </a:tr>
            </a:tbl>
          </a:graphicData>
        </a:graphic>
      </p:graphicFrame>
      <p:sp>
        <p:nvSpPr>
          <p:cNvPr id="30" name="TextBox 29"/>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a:t>
            </a:r>
          </a:p>
        </p:txBody>
      </p:sp>
      <p:sp>
        <p:nvSpPr>
          <p:cNvPr id="31" name="TextBox 30"/>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PBC : liste des documents demandés au client</a:t>
            </a:r>
          </a:p>
        </p:txBody>
      </p:sp>
    </p:spTree>
    <p:extLst>
      <p:ext uri="{BB962C8B-B14F-4D97-AF65-F5344CB8AC3E}">
        <p14:creationId xmlns:p14="http://schemas.microsoft.com/office/powerpoint/2010/main" val="2549233288"/>
      </p:ext>
    </p:extLst>
  </p:cSld>
  <p:clrMapOvr>
    <a:masterClrMapping/>
  </p:clrMapOvr>
  <p:transition>
    <p:fade/>
  </p:transition>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(F-03-01 à F-04-03)</a:t>
            </a:r>
          </a:p>
        </p:txBody>
      </p:sp>
      <p:graphicFrame>
        <p:nvGraphicFramePr>
          <p:cNvPr id="28" name="Table 27"/>
          <p:cNvGraphicFramePr>
            <a:graphicFrameLocks noGrp="1"/>
          </p:cNvGraphicFramePr>
          <p:nvPr/>
        </p:nvGraphicFramePr>
        <p:xfrm>
          <a:off x="503999" y="720000"/>
          <a:ext cx="11231998" cy="2963679"/>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F-03-01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précompte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 précompté (fichier retour) divisé par le montant demandé (fichier aller), sur les mois où les deux fichiers existent.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le FPPN ne rapproche pas les fichiers aller et retour (entretien du 19/10/2026)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F-03-02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Lignes de total écartées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Une ligne dont le montant égale la somme des autres lignes de la feuille, à 1 % près, est un total et non un mutualiste.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Pratique de contrôle des données (ISA 500, caractère probant des données)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 (contrôle des données)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F-03-03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Montants doublés corrigés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Un montant décès formé de deux moitiés identiques écrites à la suite est ramené à sa première moitié.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Pratique de contrôle des données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objet (contrôle des données)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F-04-01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Effectif cotisant du mois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Nombre de matricules distincts du fichier maladie 936 du mois.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Pratique statistique (comptage d'unités distinctes)</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545310">
                <a:tc>
                  <a:txBody>
                    <a:bodyPr/>
                    <a:lstStyle/>
                    <a:p>
                      <a:pPr marL="0" indent="0" lvl="0">
                        <a:buNone/>
                      </a:pPr>
                      <a:r>
                        <a:rPr sz="800" b="1">
                          <a:solidFill>
                            <a:srgbClr val="060606"/>
                          </a:solidFill>
                          <a:latin typeface="Helvetica"/>
                        </a:rPr>
                        <a:t>F-04-02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Entrées, sorties et fidélisation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Une entrée est un matricule présent un mois et absent le mois précédent, une sortie l'inverse. La fidélisation rapporte les matricules présents deux années de suite à ceux de l'année précédente.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667238">
                <a:tc>
                  <a:txBody>
                    <a:bodyPr/>
                    <a:lstStyle/>
                    <a:p>
                      <a:pPr marL="0" indent="0" lvl="0">
                        <a:buNone/>
                      </a:pPr>
                      <a:r>
                        <a:rPr sz="800" b="1">
                          <a:solidFill>
                            <a:srgbClr val="060606"/>
                          </a:solidFill>
                          <a:latin typeface="Helvetica"/>
                        </a:rPr>
                        <a:t>F-04-03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cotisation individuel</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Précompte maladie (ou décès) du mois divisé par le salaire de base du même mois, pour chaque agent.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Statuts ou décision du FPPN (à transmettre)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Solde : 3,77 % et 1,23 % (fichiers). Barème déclaré : 3,5 % et 1,5 % (entretien du 16/10/2026, à confirmer). Répartition renvoyée à la comptabilité (entretien du 19/10/2026)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936 : poste maladie</a:t>
            </a:r>
          </a:p>
        </p:txBody>
      </p:sp>
    </p:spTree>
    <p:extLst>
      <p:ext uri="{BB962C8B-B14F-4D97-AF65-F5344CB8AC3E}">
        <p14:creationId xmlns:p14="http://schemas.microsoft.com/office/powerpoint/2010/main" val="3400487092"/>
      </p:ext>
    </p:extLst>
  </p:cSld>
  <p:clrMapOvr>
    <a:masterClrMapping/>
  </p:clrMapOvr>
  <p:transition>
    <p:fade/>
  </p:transition>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(F-04-04 à F-05-01)</a:t>
            </a:r>
          </a:p>
        </p:txBody>
      </p:sp>
      <p:graphicFrame>
        <p:nvGraphicFramePr>
          <p:cNvPr id="28" name="Table 27"/>
          <p:cNvGraphicFramePr>
            <a:graphicFrameLocks noGrp="1"/>
          </p:cNvGraphicFramePr>
          <p:nvPr/>
        </p:nvGraphicFramePr>
        <p:xfrm>
          <a:off x="503999" y="720000"/>
          <a:ext cx="11231998" cy="2841752"/>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F-04-04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Clé comptable maladie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Part des cotisations maladie dans les cotisations maladie et décès, multipliée par 5 %.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Statuts ou décision du FPPN (à transmettre)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Clé propre à la comptabilité, non documentée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F-04-05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Sinistralité selon la clé de répartition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Prestations maladie divisées par les cotisations totales multipliées par la part maladie de la clé retenue.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Divergent, justifié</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F-04-06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Valeur réelle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Valeur nominale multipliée par 100 et divisée par l'indice des prix de l'année (base 100 en 2020).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Pratique de comptabilité nationale (déflation par un indice des prix)</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F-04-07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croissance annuel moyen (TCAM)</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constant qui mène de la valeur de départ à la valeur d'arrivée en n années.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Pratique statistique (moyenne géométrique)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F-04-08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Tendance et intervalle de confiance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Droite des moindres carrés ajustée sur la série, avec un intervalle de confiance à 95 % sur la pente et un test de Student.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Statistique classique (régression linéaire, loi de Student)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FFFFF"/>
                    </a:solidFill>
                  </a:tcPr>
                </a:tc>
              </a:tr>
              <a:tr h="789166">
                <a:tc>
                  <a:txBody>
                    <a:bodyPr/>
                    <a:lstStyle/>
                    <a:p>
                      <a:pPr marL="0" indent="0" lvl="0">
                        <a:buNone/>
                      </a:pPr>
                      <a:r>
                        <a:rPr sz="800" b="1">
                          <a:solidFill>
                            <a:srgbClr val="060606"/>
                          </a:solidFill>
                          <a:latin typeface="Helvetica"/>
                        </a:rPr>
                        <a:t>F-05-01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sinistralité réglementaire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Charges de prestations, provisions comprises, divisées par les cotisations acquises, provisions sur cotisations comprises.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Communiquée le 22/10/2026 (ETUDE DES RATIO MALADIE DECES 2.xlsx, feuille Notes) : prestations payées / cotisations payées, sans provisions. Taux global : 1 401 506 033 / 1 785 560 424 = 78,49 % au 30/06/2026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TCAM : taux de croissance annuel moyen</a:t>
            </a:r>
          </a:p>
        </p:txBody>
      </p:sp>
    </p:spTree>
    <p:extLst>
      <p:ext uri="{BB962C8B-B14F-4D97-AF65-F5344CB8AC3E}">
        <p14:creationId xmlns:p14="http://schemas.microsoft.com/office/powerpoint/2010/main" val="1418386560"/>
      </p:ext>
    </p:extLst>
  </p:cSld>
  <p:clrMapOvr>
    <a:masterClrMapping/>
  </p:clrMapOvr>
  <p:transition>
    <p:fade/>
  </p:transition>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(F-05-02 à F-06-01)</a:t>
            </a:r>
          </a:p>
        </p:txBody>
      </p:sp>
      <p:graphicFrame>
        <p:nvGraphicFramePr>
          <p:cNvPr id="28" name="Table 27"/>
          <p:cNvGraphicFramePr>
            <a:graphicFrameLocks noGrp="1"/>
          </p:cNvGraphicFramePr>
          <p:nvPr/>
        </p:nvGraphicFramePr>
        <p:xfrm>
          <a:off x="503999" y="720000"/>
          <a:ext cx="11231998" cy="3573317"/>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911093">
                <a:tc>
                  <a:txBody>
                    <a:bodyPr/>
                    <a:lstStyle/>
                    <a:p>
                      <a:pPr marL="0" indent="0" lvl="0">
                        <a:buNone/>
                      </a:pPr>
                      <a:r>
                        <a:rPr sz="800" b="1">
                          <a:solidFill>
                            <a:srgbClr val="060606"/>
                          </a:solidFill>
                          <a:latin typeface="Helvetica"/>
                        </a:rPr>
                        <a:t>F-05-02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Sinistralité maladie par garantie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Prestations maladie comptabilisées divisées par les cotisations maladie comptabilisées de la même année.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 1.1.1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Communiquée le 22/10/2026 (ETUDE DES RATIO MALADIE DECES 2.xlsx, feuille Notes) : prestations payées / cotisations payées, sans provisions. Maladie : 1 345 906 033 / 1 356 344 706 = 99,23 % au 30/06/2026 (la note écrit aussi 107 %)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Divergent, justifié</a:t>
                      </a:r>
                    </a:p>
                  </a:txBody>
                  <a:tcPr marL="43200" marR="43200" marT="14400" marB="14400" anchor="ctr">
                    <a:solidFill>
                      <a:srgbClr val="FFFFFF"/>
                    </a:solidFill>
                  </a:tcPr>
                </a:tc>
              </a:tr>
              <a:tr h="1033021">
                <a:tc>
                  <a:txBody>
                    <a:bodyPr/>
                    <a:lstStyle/>
                    <a:p>
                      <a:pPr marL="0" indent="0" lvl="0">
                        <a:buNone/>
                      </a:pPr>
                      <a:r>
                        <a:rPr sz="800" b="1">
                          <a:solidFill>
                            <a:srgbClr val="060606"/>
                          </a:solidFill>
                          <a:latin typeface="Helvetica"/>
                        </a:rPr>
                        <a:t>F-05-03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Sinistralité décès par garantie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Prestations décès (capitaux, allocations, frais funéraires) divisées par les cotisations décès.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 1.1.1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Communiquée le 22/10/2026 (ETUDE DES RATIO MALADIE DECES 2.xlsx, feuille Notes) : prestations payées / cotisations payées, sans provisions. Décès : 55 600 000 / 429 215 718 = 12,95 % au 30/06/2026 (la note écrit aussi 19,66 %). Montants identiques aux comptes de 2022 à 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Divergent, justifié</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F-05-04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Sinistralité sans MEDOC et sans bons de prise en charge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Variantes du taux réglementaire : cotisations MEDOC retirées du dénominateur, ou bons de prise en charge et bons de caisse retirés du numérateur.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Divergent, justifié</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F-05-05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frais de gestion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Frais de gestion (comptes 61 à 66, hors prime d'assurance décès) divisés par les cotisations maladie et décès.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Divergent, justifié</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F-05-06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Résultat net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Produits moins charges, plus le résultat hors activités ordinaires.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PCMS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Résultat des balances du FPPN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F-06-01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Dette d'épargne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Somme des comptes PEP et EFC dus aux mutualistes.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Règlement d'exécution n° 004/2022/COM/UEMOA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Comptes de dettes du FPPN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PEP : Plan Épargne Plus | EFC : entraide fin de carrière | MEDOC : produit santé complémentaire du poste 8Z7</a:t>
            </a:r>
          </a:p>
        </p:txBody>
      </p:sp>
    </p:spTree>
    <p:extLst>
      <p:ext uri="{BB962C8B-B14F-4D97-AF65-F5344CB8AC3E}">
        <p14:creationId xmlns:p14="http://schemas.microsoft.com/office/powerpoint/2010/main" val="585532404"/>
      </p:ext>
    </p:extLst>
  </p:cSld>
  <p:clrMapOvr>
    <a:masterClrMapping/>
  </p:clrMapOvr>
  <p:transition>
    <p:fade/>
  </p:transition>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(F-06-02 à F-07-04)</a:t>
            </a:r>
          </a:p>
        </p:txBody>
      </p:sp>
      <p:graphicFrame>
        <p:nvGraphicFramePr>
          <p:cNvPr id="28" name="Table 27"/>
          <p:cNvGraphicFramePr>
            <a:graphicFrameLocks noGrp="1"/>
          </p:cNvGraphicFramePr>
          <p:nvPr/>
        </p:nvGraphicFramePr>
        <p:xfrm>
          <a:off x="503999" y="720000"/>
          <a:ext cx="11231998" cy="2110185"/>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F-06-02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Couverture de l'épargne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Actifs réservés à l'épargne divisés par la dette d'épargne.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F-06-03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Sensibilité aux retraits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Part de l'épargne qui peut être retirée avant d'épuiser la trésorerie ou les actifs réservés.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Pratique de gestion actif-passif (test de résistance)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F-07-01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Portefeuille en retard (PAR30, PAR90)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Encours des prêts en retard de plus de 30 (ou 90) jours divisé par l'encours total.</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BCEAO, instruction applicable aux SFD (texte à transmettre)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F-07-02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Intervalle de Wilson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Encadrement à 95 % de la proportion de prêts en retard.</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Statistique classique (Wilson, 1927)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F-07-03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Dépréciation des prêts en retard</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Encours de chaque tranche de retard multiplié par le taux de dépréciation de la tranche, puis additionné.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PCMS. BCEAO (instruction SFD, à transmettre)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Aucune dépréciation passée depuis 2022 (compte 49 non mouvementé)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F-07-04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Précomptes rapportés aux échéances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Montant précompté au poste 9X4 divisé par les échéances dues des prêts en cours.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Rapprochement de sources (pratique d'audit)</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PCMS : plan comptable des mutuelles sociales | BCEAO : Banque centrale des États de l'Afrique de l'Ouest | PAR30 : part de l'encours en retard de plus de 30 jours | SFD : systèmes financiers décentralisés | 9X4 : poste Grenier</a:t>
            </a:r>
          </a:p>
        </p:txBody>
      </p:sp>
    </p:spTree>
    <p:extLst>
      <p:ext uri="{BB962C8B-B14F-4D97-AF65-F5344CB8AC3E}">
        <p14:creationId xmlns:p14="http://schemas.microsoft.com/office/powerpoint/2010/main" val="1919735030"/>
      </p:ext>
    </p:extLst>
  </p:cSld>
  <p:clrMapOvr>
    <a:masterClrMapping/>
  </p:clrMapOvr>
  <p:transition>
    <p:fade/>
  </p:transition>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(F-09-01 à F-09-06)</a:t>
            </a:r>
          </a:p>
        </p:txBody>
      </p:sp>
      <p:graphicFrame>
        <p:nvGraphicFramePr>
          <p:cNvPr id="28" name="Table 27"/>
          <p:cNvGraphicFramePr>
            <a:graphicFrameLocks noGrp="1"/>
          </p:cNvGraphicFramePr>
          <p:nvPr/>
        </p:nvGraphicFramePr>
        <p:xfrm>
          <a:off x="503999" y="720000"/>
          <a:ext cx="11231998" cy="3207534"/>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545310">
                <a:tc>
                  <a:txBody>
                    <a:bodyPr/>
                    <a:lstStyle/>
                    <a:p>
                      <a:pPr marL="0" indent="0" lvl="0">
                        <a:buNone/>
                      </a:pPr>
                      <a:r>
                        <a:rPr sz="800" b="1">
                          <a:solidFill>
                            <a:srgbClr val="060606"/>
                          </a:solidFill>
                          <a:latin typeface="Helvetica"/>
                        </a:rPr>
                        <a:t>F-09-01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PSAP en mois de prestations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 pour sinistres à payer divisée par les prestations mensuelles moyennes de l'année.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Règlement d'exécution n° 004/2022/COM/UEMOA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Aucune provision maladie calculée. Montants hérités d'environ 2004, jamais recalculés (chef comptable, 19/10/2026, à confirmer)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545310">
                <a:tc>
                  <a:txBody>
                    <a:bodyPr/>
                    <a:lstStyle/>
                    <a:p>
                      <a:pPr marL="0" indent="0" lvl="0">
                        <a:buNone/>
                      </a:pPr>
                      <a:r>
                        <a:rPr sz="800" b="1">
                          <a:solidFill>
                            <a:srgbClr val="060606"/>
                          </a:solidFill>
                          <a:latin typeface="Helvetica"/>
                        </a:rPr>
                        <a:t>F-09-02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PSAP et dettes envers les cliniques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 maladie comparée aux factures des cliniques déjà enregistrées et non payées.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Règlement d'exécution n° 004/2022/COM/UEMOA. PCMS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Aucune provision maladie calculée. Montants hérités d'environ 2004, jamais recalculés (chef comptable, 19/10/2026, à confirmer)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F-09-03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Sinistres tardifs (méthode CIMA)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Coefficients de déclaration tardive observés, multipliés par les sinistres déclarés l'année de survenance et par le coût moyen.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Code CIMA (référence technique, texte à transmettre)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F-09-04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 mathématique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Valeur actuelle des prestations promises moins valeur actuelle des cotisations futures.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Règlement d'exécution n° 004/2022/COM/UEMOA, art. 11. Code CIMA, art. 338 (tables, taux de 3,5 %)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Aucune provision mathématique au bilan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F-09-05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 pour risques en cours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Coût des risques entre la date d'inventaire et la prochaine échéance de cotisation.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Règlement d'exécution n° 004/2022/COM/UEMOA, art.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Aucune provision pour risques en cours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667238">
                <a:tc>
                  <a:txBody>
                    <a:bodyPr/>
                    <a:lstStyle/>
                    <a:p>
                      <a:pPr marL="0" indent="0" lvl="0">
                        <a:buNone/>
                      </a:pPr>
                      <a:r>
                        <a:rPr sz="800" b="1">
                          <a:solidFill>
                            <a:srgbClr val="060606"/>
                          </a:solidFill>
                          <a:latin typeface="Helvetica"/>
                        </a:rPr>
                        <a:t>F-09-06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Indemnités de départ à la retraite du personnel</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Somme, pour chaque salarié, de l'indemnité prévue par la convention collective à son départ, pondérée par la probabilité d'être présent et actualisée, au prorata de l'ancienneté acquise.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Décret n° 2017-210, art. 4 et 5. Convention collective du 19/07/1977, art. 40. IAS 19, § 67, 83 et 145 (bonne pratique)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Convention collective appliquée à l'ancienneté acquise. Provision reprise et dotée en totalité chaque année (chef comptable, 19/10/2026). Proche des droits acquis recalculés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Divergent, justifié</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CIMA : Conférence interafricaine des marchés d'assurances | PSAP : provision pour sinistres à payer | IAS, IFRS : normes comptables internationales</a:t>
            </a:r>
          </a:p>
        </p:txBody>
      </p:sp>
    </p:spTree>
    <p:extLst>
      <p:ext uri="{BB962C8B-B14F-4D97-AF65-F5344CB8AC3E}">
        <p14:creationId xmlns:p14="http://schemas.microsoft.com/office/powerpoint/2010/main" val="2957009001"/>
      </p:ext>
    </p:extLst>
  </p:cSld>
  <p:clrMapOvr>
    <a:masterClrMapping/>
  </p:clrMapOvr>
  <p:transition>
    <p:fade/>
  </p:transition>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(F-09-10 à F-09-09)</a:t>
            </a:r>
          </a:p>
        </p:txBody>
      </p:sp>
      <p:graphicFrame>
        <p:nvGraphicFramePr>
          <p:cNvPr id="28" name="Table 27"/>
          <p:cNvGraphicFramePr>
            <a:graphicFrameLocks noGrp="1"/>
          </p:cNvGraphicFramePr>
          <p:nvPr/>
        </p:nvGraphicFramePr>
        <p:xfrm>
          <a:off x="503999" y="720000"/>
          <a:ext cx="11231998" cy="2475968"/>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667238">
                <a:tc>
                  <a:txBody>
                    <a:bodyPr/>
                    <a:lstStyle/>
                    <a:p>
                      <a:pPr marL="0" indent="0" lvl="0">
                        <a:buNone/>
                      </a:pPr>
                      <a:r>
                        <a:rPr sz="800" b="1">
                          <a:solidFill>
                            <a:srgbClr val="060606"/>
                          </a:solidFill>
                          <a:latin typeface="Helvetica"/>
                        </a:rPr>
                        <a:t>F-09-10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Allocations décès restant à payer (méthode du FPPN)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Décès de l'année dont l'allocation n'est pas payée, valorisés au barème par grade.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Règlement d'exécution n° 004/2022/COM/UEMOA, art. 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Liste des décès moins allocations payées, valorisée au barème (chef comptable, 19/10/2026, à confirmer). Compte de comptabilisation non précisé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F-09-07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Adossement par échéance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Actif mobilisable dans chaque tranche de délai comparé au passif exigible dans la même tranche.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Pratique de gestion actif-passif</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F-09-11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Couverture des engagements connus selon le scénario</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Actif retenu dans le scénario divisé par les engagements connus (passif à moins d'un an et épargne).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Règlement d'exécution n° 004/2022/COM/UEMOA, art. 20. PCMS</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F-09-12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Sorties d'épargne observées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Débits annuels des comptes d'épargne PEP et EFC, utilisés comme ordre de grandeur des sorties futures.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Règlement d'exécution n° 004/2022/COM/UEMOA, art. 19 et 21</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F-09-08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Réserves, report à nouveau, pertes reportées et résultat de l'exercice.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PCMS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Fonds propres des balances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F-09-09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Rendement des placements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Produits financiers divisés par les placements moyens de l'année.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PEP : Plan Épargne Plus | EFC : entraide fin de carrière</a:t>
            </a:r>
          </a:p>
        </p:txBody>
      </p:sp>
    </p:spTree>
    <p:extLst>
      <p:ext uri="{BB962C8B-B14F-4D97-AF65-F5344CB8AC3E}">
        <p14:creationId xmlns:p14="http://schemas.microsoft.com/office/powerpoint/2010/main" val="3113287761"/>
      </p:ext>
    </p:extLst>
  </p:cSld>
  <p:clrMapOvr>
    <a:masterClrMapping/>
  </p:clrMapOvr>
  <p:transition>
    <p:fade/>
  </p:transition>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(F-10-01 à F-10-06)</a:t>
            </a:r>
          </a:p>
        </p:txBody>
      </p:sp>
      <p:graphicFrame>
        <p:nvGraphicFramePr>
          <p:cNvPr id="28" name="Table 27"/>
          <p:cNvGraphicFramePr>
            <a:graphicFrameLocks noGrp="1"/>
          </p:cNvGraphicFramePr>
          <p:nvPr/>
        </p:nvGraphicFramePr>
        <p:xfrm>
          <a:off x="503999" y="720000"/>
          <a:ext cx="11231998" cy="2963680"/>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F-10-01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sinistralité (SIN)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Charges de prestations (avec provisions) / Cotisations acquises.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5 et § 1.2.1.2.5</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545310">
                <a:tc>
                  <a:txBody>
                    <a:bodyPr/>
                    <a:lstStyle/>
                    <a:p>
                      <a:pPr marL="0" indent="0" lvl="0">
                        <a:buNone/>
                      </a:pPr>
                      <a:r>
                        <a:rPr sz="800" b="1">
                          <a:solidFill>
                            <a:srgbClr val="060606"/>
                          </a:solidFill>
                          <a:latin typeface="Helvetica"/>
                        </a:rPr>
                        <a:t>F-10-02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Marge de solvabilité disponible / exigée (MSE)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(Réserve obligatoire + fonds d'établissement + réserves libres + droits d'adhésion + dons et legs) / max(18 % des cotisations acquises n-1. 26 % des prestations maladie moyennes des 3 derniers exercices).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 1.1.1 (fonds d'établissement). Règlement d'exécution n° 004/2022/COM/UEMOA, art. 23</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F-10-03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 de réserve obligatoire (ROB)</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Réserves obligatoires x 12 / Charges de prestations.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10 et § 1.2.2.5.4</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F-10-04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 des fonds propres et assimilés (FEP)</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Fonds propres et assimilés / Dettes (y compris provisions techniques).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9 et § 1.2.2.5.3</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F-10-05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 de liquidité (LIQ)</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Trésorerie actif / (Dettes à court terme + variation des provisions techniques).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8 et § 1.2.2.5.2</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F-10-06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 d'équilibre stable (EQS)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Emplois moyens et longs / Ressources moyennes et longues.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1, ligne 11 et § 1.2.3.1</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713715122"/>
      </p:ext>
    </p:extLst>
  </p:cSld>
  <p:clrMapOvr>
    <a:masterClrMapping/>
  </p:clrMapOvr>
  <p:transition>
    <p:fade/>
  </p:transition>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(F-10-07 à F-10-12)</a:t>
            </a:r>
          </a:p>
        </p:txBody>
      </p:sp>
      <p:graphicFrame>
        <p:nvGraphicFramePr>
          <p:cNvPr id="28" name="Table 27"/>
          <p:cNvGraphicFramePr>
            <a:graphicFrameLocks noGrp="1"/>
          </p:cNvGraphicFramePr>
          <p:nvPr/>
        </p:nvGraphicFramePr>
        <p:xfrm>
          <a:off x="503999" y="720000"/>
          <a:ext cx="11231998" cy="2597897"/>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F-10-07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 d'autonomie financière (AUT)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Cotisations acquises / Total des charges.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9 et § 1.2.2.5.1</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F-10-08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d'excédent net (EXN)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Excédent net de l'exercice / Cotisations acquises.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10 et § 1.2.2.5.5</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F-10-09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financement propre (TFP)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Total des produits avant subventions / Total des charges.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11 et § 1.2.3.2</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 de solvabilité de la branche épargne (risques longs) (RL1)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Actifs admis / Engagements réglementés.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section II, § 2.1</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F-10-11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 de trésorerie à échéance (risques longs) (RL2)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(Valeurs réalisables + disponibles) / Dettes à court terme.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section II, § 2.2</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F-10-12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 de trésorerie immédiate (risques longs) (RL3)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Valeurs disponibles / Dettes à court terme.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section II, § 2.3</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367581943"/>
      </p:ext>
    </p:extLst>
  </p:cSld>
  <p:clrMapOvr>
    <a:masterClrMapping/>
  </p:clrMapOvr>
  <p:transition>
    <p:fade/>
  </p:transition>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(F-10-13 à F-10-18)</a:t>
            </a:r>
          </a:p>
        </p:txBody>
      </p:sp>
      <p:graphicFrame>
        <p:nvGraphicFramePr>
          <p:cNvPr id="28" name="Table 27"/>
          <p:cNvGraphicFramePr>
            <a:graphicFrameLocks noGrp="1"/>
          </p:cNvGraphicFramePr>
          <p:nvPr/>
        </p:nvGraphicFramePr>
        <p:xfrm>
          <a:off x="503999" y="720000"/>
          <a:ext cx="11231998" cy="2597897"/>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F-10-13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Réserve de trésorerie des risques longs (un trimestre d'engagements et de frais) (RL4)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Réserve de trésorerie constituée / (sorties d'épargne + frais de fonctionnement au prorata) / 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Règlement d'exécution n° 004/2022/COM/UEMOA, art. 19, alinéa 3</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F-10-14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Fonds propres / prestations des risques longs des deux derniers exercices (RL5)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Fonds propres / sorties d'épargne des exercices n et n-1.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Règlement d'exécution n° 004/2022/COM/UEMOA, art. 21</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F-10-15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brut de rentabilité des placements (RL6)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Intérêts perçus / Capital investi.</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section II, § 2.4</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À apprécier</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F-10-16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Solde moyen des comptes courants non rémunérés (RL7)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Somme des soldes des comptes courants / nombre de comptes.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section II, § 2.5</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À apprécier</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F-10-17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des charges de fonctionnement (CHF)</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Charges de fonctionnement / Cotisations acquises.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2 et § 1.2.1.2.1</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F-10-18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des charges de fonctionnement brut (CHB)</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Charges de fonctionnement brut / Total des produits.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1, ligne 3 et § 1.2.1.2.2</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2032580736"/>
      </p:ext>
    </p:extLst>
  </p:cSld>
  <p:clrMapOvr>
    <a:masterClrMapping/>
  </p:clrMapOvr>
  <p:transition>
    <p:fade/>
  </p:transition>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(F-10-19 à F-10-24)</a:t>
            </a:r>
          </a:p>
        </p:txBody>
      </p:sp>
      <p:graphicFrame>
        <p:nvGraphicFramePr>
          <p:cNvPr id="28" name="Table 27"/>
          <p:cNvGraphicFramePr>
            <a:graphicFrameLocks noGrp="1"/>
          </p:cNvGraphicFramePr>
          <p:nvPr/>
        </p:nvGraphicFramePr>
        <p:xfrm>
          <a:off x="503999" y="720000"/>
          <a:ext cx="11231998" cy="2841753"/>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F-10-19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Coût par unité monétaire prestée (CUP)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Charges de fonctionnement / Charges de prestations.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5 et § 1.2.1.2.3</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F-10-20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charges de personnel (CHP)</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Charges de personnel / Charges de fonctionnement brut.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1, ligne 4 et § 1.2.1.2.4</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F-10-21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recouvrement des cotisations (REC)</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Cotisations recouvrées / Cotisations émises.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13 et § 1.2.2.3.1</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fidélisation (FID)</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Renouvellements d'adhésion n / Adhérents n-1.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4 et § 1.2.1.1.4</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F-10-23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Délai moyen de paiement des prestataires de soins (DPP)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Dettes envers les prestataires x 365 / Prestations prises en charge.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7 et § 1.2.2.3.2</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À apprécier</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F-10-24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d'investissement brut en formation (FOR)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Coût total de formation / Total des produits.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6 et § 1.2.2.1.1.2</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664148554"/>
      </p:ext>
    </p:extLst>
  </p:cSld>
  <p:clrMapOvr>
    <a:masterClrMapping/>
  </p:clrMapOvr>
  <p:transition>
    <p:fade/>
  </p:transition>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(F-10-25 à F-10-30)</a:t>
            </a:r>
          </a:p>
        </p:txBody>
      </p:sp>
      <p:graphicFrame>
        <p:nvGraphicFramePr>
          <p:cNvPr id="28" name="Table 27"/>
          <p:cNvGraphicFramePr>
            <a:graphicFrameLocks noGrp="1"/>
          </p:cNvGraphicFramePr>
          <p:nvPr/>
        </p:nvGraphicFramePr>
        <p:xfrm>
          <a:off x="503999" y="720000"/>
          <a:ext cx="11231998" cy="2475969"/>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F-10-25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croissance brute des bénéficiaires (CRB)</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(Bénéficiaires n - n-1) / Bénéficiaires n-1.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1</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À apprécier</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F-10-26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 bénéficiaire-adhérent (RBA)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Bénéficiaires / Adhérents.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2</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F-10-27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pénétration (PEN)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Bénéficiaires / Population cible.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3</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F-10-28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prestations indues (IND)</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Prestations indûment payées / Prestations payées.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12 et § 1.2.2.3.3</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F-10-29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 de contrôle a posteriori (CAP)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Factures contrôlées / Factures traitées.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 1.2.2.4 et section II, § 2.9</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F-10-30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Délai de liquidation des premières demandes (risques longs) (DLQ)</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Durée maximale de liquidation.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section II, § 2.7</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2659706071"/>
      </p:ext>
    </p:extLst>
  </p:cSld>
  <p:clrMapOvr>
    <a:masterClrMapping/>
  </p:clrMapOvr>
  <p:transition>
    <p:fade/>
  </p:transition>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(F-10-31 à F-10-36)</a:t>
            </a:r>
          </a:p>
        </p:txBody>
      </p:sp>
      <p:graphicFrame>
        <p:nvGraphicFramePr>
          <p:cNvPr id="28" name="Table 27"/>
          <p:cNvGraphicFramePr>
            <a:graphicFrameLocks noGrp="1"/>
          </p:cNvGraphicFramePr>
          <p:nvPr/>
        </p:nvGraphicFramePr>
        <p:xfrm>
          <a:off x="503999" y="720000"/>
          <a:ext cx="11231998" cy="2597897"/>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F-10-31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Restes à traiter en fin de période (risques longs) (RAT)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Dossiers en instance / Dossiers reçus.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section II, § 2.8</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F-10-32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Délai de remise en banque des titres de paiement (risques longs) (DRB)</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Délai de dépôt.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section II, § 2.6</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F-10-33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règlement de la cotisation au Fonds national de garantie (FNG)</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 payé à l'échéance / Cotisation due.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1. Règlement n° 07/2009, art. 63</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F-10-34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tenue des réunions des organes (TTR)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Réunions tenues / Réunions statutaires.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1, ligne 6</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F-10-35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Existence et tenue des outils de suivi administratif (OSA)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Contrôle sur place et sur pièce.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7</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F-10-36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Existence et tenue des outils de suivi comptable et financier (OSF)</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Contrôle sur place et sur pièce.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1, ligne 8</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FNG : fonds national de garantie</a:t>
            </a:r>
          </a:p>
        </p:txBody>
      </p:sp>
    </p:spTree>
    <p:extLst>
      <p:ext uri="{BB962C8B-B14F-4D97-AF65-F5344CB8AC3E}">
        <p14:creationId xmlns:p14="http://schemas.microsoft.com/office/powerpoint/2010/main" val="2360579902"/>
      </p:ext>
    </p:extLst>
  </p:cSld>
  <p:clrMapOvr>
    <a:masterClrMapping/>
  </p:clrMapOvr>
  <p:transition>
    <p:fade/>
  </p:transition>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(F-10-90 à F-10-95)</a:t>
            </a:r>
          </a:p>
        </p:txBody>
      </p:sp>
      <p:graphicFrame>
        <p:nvGraphicFramePr>
          <p:cNvPr id="28" name="Table 27"/>
          <p:cNvGraphicFramePr>
            <a:graphicFrameLocks noGrp="1"/>
          </p:cNvGraphicFramePr>
          <p:nvPr/>
        </p:nvGraphicFramePr>
        <p:xfrm>
          <a:off x="503999" y="720000"/>
          <a:ext cx="11231998" cy="2354041"/>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F-10-90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Excédent par risque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Cotisations du risque moins ses prestations et sa part des frais, répartie au prorata des cotisations.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 1.1.1</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Divergent, justifié</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F-10-91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Affectation de l'excédent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Dotation à la réserve obligatoire comparée au minimum exigé.</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F-10-92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 à combler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 qui ramène le ratio sur la borne la plus proche du texte, les autres termes restant inchangés.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IAS 19, § 145</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F-10-93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Qualification des écarts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Structurel si le ratio est non conforme toutes les années mesurées. Récurrent s'il l'est au moins deux exercices de 2022 à 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Règlement n° 07/2009, art. 84</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F-10-94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 d'équilibre d'un levier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 du levier (cotisations, prestations, charges, réserve, placements, fonds propres) qui ramène un ratio sur sa borne.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Statuts du FPPN. IAS 19, § 145</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F-10-95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Effet d'un choc de 100 000 000 FCFA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Sens de l'effet d'un choc enregistré en partie double sur chaque ratio de l'exercice de référence.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IFRS 17, § 128. IAS 19, § 145</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IAS, IFRS : normes comptables internationales</a:t>
            </a:r>
          </a:p>
        </p:txBody>
      </p:sp>
    </p:spTree>
    <p:extLst>
      <p:ext uri="{BB962C8B-B14F-4D97-AF65-F5344CB8AC3E}">
        <p14:creationId xmlns:p14="http://schemas.microsoft.com/office/powerpoint/2010/main" val="3334288739"/>
      </p:ext>
    </p:extLst>
  </p:cSld>
  <p:clrMapOvr>
    <a:masterClrMapping/>
  </p:clrMapOvr>
  <p:transition>
    <p:fade/>
  </p:transition>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(F-10-96 à F-11-03)</a:t>
            </a:r>
          </a:p>
        </p:txBody>
      </p:sp>
      <p:graphicFrame>
        <p:nvGraphicFramePr>
          <p:cNvPr id="28" name="Table 27"/>
          <p:cNvGraphicFramePr>
            <a:graphicFrameLocks noGrp="1"/>
          </p:cNvGraphicFramePr>
          <p:nvPr/>
        </p:nvGraphicFramePr>
        <p:xfrm>
          <a:off x="503999" y="720000"/>
          <a:ext cx="11231998" cy="2354514"/>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F-10-96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Faisabilité conjointe des normes de flux</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Les autres éléments du résultat doivent être une charge d'au moins 3 % des cotisations pour respecter ensemble sinistralité, coût par unité prestée et excédent net.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F-10-97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Inflation médicale pondérée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Moyenne des variations annuelles des sous-indices de prix de la santé, pondérée par les prestations maladie du FPPN de 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ANStat. BCEAO</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F-10-98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Rendement comparé au marché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brut de rentabilité des placements comparé au taux moyen des dépôts à terme de Côte d'Ivoire. Produit possible du solde non rémunéré.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BCEAO</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F-11-01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Espérance de vie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Nombre moyen d'années restant à vivre à l'âge x selon la table.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Code CIMA, art. 338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F-11-02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Valeur d'une rente viagère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Somme actualisée des paiements de 1 par an tant que la personne est en vie.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Code CIMA, art. 338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F-11-03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Probabilité de décès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Probabilité de mourir entre x et x + 1 ans.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Code CIMA, art. 338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CIMA : Conférence interafricaine des marchés d'assurances | BCEAO : Banque centrale des États de l'Afrique de l'Ouest | ANStat : Agence nationale de la statistique de Côte d'Ivoire</a:t>
            </a:r>
          </a:p>
        </p:txBody>
      </p:sp>
    </p:spTree>
    <p:extLst>
      <p:ext uri="{BB962C8B-B14F-4D97-AF65-F5344CB8AC3E}">
        <p14:creationId xmlns:p14="http://schemas.microsoft.com/office/powerpoint/2010/main" val="537677462"/>
      </p:ext>
    </p:extLst>
  </p:cSld>
  <p:clrMapOvr>
    <a:masterClrMapping/>
  </p:clrMapOvr>
  <p:transition>
    <p:fade/>
  </p:transition>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(F-05-10 à F-03-10)</a:t>
            </a:r>
          </a:p>
        </p:txBody>
      </p:sp>
      <p:graphicFrame>
        <p:nvGraphicFramePr>
          <p:cNvPr id="28" name="Table 27"/>
          <p:cNvGraphicFramePr>
            <a:graphicFrameLocks noGrp="1"/>
          </p:cNvGraphicFramePr>
          <p:nvPr/>
        </p:nvGraphicFramePr>
        <p:xfrm>
          <a:off x="503999" y="720000"/>
          <a:ext cx="11231998" cy="1571603"/>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F-05-10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Mortalité brute des membres participants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Décès de membres de l'année divisés par le nombre d'adhérents retenu par le FPPN.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Code CIMA, art. 338 (tables)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Nombre de décès et d'adhérents publiés sans taux</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FFFFF"/>
                    </a:solidFill>
                  </a:tcPr>
                </a:tc>
              </a:tr>
              <a:tr h="667238">
                <a:tc>
                  <a:txBody>
                    <a:bodyPr/>
                    <a:lstStyle/>
                    <a:p>
                      <a:pPr marL="0" indent="0" lvl="0">
                        <a:buNone/>
                      </a:pPr>
                      <a:r>
                        <a:rPr sz="800" b="1">
                          <a:solidFill>
                            <a:srgbClr val="060606"/>
                          </a:solidFill>
                          <a:latin typeface="Helvetica"/>
                        </a:rPr>
                        <a:t>F-06-10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Intérêts d'une année sur l'encours EFC</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Encours EFC de fin d'année multiplié par chaque taux écrit dans les documents du FPPN.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Documents du FPPN reçus le 22/10/2026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non arrêté : 3,5 % (chef comptable), 5,5 % (manuel, cartographie), 14 % d'intérêt simple (cahier des charges). Aucune écriture d'intérêts dans les comptes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F-03-10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Contrôles croisés entre documents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Comparaison au franc près des montants d'une même grandeur dans deux documents indépendants.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Documents reçus le 22/10/2026</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FFFFF"/>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EFC : entraide fin de carrière</a:t>
            </a:r>
          </a:p>
        </p:txBody>
      </p:sp>
    </p:spTree>
    <p:extLst>
      <p:ext uri="{BB962C8B-B14F-4D97-AF65-F5344CB8AC3E}">
        <p14:creationId xmlns:p14="http://schemas.microsoft.com/office/powerpoint/2010/main" val="2734511172"/>
      </p:ext>
    </p:extLst>
  </p:cSld>
  <p:clrMapOvr>
    <a:masterClrMapping/>
  </p:clrMapOvr>
  <p:transition>
    <p:fade/>
  </p:transition>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Outils et bibliothèques</a:t>
            </a:r>
          </a:p>
        </p:txBody>
      </p:sp>
      <p:sp>
        <p:nvSpPr>
          <p:cNvPr id="28" name="TextBox 27"/>
          <p:cNvSpPr txBox="1"/>
          <p:nvPr/>
        </p:nvSpPr>
        <p:spPr>
          <a:xfrm>
            <a:off x="503999" y="720000"/>
            <a:ext cx="11232000" cy="216000"/>
          </a:xfrm>
          <a:prstGeom prst="rect">
            <a:avLst/>
          </a:prstGeom>
          <a:noFill/>
        </p:spPr>
        <p:txBody>
          <a:bodyPr wrap="square" anchor="t" lIns="54000" rIns="54000"/>
          <a:lstStyle/>
          <a:p>
            <a:pPr algn="ctr"/>
            <a:r>
              <a:rPr sz="1200" b="0">
                <a:solidFill>
                  <a:srgbClr val="EFAC62"/>
                </a:solidFill>
                <a:latin typeface="Helvetica"/>
              </a:rPr>
              <a:t>Tableau 92 : Outils et bibliothèques utilisés</a:t>
            </a:r>
          </a:p>
        </p:txBody>
      </p:sp>
      <p:graphicFrame>
        <p:nvGraphicFramePr>
          <p:cNvPr id="29" name="Table 28"/>
          <p:cNvGraphicFramePr>
            <a:graphicFrameLocks noGrp="1"/>
          </p:cNvGraphicFramePr>
          <p:nvPr/>
        </p:nvGraphicFramePr>
        <p:xfrm>
          <a:off x="503999" y="990000"/>
          <a:ext cx="11232000" cy="2100090"/>
        </p:xfrm>
        <a:graphic>
          <a:graphicData uri="http://schemas.openxmlformats.org/drawingml/2006/table">
            <a:tbl>
              <a:tblPr firstRow="0" bandRow="0">
                <a:tableStyleId>{5940675A-B579-460E-94D1-54222C63F5DA}</a:tableStyleId>
              </a:tblPr>
              <a:tblGrid>
                <a:gridCol w="2520000"/>
                <a:gridCol w="6552000"/>
                <a:gridCol w="2160000"/>
              </a:tblGrid>
              <a:tr h="210009">
                <a:tc>
                  <a:txBody>
                    <a:bodyPr/>
                    <a:lstStyle/>
                    <a:p>
                      <a:pPr marL="0" indent="0" lvl="0">
                        <a:buNone/>
                      </a:pPr>
                      <a:r>
                        <a:rPr sz="1000" b="1">
                          <a:solidFill>
                            <a:srgbClr val="FFFFFF"/>
                          </a:solidFill>
                          <a:latin typeface="Helvetica"/>
                        </a:rPr>
                        <a:t>Outil</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Usage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Version</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Python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Langage des traitements, scripts conservés et rejouables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3.14 (poste de la mission)</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Visual Studio Code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Éditeur et exécution des scripts sous Windows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dernière</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pandas, numpy</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Tables de données, calculs, agrégations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 et 2.5</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statsmodels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Régressions et tests statistiques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0.15</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python-calamine, openpyxl, lxml</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Lecture sans perte des fichiers Excel et des pages web</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dernière</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pyarrow</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Stockage de la base d'analyse (Parquet)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26.0</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pymupdf, pdftotext, tesseract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Lecture des PDF comptables et des textes scannés (OCR)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dernière</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pygments, Pillow</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Mise en forme des extraits de code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dernière</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python-pptx</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Rapport, graphiques et tableaux natifs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1.0</a:t>
                      </a:r>
                    </a:p>
                  </a:txBody>
                  <a:tcPr marL="43200" marR="43200" marT="14400" marB="14400" anchor="ctr">
                    <a:solidFill>
                      <a:srgbClr val="FFFFFF"/>
                    </a:solidFill>
                  </a:tcPr>
                </a:tc>
              </a:tr>
            </a:tbl>
          </a:graphicData>
        </a:graphic>
      </p:graphicFrame>
      <p:sp>
        <p:nvSpPr>
          <p:cNvPr id="30" name="TextBox 29"/>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a:t>
            </a:r>
          </a:p>
        </p:txBody>
      </p:sp>
      <p:sp>
        <p:nvSpPr>
          <p:cNvPr id="31" name="TextBox 30"/>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OCR : reconnaissance optique de caractères</a:t>
            </a:r>
          </a:p>
        </p:txBody>
      </p:sp>
    </p:spTree>
    <p:extLst>
      <p:ext uri="{BB962C8B-B14F-4D97-AF65-F5344CB8AC3E}">
        <p14:creationId xmlns:p14="http://schemas.microsoft.com/office/powerpoint/2010/main" val="1932642302"/>
      </p:ext>
    </p:extLst>
  </p:cSld>
  <p:clrMapOvr>
    <a:masterClrMapping/>
  </p:clrMapOvr>
  <p:transition>
    <p:fade/>
  </p:transition>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Liste des figures</a:t>
            </a:r>
          </a:p>
        </p:txBody>
      </p:sp>
      <p:graphicFrame>
        <p:nvGraphicFramePr>
          <p:cNvPr id="28" name="Table 27"/>
          <p:cNvGraphicFramePr>
            <a:graphicFrameLocks noGrp="1"/>
          </p:cNvGraphicFramePr>
          <p:nvPr/>
        </p:nvGraphicFramePr>
        <p:xfrm>
          <a:off x="503999" y="648000"/>
          <a:ext cx="5543999" cy="4107150"/>
        </p:xfrm>
        <a:graphic>
          <a:graphicData uri="http://schemas.openxmlformats.org/drawingml/2006/table">
            <a:tbl>
              <a:tblPr firstRow="0" bandRow="0">
                <a:tableStyleId>{5940675A-B579-460E-94D1-54222C63F5DA}</a:tableStyleId>
              </a:tblPr>
              <a:tblGrid>
                <a:gridCol w="576000"/>
                <a:gridCol w="4464000"/>
                <a:gridCol w="503999"/>
              </a:tblGrid>
              <a:tr h="164286">
                <a:tc>
                  <a:txBody>
                    <a:bodyPr/>
                    <a:lstStyle/>
                    <a:p>
                      <a:pPr marL="0" indent="0" lvl="0">
                        <a:buNone/>
                      </a:pPr>
                      <a:r>
                        <a:rPr sz="700" b="1">
                          <a:solidFill>
                            <a:srgbClr val="FFFFFF"/>
                          </a:solidFill>
                          <a:latin typeface="Helvetica"/>
                        </a:rPr>
                        <a:t>Figure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Diapo.</a:t>
                      </a:r>
                    </a:p>
                  </a:txBody>
                  <a:tcPr marL="43200" marR="43200" marT="14400" marB="14400" anchor="ctr">
                    <a:solidFill>
                      <a:srgbClr val="060606"/>
                    </a:solidFill>
                  </a:tcPr>
                </a:tc>
              </a:tr>
              <a:tr h="164286">
                <a:tc>
                  <a:txBody>
                    <a:bodyPr/>
                    <a:lstStyle/>
                    <a:p>
                      <a:pPr marL="0" indent="0" lvl="0">
                        <a:buNone/>
                      </a:pPr>
                      <a:r>
                        <a:rPr sz="7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Ratio S/C maladie (prestations / cotisations)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Épargne due et actifs réservés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Encours des prêts du Grenier</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Produits, charges et résultat 2025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Mois reçus par flux de données, sur 80 mois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32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Montant précompté rapporté au montant demandé, mois communs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35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Cotisants actifs précomptés (poste 936), par mois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44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Entrées et sorties de cotisants, par mois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45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Agents par ancienneté de service, janv. 25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46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Répartition du taux de 5 % selon la source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48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Ratio S/C 2025 selon la clé de répartition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49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Cotisations nominales et réelles (francs de 2020)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50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Cotisations comptabilisées par garantie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51</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Prestations comptabilisées / cotisations (S/C)</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58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Taux de sinistralité selon la formule, 2020 au 31/08/2026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60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Prestations maladie comptabilisées par nature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66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Frais de gestion et résultat net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67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Taux de frais selon la formule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68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Épargne au passif et actifs réservés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73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Versements précomptés par produit d'épargne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74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Besoin de liquidités selon le taux de retrait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75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Encours des prêts et financement du FPPN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84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Montants débloqués par type de crédit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85</a:t>
                      </a:r>
                    </a:p>
                  </a:txBody>
                  <a:tcPr marL="43200" marR="43200" marT="14400" marB="14400" anchor="ctr">
                    <a:solidFill>
                      <a:srgbClr val="F2F2F2"/>
                    </a:solidFill>
                  </a:tcPr>
                </a:tc>
              </a:tr>
            </a:tbl>
          </a:graphicData>
        </a:graphic>
      </p:graphicFrame>
      <p:graphicFrame>
        <p:nvGraphicFramePr>
          <p:cNvPr id="29" name="Table 28"/>
          <p:cNvGraphicFramePr>
            <a:graphicFrameLocks noGrp="1"/>
          </p:cNvGraphicFramePr>
          <p:nvPr/>
        </p:nvGraphicFramePr>
        <p:xfrm>
          <a:off x="6263999" y="648000"/>
          <a:ext cx="5543999" cy="3942864"/>
        </p:xfrm>
        <a:graphic>
          <a:graphicData uri="http://schemas.openxmlformats.org/drawingml/2006/table">
            <a:tbl>
              <a:tblPr firstRow="0" bandRow="0">
                <a:tableStyleId>{5940675A-B579-460E-94D1-54222C63F5DA}</a:tableStyleId>
              </a:tblPr>
              <a:tblGrid>
                <a:gridCol w="576000"/>
                <a:gridCol w="4464000"/>
                <a:gridCol w="503999"/>
              </a:tblGrid>
              <a:tr h="164286">
                <a:tc>
                  <a:txBody>
                    <a:bodyPr/>
                    <a:lstStyle/>
                    <a:p>
                      <a:pPr marL="0" indent="0" lvl="0">
                        <a:buNone/>
                      </a:pPr>
                      <a:r>
                        <a:rPr sz="700" b="1">
                          <a:solidFill>
                            <a:srgbClr val="FFFFFF"/>
                          </a:solidFill>
                          <a:latin typeface="Helvetica"/>
                        </a:rPr>
                        <a:t>Figure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Diapo.</a:t>
                      </a:r>
                    </a:p>
                  </a:txBody>
                  <a:tcPr marL="43200" marR="43200" marT="14400" marB="14400" anchor="ctr">
                    <a:solidFill>
                      <a:srgbClr val="060606"/>
                    </a:solidFill>
                  </a:tcPr>
                </a:tc>
              </a:tr>
              <a:tr h="164286">
                <a:tc>
                  <a:txBody>
                    <a:bodyPr/>
                    <a:lstStyle/>
                    <a:p>
                      <a:pPr marL="0" indent="0" lvl="0">
                        <a:buNone/>
                      </a:pPr>
                      <a:r>
                        <a:rPr sz="700" b="1">
                          <a:solidFill>
                            <a:srgbClr val="060606"/>
                          </a:solidFill>
                          <a:latin typeface="Helvetica"/>
                        </a:rPr>
                        <a:t>25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Part de l'encours en retard de plus de 30 et 90 jours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86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Échéances des prêts en cours et précomptes 9X4, 2026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88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Retraités précomptés par la CGRAE, par mois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92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Mois de prestations couverts par les provisions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98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PSAP maladie et dettes envers les cliniques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100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Principaux postes de l'actif</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119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Actif par délai de mobilisation et passif par échéance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120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Fonds propres et résultat de l'exercice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127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Taux directeur de la BCEAO</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130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Liquidité et équilibre stable, comme le FPPN et retraités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144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Excédent technique par risque, frais répartis au prorata des cotisations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155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Marge de solvabilité exigée et disponible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157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Taux de cotisation équivalent selon le ratio visé</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168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Variation annuelle des prix de la santé retenus et inflation pondérée du FPPN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172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Survivants pour 100 naissances, par âge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179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Probabilité de décès dans l'année (qx), par âge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180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Extrait du script dans VS Code sous Windows (reconnaître le vrai format)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193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Extrait du script dans VS Code sous Windows (écarter les lignes de total)</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194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Extrait du script dans VS Code sous Windows (corriger les montants doublés)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195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Extrait du script dans VS Code sous Windows (lire les montants du Grenier)</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196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Extrait du script dans VS Code sous Windows (calculer la sinistralité)</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197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Extrait du script dans VS Code sous Windows (intervalle de confiance)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198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Extrait du script dans VS Code sous Windows (statut d'un ratio prudentiel)</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199</a:t>
                      </a:r>
                    </a:p>
                  </a:txBody>
                  <a:tcPr marL="43200" marR="43200" marT="14400" marB="14400" anchor="ctr">
                    <a:solidFill>
                      <a:srgbClr val="FFFFFF"/>
                    </a:solidFill>
                  </a:tcPr>
                </a:tc>
              </a:tr>
            </a:tbl>
          </a:graphicData>
        </a:graphic>
      </p:graphicFrame>
    </p:spTree>
    <p:extLst>
      <p:ext uri="{BB962C8B-B14F-4D97-AF65-F5344CB8AC3E}">
        <p14:creationId xmlns:p14="http://schemas.microsoft.com/office/powerpoint/2010/main" val="2948644856"/>
      </p:ext>
    </p:extLst>
  </p:cSld>
  <p:clrMapOvr>
    <a:masterClrMapping/>
  </p:clrMapOvr>
  <p:transition>
    <p:fade/>
  </p:transition>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Liste des tableaux</a:t>
            </a:r>
          </a:p>
        </p:txBody>
      </p:sp>
      <p:graphicFrame>
        <p:nvGraphicFramePr>
          <p:cNvPr id="28" name="Table 27"/>
          <p:cNvGraphicFramePr>
            <a:graphicFrameLocks noGrp="1"/>
          </p:cNvGraphicFramePr>
          <p:nvPr/>
        </p:nvGraphicFramePr>
        <p:xfrm>
          <a:off x="503999" y="648000"/>
          <a:ext cx="5543999" cy="7721442"/>
        </p:xfrm>
        <a:graphic>
          <a:graphicData uri="http://schemas.openxmlformats.org/drawingml/2006/table">
            <a:tbl>
              <a:tblPr firstRow="0" bandRow="0">
                <a:tableStyleId>{5940675A-B579-460E-94D1-54222C63F5DA}</a:tableStyleId>
              </a:tblPr>
              <a:tblGrid>
                <a:gridCol w="576000"/>
                <a:gridCol w="4464000"/>
                <a:gridCol w="503999"/>
              </a:tblGrid>
              <a:tr h="164286">
                <a:tc>
                  <a:txBody>
                    <a:bodyPr/>
                    <a:lstStyle/>
                    <a:p>
                      <a:pPr marL="0" indent="0" lvl="0">
                        <a:buNone/>
                      </a:pPr>
                      <a:r>
                        <a:rPr sz="700" b="1">
                          <a:solidFill>
                            <a:srgbClr val="FFFFFF"/>
                          </a:solidFill>
                          <a:latin typeface="Helvetica"/>
                        </a:rPr>
                        <a:t>Tableau</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Diapo.</a:t>
                      </a:r>
                    </a:p>
                  </a:txBody>
                  <a:tcPr marL="43200" marR="43200" marT="14400" marB="14400" anchor="ctr">
                    <a:solidFill>
                      <a:srgbClr val="060606"/>
                    </a:solidFill>
                  </a:tcPr>
                </a:tc>
              </a:tr>
              <a:tr h="164286">
                <a:tc>
                  <a:txBody>
                    <a:bodyPr/>
                    <a:lstStyle/>
                    <a:p>
                      <a:pPr marL="0" indent="0" lvl="0">
                        <a:buNone/>
                      </a:pPr>
                      <a:r>
                        <a:rPr sz="7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Principaux constats au 15/10/2026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Réponse aux quatre questions de la mission au 19/10/2026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Huit ratios prudentiels clés, exercice 2025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Actions recommandées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Textes et organismes de référence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Dispositions des textes du FPPN utiles à la mission (1/2)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Dispositions des textes du FPPN utiles à la mission (2/2)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Produits du FPPN et montants observés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Circuit des fichiers de précomptes par produit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Notions utilisées dans le rapport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Périmètre de la mission actuarielle et statistique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Périmètre, domaine et période de validité des analyses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Documents reçus le 22/10/2026 et usage dans le rapport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Fichiers à renvoyer ou à corriger</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37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États financiers et balances : actif brut, résultat, trésorerie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39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Adhérents du FPPN, lignes 8Z6 et rapport 8Z6 / 936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40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Rapprochements bancaires au 31 décembre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41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Règles des produits déclarées et confrontées aux fichiers de précomptes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52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Formules du taux de sinistralité comparées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59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Méthode du FPPN et méthode réglementaire au 30/06/2026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61</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Sinistralité décès selon le FPPN et selon les comptes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62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Décès et taux brut de mortalité des membres participants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63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Nature des risques par garantie et provisions attendues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64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Taux de croissance annuels moyens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65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Références du poste 998, 2020 à août 2026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76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Taux servis sur l'épargne selon les documents du FPPN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78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Écritures 2024 des comptes d'épargne par nature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79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Intérêts d'une année sur l'encours EFC selon le taux servi</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80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Épargne au 31/12/2025 : rapport de gestion et balance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81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Provision selon le taux de perte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89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Clauses de la convention IPS-CGRAE utiles à la mission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93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Produits annexes et points à clarifier</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94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Provisions exigées et provisions au bilan, par produit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99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Étapes de la méthode CIMA des sinistres tardifs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102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Encours du Grenier par tranche de retard</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103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Compte GNA (47111106) et produits des activités annexes (71800000)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104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Provision pour départ à la retraite du personnel</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105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Paramètres de la provision du personnel au 31/12/2025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106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Provision du personnel par entité, droits acquis et compte 196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107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Provision du personnel au 31/12/2025 : Direction Générale (1/2)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108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Provision du personnel au 31/12/2025 : Direction Générale (2/2)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109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Provision du personnel au 31/12/2025 : CMP (1/3)</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110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Provision du personnel au 31/12/2025 : CMP (2/3)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111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Provision du personnel au 31/12/2025 : CMP (3/3)</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112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Provision du personnel au 31/12/2025 : Grenier</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113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Provision du personnel au 31/12/2025 : Non documentée (1/2)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114</a:t>
                      </a:r>
                    </a:p>
                  </a:txBody>
                  <a:tcPr marL="43200" marR="43200" marT="14400" marB="14400" anchor="ctr">
                    <a:solidFill>
                      <a:srgbClr val="F2F2F2"/>
                    </a:solidFill>
                  </a:tcPr>
                </a:tc>
              </a:tr>
            </a:tbl>
          </a:graphicData>
        </a:graphic>
      </p:graphicFrame>
      <p:graphicFrame>
        <p:nvGraphicFramePr>
          <p:cNvPr id="29" name="Table 28"/>
          <p:cNvGraphicFramePr>
            <a:graphicFrameLocks noGrp="1"/>
          </p:cNvGraphicFramePr>
          <p:nvPr/>
        </p:nvGraphicFramePr>
        <p:xfrm>
          <a:off x="6263999" y="648000"/>
          <a:ext cx="5543999" cy="7721442"/>
        </p:xfrm>
        <a:graphic>
          <a:graphicData uri="http://schemas.openxmlformats.org/drawingml/2006/table">
            <a:tbl>
              <a:tblPr firstRow="0" bandRow="0">
                <a:tableStyleId>{5940675A-B579-460E-94D1-54222C63F5DA}</a:tableStyleId>
              </a:tblPr>
              <a:tblGrid>
                <a:gridCol w="576000"/>
                <a:gridCol w="4464000"/>
                <a:gridCol w="503999"/>
              </a:tblGrid>
              <a:tr h="164286">
                <a:tc>
                  <a:txBody>
                    <a:bodyPr/>
                    <a:lstStyle/>
                    <a:p>
                      <a:pPr marL="0" indent="0" lvl="0">
                        <a:buNone/>
                      </a:pPr>
                      <a:r>
                        <a:rPr sz="700" b="1">
                          <a:solidFill>
                            <a:srgbClr val="FFFFFF"/>
                          </a:solidFill>
                          <a:latin typeface="Helvetica"/>
                        </a:rPr>
                        <a:t>Tableau</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Diapo.</a:t>
                      </a:r>
                    </a:p>
                  </a:txBody>
                  <a:tcPr marL="43200" marR="43200" marT="14400" marB="14400" anchor="ctr">
                    <a:solidFill>
                      <a:srgbClr val="060606"/>
                    </a:solidFill>
                  </a:tcPr>
                </a:tc>
              </a:tr>
              <a:tr h="164286">
                <a:tc>
                  <a:txBody>
                    <a:bodyPr/>
                    <a:lstStyle/>
                    <a:p>
                      <a:pPr marL="0" indent="0" lvl="0">
                        <a:buNone/>
                      </a:pPr>
                      <a:r>
                        <a:rPr sz="700" b="1">
                          <a:solidFill>
                            <a:srgbClr val="060606"/>
                          </a:solidFill>
                          <a:latin typeface="Helvetica"/>
                        </a:rPr>
                        <a:t>47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Provision du personnel au 31/12/2025 : Non documentée (2/2)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115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Sensibilité de la provision du personnel au 31/12/2025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116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Engagements envers les adhérents et les ayants droit au 31/08/2026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117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50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Indicateurs de cohérence des provisions, 2021 et 2025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118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Corrections attendues et sens de leur effet sur l'adossement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121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52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Règles de valorisation retenues dans chaque scénario</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122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Couverture des engagements connus selon le scénario</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123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54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Mouvements annuels des comptes d'épargne PEP et EFC</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124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Adossement actif-passif : ce qui est établi et ce qui reste à faire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125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56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Mouvements annuels du DAT BOA (comptes 52210200 et 52210201)</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128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Placements et emplois du FPPN confrontés aux conditions de l'article 17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131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58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Textes de la mutualité sociale appliqués au FPPN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134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Qualification des garanties du FPPN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135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60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Reclassements de la lecture retraitée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137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61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Tableau de bord des ratios prudentiels, priorités 1 à 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140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62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Tableau de bord des ratios des risques longs, priorités 10 à 16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141</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63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Tableau de bord des ratios de gestion, priorités 17 à 25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142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64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Indicateurs en attente de documents, priorités 26 à 36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143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65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Dotation de la réserve obligatoire et normes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156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66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Contrôle du classement des comptes selon le PCMS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158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67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Exigences non chiffrées et situation du FPPN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159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68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Manquements liés aux constats du rapport et sanctions prévues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160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69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Étapes des analyses de sensibilité et références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162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70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Conformité de chaque ratio, année par année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163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71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Facteurs récurrents, comptes en cause et preuves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164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72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Montant à combler par ratio (FCFA)</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165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73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Sens de l'effet d'un choc de 100 000 000 FCFA (exercice 2025)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166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74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Montants d'équilibre 2025 par levier et par ratio</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167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75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Liquidité : écart, plafond de réallocation et lecture hors épargne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169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76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Réserve obligatoire selon la dotation statutaire, et horizon des fonds propres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170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77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Condition de faisabilité conjointe des normes de flux</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171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78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Sinistralité selon la hausse des prestations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173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79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Rendement du FPPN et taux du marché, 2021 à 2025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174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80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Tables de mortalité CIMA et usage retenu</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178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81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Espérance de vie et valeur de la rente viagère (taux de 3,5 %)</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181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82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Méthodes en attente et données nécessaires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189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83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Scripts de la mission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191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84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Entrée, traitement, contrôle et sortie de chaque étape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192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85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Analyses en attente et documents nécessaires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202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86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Points à clarifier avec le FPPN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203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87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Points à clarifier issus de l'entretien du 19/10/2026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204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88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Analyses de provisions en attente et documents nécessaires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205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89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Points à clarifier issus des entretiens du 19/10/2026 avec le chef comptable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206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90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Points à clarifier issus des documents du 22/10/2026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207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91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Colonnes et statuts du tableau des formules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209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92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Outils et bibliothèques utilisés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225</a:t>
                      </a:r>
                    </a:p>
                  </a:txBody>
                  <a:tcPr marL="43200" marR="43200" marT="14400" marB="14400" anchor="ctr">
                    <a:solidFill>
                      <a:srgbClr val="F2F2F2"/>
                    </a:solidFill>
                  </a:tcPr>
                </a:tc>
              </a:tr>
            </a:tbl>
          </a:graphicData>
        </a:graphic>
      </p:graphicFrame>
    </p:spTree>
    <p:extLst>
      <p:ext uri="{BB962C8B-B14F-4D97-AF65-F5344CB8AC3E}">
        <p14:creationId xmlns:p14="http://schemas.microsoft.com/office/powerpoint/2010/main" val="2075005760"/>
      </p:ext>
    </p:extLst>
  </p:cSld>
  <p:clrMapOvr>
    <a:masterClrMapping/>
  </p:clrMapOvr>
  <p:transition>
    <p:fade/>
  </p:transition>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Périmètre et validité des analyses (1/3)</a:t>
            </a:r>
          </a:p>
        </p:txBody>
      </p:sp>
      <p:graphicFrame>
        <p:nvGraphicFramePr>
          <p:cNvPr id="28" name="Table 27"/>
          <p:cNvGraphicFramePr>
            <a:graphicFrameLocks noGrp="1"/>
          </p:cNvGraphicFramePr>
          <p:nvPr/>
        </p:nvGraphicFramePr>
        <p:xfrm>
          <a:off x="503999" y="720000"/>
          <a:ext cx="11232000" cy="4186996"/>
        </p:xfrm>
        <a:graphic>
          <a:graphicData uri="http://schemas.openxmlformats.org/drawingml/2006/table">
            <a:tbl>
              <a:tblPr firstRow="0" bandRow="0">
                <a:tableStyleId>{5940675A-B579-460E-94D1-54222C63F5DA}</a:tableStyleId>
              </a:tblPr>
              <a:tblGrid>
                <a:gridCol w="936000"/>
                <a:gridCol w="3456000"/>
                <a:gridCol w="1080000"/>
                <a:gridCol w="5760000"/>
              </a:tblGrid>
              <a:tr h="180000">
                <a:tc>
                  <a:txBody>
                    <a:bodyPr/>
                    <a:lstStyle/>
                    <a:p>
                      <a:pPr marL="0" indent="0" lvl="0">
                        <a:buNone/>
                      </a:pPr>
                      <a:r>
                        <a:rPr sz="750" b="1">
                          <a:solidFill>
                            <a:srgbClr val="FFFFFF"/>
                          </a:solidFill>
                          <a:latin typeface="Helvetica"/>
                        </a:rPr>
                        <a:t>Partie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Analyse ou diapositive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Diapo.</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Valable pour</a:t>
                      </a:r>
                    </a:p>
                  </a:txBody>
                  <a:tcPr marL="43200" marR="43200" marT="14400" marB="14400" anchor="ctr">
                    <a:solidFill>
                      <a:srgbClr val="060606"/>
                    </a:solidFill>
                  </a:tcPr>
                </a:tc>
              </a:tr>
              <a:tr h="286214">
                <a:tc>
                  <a:txBody>
                    <a:bodyPr/>
                    <a:lstStyle/>
                    <a:p>
                      <a:pPr marL="0" indent="0" lvl="0">
                        <a:buNone/>
                      </a:pPr>
                      <a:r>
                        <a:rPr sz="750" b="1">
                          <a:solidFill>
                            <a:srgbClr val="060606"/>
                          </a:solidFill>
                          <a:latin typeface="Helvetica"/>
                        </a:rPr>
                        <a:t>Résumé</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Résumé exécutif</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Toutes, sauf mention propre ci-dessous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chaque chiffre dans le périmètre de sa partie d'origine, voir l'annexe « Périmètre et validité des analyses »</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Partie 1</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Comprendre le FPPN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Toutes, sauf mention propre ci-dessous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textes du FPPN (statuts et règlement intérieur du 15/06/2023) et circuits décrits en entretien, sans test de leur application</a:t>
                      </a:r>
                    </a:p>
                  </a:txBody>
                  <a:tcPr marL="43200" marR="43200" marT="14400" marB="14400" anchor="ctr">
                    <a:solidFill>
                      <a:srgbClr val="F2F2F2"/>
                    </a:solidFill>
                  </a:tcPr>
                </a:tc>
              </a:tr>
              <a:tr h="286214">
                <a:tc>
                  <a:txBody>
                    <a:bodyPr/>
                    <a:lstStyle/>
                    <a:p>
                      <a:pPr marL="0" indent="0" lvl="0">
                        <a:buNone/>
                      </a:pPr>
                      <a:r>
                        <a:rPr sz="750" b="1">
                          <a:solidFill>
                            <a:srgbClr val="060606"/>
                          </a:solidFill>
                          <a:latin typeface="Helvetica"/>
                        </a:rPr>
                        <a:t>Partie 2</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Contexte et démarche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Toutes, sauf mention propre ci-dessous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mission au 15/10/2026, documents reçus jusqu'au 22/10/2026</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Partie 3</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Données et qualité</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Toutes, sauf mention propre ci-dessous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fichiers de précomptes reçus le 15/10/2026, mois effectivement reçus pour chaque poste (diapositive « Couverture de la période »)</a:t>
                      </a:r>
                    </a:p>
                  </a:txBody>
                  <a:tcPr marL="43200" marR="43200" marT="14400" marB="14400" anchor="ctr">
                    <a:solidFill>
                      <a:srgbClr val="F2F2F2"/>
                    </a:solidFill>
                  </a:tcPr>
                </a:tc>
              </a:tr>
              <a:tr h="286214">
                <a:tc>
                  <a:txBody>
                    <a:bodyPr/>
                    <a:lstStyle/>
                    <a:p>
                      <a:pPr marL="0" indent="0" lvl="0">
                        <a:buNone/>
                      </a:pPr>
                      <a:r>
                        <a:rPr sz="750" b="1">
                          <a:solidFill>
                            <a:srgbClr val="060606"/>
                          </a:solidFill>
                          <a:latin typeface="Helvetica"/>
                        </a:rPr>
                        <a:t>Partie 4</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Effectifs et cotisations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Toutes, sauf mention propre ci-dessous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policiers en activité précomptés par la Solde, janvier 2024 à septembre 2026. Taux mesurés sur les mois détaillés cités</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Partie 5</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Sinistralité et résultat</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Toutes, sauf mention propre ci-dessous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comptes 2020 à 2025 et du 01/01 au 31/08/2026 (provisoire). Prestations comptabilisées, sans sinistres tardifs</a:t>
                      </a:r>
                    </a:p>
                  </a:txBody>
                  <a:tcPr marL="43200" marR="43200" marT="14400" marB="14400" anchor="ctr">
                    <a:solidFill>
                      <a:srgbClr val="F2F2F2"/>
                    </a:solidFill>
                  </a:tcPr>
                </a:tc>
              </a:tr>
              <a:tr h="286214">
                <a:tc>
                  <a:txBody>
                    <a:bodyPr/>
                    <a:lstStyle/>
                    <a:p>
                      <a:pPr marL="0" indent="0" lvl="0">
                        <a:buNone/>
                      </a:pPr>
                      <a:r>
                        <a:rPr sz="750" b="1">
                          <a:solidFill>
                            <a:srgbClr val="060606"/>
                          </a:solidFill>
                          <a:latin typeface="Helvetica"/>
                        </a:rPr>
                        <a:t>Partie 6</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Épargne des mutualistes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Toutes, sauf mention propre ci-dessous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soldes et mouvements comptables de 2020 au 31/08/2026. Épargne sans échéancier individuel ni intérêts comptabilisés</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Partie 7</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Prêts du Grenier</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Toutes, sauf mention propre ci-dessous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exports du logiciel de prêts du Grenier, arrêtés du 31/12/2021 au 30/09/2026, non rapprochés des contrats</a:t>
                      </a:r>
                    </a:p>
                  </a:txBody>
                  <a:tcPr marL="43200" marR="43200" marT="14400" marB="14400" anchor="ctr">
                    <a:solidFill>
                      <a:srgbClr val="F2F2F2"/>
                    </a:solidFill>
                  </a:tcPr>
                </a:tc>
              </a:tr>
              <a:tr h="286214">
                <a:tc>
                  <a:txBody>
                    <a:bodyPr/>
                    <a:lstStyle/>
                    <a:p>
                      <a:pPr marL="0" indent="0" lvl="0">
                        <a:buNone/>
                      </a:pPr>
                      <a:r>
                        <a:rPr sz="750" b="1">
                          <a:solidFill>
                            <a:srgbClr val="060606"/>
                          </a:solidFill>
                          <a:latin typeface="Helvetica"/>
                        </a:rPr>
                        <a:t>Partie 8</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Retraités et annexes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Toutes, sauf mention propre ci-dessous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retraités précomptés par la CGRAE de février 2024 à septembre 2026. Produits annexes sur les mois reçus</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Partie 9</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Bilan, provisions et placements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Toutes, sauf mention propre ci-dessous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balances de 2020 au 31/08/2026, valeurs comptables non réévaluées. 2026 provisoire (huit mois)</a:t>
                      </a:r>
                    </a:p>
                  </a:txBody>
                  <a:tcPr marL="43200" marR="43200" marT="14400" marB="14400" anchor="ctr">
                    <a:solidFill>
                      <a:srgbClr val="F2F2F2"/>
                    </a:solidFill>
                  </a:tcPr>
                </a:tc>
              </a:tr>
              <a:tr h="286214">
                <a:tc>
                  <a:txBody>
                    <a:bodyPr/>
                    <a:lstStyle/>
                    <a:p>
                      <a:pPr marL="0" indent="0" lvl="0">
                        <a:buNone/>
                      </a:pPr>
                      <a:r>
                        <a:rPr sz="750" b="1">
                          <a:solidFill>
                            <a:srgbClr val="060606"/>
                          </a:solidFill>
                          <a:latin typeface="Helvetica"/>
                        </a:rPr>
                        <a:t>Partie 10</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Conformité prudentielle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Toutes, sauf mention propre ci-dessous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ratios de la Décision n° 05/2022 recalculés sur les balances. Statut opposable de 2022 à 2025, indicatif en 2020, 2021 et 2026</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Partie 11</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Tables de mortalité</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Toutes, sauf mention propre ci-dessous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tables réglementaires CIMA. Non comparées à la mortalité par âge du FPPN (dates de naissance non reçues)</a:t>
                      </a:r>
                    </a:p>
                  </a:txBody>
                  <a:tcPr marL="43200" marR="43200" marT="14400" marB="14400" anchor="ctr">
                    <a:solidFill>
                      <a:srgbClr val="F2F2F2"/>
                    </a:solidFill>
                  </a:tcPr>
                </a:tc>
              </a:tr>
              <a:tr h="286214">
                <a:tc>
                  <a:txBody>
                    <a:bodyPr/>
                    <a:lstStyle/>
                    <a:p>
                      <a:pPr marL="0" indent="0" lvl="0">
                        <a:buNone/>
                      </a:pPr>
                      <a:r>
                        <a:rPr sz="750" b="1">
                          <a:solidFill>
                            <a:srgbClr val="060606"/>
                          </a:solidFill>
                          <a:latin typeface="Helvetica"/>
                        </a:rPr>
                        <a:t>Partie 12</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Méthodes actuarielles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Toutes, sauf mention propre ci-dessous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méthodes décrites, non appliquées faute de données</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Partie 13</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Outils et traçabilité</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Toutes, sauf mention propre ci-dessous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chaîne de traitement de la version 9</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d'après les fichiers cités dans chaque diapositive</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CGRAE : Caisse générale de retraite des agents de l'État</a:t>
            </a:r>
          </a:p>
        </p:txBody>
      </p:sp>
    </p:spTree>
    <p:extLst>
      <p:ext uri="{BB962C8B-B14F-4D97-AF65-F5344CB8AC3E}">
        <p14:creationId xmlns:p14="http://schemas.microsoft.com/office/powerpoint/2010/main" val="1369829020"/>
      </p:ext>
    </p:extLst>
  </p:cSld>
  <p:clrMapOvr>
    <a:masterClrMapping/>
  </p:clrMapOvr>
  <p:transition>
    <p:fade/>
  </p:transition>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Périmètre et validité des analyses (2/3)</a:t>
            </a:r>
          </a:p>
        </p:txBody>
      </p:sp>
      <p:graphicFrame>
        <p:nvGraphicFramePr>
          <p:cNvPr id="28" name="Table 27"/>
          <p:cNvGraphicFramePr>
            <a:graphicFrameLocks noGrp="1"/>
          </p:cNvGraphicFramePr>
          <p:nvPr/>
        </p:nvGraphicFramePr>
        <p:xfrm>
          <a:off x="503999" y="720000"/>
          <a:ext cx="11232000" cy="4036478"/>
        </p:xfrm>
        <a:graphic>
          <a:graphicData uri="http://schemas.openxmlformats.org/drawingml/2006/table">
            <a:tbl>
              <a:tblPr firstRow="0" bandRow="0">
                <a:tableStyleId>{5940675A-B579-460E-94D1-54222C63F5DA}</a:tableStyleId>
              </a:tblPr>
              <a:tblGrid>
                <a:gridCol w="936000"/>
                <a:gridCol w="3456000"/>
                <a:gridCol w="1080000"/>
                <a:gridCol w="5760000"/>
              </a:tblGrid>
              <a:tr h="180000">
                <a:tc>
                  <a:txBody>
                    <a:bodyPr/>
                    <a:lstStyle/>
                    <a:p>
                      <a:pPr marL="0" indent="0" lvl="0">
                        <a:buNone/>
                      </a:pPr>
                      <a:r>
                        <a:rPr sz="800" b="1">
                          <a:solidFill>
                            <a:srgbClr val="FFFFFF"/>
                          </a:solidFill>
                          <a:latin typeface="Helvetica"/>
                        </a:rPr>
                        <a:t>Partie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Analyse ou diapositive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Diapo.</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Valable pour</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Partie 14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Analyses en attente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Toutes, sauf mention propre ci-dessous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demandes et constats au 22/10/2026</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Partie 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Périmètre et validité des analyses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les familles d'analyses du rapport version 9, sur les documents reçus jusqu'au 22/10/2026</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Partie 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Documents reçus le 22/10/2026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28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les fichiers des journaux journal_lot1.csv, journal_lot2.csv et journal_lot3.csv</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Contrôle croisé : états financiers et balances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39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exercices 2020 à 2025 et situation au 31/08/2026, totaux du bilan et résultat. Les rubriques détaillées n'ont pas été comparées</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Contrôle croisé : effectifs du FPPN et fichiers de la Solde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40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mois cités, policiers précomptés par la Solde (8Z6 et 936). Les mois de 2024 sans fichier 8Z6 ne sont pas couverts</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Contrôle croisé : rapprochements bancaires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41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comptes bancaires présents dans les états de rapprochement (BOA, Banque Atlantique, Orabank), au 31/12 de 2020 à 2025. Les DAT, le FCP et la caisse ne sont pas couverts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Partie 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Méthode de sinistralité du FPPN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période du 01/01 au 30/06/2026 pour les taux du FPPN, du 01/01 au 31/08/2026 pour le taux réglementaire</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Partie 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Sinistralité décès : le FPPN et les comptes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62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garantie décès-invalidité, exercices 2020 à 2025</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Mortalité brute des membres participants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63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membres participants recensés par le FPPN, années 2015 à 2025. Ne vaut ni par âge, ni par grade, ni pour les ayants droit</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EFC et PEP : trois taux dans trois documents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78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documents du FPPN reçus le 22/10/2026 et entretien du 19/10/2026. Le taux réellement appliqué aux mutualistes n'est pas connu</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Intérêts servis : aucune écriture dans les comptes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79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grand livre 2024 pour le détail des écritures. Balances de 2020 au 31/08/2026 pour l'absence de charge d'intérêts</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Sensibilité : intérêts annuels dus sur l'EFC</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80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encours EFC comptable au 31/12 de 2020 à 2025 et au 31/08/2026, une année d'intérêts, sans projection ni capitalisation</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Rapport de gestion 2025 : l'épargne présentée est la collecte de l'année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81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exercice 2025. Les rapports de gestion des autres années n'ont pas été contrôlés sur ce point</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Convention IPS-CGRAE : santé des policiers retraités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93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texte de la convention reçu le 22/10/2026. Son application (nombre de retraités, montants précomptés) est mesurée en partie 8 de février 2024 à septembre 2026</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d'après les fichiers cités dans chaque diapositive</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FCP : fonds commun de placement | DAT : dépôt à terme | 8Z6 : poste décès | IPS-CGRAE : Institution de prévoyance sociale - Caisse générale de retraite des agents de l'État</a:t>
            </a:r>
          </a:p>
        </p:txBody>
      </p:sp>
    </p:spTree>
    <p:extLst>
      <p:ext uri="{BB962C8B-B14F-4D97-AF65-F5344CB8AC3E}">
        <p14:creationId xmlns:p14="http://schemas.microsoft.com/office/powerpoint/2010/main" val="1510469157"/>
      </p:ext>
    </p:extLst>
  </p:cSld>
  <p:clrMapOvr>
    <a:masterClrMapping/>
  </p:clrMapOvr>
  <p:transition>
    <p:fade/>
  </p:transition>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Périmètre et validité des analyses (3/3)</a:t>
            </a:r>
          </a:p>
        </p:txBody>
      </p:sp>
      <p:graphicFrame>
        <p:nvGraphicFramePr>
          <p:cNvPr id="28" name="Table 27"/>
          <p:cNvGraphicFramePr>
            <a:graphicFrameLocks noGrp="1"/>
          </p:cNvGraphicFramePr>
          <p:nvPr/>
        </p:nvGraphicFramePr>
        <p:xfrm>
          <a:off x="503999" y="720000"/>
          <a:ext cx="11232000" cy="3068730"/>
        </p:xfrm>
        <a:graphic>
          <a:graphicData uri="http://schemas.openxmlformats.org/drawingml/2006/table">
            <a:tbl>
              <a:tblPr firstRow="0" bandRow="0">
                <a:tableStyleId>{5940675A-B579-460E-94D1-54222C63F5DA}</a:tableStyleId>
              </a:tblPr>
              <a:tblGrid>
                <a:gridCol w="936000"/>
                <a:gridCol w="3456000"/>
                <a:gridCol w="1080000"/>
                <a:gridCol w="5760000"/>
              </a:tblGrid>
              <a:tr h="180000">
                <a:tc>
                  <a:txBody>
                    <a:bodyPr/>
                    <a:lstStyle/>
                    <a:p>
                      <a:pPr marL="0" indent="0" lvl="0">
                        <a:buNone/>
                      </a:pPr>
                      <a:r>
                        <a:rPr sz="800" b="1">
                          <a:solidFill>
                            <a:srgbClr val="FFFFFF"/>
                          </a:solidFill>
                          <a:latin typeface="Helvetica"/>
                        </a:rPr>
                        <a:t>Partie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Analyse ou diapositive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Diapo.</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Valable pour</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Partie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 du personnel : méthode et paramètres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106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personnel civil déclaré à la CNPS (DISA), hors travailleurs occasionnels et fonctionnaires de police détachés, évaluation au 31/12</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 du personnel par entité de 2021 à 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107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exercices 2021, 2022, 2023 et 2025 (pas de DISA exploitable en 2024), personnel civil déclaré à la CNPS. Montants en FCFA</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 du personnel agent par agent : Direction Générale (1/2)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108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agents déclarés dans la DISA 2025, évaluation au 31/12/2025. Paramètres de l'onglet 14a</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 du personnel agent par agent : Direction Générale (2/2)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109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agents déclarés dans la DISA 2025, évaluation au 31/12/2025. Paramètres de l'onglet 14a</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Partie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 du personnel agent par agent : CMP (1/3)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agents déclarés dans la DISA 2025, évaluation au 31/12/2025. Paramètres de l'onglet 14a</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Partie 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 du personnel agent par agent : CMP (2/3)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agents déclarés dans la DISA 2025, évaluation au 31/12/2025. Paramètres de l'onglet 14a</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Partie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 du personnel agent par agent : CMP (3/3)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112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agents déclarés dans la DISA 2025, évaluation au 31/12/2025. Paramètres de l'onglet 14a</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Partie 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 du personnel agent par agent : Grenier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agents déclarés dans la DISA 2025, évaluation au 31/12/2025. Paramètres de l'onglet 14a</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Partie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 du personnel agent par agent : rattachement non documenté (1/2)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114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agents déclarés dans la DISA 2025, évaluation au 31/12/2025. Paramètres de l'onglet 14a</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Partie 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 du personnel agent par agent : rattachement non documenté (2/2)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115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agents déclarés dans la DISA 2025, évaluation au 31/12/2025. Paramètres de l'onglet 14a</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Partie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 du personnel : sensibilités et qualité des données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116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personnel civil de la DISA 2025, évaluation au 31/12/2025. Plafond conventionnel non appliqué</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Partie 14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Points issus des documents du 22/10/2026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207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documents reçus le 22/10/2026</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d'après les fichiers cités dans chaque diapositive</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CMP : Centre Médical du Policier (rapport de gestion 2023) | CNPS : Caisse nationale de prévoyance sociale | DISA : déclaration individuelle des salaires annuels à la CNPS</a:t>
            </a:r>
          </a:p>
        </p:txBody>
      </p:sp>
    </p:spTree>
    <p:extLst>
      <p:ext uri="{BB962C8B-B14F-4D97-AF65-F5344CB8AC3E}">
        <p14:creationId xmlns:p14="http://schemas.microsoft.com/office/powerpoint/2010/main" val="3535956365"/>
      </p:ext>
    </p:extLst>
  </p:cSld>
  <p:clrMapOvr>
    <a:masterClrMapping/>
  </p:clrMapOvr>
  <p:transition>
    <p:fade/>
  </p:transition>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Signes et abréviations</a:t>
            </a:r>
          </a:p>
        </p:txBody>
      </p:sp>
      <p:graphicFrame>
        <p:nvGraphicFramePr>
          <p:cNvPr id="28" name="Table 27"/>
          <p:cNvGraphicFramePr>
            <a:graphicFrameLocks noGrp="1"/>
          </p:cNvGraphicFramePr>
          <p:nvPr/>
        </p:nvGraphicFramePr>
        <p:xfrm>
          <a:off x="503999" y="720000"/>
          <a:ext cx="11232000" cy="6480000"/>
        </p:xfrm>
        <a:graphic>
          <a:graphicData uri="http://schemas.openxmlformats.org/drawingml/2006/table">
            <a:tbl>
              <a:tblPr firstRow="0" bandRow="0">
                <a:tableStyleId>{5940675A-B579-460E-94D1-54222C63F5DA}</a:tableStyleId>
              </a:tblPr>
              <a:tblGrid>
                <a:gridCol w="936000"/>
                <a:gridCol w="4680000"/>
                <a:gridCol w="936000"/>
                <a:gridCol w="4680000"/>
              </a:tblGrid>
              <a:tr h="180000">
                <a:tc>
                  <a:txBody>
                    <a:bodyPr/>
                    <a:lstStyle/>
                    <a:p>
                      <a:pPr marL="0" indent="0" lvl="0">
                        <a:buNone/>
                      </a:pPr>
                      <a:r>
                        <a:rPr sz="750" b="1">
                          <a:solidFill>
                            <a:srgbClr val="FFFFFF"/>
                          </a:solidFill>
                          <a:latin typeface="Helvetica"/>
                        </a:rPr>
                        <a:t>Sigle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Signification</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Sigle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Signification</a:t>
                      </a:r>
                    </a:p>
                  </a:txBody>
                  <a:tcPr marL="43200" marR="43200" marT="14400" marB="14400" anchor="ctr">
                    <a:solidFill>
                      <a:srgbClr val="060606"/>
                    </a:solidFill>
                  </a:tcPr>
                </a:tc>
              </a:tr>
              <a:tr h="180000">
                <a:tc>
                  <a:txBody>
                    <a:bodyPr/>
                    <a:lstStyle/>
                    <a:p>
                      <a:pPr marL="0" indent="0" lvl="0">
                        <a:buNone/>
                      </a:pPr>
                      <a:r>
                        <a:rPr sz="750" b="1">
                          <a:solidFill>
                            <a:srgbClr val="060606"/>
                          </a:solidFill>
                          <a:latin typeface="Helvetica"/>
                        </a:rPr>
                        <a:t>870</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poste EFC</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HAO</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hors activités ordinaires</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8Z6</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poste décès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IAS, IFRS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normes comptables internationales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8Z7</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poste MEDOC</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IBNR</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sinistres survenus non encore déclarés</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936</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poste maladie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IC</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intervalle de confiance</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998</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poste PEP</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IHPC</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indice harmonisé des prix à la consommation</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9W3</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poste flotte automobile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IPS-CGRAE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Institution de prévoyance sociale - Caisse générale de retraite des agents de l'État</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9X4</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poste Grenier</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IS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impôt sur les salaires (part patronale)</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A/E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décès observés / décès attendus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ISAP</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norme internationale de pratique actuarielle de l'Association Actuarielle Internationale</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AG</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assemblée générale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Lx</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survivants à l'âge x</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AIRMS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Agence ivoirienne de régulation de la mutualité sociale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MEDOC</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produit santé complémentaire du poste 8Z7</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AMF-UMOA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Autorité des marchés financiers de l'UMOA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MEPS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ministère de l'Emploi et de la Protection sociale</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ANStat</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Agence nationale de la statistique de Côte d'Ivoire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OCR</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reconnaissance optique de caractères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BCEAO</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Banque centrale des États de l'Afrique de l'Ouest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PAR30</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part de l'encours en retard de plus de 30 jours</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CAC</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commissaire aux comptes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PBC</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liste des documents demandés au client</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CGRAE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Caisse générale de retraite des agents de l'État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PCMS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plan comptable des mutuelles sociales</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CIMA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Conférence interafricaine des marchés d'assurances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PEP</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Plan Épargne Plus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CMP</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Centre Médical du Policier (rapport de gestion 2023)</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PIDR</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provision pour indemnités de départ à la retraite</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CMU</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couverture maladie universelle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PSAP</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provision pour sinistres à payer</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CNPS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Caisse nationale de prévoyance sociale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qx</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probabilité de décès entre x et x + 1 ans</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CPM</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Comité de politique monétaire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R²</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coefficient de détermination</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CSV</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fichier texte de tableau</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S/C</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prestations / cotisations</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DAF</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directeur administratif et financier</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S/P</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sinistres sur primes (cotisations)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DAT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dépôt à terme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SCI</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société civile immobilière</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DEPA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Direction de l'École de Police d'Abidjan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SFD</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systèmes financiers décentralisés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DG</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Direction Générale du FPPN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SGI</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société de gestion et d'intermédiation</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DISA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déclaration individuelle des salaires annuels à la CNPS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SHA-256</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algorithme d'empreinte numérique servant à vérifier qu'un fichier n'a pas été modifié</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e_x</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espérance de vie à l'âge x</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SHA-256</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algorithme d'empreinte numérique</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EFC</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entraide fin de carrière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SMIG</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salaire minimum interprofessionnel garanti</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FANAF</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Fédération des sociétés d'assurances de droit national africaines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SYSCOHADA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système comptable de l'OHADA</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FCP</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fonds commun de placement</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TAFIRE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tableau financier des ressources et des emplois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FDFP</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Fonds de développement de la formation professionnelle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TCAM</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taux de croissance annuel moyen</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FNG</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fonds national de garantie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TD, TV</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anciennes tables CIMA de décès et de survie</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FOMUS-CI</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fonds de garantie des mutuelles sociales de Côte d'Ivoire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UEMOA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Union économique et monétaire ouest-africaine</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FPPN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Fonds de prévoyance de la Police nationale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UMOA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Union monétaire ouest-africaine</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GNA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assureur de la flotte automobile (compte 47111106)</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ä_x</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valeur d'une rente viagère de 1 par an à l'âge x</a:t>
                      </a:r>
                    </a:p>
                  </a:txBody>
                  <a:tcPr marL="43200" marR="43200" marT="14400" marB="14400" anchor="ctr">
                    <a:solidFill>
                      <a:srgbClr val="FFFFFF"/>
                    </a:solidFill>
                  </a:tcPr>
                </a:tc>
              </a:tr>
            </a:tbl>
          </a:graphicData>
        </a:graphic>
      </p:graphicFrame>
    </p:spTree>
    <p:extLst>
      <p:ext uri="{BB962C8B-B14F-4D97-AF65-F5344CB8AC3E}">
        <p14:creationId xmlns:p14="http://schemas.microsoft.com/office/powerpoint/2010/main" val="1948897303"/>
      </p:ext>
    </p:extLst>
  </p:cSld>
  <p:clrMapOvr>
    <a:masterClrMapping/>
  </p:clrMapOvr>
  <p:transition>
    <p:fade/>
  </p:transition>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Références et sources</a:t>
            </a:r>
          </a:p>
        </p:txBody>
      </p:sp>
      <p:graphicFrame>
        <p:nvGraphicFramePr>
          <p:cNvPr id="28" name="Table 27"/>
          <p:cNvGraphicFramePr>
            <a:graphicFrameLocks noGrp="1"/>
          </p:cNvGraphicFramePr>
          <p:nvPr/>
        </p:nvGraphicFramePr>
        <p:xfrm>
          <a:off x="503999" y="720000"/>
          <a:ext cx="11231998" cy="5725898"/>
        </p:xfrm>
        <a:graphic>
          <a:graphicData uri="http://schemas.openxmlformats.org/drawingml/2006/table">
            <a:tbl>
              <a:tblPr firstRow="0" bandRow="0">
                <a:tableStyleId>{5940675A-B579-460E-94D1-54222C63F5DA}</a:tableStyleId>
              </a:tblPr>
              <a:tblGrid>
                <a:gridCol w="3671999"/>
                <a:gridCol w="3528000"/>
                <a:gridCol w="4031999"/>
              </a:tblGrid>
              <a:tr h="180000">
                <a:tc>
                  <a:txBody>
                    <a:bodyPr/>
                    <a:lstStyle/>
                    <a:p>
                      <a:pPr marL="0" indent="0" lvl="0">
                        <a:buNone/>
                      </a:pPr>
                      <a:r>
                        <a:rPr sz="750" b="1">
                          <a:solidFill>
                            <a:srgbClr val="FFFFFF"/>
                          </a:solidFill>
                          <a:latin typeface="Helvetica"/>
                        </a:rPr>
                        <a:t>Référence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Contenu utilisé</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Lien ou emplacement</a:t>
                      </a:r>
                    </a:p>
                  </a:txBody>
                  <a:tcPr marL="43200" marR="43200" marT="14400" marB="14400" anchor="ctr">
                    <a:solidFill>
                      <a:srgbClr val="060606"/>
                    </a:solidFill>
                  </a:tcPr>
                </a:tc>
              </a:tr>
              <a:tr h="180000">
                <a:tc>
                  <a:txBody>
                    <a:bodyPr/>
                    <a:lstStyle/>
                    <a:p>
                      <a:pPr marL="0" indent="0" lvl="0">
                        <a:buNone/>
                      </a:pPr>
                      <a:r>
                        <a:rPr sz="750" b="1">
                          <a:solidFill>
                            <a:srgbClr val="060606"/>
                          </a:solidFill>
                          <a:latin typeface="Helvetica"/>
                        </a:rPr>
                        <a:t>Envoi du FPPN du 15/10/2026</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Précomptes, balances, exports du Grenier</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Dossier 04-Documents reçus du client</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Grands livres 2021, 2022, 2024, 2025 (PDF)</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Détail des écritures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Envoi complémentaire du 18/10/2026</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Entretien du 19/10/2026 avec le responsable des cotisations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Circuit des précomptes, règles des produits, nouvelles recrues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FPPN_CR_entretien_cotisations_20261019.pptx</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Entretien du 19/10/2026 (14h) avec le chef comptable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Placements, autres actifs, ressources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FPPN_CR_entretien_placements_20261019.pptx</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Entretien du 19/10/2026 (16h) avec le chef comptable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Provisions, allocations décès, retraite du personnel</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FPPN_CR_entretien_provisions_20261019.pptx</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Règlement n° 07/2009/CM/UEMOA du 26/06/2009</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Cadre de la mutualité sociale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airms-ci.com, documents publics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Règlement d'exécution n° 004/2022/COM/UEMOA du 01/06/2022</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Règles prudentielles, garantie, contrôle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airms-ci.com, documents publics</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Décision n° 05/2022/COM/UEMOA du 01/06/2022</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Indicateurs et ratios prudentiels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airms-ci.com, documents publics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Règlement n° 03/2012/CM/UEMOA et PCMS (mai 2012)</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Plan comptable des mutuelles sociales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airms-ci.com, documents publics</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Arrêté n° 00115/MEPS/CAB du 12/12/2023</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Sanctions administratives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airms-ci.com, documents publics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Arrêtés n° 092 et 093/MEPS/CAB du 06/09/2023</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Agrément, immatriculation, frais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airms-ci.com, documents publics</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Répertoire AIRMS des mutuelles agréées (15/10/2026)</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Agrément et immatriculation du FPPN</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airms-ci.com, documents publics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Ordonnance n° 2024-1043</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FOMUS-CI</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civlii.laws.africa</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Code CIMA, article 338</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Tables et taux technique de 3,5 %</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cima-afrique.org</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Tables CIMA H, CIMA F, TD, TV. Table ronde CIMA FANAF (2011)</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Mortalité de référence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Fichiers fournis le 18/10/2026. Fanaf.org</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BCEAO, communiqués du CPM 2020 à 2025</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Taux directeurs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bceao.int</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Banque mondiale, FP.CPI.TOTL.ZG</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Inflation 2020 à 2025</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donnees.banquemondiale.org</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Code CIMA, art. 334-8. Circulaire n° 00230/CIMA/CRCA/PDT/2005</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Provisions techniques. Méthode de la cadence des déclarations tardives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Textes fournis le 19/10/2026</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BCEAO, instruction sur les créances en souffrance des SFD</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Barème de dépréciation des prêts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bceao.int, réglementation des SFD (texte à joindre)</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Décret n° 2017-210 du 30/03/2017. Convention collective interprofessionnelle du 19/07/1977, art. 40</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Indemnité de départ à la retraite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Textes fournis le 19/10/2026</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Statuts et règlement intérieur du FPPN (15/06/2023)</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Barème, provisions, réserves, produits, personnel</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Textes fournis le 19/10/2026</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BCEAO, Rapport sur la Politique Monétaire dans l'UMOA, mars 2026</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Inflation de la santé (tableau 12), taux des titres publics (17) et des dépôts à terme (22)</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bceao.int</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ANStat, IHPC par poste de consommation (national)</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Inflation médicale de la Côte d'Ivoire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Extraction du 19/10/2026</a:t>
                      </a:r>
                    </a:p>
                  </a:txBody>
                  <a:tcPr marL="43200" marR="43200" marT="14400" marB="14400" anchor="ctr">
                    <a:solidFill>
                      <a:srgbClr val="FFFFFF"/>
                    </a:solidFill>
                  </a:tcPr>
                </a:tc>
              </a:tr>
              <a:tr h="286214">
                <a:tc>
                  <a:txBody>
                    <a:bodyPr/>
                    <a:lstStyle/>
                    <a:p>
                      <a:pPr marL="0" indent="0" lvl="0">
                        <a:buNone/>
                      </a:pPr>
                      <a:r>
                        <a:rPr sz="750" b="1">
                          <a:solidFill>
                            <a:srgbClr val="060606"/>
                          </a:solidFill>
                          <a:latin typeface="Helvetica"/>
                        </a:rPr>
                        <a:t>Investing.com, rendements des obligations de l'État de Côte d'Ivoire à 5 et 10 ans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Référence de marché du rendement des placements (source secondaire)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Exports du 19/10/2026, cotations de mars 2021 à octobre 2026</a:t>
                      </a:r>
                    </a:p>
                  </a:txBody>
                  <a:tcPr marL="43200" marR="43200" marT="14400" marB="14400" anchor="ctr">
                    <a:solidFill>
                      <a:srgbClr val="F2F2F2"/>
                    </a:solidFill>
                  </a:tcPr>
                </a:tc>
              </a:tr>
              <a:tr h="400521">
                <a:tc>
                  <a:txBody>
                    <a:bodyPr/>
                    <a:lstStyle/>
                    <a:p>
                      <a:pPr marL="0" indent="0" lvl="0">
                        <a:buNone/>
                      </a:pPr>
                      <a:r>
                        <a:rPr sz="750" b="1">
                          <a:solidFill>
                            <a:srgbClr val="060606"/>
                          </a:solidFill>
                          <a:latin typeface="Helvetica"/>
                        </a:rPr>
                        <a:t>Documents reçus le 22/10/2026 (lots 1 à 3, 116 fichiers)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États financiers, rapports de gestion, cahiers des charges, manuel d'épargne, étude des ratios, DISA, grands livres, rapprochements bancaires, conventions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Dossier 04-Documents reçus du client. Journaux journal_lot1.csv à journal_lot3.csv</a:t>
                      </a:r>
                    </a:p>
                  </a:txBody>
                  <a:tcPr marL="43200" marR="43200" marT="14400" marB="14400" anchor="ctr">
                    <a:solidFill>
                      <a:srgbClr val="FFFFFF"/>
                    </a:solidFill>
                  </a:tcPr>
                </a:tc>
              </a:tr>
              <a:tr h="400521">
                <a:tc>
                  <a:txBody>
                    <a:bodyPr/>
                    <a:lstStyle/>
                    <a:p>
                      <a:pPr marL="0" indent="0" lvl="0">
                        <a:buNone/>
                      </a:pPr>
                      <a:r>
                        <a:rPr sz="750" b="1">
                          <a:solidFill>
                            <a:srgbClr val="060606"/>
                          </a:solidFill>
                          <a:latin typeface="Helvetica"/>
                        </a:rPr>
                        <a:t>Classeur des calculs v9</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Tableaux, ratios, provisions, formules (onglet 11_formules), sensibilités (onglets 13), provision du personnel (14), mortalité (15), EFC (16), contrôles croisés (17), traçabilité et validité</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FPPN_Calculs_rapport_20261015_v9.xlsx</a:t>
                      </a:r>
                    </a:p>
                  </a:txBody>
                  <a:tcPr marL="43200" marR="43200" marT="14400" marB="14400" anchor="ctr">
                    <a:solidFill>
                      <a:srgbClr val="F2F2F2"/>
                    </a:solidFill>
                  </a:tcPr>
                </a:tc>
              </a:tr>
            </a:tbl>
          </a:graphicData>
        </a:graphic>
      </p:graphicFrame>
      <p:sp>
        <p:nvSpPr>
          <p:cNvPr id="29" name="TextBox 28"/>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AIRMS : Agence ivoirienne de régulation de la mutualité sociale | UEMOA : Union économique et monétaire ouest-africaine | PCMS : plan comptable des mutuelles sociales | CIMA : Conférence interafricaine des marchés d'assurances | BCEAO : Banque centrale des États de l'Afrique de l'Ouest | EFC : entraide fin de carrière | S/C : prestations / cotisations | SFD : systèmes financiers décentralisés | FOMUS-CI : fonds de garantie des mutuelles sociales de Côte d'Ivoire | MEPS : ministère de l'Emploi et de la Protection sociale | FANAF : Fédération des sociétés d'assurances de droit national africaines | CPM : Comité de politique monétaire | ANStat : Agence nationale de la statistique de Côte d'Ivoire | IHPC : indice harmonisé des prix à la consommation | UMOA : Union monétaire ouest-africaine | DISA : déclaration individuelle des salaires annuels à la CNPS</a:t>
            </a:r>
          </a:p>
        </p:txBody>
      </p:sp>
    </p:spTree>
    <p:extLst>
      <p:ext uri="{BB962C8B-B14F-4D97-AF65-F5344CB8AC3E}">
        <p14:creationId xmlns:p14="http://schemas.microsoft.com/office/powerpoint/2010/main" val="3022801221"/>
      </p:ext>
    </p:extLst>
  </p:cSld>
  <p:clrMapOvr>
    <a:masterClrMapping/>
  </p:clrMapOvr>
  <p:transition>
    <p:fade/>
  </p:transition>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40667" y="-1240"/>
            <a:ext cx="6858000" cy="6858000"/>
          </a:xfrm>
          <a:prstGeom prst="rect">
            <a:avLst/>
          </a:prstGeom>
        </p:spPr>
      </p:pic>
      <p:sp>
        <p:nvSpPr>
          <p:cNvPr id="15" name="Rectangle 14"/>
          <p:cNvSpPr/>
          <p:nvPr/>
        </p:nvSpPr>
        <p:spPr>
          <a:xfrm>
            <a:off x="0" y="0"/>
            <a:ext cx="6045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I" noProof="0"/>
          </a:p>
        </p:txBody>
      </p:sp>
      <p:pic>
        <p:nvPicPr>
          <p:cNvPr id="6" name="Image 5">
            <a:extLst>
              <a:ext uri="{FF2B5EF4-FFF2-40B4-BE49-F238E27FC236}">
                <a16:creationId xmlns:a16="http://schemas.microsoft.com/office/drawing/2014/main" id="{2C356854-0685-DCEF-E2F6-65D5E9653A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248" y="-135577"/>
            <a:ext cx="3261353" cy="1301437"/>
          </a:xfrm>
          <a:prstGeom prst="rect">
            <a:avLst/>
          </a:prstGeom>
        </p:spPr>
      </p:pic>
      <p:sp>
        <p:nvSpPr>
          <p:cNvPr id="14" name="ZoneTexte 13">
            <a:extLst>
              <a:ext uri="{FF2B5EF4-FFF2-40B4-BE49-F238E27FC236}">
                <a16:creationId xmlns:a16="http://schemas.microsoft.com/office/drawing/2014/main" id="{C6E7D94B-8E49-C846-A392-87DFA5EF4A9D}"/>
              </a:ext>
            </a:extLst>
          </p:cNvPr>
          <p:cNvSpPr txBox="1"/>
          <p:nvPr/>
        </p:nvSpPr>
        <p:spPr>
          <a:xfrm>
            <a:off x="456025" y="6300894"/>
            <a:ext cx="4653185" cy="338554"/>
          </a:xfrm>
          <a:prstGeom prst="rect">
            <a:avLst/>
          </a:prstGeom>
          <a:noFill/>
        </p:spPr>
        <p:txBody>
          <a:bodyPr wrap="square">
            <a:spAutoFit/>
          </a:bodyPr>
          <a:lstStyle/>
          <a:p>
            <a:r>
              <a:rPr lang="fr-CI" sz="1600" noProof="0">
                <a:solidFill>
                  <a:schemeClr val="bg1"/>
                </a:solidFill>
                <a:latin typeface="Helvetica" panose="020B0604020202020204" pitchFamily="34" charset="0"/>
                <a:cs typeface="Helvetica" panose="020B0604020202020204" pitchFamily="34" charset="0"/>
              </a:rPr>
              <a:t>Empreinte Africaine, Expertise Internationale</a:t>
            </a:r>
          </a:p>
        </p:txBody>
      </p:sp>
      <p:sp>
        <p:nvSpPr>
          <p:cNvPr id="13" name="Google Shape;138;p25"/>
          <p:cNvSpPr txBox="1"/>
          <p:nvPr/>
        </p:nvSpPr>
        <p:spPr>
          <a:xfrm>
            <a:off x="920037" y="3088600"/>
            <a:ext cx="5800971" cy="615553"/>
          </a:xfrm>
          <a:prstGeom prst="rect">
            <a:avLst/>
          </a:prstGeom>
          <a:noFill/>
          <a:ln>
            <a:noFill/>
          </a:ln>
        </p:spPr>
        <p:txBody>
          <a:bodyPr spcFirstLastPara="1" wrap="square" lIns="0" tIns="0" rIns="0" bIns="0" anchor="t" anchorCtr="0">
            <a:spAutoFit/>
          </a:bodyPr>
          <a:lstStyle/>
          <a:p>
            <a:r>
              <a:rPr lang="fr-CI" sz="4000" noProof="0">
                <a:solidFill>
                  <a:schemeClr val="bg1"/>
                </a:solidFill>
                <a:latin typeface="Helvetica" panose="020B0604020202020204" pitchFamily="34" charset="0"/>
                <a:cs typeface="Helvetica" panose="020B0604020202020204" pitchFamily="34" charset="0"/>
              </a:rPr>
              <a:t>Merci </a:t>
            </a:r>
          </a:p>
        </p:txBody>
      </p:sp>
    </p:spTree>
    <p:extLst>
      <p:ext uri="{BB962C8B-B14F-4D97-AF65-F5344CB8AC3E}">
        <p14:creationId xmlns:p14="http://schemas.microsoft.com/office/powerpoint/2010/main" val="21165902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2509</TotalTime>
  <Words>16641</Words>
  <Application>Microsoft Office PowerPoint</Application>
  <PresentationFormat>Grand écran</PresentationFormat>
  <Paragraphs>1935</Paragraphs>
  <Slides>233</Slides>
  <Notes>2</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Adenka Consulting</dc:creator>
  <cp:lastModifiedBy>Adenka Consulting</cp:lastModifiedBy>
  <cp:revision>1</cp:revision>
  <dcterms:created xsi:type="dcterms:W3CDTF">2025-10-22T15:02:15Z</dcterms:created>
  <dcterms:modified xsi:type="dcterms:W3CDTF">2026-09-23T09:25:57Z</dcterms:modified>
  <dc:subject/>
  <cp:keywords/>
  <dc:description/>
</cp:coreProperties>
</file>