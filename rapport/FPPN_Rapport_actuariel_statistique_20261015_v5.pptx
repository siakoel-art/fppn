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335" r:id="rId51"/>
    <p:sldId id="405" r:id="rId125"/>
    <p:sldId id="325" r:id="rId25"/>
    <p:sldId id="406" r:id="rId126"/>
    <p:sldId id="407" r:id="rId127"/>
    <p:sldId id="408" r:id="rId128"/>
    <p:sldId id="369" r:id="rId109"/>
    <p:sldId id="361" r:id="rId85"/>
    <p:sldId id="409" r:id="rId129"/>
    <p:sldId id="330" r:id="rId41"/>
    <p:sldId id="410" r:id="rId130"/>
    <p:sldId id="411" r:id="rId131"/>
    <p:sldId id="412" r:id="rId132"/>
    <p:sldId id="413" r:id="rId133"/>
    <p:sldId id="414" r:id="rId134"/>
    <p:sldId id="415" r:id="rId135"/>
    <p:sldId id="416" r:id="rId136"/>
    <p:sldId id="417" r:id="rId137"/>
    <p:sldId id="418" r:id="rId138"/>
    <p:sldId id="419" r:id="rId139"/>
    <p:sldId id="420" r:id="rId140"/>
    <p:sldId id="312" r:id="rId11"/>
    <p:sldId id="421" r:id="rId141"/>
    <p:sldId id="422" r:id="rId142"/>
    <p:sldId id="423" r:id="rId143"/>
    <p:sldId id="424" r:id="rId144"/>
    <p:sldId id="425" r:id="rId145"/>
    <p:sldId id="426" r:id="rId146"/>
    <p:sldId id="316" r:id="rId15"/>
    <p:sldId id="427" r:id="rId147"/>
    <p:sldId id="428" r:id="rId148"/>
    <p:sldId id="429" r:id="rId149"/>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399" r:id="rId33"/>
    <p:sldId id="491" r:id="rId211"/>
    <p:sldId id="492" r:id="rId212"/>
    <p:sldId id="329" r:id="rId31"/>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332" r:id="rId43"/>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539" r:id="rId259"/>
    <p:sldId id="540" r:id="rId260"/>
    <p:sldId id="541" r:id="rId261"/>
    <p:sldId id="542" r:id="rId262"/>
    <p:sldId id="543" r:id="rId263"/>
    <p:sldId id="544" r:id="rId264"/>
    <p:sldId id="545" r:id="rId265"/>
    <p:sldId id="546" r:id="rId266"/>
    <p:sldId id="547" r:id="rId267"/>
    <p:sldId id="548" r:id="rId268"/>
    <p:sldId id="549" r:id="rId269"/>
    <p:sldId id="550" r:id="rId270"/>
    <p:sldId id="551" r:id="rId271"/>
    <p:sldId id="552" r:id="rId272"/>
    <p:sldId id="553" r:id="rId273"/>
    <p:sldId id="554" r:id="rId274"/>
    <p:sldId id="555" r:id="rId275"/>
    <p:sldId id="556" r:id="rId276"/>
    <p:sldId id="557" r:id="rId277"/>
    <p:sldId id="558" r:id="rId278"/>
    <p:sldId id="559" r:id="rId279"/>
    <p:sldId id="560" r:id="rId280"/>
    <p:sldId id="561" r:id="rId281"/>
    <p:sldId id="562" r:id="rId282"/>
    <p:sldId id="563" r:id="rId283"/>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26.xml"/><Relationship Id="rId15" Type="http://schemas.openxmlformats.org/officeDocument/2006/relationships/slide" Target="slides/slide33.xml"/><Relationship Id="rId25" Type="http://schemas.openxmlformats.org/officeDocument/2006/relationships/slide" Target="slides/slide7.xml"/><Relationship Id="rId31" Type="http://schemas.openxmlformats.org/officeDocument/2006/relationships/slide" Target="slides/slide101.xml"/><Relationship Id="rId33" Type="http://schemas.openxmlformats.org/officeDocument/2006/relationships/slide" Target="slides/slide98.xml"/><Relationship Id="rId41" Type="http://schemas.openxmlformats.org/officeDocument/2006/relationships/slide" Target="slides/slide14.xml"/><Relationship Id="rId43" Type="http://schemas.openxmlformats.org/officeDocument/2006/relationships/slide" Target="slides/slide136.xml"/><Relationship Id="rId51" Type="http://schemas.openxmlformats.org/officeDocument/2006/relationships/slide" Target="slides/slide5.xml"/><Relationship Id="rId85" Type="http://schemas.openxmlformats.org/officeDocument/2006/relationships/slide" Target="slides/slide12.xml"/><Relationship Id="rId109" Type="http://schemas.openxmlformats.org/officeDocument/2006/relationships/slide" Target="slides/slide11.xml"/><Relationship Id="rId112" Type="http://schemas.openxmlformats.org/officeDocument/2006/relationships/slide" Target="slides/slide174.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6.xml"/><Relationship Id="rId126" Type="http://schemas.openxmlformats.org/officeDocument/2006/relationships/slide" Target="slides/slide8.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3.xml"/><Relationship Id="rId130" Type="http://schemas.openxmlformats.org/officeDocument/2006/relationships/slide" Target="slides/slide15.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7.xml"/><Relationship Id="rId142" Type="http://schemas.openxmlformats.org/officeDocument/2006/relationships/slide" Target="slides/slide28.xml"/><Relationship Id="rId143" Type="http://schemas.openxmlformats.org/officeDocument/2006/relationships/slide" Target="slides/slide29.xml"/><Relationship Id="rId144" Type="http://schemas.openxmlformats.org/officeDocument/2006/relationships/slide" Target="slides/slide30.xml"/><Relationship Id="rId145" Type="http://schemas.openxmlformats.org/officeDocument/2006/relationships/slide" Target="slides/slide31.xml"/><Relationship Id="rId146" Type="http://schemas.openxmlformats.org/officeDocument/2006/relationships/slide" Target="slides/slide32.xml"/><Relationship Id="rId147" Type="http://schemas.openxmlformats.org/officeDocument/2006/relationships/slide" Target="slides/slide34.xml"/><Relationship Id="rId148" Type="http://schemas.openxmlformats.org/officeDocument/2006/relationships/slide" Target="slides/slide35.xml"/><Relationship Id="rId149" Type="http://schemas.openxmlformats.org/officeDocument/2006/relationships/slide" Target="slides/slide36.xml"/><Relationship Id="rId150" Type="http://schemas.openxmlformats.org/officeDocument/2006/relationships/slide" Target="slides/slide37.xml"/><Relationship Id="rId151" Type="http://schemas.openxmlformats.org/officeDocument/2006/relationships/slide" Target="slides/slide38.xml"/><Relationship Id="rId152" Type="http://schemas.openxmlformats.org/officeDocument/2006/relationships/slide" Target="slides/slide39.xml"/><Relationship Id="rId153" Type="http://schemas.openxmlformats.org/officeDocument/2006/relationships/slide" Target="slides/slide40.xml"/><Relationship Id="rId154" Type="http://schemas.openxmlformats.org/officeDocument/2006/relationships/slide" Target="slides/slide41.xml"/><Relationship Id="rId155" Type="http://schemas.openxmlformats.org/officeDocument/2006/relationships/slide" Target="slides/slide42.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8.xml"/><Relationship Id="rId202" Type="http://schemas.openxmlformats.org/officeDocument/2006/relationships/slide" Target="slides/slide89.xml"/><Relationship Id="rId203" Type="http://schemas.openxmlformats.org/officeDocument/2006/relationships/slide" Target="slides/slide90.xml"/><Relationship Id="rId204" Type="http://schemas.openxmlformats.org/officeDocument/2006/relationships/slide" Target="slides/slide91.xml"/><Relationship Id="rId205" Type="http://schemas.openxmlformats.org/officeDocument/2006/relationships/slide" Target="slides/slide92.xml"/><Relationship Id="rId206" Type="http://schemas.openxmlformats.org/officeDocument/2006/relationships/slide" Target="slides/slide93.xml"/><Relationship Id="rId207" Type="http://schemas.openxmlformats.org/officeDocument/2006/relationships/slide" Target="slides/slide94.xml"/><Relationship Id="rId208" Type="http://schemas.openxmlformats.org/officeDocument/2006/relationships/slide" Target="slides/slide95.xml"/><Relationship Id="rId209" Type="http://schemas.openxmlformats.org/officeDocument/2006/relationships/slide" Target="slides/slide96.xml"/><Relationship Id="rId210" Type="http://schemas.openxmlformats.org/officeDocument/2006/relationships/slide" Target="slides/slide97.xml"/><Relationship Id="rId211" Type="http://schemas.openxmlformats.org/officeDocument/2006/relationships/slide" Target="slides/slide99.xml"/><Relationship Id="rId212" Type="http://schemas.openxmlformats.org/officeDocument/2006/relationships/slide" Target="slides/slide100.xml"/><Relationship Id="rId213" Type="http://schemas.openxmlformats.org/officeDocument/2006/relationships/slide" Target="slides/slide102.xml"/><Relationship Id="rId214" Type="http://schemas.openxmlformats.org/officeDocument/2006/relationships/slide" Target="slides/slide103.xml"/><Relationship Id="rId215" Type="http://schemas.openxmlformats.org/officeDocument/2006/relationships/slide" Target="slides/slide104.xml"/><Relationship Id="rId216" Type="http://schemas.openxmlformats.org/officeDocument/2006/relationships/slide" Target="slides/slide105.xml"/><Relationship Id="rId217" Type="http://schemas.openxmlformats.org/officeDocument/2006/relationships/slide" Target="slides/slide106.xml"/><Relationship Id="rId218" Type="http://schemas.openxmlformats.org/officeDocument/2006/relationships/slide" Target="slides/slide107.xml"/><Relationship Id="rId219" Type="http://schemas.openxmlformats.org/officeDocument/2006/relationships/slide" Target="slides/slide108.xml"/><Relationship Id="rId220" Type="http://schemas.openxmlformats.org/officeDocument/2006/relationships/slide" Target="slides/slide109.xml"/><Relationship Id="rId221" Type="http://schemas.openxmlformats.org/officeDocument/2006/relationships/slide" Target="slides/slide110.xml"/><Relationship Id="rId222" Type="http://schemas.openxmlformats.org/officeDocument/2006/relationships/slide" Target="slides/slide111.xml"/><Relationship Id="rId223" Type="http://schemas.openxmlformats.org/officeDocument/2006/relationships/slide" Target="slides/slide112.xml"/><Relationship Id="rId224" Type="http://schemas.openxmlformats.org/officeDocument/2006/relationships/slide" Target="slides/slide113.xml"/><Relationship Id="rId225" Type="http://schemas.openxmlformats.org/officeDocument/2006/relationships/slide" Target="slides/slide114.xml"/><Relationship Id="rId226" Type="http://schemas.openxmlformats.org/officeDocument/2006/relationships/slide" Target="slides/slide115.xml"/><Relationship Id="rId227" Type="http://schemas.openxmlformats.org/officeDocument/2006/relationships/slide" Target="slides/slide116.xml"/><Relationship Id="rId228" Type="http://schemas.openxmlformats.org/officeDocument/2006/relationships/slide" Target="slides/slide117.xml"/><Relationship Id="rId229" Type="http://schemas.openxmlformats.org/officeDocument/2006/relationships/slide" Target="slides/slide118.xml"/><Relationship Id="rId230" Type="http://schemas.openxmlformats.org/officeDocument/2006/relationships/slide" Target="slides/slide119.xml"/><Relationship Id="rId231" Type="http://schemas.openxmlformats.org/officeDocument/2006/relationships/slide" Target="slides/slide120.xml"/><Relationship Id="rId232" Type="http://schemas.openxmlformats.org/officeDocument/2006/relationships/slide" Target="slides/slide121.xml"/><Relationship Id="rId233" Type="http://schemas.openxmlformats.org/officeDocument/2006/relationships/slide" Target="slides/slide122.xml"/><Relationship Id="rId234" Type="http://schemas.openxmlformats.org/officeDocument/2006/relationships/slide" Target="slides/slide123.xml"/><Relationship Id="rId235" Type="http://schemas.openxmlformats.org/officeDocument/2006/relationships/slide" Target="slides/slide124.xml"/><Relationship Id="rId236" Type="http://schemas.openxmlformats.org/officeDocument/2006/relationships/slide" Target="slides/slide125.xml"/><Relationship Id="rId237" Type="http://schemas.openxmlformats.org/officeDocument/2006/relationships/slide" Target="slides/slide126.xml"/><Relationship Id="rId238" Type="http://schemas.openxmlformats.org/officeDocument/2006/relationships/slide" Target="slides/slide127.xml"/><Relationship Id="rId239" Type="http://schemas.openxmlformats.org/officeDocument/2006/relationships/slide" Target="slides/slide128.xml"/><Relationship Id="rId240" Type="http://schemas.openxmlformats.org/officeDocument/2006/relationships/slide" Target="slides/slide129.xml"/><Relationship Id="rId241" Type="http://schemas.openxmlformats.org/officeDocument/2006/relationships/slide" Target="slides/slide130.xml"/><Relationship Id="rId242" Type="http://schemas.openxmlformats.org/officeDocument/2006/relationships/slide" Target="slides/slide131.xml"/><Relationship Id="rId243" Type="http://schemas.openxmlformats.org/officeDocument/2006/relationships/slide" Target="slides/slide132.xml"/><Relationship Id="rId244" Type="http://schemas.openxmlformats.org/officeDocument/2006/relationships/slide" Target="slides/slide133.xml"/><Relationship Id="rId245" Type="http://schemas.openxmlformats.org/officeDocument/2006/relationships/slide" Target="slides/slide134.xml"/><Relationship Id="rId246" Type="http://schemas.openxmlformats.org/officeDocument/2006/relationships/slide" Target="slides/slide135.xml"/><Relationship Id="rId247" Type="http://schemas.openxmlformats.org/officeDocument/2006/relationships/slide" Target="slides/slide137.xml"/><Relationship Id="rId248" Type="http://schemas.openxmlformats.org/officeDocument/2006/relationships/slide" Target="slides/slide138.xml"/><Relationship Id="rId249" Type="http://schemas.openxmlformats.org/officeDocument/2006/relationships/slide" Target="slides/slide139.xml"/><Relationship Id="rId250" Type="http://schemas.openxmlformats.org/officeDocument/2006/relationships/slide" Target="slides/slide140.xml"/><Relationship Id="rId251" Type="http://schemas.openxmlformats.org/officeDocument/2006/relationships/slide" Target="slides/slide141.xml"/><Relationship Id="rId252" Type="http://schemas.openxmlformats.org/officeDocument/2006/relationships/slide" Target="slides/slide142.xml"/><Relationship Id="rId253" Type="http://schemas.openxmlformats.org/officeDocument/2006/relationships/slide" Target="slides/slide143.xml"/><Relationship Id="rId254" Type="http://schemas.openxmlformats.org/officeDocument/2006/relationships/slide" Target="slides/slide144.xml"/><Relationship Id="rId255" Type="http://schemas.openxmlformats.org/officeDocument/2006/relationships/slide" Target="slides/slide145.xml"/><Relationship Id="rId256" Type="http://schemas.openxmlformats.org/officeDocument/2006/relationships/slide" Target="slides/slide146.xml"/><Relationship Id="rId257" Type="http://schemas.openxmlformats.org/officeDocument/2006/relationships/slide" Target="slides/slide147.xml"/><Relationship Id="rId258" Type="http://schemas.openxmlformats.org/officeDocument/2006/relationships/slide" Target="slides/slide148.xml"/><Relationship Id="rId259" Type="http://schemas.openxmlformats.org/officeDocument/2006/relationships/slide" Target="slides/slide149.xml"/><Relationship Id="rId260" Type="http://schemas.openxmlformats.org/officeDocument/2006/relationships/slide" Target="slides/slide150.xml"/><Relationship Id="rId261" Type="http://schemas.openxmlformats.org/officeDocument/2006/relationships/slide" Target="slides/slide151.xml"/><Relationship Id="rId262" Type="http://schemas.openxmlformats.org/officeDocument/2006/relationships/slide" Target="slides/slide152.xml"/><Relationship Id="rId263" Type="http://schemas.openxmlformats.org/officeDocument/2006/relationships/slide" Target="slides/slide153.xml"/><Relationship Id="rId264" Type="http://schemas.openxmlformats.org/officeDocument/2006/relationships/slide" Target="slides/slide154.xml"/><Relationship Id="rId265" Type="http://schemas.openxmlformats.org/officeDocument/2006/relationships/slide" Target="slides/slide155.xml"/><Relationship Id="rId266" Type="http://schemas.openxmlformats.org/officeDocument/2006/relationships/slide" Target="slides/slide156.xml"/><Relationship Id="rId267" Type="http://schemas.openxmlformats.org/officeDocument/2006/relationships/slide" Target="slides/slide157.xml"/><Relationship Id="rId268" Type="http://schemas.openxmlformats.org/officeDocument/2006/relationships/slide" Target="slides/slide158.xml"/><Relationship Id="rId269" Type="http://schemas.openxmlformats.org/officeDocument/2006/relationships/slide" Target="slides/slide159.xml"/><Relationship Id="rId270" Type="http://schemas.openxmlformats.org/officeDocument/2006/relationships/slide" Target="slides/slide160.xml"/><Relationship Id="rId271" Type="http://schemas.openxmlformats.org/officeDocument/2006/relationships/slide" Target="slides/slide161.xml"/><Relationship Id="rId272" Type="http://schemas.openxmlformats.org/officeDocument/2006/relationships/slide" Target="slides/slide162.xml"/><Relationship Id="rId273" Type="http://schemas.openxmlformats.org/officeDocument/2006/relationships/slide" Target="slides/slide163.xml"/><Relationship Id="rId274" Type="http://schemas.openxmlformats.org/officeDocument/2006/relationships/slide" Target="slides/slide164.xml"/><Relationship Id="rId275" Type="http://schemas.openxmlformats.org/officeDocument/2006/relationships/slide" Target="slides/slide165.xml"/><Relationship Id="rId276" Type="http://schemas.openxmlformats.org/officeDocument/2006/relationships/slide" Target="slides/slide166.xml"/><Relationship Id="rId277" Type="http://schemas.openxmlformats.org/officeDocument/2006/relationships/slide" Target="slides/slide167.xml"/><Relationship Id="rId278" Type="http://schemas.openxmlformats.org/officeDocument/2006/relationships/slide" Target="slides/slide168.xml"/><Relationship Id="rId279" Type="http://schemas.openxmlformats.org/officeDocument/2006/relationships/slide" Target="slides/slide169.xml"/><Relationship Id="rId280" Type="http://schemas.openxmlformats.org/officeDocument/2006/relationships/slide" Target="slides/slide170.xml"/><Relationship Id="rId281" Type="http://schemas.openxmlformats.org/officeDocument/2006/relationships/slide" Target="slides/slide171.xml"/><Relationship Id="rId282" Type="http://schemas.openxmlformats.org/officeDocument/2006/relationships/slide" Target="slides/slide172.xml"/><Relationship Id="rId283" Type="http://schemas.openxmlformats.org/officeDocument/2006/relationships/slide" Target="slides/slide1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indiqué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indiqué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5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indiqué par le responsable des sinistres et prestations lors de l'entretien du 16/10/2026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L'article 10 du règlement d'exécution n° 004/2022 impose d'ajouter à la PSAP « une estimation du coût des risques survenus mais non déclarés », sans fixer de méthode. Le Code CIMA, applicable aux assureurs, en fixe une : elle sert ici de référence technique. Exemple simple : si, en moyenne, 20 sinistres de plus sont déclarés l'année suivante pour 100 déclarés dans l'année, on ajoute 20 % de sinistres au coût moyen observé.</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prêt en retard est un actif qui risque de ne pas être remboursé : il se déprécie (PCMS, principe de prudence). Ce n'est pas une provision technique, qui couvre une dette envers les adhérents. Les textes de la mutualité ne donnent pas de taux : la référence retenue est le barème de la BCEAO pour les systèmes financiers décentralisés (SFD), proche du Grenier (petits prêts à des membres). Ce barème est publié sur bceao.int, rubrique réglementation des SFD ; le texte est à joindre au dossier.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responsable des cotisations (entretien du 19/10/2026, à confirmer par la convention avec GNA), les primes vont directement à GNA et le FPPN n'y a pas accès. GNA porte donc le risque et doit seul constituer les provisions d'assurance. Si le FPPN portait le risque, il exercerait une activité d'assurance de dommages, hors du champ de la mutualité sociale (règlement n° 07/2009, compatibilité des risques).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retenu : convention collective interprofessionnelle de Côte d'Ivoire, un pourcentage du salaire mensuel moyen par année d'ancienneté (30 % jusqu'à 5 ans, 35 % de 6 à 10 ans, 40 % au-delà), à confirmer par le texte.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de la chaîne de traitement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analyses ne peuvent pas être faites de façon précise avec les données reçues. Elles seront intégrées à la version suivante du rapport dès réception des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v5.</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21.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1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1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1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2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2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notesSlide" Target="../notesSlides/notesSlide13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3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3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3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3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3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3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3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0.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7740000" y="6388244"/>
            <a:ext cx="3960000"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Rapport d'étape au 15 octobre 2026, version 5</a:t>
            </a:r>
          </a:p>
        </p:txBody>
      </p:sp>
      <p:sp>
        <p:nvSpPr>
          <p:cNvPr id="9" name="Google Shape;138;p25"/>
          <p:cNvSpPr txBox="1"/>
          <p:nvPr/>
        </p:nvSpPr>
        <p:spPr>
          <a:xfrm>
            <a:off x="908861" y="2534894"/>
            <a:ext cx="4608000" cy="1231106"/>
          </a:xfrm>
          <a:prstGeom prst="rect">
            <a:avLst/>
          </a:prstGeom>
          <a:noFill/>
          <a:ln>
            <a:noFill/>
          </a:ln>
        </p:spPr>
        <p:txBody>
          <a:bodyPr spcFirstLastPara="1" wrap="square" lIns="0" tIns="0" rIns="0" bIns="0" anchor="t" anchorCtr="0">
            <a:spAutoFit/>
          </a:bodyPr>
          <a:lstStyle/>
          <a:p>
            <a:r>
              <a:rPr lang="fr-CI" sz="4000" b="1" noProof="0">
                <a:solidFill>
                  <a:schemeClr val="bg1"/>
                </a:solidFill>
                <a:latin typeface="Helvetica" panose="020B0604020202020204" pitchFamily="34" charset="0"/>
                <a:cs typeface="Helvetica" panose="020B0604020202020204" pitchFamily="34" charset="0"/>
              </a:rPr>
              <a:t>Rapport actuariel</a:t>
            </a:r>
          </a:p>
          <a:p>
            <a:r>
              <a:rPr lang="fr-CI" sz="4000" b="1" noProof="0">
                <a:solidFill>
                  <a:schemeClr val="bg1"/>
                </a:solidFill>
                <a:latin typeface="Helvetica" panose="020B0604020202020204" pitchFamily="34" charset="0"/>
                <a:cs typeface="Helvetica" panose="020B0604020202020204" pitchFamily="34" charset="0"/>
              </a:rPr>
              <a:t>et statistique</a:t>
            </a:r>
          </a:p>
          <a:p>
            <a:r>
              <a:rPr lang="fr-CI" sz="4000" b="1" noProof="0">
                <a:solidFill>
                  <a:schemeClr val="bg1"/>
                </a:solidFill>
                <a:latin typeface="Helvetica" panose="020B0604020202020204" pitchFamily="34" charset="0"/>
                <a:cs typeface="Helvetica" panose="020B0604020202020204" pitchFamily="34" charset="0"/>
              </a:rPr>
              <a:t>du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22</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25</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34</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47</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59</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67</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76</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79</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95</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124</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131</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138</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149</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154</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3109360"/>
        </p:xfrm>
        <a:graphic>
          <a:graphicData uri="http://schemas.openxmlformats.org/drawingml/2006/table">
            <a:tbl>
              <a:tblPr firstRow="0" bandRow="0">
                <a:tableStyleId>{5940675A-B579-460E-94D1-54222C63F5DA}</a:tableStyleId>
              </a:tblPr>
              <a:tblGrid>
                <a:gridCol w="1512000"/>
                <a:gridCol w="6192000"/>
                <a:gridCol w="3528000"/>
              </a:tblGrid>
              <a:tr h="210009">
                <a:tc>
                  <a:txBody>
                    <a:bodyPr/>
                    <a:lstStyle/>
                    <a:p>
                      <a:pPr marL="0" indent="0" lvl="0">
                        <a:buNone/>
                      </a:pPr>
                      <a:r>
                        <a:rPr sz="10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Chiffre clé</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4 454 416 lignes de précomptes contrôlées</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précompte total vaut 5 % du salaire de base, mais la Solde le répartit en 3,77 % maladie et 1,23 % décès, au lieu du barème indiqué par le responsable des sinistres et prestations lors de l'entretien du 16/10/2026 (3,5 % et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 = 3,77 % + 1,23 %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 6,00 % (2021), 73,53 % (2025)</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 (2025)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14 non conformes, 7 conformes, 15 en attente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873363"/>
            <a:ext cx="11232000" cy="994636"/>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1">
                <a:solidFill>
                  <a:srgbClr val="060606"/>
                </a:solidFill>
                <a:latin typeface="Helvetica"/>
              </a:rPr>
              <a:t>Implication pour le FPPN.</a:t>
            </a:r>
            <a:r>
              <a:rPr sz="1300" b="0">
                <a:solidFill>
                  <a:srgbClr val="060606"/>
                </a:solidFill>
                <a:latin typeface="Helvetica"/>
              </a:rPr>
              <a:t> Les trois chantiers prioritaires sont la transmission des données manquantes, le recalcul des provisions et un plan de mise en conformité prudentielle à présenter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30371980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total sur le salaire de base se répartit en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a:t>
            </a:r>
          </a:p>
        </p:txBody>
      </p:sp>
    </p:spTree>
    <p:extLst>
      <p:ext uri="{BB962C8B-B14F-4D97-AF65-F5344CB8AC3E}">
        <p14:creationId xmlns:p14="http://schemas.microsoft.com/office/powerpoint/2010/main" val="15894860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7880733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1498419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1">
                <a:solidFill>
                  <a:srgbClr val="060606"/>
                </a:solidFill>
                <a:latin typeface="Helvetica"/>
              </a:rPr>
              <a:t>Implication pour le FPPN.</a:t>
            </a:r>
            <a:r>
              <a:rPr sz="1400" b="0">
                <a:solidFill>
                  <a:srgbClr val="060606"/>
                </a:solidFill>
                <a:latin typeface="Helvetica"/>
              </a:rPr>
              <a:t> 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473982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47230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372570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3746133"/>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376543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378586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164965"/>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160836"/>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121109"/>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121109"/>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128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1">
                <a:solidFill>
                  <a:srgbClr val="060606"/>
                </a:solidFill>
                <a:latin typeface="Helvetica"/>
              </a:rPr>
              <a:t>Implication pour le FPPN.</a:t>
            </a:r>
            <a:r>
              <a:rPr sz="1300" b="0">
                <a:solidFill>
                  <a:srgbClr val="060606"/>
                </a:solidFill>
                <a:latin typeface="Helvetica"/>
              </a:rPr>
              <a:t> Le plan de mise en conformité (action 5) dépend des données des actions 1 à 3 : les deux chantiers doivent être menés ensemble.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PBC : liste des documents demandés au client</a:t>
            </a:r>
          </a:p>
        </p:txBody>
      </p:sp>
    </p:spTree>
    <p:extLst>
      <p:ext uri="{BB962C8B-B14F-4D97-AF65-F5344CB8AC3E}">
        <p14:creationId xmlns:p14="http://schemas.microsoft.com/office/powerpoint/2010/main" val="39911907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521177"/>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3826704"/>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525274"/>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3830800"/>
            <a:ext cx="3277758" cy="1753551"/>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4475581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521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1">
                <a:solidFill>
                  <a:srgbClr val="060606"/>
                </a:solidFill>
                <a:latin typeface="Helvetica"/>
              </a:rPr>
              <a:t>Implication pour le FPPN.</a:t>
            </a:r>
            <a:r>
              <a:rPr sz="1300" b="0">
                <a:solidFill>
                  <a:srgbClr val="060606"/>
                </a:solidFill>
                <a:latin typeface="Helvetica"/>
              </a:rPr>
              <a:t> Les ratios de la Décision n° 05/2022 s'appliquent pleinement aux exercices 2022 à 2025 de la période d'analyse : la partie 10 les calcule un par un.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66930785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 : Produits du FPPN et montants observés</a:t>
            </a:r>
          </a:p>
        </p:txBody>
      </p:sp>
      <p:graphicFrame>
        <p:nvGraphicFramePr>
          <p:cNvPr id="32" name="Table 31"/>
          <p:cNvGraphicFramePr>
            <a:graphicFrameLocks noGrp="1"/>
          </p:cNvGraphicFramePr>
          <p:nvPr/>
        </p:nvGraphicFramePr>
        <p:xfrm>
          <a:off x="503999" y="1655999"/>
          <a:ext cx="7056000" cy="336845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3,77 % du salaire de base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1,23 % du salaire de base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risques longs (EFC, PEP) relèvent de règles prudentielles plus strictes : étude actuarielle tous les cinq ans, certification des comptes, réserve de trésorerie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55643181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055200"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96800"/>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950" b="1">
                <a:solidFill>
                  <a:srgbClr val="060606"/>
                </a:solidFill>
                <a:latin typeface="Helvetica"/>
              </a:rPr>
              <a:t>Deux circuits coexistent.</a:t>
            </a:r>
            <a:r>
              <a:rPr sz="9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950" b="1">
                <a:solidFill>
                  <a:srgbClr val="060606"/>
                </a:solidFill>
                <a:latin typeface="Helvetica"/>
              </a:rPr>
              <a:t>Implication pour le FPPN.</a:t>
            </a:r>
            <a:r>
              <a:rPr sz="950" b="0">
                <a:solidFill>
                  <a:srgbClr val="060606"/>
                </a:solidFill>
                <a:latin typeface="Helvetica"/>
              </a:rPr>
              <a:t> 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239790852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2139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1">
                <a:solidFill>
                  <a:srgbClr val="060606"/>
                </a:solidFill>
                <a:latin typeface="Helvetica"/>
              </a:rPr>
              <a:t>Implication pour le FPPN.</a:t>
            </a:r>
            <a:r>
              <a:rPr sz="1300" b="0">
                <a:solidFill>
                  <a:srgbClr val="060606"/>
                </a:solidFill>
                <a:latin typeface="Helvetica"/>
              </a:rPr>
              <a:t> Les fichiers aller maladie et décès sont à demander à la direction du personnel de la Police ou à la Solde (PBC, item 61). Le canal de réception des retours doit être précisé (PBC, item 62).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56058314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1">
                <a:solidFill>
                  <a:srgbClr val="060606"/>
                </a:solidFill>
                <a:latin typeface="Helvetica"/>
              </a:rPr>
              <a:t>Implication pour le FPPN.</a:t>
            </a:r>
            <a:r>
              <a:rPr sz="1400" b="0">
                <a:solidFill>
                  <a:srgbClr val="060606"/>
                </a:solidFill>
                <a:latin typeface="Helvetica"/>
              </a:rPr>
              <a:t> 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093610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238876460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1511278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Périmètre de la mission actuarielle et statistique</a:t>
            </a:r>
          </a:p>
        </p:txBody>
      </p:sp>
      <p:graphicFrame>
        <p:nvGraphicFramePr>
          <p:cNvPr id="32" name="Table 31"/>
          <p:cNvGraphicFramePr>
            <a:graphicFrameLocks noGrp="1"/>
          </p:cNvGraphicFramePr>
          <p:nvPr/>
        </p:nvGraphicFramePr>
        <p:xfrm>
          <a:off x="503999" y="1655999"/>
          <a:ext cx="11232000" cy="1802000"/>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15/10/2026</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seulement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Constat fait,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566004"/>
            <a:ext cx="11232000" cy="2301995"/>
          </a:xfrm>
          <a:prstGeom prst="rect">
            <a:avLst/>
          </a:prstGeom>
          <a:noFill/>
        </p:spPr>
        <p:txBody>
          <a:bodyPr wrap="square" lIns="54000" rIns="54000"/>
          <a:lstStyle/>
          <a:p>
            <a:pPr algn="just">
              <a:spcAft>
                <a:spcPts val="600"/>
              </a:spcAft>
            </a:pPr>
            <a:r>
              <a:rPr sz="1300" b="1">
                <a:solidFill>
                  <a:srgbClr val="060606"/>
                </a:solidFill>
                <a:latin typeface="Helvetica"/>
              </a:rPr>
              <a:t>Trois des quatre questions de la mission peuvent recevoir une première réponse. La première attend les données individuelles.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calcul des engagements (question 1) conditionne la réponse définitive aux questions 2 et 3 : il reste la priorité dès réception des fichiers.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69006304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SHA-256</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1">
                <a:solidFill>
                  <a:srgbClr val="060606"/>
                </a:solidFill>
                <a:latin typeface="Helvetica"/>
              </a:rPr>
              <a:t>Implication pour le FPPN.</a:t>
            </a:r>
            <a:r>
              <a:rPr sz="1050" b="0">
                <a:solidFill>
                  <a:srgbClr val="060606"/>
                </a:solidFill>
                <a:latin typeface="Helvetica"/>
              </a:rPr>
              <a:t> 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SHA-256 : algorithme d'empreinte numérique | CSV : fichier texte de tableau</a:t>
            </a:r>
          </a:p>
        </p:txBody>
      </p:sp>
    </p:spTree>
    <p:extLst>
      <p:ext uri="{BB962C8B-B14F-4D97-AF65-F5344CB8AC3E}">
        <p14:creationId xmlns:p14="http://schemas.microsoft.com/office/powerpoint/2010/main" val="349615219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87620008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26389462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1">
                <a:solidFill>
                  <a:srgbClr val="060606"/>
                </a:solidFill>
                <a:latin typeface="Helvetica"/>
              </a:rPr>
              <a:t>Implication pour le FPPN.</a:t>
            </a:r>
            <a:r>
              <a:rPr sz="1150" b="0">
                <a:solidFill>
                  <a:srgbClr val="060606"/>
                </a:solidFill>
                <a:latin typeface="Helvetica"/>
              </a:rPr>
              <a:t> 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238922344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1">
                <a:solidFill>
                  <a:srgbClr val="060606"/>
                </a:solidFill>
                <a:latin typeface="Helvetica"/>
              </a:rPr>
              <a:t>Implication pour le FPPN.</a:t>
            </a:r>
            <a:r>
              <a:rPr sz="1200" b="0">
                <a:solidFill>
                  <a:srgbClr val="060606"/>
                </a:solidFill>
                <a:latin typeface="Helvetica"/>
              </a:rPr>
              <a:t> 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6616322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1">
                <a:solidFill>
                  <a:srgbClr val="060606"/>
                </a:solidFill>
                <a:latin typeface="Helvetica"/>
              </a:rPr>
              <a:t>Implication pour le FPPN.</a:t>
            </a:r>
            <a:r>
              <a:rPr sz="1400" b="0">
                <a:solidFill>
                  <a:srgbClr val="060606"/>
                </a:solidFill>
                <a:latin typeface="Helvetica"/>
              </a:rPr>
              <a:t> 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333593935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1">
                <a:solidFill>
                  <a:srgbClr val="060606"/>
                </a:solidFill>
                <a:latin typeface="Helvetica"/>
              </a:rPr>
              <a:t>Implication pour le FPPN.</a:t>
            </a:r>
            <a:r>
              <a:rPr sz="1200" b="0">
                <a:solidFill>
                  <a:srgbClr val="060606"/>
                </a:solidFill>
                <a:latin typeface="Helvetica"/>
              </a:rPr>
              <a:t> 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225003195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2134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1">
                <a:solidFill>
                  <a:srgbClr val="060606"/>
                </a:solidFill>
                <a:latin typeface="Helvetica"/>
              </a:rPr>
              <a:t>Implication pour le FPPN.</a:t>
            </a:r>
            <a:r>
              <a:rPr sz="1300" b="0">
                <a:solidFill>
                  <a:srgbClr val="060606"/>
                </a:solidFill>
                <a:latin typeface="Helvetica"/>
              </a:rPr>
              <a:t> Le renvoi de ces fichiers complètera décembre 2024 et le détail comptable 2022, sans changer les totaux annuels déjà utilisés.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GNA : assureur de la flotte automobile (compte 47111106) | MEDOC : produit santé complémentaire du poste 8Z7 | SHA-256 : algorithme d'empreinte numérique | 936 : poste maladie | 8Z6 : poste décès | 8Z7 : poste MEDOC</a:t>
            </a:r>
          </a:p>
        </p:txBody>
      </p:sp>
    </p:spTree>
    <p:extLst>
      <p:ext uri="{BB962C8B-B14F-4D97-AF65-F5344CB8AC3E}">
        <p14:creationId xmlns:p14="http://schemas.microsoft.com/office/powerpoint/2010/main" val="349904434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6173281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63840144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394482153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1">
                <a:solidFill>
                  <a:srgbClr val="060606"/>
                </a:solidFill>
                <a:latin typeface="Helvetica"/>
              </a:rPr>
              <a:t>Implication pour le FPPN.</a:t>
            </a:r>
            <a:r>
              <a:rPr sz="1400" b="0">
                <a:solidFill>
                  <a:srgbClr val="060606"/>
                </a:solidFill>
                <a:latin typeface="Helvetica"/>
              </a:rPr>
              <a:t> Le motif de chaque sortie est indispensable pour séparer retraites, décès et radiations, et donc pour mesurer la mortalité des policiers et projeter les départs.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111198905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21663276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1">
                <a:solidFill>
                  <a:srgbClr val="060606"/>
                </a:solidFill>
                <a:latin typeface="Helvetica"/>
              </a:rPr>
              <a:t>Implication pour le FPPN.</a:t>
            </a:r>
            <a:r>
              <a:rPr sz="1200" b="0">
                <a:solidFill>
                  <a:srgbClr val="060606"/>
                </a:solidFill>
                <a:latin typeface="Helvetica"/>
              </a:rPr>
              <a:t> Le barème officiel (décision, statuts ou règlement intérieur) doit être transmis : sans lui,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151005100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indiqué en entretien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 responsable des sinistres et prestations a indiqué 3,5 % et 1,5 % lors de l'entretien du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1">
                <a:solidFill>
                  <a:srgbClr val="060606"/>
                </a:solidFill>
                <a:latin typeface="Helvetica"/>
              </a:rPr>
              <a:t>Implication pour le FPPN.</a:t>
            </a:r>
            <a:r>
              <a:rPr sz="1400" b="0">
                <a:solidFill>
                  <a:srgbClr val="060606"/>
                </a:solidFill>
                <a:latin typeface="Helvetica"/>
              </a:rPr>
              <a:t> 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16757795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1">
                <a:solidFill>
                  <a:srgbClr val="060606"/>
                </a:solidFill>
                <a:latin typeface="Helvetica"/>
              </a:rPr>
              <a:t>Implication pour le FPPN.</a:t>
            </a:r>
            <a:r>
              <a:rPr sz="1400" b="0">
                <a:solidFill>
                  <a:srgbClr val="060606"/>
                </a:solidFill>
                <a:latin typeface="Helvetica"/>
              </a:rPr>
              <a:t> 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26644503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1">
                <a:solidFill>
                  <a:srgbClr val="060606"/>
                </a:solidFill>
                <a:latin typeface="Helvetica"/>
              </a:rPr>
              <a:t>Implication pour le FPPN.</a:t>
            </a:r>
            <a:r>
              <a:rPr sz="1400" b="0">
                <a:solidFill>
                  <a:srgbClr val="060606"/>
                </a:solidFill>
                <a:latin typeface="Helvetica"/>
              </a:rPr>
              <a:t> 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14194994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2740610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sans texte qui les fonde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838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 mais aucune règle n'est appuyée par un texte transmis.</a:t>
            </a:r>
            <a:r>
              <a:rPr sz="1300" b="0">
                <a:solidFill>
                  <a:srgbClr val="060606"/>
                </a:solidFill>
                <a:latin typeface="Helvetica"/>
              </a:rPr>
              <a:t> La part de l'EFC à 10 000 FCFA augmente chaque année, ce qui correspond à l'arrivée de nouveaux souscripteurs depuis 2021.</a:t>
            </a:r>
          </a:p>
          <a:p>
            <a:pPr algn="just">
              <a:spcAft>
                <a:spcPts val="600"/>
              </a:spcAft>
            </a:pPr>
            <a:r>
              <a:rPr sz="1300" b="1">
                <a:solidFill>
                  <a:srgbClr val="060606"/>
                </a:solidFill>
                <a:latin typeface="Helvetica"/>
              </a:rPr>
              <a:t>Implication pour le FPPN.</a:t>
            </a:r>
            <a:r>
              <a:rPr sz="1300" b="0">
                <a:solidFill>
                  <a:srgbClr val="060606"/>
                </a:solidFill>
                <a:latin typeface="Helvetica"/>
              </a:rPr>
              <a:t> Les engagements d'épargne se calculeront sur les montants réellement précomptés. Le règlement de chaque produit reste indispensable pour connaître les échéances et les conditions de retrait.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936 : poste maladie | 8Z6 : poste décès | 870 : poste EFC | 998 : poste PEP</a:t>
            </a:r>
          </a:p>
        </p:txBody>
      </p:sp>
    </p:spTree>
    <p:extLst>
      <p:ext uri="{BB962C8B-B14F-4D97-AF65-F5344CB8AC3E}">
        <p14:creationId xmlns:p14="http://schemas.microsoft.com/office/powerpoint/2010/main" val="36818910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1">
                <a:solidFill>
                  <a:srgbClr val="060606"/>
                </a:solidFill>
                <a:latin typeface="Helvetica"/>
              </a:rPr>
              <a:t>Implication pour le FPPN.</a:t>
            </a:r>
            <a:r>
              <a:rPr sz="1200" b="0">
                <a:solidFill>
                  <a:srgbClr val="060606"/>
                </a:solidFill>
                <a:latin typeface="Helvetica"/>
              </a:rPr>
              <a:t> 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75614460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 barème indiqué en entretien prévoit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1681232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74294169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360058732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76756927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1">
                <a:solidFill>
                  <a:srgbClr val="060606"/>
                </a:solidFill>
                <a:latin typeface="Helvetica"/>
              </a:rPr>
              <a:t>Implication pour le FPPN.</a:t>
            </a:r>
            <a:r>
              <a:rPr sz="1400" b="0">
                <a:solidFill>
                  <a:srgbClr val="060606"/>
                </a:solidFill>
                <a:latin typeface="Helvetica"/>
              </a:rPr>
              <a:t> 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91840315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n'a pas été communiquée : seules la formule du texte et sa déclinaison par garantie peuvent être 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Formules du taux de sinistralité comparées</a:t>
            </a:r>
          </a:p>
        </p:txBody>
      </p:sp>
      <p:graphicFrame>
        <p:nvGraphicFramePr>
          <p:cNvPr id="32" name="Table 31"/>
          <p:cNvGraphicFramePr>
            <a:graphicFrameLocks noGrp="1"/>
          </p:cNvGraphicFramePr>
          <p:nvPr/>
        </p:nvGraphicFramePr>
        <p:xfrm>
          <a:off x="503999" y="1655999"/>
          <a:ext cx="11231999" cy="1327747"/>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au texte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 : le calcul du FPPN a été demandé le 16/10/2026.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Inconnue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Divergent, justifié</a:t>
                      </a:r>
                    </a:p>
                  </a:txBody>
                  <a:tcPr marL="43200" marR="43200" marT="14400" marB="14400" anchor="ctr">
                    <a:solidFill>
                      <a:srgbClr val="FFFFFF"/>
                    </a:solidFill>
                  </a:tcPr>
                </a:tc>
              </a:tr>
            </a:tbl>
          </a:graphicData>
        </a:graphic>
      </p:graphicFrame>
      <p:sp>
        <p:nvSpPr>
          <p:cNvPr id="33" name="TextBox 32"/>
          <p:cNvSpPr txBox="1"/>
          <p:nvPr/>
        </p:nvSpPr>
        <p:spPr>
          <a:xfrm>
            <a:off x="503999" y="3091749"/>
            <a:ext cx="11232000" cy="2776250"/>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1">
                <a:solidFill>
                  <a:srgbClr val="060606"/>
                </a:solidFill>
                <a:latin typeface="Helvetica"/>
              </a:rPr>
              <a:t>Implication pour le FPPN.</a:t>
            </a:r>
            <a:r>
              <a:rPr sz="1300" b="0">
                <a:solidFill>
                  <a:srgbClr val="060606"/>
                </a:solidFill>
                <a:latin typeface="Helvetica"/>
              </a:rPr>
              <a:t> Seul le taux global est comparé à la norme de 70 % à 80 %. Le taux par garantie sert à calculer l'excédent de chaque risque. Dès que le FPPN communiquera sa méthode, l'écart avec la formule du texte sera chiffré.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6412631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1">
                <a:solidFill>
                  <a:srgbClr val="060606"/>
                </a:solidFill>
                <a:latin typeface="Helvetica"/>
              </a:rPr>
              <a:t>Implication pour le FPPN.</a:t>
            </a:r>
            <a:r>
              <a:rPr sz="1400" b="0">
                <a:solidFill>
                  <a:srgbClr val="060606"/>
                </a:solidFill>
                <a:latin typeface="Helvetica"/>
              </a:rPr>
              <a:t> 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3012622779"/>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676055"/>
            <a:ext cx="11232000" cy="2191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1">
                <a:solidFill>
                  <a:srgbClr val="060606"/>
                </a:solidFill>
                <a:latin typeface="Helvetica"/>
              </a:rPr>
              <a:t>Implication pour le FPPN.</a:t>
            </a:r>
            <a:r>
              <a:rPr sz="1300" b="0">
                <a:solidFill>
                  <a:srgbClr val="060606"/>
                </a:solidFill>
                <a:latin typeface="Helvetica"/>
              </a:rPr>
              <a:t> Les provisions du FPPN doivent être revues garantie par garantie : seules la maladie et le décès ont une provision, figée depuis 2020 (partie 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27691122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1">
                <a:solidFill>
                  <a:srgbClr val="060606"/>
                </a:solidFill>
                <a:latin typeface="Helvetica"/>
              </a:rPr>
              <a:t>Implication pour le FPPN.</a:t>
            </a:r>
            <a:r>
              <a:rPr sz="1300" b="0">
                <a:solidFill>
                  <a:srgbClr val="060606"/>
                </a:solidFill>
                <a:latin typeface="Helvetica"/>
              </a:rPr>
              <a:t> Un écart durable entre la croissance des prestations et celle des cotisations conduit mécaniquement à un déficit technique : la projection devra en fixer l'horizon.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 | TCAM : taux de croissance annuel moyen | 936 : poste maladie</a:t>
            </a:r>
          </a:p>
        </p:txBody>
      </p:sp>
    </p:spTree>
    <p:extLst>
      <p:ext uri="{BB962C8B-B14F-4D97-AF65-F5344CB8AC3E}">
        <p14:creationId xmlns:p14="http://schemas.microsoft.com/office/powerpoint/2010/main" val="1301802648"/>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1">
                <a:solidFill>
                  <a:srgbClr val="060606"/>
                </a:solidFill>
                <a:latin typeface="Helvetica"/>
              </a:rPr>
              <a:t>Implication pour le FPPN.</a:t>
            </a:r>
            <a:r>
              <a:rPr sz="1400" b="0">
                <a:solidFill>
                  <a:srgbClr val="060606"/>
                </a:solidFill>
                <a:latin typeface="Helvetica"/>
              </a:rPr>
              <a:t> 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72553878"/>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1">
                <a:solidFill>
                  <a:srgbClr val="060606"/>
                </a:solidFill>
                <a:latin typeface="Helvetica"/>
              </a:rPr>
              <a:t>Implication pour le FPPN.</a:t>
            </a:r>
            <a:r>
              <a:rPr sz="1400" b="0">
                <a:solidFill>
                  <a:srgbClr val="060606"/>
                </a:solidFill>
                <a:latin typeface="Helvetica"/>
              </a:rPr>
              <a:t> Les frais pèsent presque deux fois la norme réglementaire. Leur réduction est le levier le plus direct pour restaurer l'excédent pendant que la sinistralité monte.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00185911"/>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1">
                <a:solidFill>
                  <a:srgbClr val="060606"/>
                </a:solidFill>
                <a:latin typeface="Helvetica"/>
              </a:rPr>
              <a:t>Implication pour le FPPN.</a:t>
            </a:r>
            <a:r>
              <a:rPr sz="1400" b="0">
                <a:solidFill>
                  <a:srgbClr val="060606"/>
                </a:solidFill>
                <a:latin typeface="Helvetica"/>
              </a:rPr>
              <a:t> Quelle que soit la formule, les frais dépassent la norme de 20 % des cotisations : la conclusion de la partie 5 ne change pas.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3424108066"/>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3420327551"/>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249564928"/>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314382966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1">
                <a:solidFill>
                  <a:srgbClr val="060606"/>
                </a:solidFill>
                <a:latin typeface="Helvetica"/>
              </a:rPr>
              <a:t>Implication pour le FPPN.</a:t>
            </a:r>
            <a:r>
              <a:rPr sz="1200" b="0">
                <a:solidFill>
                  <a:srgbClr val="060606"/>
                </a:solidFill>
                <a:latin typeface="Helvetica"/>
              </a:rPr>
              <a:t> 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231446604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1">
                <a:solidFill>
                  <a:srgbClr val="060606"/>
                </a:solidFill>
                <a:latin typeface="Helvetica"/>
              </a:rPr>
              <a:t>Implication pour le FPPN.</a:t>
            </a:r>
            <a:r>
              <a:rPr sz="1400" b="0">
                <a:solidFill>
                  <a:srgbClr val="060606"/>
                </a:solidFill>
                <a:latin typeface="Helvetica"/>
              </a:rPr>
              <a:t> 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29363303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1">
                <a:solidFill>
                  <a:srgbClr val="060606"/>
                </a:solidFill>
                <a:latin typeface="Helvetica"/>
              </a:rPr>
              <a:t>Implication pour le FPPN.</a:t>
            </a:r>
            <a:r>
              <a:rPr sz="1400" b="0">
                <a:solidFill>
                  <a:srgbClr val="060606"/>
                </a:solidFill>
                <a:latin typeface="Helvetica"/>
              </a:rPr>
              <a:t> 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3419804359"/>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1">
                <a:solidFill>
                  <a:srgbClr val="060606"/>
                </a:solidFill>
                <a:latin typeface="Helvetica"/>
              </a:rPr>
              <a:t>Implication pour le FPPN.</a:t>
            </a:r>
            <a:r>
              <a:rPr sz="1400" b="0">
                <a:solidFill>
                  <a:srgbClr val="060606"/>
                </a:solidFill>
                <a:latin typeface="Helvetica"/>
              </a:rPr>
              <a:t> 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3945842072"/>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14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1">
                <a:solidFill>
                  <a:srgbClr val="060606"/>
                </a:solidFill>
                <a:latin typeface="Helvetica"/>
              </a:rPr>
              <a:t>Implication pour le FPPN.</a:t>
            </a:r>
            <a:r>
              <a:rPr sz="1400" b="0">
                <a:solidFill>
                  <a:srgbClr val="060606"/>
                </a:solidFill>
                <a:latin typeface="Helvetica"/>
              </a:rPr>
              <a:t> Tant que ces références ne sont pas expliquées, la dette d'épargne PEP ne peut pas être reconstituée à partir des précomptes.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25511861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45918641"/>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25035476"/>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1589428972"/>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98588266"/>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1">
                <a:solidFill>
                  <a:srgbClr val="060606"/>
                </a:solidFill>
                <a:latin typeface="Helvetica"/>
              </a:rPr>
              <a:t>Implication pour le FPPN.</a:t>
            </a:r>
            <a:r>
              <a:rPr sz="1400" b="0">
                <a:solidFill>
                  <a:srgbClr val="060606"/>
                </a:solidFill>
                <a:latin typeface="Helvetica"/>
              </a:rPr>
              <a:t> 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811963400"/>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1">
                <a:solidFill>
                  <a:srgbClr val="060606"/>
                </a:solidFill>
                <a:latin typeface="Helvetica"/>
              </a:rPr>
              <a:t>Implication pour le FPPN.</a:t>
            </a:r>
            <a:r>
              <a:rPr sz="1400" b="0">
                <a:solidFill>
                  <a:srgbClr val="060606"/>
                </a:solidFill>
                <a:latin typeface="Helvetica"/>
              </a:rPr>
              <a:t> 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67073491"/>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00" b="1">
                <a:solidFill>
                  <a:srgbClr val="060606"/>
                </a:solidFill>
                <a:latin typeface="Helvetica"/>
              </a:rPr>
              <a:t>Les prêts les plus anciens ne peuvent plus être précomptés, car leur mécano est faux.</a:t>
            </a:r>
            <a:r>
              <a:rPr sz="1100" b="0">
                <a:solidFill>
                  <a:srgbClr val="060606"/>
                </a:solidFill>
                <a:latin typeface="Helvetica"/>
              </a:rPr>
              <a:t> Sans mécano valide, la Solde ne peut pas retenir l'échéance sur le salaire.</a:t>
            </a:r>
          </a:p>
          <a:p>
            <a:pPr algn="just">
              <a:spcAft>
                <a:spcPts val="600"/>
              </a:spcAft>
            </a:pPr>
            <a:r>
              <a:rPr sz="1100" b="1">
                <a:solidFill>
                  <a:srgbClr val="060606"/>
                </a:solidFill>
                <a:latin typeface="Helvetica"/>
              </a:rPr>
              <a:t>Implication pour le FPPN.</a:t>
            </a:r>
            <a:r>
              <a:rPr sz="1100" b="0">
                <a:solidFill>
                  <a:srgbClr val="060606"/>
                </a:solidFill>
                <a:latin typeface="Helvetica"/>
              </a:rPr>
              <a:t> Le Grenier doit corriger ces identifiants et décider, pour chaque prêt, d'une provision ou d'un passage en perte.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702815811"/>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1">
                <a:solidFill>
                  <a:srgbClr val="060606"/>
                </a:solidFill>
                <a:latin typeface="Helvetica"/>
              </a:rPr>
              <a:t>Implication pour le FPPN.</a:t>
            </a:r>
            <a:r>
              <a:rPr sz="1400" b="0">
                <a:solidFill>
                  <a:srgbClr val="060606"/>
                </a:solidFill>
                <a:latin typeface="Helvetica"/>
              </a:rPr>
              <a:t> Si l'écart n'est pas encaissé par un autre canal, il alimente chaque mois de nouveaux retards : c'est la question à poser en priorité au service du Grenier.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474345632"/>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15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1">
                <a:solidFill>
                  <a:srgbClr val="060606"/>
                </a:solidFill>
                <a:latin typeface="Helvetica"/>
              </a:rPr>
              <a:t>Implication pour le FPPN.</a:t>
            </a:r>
            <a:r>
              <a:rPr sz="1400" b="0">
                <a:solidFill>
                  <a:srgbClr val="060606"/>
                </a:solidFill>
                <a:latin typeface="Helvetica"/>
              </a:rPr>
              <a:t> Une politique de provisionnement écrite (taux par tranche de retard) suffirait à couvrir ce risque, mais elle ne règle pas la question de la liquidité de l'épargne.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65470325"/>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3756741"/>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10474711"/>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1">
                <a:solidFill>
                  <a:srgbClr val="060606"/>
                </a:solidFill>
                <a:latin typeface="Helvetica"/>
              </a:rPr>
              <a:t>Implication pour le FPPN.</a:t>
            </a:r>
            <a:r>
              <a:rPr sz="1400" b="0">
                <a:solidFill>
                  <a:srgbClr val="060606"/>
                </a:solidFill>
                <a:latin typeface="Helvetica"/>
              </a:rPr>
              <a:t> 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295176872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197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1">
                <a:solidFill>
                  <a:srgbClr val="060606"/>
                </a:solidFill>
                <a:latin typeface="Helvetica"/>
              </a:rPr>
              <a:t>Implication pour le FPPN.</a:t>
            </a:r>
            <a:r>
              <a:rPr sz="1300" b="0">
                <a:solidFill>
                  <a:srgbClr val="060606"/>
                </a:solidFill>
                <a:latin typeface="Helvetica"/>
              </a:rPr>
              <a:t> Si le FPPN porte lui-même le risque de la flotte automobile, il exerce une activité d'assurance de dommages qui sort du champ des mutuelles sociales : la convention doit le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1181664139"/>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480295143"/>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1745867139"/>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1">
                <a:solidFill>
                  <a:srgbClr val="060606"/>
                </a:solidFill>
                <a:latin typeface="Helvetica"/>
              </a:rPr>
              <a:t>Implication pour le FPPN.</a:t>
            </a:r>
            <a:r>
              <a:rPr sz="1200" b="0">
                <a:solidFill>
                  <a:srgbClr val="060606"/>
                </a:solidFill>
                <a:latin typeface="Helvetica"/>
              </a:rPr>
              <a:t> 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13393258"/>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738877569"/>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Provisions exigées et provisions au bilan, par produit</a:t>
            </a:r>
          </a:p>
        </p:txBody>
      </p:sp>
      <p:graphicFrame>
        <p:nvGraphicFramePr>
          <p:cNvPr id="32" name="Table 31"/>
          <p:cNvGraphicFramePr>
            <a:graphicFrameLocks noGrp="1"/>
          </p:cNvGraphicFramePr>
          <p:nvPr/>
        </p:nvGraphicFramePr>
        <p:xfrm>
          <a:off x="503999" y="1655999"/>
          <a:ext cx="11231998" cy="2301588"/>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au 31/08/2026, sans dotation ni reprise.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identique de 2020 au 31/08/2026, sans dotation ni reprise.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mensuelle : période non couverte d'un mois au plus, montant probablement faible.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et du PEP non reçu : besoin non mesurable.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en retard connu par tranche, barème à appliquer.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ne peut pas justifier « à tout moment » des provisions suffisantes, comme l'exige l'article 7 du règlement d'exécution n° 004/2022. Les diapositives suivantes détaillent chaque point.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2180135214"/>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1">
                <a:solidFill>
                  <a:srgbClr val="060606"/>
                </a:solidFill>
                <a:latin typeface="Helvetica"/>
              </a:rPr>
              <a:t>Implication pour le FPPN.</a:t>
            </a:r>
            <a:r>
              <a:rPr sz="1400" b="0">
                <a:solidFill>
                  <a:srgbClr val="060606"/>
                </a:solidFill>
                <a:latin typeface="Helvetica"/>
              </a:rPr>
              <a:t> Le recalcul de la PSAP, dossier par dossier puis par la méthode CIMA des sinistres tardifs, est la première tâche dès réception des bases de prestations. D'ici là, le résultat de chaque exercice ne tient compte d'aucune variation de provision.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PSAP : provision pour sinistres à payer</a:t>
            </a:r>
          </a:p>
        </p:txBody>
      </p:sp>
    </p:spTree>
    <p:extLst>
      <p:ext uri="{BB962C8B-B14F-4D97-AF65-F5344CB8AC3E}">
        <p14:creationId xmlns:p14="http://schemas.microsoft.com/office/powerpoint/2010/main" val="3593783356"/>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CIMA des sinistres tardifs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UEMOA exige d'estimer les sinistres non déclarés sans dire comment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attente des bases de prestations : la méthode CIMA sert de référence technique, appliquée garantie par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Code CIMA (méthode de référence, article à citer à réception du texte)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Étapes de la méthode CIMA des sinistres tardifs</a:t>
            </a:r>
          </a:p>
        </p:txBody>
      </p:sp>
      <p:graphicFrame>
        <p:nvGraphicFramePr>
          <p:cNvPr id="32" name="Table 31"/>
          <p:cNvGraphicFramePr>
            <a:graphicFrameLocks noGrp="1"/>
          </p:cNvGraphicFramePr>
          <p:nvPr/>
        </p:nvGraphicFramePr>
        <p:xfrm>
          <a:off x="503999" y="1655999"/>
          <a:ext cx="11232000" cy="1637714"/>
        </p:xfrm>
        <a:graphic>
          <a:graphicData uri="http://schemas.openxmlformats.org/drawingml/2006/table">
            <a:tbl>
              <a:tblPr firstRow="0" bandRow="0">
                <a:tableStyleId>{5940675A-B579-460E-94D1-54222C63F5DA}</a:tableStyleId>
              </a:tblPr>
              <a:tblGrid>
                <a:gridCol w="1440000"/>
                <a:gridCol w="4536000"/>
                <a:gridCol w="5256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Explication simple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Triangle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N(n, n + k) : sinistres survenus l'année n et déclarés l'année n +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compte les sinistres selon l'année des soins ou du décès et l'année où le FPPN les apprend.</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 Taux de retard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N(n, n + k)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Pour chaque année, on rapporte les déclarations tardives aux déclarations de l'année.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Coefficient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coef(k) = Σ des moyennes des taux de retard au-delà de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fait la moyenne sur les années connues, puis on additionne les retards encore à venir.</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 Nombre de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coef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estime combien de sinistres de chaque année ne sont pas encore connus.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 Coût moyen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 cumulée / nombre cumulé de sinistres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mesure ce que coûte un sinistre en moyenne.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 Provision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Σ nombre de tardifs × coût moyen. PSAP = dossiers connus +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ajoute ce montant à la provision des dossiers connus.</a:t>
                      </a:r>
                    </a:p>
                  </a:txBody>
                  <a:tcPr marL="43200" marR="43200" marT="14400" marB="14400" anchor="ctr">
                    <a:solidFill>
                      <a:srgbClr val="F2F2F2"/>
                    </a:solidFill>
                  </a:tcPr>
                </a:tc>
              </a:tr>
            </a:tbl>
          </a:graphicData>
        </a:graphic>
      </p:graphicFrame>
      <p:sp>
        <p:nvSpPr>
          <p:cNvPr id="33" name="TextBox 32"/>
          <p:cNvSpPr txBox="1"/>
          <p:nvPr/>
        </p:nvSpPr>
        <p:spPr>
          <a:xfrm>
            <a:off x="503999" y="3401717"/>
            <a:ext cx="11232000" cy="2466282"/>
          </a:xfrm>
          <a:prstGeom prst="rect">
            <a:avLst/>
          </a:prstGeom>
          <a:noFill/>
        </p:spPr>
        <p:txBody>
          <a:bodyPr wrap="square" lIns="54000" rIns="54000"/>
          <a:lstStyle/>
          <a:p>
            <a:pPr algn="just">
              <a:spcAft>
                <a:spcPts val="600"/>
              </a:spcAft>
            </a:pPr>
            <a:r>
              <a:rPr sz="1300" b="1">
                <a:solidFill>
                  <a:srgbClr val="060606"/>
                </a:solidFill>
                <a:latin typeface="Helvetica"/>
              </a:rPr>
              <a:t>Le calcul demande, pour chaque dossier, la date de survenance, la date de déclaration et le montant.</a:t>
            </a:r>
            <a:r>
              <a:rPr sz="1300" b="0">
                <a:solidFill>
                  <a:srgbClr val="060606"/>
                </a:solidFill>
                <a:latin typeface="Helvetica"/>
              </a:rPr>
              <a:t> Ces bases ont été demandées pour la maladie et le décès et ne sont pas encore reçues (PBC).</a:t>
            </a:r>
          </a:p>
          <a:p>
            <a:pPr algn="just">
              <a:spcAft>
                <a:spcPts val="600"/>
              </a:spcAft>
            </a:pPr>
            <a:r>
              <a:rPr sz="1300" b="1">
                <a:solidFill>
                  <a:srgbClr val="060606"/>
                </a:solidFill>
                <a:latin typeface="Helvetica"/>
              </a:rPr>
              <a:t>Implication pour le FPPN.</a:t>
            </a:r>
            <a:r>
              <a:rPr sz="1300" b="0">
                <a:solidFill>
                  <a:srgbClr val="060606"/>
                </a:solidFill>
                <a:latin typeface="Helvetica"/>
              </a:rPr>
              <a:t> Analyse en attente des documents. Le rapport présentera, pour chaque garantie, la PSAP du FPPN, la PSAP dossier par dossier et la PSAP selon la méthode CIMA, avec l'écart et son effet sur le résultat.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PSAP : provision pour sinistres à payer | PBC : liste des documents demandés au client</a:t>
            </a:r>
          </a:p>
        </p:txBody>
      </p:sp>
    </p:spTree>
    <p:extLst>
      <p:ext uri="{BB962C8B-B14F-4D97-AF65-F5344CB8AC3E}">
        <p14:creationId xmlns:p14="http://schemas.microsoft.com/office/powerpoint/2010/main" val="1500988240"/>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Dépréciation des prêts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dépréciation n'est passée, alors que des prêts ont plus d'un an de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90 jours : 7 044 342 FCFA au 31/12/2025 et 17 845 260 FCFA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PCMS. BCEAO (barème des SFD, à transmettre)</a:t>
            </a:r>
          </a:p>
        </p:txBody>
      </p:sp>
      <p:sp>
        <p:nvSpPr>
          <p:cNvPr id="31" name="TextBox 30"/>
          <p:cNvSpPr txBox="1"/>
          <p:nvPr/>
        </p:nvSpPr>
        <p:spPr>
          <a:xfrm>
            <a:off x="503999" y="1386000"/>
            <a:ext cx="9864000" cy="216000"/>
          </a:xfrm>
          <a:prstGeom prst="rect">
            <a:avLst/>
          </a:prstGeom>
          <a:noFill/>
        </p:spPr>
        <p:txBody>
          <a:bodyPr wrap="square" anchor="t" lIns="54000" rIns="54000"/>
          <a:lstStyle/>
          <a:p>
            <a:pPr algn="ctr"/>
            <a:r>
              <a:rPr sz="1200" b="0">
                <a:solidFill>
                  <a:srgbClr val="EFAC62"/>
                </a:solidFill>
                <a:latin typeface="Helvetica"/>
              </a:rPr>
              <a:t>Tableau 19 : Encours du Grenier par tranche de retard</a:t>
            </a:r>
          </a:p>
        </p:txBody>
      </p:sp>
      <p:graphicFrame>
        <p:nvGraphicFramePr>
          <p:cNvPr id="32" name="Table 31"/>
          <p:cNvGraphicFramePr>
            <a:graphicFrameLocks noGrp="1"/>
          </p:cNvGraphicFramePr>
          <p:nvPr/>
        </p:nvGraphicFramePr>
        <p:xfrm>
          <a:off x="503999" y="1655999"/>
          <a:ext cx="9863999" cy="1500545"/>
        </p:xfrm>
        <a:graphic>
          <a:graphicData uri="http://schemas.openxmlformats.org/drawingml/2006/table">
            <a:tbl>
              <a:tblPr firstRow="0" bandRow="0">
                <a:tableStyleId>{5940675A-B579-460E-94D1-54222C63F5DA}</a:tableStyleId>
              </a:tblPr>
              <a:tblGrid>
                <a:gridCol w="1655999"/>
                <a:gridCol w="1224000"/>
                <a:gridCol w="2160000"/>
                <a:gridCol w="1224000"/>
                <a:gridCol w="2160000"/>
                <a:gridCol w="1440000"/>
              </a:tblGrid>
              <a:tr h="331937">
                <a:tc>
                  <a:txBody>
                    <a:bodyPr/>
                    <a:lstStyle/>
                    <a:p>
                      <a:pPr marL="0" indent="0" lvl="0">
                        <a:buNone/>
                      </a:pPr>
                      <a:r>
                        <a:rPr sz="90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BCEAO</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À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672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232 132 444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2 793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1 018 427 306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 à 30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1 793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566 005 320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6 712 196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 à 90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24 441 213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1 317 345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2 683 220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3 441 406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919 716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2603450"/>
          </a:xfrm>
          <a:prstGeom prst="rect">
            <a:avLst/>
          </a:prstGeom>
          <a:noFill/>
        </p:spPr>
        <p:txBody>
          <a:bodyPr wrap="square" lIns="54000" rIns="54000"/>
          <a:lstStyle/>
          <a:p>
            <a:pPr algn="just">
              <a:spcAft>
                <a:spcPts val="600"/>
              </a:spcAft>
            </a:pPr>
            <a:r>
              <a:rPr sz="1300" b="1">
                <a:solidFill>
                  <a:srgbClr val="060606"/>
                </a:solidFill>
                <a:latin typeface="Helvetica"/>
              </a:rPr>
              <a:t>La dépréciation sera calculée tranche par tranche dès réception du barème</a:t>
            </a:r>
            <a:r>
              <a:rPr sz="1300" b="0">
                <a:solidFill>
                  <a:srgbClr val="060606"/>
                </a:solidFill>
                <a:latin typeface="Helvetica"/>
              </a:rPr>
              <a:t> : encours de la tranche multiplié par le taux de la tranche. Les tranches de plus de 90 jours portent l'essentiel du risque.</a:t>
            </a:r>
          </a:p>
          <a:p>
            <a:pPr algn="just">
              <a:spcAft>
                <a:spcPts val="600"/>
              </a:spcAft>
            </a:pPr>
            <a:r>
              <a:rPr sz="1300" b="1">
                <a:solidFill>
                  <a:srgbClr val="060606"/>
                </a:solidFill>
                <a:latin typeface="Helvetica"/>
              </a:rPr>
              <a:t>Le remboursement par précompte réduit le risque, sauf pour les agents sortis ou non précomptés.</a:t>
            </a:r>
            <a:r>
              <a:rPr sz="1300" b="0">
                <a:solidFill>
                  <a:srgbClr val="060606"/>
                </a:solidFill>
                <a:latin typeface="Helvetica"/>
              </a:rPr>
              <a:t> Les prêts à mécano anormal (partie 7) sont à examiner un par un.</a:t>
            </a:r>
          </a:p>
          <a:p>
            <a:pPr algn="just">
              <a:spcAft>
                <a:spcPts val="600"/>
              </a:spcAft>
            </a:pPr>
            <a:r>
              <a:rPr sz="1300" b="1">
                <a:solidFill>
                  <a:srgbClr val="060606"/>
                </a:solidFill>
                <a:latin typeface="Helvetica"/>
              </a:rPr>
              <a:t>Implication pour le FPPN.</a:t>
            </a:r>
            <a:r>
              <a:rPr sz="1300" b="0">
                <a:solidFill>
                  <a:srgbClr val="060606"/>
                </a:solidFill>
                <a:latin typeface="Helvetica"/>
              </a:rPr>
              <a:t> Sans dépréciation, l'actif et les fonds propres sont surévalués, et les ratios de la partie 10 un peu trop favorables. Le montant en jeu reste faible au regard de l'encours (partie 7).</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BCEAO : Banque centrale des États de l'Afrique de l'Ouest | SFD : systèmes financiers décentralisés</a:t>
            </a:r>
          </a:p>
        </p:txBody>
      </p:sp>
    </p:spTree>
    <p:extLst>
      <p:ext uri="{BB962C8B-B14F-4D97-AF65-F5344CB8AC3E}">
        <p14:creationId xmlns:p14="http://schemas.microsoft.com/office/powerpoint/2010/main" val="1732247369"/>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porte pas le risque automobile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primes sont versées directement à GNA. Les trop-perçus à rembourser sont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(à confirmer par document).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20 : Compte de tiers GNA (47111106)</a:t>
            </a:r>
          </a:p>
        </p:txBody>
      </p:sp>
      <p:graphicFrame>
        <p:nvGraphicFramePr>
          <p:cNvPr id="32" name="Table 31"/>
          <p:cNvGraphicFramePr>
            <a:graphicFrameLocks noGrp="1"/>
          </p:cNvGraphicFramePr>
          <p:nvPr/>
        </p:nvGraphicFramePr>
        <p:xfrm>
          <a:off x="503999" y="1655999"/>
          <a:ext cx="7059597" cy="1126250"/>
        </p:xfrm>
        <a:graphic>
          <a:graphicData uri="http://schemas.openxmlformats.org/drawingml/2006/table">
            <a:tbl>
              <a:tblPr firstRow="0" bandRow="0">
                <a:tableStyleId>{5940675A-B579-460E-94D1-54222C63F5DA}</a:tableStyleId>
              </a:tblPr>
              <a:tblGrid>
                <a:gridCol w="1281600"/>
                <a:gridCol w="1925999"/>
                <a:gridCol w="1925999"/>
                <a:gridCol w="1925999"/>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Mouvements au débit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Mouvements au crédit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débiteur</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3 080 693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r>
            </a:tbl>
          </a:graphicData>
        </a:graphic>
      </p:graphicFrame>
      <p:sp>
        <p:nvSpPr>
          <p:cNvPr id="33" name="TextBox 32"/>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 compte GNA porte des montants faibles, mais il est mouvementé depuis 2023.</a:t>
            </a:r>
            <a:r>
              <a:rPr sz="1400" b="0">
                <a:solidFill>
                  <a:srgbClr val="060606"/>
                </a:solidFill>
                <a:latin typeface="Helvetica"/>
              </a:rPr>
              <a:t> Un solde débiteur signifie que GNA doit des sommes au FPPN, ou que le FPPN a avancé des sommes à GNA : la nature de ces mouvements est à préciser.</a:t>
            </a:r>
          </a:p>
          <a:p>
            <a:pPr algn="just">
              <a:spcAft>
                <a:spcPts val="600"/>
              </a:spcAft>
            </a:pPr>
            <a:r>
              <a:rPr sz="1400" b="1">
                <a:solidFill>
                  <a:srgbClr val="060606"/>
                </a:solidFill>
                <a:latin typeface="Helvetica"/>
              </a:rPr>
              <a:t>Les trop-perçus remboursés sur demande sont une dette du FPPN ou de GNA envers les adhérents.</a:t>
            </a:r>
            <a:r>
              <a:rPr sz="1400" b="0">
                <a:solidFill>
                  <a:srgbClr val="060606"/>
                </a:solidFill>
                <a:latin typeface="Helvetica"/>
              </a:rPr>
              <a:t> Elle se chiffre avec les dates de fin de contrat (PBC, item 68).</a:t>
            </a:r>
          </a:p>
          <a:p>
            <a:pPr algn="just">
              <a:spcAft>
                <a:spcPts val="600"/>
              </a:spcAft>
            </a:pPr>
            <a:r>
              <a:rPr sz="1400" b="1">
                <a:solidFill>
                  <a:srgbClr val="060606"/>
                </a:solidFill>
                <a:latin typeface="Helvetica"/>
              </a:rPr>
              <a:t>Implication pour le FPPN.</a:t>
            </a:r>
            <a:r>
              <a:rPr sz="1400" b="0">
                <a:solidFill>
                  <a:srgbClr val="060606"/>
                </a:solidFill>
                <a:latin typeface="Helvetica"/>
              </a:rPr>
              <a:t> Aucune provision technique n'est due par le FPPN. Le traitement à retenir est une dette envers les adhérents pour les trop-perçus, et une explication des mouvements du compte 47111106.</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a:t>
            </a:r>
          </a:p>
        </p:txBody>
      </p:sp>
    </p:spTree>
    <p:extLst>
      <p:ext uri="{BB962C8B-B14F-4D97-AF65-F5344CB8AC3E}">
        <p14:creationId xmlns:p14="http://schemas.microsoft.com/office/powerpoint/2010/main" val="2822412388"/>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En attente des documents pour le recalcul</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Convention collective interprofessionnelle de Côte d'Ivoire (à transmettre).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21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Chaque année, la provision de l'année précédente est reprise en totalité et la nouvelle est dotée en totalité.</a:t>
            </a:r>
            <a:r>
              <a:rPr sz="1400" b="0">
                <a:solidFill>
                  <a:srgbClr val="060606"/>
                </a:solidFill>
                <a:latin typeface="Helvetica"/>
              </a:rPr>
              <a:t> Le sens des écritures est correct, mais la méthode de calcul n'est pas connue.</a:t>
            </a:r>
          </a:p>
          <a:p>
            <a:pPr algn="just">
              <a:spcAft>
                <a:spcPts val="600"/>
              </a:spcAft>
            </a:pPr>
            <a:r>
              <a:rPr sz="1400" b="1">
                <a:solidFill>
                  <a:srgbClr val="060606"/>
                </a:solidFill>
                <a:latin typeface="Helvetica"/>
              </a:rPr>
              <a:t>Le recalcul demande le fichier du personnel (âge, ancienneté, salaire), le texte de la convention et la note de calcul du FPPN.</a:t>
            </a:r>
            <a:r>
              <a:rPr sz="1400" b="0">
                <a:solidFill>
                  <a:srgbClr val="060606"/>
                </a:solidFill>
                <a:latin typeface="Helvetica"/>
              </a:rPr>
              <a:t> Ces documents sont ajoutés à la PBC.</a:t>
            </a:r>
          </a:p>
          <a:p>
            <a:pPr algn="just">
              <a:spcAft>
                <a:spcPts val="600"/>
              </a:spcAft>
            </a:pPr>
            <a:r>
              <a:rPr sz="1400" b="1">
                <a:solidFill>
                  <a:srgbClr val="060606"/>
                </a:solidFill>
                <a:latin typeface="Helvetica"/>
              </a:rPr>
              <a:t>Implication pour le FPPN.</a:t>
            </a:r>
            <a:r>
              <a:rPr sz="1400" b="0">
                <a:solidFill>
                  <a:srgbClr val="060606"/>
                </a:solidFill>
                <a:latin typeface="Helvetica"/>
              </a:rPr>
              <a:t> Analyse en attente des documents. Le montant est faible au regard des provisions techniques, mais il entre dans les dettes à long terme et dans les ratios de la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SYSCOHADA : système comptable de l'OHADA | PBC : liste des documents demandés au client</a:t>
            </a:r>
          </a:p>
        </p:txBody>
      </p:sp>
    </p:spTree>
    <p:extLst>
      <p:ext uri="{BB962C8B-B14F-4D97-AF65-F5344CB8AC3E}">
        <p14:creationId xmlns:p14="http://schemas.microsoft.com/office/powerpoint/2010/main" val="2320201755"/>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sigle des comptes du FPPN, signification à confirmer</a:t>
            </a:r>
          </a:p>
        </p:txBody>
      </p:sp>
    </p:spTree>
    <p:extLst>
      <p:ext uri="{BB962C8B-B14F-4D97-AF65-F5344CB8AC3E}">
        <p14:creationId xmlns:p14="http://schemas.microsoft.com/office/powerpoint/2010/main" val="141323153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par échéance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1">
                <a:solidFill>
                  <a:srgbClr val="060606"/>
                </a:solidFill>
                <a:latin typeface="Helvetica"/>
              </a:rPr>
              <a:t>Implication pour le FPPN.</a:t>
            </a:r>
            <a:r>
              <a:rPr sz="1400" b="0">
                <a:solidFill>
                  <a:srgbClr val="060606"/>
                </a:solidFill>
                <a:latin typeface="Helvetica"/>
              </a:rPr>
              <a:t>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546096118"/>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 Réserve disponible » est le plus important des comptes positifs, et sa nature reste à confirmer (partie 10).</a:t>
            </a:r>
          </a:p>
          <a:p>
            <a:pPr algn="just">
              <a:spcAft>
                <a:spcPts val="600"/>
              </a:spcAft>
            </a:pPr>
            <a:r>
              <a:rPr sz="1200" b="1">
                <a:solidFill>
                  <a:srgbClr val="060606"/>
                </a:solidFill>
                <a:latin typeface="Helvetica"/>
              </a:rPr>
              <a:t>Implication pour le FPPN.</a:t>
            </a:r>
            <a:r>
              <a:rPr sz="1200" b="0">
                <a:solidFill>
                  <a:srgbClr val="060606"/>
                </a:solidFill>
                <a:latin typeface="Helvetica"/>
              </a:rPr>
              <a:t> 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19786300"/>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1">
                <a:solidFill>
                  <a:srgbClr val="060606"/>
                </a:solidFill>
                <a:latin typeface="Helvetica"/>
              </a:rPr>
              <a:t>Implication pour le FPPN.</a:t>
            </a:r>
            <a:r>
              <a:rPr sz="1400" b="0">
                <a:solidFill>
                  <a:srgbClr val="060606"/>
                </a:solidFill>
                <a:latin typeface="Helvetica"/>
              </a:rPr>
              <a:t> 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635414582"/>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1">
                <a:solidFill>
                  <a:srgbClr val="060606"/>
                </a:solidFill>
                <a:latin typeface="Helvetica"/>
              </a:rPr>
              <a:t>Implication pour le FPPN.</a:t>
            </a:r>
            <a:r>
              <a:rPr sz="1400" b="0">
                <a:solidFill>
                  <a:srgbClr val="060606"/>
                </a:solidFill>
                <a:latin typeface="Helvetica"/>
              </a:rPr>
              <a:t> 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a:t>
            </a:r>
          </a:p>
        </p:txBody>
      </p:sp>
    </p:spTree>
    <p:extLst>
      <p:ext uri="{BB962C8B-B14F-4D97-AF65-F5344CB8AC3E}">
        <p14:creationId xmlns:p14="http://schemas.microsoft.com/office/powerpoint/2010/main" val="159409056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243851903"/>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033527604"/>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22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914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2990227751"/>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247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1">
                <a:solidFill>
                  <a:srgbClr val="060606"/>
                </a:solidFill>
                <a:latin typeface="Helvetica"/>
              </a:rPr>
              <a:t>Implication pour le FPPN.</a:t>
            </a:r>
            <a:r>
              <a:rPr sz="1300" b="0">
                <a:solidFill>
                  <a:srgbClr val="060606"/>
                </a:solidFill>
                <a:latin typeface="Helvetica"/>
              </a:rPr>
              <a:t> 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2883369611"/>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Reclassements de la lecture retraitée</a:t>
            </a:r>
          </a:p>
        </p:txBody>
      </p:sp>
      <p:graphicFrame>
        <p:nvGraphicFramePr>
          <p:cNvPr id="32" name="Table 31"/>
          <p:cNvGraphicFramePr>
            <a:graphicFrameLocks noGrp="1"/>
          </p:cNvGraphicFramePr>
          <p:nvPr/>
        </p:nvGraphicFramePr>
        <p:xfrm>
          <a:off x="503999" y="1655999"/>
          <a:ext cx="11232000" cy="157160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10620000 : réserve disponible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du FPPN)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Nature à confirmer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335604"/>
            <a:ext cx="11232000" cy="2532395"/>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réponse définitive dépend de l'échéancier réel de l'épargne : les conditions de retrait et les âges des épargnants trancheront entre les deux lectures.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2276223860"/>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3895383154"/>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25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215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1">
                <a:solidFill>
                  <a:srgbClr val="060606"/>
                </a:solidFill>
                <a:latin typeface="Helvetica"/>
              </a:rPr>
              <a:t>Implication pour le FPPN.</a:t>
            </a:r>
            <a:r>
              <a:rPr sz="1300" b="0">
                <a:solidFill>
                  <a:srgbClr val="060606"/>
                </a:solidFill>
                <a:latin typeface="Helvetica"/>
              </a:rPr>
              <a:t> La non-conformité répétée de la réserve obligatoire, des fonds propres et de la liquidité expose le FPPN aux sanctions prévues pour le non-respect des règles prudentielles sur deux exercices.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967823796"/>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199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1">
                <a:solidFill>
                  <a:srgbClr val="060606"/>
                </a:solidFill>
                <a:latin typeface="Helvetica"/>
              </a:rPr>
              <a:t>Implication pour le FPPN.</a:t>
            </a:r>
            <a:r>
              <a:rPr sz="1300" b="0">
                <a:solidFill>
                  <a:srgbClr val="060606"/>
                </a:solidFill>
                <a:latin typeface="Helvetica"/>
              </a:rPr>
              <a:t> Pour les risques longs, le règlement d'exécution exige aussi une étude actuarielle tous les cinq ans et la certification des comptes : le FPPN doit indiquer s'il les a réalisées.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448074803"/>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27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174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1">
                <a:solidFill>
                  <a:srgbClr val="060606"/>
                </a:solidFill>
                <a:latin typeface="Helvetica"/>
              </a:rPr>
              <a:t>Implication pour le FPPN.</a:t>
            </a:r>
            <a:r>
              <a:rPr sz="1300" b="0">
                <a:solidFill>
                  <a:srgbClr val="060606"/>
                </a:solidFill>
                <a:latin typeface="Helvetica"/>
              </a:rPr>
              <a:t> La baisse du coût par unité prestée vient surtout de la hausse des prestations, pas d'une baisse des frais : le FPPN doit présenter un plan de réduction des charges de fonctionnement.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266383502"/>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080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259229493"/>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retraités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1">
                <a:solidFill>
                  <a:srgbClr val="060606"/>
                </a:solidFill>
                <a:latin typeface="Helvetica"/>
              </a:rPr>
              <a:t>Implication pour le FPPN.</a:t>
            </a:r>
            <a:r>
              <a:rPr sz="1400" b="0">
                <a:solidFill>
                  <a:srgbClr val="060606"/>
                </a:solidFill>
                <a:latin typeface="Helvetica"/>
              </a:rPr>
              <a:t> 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67067178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1">
                <a:solidFill>
                  <a:srgbClr val="060606"/>
                </a:solidFill>
                <a:latin typeface="Helvetica"/>
              </a:rPr>
              <a:t>Implication pour le FPPN.</a:t>
            </a:r>
            <a:r>
              <a:rPr sz="1200" b="0">
                <a:solidFill>
                  <a:srgbClr val="060606"/>
                </a:solidFill>
                <a:latin typeface="Helvetica"/>
              </a:rPr>
              <a:t> 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876877290"/>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2090509731"/>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48982603"/>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075735748"/>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1">
                <a:solidFill>
                  <a:srgbClr val="060606"/>
                </a:solidFill>
                <a:latin typeface="Helvetica"/>
              </a:rPr>
              <a:t>Implication pour le FPPN.</a:t>
            </a:r>
            <a:r>
              <a:rPr sz="1200" b="0">
                <a:solidFill>
                  <a:srgbClr val="060606"/>
                </a:solidFill>
                <a:latin typeface="Helvetica"/>
              </a:rPr>
              <a:t> 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323132445"/>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1">
                <a:solidFill>
                  <a:srgbClr val="060606"/>
                </a:solidFill>
                <a:latin typeface="Helvetica"/>
              </a:rPr>
              <a:t>Implication pour le FPPN.</a:t>
            </a:r>
            <a:r>
              <a:rPr sz="1200" b="0">
                <a:solidFill>
                  <a:srgbClr val="060606"/>
                </a:solidFill>
                <a:latin typeface="Helvetica"/>
              </a:rPr>
              <a:t> 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723454793"/>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1">
                <a:solidFill>
                  <a:srgbClr val="060606"/>
                </a:solidFill>
                <a:latin typeface="Helvetica"/>
              </a:rPr>
              <a:t>Implication pour le FPPN.</a:t>
            </a:r>
            <a:r>
              <a:rPr sz="1200" b="0">
                <a:solidFill>
                  <a:srgbClr val="060606"/>
                </a:solidFill>
                <a:latin typeface="Helvetica"/>
              </a:rPr>
              <a:t> 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292149926"/>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1">
                <a:solidFill>
                  <a:srgbClr val="060606"/>
                </a:solidFill>
                <a:latin typeface="Helvetica"/>
              </a:rPr>
              <a:t>Implication pour le FPPN.</a:t>
            </a:r>
            <a:r>
              <a:rPr sz="1200" b="0">
                <a:solidFill>
                  <a:srgbClr val="060606"/>
                </a:solidFill>
                <a:latin typeface="Helvetica"/>
              </a:rPr>
              <a:t> 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197280929"/>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1">
                <a:solidFill>
                  <a:srgbClr val="060606"/>
                </a:solidFill>
                <a:latin typeface="Helvetica"/>
              </a:rPr>
              <a:t>Implication pour le FPPN.</a:t>
            </a:r>
            <a:r>
              <a:rPr sz="1200" b="0">
                <a:solidFill>
                  <a:srgbClr val="060606"/>
                </a:solidFill>
                <a:latin typeface="Helvetica"/>
              </a:rPr>
              <a:t> 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917227487"/>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939775295"/>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1">
                <a:solidFill>
                  <a:srgbClr val="060606"/>
                </a:solidFill>
                <a:latin typeface="Helvetica"/>
              </a:rPr>
              <a:t>Implication pour le FPPN.</a:t>
            </a:r>
            <a:r>
              <a:rPr sz="1400" b="0">
                <a:solidFill>
                  <a:srgbClr val="060606"/>
                </a:solidFill>
                <a:latin typeface="Helvetica"/>
              </a:rPr>
              <a:t> 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66398328"/>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29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11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respecte désormais la règle d'affectation, mais la réserve reste sous six mois de prestations : la règle d'affectation seule ne suffit pas à rattraper le retard.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076851036"/>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la réserve disponible du compte 10620000</a:t>
            </a:r>
            <a:r>
              <a:rPr sz="1400" b="0">
                <a:solidFill>
                  <a:srgbClr val="060606"/>
                </a:solidFill>
                <a:latin typeface="Helvetica"/>
              </a:rPr>
              <a:t> (2 899 400 000 FCFA), dont la nature reste à confirmer.</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1">
                <a:solidFill>
                  <a:srgbClr val="060606"/>
                </a:solidFill>
                <a:latin typeface="Helvetica"/>
              </a:rPr>
              <a:t>Implication pour le FPPN.</a:t>
            </a:r>
            <a:r>
              <a:rPr sz="1400" b="0">
                <a:solidFill>
                  <a:srgbClr val="060606"/>
                </a:solidFill>
                <a:latin typeface="Helvetica"/>
              </a:rPr>
              <a:t> Si le compte 10620000 est un écart de réévaluation, comme son numéro l'indique dans le PCMS, il ne compte pas dans la marge, et le FPPN est non conforme dans les deux lectures. Le FPPN doit documenter l'origine de ce montant.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601150239"/>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30 : Contrôle du classement des comptes selon le PCMS</a:t>
            </a:r>
          </a:p>
        </p:txBody>
      </p:sp>
      <p:graphicFrame>
        <p:nvGraphicFramePr>
          <p:cNvPr id="32" name="Table 31"/>
          <p:cNvGraphicFramePr>
            <a:graphicFrameLocks noGrp="1"/>
          </p:cNvGraphicFramePr>
          <p:nvPr/>
        </p:nvGraphicFramePr>
        <p:xfrm>
          <a:off x="503999" y="1655999"/>
          <a:ext cx="11231996" cy="3478505"/>
        </p:xfrm>
        <a:graphic>
          <a:graphicData uri="http://schemas.openxmlformats.org/drawingml/2006/table">
            <a:tbl>
              <a:tblPr firstRow="0" bandRow="0">
                <a:tableStyleId>{5940675A-B579-460E-94D1-54222C63F5DA}</a:tableStyleId>
              </a:tblPr>
              <a:tblGrid>
                <a:gridCol w="1655999"/>
                <a:gridCol w="2951999"/>
                <a:gridCol w="3311999"/>
                <a:gridCol w="3311999"/>
              </a:tblGrid>
              <a:tr h="194768">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Incidence</a:t>
                      </a:r>
                    </a:p>
                  </a:txBody>
                  <a:tcPr marL="43200" marR="43200" marT="14400" marB="14400" anchor="ctr">
                    <a:solidFill>
                      <a:srgbClr val="060606"/>
                    </a:solidFill>
                  </a:tcPr>
                </a:tc>
              </a:tr>
              <a:tr h="606274">
                <a:tc>
                  <a:txBody>
                    <a:bodyPr/>
                    <a:lstStyle/>
                    <a:p>
                      <a:pPr marL="0" indent="0" lvl="0">
                        <a:buNone/>
                      </a:pPr>
                      <a:r>
                        <a:rPr sz="90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du ratio de réserve obligatoire et de la marge de solvabilité.</a:t>
                      </a:r>
                    </a:p>
                  </a:txBody>
                  <a:tcPr marL="43200" marR="43200" marT="14400" marB="14400" anchor="ctr">
                    <a:solidFill>
                      <a:srgbClr val="FFFFFF"/>
                    </a:solidFill>
                  </a:tcPr>
                </a:tc>
              </a:tr>
              <a:tr h="606274">
                <a:tc>
                  <a:txBody>
                    <a:bodyPr/>
                    <a:lstStyle/>
                    <a:p>
                      <a:pPr marL="0" indent="0" lvl="0">
                        <a:buNone/>
                      </a:pPr>
                      <a:r>
                        <a:rPr sz="90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de la sinistralité réglementaire.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5242510"/>
            <a:ext cx="11232000" cy="625489"/>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683144477"/>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31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sigle des comptes du FPPN, signification à confirmer</a:t>
            </a:r>
          </a:p>
        </p:txBody>
      </p:sp>
    </p:spTree>
    <p:extLst>
      <p:ext uri="{BB962C8B-B14F-4D97-AF65-F5344CB8AC3E}">
        <p14:creationId xmlns:p14="http://schemas.microsoft.com/office/powerpoint/2010/main" val="3643809898"/>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32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2501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1">
                <a:solidFill>
                  <a:srgbClr val="060606"/>
                </a:solidFill>
                <a:latin typeface="Helvetica"/>
              </a:rPr>
              <a:t>Implication pour le FPPN.</a:t>
            </a:r>
            <a:r>
              <a:rPr sz="1300" b="0">
                <a:solidFill>
                  <a:srgbClr val="060606"/>
                </a:solidFill>
                <a:latin typeface="Helvetica"/>
              </a:rPr>
              <a:t> Un plan de mise en conformité daté et chiffré, présenté à l'AIRMS, est le meilleur moyen de démontrer la volonté de régularisation et d'éviter les sanctions les plus lourdes.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3632033107"/>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569522061"/>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48322602"/>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1051116132"/>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2642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1">
                <a:solidFill>
                  <a:srgbClr val="060606"/>
                </a:solidFill>
                <a:latin typeface="Helvetica"/>
              </a:rPr>
              <a:t>Implication pour le FPPN.</a:t>
            </a:r>
            <a:r>
              <a:rPr sz="1300" b="0">
                <a:solidFill>
                  <a:srgbClr val="060606"/>
                </a:solidFill>
                <a:latin typeface="Helvetica"/>
              </a:rPr>
              <a:t> Le FPPN porte les deux risques (capital décès et, potentiellement, prise en charge viagère des retraités) : chaque engagement sera évalué avec la table qui le défavorise.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1951514328"/>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1">
                <a:solidFill>
                  <a:srgbClr val="060606"/>
                </a:solidFill>
                <a:latin typeface="Helvetica"/>
              </a:rPr>
              <a:t>Implication pour le FPPN.</a:t>
            </a:r>
            <a:r>
              <a:rPr sz="1400" b="0">
                <a:solidFill>
                  <a:srgbClr val="060606"/>
                </a:solidFill>
                <a:latin typeface="Helvetica"/>
              </a:rPr>
              <a:t> Un engagement viager évalué avec une ancienne table est sous-estimé : les calculs de la mission utiliseront les tables en vigueur depuis 2012.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1780799416"/>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38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1">
                <a:solidFill>
                  <a:srgbClr val="060606"/>
                </a:solidFill>
                <a:latin typeface="Helvetica"/>
              </a:rPr>
              <a:t>Implication pour le FPPN.</a:t>
            </a:r>
            <a:r>
              <a:rPr sz="1400" b="0">
                <a:solidFill>
                  <a:srgbClr val="060606"/>
                </a:solidFill>
                <a:latin typeface="Helvetica"/>
              </a:rPr>
              <a:t> 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1037010736"/>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34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1">
                <a:solidFill>
                  <a:srgbClr val="060606"/>
                </a:solidFill>
                <a:latin typeface="Helvetica"/>
              </a:rPr>
              <a:t>Implication pour le FPPN.</a:t>
            </a:r>
            <a:r>
              <a:rPr sz="1400" b="0">
                <a:solidFill>
                  <a:srgbClr val="060606"/>
                </a:solidFill>
                <a:latin typeface="Helvetica"/>
              </a:rPr>
              <a:t> Ces facteurs serviront à évaluer tout engagement viager du FPPN dès que les âges et les coûts annuels seront connus.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2528483355"/>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620734659"/>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904225755"/>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2358558192"/>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51312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59000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516817"/>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593696"/>
            <a:ext cx="3277758" cy="157964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956410668"/>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1339794948"/>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2332303056"/>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30450"/>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02290"/>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12644"/>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2905981"/>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20106"/>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23796"/>
            <a:ext cx="3277758" cy="945673"/>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35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283153"/>
            <a:ext cx="11232000" cy="2584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1">
                <a:solidFill>
                  <a:srgbClr val="060606"/>
                </a:solidFill>
                <a:latin typeface="Helvetica"/>
              </a:rPr>
              <a:t>Implication pour le FPPN.</a:t>
            </a:r>
            <a:r>
              <a:rPr sz="1300" b="0">
                <a:solidFill>
                  <a:srgbClr val="060606"/>
                </a:solidFill>
                <a:latin typeface="Helvetica"/>
              </a:rPr>
              <a:t> Ces trois fichiers permettront aussi de réaliser l'étude actuarielle quinquennale exigée pour les risques longs (art. 14 du règlement d'exécution).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1280835611"/>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801362945"/>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36 : Scripts de la mission</a:t>
            </a:r>
          </a:p>
        </p:txBody>
      </p:sp>
      <p:graphicFrame>
        <p:nvGraphicFramePr>
          <p:cNvPr id="32" name="Table 31"/>
          <p:cNvGraphicFramePr>
            <a:graphicFrameLocks noGrp="1"/>
          </p:cNvGraphicFramePr>
          <p:nvPr/>
        </p:nvGraphicFramePr>
        <p:xfrm>
          <a:off x="503999" y="1655999"/>
          <a:ext cx="11232000" cy="286550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rapport_v5_fppn.py,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629507"/>
            <a:ext cx="11232000" cy="1238492"/>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a:t>
            </a:r>
          </a:p>
        </p:txBody>
      </p:sp>
    </p:spTree>
    <p:extLst>
      <p:ext uri="{BB962C8B-B14F-4D97-AF65-F5344CB8AC3E}">
        <p14:creationId xmlns:p14="http://schemas.microsoft.com/office/powerpoint/2010/main" val="255162194"/>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de la 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37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SHA-256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231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SHA-256 : algorithme d'empreinte numérique | CSV : fichier texte de tableau</a:t>
            </a:r>
          </a:p>
        </p:txBody>
      </p:sp>
    </p:spTree>
    <p:extLst>
      <p:ext uri="{BB962C8B-B14F-4D97-AF65-F5344CB8AC3E}">
        <p14:creationId xmlns:p14="http://schemas.microsoft.com/office/powerpoint/2010/main" val="2213432559"/>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39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1">
                <a:solidFill>
                  <a:srgbClr val="060606"/>
                </a:solidFill>
                <a:latin typeface="Helvetica"/>
              </a:rPr>
              <a:t>Implication pour le FPPN.</a:t>
            </a:r>
            <a:r>
              <a:rPr sz="1300" b="0">
                <a:solidFill>
                  <a:srgbClr val="060606"/>
                </a:solidFill>
                <a:latin typeface="Helvetica"/>
              </a:rPr>
              <a:t> Ce test évite de déclarer illisible un fichier simplement mal nommé : aucun fichier du Grenier n'a été perdu.</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45833273"/>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40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12755507"/>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1">
                <a:solidFill>
                  <a:srgbClr val="060606"/>
                </a:solidFill>
                <a:latin typeface="Helvetica"/>
              </a:rPr>
              <a:t>Implication pour le FPPN.</a:t>
            </a:r>
            <a:r>
              <a:rPr sz="1300" b="0">
                <a:solidFill>
                  <a:srgbClr val="060606"/>
                </a:solidFill>
                <a:latin typeface="Helvetica"/>
              </a:rPr>
              <a:t> 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21101574"/>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1">
                <a:solidFill>
                  <a:srgbClr val="060606"/>
                </a:solidFill>
                <a:latin typeface="Helvetica"/>
              </a:rPr>
              <a:t>Implication pour le FPPN.</a:t>
            </a:r>
            <a:r>
              <a:rPr sz="1300" b="0">
                <a:solidFill>
                  <a:srgbClr val="060606"/>
                </a:solidFill>
                <a:latin typeface="Helvetica"/>
              </a:rPr>
              <a:t> L'égalité des totaux sur les 37 balances prouve que la lecture n'a rien perdu.</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095893130"/>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1">
                <a:solidFill>
                  <a:srgbClr val="060606"/>
                </a:solidFill>
                <a:latin typeface="Helvetica"/>
              </a:rPr>
              <a:t>Implication pour le FPPN.</a:t>
            </a:r>
            <a:r>
              <a:rPr sz="1300" b="0">
                <a:solidFill>
                  <a:srgbClr val="060606"/>
                </a:solidFill>
                <a:latin typeface="Helvetica"/>
              </a:rPr>
              <a:t> 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901704989"/>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1">
                <a:solidFill>
                  <a:srgbClr val="060606"/>
                </a:solidFill>
                <a:latin typeface="Helvetica"/>
              </a:rPr>
              <a:t>Implication pour le FPPN.</a:t>
            </a:r>
            <a:r>
              <a:rPr sz="1300" b="0">
                <a:solidFill>
                  <a:srgbClr val="060606"/>
                </a:solidFill>
                <a:latin typeface="Helvetica"/>
              </a:rPr>
              <a:t> L'intervalle dit dans quelle plage se situe la vraie proportion de prêts en retard, compte tenu du hasard.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766023367"/>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1">
                <a:solidFill>
                  <a:srgbClr val="060606"/>
                </a:solidFill>
                <a:latin typeface="Helvetica"/>
              </a:rPr>
              <a:t>Implication pour le FPPN.</a:t>
            </a:r>
            <a:r>
              <a:rPr sz="1300" b="0">
                <a:solidFill>
                  <a:srgbClr val="060606"/>
                </a:solidFill>
                <a:latin typeface="Helvetica"/>
              </a:rPr>
              <a:t> La règle de statut est la même pour les 36 indicateurs : elle ne laisse aucune place à l'appréciation au cas par cas.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00108002"/>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1540025652"/>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298110487"/>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38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472310098"/>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39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 document fixe le barème : 3,5 / 1,5 ou 3,77 / 1,23 ? Pourquoi la comptabilité suit-elle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réserve disponible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et quelle est l'origine du compte 10620000 « Réserve disponible »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572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FOMUS-CI : fonds de garantie des mutuelles sociales de Côte d'Ivoire</a:t>
            </a:r>
          </a:p>
        </p:txBody>
      </p:sp>
    </p:spTree>
    <p:extLst>
      <p:ext uri="{BB962C8B-B14F-4D97-AF65-F5344CB8AC3E}">
        <p14:creationId xmlns:p14="http://schemas.microsoft.com/office/powerpoint/2010/main" val="623039391"/>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40 : Points à clarifier issus de l'entretien du 19/10/2026</a:t>
            </a:r>
          </a:p>
        </p:txBody>
      </p:sp>
      <p:graphicFrame>
        <p:nvGraphicFramePr>
          <p:cNvPr id="32" name="Table 31"/>
          <p:cNvGraphicFramePr>
            <a:graphicFrameLocks noGrp="1"/>
          </p:cNvGraphicFramePr>
          <p:nvPr/>
        </p:nvGraphicFramePr>
        <p:xfrm>
          <a:off x="503999" y="1655999"/>
          <a:ext cx="11231999" cy="156487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et quelle est la durée d'un plan PEP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328876"/>
            <a:ext cx="11232000" cy="253912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1">
                <a:solidFill>
                  <a:srgbClr val="060606"/>
                </a:solidFill>
                <a:latin typeface="Helvetica"/>
              </a:rPr>
              <a:t>Implication pour le FPPN.</a:t>
            </a:r>
            <a:r>
              <a:rPr sz="1300" b="0">
                <a:solidFill>
                  <a:srgbClr val="060606"/>
                </a:solidFill>
                <a:latin typeface="Helvetica"/>
              </a:rPr>
              <a:t> Les réponses écrites à ces cinq points seront intégrées à la version suivante du rapport. D'ici là, les déclarations sont présentées comme telles.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3753384867"/>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documents attendus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analyses de provisions attendent des documents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analyse est décrite en partie 9 et reprise dans la PBC générale (items 71 à 79)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41 : Analyses de provisions en attente et documents nécessaires</a:t>
            </a:r>
          </a:p>
        </p:txBody>
      </p:sp>
      <p:graphicFrame>
        <p:nvGraphicFramePr>
          <p:cNvPr id="32" name="Table 31"/>
          <p:cNvGraphicFramePr>
            <a:graphicFrameLocks noGrp="1"/>
          </p:cNvGraphicFramePr>
          <p:nvPr/>
        </p:nvGraphicFramePr>
        <p:xfrm>
          <a:off x="503999" y="1655999"/>
          <a:ext cx="11232000" cy="2326922"/>
        </p:xfrm>
        <a:graphic>
          <a:graphicData uri="http://schemas.openxmlformats.org/drawingml/2006/table">
            <a:tbl>
              <a:tblPr firstRow="0" bandRow="0">
                <a:tableStyleId>{5940675A-B579-460E-94D1-54222C63F5DA}</a:tableStyleId>
              </a:tblPr>
              <a:tblGrid>
                <a:gridCol w="2304000"/>
                <a:gridCol w="4104000"/>
                <a:gridCol w="482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PSAP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Dossier par dossier et sinistres tardifs (méthode CIMA)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Bases de prestations avec dates de survenance, de déclaration et de paiement (71). Note de calcul et liste des dossiers provisionnés (72). Texte du Code CIMA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Valeur actuelle des engagements (règlement d'exécution n° 004/2022, art. 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Règlements de l'EFC et du PEP (57). Règles de la garantie santé des retraités (79). Âges des mutualistes</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Encours par tranche × taux du barème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 des impayés et politique de dépréciation (73). Politique de crédit et de recouvrement (74). Barème de la BCEAO pour les SFD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des trop-perçus envers les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Convention avec GNA (68). Nature des mouvements du compte 47111106 (75)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Départ à la retraite du personnel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Unités de crédit projetées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du personnel (76). Convention collective et accord d'entreprise (77). Note de calcul du FPPN (78)</a:t>
                      </a:r>
                    </a:p>
                  </a:txBody>
                  <a:tcPr marL="43200" marR="43200" marT="14400" marB="14400" anchor="ctr">
                    <a:solidFill>
                      <a:srgbClr val="FFFFFF"/>
                    </a:solidFill>
                  </a:tcPr>
                </a:tc>
              </a:tr>
            </a:tbl>
          </a:graphicData>
        </a:graphic>
      </p:graphicFrame>
      <p:sp>
        <p:nvSpPr>
          <p:cNvPr id="33" name="TextBox 32"/>
          <p:cNvSpPr txBox="1"/>
          <p:nvPr/>
        </p:nvSpPr>
        <p:spPr>
          <a:xfrm>
            <a:off x="503999" y="4090924"/>
            <a:ext cx="11232000" cy="1777075"/>
          </a:xfrm>
          <a:prstGeom prst="rect">
            <a:avLst/>
          </a:prstGeom>
          <a:noFill/>
        </p:spPr>
        <p:txBody>
          <a:bodyPr wrap="square" lIns="54000" rIns="54000"/>
          <a:lstStyle/>
          <a:p>
            <a:pPr algn="just">
              <a:spcAft>
                <a:spcPts val="600"/>
              </a:spcAft>
            </a:pPr>
            <a:r>
              <a:rPr sz="1300" b="1">
                <a:solidFill>
                  <a:srgbClr val="060606"/>
                </a:solidFill>
                <a:latin typeface="Helvetica"/>
              </a:rPr>
              <a:t>Les provisions sont le principal sujet en attente de la mission.</a:t>
            </a:r>
            <a:r>
              <a:rPr sz="1300" b="0">
                <a:solidFill>
                  <a:srgbClr val="060606"/>
                </a:solidFill>
                <a:latin typeface="Helvetica"/>
              </a:rPr>
              <a:t> Elles conditionnent le résultat de chaque garantie, la marge de solvabilité et la réserve obligatoire.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BCEAO : Banque centrale des États de l'Afrique de l'Ouest | PEP : Plan Épargne Plus | EFC : entraide fin de carrière | PSAP : provision pour sinistres à payer | SFD : systèmes financiers décentralisés | PBC : liste des documents demandés au client | GNA : assureur de la flotte automobile (compte 47111106)</a:t>
            </a:r>
          </a:p>
        </p:txBody>
      </p:sp>
    </p:spTree>
    <p:extLst>
      <p:ext uri="{BB962C8B-B14F-4D97-AF65-F5344CB8AC3E}">
        <p14:creationId xmlns:p14="http://schemas.microsoft.com/office/powerpoint/2010/main" val="2516672896"/>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40201555"/>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42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329592298"/>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(entretien du 16/10/2026, à confirmer). Répartition renvoyée à la comptabilité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1631673407"/>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397779519"/>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223211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2751699339"/>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instruction applicable aux SFD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BCEAO (instruction SFD,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PAR30 : part de l'encours en retard de plus de 30 jours | SFD : systèmes financiers décentralisés | 9X4 : poste Grenier</a:t>
            </a:r>
          </a:p>
        </p:txBody>
      </p:sp>
    </p:spTree>
    <p:extLst>
      <p:ext uri="{BB962C8B-B14F-4D97-AF65-F5344CB8AC3E}">
        <p14:creationId xmlns:p14="http://schemas.microsoft.com/office/powerpoint/2010/main" val="2299128257"/>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2597896"/>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inchangé depuis 2020. Méthode non communiquée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inchangé depuis 2020. Méthode non communiquée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(référence technique,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SYSCOHADA révisé. 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au compte 196, renouvelée chaque année. Méthode non communiquée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SYSCOHADA : système comptable de l'OHADA</a:t>
            </a:r>
          </a:p>
        </p:txBody>
      </p:sp>
    </p:spTree>
    <p:extLst>
      <p:ext uri="{BB962C8B-B14F-4D97-AF65-F5344CB8AC3E}">
        <p14:creationId xmlns:p14="http://schemas.microsoft.com/office/powerpoint/2010/main" val="1895518656"/>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(F-09-07 à F-10-03)</a:t>
            </a:r>
          </a:p>
        </p:txBody>
      </p:sp>
      <p:graphicFrame>
        <p:nvGraphicFramePr>
          <p:cNvPr id="28" name="Table 27"/>
          <p:cNvGraphicFramePr>
            <a:graphicFrameLocks noGrp="1"/>
          </p:cNvGraphicFramePr>
          <p:nvPr/>
        </p:nvGraphicFramePr>
        <p:xfrm>
          <a:off x="503999" y="720000"/>
          <a:ext cx="11231998" cy="2597896"/>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512752659"/>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(F-10-04 à F-10-09)</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637679313"/>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(F-10-10 à F-10-15)</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Intérêts perçus / Capital investi.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047625744"/>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(F-10-16 à F-10-21)</a:t>
            </a:r>
          </a:p>
        </p:txBody>
      </p:sp>
      <p:graphicFrame>
        <p:nvGraphicFramePr>
          <p:cNvPr id="28" name="Table 27"/>
          <p:cNvGraphicFramePr>
            <a:graphicFrameLocks noGrp="1"/>
          </p:cNvGraphicFramePr>
          <p:nvPr/>
        </p:nvGraphicFramePr>
        <p:xfrm>
          <a:off x="503999" y="720000"/>
          <a:ext cx="11231998" cy="271982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649089529"/>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(F-10-22 à F-10-27)</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29474689"/>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(F-10-28 à F-10-33)</a:t>
            </a:r>
          </a:p>
        </p:txBody>
      </p:sp>
      <p:graphicFrame>
        <p:nvGraphicFramePr>
          <p:cNvPr id="28" name="Table 27"/>
          <p:cNvGraphicFramePr>
            <a:graphicFrameLocks noGrp="1"/>
          </p:cNvGraphicFramePr>
          <p:nvPr/>
        </p:nvGraphicFramePr>
        <p:xfrm>
          <a:off x="503999" y="720000"/>
          <a:ext cx="11231998" cy="271982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539932839"/>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(F-10-34 à F-11-01)</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a:t>
            </a:r>
          </a:p>
        </p:txBody>
      </p:sp>
    </p:spTree>
    <p:extLst>
      <p:ext uri="{BB962C8B-B14F-4D97-AF65-F5344CB8AC3E}">
        <p14:creationId xmlns:p14="http://schemas.microsoft.com/office/powerpoint/2010/main" val="994182641"/>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(F-11-02 à F-11-03)</a:t>
            </a:r>
          </a:p>
        </p:txBody>
      </p:sp>
      <p:graphicFrame>
        <p:nvGraphicFramePr>
          <p:cNvPr id="28" name="Table 27"/>
          <p:cNvGraphicFramePr>
            <a:graphicFrameLocks noGrp="1"/>
          </p:cNvGraphicFramePr>
          <p:nvPr/>
        </p:nvGraphicFramePr>
        <p:xfrm>
          <a:off x="503999" y="720000"/>
          <a:ext cx="11231998" cy="78291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a:t>
            </a:r>
          </a:p>
        </p:txBody>
      </p:sp>
    </p:spTree>
    <p:extLst>
      <p:ext uri="{BB962C8B-B14F-4D97-AF65-F5344CB8AC3E}">
        <p14:creationId xmlns:p14="http://schemas.microsoft.com/office/powerpoint/2010/main" val="1045001802"/>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43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1318459954"/>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394286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69</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377857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147</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399536718"/>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377857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Étapes de la méthode CIMA des sinistres tardifs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du Grenier par tranche de retard</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Compte de tiers GNA (47111106)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96</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361429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de provisions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169</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283153872"/>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486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8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GNA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assureur de la flotte automobile (compte 47111106)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HAO</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hors activités ordinaires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IBNR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survenus non encore déclarés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confiance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survivants à l'âge 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 santé complémentaire du poste 8Z7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MEPS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ministère de l'Emploi et de la Protection sociale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OCR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reconnaissance optique de caractères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 l'encours en retard de plus de 30 jours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PBC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liste des documents demandés au client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Plan Épargne Plus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PIDR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indemnités de départ à la retraite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pour sinistres à payer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sigle des comptes du FPPN, signification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qx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décès entre x et x + 1 ans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R²</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coefficient de détermination</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CPM</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Comité de politique monétaire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 cotisations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CSV</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fichier texte de tableau</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SCI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société civile immobilière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SFD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systèmes financiers décentralisés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 à l'âge 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SHA-256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algorithme d'empreinte numérique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entraide fin de carrière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SYSCOHADA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système comptable de l'OHADA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FANAF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Fédération des sociétés d'assurances de droit national africaines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TAFIRE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tableau financier des ressources et des emplois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annuel moyen</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FNG</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TD, TV</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anciennes tables CIMA de décès et de survie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de garantie des mutuelles sociales de Côte d'Ivoire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Union économique et monétaire ouest-africaine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de prévoyance de la Police nationale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d'une rente viagère de 1 par an à l'âge x</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205336386"/>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3721455"/>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8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donnees.banquemondiale.org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de référence des sinistres tardifs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à joindre (article à citer)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bceao.int, réglementation des SFD (texte à joindre)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à joindre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Classeur des calculs v5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Tableaux, ratios, provisions, formules (onglet 11_formules), traçabilité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FPPN_Calculs_rapport_20261015_v5.xlsx</a:t>
                      </a:r>
                    </a:p>
                  </a:txBody>
                  <a:tcPr marL="43200" marR="43200" marT="14400" marB="14400" anchor="ctr">
                    <a:solidFill>
                      <a:srgbClr val="FFFFFF"/>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a:t>
            </a:r>
          </a:p>
        </p:txBody>
      </p:sp>
    </p:spTree>
    <p:extLst>
      <p:ext uri="{BB962C8B-B14F-4D97-AF65-F5344CB8AC3E}">
        <p14:creationId xmlns:p14="http://schemas.microsoft.com/office/powerpoint/2010/main" val="3593869924"/>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174</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