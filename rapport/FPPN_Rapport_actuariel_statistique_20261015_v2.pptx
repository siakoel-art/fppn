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5" r:id="rId2"/>
  </p:sldMasterIdLst>
  <p:notesMasterIdLst>
    <p:notesMasterId r:id="rId117"/>
  </p:notesMasterIdLst>
  <p:sldIdLst>
    <p:sldId id="256" r:id="rId3"/>
    <p:sldId id="313" r:id="rId7"/>
    <p:sldId id="260" r:id="rId4"/>
    <p:sldId id="404" r:id="rId124"/>
    <p:sldId id="335" r:id="rId51"/>
    <p:sldId id="405" r:id="rId125"/>
    <p:sldId id="325" r:id="rId25"/>
    <p:sldId id="406" r:id="rId126"/>
    <p:sldId id="407" r:id="rId127"/>
    <p:sldId id="369" r:id="rId109"/>
    <p:sldId id="361" r:id="rId85"/>
    <p:sldId id="408" r:id="rId128"/>
    <p:sldId id="330" r:id="rId41"/>
    <p:sldId id="409" r:id="rId129"/>
    <p:sldId id="410" r:id="rId130"/>
    <p:sldId id="411" r:id="rId131"/>
    <p:sldId id="412" r:id="rId132"/>
    <p:sldId id="413" r:id="rId133"/>
    <p:sldId id="414" r:id="rId134"/>
    <p:sldId id="415" r:id="rId135"/>
    <p:sldId id="416" r:id="rId136"/>
    <p:sldId id="417" r:id="rId137"/>
    <p:sldId id="418" r:id="rId138"/>
    <p:sldId id="419" r:id="rId139"/>
    <p:sldId id="420" r:id="rId140"/>
    <p:sldId id="421" r:id="rId141"/>
    <p:sldId id="422" r:id="rId142"/>
    <p:sldId id="423" r:id="rId143"/>
    <p:sldId id="424" r:id="rId144"/>
    <p:sldId id="425" r:id="rId145"/>
    <p:sldId id="426" r:id="rId146"/>
    <p:sldId id="427" r:id="rId147"/>
    <p:sldId id="428" r:id="rId148"/>
    <p:sldId id="429" r:id="rId149"/>
    <p:sldId id="430" r:id="rId150"/>
    <p:sldId id="431" r:id="rId151"/>
    <p:sldId id="432" r:id="rId152"/>
    <p:sldId id="433" r:id="rId153"/>
    <p:sldId id="434" r:id="rId154"/>
    <p:sldId id="435" r:id="rId155"/>
    <p:sldId id="436" r:id="rId156"/>
    <p:sldId id="437" r:id="rId157"/>
    <p:sldId id="438" r:id="rId158"/>
    <p:sldId id="439" r:id="rId159"/>
    <p:sldId id="440" r:id="rId160"/>
    <p:sldId id="441" r:id="rId161"/>
    <p:sldId id="442" r:id="rId162"/>
    <p:sldId id="443" r:id="rId163"/>
    <p:sldId id="444" r:id="rId164"/>
    <p:sldId id="445" r:id="rId165"/>
    <p:sldId id="446" r:id="rId166"/>
    <p:sldId id="447" r:id="rId167"/>
    <p:sldId id="448" r:id="rId168"/>
    <p:sldId id="449" r:id="rId169"/>
    <p:sldId id="450" r:id="rId170"/>
    <p:sldId id="451" r:id="rId171"/>
    <p:sldId id="452" r:id="rId172"/>
    <p:sldId id="453" r:id="rId173"/>
    <p:sldId id="454" r:id="rId174"/>
    <p:sldId id="455" r:id="rId175"/>
    <p:sldId id="456" r:id="rId176"/>
    <p:sldId id="457" r:id="rId177"/>
    <p:sldId id="458" r:id="rId178"/>
    <p:sldId id="459" r:id="rId179"/>
    <p:sldId id="460" r:id="rId180"/>
    <p:sldId id="461" r:id="rId181"/>
    <p:sldId id="462" r:id="rId182"/>
    <p:sldId id="463" r:id="rId183"/>
    <p:sldId id="464" r:id="rId184"/>
    <p:sldId id="465" r:id="rId185"/>
    <p:sldId id="466" r:id="rId186"/>
    <p:sldId id="467" r:id="rId187"/>
    <p:sldId id="468" r:id="rId188"/>
    <p:sldId id="469" r:id="rId189"/>
    <p:sldId id="470" r:id="rId190"/>
    <p:sldId id="471" r:id="rId191"/>
    <p:sldId id="472" r:id="rId192"/>
    <p:sldId id="473" r:id="rId193"/>
    <p:sldId id="474" r:id="rId194"/>
    <p:sldId id="475" r:id="rId195"/>
    <p:sldId id="476" r:id="rId196"/>
    <p:sldId id="477" r:id="rId197"/>
    <p:sldId id="478" r:id="rId198"/>
    <p:sldId id="479" r:id="rId199"/>
    <p:sldId id="480" r:id="rId200"/>
    <p:sldId id="481" r:id="rId201"/>
    <p:sldId id="482" r:id="rId202"/>
    <p:sldId id="483" r:id="rId203"/>
    <p:sldId id="484" r:id="rId204"/>
    <p:sldId id="485" r:id="rId205"/>
    <p:sldId id="486" r:id="rId206"/>
    <p:sldId id="487" r:id="rId207"/>
    <p:sldId id="488" r:id="rId208"/>
    <p:sldId id="489" r:id="rId209"/>
    <p:sldId id="490" r:id="rId210"/>
    <p:sldId id="491" r:id="rId211"/>
    <p:sldId id="492" r:id="rId212"/>
    <p:sldId id="493" r:id="rId213"/>
    <p:sldId id="494" r:id="rId214"/>
    <p:sldId id="495" r:id="rId215"/>
    <p:sldId id="496" r:id="rId216"/>
    <p:sldId id="497" r:id="rId217"/>
    <p:sldId id="498" r:id="rId218"/>
    <p:sldId id="499" r:id="rId219"/>
    <p:sldId id="500" r:id="rId220"/>
    <p:sldId id="501" r:id="rId221"/>
    <p:sldId id="502" r:id="rId222"/>
    <p:sldId id="503" r:id="rId223"/>
    <p:sldId id="504" r:id="rId224"/>
    <p:sldId id="505" r:id="rId225"/>
    <p:sldId id="506" r:id="rId226"/>
    <p:sldId id="507" r:id="rId227"/>
    <p:sldId id="328" r:id="rId1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verture" id="{9C8FC9B7-AD45-409C-8017-02DEBDF9C938}">
          <p14:sldIdLst>
            <p14:sldId id="256"/>
          </p14:sldIdLst>
        </p14:section>
        <p14:section name="Contenu" id="{41430ABC-712C-4A41-8691-5284113E2CD9}">
          <p14:sldIdLst>
            <p14:sldId id="260"/>
            <p14:sldId id="261"/>
            <p14:sldId id="310"/>
            <p14:sldId id="313"/>
            <p14:sldId id="403"/>
            <p14:sldId id="402"/>
            <p14:sldId id="291"/>
            <p14:sldId id="312"/>
            <p14:sldId id="314"/>
            <p14:sldId id="317"/>
            <p14:sldId id="315"/>
            <p14:sldId id="316"/>
            <p14:sldId id="323"/>
            <p14:sldId id="324"/>
            <p14:sldId id="321"/>
            <p14:sldId id="322"/>
            <p14:sldId id="264"/>
            <p14:sldId id="318"/>
            <p14:sldId id="319"/>
            <p14:sldId id="320"/>
            <p14:sldId id="326"/>
            <p14:sldId id="325"/>
            <p14:sldId id="266"/>
            <p14:sldId id="327"/>
            <p14:sldId id="268"/>
            <p14:sldId id="271"/>
            <p14:sldId id="287"/>
            <p14:sldId id="329"/>
            <p14:sldId id="398"/>
            <p14:sldId id="399"/>
            <p14:sldId id="391"/>
            <p14:sldId id="397"/>
            <p14:sldId id="395"/>
            <p14:sldId id="396"/>
            <p14:sldId id="393"/>
            <p14:sldId id="392"/>
            <p14:sldId id="270"/>
            <p14:sldId id="330"/>
            <p14:sldId id="331"/>
            <p14:sldId id="332"/>
            <p14:sldId id="272"/>
            <p14:sldId id="333"/>
            <p14:sldId id="289"/>
            <p14:sldId id="334"/>
            <p14:sldId id="277"/>
            <p14:sldId id="278"/>
            <p14:sldId id="274"/>
            <p14:sldId id="335"/>
            <p14:sldId id="336"/>
            <p14:sldId id="348"/>
            <p14:sldId id="341"/>
            <p14:sldId id="349"/>
            <p14:sldId id="342"/>
            <p14:sldId id="350"/>
            <p14:sldId id="343"/>
            <p14:sldId id="351"/>
            <p14:sldId id="344"/>
            <p14:sldId id="352"/>
            <p14:sldId id="345"/>
            <p14:sldId id="353"/>
            <p14:sldId id="346"/>
            <p14:sldId id="354"/>
            <p14:sldId id="347"/>
            <p14:sldId id="355"/>
            <p14:sldId id="338"/>
            <p14:sldId id="356"/>
            <p14:sldId id="337"/>
            <p14:sldId id="357"/>
            <p14:sldId id="276"/>
            <p14:sldId id="358"/>
            <p14:sldId id="339"/>
            <p14:sldId id="359"/>
            <p14:sldId id="381"/>
            <p14:sldId id="385"/>
            <p14:sldId id="382"/>
            <p14:sldId id="400"/>
            <p14:sldId id="294"/>
            <p14:sldId id="360"/>
            <p14:sldId id="285"/>
            <p14:sldId id="286"/>
            <p14:sldId id="299"/>
            <p14:sldId id="361"/>
            <p14:sldId id="362"/>
            <p14:sldId id="283"/>
            <p14:sldId id="297"/>
            <p14:sldId id="365"/>
            <p14:sldId id="364"/>
            <p14:sldId id="363"/>
            <p14:sldId id="366"/>
            <p14:sldId id="367"/>
            <p14:sldId id="368"/>
            <p14:sldId id="370"/>
            <p14:sldId id="374"/>
            <p14:sldId id="375"/>
          </p14:sldIdLst>
        </p14:section>
        <p14:section name="Graphs" id="{551B27DB-FB3B-4066-9154-1B46F0A65216}">
          <p14:sldIdLst>
            <p14:sldId id="301"/>
            <p14:sldId id="304"/>
            <p14:sldId id="303"/>
            <p14:sldId id="302"/>
            <p14:sldId id="305"/>
            <p14:sldId id="306"/>
            <p14:sldId id="378"/>
            <p14:sldId id="376"/>
            <p14:sldId id="379"/>
            <p14:sldId id="388"/>
            <p14:sldId id="307"/>
            <p14:sldId id="369"/>
            <p14:sldId id="389"/>
            <p14:sldId id="390"/>
          </p14:sldIdLst>
        </p14:section>
        <p14:section name="Merci" id="{DE1A67E5-D1FE-41AF-88BB-A85595BA690B}">
          <p14:sldIdLst>
            <p14:sldId id="328"/>
          </p14:sldIdLst>
        </p14:section>
        <p14:section name="Symboles" id="{49175908-295D-4406-8512-BB62EA88444D}">
          <p14:sldIdLst>
            <p14:sldId id="371"/>
            <p14:sldId id="373"/>
            <p14:sldId id="401"/>
            <p14:sldId id="3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AC62"/>
    <a:srgbClr val="060606"/>
    <a:srgbClr val="112A4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4BD68B-DEB5-4C72-B758-AA0E2A02C403}" v="4" dt="2026-09-23T09:25:47.7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3.xml"/><Relationship Id="rId7" Type="http://schemas.openxmlformats.org/officeDocument/2006/relationships/slide" Target="slides/slide2.xml"/><Relationship Id="rId25" Type="http://schemas.openxmlformats.org/officeDocument/2006/relationships/slide" Target="slides/slide7.xml"/><Relationship Id="rId41" Type="http://schemas.openxmlformats.org/officeDocument/2006/relationships/slide" Target="slides/slide13.xml"/><Relationship Id="rId51" Type="http://schemas.openxmlformats.org/officeDocument/2006/relationships/slide" Target="slides/slide5.xml"/><Relationship Id="rId85" Type="http://schemas.openxmlformats.org/officeDocument/2006/relationships/slide" Target="slides/slide11.xml"/><Relationship Id="rId109" Type="http://schemas.openxmlformats.org/officeDocument/2006/relationships/slide" Target="slides/slide10.xml"/><Relationship Id="rId112" Type="http://schemas.openxmlformats.org/officeDocument/2006/relationships/slide" Target="slides/slide113.xml"/><Relationship Id="rId117" Type="http://schemas.openxmlformats.org/officeDocument/2006/relationships/notesMaster" Target="notesMasters/notesMaster1.xml"/><Relationship Id="rId118" Type="http://schemas.openxmlformats.org/officeDocument/2006/relationships/presProps" Target="presProps.xml"/><Relationship Id="rId119" Type="http://schemas.openxmlformats.org/officeDocument/2006/relationships/viewProps" Target="viewProps.xml"/><Relationship Id="rId120" Type="http://schemas.openxmlformats.org/officeDocument/2006/relationships/theme" Target="theme/theme1.xml"/><Relationship Id="rId121" Type="http://schemas.openxmlformats.org/officeDocument/2006/relationships/tableStyles" Target="tableStyles.xml"/><Relationship Id="rId122" Type="http://schemas.microsoft.com/office/2016/11/relationships/changesInfo" Target="changesInfos/changesInfo1.xml"/><Relationship Id="rId123" Type="http://schemas.microsoft.com/office/2015/10/relationships/revisionInfo" Target="revisionInfo.xml"/><Relationship Id="rId124" Type="http://schemas.openxmlformats.org/officeDocument/2006/relationships/slide" Target="slides/slide4.xml"/><Relationship Id="rId125" Type="http://schemas.openxmlformats.org/officeDocument/2006/relationships/slide" Target="slides/slide6.xml"/><Relationship Id="rId126" Type="http://schemas.openxmlformats.org/officeDocument/2006/relationships/slide" Target="slides/slide8.xml"/><Relationship Id="rId127" Type="http://schemas.openxmlformats.org/officeDocument/2006/relationships/slide" Target="slides/slide9.xml"/><Relationship Id="rId128" Type="http://schemas.openxmlformats.org/officeDocument/2006/relationships/slide" Target="slides/slide12.xml"/><Relationship Id="rId129" Type="http://schemas.openxmlformats.org/officeDocument/2006/relationships/slide" Target="slides/slide14.xml"/><Relationship Id="rId130" Type="http://schemas.openxmlformats.org/officeDocument/2006/relationships/slide" Target="slides/slide15.xml"/><Relationship Id="rId131" Type="http://schemas.openxmlformats.org/officeDocument/2006/relationships/slide" Target="slides/slide16.xml"/><Relationship Id="rId132" Type="http://schemas.openxmlformats.org/officeDocument/2006/relationships/slide" Target="slides/slide17.xml"/><Relationship Id="rId133" Type="http://schemas.openxmlformats.org/officeDocument/2006/relationships/slide" Target="slides/slide18.xml"/><Relationship Id="rId134" Type="http://schemas.openxmlformats.org/officeDocument/2006/relationships/slide" Target="slides/slide19.xml"/><Relationship Id="rId135" Type="http://schemas.openxmlformats.org/officeDocument/2006/relationships/slide" Target="slides/slide20.xml"/><Relationship Id="rId136" Type="http://schemas.openxmlformats.org/officeDocument/2006/relationships/slide" Target="slides/slide21.xml"/><Relationship Id="rId137" Type="http://schemas.openxmlformats.org/officeDocument/2006/relationships/slide" Target="slides/slide22.xml"/><Relationship Id="rId138" Type="http://schemas.openxmlformats.org/officeDocument/2006/relationships/slide" Target="slides/slide23.xml"/><Relationship Id="rId139" Type="http://schemas.openxmlformats.org/officeDocument/2006/relationships/slide" Target="slides/slide24.xml"/><Relationship Id="rId140" Type="http://schemas.openxmlformats.org/officeDocument/2006/relationships/slide" Target="slides/slide25.xml"/><Relationship Id="rId141" Type="http://schemas.openxmlformats.org/officeDocument/2006/relationships/slide" Target="slides/slide26.xml"/><Relationship Id="rId142" Type="http://schemas.openxmlformats.org/officeDocument/2006/relationships/slide" Target="slides/slide27.xml"/><Relationship Id="rId143" Type="http://schemas.openxmlformats.org/officeDocument/2006/relationships/slide" Target="slides/slide28.xml"/><Relationship Id="rId144" Type="http://schemas.openxmlformats.org/officeDocument/2006/relationships/slide" Target="slides/slide29.xml"/><Relationship Id="rId145" Type="http://schemas.openxmlformats.org/officeDocument/2006/relationships/slide" Target="slides/slide30.xml"/><Relationship Id="rId146" Type="http://schemas.openxmlformats.org/officeDocument/2006/relationships/slide" Target="slides/slide31.xml"/><Relationship Id="rId147" Type="http://schemas.openxmlformats.org/officeDocument/2006/relationships/slide" Target="slides/slide32.xml"/><Relationship Id="rId148" Type="http://schemas.openxmlformats.org/officeDocument/2006/relationships/slide" Target="slides/slide33.xml"/><Relationship Id="rId149" Type="http://schemas.openxmlformats.org/officeDocument/2006/relationships/slide" Target="slides/slide34.xml"/><Relationship Id="rId150" Type="http://schemas.openxmlformats.org/officeDocument/2006/relationships/slide" Target="slides/slide35.xml"/><Relationship Id="rId151" Type="http://schemas.openxmlformats.org/officeDocument/2006/relationships/slide" Target="slides/slide36.xml"/><Relationship Id="rId152" Type="http://schemas.openxmlformats.org/officeDocument/2006/relationships/slide" Target="slides/slide37.xml"/><Relationship Id="rId153" Type="http://schemas.openxmlformats.org/officeDocument/2006/relationships/slide" Target="slides/slide38.xml"/><Relationship Id="rId154" Type="http://schemas.openxmlformats.org/officeDocument/2006/relationships/slide" Target="slides/slide39.xml"/><Relationship Id="rId155" Type="http://schemas.openxmlformats.org/officeDocument/2006/relationships/slide" Target="slides/slide40.xml"/><Relationship Id="rId156" Type="http://schemas.openxmlformats.org/officeDocument/2006/relationships/slide" Target="slides/slide41.xml"/><Relationship Id="rId157" Type="http://schemas.openxmlformats.org/officeDocument/2006/relationships/slide" Target="slides/slide42.xml"/><Relationship Id="rId158" Type="http://schemas.openxmlformats.org/officeDocument/2006/relationships/slide" Target="slides/slide43.xml"/><Relationship Id="rId159" Type="http://schemas.openxmlformats.org/officeDocument/2006/relationships/slide" Target="slides/slide44.xml"/><Relationship Id="rId160" Type="http://schemas.openxmlformats.org/officeDocument/2006/relationships/slide" Target="slides/slide45.xml"/><Relationship Id="rId161" Type="http://schemas.openxmlformats.org/officeDocument/2006/relationships/slide" Target="slides/slide46.xml"/><Relationship Id="rId162" Type="http://schemas.openxmlformats.org/officeDocument/2006/relationships/slide" Target="slides/slide47.xml"/><Relationship Id="rId163" Type="http://schemas.openxmlformats.org/officeDocument/2006/relationships/slide" Target="slides/slide48.xml"/><Relationship Id="rId164" Type="http://schemas.openxmlformats.org/officeDocument/2006/relationships/slide" Target="slides/slide49.xml"/><Relationship Id="rId165" Type="http://schemas.openxmlformats.org/officeDocument/2006/relationships/slide" Target="slides/slide50.xml"/><Relationship Id="rId166" Type="http://schemas.openxmlformats.org/officeDocument/2006/relationships/slide" Target="slides/slide51.xml"/><Relationship Id="rId167" Type="http://schemas.openxmlformats.org/officeDocument/2006/relationships/slide" Target="slides/slide52.xml"/><Relationship Id="rId168" Type="http://schemas.openxmlformats.org/officeDocument/2006/relationships/slide" Target="slides/slide53.xml"/><Relationship Id="rId169" Type="http://schemas.openxmlformats.org/officeDocument/2006/relationships/slide" Target="slides/slide54.xml"/><Relationship Id="rId170" Type="http://schemas.openxmlformats.org/officeDocument/2006/relationships/slide" Target="slides/slide55.xml"/><Relationship Id="rId171" Type="http://schemas.openxmlformats.org/officeDocument/2006/relationships/slide" Target="slides/slide56.xml"/><Relationship Id="rId172" Type="http://schemas.openxmlformats.org/officeDocument/2006/relationships/slide" Target="slides/slide57.xml"/><Relationship Id="rId173" Type="http://schemas.openxmlformats.org/officeDocument/2006/relationships/slide" Target="slides/slide58.xml"/><Relationship Id="rId174" Type="http://schemas.openxmlformats.org/officeDocument/2006/relationships/slide" Target="slides/slide59.xml"/><Relationship Id="rId175" Type="http://schemas.openxmlformats.org/officeDocument/2006/relationships/slide" Target="slides/slide60.xml"/><Relationship Id="rId176" Type="http://schemas.openxmlformats.org/officeDocument/2006/relationships/slide" Target="slides/slide61.xml"/><Relationship Id="rId177" Type="http://schemas.openxmlformats.org/officeDocument/2006/relationships/slide" Target="slides/slide62.xml"/><Relationship Id="rId178" Type="http://schemas.openxmlformats.org/officeDocument/2006/relationships/slide" Target="slides/slide63.xml"/><Relationship Id="rId179" Type="http://schemas.openxmlformats.org/officeDocument/2006/relationships/slide" Target="slides/slide64.xml"/><Relationship Id="rId180" Type="http://schemas.openxmlformats.org/officeDocument/2006/relationships/slide" Target="slides/slide65.xml"/><Relationship Id="rId181" Type="http://schemas.openxmlformats.org/officeDocument/2006/relationships/slide" Target="slides/slide66.xml"/><Relationship Id="rId182" Type="http://schemas.openxmlformats.org/officeDocument/2006/relationships/slide" Target="slides/slide67.xml"/><Relationship Id="rId183" Type="http://schemas.openxmlformats.org/officeDocument/2006/relationships/slide" Target="slides/slide68.xml"/><Relationship Id="rId184" Type="http://schemas.openxmlformats.org/officeDocument/2006/relationships/slide" Target="slides/slide69.xml"/><Relationship Id="rId185" Type="http://schemas.openxmlformats.org/officeDocument/2006/relationships/slide" Target="slides/slide70.xml"/><Relationship Id="rId186" Type="http://schemas.openxmlformats.org/officeDocument/2006/relationships/slide" Target="slides/slide71.xml"/><Relationship Id="rId187" Type="http://schemas.openxmlformats.org/officeDocument/2006/relationships/slide" Target="slides/slide72.xml"/><Relationship Id="rId188" Type="http://schemas.openxmlformats.org/officeDocument/2006/relationships/slide" Target="slides/slide73.xml"/><Relationship Id="rId189" Type="http://schemas.openxmlformats.org/officeDocument/2006/relationships/slide" Target="slides/slide74.xml"/><Relationship Id="rId190" Type="http://schemas.openxmlformats.org/officeDocument/2006/relationships/slide" Target="slides/slide75.xml"/><Relationship Id="rId191" Type="http://schemas.openxmlformats.org/officeDocument/2006/relationships/slide" Target="slides/slide76.xml"/><Relationship Id="rId192" Type="http://schemas.openxmlformats.org/officeDocument/2006/relationships/slide" Target="slides/slide77.xml"/><Relationship Id="rId193" Type="http://schemas.openxmlformats.org/officeDocument/2006/relationships/slide" Target="slides/slide78.xml"/><Relationship Id="rId194" Type="http://schemas.openxmlformats.org/officeDocument/2006/relationships/slide" Target="slides/slide79.xml"/><Relationship Id="rId195" Type="http://schemas.openxmlformats.org/officeDocument/2006/relationships/slide" Target="slides/slide80.xml"/><Relationship Id="rId196" Type="http://schemas.openxmlformats.org/officeDocument/2006/relationships/slide" Target="slides/slide81.xml"/><Relationship Id="rId197" Type="http://schemas.openxmlformats.org/officeDocument/2006/relationships/slide" Target="slides/slide82.xml"/><Relationship Id="rId198" Type="http://schemas.openxmlformats.org/officeDocument/2006/relationships/slide" Target="slides/slide83.xml"/><Relationship Id="rId199" Type="http://schemas.openxmlformats.org/officeDocument/2006/relationships/slide" Target="slides/slide84.xml"/><Relationship Id="rId200" Type="http://schemas.openxmlformats.org/officeDocument/2006/relationships/slide" Target="slides/slide85.xml"/><Relationship Id="rId201" Type="http://schemas.openxmlformats.org/officeDocument/2006/relationships/slide" Target="slides/slide86.xml"/><Relationship Id="rId202" Type="http://schemas.openxmlformats.org/officeDocument/2006/relationships/slide" Target="slides/slide87.xml"/><Relationship Id="rId203" Type="http://schemas.openxmlformats.org/officeDocument/2006/relationships/slide" Target="slides/slide88.xml"/><Relationship Id="rId204" Type="http://schemas.openxmlformats.org/officeDocument/2006/relationships/slide" Target="slides/slide89.xml"/><Relationship Id="rId205" Type="http://schemas.openxmlformats.org/officeDocument/2006/relationships/slide" Target="slides/slide90.xml"/><Relationship Id="rId206" Type="http://schemas.openxmlformats.org/officeDocument/2006/relationships/slide" Target="slides/slide91.xml"/><Relationship Id="rId207" Type="http://schemas.openxmlformats.org/officeDocument/2006/relationships/slide" Target="slides/slide92.xml"/><Relationship Id="rId208" Type="http://schemas.openxmlformats.org/officeDocument/2006/relationships/slide" Target="slides/slide93.xml"/><Relationship Id="rId209" Type="http://schemas.openxmlformats.org/officeDocument/2006/relationships/slide" Target="slides/slide94.xml"/><Relationship Id="rId210" Type="http://schemas.openxmlformats.org/officeDocument/2006/relationships/slide" Target="slides/slide95.xml"/><Relationship Id="rId211" Type="http://schemas.openxmlformats.org/officeDocument/2006/relationships/slide" Target="slides/slide96.xml"/><Relationship Id="rId212" Type="http://schemas.openxmlformats.org/officeDocument/2006/relationships/slide" Target="slides/slide97.xml"/><Relationship Id="rId213" Type="http://schemas.openxmlformats.org/officeDocument/2006/relationships/slide" Target="slides/slide98.xml"/><Relationship Id="rId214" Type="http://schemas.openxmlformats.org/officeDocument/2006/relationships/slide" Target="slides/slide99.xml"/><Relationship Id="rId215" Type="http://schemas.openxmlformats.org/officeDocument/2006/relationships/slide" Target="slides/slide100.xml"/><Relationship Id="rId216" Type="http://schemas.openxmlformats.org/officeDocument/2006/relationships/slide" Target="slides/slide101.xml"/><Relationship Id="rId217" Type="http://schemas.openxmlformats.org/officeDocument/2006/relationships/slide" Target="slides/slide102.xml"/><Relationship Id="rId218" Type="http://schemas.openxmlformats.org/officeDocument/2006/relationships/slide" Target="slides/slide103.xml"/><Relationship Id="rId219" Type="http://schemas.openxmlformats.org/officeDocument/2006/relationships/slide" Target="slides/slide104.xml"/><Relationship Id="rId220" Type="http://schemas.openxmlformats.org/officeDocument/2006/relationships/slide" Target="slides/slide105.xml"/><Relationship Id="rId221" Type="http://schemas.openxmlformats.org/officeDocument/2006/relationships/slide" Target="slides/slide106.xml"/><Relationship Id="rId222" Type="http://schemas.openxmlformats.org/officeDocument/2006/relationships/slide" Target="slides/slide107.xml"/><Relationship Id="rId223" Type="http://schemas.openxmlformats.org/officeDocument/2006/relationships/slide" Target="slides/slide108.xml"/><Relationship Id="rId224" Type="http://schemas.openxmlformats.org/officeDocument/2006/relationships/slide" Target="slides/slide109.xml"/><Relationship Id="rId225" Type="http://schemas.openxmlformats.org/officeDocument/2006/relationships/slide" Target="slides/slide110.xml"/><Relationship Id="rId226" Type="http://schemas.openxmlformats.org/officeDocument/2006/relationships/slide" Target="slides/slide111.xml"/><Relationship Id="rId227" Type="http://schemas.openxmlformats.org/officeDocument/2006/relationships/slide" Target="slides/slide1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Noel Sialou" userId="08acc5d2-3819-4be4-97e6-d593a92e8e16" providerId="ADAL" clId="{DC5A2AD4-2AC1-4F5C-A6BF-541681F7EFA2}"/>
    <pc:docChg chg="undo custSel modSld">
      <pc:chgData name="Jean-Noel Sialou" userId="08acc5d2-3819-4be4-97e6-d593a92e8e16" providerId="ADAL" clId="{DC5A2AD4-2AC1-4F5C-A6BF-541681F7EFA2}" dt="2026-09-07T10:18:25.187" v="38" actId="571"/>
      <pc:docMkLst>
        <pc:docMk/>
      </pc:docMkLst>
      <pc:sldChg chg="addSp delSp modSp mod">
        <pc:chgData name="Jean-Noel Sialou" userId="08acc5d2-3819-4be4-97e6-d593a92e8e16" providerId="ADAL" clId="{DC5A2AD4-2AC1-4F5C-A6BF-541681F7EFA2}" dt="2026-09-07T10:18:25.187" v="38" actId="571"/>
        <pc:sldMkLst>
          <pc:docMk/>
          <pc:sldMk cId="2102837376" sldId="358"/>
        </pc:sldMkLst>
        <pc:spChg chg="mod">
          <ac:chgData name="Jean-Noel Sialou" userId="08acc5d2-3819-4be4-97e6-d593a92e8e16" providerId="ADAL" clId="{DC5A2AD4-2AC1-4F5C-A6BF-541681F7EFA2}" dt="2026-09-07T10:18:15.089" v="35" actId="164"/>
          <ac:spMkLst>
            <pc:docMk/>
            <pc:sldMk cId="2102837376" sldId="358"/>
            <ac:spMk id="48"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49"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1"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4" creationId="{00000000-0000-0000-0000-000000000000}"/>
          </ac:spMkLst>
        </pc:spChg>
        <pc:grpChg chg="add mod">
          <ac:chgData name="Jean-Noel Sialou" userId="08acc5d2-3819-4be4-97e6-d593a92e8e16" providerId="ADAL" clId="{DC5A2AD4-2AC1-4F5C-A6BF-541681F7EFA2}" dt="2026-09-07T10:18:17.535" v="36" actId="164"/>
          <ac:grpSpMkLst>
            <pc:docMk/>
            <pc:sldMk cId="2102837376" sldId="358"/>
            <ac:grpSpMk id="3" creationId="{C9290073-F4B9-4E89-EC47-0D4815D405F9}"/>
          </ac:grpSpMkLst>
        </pc:grpChg>
        <pc:grpChg chg="add mod">
          <ac:chgData name="Jean-Noel Sialou" userId="08acc5d2-3819-4be4-97e6-d593a92e8e16" providerId="ADAL" clId="{DC5A2AD4-2AC1-4F5C-A6BF-541681F7EFA2}" dt="2026-09-07T10:18:17.535" v="36" actId="164"/>
          <ac:grpSpMkLst>
            <pc:docMk/>
            <pc:sldMk cId="2102837376" sldId="358"/>
            <ac:grpSpMk id="7" creationId="{D520CB44-6CB8-26BA-C481-1E6C90DCE023}"/>
          </ac:grpSpMkLst>
        </pc:grpChg>
        <pc:picChg chg="add mod">
          <ac:chgData name="Jean-Noel Sialou" userId="08acc5d2-3819-4be4-97e6-d593a92e8e16" providerId="ADAL" clId="{DC5A2AD4-2AC1-4F5C-A6BF-541681F7EFA2}" dt="2026-09-07T10:18:17.535" v="36" actId="164"/>
          <ac:picMkLst>
            <pc:docMk/>
            <pc:sldMk cId="2102837376" sldId="358"/>
            <ac:picMk id="5" creationId="{A59C829E-ED12-0019-96D2-4C72AF995693}"/>
          </ac:picMkLst>
        </pc:picChg>
        <pc:picChg chg="mod">
          <ac:chgData name="Jean-Noel Sialou" userId="08acc5d2-3819-4be4-97e6-d593a92e8e16" providerId="ADAL" clId="{DC5A2AD4-2AC1-4F5C-A6BF-541681F7EFA2}" dt="2026-09-07T10:18:15.089" v="35" actId="164"/>
          <ac:picMkLst>
            <pc:docMk/>
            <pc:sldMk cId="2102837376" sldId="358"/>
            <ac:picMk id="31" creationId="{00000000-0000-0000-0000-000000000000}"/>
          </ac:picMkLst>
        </pc:picChg>
        <pc:picChg chg="mod">
          <ac:chgData name="Jean-Noel Sialou" userId="08acc5d2-3819-4be4-97e6-d593a92e8e16" providerId="ADAL" clId="{DC5A2AD4-2AC1-4F5C-A6BF-541681F7EFA2}" dt="2026-09-07T10:18:17.535" v="36" actId="164"/>
          <ac:picMkLst>
            <pc:docMk/>
            <pc:sldMk cId="2102837376" sldId="358"/>
            <ac:picMk id="47"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0"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4"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65" creationId="{00000000-0000-0000-0000-000000000000}"/>
          </ac:picMkLst>
        </pc:picChg>
      </pc:sldChg>
    </pc:docChg>
  </pc:docChgLst>
  <pc:docChgLst>
    <pc:chgData name="Jean-Noel Sialou" userId="08acc5d2-3819-4be4-97e6-d593a92e8e16" providerId="ADAL" clId="{3E2E487B-B21A-43C3-A4E4-C31B8823D31F}"/>
    <pc:docChg chg="modSld">
      <pc:chgData name="Jean-Noel Sialou" userId="08acc5d2-3819-4be4-97e6-d593a92e8e16" providerId="ADAL" clId="{3E2E487B-B21A-43C3-A4E4-C31B8823D31F}" dt="2026-09-23T09:25:47.775" v="6" actId="164"/>
      <pc:docMkLst>
        <pc:docMk/>
      </pc:docMkLst>
      <pc:sldChg chg="modSp mod modAnim">
        <pc:chgData name="Jean-Noel Sialou" userId="08acc5d2-3819-4be4-97e6-d593a92e8e16" providerId="ADAL" clId="{3E2E487B-B21A-43C3-A4E4-C31B8823D31F}" dt="2026-09-15T10:14:35.637" v="5" actId="208"/>
        <pc:sldMkLst>
          <pc:docMk/>
          <pc:sldMk cId="2102837376" sldId="358"/>
        </pc:sldMkLst>
        <pc:spChg chg="mod">
          <ac:chgData name="Jean-Noel Sialou" userId="08acc5d2-3819-4be4-97e6-d593a92e8e16" providerId="ADAL" clId="{3E2E487B-B21A-43C3-A4E4-C31B8823D31F}" dt="2026-09-15T10:14:31.481" v="4" actId="207"/>
          <ac:spMkLst>
            <pc:docMk/>
            <pc:sldMk cId="2102837376" sldId="358"/>
            <ac:spMk id="40" creationId="{00000000-0000-0000-0000-000000000000}"/>
          </ac:spMkLst>
        </pc:spChg>
        <pc:spChg chg="mod">
          <ac:chgData name="Jean-Noel Sialou" userId="08acc5d2-3819-4be4-97e6-d593a92e8e16" providerId="ADAL" clId="{3E2E487B-B21A-43C3-A4E4-C31B8823D31F}" dt="2026-09-15T10:14:31.481" v="4" actId="207"/>
          <ac:spMkLst>
            <pc:docMk/>
            <pc:sldMk cId="2102837376" sldId="358"/>
            <ac:spMk id="41" creationId="{00000000-0000-0000-0000-000000000000}"/>
          </ac:spMkLst>
        </pc:spChg>
        <pc:grpChg chg="mod">
          <ac:chgData name="Jean-Noel Sialou" userId="08acc5d2-3819-4be4-97e6-d593a92e8e16" providerId="ADAL" clId="{3E2E487B-B21A-43C3-A4E4-C31B8823D31F}" dt="2026-09-15T10:14:06.017" v="1" actId="1076"/>
          <ac:grpSpMkLst>
            <pc:docMk/>
            <pc:sldMk cId="2102837376" sldId="358"/>
            <ac:grpSpMk id="7" creationId="{D520CB44-6CB8-26BA-C481-1E6C90DCE023}"/>
          </ac:grpSpMkLst>
        </pc:grpChg>
        <pc:cxnChg chg="mod">
          <ac:chgData name="Jean-Noel Sialou" userId="08acc5d2-3819-4be4-97e6-d593a92e8e16" providerId="ADAL" clId="{3E2E487B-B21A-43C3-A4E4-C31B8823D31F}" dt="2026-09-15T10:14:35.637" v="5" actId="208"/>
          <ac:cxnSpMkLst>
            <pc:docMk/>
            <pc:sldMk cId="2102837376" sldId="358"/>
            <ac:cxnSpMk id="77" creationId="{00000000-0000-0000-0000-000000000000}"/>
          </ac:cxnSpMkLst>
        </pc:cxnChg>
      </pc:sldChg>
      <pc:sldChg chg="addSp modSp modAnim">
        <pc:chgData name="Jean-Noel Sialou" userId="08acc5d2-3819-4be4-97e6-d593a92e8e16" providerId="ADAL" clId="{3E2E487B-B21A-43C3-A4E4-C31B8823D31F}" dt="2026-09-23T09:25:47.775" v="6" actId="164"/>
        <pc:sldMkLst>
          <pc:docMk/>
          <pc:sldMk cId="135173498" sldId="359"/>
        </pc:sldMkLst>
        <pc:spChg chg="mod">
          <ac:chgData name="Jean-Noel Sialou" userId="08acc5d2-3819-4be4-97e6-d593a92e8e16" providerId="ADAL" clId="{3E2E487B-B21A-43C3-A4E4-C31B8823D31F}" dt="2026-09-23T09:25:47.775" v="6" actId="164"/>
          <ac:spMkLst>
            <pc:docMk/>
            <pc:sldMk cId="135173498" sldId="359"/>
            <ac:spMk id="3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6"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7"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0"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9"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2"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6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7.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Sheet27.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Sheet28.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29.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Sheet30.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Sheet3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Pharmacie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26107586</c:v>
                </c:pt>
                <c:pt idx="1">
                  <c:v>25313112</c:v>
                </c:pt>
                <c:pt idx="2">
                  <c:v>13055215</c:v>
                </c:pt>
                <c:pt idx="3">
                  <c:v>22869440</c:v>
                </c:pt>
                <c:pt idx="4">
                  <c:v>32549138</c:v>
                </c:pt>
                <c:pt idx="5">
                  <c:v>38076031</c:v>
                </c:pt>
                <c:pt idx="6">
                  <c:v>85750869</c:v>
                </c:pt>
              </c:numCache>
            </c:numRef>
          </c:val>
        </c:ser>
        <c:ser>
          <c:idx val="1"/>
          <c:order val="1"/>
          <c:tx>
            <c:strRef>
              <c:f>Sheet1!$C$1</c:f>
              <c:strCache>
                <c:ptCount val="1"/>
                <c:pt idx="0">
                  <c:v>Consultations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9838300</c:v>
                </c:pt>
                <c:pt idx="1">
                  <c:v>9569200</c:v>
                </c:pt>
                <c:pt idx="2">
                  <c:v>4288328</c:v>
                </c:pt>
                <c:pt idx="3">
                  <c:v>53402204</c:v>
                </c:pt>
                <c:pt idx="4">
                  <c:v>154053302</c:v>
                </c:pt>
                <c:pt idx="5">
                  <c:v>173759919</c:v>
                </c:pt>
                <c:pt idx="6">
                  <c:v>223956736</c:v>
                </c:pt>
              </c:numCache>
            </c:numRef>
          </c:val>
        </c:ser>
        <c:ser>
          <c:idx val="2"/>
          <c:order val="2"/>
          <c:tx>
            <c:strRef>
              <c:f>Sheet1!$D$1</c:f>
              <c:strCache>
                <c:ptCount val="1"/>
                <c:pt idx="0">
                  <c:v>Hospitalisations</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Sheet1!$D$2:$D$8</c:f>
              <c:numCache>
                <c:formatCode># ##0,,</c:formatCode>
                <c:ptCount val="7"/>
                <c:pt idx="0">
                  <c:v>11748500</c:v>
                </c:pt>
                <c:pt idx="1">
                  <c:v>12702282</c:v>
                </c:pt>
                <c:pt idx="2">
                  <c:v>6383100</c:v>
                </c:pt>
                <c:pt idx="3">
                  <c:v>32598428</c:v>
                </c:pt>
                <c:pt idx="4">
                  <c:v>10815234</c:v>
                </c:pt>
                <c:pt idx="5">
                  <c:v>23247618</c:v>
                </c:pt>
                <c:pt idx="6">
                  <c:v>36938840</c:v>
                </c:pt>
              </c:numCache>
            </c:numRef>
          </c:val>
        </c:ser>
        <c:ser>
          <c:idx val="3"/>
          <c:order val="3"/>
          <c:tx>
            <c:strRef>
              <c:f>Sheet1!$E$1</c:f>
              <c:strCache>
                <c:ptCount val="1"/>
                <c:pt idx="0">
                  <c:v>Analyses médicales</c:v>
                </c:pt>
              </c:strCache>
            </c:strRef>
          </c:tx>
          <c:spPr>
            <a:solidFill>
              <a:srgbClr val="060606"/>
            </a:solidFill>
          </c:spPr>
          <c:cat>
            <c:strRef>
              <c:f>Sheet1!$A$2:$A$8</c:f>
              <c:strCache>
                <c:ptCount val="7"/>
                <c:pt idx="0">
                  <c:v>2020</c:v>
                </c:pt>
                <c:pt idx="1">
                  <c:v>2021</c:v>
                </c:pt>
                <c:pt idx="2">
                  <c:v>2022</c:v>
                </c:pt>
                <c:pt idx="3">
                  <c:v>2023</c:v>
                </c:pt>
                <c:pt idx="4">
                  <c:v>2024</c:v>
                </c:pt>
                <c:pt idx="5">
                  <c:v>2025</c:v>
                </c:pt>
                <c:pt idx="6">
                  <c:v>2026 (8 mois)</c:v>
                </c:pt>
              </c:strCache>
            </c:strRef>
          </c:cat>
          <c:val>
            <c:numRef>
              <c:f>Sheet1!$E$2:$E$8</c:f>
              <c:numCache>
                <c:formatCode># ##0,,</c:formatCode>
                <c:ptCount val="7"/>
                <c:pt idx="0">
                  <c:v>23155760</c:v>
                </c:pt>
                <c:pt idx="1">
                  <c:v>15394010</c:v>
                </c:pt>
                <c:pt idx="2">
                  <c:v>10313251</c:v>
                </c:pt>
                <c:pt idx="3">
                  <c:v>73194458</c:v>
                </c:pt>
                <c:pt idx="4">
                  <c:v>142781059</c:v>
                </c:pt>
                <c:pt idx="5">
                  <c:v>234266144</c:v>
                </c:pt>
                <c:pt idx="6">
                  <c:v>214752158</c:v>
                </c:pt>
              </c:numCache>
            </c:numRef>
          </c:val>
        </c:ser>
        <c:ser>
          <c:idx val="4"/>
          <c:order val="4"/>
          <c:tx>
            <c:strRef>
              <c:f>Sheet1!$F$1</c:f>
              <c:strCache>
                <c:ptCount val="1"/>
                <c:pt idx="0">
                  <c:v>Radio et imagerie</c:v>
                </c:pt>
              </c:strCache>
            </c:strRef>
          </c:tx>
          <c:spPr>
            <a:solidFill>
              <a:srgbClr val="53565A"/>
            </a:solidFill>
          </c:spPr>
          <c:cat>
            <c:strRef>
              <c:f>Sheet1!$A$2:$A$8</c:f>
              <c:strCache>
                <c:ptCount val="7"/>
                <c:pt idx="0">
                  <c:v>2020</c:v>
                </c:pt>
                <c:pt idx="1">
                  <c:v>2021</c:v>
                </c:pt>
                <c:pt idx="2">
                  <c:v>2022</c:v>
                </c:pt>
                <c:pt idx="3">
                  <c:v>2023</c:v>
                </c:pt>
                <c:pt idx="4">
                  <c:v>2024</c:v>
                </c:pt>
                <c:pt idx="5">
                  <c:v>2025</c:v>
                </c:pt>
                <c:pt idx="6">
                  <c:v>2026 (8 mois)</c:v>
                </c:pt>
              </c:strCache>
            </c:strRef>
          </c:cat>
          <c:val>
            <c:numRef>
              <c:f>Sheet1!$F$2:$F$8</c:f>
              <c:numCache>
                <c:formatCode># ##0,,</c:formatCode>
                <c:ptCount val="7"/>
                <c:pt idx="0">
                  <c:v>11304893</c:v>
                </c:pt>
                <c:pt idx="1">
                  <c:v>6463050</c:v>
                </c:pt>
                <c:pt idx="2">
                  <c:v>15365475</c:v>
                </c:pt>
                <c:pt idx="3">
                  <c:v>65166228</c:v>
                </c:pt>
                <c:pt idx="4">
                  <c:v>147686479</c:v>
                </c:pt>
                <c:pt idx="5">
                  <c:v>249812169</c:v>
                </c:pt>
                <c:pt idx="6">
                  <c:v>391563218</c:v>
                </c:pt>
              </c:numCache>
            </c:numRef>
          </c:val>
        </c:ser>
        <c:ser>
          <c:idx val="5"/>
          <c:order val="5"/>
          <c:tx>
            <c:strRef>
              <c:f>Sheet1!$G$1</c:f>
              <c:strCache>
                <c:ptCount val="1"/>
                <c:pt idx="0">
                  <c:v>Autres prestations maladie</c:v>
                </c:pt>
              </c:strCache>
            </c:strRef>
          </c:tx>
          <c:spPr>
            <a:solidFill>
              <a:srgbClr val="F6D3A8"/>
            </a:solidFill>
          </c:spPr>
          <c:cat>
            <c:strRef>
              <c:f>Sheet1!$A$2:$A$8</c:f>
              <c:strCache>
                <c:ptCount val="7"/>
                <c:pt idx="0">
                  <c:v>2020</c:v>
                </c:pt>
                <c:pt idx="1">
                  <c:v>2021</c:v>
                </c:pt>
                <c:pt idx="2">
                  <c:v>2022</c:v>
                </c:pt>
                <c:pt idx="3">
                  <c:v>2023</c:v>
                </c:pt>
                <c:pt idx="4">
                  <c:v>2024</c:v>
                </c:pt>
                <c:pt idx="5">
                  <c:v>2025</c:v>
                </c:pt>
                <c:pt idx="6">
                  <c:v>2026 (8 mois)</c:v>
                </c:pt>
              </c:strCache>
            </c:strRef>
          </c:cat>
          <c:val>
            <c:numRef>
              <c:f>Sheet1!$G$2:$G$8</c:f>
              <c:numCache>
                <c:formatCode># ##0,,</c:formatCode>
                <c:ptCount val="7"/>
                <c:pt idx="0">
                  <c:v>110679822</c:v>
                </c:pt>
                <c:pt idx="1">
                  <c:v>23379217</c:v>
                </c:pt>
                <c:pt idx="2">
                  <c:v>50185972</c:v>
                </c:pt>
                <c:pt idx="3">
                  <c:v>241125951</c:v>
                </c:pt>
                <c:pt idx="4">
                  <c:v>508863835</c:v>
                </c:pt>
                <c:pt idx="5">
                  <c:v>995311355</c:v>
                </c:pt>
                <c:pt idx="6">
                  <c:v>584656222</c:v>
                </c:pt>
              </c:numCache>
            </c:numRef>
          </c:val>
        </c:ser>
        <c:ser>
          <c:idx val="6"/>
          <c:order val="6"/>
          <c:tx>
            <c:strRef>
              <c:f>Sheet1!$H$1</c:f>
              <c:strCache>
                <c:ptCount val="1"/>
                <c:pt idx="0">
                  <c:v>Autres (transport, rééducation, bons)</c:v>
                </c:pt>
              </c:strCache>
            </c:strRef>
          </c:tx>
          <c:spPr>
            <a:solidFill>
              <a:srgbClr val="5B7A99"/>
            </a:solidFill>
          </c:spPr>
          <c:cat>
            <c:strRef>
              <c:f>Sheet1!$A$2:$A$8</c:f>
              <c:strCache>
                <c:ptCount val="7"/>
                <c:pt idx="0">
                  <c:v>2020</c:v>
                </c:pt>
                <c:pt idx="1">
                  <c:v>2021</c:v>
                </c:pt>
                <c:pt idx="2">
                  <c:v>2022</c:v>
                </c:pt>
                <c:pt idx="3">
                  <c:v>2023</c:v>
                </c:pt>
                <c:pt idx="4">
                  <c:v>2024</c:v>
                </c:pt>
                <c:pt idx="5">
                  <c:v>2025</c:v>
                </c:pt>
                <c:pt idx="6">
                  <c:v>2026 (8 mois)</c:v>
                </c:pt>
              </c:strCache>
            </c:strRef>
          </c:cat>
          <c:val>
            <c:numRef>
              <c:f>Sheet1!$H$2:$H$8</c:f>
              <c:numCache>
                <c:formatCode># ##0,,</c:formatCode>
                <c:ptCount val="7"/>
                <c:pt idx="0">
                  <c:v>12977195</c:v>
                </c:pt>
                <c:pt idx="1">
                  <c:v>8632300</c:v>
                </c:pt>
                <c:pt idx="2">
                  <c:v>15646432</c:v>
                </c:pt>
                <c:pt idx="3">
                  <c:v>32647653</c:v>
                </c:pt>
                <c:pt idx="4">
                  <c:v>63670580</c:v>
                </c:pt>
                <c:pt idx="5">
                  <c:v>57162125</c:v>
                </c:pt>
                <c:pt idx="6">
                  <c:v>108421074</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12.54</c:v>
                </c:pt>
                <c:pt idx="1">
                  <c:v>6.0</c:v>
                </c:pt>
                <c:pt idx="2">
                  <c:v>6.47</c:v>
                </c:pt>
                <c:pt idx="3">
                  <c:v>26.91</c:v>
                </c:pt>
                <c:pt idx="4">
                  <c:v>48.13</c:v>
                </c:pt>
                <c:pt idx="5">
                  <c:v>73.53</c:v>
                </c:pt>
                <c:pt idx="6">
                  <c:v>97.4</c:v>
                </c:pt>
              </c:numCache>
            </c:numRef>
          </c:val>
          <c:smooth val="0"/>
        </c:ser>
        <c:ser>
          <c:idx val="1"/>
          <c:order val="1"/>
          <c:tx>
            <c:strRef>
              <c:f>Sheet1!$C$1</c:f>
              <c:strCache>
                <c:ptCount val="1"/>
                <c:pt idx="0">
                  <c:v>Décès (prime d'assurance incluse en 2020)</c:v>
                </c:pt>
              </c:strCache>
            </c:strRef>
          </c:tx>
          <c:spPr>
            <a:ln w="28575">
              <a:solidFill>
                <a:srgbClr val="EFAC62"/>
              </a:solidFill>
            </a:ln>
          </c:spPr>
          <c:marker>
            <c:spPr>
              <a:solidFill>
                <a:srgbClr val="EFAC62"/>
              </a:solidFill>
              <a:ln>
                <a:solidFill>
                  <a:srgbClr val="EFAC62"/>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82.23</c:v>
                </c:pt>
                <c:pt idx="1">
                  <c:v>55.42</c:v>
                </c:pt>
                <c:pt idx="2">
                  <c:v>15.21</c:v>
                </c:pt>
                <c:pt idx="3">
                  <c:v>17.05</c:v>
                </c:pt>
                <c:pt idx="4">
                  <c:v>21.81</c:v>
                </c:pt>
                <c:pt idx="5">
                  <c:v>19.16</c:v>
                </c:pt>
                <c:pt idx="6">
                  <c:v>21.76</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1641320172</c:v>
                </c:pt>
                <c:pt idx="1">
                  <c:v>1691332910</c:v>
                </c:pt>
                <c:pt idx="2">
                  <c:v>1781124043</c:v>
                </c:pt>
                <c:pt idx="3">
                  <c:v>1935844374</c:v>
                </c:pt>
                <c:pt idx="4">
                  <c:v>2203312180</c:v>
                </c:pt>
                <c:pt idx="5">
                  <c:v>2409281030</c:v>
                </c:pt>
                <c:pt idx="6">
                  <c:v>1690007290</c:v>
                </c:pt>
              </c:numCache>
            </c:numRef>
          </c:val>
        </c:ser>
        <c:ser>
          <c:idx val="1"/>
          <c:order val="1"/>
          <c:tx>
            <c:strRef>
              <c:f>Sheet1!$C$1</c:f>
              <c:strCache>
                <c:ptCount val="1"/>
                <c:pt idx="0">
                  <c:v>Décès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703298329</c:v>
                </c:pt>
                <c:pt idx="1">
                  <c:v>725124908</c:v>
                </c:pt>
                <c:pt idx="2">
                  <c:v>763338861</c:v>
                </c:pt>
                <c:pt idx="3">
                  <c:v>829647591</c:v>
                </c:pt>
                <c:pt idx="4">
                  <c:v>934555069</c:v>
                </c:pt>
                <c:pt idx="5">
                  <c:v>1008270692</c:v>
                </c:pt>
                <c:pt idx="6">
                  <c:v>702190056</c:v>
                </c:pt>
              </c:numCache>
            </c:numRef>
          </c:val>
        </c:ser>
        <c:dLbls>
          <c:numFmt formatCode="# ##0,," sourceLinked="0"/>
          <c:txPr>
            <a:bodyPr/>
            <a:lstStyle/>
            <a:p>
              <a:pPr>
                <a:defRPr sz="1000">
                  <a:solidFill>
                    <a:srgbClr val="FFFFFF"/>
                  </a:solidFill>
                </a:defRPr>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Nominales</c:v>
                </c:pt>
              </c:strCache>
            </c:strRef>
          </c:tx>
          <c:spPr>
            <a:ln w="28575">
              <a:solidFill>
                <a:srgbClr val="112A40"/>
              </a:solidFill>
            </a:ln>
          </c:spPr>
          <c:marker>
            <c:spPr>
              <a:solidFill>
                <a:srgbClr val="112A40"/>
              </a:solidFill>
              <a:ln>
                <a:solidFill>
                  <a:srgbClr val="112A40"/>
                </a:solidFill>
              </a:ln>
            </c:spPr>
          </c:marker>
          <c:cat>
            <c:strRef>
              <c:f>Sheet1!$A$2:$A$7</c:f>
              <c:strCache>
                <c:ptCount val="6"/>
                <c:pt idx="0">
                  <c:v>2020</c:v>
                </c:pt>
                <c:pt idx="1">
                  <c:v>2021</c:v>
                </c:pt>
                <c:pt idx="2">
                  <c:v>2022</c:v>
                </c:pt>
                <c:pt idx="3">
                  <c:v>2023</c:v>
                </c:pt>
                <c:pt idx="4">
                  <c:v>2024</c:v>
                </c:pt>
                <c:pt idx="5">
                  <c:v>2025</c:v>
                </c:pt>
              </c:strCache>
            </c:strRef>
          </c:cat>
          <c:val>
            <c:numRef>
              <c:f>Sheet1!$B$2:$B$7</c:f>
              <c:numCache>
                <c:formatCode># ##0,,</c:formatCode>
                <c:ptCount val="6"/>
                <c:pt idx="0">
                  <c:v>2344618501</c:v>
                </c:pt>
                <c:pt idx="1">
                  <c:v>2416457818</c:v>
                </c:pt>
                <c:pt idx="2">
                  <c:v>2544462904</c:v>
                </c:pt>
                <c:pt idx="3">
                  <c:v>2765491965</c:v>
                </c:pt>
                <c:pt idx="4">
                  <c:v>3137867249</c:v>
                </c:pt>
                <c:pt idx="5">
                  <c:v>3417551722</c:v>
                </c:pt>
              </c:numCache>
            </c:numRef>
          </c:val>
          <c:smooth val="0"/>
        </c:ser>
        <c:ser>
          <c:idx val="1"/>
          <c:order val="1"/>
          <c:tx>
            <c:strRef>
              <c:f>Sheet1!$C$1</c:f>
              <c:strCache>
                <c:ptCount val="1"/>
                <c:pt idx="0">
                  <c:v>Réelles (francs de 2020)</c:v>
                </c:pt>
              </c:strCache>
            </c:strRef>
          </c:tx>
          <c:spPr>
            <a:ln w="28575">
              <a:solidFill>
                <a:srgbClr val="EFAC62"/>
              </a:solidFill>
            </a:ln>
          </c:spPr>
          <c:marker>
            <c:spPr>
              <a:solidFill>
                <a:srgbClr val="EFAC62"/>
              </a:solidFill>
              <a:ln>
                <a:solidFill>
                  <a:srgbClr val="EFAC62"/>
                </a:solidFill>
              </a:ln>
            </c:spPr>
          </c:marker>
          <c:cat>
            <c:strRef>
              <c:f>Sheet1!$A$2:$A$7</c:f>
              <c:strCache>
                <c:ptCount val="6"/>
                <c:pt idx="0">
                  <c:v>2020</c:v>
                </c:pt>
                <c:pt idx="1">
                  <c:v>2021</c:v>
                </c:pt>
                <c:pt idx="2">
                  <c:v>2022</c:v>
                </c:pt>
                <c:pt idx="3">
                  <c:v>2023</c:v>
                </c:pt>
                <c:pt idx="4">
                  <c:v>2024</c:v>
                </c:pt>
                <c:pt idx="5">
                  <c:v>2025</c:v>
                </c:pt>
              </c:strCache>
            </c:strRef>
          </c:cat>
          <c:val>
            <c:numRef>
              <c:f>Sheet1!$C$2:$C$7</c:f>
              <c:numCache>
                <c:formatCode># ##0,,</c:formatCode>
                <c:ptCount val="6"/>
                <c:pt idx="0">
                  <c:v>2344618501</c:v>
                </c:pt>
                <c:pt idx="1">
                  <c:v>2319965877</c:v>
                </c:pt>
                <c:pt idx="2">
                  <c:v>2321370010</c:v>
                </c:pt>
                <c:pt idx="3">
                  <c:v>2417386641</c:v>
                </c:pt>
                <c:pt idx="4">
                  <c:v>2651401893</c:v>
                </c:pt>
                <c:pt idx="5">
                  <c:v>2884120453</c:v>
                </c:pt>
              </c:numCache>
            </c:numRef>
          </c:val>
          <c:smooth val="0"/>
        </c:ser>
        <c:dLbls>
          <c:numFmt formatCode="# ##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 ##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S/C 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12.54</c:v>
                </c:pt>
                <c:pt idx="1">
                  <c:v>6.0</c:v>
                </c:pt>
                <c:pt idx="2">
                  <c:v>6.47</c:v>
                </c:pt>
                <c:pt idx="3">
                  <c:v>26.91</c:v>
                </c:pt>
                <c:pt idx="4">
                  <c:v>48.13</c:v>
                </c:pt>
                <c:pt idx="5">
                  <c:v>73.53</c:v>
                </c:pt>
                <c:pt idx="6">
                  <c:v>97.4</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Épargne PEP et EFC</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10828205640</c:v>
                </c:pt>
                <c:pt idx="1">
                  <c:v>10147421276</c:v>
                </c:pt>
                <c:pt idx="2">
                  <c:v>9364845293</c:v>
                </c:pt>
                <c:pt idx="3">
                  <c:v>9121576576</c:v>
                </c:pt>
                <c:pt idx="4">
                  <c:v>10785064432</c:v>
                </c:pt>
                <c:pt idx="5">
                  <c:v>13814066964</c:v>
                </c:pt>
                <c:pt idx="6">
                  <c:v>15743516391</c:v>
                </c:pt>
              </c:numCache>
            </c:numRef>
          </c:val>
        </c:ser>
        <c:ser>
          <c:idx val="1"/>
          <c:order val="1"/>
          <c:tx>
            <c:strRef>
              <c:f>Sheet1!$C$1</c:f>
              <c:strCache>
                <c:ptCount val="1"/>
                <c:pt idx="0">
                  <c:v>Actifs dédiés</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714042784</c:v>
                </c:pt>
                <c:pt idx="1">
                  <c:v>1957211038</c:v>
                </c:pt>
                <c:pt idx="2">
                  <c:v>888844233</c:v>
                </c:pt>
                <c:pt idx="3">
                  <c:v>839212069</c:v>
                </c:pt>
                <c:pt idx="4">
                  <c:v>699925787</c:v>
                </c:pt>
                <c:pt idx="5">
                  <c:v>1608155525</c:v>
                </c:pt>
                <c:pt idx="6">
                  <c:v>2562885661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Fonds propres</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-6743081733</c:v>
                </c:pt>
                <c:pt idx="1">
                  <c:v>-4659173531</c:v>
                </c:pt>
                <c:pt idx="2">
                  <c:v>-2598840854</c:v>
                </c:pt>
                <c:pt idx="3">
                  <c:v>-1668211752</c:v>
                </c:pt>
                <c:pt idx="4">
                  <c:v>-876142111</c:v>
                </c:pt>
                <c:pt idx="5">
                  <c:v>-438242200</c:v>
                </c:pt>
                <c:pt idx="6">
                  <c:v>-879498700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Encours</c:v>
                </c:pt>
              </c:strCache>
            </c:strRef>
          </c:tx>
          <c:spPr>
            <a:solidFill>
              <a:srgbClr val="EFAC62"/>
            </a:solidFill>
          </c:spPr>
          <c:cat>
            <c:strRef>
              <c:f>Sheet1!$A$2:$A$7</c:f>
              <c:strCache>
                <c:ptCount val="6"/>
                <c:pt idx="0">
                  <c:v>31/12/2021</c:v>
                </c:pt>
                <c:pt idx="1">
                  <c:v>31/12/2022</c:v>
                </c:pt>
                <c:pt idx="2">
                  <c:v>31/12/2023</c:v>
                </c:pt>
                <c:pt idx="3">
                  <c:v>31/12/2024</c:v>
                </c:pt>
                <c:pt idx="4">
                  <c:v>31/12/2025</c:v>
                </c:pt>
                <c:pt idx="5">
                  <c:v>31/08/2026</c:v>
                </c:pt>
              </c:strCache>
            </c:strRef>
          </c:cat>
          <c:val>
            <c:numRef>
              <c:f>Sheet1!$B$2:$B$7</c:f>
              <c:numCache>
                <c:formatCode># ##0,,</c:formatCode>
                <c:ptCount val="6"/>
                <c:pt idx="0">
                  <c:v>7900000</c:v>
                </c:pt>
                <c:pt idx="1">
                  <c:v>182555907</c:v>
                </c:pt>
                <c:pt idx="2">
                  <c:v>375172174</c:v>
                </c:pt>
                <c:pt idx="3">
                  <c:v>566643134</c:v>
                </c:pt>
                <c:pt idx="4">
                  <c:v>829623319</c:v>
                </c:pt>
                <c:pt idx="5">
                  <c:v>1044302107</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2025</c:v>
                </c:pt>
              </c:strCache>
            </c:strRef>
          </c:tx>
          <c:spPr>
            <a:solidFill>
              <a:srgbClr val="112A40"/>
            </a:solidFill>
          </c:spPr>
          <c:cat>
            <c:strRef>
              <c:f>Sheet1!$A$2:$A$7</c:f>
              <c:strCache>
                <c:ptCount val="6"/>
                <c:pt idx="0">
                  <c:v>Cotisations maladie</c:v>
                </c:pt>
                <c:pt idx="1">
                  <c:v>Cotisations décès</c:v>
                </c:pt>
                <c:pt idx="2">
                  <c:v>Prestations maladie</c:v>
                </c:pt>
                <c:pt idx="3">
                  <c:v>Prestations décès</c:v>
                </c:pt>
                <c:pt idx="4">
                  <c:v>Frais de gestion</c:v>
                </c:pt>
                <c:pt idx="5">
                  <c:v>Résultat</c:v>
                </c:pt>
              </c:strCache>
            </c:strRef>
          </c:cat>
          <c:val>
            <c:numRef>
              <c:f>Sheet1!$B$2:$B$7</c:f>
              <c:numCache>
                <c:formatCode># ##0,,</c:formatCode>
                <c:ptCount val="6"/>
                <c:pt idx="0">
                  <c:v>2409281030</c:v>
                </c:pt>
                <c:pt idx="1">
                  <c:v>1008270692</c:v>
                </c:pt>
                <c:pt idx="2">
                  <c:v>1771635361</c:v>
                </c:pt>
                <c:pt idx="3">
                  <c:v>193136666</c:v>
                </c:pt>
                <c:pt idx="4">
                  <c:v>1101350021</c:v>
                </c:pt>
                <c:pt idx="5">
                  <c:v>437899911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Mois reçus</c:v>
                </c:pt>
              </c:strCache>
            </c:strRef>
          </c:tx>
          <c:spPr>
            <a:solidFill>
              <a:srgbClr val="112A40"/>
            </a:solidFill>
          </c:spPr>
          <c:cat>
            <c:strRef>
              <c:f>Sheet1!$A$2:$A$11</c:f>
              <c:strCache>
                <c:ptCount val="10"/>
                <c:pt idx="0">
                  <c:v>Prestations décès et santé</c:v>
                </c:pt>
                <c:pt idx="1">
                  <c:v>MEDOC 8Z7 retour</c:v>
                </c:pt>
                <c:pt idx="2">
                  <c:v>Décès 8Z6</c:v>
                </c:pt>
                <c:pt idx="3">
                  <c:v>Retraités CGRAE retour</c:v>
                </c:pt>
                <c:pt idx="4">
                  <c:v>Maladie 936</c:v>
                </c:pt>
                <c:pt idx="5">
                  <c:v>Flotte 9W3 retour</c:v>
                </c:pt>
                <c:pt idx="6">
                  <c:v>Grenier 9X4 retour</c:v>
                </c:pt>
                <c:pt idx="7">
                  <c:v>EFC 870 retour</c:v>
                </c:pt>
                <c:pt idx="8">
                  <c:v>PEP 998 retour</c:v>
                </c:pt>
                <c:pt idx="9">
                  <c:v>Comptabilité (balances)</c:v>
                </c:pt>
              </c:strCache>
            </c:strRef>
          </c:cat>
          <c:val>
            <c:numRef>
              <c:f>Sheet1!$B$2:$B$11</c:f>
              <c:numCache>
                <c:formatCode>0</c:formatCode>
                <c:ptCount val="10"/>
                <c:pt idx="0">
                  <c:v>0</c:v>
                </c:pt>
                <c:pt idx="1">
                  <c:v>6</c:v>
                </c:pt>
                <c:pt idx="2">
                  <c:v>24</c:v>
                </c:pt>
                <c:pt idx="3">
                  <c:v>30</c:v>
                </c:pt>
                <c:pt idx="4">
                  <c:v>31</c:v>
                </c:pt>
                <c:pt idx="5">
                  <c:v>37</c:v>
                </c:pt>
                <c:pt idx="6">
                  <c:v>43</c:v>
                </c:pt>
                <c:pt idx="7">
                  <c:v>43</c:v>
                </c:pt>
                <c:pt idx="8">
                  <c:v>80</c:v>
                </c:pt>
                <c:pt idx="9">
                  <c:v>80</c:v>
                </c:pt>
              </c:numCache>
            </c:numRef>
          </c:val>
        </c:ser>
        <c:dLbls>
          <c:numFmt formatCode="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b"/>
        <c:numFmt formatCode="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Taux moyen</c:v>
                </c:pt>
              </c:strCache>
            </c:strRef>
          </c:tx>
          <c:spPr>
            <a:solidFill>
              <a:srgbClr val="112A40"/>
            </a:solidFill>
          </c:spPr>
          <c:cat>
            <c:strRef>
              <c:f>Sheet1!$A$2:$A$7</c:f>
              <c:strCache>
                <c:ptCount val="6"/>
                <c:pt idx="0">
                  <c:v>EFC 870</c:v>
                </c:pt>
                <c:pt idx="1">
                  <c:v>PEP 998</c:v>
                </c:pt>
                <c:pt idx="2">
                  <c:v>Grenier 9X4</c:v>
                </c:pt>
                <c:pt idx="3">
                  <c:v>Flotte 9W3</c:v>
                </c:pt>
                <c:pt idx="4">
                  <c:v>Retraités CGRAE</c:v>
                </c:pt>
                <c:pt idx="5">
                  <c:v>MEDOC 8Z7</c:v>
                </c:pt>
              </c:strCache>
            </c:strRef>
          </c:cat>
          <c:val>
            <c:numRef>
              <c:f>Sheet1!$B$2:$B$7</c:f>
              <c:numCache>
                <c:formatCode>0.00</c:formatCode>
                <c:ptCount val="6"/>
                <c:pt idx="0">
                  <c:v>97.58</c:v>
                </c:pt>
                <c:pt idx="1">
                  <c:v>97.73</c:v>
                </c:pt>
                <c:pt idx="2">
                  <c:v>98.15</c:v>
                </c:pt>
                <c:pt idx="3">
                  <c:v>98.86</c:v>
                </c:pt>
                <c:pt idx="4">
                  <c:v>100.19</c:v>
                </c:pt>
                <c:pt idx="5">
                  <c:v>97.41</c:v>
                </c:pt>
              </c:numCache>
            </c:numRef>
          </c:val>
        </c:ser>
        <c:ser>
          <c:idx val="1"/>
          <c:order val="1"/>
          <c:tx>
            <c:strRef>
              <c:f>Sheet1!$C$1</c:f>
              <c:strCache>
                <c:ptCount val="1"/>
                <c:pt idx="0">
                  <c:v>Mois le plus bas</c:v>
                </c:pt>
              </c:strCache>
            </c:strRef>
          </c:tx>
          <c:spPr>
            <a:solidFill>
              <a:srgbClr val="EFAC62"/>
            </a:solidFill>
          </c:spPr>
          <c:cat>
            <c:strRef>
              <c:f>Sheet1!$A$2:$A$7</c:f>
              <c:strCache>
                <c:ptCount val="6"/>
                <c:pt idx="0">
                  <c:v>EFC 870</c:v>
                </c:pt>
                <c:pt idx="1">
                  <c:v>PEP 998</c:v>
                </c:pt>
                <c:pt idx="2">
                  <c:v>Grenier 9X4</c:v>
                </c:pt>
                <c:pt idx="3">
                  <c:v>Flotte 9W3</c:v>
                </c:pt>
                <c:pt idx="4">
                  <c:v>Retraités CGRAE</c:v>
                </c:pt>
                <c:pt idx="5">
                  <c:v>MEDOC 8Z7</c:v>
                </c:pt>
              </c:strCache>
            </c:strRef>
          </c:cat>
          <c:val>
            <c:numRef>
              <c:f>Sheet1!$C$2:$C$7</c:f>
              <c:numCache>
                <c:formatCode>0.00</c:formatCode>
                <c:ptCount val="6"/>
                <c:pt idx="0">
                  <c:v>95.97</c:v>
                </c:pt>
                <c:pt idx="1">
                  <c:v>76.96</c:v>
                </c:pt>
                <c:pt idx="2">
                  <c:v>69.19</c:v>
                </c:pt>
                <c:pt idx="3">
                  <c:v>82.2</c:v>
                </c:pt>
                <c:pt idx="4">
                  <c:v>96.62</c:v>
                </c:pt>
                <c:pt idx="5">
                  <c:v>96.64</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Cotisants</c:v>
                </c:pt>
              </c:strCache>
            </c:strRef>
          </c:tx>
          <c:spPr>
            <a:ln w="28575">
              <a:solidFill>
                <a:srgbClr val="112A40"/>
              </a:solidFill>
            </a:ln>
          </c:spPr>
          <c:marker>
            <c:spPr>
              <a:solidFill>
                <a:srgbClr val="112A40"/>
              </a:solidFill>
              <a:ln>
                <a:solidFill>
                  <a:srgbClr val="112A40"/>
                </a:solidFill>
              </a:ln>
            </c:spPr>
          </c:marker>
          <c:cat>
            <c:strRef>
              <c:f>Sheet1!$A$2:$A$33</c:f>
              <c:strCache>
                <c:ptCount val="32"/>
                <c:pt idx="0">
                  <c:v>janv. 24</c:v>
                </c:pt>
                <c:pt idx="1">
                  <c:v>févr. 24</c:v>
                </c:pt>
                <c:pt idx="2">
                  <c:v>mars 24</c:v>
                </c:pt>
                <c:pt idx="3">
                  <c:v>avr. 24</c:v>
                </c:pt>
                <c:pt idx="4">
                  <c:v>mai 24</c:v>
                </c:pt>
                <c:pt idx="5">
                  <c:v>juin 24</c:v>
                </c:pt>
                <c:pt idx="6">
                  <c:v>juil. 24</c:v>
                </c:pt>
                <c:pt idx="7">
                  <c:v>août 24</c:v>
                </c:pt>
                <c:pt idx="8">
                  <c:v>sept. 24</c:v>
                </c:pt>
                <c:pt idx="9">
                  <c:v>oct. 24</c:v>
                </c:pt>
                <c:pt idx="10">
                  <c:v>nov. 24</c:v>
                </c:pt>
                <c:pt idx="11">
                  <c:v>déc. 24</c:v>
                </c:pt>
                <c:pt idx="12">
                  <c:v>janv. 25</c:v>
                </c:pt>
                <c:pt idx="13">
                  <c:v>févr. 25</c:v>
                </c:pt>
                <c:pt idx="14">
                  <c:v>mars 25</c:v>
                </c:pt>
                <c:pt idx="15">
                  <c:v>avr. 25</c:v>
                </c:pt>
                <c:pt idx="16">
                  <c:v>mai 25</c:v>
                </c:pt>
                <c:pt idx="17">
                  <c:v>juin 25</c:v>
                </c:pt>
                <c:pt idx="18">
                  <c:v>juil. 25</c:v>
                </c:pt>
                <c:pt idx="19">
                  <c:v>août 25</c:v>
                </c:pt>
                <c:pt idx="20">
                  <c:v>sept. 25</c:v>
                </c:pt>
                <c:pt idx="21">
                  <c:v>oct. 25</c:v>
                </c:pt>
                <c:pt idx="22">
                  <c:v>nov. 25</c:v>
                </c:pt>
                <c:pt idx="23">
                  <c:v>déc. 25</c:v>
                </c:pt>
                <c:pt idx="24">
                  <c:v>janv. 26</c:v>
                </c:pt>
                <c:pt idx="25">
                  <c:v>févr. 26</c:v>
                </c:pt>
                <c:pt idx="26">
                  <c:v>mars 26</c:v>
                </c:pt>
                <c:pt idx="27">
                  <c:v>avr. 26</c:v>
                </c:pt>
                <c:pt idx="28">
                  <c:v>mai 26</c:v>
                </c:pt>
                <c:pt idx="29">
                  <c:v>juin 26</c:v>
                </c:pt>
                <c:pt idx="30">
                  <c:v>juil. 26</c:v>
                </c:pt>
                <c:pt idx="31">
                  <c:v>août 26</c:v>
                </c:pt>
              </c:strCache>
            </c:strRef>
          </c:cat>
          <c:val>
            <c:numRef>
              <c:f>Sheet1!$B$2:$B$33</c:f>
              <c:numCache>
                <c:formatCode># ##0</c:formatCode>
                <c:ptCount val="32"/>
                <c:pt idx="0">
                  <c:v>23119.0</c:v>
                </c:pt>
                <c:pt idx="1">
                  <c:v>23129.0</c:v>
                </c:pt>
                <c:pt idx="2">
                  <c:v>23123.0</c:v>
                </c:pt>
                <c:pt idx="3">
                  <c:v>23126.0</c:v>
                </c:pt>
                <c:pt idx="4">
                  <c:v>23416.0</c:v>
                </c:pt>
                <c:pt idx="5">
                  <c:v>23411.0</c:v>
                </c:pt>
                <c:pt idx="6">
                  <c:v>27698.0</c:v>
                </c:pt>
                <c:pt idx="7">
                  <c:v>27682.0</c:v>
                </c:pt>
                <c:pt idx="8">
                  <c:v>27670.0</c:v>
                </c:pt>
                <c:pt idx="9">
                  <c:v>28168.0</c:v>
                </c:pt>
                <c:pt idx="10">
                  <c:v>27606.0</c:v>
                </c:pt>
                <c:pt idx="12">
                  <c:v>27866.0</c:v>
                </c:pt>
                <c:pt idx="13">
                  <c:v>27858.0</c:v>
                </c:pt>
                <c:pt idx="14">
                  <c:v>27851.0</c:v>
                </c:pt>
                <c:pt idx="15">
                  <c:v>27758.0</c:v>
                </c:pt>
                <c:pt idx="16">
                  <c:v>27702.0</c:v>
                </c:pt>
                <c:pt idx="17">
                  <c:v>27642.0</c:v>
                </c:pt>
                <c:pt idx="18">
                  <c:v>31724.0</c:v>
                </c:pt>
                <c:pt idx="19">
                  <c:v>31716.0</c:v>
                </c:pt>
                <c:pt idx="20">
                  <c:v>31683.0</c:v>
                </c:pt>
                <c:pt idx="21">
                  <c:v>31683.0</c:v>
                </c:pt>
                <c:pt idx="22">
                  <c:v>31647.0</c:v>
                </c:pt>
                <c:pt idx="23">
                  <c:v>31676.0</c:v>
                </c:pt>
                <c:pt idx="24">
                  <c:v>31269.0</c:v>
                </c:pt>
                <c:pt idx="25">
                  <c:v>31260.0</c:v>
                </c:pt>
                <c:pt idx="26">
                  <c:v>31248.0</c:v>
                </c:pt>
                <c:pt idx="27">
                  <c:v>31238.0</c:v>
                </c:pt>
                <c:pt idx="28">
                  <c:v>31242.0</c:v>
                </c:pt>
                <c:pt idx="29">
                  <c:v>31232.0</c:v>
                </c:pt>
                <c:pt idx="30">
                  <c:v>31221.0</c:v>
                </c:pt>
                <c:pt idx="31">
                  <c:v>31198.0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min val="20000.0"/>
        </c:scaling>
        <c:delete val="0"/>
        <c:axPos val="l"/>
        <c:numFmt formatCode="# ##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Entrées</c:v>
                </c:pt>
              </c:strCache>
            </c:strRef>
          </c:tx>
          <c:spPr>
            <a:solidFill>
              <a:srgbClr val="112A40"/>
            </a:solidFill>
          </c:spPr>
          <c:cat>
            <c:strRef>
              <c:f>Sheet1!$A$2:$A$30</c:f>
              <c:strCache>
                <c:ptCount val="29"/>
                <c:pt idx="0">
                  <c:v>févr. 24</c:v>
                </c:pt>
                <c:pt idx="1">
                  <c:v>mars 24</c:v>
                </c:pt>
                <c:pt idx="2">
                  <c:v>avr. 24</c:v>
                </c:pt>
                <c:pt idx="3">
                  <c:v>mai 24</c:v>
                </c:pt>
                <c:pt idx="4">
                  <c:v>juin 24</c:v>
                </c:pt>
                <c:pt idx="5">
                  <c:v>juil. 24</c:v>
                </c:pt>
                <c:pt idx="6">
                  <c:v>août 24</c:v>
                </c:pt>
                <c:pt idx="7">
                  <c:v>sept. 24</c:v>
                </c:pt>
                <c:pt idx="8">
                  <c:v>oct. 24</c:v>
                </c:pt>
                <c:pt idx="9">
                  <c:v>nov. 24</c:v>
                </c:pt>
                <c:pt idx="10">
                  <c:v>févr. 25</c:v>
                </c:pt>
                <c:pt idx="11">
                  <c:v>mars 25</c:v>
                </c:pt>
                <c:pt idx="12">
                  <c:v>avr. 25</c:v>
                </c:pt>
                <c:pt idx="13">
                  <c:v>mai 25</c:v>
                </c:pt>
                <c:pt idx="14">
                  <c:v>juin 25</c:v>
                </c:pt>
                <c:pt idx="15">
                  <c:v>juil. 25</c:v>
                </c:pt>
                <c:pt idx="16">
                  <c:v>août 25</c:v>
                </c:pt>
                <c:pt idx="17">
                  <c:v>sept. 25</c:v>
                </c:pt>
                <c:pt idx="18">
                  <c:v>oct. 25</c:v>
                </c:pt>
                <c:pt idx="19">
                  <c:v>nov. 25</c:v>
                </c:pt>
                <c:pt idx="20">
                  <c:v>déc. 25</c:v>
                </c:pt>
                <c:pt idx="21">
                  <c:v>janv. 26</c:v>
                </c:pt>
                <c:pt idx="22">
                  <c:v>févr. 26</c:v>
                </c:pt>
                <c:pt idx="23">
                  <c:v>mars 26</c:v>
                </c:pt>
                <c:pt idx="24">
                  <c:v>avr. 26</c:v>
                </c:pt>
                <c:pt idx="25">
                  <c:v>mai 26</c:v>
                </c:pt>
                <c:pt idx="26">
                  <c:v>juin 26</c:v>
                </c:pt>
                <c:pt idx="27">
                  <c:v>juil. 26</c:v>
                </c:pt>
                <c:pt idx="28">
                  <c:v>août 26</c:v>
                </c:pt>
              </c:strCache>
            </c:strRef>
          </c:cat>
          <c:val>
            <c:numRef>
              <c:f>Sheet1!$B$2:$B$30</c:f>
              <c:numCache>
                <c:formatCode># ##0</c:formatCode>
                <c:ptCount val="29"/>
                <c:pt idx="0">
                  <c:v>26</c:v>
                </c:pt>
                <c:pt idx="1">
                  <c:v>4</c:v>
                </c:pt>
                <c:pt idx="2">
                  <c:v>17</c:v>
                </c:pt>
                <c:pt idx="3">
                  <c:v>640</c:v>
                </c:pt>
                <c:pt idx="4">
                  <c:v>3</c:v>
                </c:pt>
                <c:pt idx="5">
                  <c:v>4926</c:v>
                </c:pt>
                <c:pt idx="6">
                  <c:v>4</c:v>
                </c:pt>
                <c:pt idx="7">
                  <c:v>3</c:v>
                </c:pt>
                <c:pt idx="8">
                  <c:v>583</c:v>
                </c:pt>
                <c:pt idx="9">
                  <c:v>34</c:v>
                </c:pt>
                <c:pt idx="10">
                  <c:v>4</c:v>
                </c:pt>
                <c:pt idx="11">
                  <c:v>5</c:v>
                </c:pt>
                <c:pt idx="12">
                  <c:v>8</c:v>
                </c:pt>
                <c:pt idx="13">
                  <c:v>2</c:v>
                </c:pt>
                <c:pt idx="14">
                  <c:v>4</c:v>
                </c:pt>
                <c:pt idx="15">
                  <c:v>4127</c:v>
                </c:pt>
                <c:pt idx="16">
                  <c:v>13</c:v>
                </c:pt>
                <c:pt idx="17">
                  <c:v>9</c:v>
                </c:pt>
                <c:pt idx="18">
                  <c:v>33</c:v>
                </c:pt>
                <c:pt idx="19">
                  <c:v>19</c:v>
                </c:pt>
                <c:pt idx="20">
                  <c:v>50</c:v>
                </c:pt>
                <c:pt idx="21">
                  <c:v>35</c:v>
                </c:pt>
                <c:pt idx="22">
                  <c:v>9</c:v>
                </c:pt>
                <c:pt idx="23">
                  <c:v>1</c:v>
                </c:pt>
                <c:pt idx="24">
                  <c:v>14</c:v>
                </c:pt>
                <c:pt idx="25">
                  <c:v>22</c:v>
                </c:pt>
                <c:pt idx="26">
                  <c:v>10</c:v>
                </c:pt>
                <c:pt idx="27">
                  <c:v>7</c:v>
                </c:pt>
                <c:pt idx="28">
                  <c:v>1</c:v>
                </c:pt>
              </c:numCache>
            </c:numRef>
          </c:val>
        </c:ser>
        <c:ser>
          <c:idx val="1"/>
          <c:order val="1"/>
          <c:tx>
            <c:strRef>
              <c:f>Sheet1!$C$1</c:f>
              <c:strCache>
                <c:ptCount val="1"/>
                <c:pt idx="0">
                  <c:v>Sorties</c:v>
                </c:pt>
              </c:strCache>
            </c:strRef>
          </c:tx>
          <c:spPr>
            <a:solidFill>
              <a:srgbClr val="EFAC62"/>
            </a:solidFill>
          </c:spPr>
          <c:cat>
            <c:strRef>
              <c:f>Sheet1!$A$2:$A$30</c:f>
              <c:strCache>
                <c:ptCount val="29"/>
                <c:pt idx="0">
                  <c:v>févr. 24</c:v>
                </c:pt>
                <c:pt idx="1">
                  <c:v>mars 24</c:v>
                </c:pt>
                <c:pt idx="2">
                  <c:v>avr. 24</c:v>
                </c:pt>
                <c:pt idx="3">
                  <c:v>mai 24</c:v>
                </c:pt>
                <c:pt idx="4">
                  <c:v>juin 24</c:v>
                </c:pt>
                <c:pt idx="5">
                  <c:v>juil. 24</c:v>
                </c:pt>
                <c:pt idx="6">
                  <c:v>août 24</c:v>
                </c:pt>
                <c:pt idx="7">
                  <c:v>sept. 24</c:v>
                </c:pt>
                <c:pt idx="8">
                  <c:v>oct. 24</c:v>
                </c:pt>
                <c:pt idx="9">
                  <c:v>nov. 24</c:v>
                </c:pt>
                <c:pt idx="10">
                  <c:v>févr. 25</c:v>
                </c:pt>
                <c:pt idx="11">
                  <c:v>mars 25</c:v>
                </c:pt>
                <c:pt idx="12">
                  <c:v>avr. 25</c:v>
                </c:pt>
                <c:pt idx="13">
                  <c:v>mai 25</c:v>
                </c:pt>
                <c:pt idx="14">
                  <c:v>juin 25</c:v>
                </c:pt>
                <c:pt idx="15">
                  <c:v>juil. 25</c:v>
                </c:pt>
                <c:pt idx="16">
                  <c:v>août 25</c:v>
                </c:pt>
                <c:pt idx="17">
                  <c:v>sept. 25</c:v>
                </c:pt>
                <c:pt idx="18">
                  <c:v>oct. 25</c:v>
                </c:pt>
                <c:pt idx="19">
                  <c:v>nov. 25</c:v>
                </c:pt>
                <c:pt idx="20">
                  <c:v>déc. 25</c:v>
                </c:pt>
                <c:pt idx="21">
                  <c:v>janv. 26</c:v>
                </c:pt>
                <c:pt idx="22">
                  <c:v>févr. 26</c:v>
                </c:pt>
                <c:pt idx="23">
                  <c:v>mars 26</c:v>
                </c:pt>
                <c:pt idx="24">
                  <c:v>avr. 26</c:v>
                </c:pt>
                <c:pt idx="25">
                  <c:v>mai 26</c:v>
                </c:pt>
                <c:pt idx="26">
                  <c:v>juin 26</c:v>
                </c:pt>
                <c:pt idx="27">
                  <c:v>juil. 26</c:v>
                </c:pt>
                <c:pt idx="28">
                  <c:v>août 26</c:v>
                </c:pt>
              </c:strCache>
            </c:strRef>
          </c:cat>
          <c:val>
            <c:numRef>
              <c:f>Sheet1!$C$2:$C$30</c:f>
              <c:numCache>
                <c:formatCode># ##0</c:formatCode>
                <c:ptCount val="29"/>
                <c:pt idx="0">
                  <c:v>16</c:v>
                </c:pt>
                <c:pt idx="1">
                  <c:v>10</c:v>
                </c:pt>
                <c:pt idx="2">
                  <c:v>14</c:v>
                </c:pt>
                <c:pt idx="3">
                  <c:v>350</c:v>
                </c:pt>
                <c:pt idx="4">
                  <c:v>8</c:v>
                </c:pt>
                <c:pt idx="5">
                  <c:v>639</c:v>
                </c:pt>
                <c:pt idx="6">
                  <c:v>20</c:v>
                </c:pt>
                <c:pt idx="7">
                  <c:v>15</c:v>
                </c:pt>
                <c:pt idx="8">
                  <c:v>85</c:v>
                </c:pt>
                <c:pt idx="9">
                  <c:v>596</c:v>
                </c:pt>
                <c:pt idx="10">
                  <c:v>12</c:v>
                </c:pt>
                <c:pt idx="11">
                  <c:v>12</c:v>
                </c:pt>
                <c:pt idx="12">
                  <c:v>101</c:v>
                </c:pt>
                <c:pt idx="13">
                  <c:v>58</c:v>
                </c:pt>
                <c:pt idx="14">
                  <c:v>64</c:v>
                </c:pt>
                <c:pt idx="15">
                  <c:v>45</c:v>
                </c:pt>
                <c:pt idx="16">
                  <c:v>21</c:v>
                </c:pt>
                <c:pt idx="17">
                  <c:v>42</c:v>
                </c:pt>
                <c:pt idx="18">
                  <c:v>33</c:v>
                </c:pt>
                <c:pt idx="19">
                  <c:v>55</c:v>
                </c:pt>
                <c:pt idx="20">
                  <c:v>21</c:v>
                </c:pt>
                <c:pt idx="21">
                  <c:v>442</c:v>
                </c:pt>
                <c:pt idx="22">
                  <c:v>18</c:v>
                </c:pt>
                <c:pt idx="23">
                  <c:v>13</c:v>
                </c:pt>
                <c:pt idx="24">
                  <c:v>24</c:v>
                </c:pt>
                <c:pt idx="25">
                  <c:v>18</c:v>
                </c:pt>
                <c:pt idx="26">
                  <c:v>20</c:v>
                </c:pt>
                <c:pt idx="27">
                  <c:v>18</c:v>
                </c:pt>
                <c:pt idx="28">
                  <c:v>24</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Agents</c:v>
                </c:pt>
              </c:strCache>
            </c:strRef>
          </c:tx>
          <c:spPr>
            <a:solidFill>
              <a:srgbClr val="112A40"/>
            </a:solidFill>
          </c:spPr>
          <c:cat>
            <c:strRef>
              <c:f>Sheet1!$A$2:$A$9</c:f>
              <c:strCache>
                <c:ptCount val="8"/>
                <c:pt idx="0">
                  <c:v>0-5 ans</c:v>
                </c:pt>
                <c:pt idx="1">
                  <c:v>5-10</c:v>
                </c:pt>
                <c:pt idx="2">
                  <c:v>10-15</c:v>
                </c:pt>
                <c:pt idx="3">
                  <c:v>15-20</c:v>
                </c:pt>
                <c:pt idx="4">
                  <c:v>20-25</c:v>
                </c:pt>
                <c:pt idx="5">
                  <c:v>25-30</c:v>
                </c:pt>
                <c:pt idx="6">
                  <c:v>30-35</c:v>
                </c:pt>
                <c:pt idx="7">
                  <c:v>35 ans et +</c:v>
                </c:pt>
              </c:strCache>
            </c:strRef>
          </c:cat>
          <c:val>
            <c:numRef>
              <c:f>Sheet1!$B$2:$B$9</c:f>
              <c:numCache>
                <c:formatCode># ##0</c:formatCode>
                <c:ptCount val="8"/>
                <c:pt idx="0">
                  <c:v>11103</c:v>
                </c:pt>
                <c:pt idx="1">
                  <c:v>4735</c:v>
                </c:pt>
                <c:pt idx="2">
                  <c:v>1496</c:v>
                </c:pt>
                <c:pt idx="3">
                  <c:v>4585</c:v>
                </c:pt>
                <c:pt idx="4">
                  <c:v>3998</c:v>
                </c:pt>
                <c:pt idx="5">
                  <c:v>1817</c:v>
                </c:pt>
                <c:pt idx="6">
                  <c:v>139</c:v>
                </c:pt>
                <c:pt idx="7">
                  <c:v>2</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Maladie</c:v>
                </c:pt>
              </c:strCache>
            </c:strRef>
          </c:tx>
          <c:spPr>
            <a:solidFill>
              <a:srgbClr val="112A40"/>
            </a:solidFill>
          </c:spPr>
          <c:cat>
            <c:strRef>
              <c:f>Sheet1!$A$2:$A$4</c:f>
              <c:strCache>
                <c:ptCount val="3"/>
                <c:pt idx="0">
                  <c:v>Barème annoncé</c:v>
                </c:pt>
                <c:pt idx="1">
                  <c:v>Précompte Solde</c:v>
                </c:pt>
                <c:pt idx="2">
                  <c:v>Comptabilité 2025</c:v>
                </c:pt>
              </c:strCache>
            </c:strRef>
          </c:cat>
          <c:val>
            <c:numRef>
              <c:f>Sheet1!$B$2:$B$4</c:f>
              <c:numCache>
                <c:formatCode>0.00</c:formatCode>
                <c:ptCount val="3"/>
                <c:pt idx="0">
                  <c:v>3.5</c:v>
                </c:pt>
                <c:pt idx="1">
                  <c:v>3.77</c:v>
                </c:pt>
                <c:pt idx="2">
                  <c:v>3.52</c:v>
                </c:pt>
              </c:numCache>
            </c:numRef>
          </c:val>
        </c:ser>
        <c:ser>
          <c:idx val="1"/>
          <c:order val="1"/>
          <c:tx>
            <c:strRef>
              <c:f>Sheet1!$C$1</c:f>
              <c:strCache>
                <c:ptCount val="1"/>
                <c:pt idx="0">
                  <c:v>Décès</c:v>
                </c:pt>
              </c:strCache>
            </c:strRef>
          </c:tx>
          <c:spPr>
            <a:solidFill>
              <a:srgbClr val="EFAC62"/>
            </a:solidFill>
          </c:spPr>
          <c:cat>
            <c:strRef>
              <c:f>Sheet1!$A$2:$A$4</c:f>
              <c:strCache>
                <c:ptCount val="3"/>
                <c:pt idx="0">
                  <c:v>Barème annoncé</c:v>
                </c:pt>
                <c:pt idx="1">
                  <c:v>Précompte Solde</c:v>
                </c:pt>
                <c:pt idx="2">
                  <c:v>Comptabilité 2025</c:v>
                </c:pt>
              </c:strCache>
            </c:strRef>
          </c:cat>
          <c:val>
            <c:numRef>
              <c:f>Sheet1!$C$2:$C$4</c:f>
              <c:numCache>
                <c:formatCode>0.00</c:formatCode>
                <c:ptCount val="3"/>
                <c:pt idx="0">
                  <c:v>1.5</c:v>
                </c:pt>
                <c:pt idx="1">
                  <c:v>1.23</c:v>
                </c:pt>
                <c:pt idx="2">
                  <c:v>1.48</c:v>
                </c:pt>
              </c:numCache>
            </c:numRef>
          </c:val>
        </c:ser>
        <c:dLbls>
          <c:numFmt formatCode="0.00" sourceLinked="0"/>
          <c:txPr>
            <a:bodyPr/>
            <a:lstStyle/>
            <a:p>
              <a:pPr>
                <a:defRPr sz="1000">
                  <a:solidFill>
                    <a:srgbClr val="FFFFFF"/>
                  </a:solidFill>
                </a:defRPr>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 maladie</c:v>
                </c:pt>
              </c:strCache>
            </c:strRef>
          </c:tx>
          <c:spPr>
            <a:solidFill>
              <a:srgbClr val="112A40"/>
            </a:solidFill>
          </c:spPr>
          <c:cat>
            <c:strRef>
              <c:f>Sheet1!$A$2:$A$4</c:f>
              <c:strCache>
                <c:ptCount val="3"/>
                <c:pt idx="0">
                  <c:v>Clé comptable</c:v>
                </c:pt>
                <c:pt idx="1">
                  <c:v>Clé de la Solde (3,77 / 1,23)</c:v>
                </c:pt>
                <c:pt idx="2">
                  <c:v>Barème annoncé (3,5 / 1,5)</c:v>
                </c:pt>
              </c:strCache>
            </c:strRef>
          </c:cat>
          <c:val>
            <c:numRef>
              <c:f>Sheet1!$B$2:$B$4</c:f>
              <c:numCache>
                <c:formatCode>0.00</c:formatCode>
                <c:ptCount val="3"/>
                <c:pt idx="0">
                  <c:v>73.53</c:v>
                </c:pt>
                <c:pt idx="1">
                  <c:v>68.75</c:v>
                </c:pt>
                <c:pt idx="2">
                  <c:v>74.06</c:v>
                </c:pt>
              </c:numCache>
            </c:numRef>
          </c:val>
        </c:ser>
        <c:ser>
          <c:idx val="1"/>
          <c:order val="1"/>
          <c:tx>
            <c:strRef>
              <c:f>Sheet1!$C$1</c:f>
              <c:strCache>
                <c:ptCount val="1"/>
                <c:pt idx="0">
                  <c:v>S/C décès</c:v>
                </c:pt>
              </c:strCache>
            </c:strRef>
          </c:tx>
          <c:spPr>
            <a:solidFill>
              <a:srgbClr val="EFAC62"/>
            </a:solidFill>
          </c:spPr>
          <c:cat>
            <c:strRef>
              <c:f>Sheet1!$A$2:$A$4</c:f>
              <c:strCache>
                <c:ptCount val="3"/>
                <c:pt idx="0">
                  <c:v>Clé comptable</c:v>
                </c:pt>
                <c:pt idx="1">
                  <c:v>Clé de la Solde (3,77 / 1,23)</c:v>
                </c:pt>
                <c:pt idx="2">
                  <c:v>Barème annoncé (3,5 / 1,5)</c:v>
                </c:pt>
              </c:strCache>
            </c:strRef>
          </c:cat>
          <c:val>
            <c:numRef>
              <c:f>Sheet1!$C$2:$C$4</c:f>
              <c:numCache>
                <c:formatCode>0.00</c:formatCode>
                <c:ptCount val="3"/>
                <c:pt idx="0">
                  <c:v>19.16</c:v>
                </c:pt>
                <c:pt idx="1">
                  <c:v>22.97</c:v>
                </c:pt>
                <c:pt idx="2">
                  <c:v>18.84</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021A-48FF-9FB3-982F078F5DD6}"/>
              </c:ext>
            </c:extLst>
          </c:dPt>
          <c:dPt>
            <c:idx val="1"/>
            <c:bubble3D val="0"/>
            <c:spPr>
              <a:solidFill>
                <a:srgbClr val="112A40"/>
              </a:solidFill>
              <a:ln w="19050">
                <a:noFill/>
              </a:ln>
              <a:effectLst/>
            </c:spPr>
            <c:extLst>
              <c:ext xmlns:c16="http://schemas.microsoft.com/office/drawing/2014/chart" uri="{C3380CC4-5D6E-409C-BE32-E72D297353CC}">
                <c16:uniqueId val="{00000003-021A-48FF-9FB3-982F078F5DD6}"/>
              </c:ext>
            </c:extLst>
          </c:dPt>
          <c:cat>
            <c:strRef>
              <c:f>Sheet1!$A$2:$A$3</c:f>
              <c:strCache>
                <c:ptCount val="2"/>
                <c:pt idx="0">
                  <c:v>Valeur</c:v>
                </c:pt>
                <c:pt idx="1">
                  <c:v>Reste</c:v>
                </c:pt>
              </c:strCache>
            </c:strRef>
          </c:cat>
          <c:val>
            <c:numRef>
              <c:f>Sheet1!$B$2:$B$3</c:f>
              <c:numCache>
                <c:formatCode>General</c:formatCode>
                <c:ptCount val="2"/>
                <c:pt idx="0">
                  <c:v>73.53</c:v>
                </c:pt>
                <c:pt idx="1">
                  <c:v>26.47</c:v>
                </c:pt>
              </c:numCache>
            </c:numRef>
          </c:val>
          <c:extLst>
            <c:ext xmlns:c16="http://schemas.microsoft.com/office/drawing/2014/chart" uri="{C3380CC4-5D6E-409C-BE32-E72D297353CC}">
              <c16:uniqueId val="{00000004-021A-48FF-9FB3-982F078F5D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706D-4F64-BD6B-61C00E14F388}"/>
              </c:ext>
            </c:extLst>
          </c:dPt>
          <c:dPt>
            <c:idx val="1"/>
            <c:bubble3D val="0"/>
            <c:spPr>
              <a:solidFill>
                <a:srgbClr val="112A40"/>
              </a:solidFill>
              <a:ln w="19050">
                <a:noFill/>
              </a:ln>
              <a:effectLst/>
            </c:spPr>
            <c:extLst>
              <c:ext xmlns:c16="http://schemas.microsoft.com/office/drawing/2014/chart" uri="{C3380CC4-5D6E-409C-BE32-E72D297353CC}">
                <c16:uniqueId val="{00000003-706D-4F64-BD6B-61C00E14F388}"/>
              </c:ext>
            </c:extLst>
          </c:dPt>
          <c:cat>
            <c:strRef>
              <c:f>Sheet1!$A$2:$A$3</c:f>
              <c:strCache>
                <c:ptCount val="2"/>
                <c:pt idx="0">
                  <c:v>Valeur</c:v>
                </c:pt>
                <c:pt idx="1">
                  <c:v>Reste</c:v>
                </c:pt>
              </c:strCache>
            </c:strRef>
          </c:cat>
          <c:val>
            <c:numRef>
              <c:f>Sheet1!$B$2:$B$3</c:f>
              <c:numCache>
                <c:formatCode>General</c:formatCode>
                <c:ptCount val="2"/>
                <c:pt idx="0">
                  <c:v>16.28</c:v>
                </c:pt>
                <c:pt idx="1">
                  <c:v>83.72</c:v>
                </c:pt>
              </c:numCache>
            </c:numRef>
          </c:val>
          <c:extLst>
            <c:ext xmlns:c16="http://schemas.microsoft.com/office/drawing/2014/chart" uri="{C3380CC4-5D6E-409C-BE32-E72D297353CC}">
              <c16:uniqueId val="{00000004-706D-4F64-BD6B-61C00E14F38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750D-4441-85D1-EEC67D758551}"/>
              </c:ext>
            </c:extLst>
          </c:dPt>
          <c:dPt>
            <c:idx val="1"/>
            <c:bubble3D val="0"/>
            <c:spPr>
              <a:solidFill>
                <a:srgbClr val="112A40"/>
              </a:solidFill>
              <a:ln w="19050">
                <a:noFill/>
              </a:ln>
              <a:effectLst/>
            </c:spPr>
            <c:extLst>
              <c:ext xmlns:c16="http://schemas.microsoft.com/office/drawing/2014/chart" uri="{C3380CC4-5D6E-409C-BE32-E72D297353CC}">
                <c16:uniqueId val="{00000003-750D-4441-85D1-EEC67D758551}"/>
              </c:ext>
            </c:extLst>
          </c:dPt>
          <c:cat>
            <c:strRef>
              <c:f>Sheet1!$A$2:$A$3</c:f>
              <c:strCache>
                <c:ptCount val="2"/>
                <c:pt idx="0">
                  <c:v>Valeur</c:v>
                </c:pt>
                <c:pt idx="1">
                  <c:v>Reste</c:v>
                </c:pt>
              </c:strCache>
            </c:strRef>
          </c:cat>
          <c:val>
            <c:numRef>
              <c:f>Sheet1!$B$2:$B$3</c:f>
              <c:numCache>
                <c:formatCode>General</c:formatCode>
                <c:ptCount val="2"/>
                <c:pt idx="0">
                  <c:v>5.07</c:v>
                </c:pt>
                <c:pt idx="1">
                  <c:v>94.93</c:v>
                </c:pt>
              </c:numCache>
            </c:numRef>
          </c:val>
          <c:extLst>
            <c:ext xmlns:c16="http://schemas.microsoft.com/office/drawing/2014/chart" uri="{C3380CC4-5D6E-409C-BE32-E72D297353CC}">
              <c16:uniqueId val="{00000004-750D-4441-85D1-EEC67D75855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82E9-4DDD-8BC6-295B0F874A85}"/>
              </c:ext>
            </c:extLst>
          </c:dPt>
          <c:dPt>
            <c:idx val="1"/>
            <c:bubble3D val="0"/>
            <c:spPr>
              <a:solidFill>
                <a:srgbClr val="112A40"/>
              </a:solidFill>
              <a:ln w="19050">
                <a:noFill/>
              </a:ln>
              <a:effectLst/>
            </c:spPr>
            <c:extLst>
              <c:ext xmlns:c16="http://schemas.microsoft.com/office/drawing/2014/chart" uri="{C3380CC4-5D6E-409C-BE32-E72D297353CC}">
                <c16:uniqueId val="{00000003-82E9-4DDD-8BC6-295B0F874A85}"/>
              </c:ext>
            </c:extLst>
          </c:dPt>
          <c:cat>
            <c:strRef>
              <c:f>Sheet1!$A$2:$A$3</c:f>
              <c:strCache>
                <c:ptCount val="2"/>
                <c:pt idx="0">
                  <c:v>Valeur</c:v>
                </c:pt>
                <c:pt idx="1">
                  <c:v>Reste</c:v>
                </c:pt>
              </c:strCache>
            </c:strRef>
          </c:cat>
          <c:val>
            <c:numRef>
              <c:f>Sheet1!$B$2:$B$3</c:f>
              <c:numCache>
                <c:formatCode>General</c:formatCode>
                <c:ptCount val="2"/>
                <c:pt idx="0">
                  <c:v>21.34</c:v>
                </c:pt>
                <c:pt idx="1">
                  <c:v>78.66</c:v>
                </c:pt>
              </c:numCache>
            </c:numRef>
          </c:val>
          <c:extLst>
            <c:ext xmlns:c16="http://schemas.microsoft.com/office/drawing/2014/chart" uri="{C3380CC4-5D6E-409C-BE32-E72D297353CC}">
              <c16:uniqueId val="{00000004-82E9-4DDD-8BC6-295B0F874A85}"/>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Frais de gestion</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1210624559</c:v>
                </c:pt>
                <c:pt idx="1">
                  <c:v>961975477</c:v>
                </c:pt>
                <c:pt idx="2">
                  <c:v>1020461388</c:v>
                </c:pt>
                <c:pt idx="3">
                  <c:v>1039977199</c:v>
                </c:pt>
                <c:pt idx="4">
                  <c:v>987308865</c:v>
                </c:pt>
                <c:pt idx="5">
                  <c:v>1101350021</c:v>
                </c:pt>
                <c:pt idx="6">
                  <c:v>1055460837</c:v>
                </c:pt>
              </c:numCache>
            </c:numRef>
          </c:val>
        </c:ser>
        <c:ser>
          <c:idx val="1"/>
          <c:order val="1"/>
          <c:tx>
            <c:strRef>
              <c:f>Sheet1!$C$1</c:f>
              <c:strCache>
                <c:ptCount val="1"/>
                <c:pt idx="0">
                  <c:v>Résultat net</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1018579699</c:v>
                </c:pt>
                <c:pt idx="1">
                  <c:v>2083908202</c:v>
                </c:pt>
                <c:pt idx="2">
                  <c:v>2060332677</c:v>
                </c:pt>
                <c:pt idx="3">
                  <c:v>930629102</c:v>
                </c:pt>
                <c:pt idx="4">
                  <c:v>792069641</c:v>
                </c:pt>
                <c:pt idx="5">
                  <c:v>437899911</c:v>
                </c:pt>
                <c:pt idx="6">
                  <c:v>-441256500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Épargne PEP et EFC</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10828205640</c:v>
                </c:pt>
                <c:pt idx="1">
                  <c:v>10147421276</c:v>
                </c:pt>
                <c:pt idx="2">
                  <c:v>9364845293</c:v>
                </c:pt>
                <c:pt idx="3">
                  <c:v>9121576576</c:v>
                </c:pt>
                <c:pt idx="4">
                  <c:v>10785064432</c:v>
                </c:pt>
                <c:pt idx="5">
                  <c:v>13814066964</c:v>
                </c:pt>
                <c:pt idx="6">
                  <c:v>15743516391</c:v>
                </c:pt>
              </c:numCache>
            </c:numRef>
          </c:val>
        </c:ser>
        <c:ser>
          <c:idx val="1"/>
          <c:order val="1"/>
          <c:tx>
            <c:strRef>
              <c:f>Sheet1!$C$1</c:f>
              <c:strCache>
                <c:ptCount val="1"/>
                <c:pt idx="0">
                  <c:v>Actifs dédiés</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714042784</c:v>
                </c:pt>
                <c:pt idx="1">
                  <c:v>1957211038</c:v>
                </c:pt>
                <c:pt idx="2">
                  <c:v>888844233</c:v>
                </c:pt>
                <c:pt idx="3">
                  <c:v>839212069</c:v>
                </c:pt>
                <c:pt idx="4">
                  <c:v>699925787</c:v>
                </c:pt>
                <c:pt idx="5">
                  <c:v>1608155525</c:v>
                </c:pt>
                <c:pt idx="6">
                  <c:v>2562885661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PEP 998</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293756537</c:v>
                </c:pt>
                <c:pt idx="1">
                  <c:v>322774529</c:v>
                </c:pt>
                <c:pt idx="2">
                  <c:v>509643904</c:v>
                </c:pt>
                <c:pt idx="3">
                  <c:v>927826515</c:v>
                </c:pt>
                <c:pt idx="4">
                  <c:v>1456063820</c:v>
                </c:pt>
                <c:pt idx="5">
                  <c:v>2029929725</c:v>
                </c:pt>
                <c:pt idx="6">
                  <c:v>1606835144</c:v>
                </c:pt>
              </c:numCache>
            </c:numRef>
          </c:val>
        </c:ser>
        <c:ser>
          <c:idx val="1"/>
          <c:order val="1"/>
          <c:tx>
            <c:strRef>
              <c:f>Sheet1!$C$1</c:f>
              <c:strCache>
                <c:ptCount val="1"/>
                <c:pt idx="0">
                  <c:v>EFC 870</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3">
                  <c:v>1414649440</c:v>
                </c:pt>
                <c:pt idx="4">
                  <c:v>1833953120</c:v>
                </c:pt>
                <c:pt idx="5">
                  <c:v>2160317640</c:v>
                </c:pt>
                <c:pt idx="6">
                  <c:v>1786620720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Montant à rembourser</c:v>
                </c:pt>
              </c:strCache>
            </c:strRef>
          </c:tx>
          <c:spPr>
            <a:solidFill>
              <a:srgbClr val="112A40"/>
            </a:solidFill>
          </c:spPr>
          <c:cat>
            <c:strRef>
              <c:f>Sheet1!$A$2:$A$5</c:f>
              <c:strCache>
                <c:ptCount val="4"/>
                <c:pt idx="0">
                  <c:v>5,00 %</c:v>
                </c:pt>
                <c:pt idx="1">
                  <c:v>10,00 %</c:v>
                </c:pt>
                <c:pt idx="2">
                  <c:v>20,00 %</c:v>
                </c:pt>
                <c:pt idx="3">
                  <c:v>30,00 %</c:v>
                </c:pt>
              </c:strCache>
            </c:strRef>
          </c:cat>
          <c:val>
            <c:numRef>
              <c:f>Sheet1!$B$2:$B$5</c:f>
              <c:numCache>
                <c:formatCode># ##0,,</c:formatCode>
                <c:ptCount val="4"/>
                <c:pt idx="0">
                  <c:v>787175820</c:v>
                </c:pt>
                <c:pt idx="1">
                  <c:v>1574351639</c:v>
                </c:pt>
                <c:pt idx="2">
                  <c:v>3148703278</c:v>
                </c:pt>
                <c:pt idx="3">
                  <c:v>4723054917</c:v>
                </c:pt>
              </c:numCache>
            </c:numRef>
          </c:val>
        </c:ser>
        <c:ser>
          <c:idx val="1"/>
          <c:order val="1"/>
          <c:tx>
            <c:strRef>
              <c:f>Sheet1!$C$1</c:f>
              <c:strCache>
                <c:ptCount val="1"/>
                <c:pt idx="0">
                  <c:v>Actifs dédiés</c:v>
                </c:pt>
              </c:strCache>
            </c:strRef>
          </c:tx>
          <c:spPr>
            <a:solidFill>
              <a:srgbClr val="EFAC62"/>
            </a:solidFill>
          </c:spPr>
          <c:cat>
            <c:strRef>
              <c:f>Sheet1!$A$2:$A$5</c:f>
              <c:strCache>
                <c:ptCount val="4"/>
                <c:pt idx="0">
                  <c:v>5,00 %</c:v>
                </c:pt>
                <c:pt idx="1">
                  <c:v>10,00 %</c:v>
                </c:pt>
                <c:pt idx="2">
                  <c:v>20,00 %</c:v>
                </c:pt>
                <c:pt idx="3">
                  <c:v>30,00 %</c:v>
                </c:pt>
              </c:strCache>
            </c:strRef>
          </c:cat>
          <c:val>
            <c:numRef>
              <c:f>Sheet1!$C$2:$C$5</c:f>
              <c:numCache>
                <c:formatCode># ##0,,</c:formatCode>
                <c:ptCount val="4"/>
                <c:pt idx="0">
                  <c:v>2562885661</c:v>
                </c:pt>
                <c:pt idx="1">
                  <c:v>2562885661</c:v>
                </c:pt>
                <c:pt idx="2">
                  <c:v>2562885661</c:v>
                </c:pt>
                <c:pt idx="3">
                  <c:v>2562885661</c:v>
                </c:pt>
              </c:numCache>
            </c:numRef>
          </c:val>
        </c:ser>
        <c:ser>
          <c:idx val="2"/>
          <c:order val="2"/>
          <c:tx>
            <c:strRef>
              <c:f>Sheet1!$D$1</c:f>
              <c:strCache>
                <c:ptCount val="1"/>
                <c:pt idx="0">
                  <c:v>Trésorerie totale</c:v>
                </c:pt>
              </c:strCache>
            </c:strRef>
          </c:tx>
          <c:spPr>
            <a:solidFill>
              <a:srgbClr val="BBBCBC"/>
            </a:solidFill>
          </c:spPr>
          <c:cat>
            <c:strRef>
              <c:f>Sheet1!$A$2:$A$5</c:f>
              <c:strCache>
                <c:ptCount val="4"/>
                <c:pt idx="0">
                  <c:v>5,00 %</c:v>
                </c:pt>
                <c:pt idx="1">
                  <c:v>10,00 %</c:v>
                </c:pt>
                <c:pt idx="2">
                  <c:v>20,00 %</c:v>
                </c:pt>
                <c:pt idx="3">
                  <c:v>30,00 %</c:v>
                </c:pt>
              </c:strCache>
            </c:strRef>
          </c:cat>
          <c:val>
            <c:numRef>
              <c:f>Sheet1!$D$2:$D$5</c:f>
              <c:numCache>
                <c:formatCode># ##0,,</c:formatCode>
                <c:ptCount val="4"/>
                <c:pt idx="0">
                  <c:v>3359100618</c:v>
                </c:pt>
                <c:pt idx="1">
                  <c:v>3359100618</c:v>
                </c:pt>
                <c:pt idx="2">
                  <c:v>3359100618</c:v>
                </c:pt>
                <c:pt idx="3">
                  <c:v>3359100618</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Encours</c:v>
                </c:pt>
              </c:strCache>
            </c:strRef>
          </c:tx>
          <c:spPr>
            <a:solidFill>
              <a:srgbClr val="112A40"/>
            </a:solidFill>
          </c:spPr>
          <c:cat>
            <c:strRef>
              <c:f>Sheet1!$A$2:$A$7</c:f>
              <c:strCache>
                <c:ptCount val="6"/>
                <c:pt idx="0">
                  <c:v>31/12/2021</c:v>
                </c:pt>
                <c:pt idx="1">
                  <c:v>31/12/2022</c:v>
                </c:pt>
                <c:pt idx="2">
                  <c:v>31/12/2023</c:v>
                </c:pt>
                <c:pt idx="3">
                  <c:v>31/12/2024</c:v>
                </c:pt>
                <c:pt idx="4">
                  <c:v>31/12/2025</c:v>
                </c:pt>
                <c:pt idx="5">
                  <c:v>31/08/2026</c:v>
                </c:pt>
              </c:strCache>
            </c:strRef>
          </c:cat>
          <c:val>
            <c:numRef>
              <c:f>Sheet1!$B$2:$B$7</c:f>
              <c:numCache>
                <c:formatCode># ##0,,</c:formatCode>
                <c:ptCount val="6"/>
                <c:pt idx="0">
                  <c:v>7900000</c:v>
                </c:pt>
                <c:pt idx="1">
                  <c:v>182555907</c:v>
                </c:pt>
                <c:pt idx="2">
                  <c:v>375172174</c:v>
                </c:pt>
                <c:pt idx="3">
                  <c:v>566643134</c:v>
                </c:pt>
                <c:pt idx="4">
                  <c:v>829623319</c:v>
                </c:pt>
                <c:pt idx="5">
                  <c:v>1044302107</c:v>
                </c:pt>
              </c:numCache>
            </c:numRef>
          </c:val>
        </c:ser>
        <c:ser>
          <c:idx val="1"/>
          <c:order val="1"/>
          <c:tx>
            <c:strRef>
              <c:f>Sheet1!$C$1</c:f>
              <c:strCache>
                <c:ptCount val="1"/>
                <c:pt idx="0">
                  <c:v>Financement FPPN</c:v>
                </c:pt>
              </c:strCache>
            </c:strRef>
          </c:tx>
          <c:spPr>
            <a:solidFill>
              <a:srgbClr val="EFAC62"/>
            </a:solidFill>
          </c:spPr>
          <c:cat>
            <c:strRef>
              <c:f>Sheet1!$A$2:$A$7</c:f>
              <c:strCache>
                <c:ptCount val="6"/>
                <c:pt idx="0">
                  <c:v>31/12/2021</c:v>
                </c:pt>
                <c:pt idx="1">
                  <c:v>31/12/2022</c:v>
                </c:pt>
                <c:pt idx="2">
                  <c:v>31/12/2023</c:v>
                </c:pt>
                <c:pt idx="3">
                  <c:v>31/12/2024</c:v>
                </c:pt>
                <c:pt idx="4">
                  <c:v>31/12/2025</c:v>
                </c:pt>
                <c:pt idx="5">
                  <c:v>31/08/2026</c:v>
                </c:pt>
              </c:strCache>
            </c:strRef>
          </c:cat>
          <c:val>
            <c:numRef>
              <c:f>Sheet1!$C$2:$C$7</c:f>
              <c:numCache>
                <c:formatCode># ##0,,</c:formatCode>
                <c:ptCount val="6"/>
                <c:pt idx="0">
                  <c:v>27030000</c:v>
                </c:pt>
                <c:pt idx="1">
                  <c:v>458483900</c:v>
                </c:pt>
                <c:pt idx="2">
                  <c:v>504192100</c:v>
                </c:pt>
                <c:pt idx="3">
                  <c:v>650882600</c:v>
                </c:pt>
                <c:pt idx="4">
                  <c:v>817121335</c:v>
                </c:pt>
                <c:pt idx="5">
                  <c:v>915477260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Activites generatrice de revenus</c:v>
                </c:pt>
              </c:strCache>
            </c:strRef>
          </c:tx>
          <c:spPr>
            <a:solidFill>
              <a:srgbClr val="112A40"/>
            </a:solidFill>
          </c:spPr>
          <c:cat>
            <c:strRef>
              <c:f>Sheet1!$A$2:$A$7</c:f>
              <c:strCache>
                <c:ptCount val="6"/>
                <c:pt idx="0">
                  <c:v>2021</c:v>
                </c:pt>
                <c:pt idx="1">
                  <c:v>2022</c:v>
                </c:pt>
                <c:pt idx="2">
                  <c:v>2023</c:v>
                </c:pt>
                <c:pt idx="3">
                  <c:v>2024</c:v>
                </c:pt>
                <c:pt idx="4">
                  <c:v>2025</c:v>
                </c:pt>
                <c:pt idx="5">
                  <c:v>2026 (8 mois)</c:v>
                </c:pt>
              </c:strCache>
            </c:strRef>
          </c:cat>
          <c:val>
            <c:numRef>
              <c:f>Sheet1!$B$2:$B$7</c:f>
              <c:numCache>
                <c:formatCode># ##0,,</c:formatCode>
                <c:ptCount val="6"/>
                <c:pt idx="0">
                  <c:v>0</c:v>
                </c:pt>
                <c:pt idx="1">
                  <c:v>42260000</c:v>
                </c:pt>
                <c:pt idx="2">
                  <c:v>44235000</c:v>
                </c:pt>
                <c:pt idx="3">
                  <c:v>50835000</c:v>
                </c:pt>
                <c:pt idx="4">
                  <c:v>66625000</c:v>
                </c:pt>
                <c:pt idx="5">
                  <c:v>79280000</c:v>
                </c:pt>
              </c:numCache>
            </c:numRef>
          </c:val>
        </c:ser>
        <c:ser>
          <c:idx val="1"/>
          <c:order val="1"/>
          <c:tx>
            <c:strRef>
              <c:f>Sheet1!$C$1</c:f>
              <c:strCache>
                <c:ptCount val="1"/>
                <c:pt idx="0">
                  <c:v>Credit de sante</c:v>
                </c:pt>
              </c:strCache>
            </c:strRef>
          </c:tx>
          <c:spPr>
            <a:solidFill>
              <a:srgbClr val="EFAC62"/>
            </a:solidFill>
          </c:spPr>
          <c:cat>
            <c:strRef>
              <c:f>Sheet1!$A$2:$A$7</c:f>
              <c:strCache>
                <c:ptCount val="6"/>
                <c:pt idx="0">
                  <c:v>2021</c:v>
                </c:pt>
                <c:pt idx="1">
                  <c:v>2022</c:v>
                </c:pt>
                <c:pt idx="2">
                  <c:v>2023</c:v>
                </c:pt>
                <c:pt idx="3">
                  <c:v>2024</c:v>
                </c:pt>
                <c:pt idx="4">
                  <c:v>2025</c:v>
                </c:pt>
                <c:pt idx="5">
                  <c:v>2026 (8 mois)</c:v>
                </c:pt>
              </c:strCache>
            </c:strRef>
          </c:cat>
          <c:val>
            <c:numRef>
              <c:f>Sheet1!$C$2:$C$7</c:f>
              <c:numCache>
                <c:formatCode># ##0,,</c:formatCode>
                <c:ptCount val="6"/>
                <c:pt idx="0">
                  <c:v>500000</c:v>
                </c:pt>
                <c:pt idx="1">
                  <c:v>20500000</c:v>
                </c:pt>
                <c:pt idx="2">
                  <c:v>55265000</c:v>
                </c:pt>
                <c:pt idx="3">
                  <c:v>111885000</c:v>
                </c:pt>
                <c:pt idx="4">
                  <c:v>170425000</c:v>
                </c:pt>
                <c:pt idx="5">
                  <c:v>199205000</c:v>
                </c:pt>
              </c:numCache>
            </c:numRef>
          </c:val>
        </c:ser>
        <c:ser>
          <c:idx val="2"/>
          <c:order val="2"/>
          <c:tx>
            <c:strRef>
              <c:f>Sheet1!$D$1</c:f>
              <c:strCache>
                <c:ptCount val="1"/>
                <c:pt idx="0">
                  <c:v>Credit grenier shop</c:v>
                </c:pt>
              </c:strCache>
            </c:strRef>
          </c:tx>
          <c:spPr>
            <a:solidFill>
              <a:srgbClr val="BBBCBC"/>
            </a:solidFill>
          </c:spPr>
          <c:cat>
            <c:strRef>
              <c:f>Sheet1!$A$2:$A$7</c:f>
              <c:strCache>
                <c:ptCount val="6"/>
                <c:pt idx="0">
                  <c:v>2021</c:v>
                </c:pt>
                <c:pt idx="1">
                  <c:v>2022</c:v>
                </c:pt>
                <c:pt idx="2">
                  <c:v>2023</c:v>
                </c:pt>
                <c:pt idx="3">
                  <c:v>2024</c:v>
                </c:pt>
                <c:pt idx="4">
                  <c:v>2025</c:v>
                </c:pt>
                <c:pt idx="5">
                  <c:v>2026 (8 mois)</c:v>
                </c:pt>
              </c:strCache>
            </c:strRef>
          </c:cat>
          <c:val>
            <c:numRef>
              <c:f>Sheet1!$D$2:$D$7</c:f>
              <c:numCache>
                <c:formatCode># ##0,,</c:formatCode>
                <c:ptCount val="6"/>
                <c:pt idx="0">
                  <c:v>0</c:v>
                </c:pt>
                <c:pt idx="1">
                  <c:v>0</c:v>
                </c:pt>
                <c:pt idx="2">
                  <c:v>0</c:v>
                </c:pt>
                <c:pt idx="3">
                  <c:v>2217888</c:v>
                </c:pt>
                <c:pt idx="4">
                  <c:v>5009675</c:v>
                </c:pt>
                <c:pt idx="5">
                  <c:v>892175</c:v>
                </c:pt>
              </c:numCache>
            </c:numRef>
          </c:val>
        </c:ser>
        <c:ser>
          <c:idx val="3"/>
          <c:order val="3"/>
          <c:tx>
            <c:strRef>
              <c:f>Sheet1!$E$1</c:f>
              <c:strCache>
                <c:ptCount val="1"/>
                <c:pt idx="0">
                  <c:v>Credit habitat</c:v>
                </c:pt>
              </c:strCache>
            </c:strRef>
          </c:tx>
          <c:spPr>
            <a:solidFill>
              <a:srgbClr val="060606"/>
            </a:solidFill>
          </c:spPr>
          <c:cat>
            <c:strRef>
              <c:f>Sheet1!$A$2:$A$7</c:f>
              <c:strCache>
                <c:ptCount val="6"/>
                <c:pt idx="0">
                  <c:v>2021</c:v>
                </c:pt>
                <c:pt idx="1">
                  <c:v>2022</c:v>
                </c:pt>
                <c:pt idx="2">
                  <c:v>2023</c:v>
                </c:pt>
                <c:pt idx="3">
                  <c:v>2024</c:v>
                </c:pt>
                <c:pt idx="4">
                  <c:v>2025</c:v>
                </c:pt>
                <c:pt idx="5">
                  <c:v>2026 (8 mois)</c:v>
                </c:pt>
              </c:strCache>
            </c:strRef>
          </c:cat>
          <c:val>
            <c:numRef>
              <c:f>Sheet1!$E$2:$E$7</c:f>
              <c:numCache>
                <c:formatCode># ##0,,</c:formatCode>
                <c:ptCount val="6"/>
                <c:pt idx="0">
                  <c:v>0</c:v>
                </c:pt>
                <c:pt idx="1">
                  <c:v>55820000</c:v>
                </c:pt>
                <c:pt idx="2">
                  <c:v>150605000</c:v>
                </c:pt>
                <c:pt idx="3">
                  <c:v>252625000</c:v>
                </c:pt>
                <c:pt idx="4">
                  <c:v>508842669</c:v>
                </c:pt>
                <c:pt idx="5">
                  <c:v>540495000</c:v>
                </c:pt>
              </c:numCache>
            </c:numRef>
          </c:val>
        </c:ser>
        <c:ser>
          <c:idx val="4"/>
          <c:order val="4"/>
          <c:tx>
            <c:strRef>
              <c:f>Sheet1!$F$1</c:f>
              <c:strCache>
                <c:ptCount val="1"/>
                <c:pt idx="0">
                  <c:v>Credit mariage</c:v>
                </c:pt>
              </c:strCache>
            </c:strRef>
          </c:tx>
          <c:spPr>
            <a:solidFill>
              <a:srgbClr val="53565A"/>
            </a:solidFill>
          </c:spPr>
          <c:cat>
            <c:strRef>
              <c:f>Sheet1!$A$2:$A$7</c:f>
              <c:strCache>
                <c:ptCount val="6"/>
                <c:pt idx="0">
                  <c:v>2021</c:v>
                </c:pt>
                <c:pt idx="1">
                  <c:v>2022</c:v>
                </c:pt>
                <c:pt idx="2">
                  <c:v>2023</c:v>
                </c:pt>
                <c:pt idx="3">
                  <c:v>2024</c:v>
                </c:pt>
                <c:pt idx="4">
                  <c:v>2025</c:v>
                </c:pt>
                <c:pt idx="5">
                  <c:v>2026 (8 mois)</c:v>
                </c:pt>
              </c:strCache>
            </c:strRef>
          </c:cat>
          <c:val>
            <c:numRef>
              <c:f>Sheet1!$F$2:$F$7</c:f>
              <c:numCache>
                <c:formatCode># ##0,,</c:formatCode>
                <c:ptCount val="6"/>
                <c:pt idx="0">
                  <c:v>0</c:v>
                </c:pt>
                <c:pt idx="1">
                  <c:v>3690000</c:v>
                </c:pt>
                <c:pt idx="2">
                  <c:v>7825000</c:v>
                </c:pt>
                <c:pt idx="3">
                  <c:v>15480000</c:v>
                </c:pt>
                <c:pt idx="4">
                  <c:v>21750000</c:v>
                </c:pt>
                <c:pt idx="5">
                  <c:v>19450000</c:v>
                </c:pt>
              </c:numCache>
            </c:numRef>
          </c:val>
        </c:ser>
        <c:ser>
          <c:idx val="5"/>
          <c:order val="5"/>
          <c:tx>
            <c:strRef>
              <c:f>Sheet1!$G$1</c:f>
              <c:strCache>
                <c:ptCount val="1"/>
                <c:pt idx="0">
                  <c:v>Crédit flash</c:v>
                </c:pt>
              </c:strCache>
            </c:strRef>
          </c:tx>
          <c:spPr>
            <a:solidFill>
              <a:srgbClr val="F6D3A8"/>
            </a:solidFill>
          </c:spPr>
          <c:cat>
            <c:strRef>
              <c:f>Sheet1!$A$2:$A$7</c:f>
              <c:strCache>
                <c:ptCount val="6"/>
                <c:pt idx="0">
                  <c:v>2021</c:v>
                </c:pt>
                <c:pt idx="1">
                  <c:v>2022</c:v>
                </c:pt>
                <c:pt idx="2">
                  <c:v>2023</c:v>
                </c:pt>
                <c:pt idx="3">
                  <c:v>2024</c:v>
                </c:pt>
                <c:pt idx="4">
                  <c:v>2025</c:v>
                </c:pt>
                <c:pt idx="5">
                  <c:v>2026 (8 mois)</c:v>
                </c:pt>
              </c:strCache>
            </c:strRef>
          </c:cat>
          <c:val>
            <c:numRef>
              <c:f>Sheet1!$G$2:$G$7</c:f>
              <c:numCache>
                <c:formatCode># ##0,,</c:formatCode>
                <c:ptCount val="6"/>
                <c:pt idx="0">
                  <c:v>0</c:v>
                </c:pt>
                <c:pt idx="1">
                  <c:v>22440100</c:v>
                </c:pt>
                <c:pt idx="2">
                  <c:v>143012090</c:v>
                </c:pt>
                <c:pt idx="3">
                  <c:v>209941000</c:v>
                </c:pt>
                <c:pt idx="4">
                  <c:v>268242800</c:v>
                </c:pt>
                <c:pt idx="5">
                  <c:v>151510000</c:v>
                </c:pt>
              </c:numCache>
            </c:numRef>
          </c:val>
        </c:ser>
        <c:ser>
          <c:idx val="6"/>
          <c:order val="6"/>
          <c:tx>
            <c:strRef>
              <c:f>Sheet1!$H$1</c:f>
              <c:strCache>
                <c:ptCount val="1"/>
                <c:pt idx="0">
                  <c:v>Crédit scolaire</c:v>
                </c:pt>
              </c:strCache>
            </c:strRef>
          </c:tx>
          <c:spPr>
            <a:solidFill>
              <a:srgbClr val="5B7A99"/>
            </a:solidFill>
          </c:spPr>
          <c:cat>
            <c:strRef>
              <c:f>Sheet1!$A$2:$A$7</c:f>
              <c:strCache>
                <c:ptCount val="6"/>
                <c:pt idx="0">
                  <c:v>2021</c:v>
                </c:pt>
                <c:pt idx="1">
                  <c:v>2022</c:v>
                </c:pt>
                <c:pt idx="2">
                  <c:v>2023</c:v>
                </c:pt>
                <c:pt idx="3">
                  <c:v>2024</c:v>
                </c:pt>
                <c:pt idx="4">
                  <c:v>2025</c:v>
                </c:pt>
                <c:pt idx="5">
                  <c:v>2026 (8 mois)</c:v>
                </c:pt>
              </c:strCache>
            </c:strRef>
          </c:cat>
          <c:val>
            <c:numRef>
              <c:f>Sheet1!$H$2:$H$7</c:f>
              <c:numCache>
                <c:formatCode># ##0,,</c:formatCode>
                <c:ptCount val="6"/>
                <c:pt idx="0">
                  <c:v>3700000</c:v>
                </c:pt>
                <c:pt idx="1">
                  <c:v>106550000</c:v>
                </c:pt>
                <c:pt idx="2">
                  <c:v>236870000</c:v>
                </c:pt>
                <c:pt idx="3">
                  <c:v>509425010</c:v>
                </c:pt>
                <c:pt idx="4">
                  <c:v>555305000</c:v>
                </c:pt>
                <c:pt idx="5">
                  <c:v>370515000</c:v>
                </c:pt>
              </c:numCache>
            </c:numRef>
          </c:val>
        </c:ser>
        <c:ser>
          <c:idx val="7"/>
          <c:order val="7"/>
          <c:tx>
            <c:strRef>
              <c:f>Sheet1!$I$1</c:f>
              <c:strCache>
                <c:ptCount val="1"/>
                <c:pt idx="0">
                  <c:v>Equipement domestique</c:v>
                </c:pt>
              </c:strCache>
            </c:strRef>
          </c:tx>
          <c:spPr>
            <a:solidFill>
              <a:srgbClr val="112A40"/>
            </a:solidFill>
          </c:spPr>
          <c:cat>
            <c:strRef>
              <c:f>Sheet1!$A$2:$A$7</c:f>
              <c:strCache>
                <c:ptCount val="6"/>
                <c:pt idx="0">
                  <c:v>2021</c:v>
                </c:pt>
                <c:pt idx="1">
                  <c:v>2022</c:v>
                </c:pt>
                <c:pt idx="2">
                  <c:v>2023</c:v>
                </c:pt>
                <c:pt idx="3">
                  <c:v>2024</c:v>
                </c:pt>
                <c:pt idx="4">
                  <c:v>2025</c:v>
                </c:pt>
                <c:pt idx="5">
                  <c:v>2026 (8 mois)</c:v>
                </c:pt>
              </c:strCache>
            </c:strRef>
          </c:cat>
          <c:val>
            <c:numRef>
              <c:f>Sheet1!$I$2:$I$7</c:f>
              <c:numCache>
                <c:formatCode># ##0,,</c:formatCode>
                <c:ptCount val="6"/>
                <c:pt idx="0">
                  <c:v>3700000</c:v>
                </c:pt>
                <c:pt idx="1">
                  <c:v>18515000</c:v>
                </c:pt>
                <c:pt idx="2">
                  <c:v>28080000</c:v>
                </c:pt>
                <c:pt idx="3">
                  <c:v>32665000</c:v>
                </c:pt>
                <c:pt idx="4">
                  <c:v>13200000</c:v>
                </c:pt>
                <c:pt idx="5">
                  <c:v>22455000</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Plus de 30 jours</c:v>
                </c:pt>
              </c:strCache>
            </c:strRef>
          </c:tx>
          <c:spPr>
            <a:ln w="28575">
              <a:solidFill>
                <a:srgbClr val="112A40"/>
              </a:solidFill>
            </a:ln>
          </c:spPr>
          <c:marker>
            <c:spPr>
              <a:solidFill>
                <a:srgbClr val="112A40"/>
              </a:solidFill>
              <a:ln>
                <a:solidFill>
                  <a:srgbClr val="112A40"/>
                </a:solidFill>
              </a:ln>
            </c:spPr>
          </c:marker>
          <c:cat>
            <c:strRef>
              <c:f>Sheet1!$A$2:$A$13</c:f>
              <c:strCache>
                <c:ptCount val="12"/>
                <c:pt idx="0">
                  <c:v>31/12/2021</c:v>
                </c:pt>
                <c:pt idx="1">
                  <c:v>31/12/2022</c:v>
                </c:pt>
                <c:pt idx="2">
                  <c:v>31/12/2023</c:v>
                </c:pt>
                <c:pt idx="3">
                  <c:v>31/12/2024</c:v>
                </c:pt>
                <c:pt idx="4">
                  <c:v>31/12/2025</c:v>
                </c:pt>
                <c:pt idx="5">
                  <c:v>31/01/2026</c:v>
                </c:pt>
                <c:pt idx="6">
                  <c:v>31/03/2026</c:v>
                </c:pt>
                <c:pt idx="7">
                  <c:v>30/04/2026</c:v>
                </c:pt>
                <c:pt idx="8">
                  <c:v>31/05/2026</c:v>
                </c:pt>
                <c:pt idx="9">
                  <c:v>30/06/2026</c:v>
                </c:pt>
                <c:pt idx="10">
                  <c:v>31/07/2026</c:v>
                </c:pt>
                <c:pt idx="11">
                  <c:v>31/08/2026</c:v>
                </c:pt>
              </c:strCache>
            </c:strRef>
          </c:cat>
          <c:val>
            <c:numRef>
              <c:f>Sheet1!$B$2:$B$13</c:f>
              <c:numCache>
                <c:formatCode>0.00</c:formatCode>
                <c:ptCount val="12"/>
                <c:pt idx="0">
                  <c:v>0.0</c:v>
                </c:pt>
                <c:pt idx="1">
                  <c:v>8.74</c:v>
                </c:pt>
                <c:pt idx="2">
                  <c:v>0.24</c:v>
                </c:pt>
                <c:pt idx="3">
                  <c:v>1.72</c:v>
                </c:pt>
                <c:pt idx="4">
                  <c:v>3.8</c:v>
                </c:pt>
                <c:pt idx="5">
                  <c:v>61.96</c:v>
                </c:pt>
                <c:pt idx="6">
                  <c:v>35.37</c:v>
                </c:pt>
                <c:pt idx="7">
                  <c:v>21.99</c:v>
                </c:pt>
                <c:pt idx="8">
                  <c:v>13.99</c:v>
                </c:pt>
                <c:pt idx="9">
                  <c:v>8.52</c:v>
                </c:pt>
                <c:pt idx="10">
                  <c:v>3.96</c:v>
                </c:pt>
                <c:pt idx="11">
                  <c:v>1.83</c:v>
                </c:pt>
              </c:numCache>
            </c:numRef>
          </c:val>
          <c:smooth val="0"/>
        </c:ser>
        <c:ser>
          <c:idx val="1"/>
          <c:order val="1"/>
          <c:tx>
            <c:strRef>
              <c:f>Sheet1!$C$1</c:f>
              <c:strCache>
                <c:ptCount val="1"/>
                <c:pt idx="0">
                  <c:v>Plus de 90 jours</c:v>
                </c:pt>
              </c:strCache>
            </c:strRef>
          </c:tx>
          <c:spPr>
            <a:ln w="28575">
              <a:solidFill>
                <a:srgbClr val="EFAC62"/>
              </a:solidFill>
            </a:ln>
          </c:spPr>
          <c:marker>
            <c:spPr>
              <a:solidFill>
                <a:srgbClr val="EFAC62"/>
              </a:solidFill>
              <a:ln>
                <a:solidFill>
                  <a:srgbClr val="EFAC62"/>
                </a:solidFill>
              </a:ln>
            </c:spPr>
          </c:marker>
          <c:cat>
            <c:strRef>
              <c:f>Sheet1!$A$2:$A$13</c:f>
              <c:strCache>
                <c:ptCount val="12"/>
                <c:pt idx="0">
                  <c:v>31/12/2021</c:v>
                </c:pt>
                <c:pt idx="1">
                  <c:v>31/12/2022</c:v>
                </c:pt>
                <c:pt idx="2">
                  <c:v>31/12/2023</c:v>
                </c:pt>
                <c:pt idx="3">
                  <c:v>31/12/2024</c:v>
                </c:pt>
                <c:pt idx="4">
                  <c:v>31/12/2025</c:v>
                </c:pt>
                <c:pt idx="5">
                  <c:v>31/01/2026</c:v>
                </c:pt>
                <c:pt idx="6">
                  <c:v>31/03/2026</c:v>
                </c:pt>
                <c:pt idx="7">
                  <c:v>30/04/2026</c:v>
                </c:pt>
                <c:pt idx="8">
                  <c:v>31/05/2026</c:v>
                </c:pt>
                <c:pt idx="9">
                  <c:v>30/06/2026</c:v>
                </c:pt>
                <c:pt idx="10">
                  <c:v>31/07/2026</c:v>
                </c:pt>
                <c:pt idx="11">
                  <c:v>31/08/2026</c:v>
                </c:pt>
              </c:strCache>
            </c:strRef>
          </c:cat>
          <c:val>
            <c:numRef>
              <c:f>Sheet1!$C$2:$C$13</c:f>
              <c:numCache>
                <c:formatCode>0.00</c:formatCode>
                <c:ptCount val="12"/>
                <c:pt idx="0">
                  <c:v>0.0</c:v>
                </c:pt>
                <c:pt idx="1">
                  <c:v>8.74</c:v>
                </c:pt>
                <c:pt idx="2">
                  <c:v>0.24</c:v>
                </c:pt>
                <c:pt idx="3">
                  <c:v>1.32</c:v>
                </c:pt>
                <c:pt idx="4">
                  <c:v>0.85</c:v>
                </c:pt>
                <c:pt idx="5">
                  <c:v>0.93</c:v>
                </c:pt>
                <c:pt idx="6">
                  <c:v>35.23</c:v>
                </c:pt>
                <c:pt idx="7">
                  <c:v>21.93</c:v>
                </c:pt>
                <c:pt idx="8">
                  <c:v>13.78</c:v>
                </c:pt>
                <c:pt idx="9">
                  <c:v>8.17</c:v>
                </c:pt>
                <c:pt idx="10">
                  <c:v>3.79</c:v>
                </c:pt>
                <c:pt idx="11">
                  <c:v>1.71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Échéances</c:v>
                </c:pt>
              </c:strCache>
            </c:strRef>
          </c:tx>
          <c:spPr>
            <a:solidFill>
              <a:srgbClr val="112A40"/>
            </a:solidFill>
          </c:spPr>
          <c:cat>
            <c:strRef>
              <c:f>Sheet1!$A$2:$A$8</c:f>
              <c:strCache>
                <c:ptCount val="7"/>
                <c:pt idx="0">
                  <c:v>janv. 26</c:v>
                </c:pt>
                <c:pt idx="1">
                  <c:v>mars 26</c:v>
                </c:pt>
                <c:pt idx="2">
                  <c:v>avr. 26</c:v>
                </c:pt>
                <c:pt idx="3">
                  <c:v>mai 26</c:v>
                </c:pt>
                <c:pt idx="4">
                  <c:v>juin 26</c:v>
                </c:pt>
                <c:pt idx="5">
                  <c:v>juil. 26</c:v>
                </c:pt>
                <c:pt idx="6">
                  <c:v>août 26</c:v>
                </c:pt>
              </c:strCache>
            </c:strRef>
          </c:cat>
          <c:val>
            <c:numRef>
              <c:f>Sheet1!$B$2:$B$8</c:f>
              <c:numCache>
                <c:formatCode># ##0,,</c:formatCode>
                <c:ptCount val="7"/>
                <c:pt idx="0">
                  <c:v>167784430</c:v>
                </c:pt>
                <c:pt idx="1">
                  <c:v>184076769</c:v>
                </c:pt>
                <c:pt idx="2">
                  <c:v>168474822</c:v>
                </c:pt>
                <c:pt idx="3">
                  <c:v>169652320</c:v>
                </c:pt>
                <c:pt idx="4">
                  <c:v>172760779</c:v>
                </c:pt>
                <c:pt idx="5">
                  <c:v>182530820</c:v>
                </c:pt>
                <c:pt idx="6">
                  <c:v>184892374</c:v>
                </c:pt>
              </c:numCache>
            </c:numRef>
          </c:val>
        </c:ser>
        <c:ser>
          <c:idx val="1"/>
          <c:order val="1"/>
          <c:tx>
            <c:strRef>
              <c:f>Sheet1!$C$1</c:f>
              <c:strCache>
                <c:ptCount val="1"/>
                <c:pt idx="0">
                  <c:v>Précomptes 9X4</c:v>
                </c:pt>
              </c:strCache>
            </c:strRef>
          </c:tx>
          <c:spPr>
            <a:solidFill>
              <a:srgbClr val="EFAC62"/>
            </a:solidFill>
          </c:spPr>
          <c:cat>
            <c:strRef>
              <c:f>Sheet1!$A$2:$A$8</c:f>
              <c:strCache>
                <c:ptCount val="7"/>
                <c:pt idx="0">
                  <c:v>janv. 26</c:v>
                </c:pt>
                <c:pt idx="1">
                  <c:v>mars 26</c:v>
                </c:pt>
                <c:pt idx="2">
                  <c:v>avr. 26</c:v>
                </c:pt>
                <c:pt idx="3">
                  <c:v>mai 26</c:v>
                </c:pt>
                <c:pt idx="4">
                  <c:v>juin 26</c:v>
                </c:pt>
                <c:pt idx="5">
                  <c:v>juil. 26</c:v>
                </c:pt>
                <c:pt idx="6">
                  <c:v>août 26</c:v>
                </c:pt>
              </c:strCache>
            </c:strRef>
          </c:cat>
          <c:val>
            <c:numRef>
              <c:f>Sheet1!$C$2:$C$8</c:f>
              <c:numCache>
                <c:formatCode># ##0,,</c:formatCode>
                <c:ptCount val="7"/>
                <c:pt idx="0">
                  <c:v>142557746</c:v>
                </c:pt>
                <c:pt idx="1">
                  <c:v>139420845</c:v>
                </c:pt>
                <c:pt idx="2">
                  <c:v>138410953</c:v>
                </c:pt>
                <c:pt idx="3">
                  <c:v>143081813</c:v>
                </c:pt>
                <c:pt idx="4">
                  <c:v>147496219</c:v>
                </c:pt>
                <c:pt idx="5">
                  <c:v>150817238</c:v>
                </c:pt>
                <c:pt idx="6">
                  <c:v>156330374</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Retraités</c:v>
                </c:pt>
              </c:strCache>
            </c:strRef>
          </c:tx>
          <c:spPr>
            <a:ln w="28575">
              <a:solidFill>
                <a:srgbClr val="112A40"/>
              </a:solidFill>
            </a:ln>
          </c:spPr>
          <c:marker>
            <c:spPr>
              <a:solidFill>
                <a:srgbClr val="112A40"/>
              </a:solidFill>
              <a:ln>
                <a:solidFill>
                  <a:srgbClr val="112A40"/>
                </a:solidFill>
              </a:ln>
            </c:spPr>
          </c:marker>
          <c:cat>
            <c:strRef>
              <c:f>Sheet1!$A$2:$A$31</c:f>
              <c:strCache>
                <c:ptCount val="30"/>
                <c:pt idx="0">
                  <c:v>févr. 24</c:v>
                </c:pt>
                <c:pt idx="1">
                  <c:v>mars 24</c:v>
                </c:pt>
                <c:pt idx="2">
                  <c:v>avr. 24</c:v>
                </c:pt>
                <c:pt idx="3">
                  <c:v>mai 24</c:v>
                </c:pt>
                <c:pt idx="4">
                  <c:v>juil. 24</c:v>
                </c:pt>
                <c:pt idx="5">
                  <c:v>août 24</c:v>
                </c:pt>
                <c:pt idx="6">
                  <c:v>sept. 24</c:v>
                </c:pt>
                <c:pt idx="7">
                  <c:v>oct. 24</c:v>
                </c:pt>
                <c:pt idx="8">
                  <c:v>nov. 24</c:v>
                </c:pt>
                <c:pt idx="9">
                  <c:v>déc. 24</c:v>
                </c:pt>
                <c:pt idx="10">
                  <c:v>janv. 25</c:v>
                </c:pt>
                <c:pt idx="11">
                  <c:v>févr. 25</c:v>
                </c:pt>
                <c:pt idx="12">
                  <c:v>mars 25</c:v>
                </c:pt>
                <c:pt idx="13">
                  <c:v>avr. 25</c:v>
                </c:pt>
                <c:pt idx="14">
                  <c:v>mai 25</c:v>
                </c:pt>
                <c:pt idx="15">
                  <c:v>juin 25</c:v>
                </c:pt>
                <c:pt idx="16">
                  <c:v>juil. 25</c:v>
                </c:pt>
                <c:pt idx="17">
                  <c:v>août 25</c:v>
                </c:pt>
                <c:pt idx="18">
                  <c:v>sept. 25</c:v>
                </c:pt>
                <c:pt idx="19">
                  <c:v>oct. 25</c:v>
                </c:pt>
                <c:pt idx="20">
                  <c:v>nov. 25</c:v>
                </c:pt>
                <c:pt idx="21">
                  <c:v>déc. 25</c:v>
                </c:pt>
                <c:pt idx="22">
                  <c:v>janv. 26</c:v>
                </c:pt>
                <c:pt idx="23">
                  <c:v>févr. 26</c:v>
                </c:pt>
                <c:pt idx="24">
                  <c:v>mars 26</c:v>
                </c:pt>
                <c:pt idx="25">
                  <c:v>avr. 26</c:v>
                </c:pt>
                <c:pt idx="26">
                  <c:v>mai 26</c:v>
                </c:pt>
                <c:pt idx="27">
                  <c:v>juin 26</c:v>
                </c:pt>
                <c:pt idx="28">
                  <c:v>juil. 26</c:v>
                </c:pt>
                <c:pt idx="29">
                  <c:v>août 26</c:v>
                </c:pt>
              </c:strCache>
            </c:strRef>
          </c:cat>
          <c:val>
            <c:numRef>
              <c:f>Sheet1!$B$2:$B$31</c:f>
              <c:numCache>
                <c:formatCode>0</c:formatCode>
                <c:ptCount val="30"/>
                <c:pt idx="0">
                  <c:v>16</c:v>
                </c:pt>
                <c:pt idx="1">
                  <c:v>84</c:v>
                </c:pt>
                <c:pt idx="2">
                  <c:v>105</c:v>
                </c:pt>
                <c:pt idx="3">
                  <c:v>134</c:v>
                </c:pt>
                <c:pt idx="4">
                  <c:v>176</c:v>
                </c:pt>
                <c:pt idx="5">
                  <c:v>196</c:v>
                </c:pt>
                <c:pt idx="6">
                  <c:v>237</c:v>
                </c:pt>
                <c:pt idx="7">
                  <c:v>255</c:v>
                </c:pt>
                <c:pt idx="8">
                  <c:v>280</c:v>
                </c:pt>
                <c:pt idx="9">
                  <c:v>291</c:v>
                </c:pt>
                <c:pt idx="10">
                  <c:v>306</c:v>
                </c:pt>
                <c:pt idx="11">
                  <c:v>314</c:v>
                </c:pt>
                <c:pt idx="12">
                  <c:v>322</c:v>
                </c:pt>
                <c:pt idx="13">
                  <c:v>336</c:v>
                </c:pt>
                <c:pt idx="14">
                  <c:v>358</c:v>
                </c:pt>
                <c:pt idx="15">
                  <c:v>368</c:v>
                </c:pt>
                <c:pt idx="16">
                  <c:v>386</c:v>
                </c:pt>
                <c:pt idx="17">
                  <c:v>409</c:v>
                </c:pt>
                <c:pt idx="18">
                  <c:v>468</c:v>
                </c:pt>
                <c:pt idx="19">
                  <c:v>495</c:v>
                </c:pt>
                <c:pt idx="20">
                  <c:v>506</c:v>
                </c:pt>
                <c:pt idx="21">
                  <c:v>532</c:v>
                </c:pt>
                <c:pt idx="22">
                  <c:v>592</c:v>
                </c:pt>
                <c:pt idx="23">
                  <c:v>587</c:v>
                </c:pt>
                <c:pt idx="24">
                  <c:v>584</c:v>
                </c:pt>
                <c:pt idx="25">
                  <c:v>580</c:v>
                </c:pt>
                <c:pt idx="26">
                  <c:v>584</c:v>
                </c:pt>
                <c:pt idx="27">
                  <c:v>591</c:v>
                </c:pt>
                <c:pt idx="28">
                  <c:v>600</c:v>
                </c:pt>
                <c:pt idx="29">
                  <c:v>610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Mois couverts</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276.29</c:v>
                </c:pt>
                <c:pt idx="1">
                  <c:v>115.14</c:v>
                </c:pt>
                <c:pt idx="2">
                  <c:v>250.52</c:v>
                </c:pt>
                <c:pt idx="3">
                  <c:v>87.47</c:v>
                </c:pt>
                <c:pt idx="4">
                  <c:v>45.84</c:v>
                </c:pt>
                <c:pt idx="5">
                  <c:v>29.5</c:v>
                </c:pt>
                <c:pt idx="6">
                  <c:v>21.48</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Investissements CMP</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2984680712</c:v>
                </c:pt>
                <c:pt idx="1">
                  <c:v>3521598249</c:v>
                </c:pt>
                <c:pt idx="2">
                  <c:v>3785598221</c:v>
                </c:pt>
                <c:pt idx="3">
                  <c:v>4069396329</c:v>
                </c:pt>
                <c:pt idx="4">
                  <c:v>4944656429</c:v>
                </c:pt>
                <c:pt idx="5">
                  <c:v>6002976947</c:v>
                </c:pt>
                <c:pt idx="6">
                  <c:v>7083534565</c:v>
                </c:pt>
              </c:numCache>
            </c:numRef>
          </c:val>
        </c:ser>
        <c:ser>
          <c:idx val="1"/>
          <c:order val="1"/>
          <c:tx>
            <c:strRef>
              <c:f>Sheet1!$C$1</c:f>
              <c:strCache>
                <c:ptCount val="1"/>
                <c:pt idx="0">
                  <c:v>Terrains</c:v>
                </c:pt>
              </c:strCache>
            </c:strRef>
          </c:tx>
          <c:spPr>
            <a:solidFill>
              <a:srgbClr val="53565A"/>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3931156624</c:v>
                </c:pt>
                <c:pt idx="1">
                  <c:v>3443682500</c:v>
                </c:pt>
                <c:pt idx="2">
                  <c:v>3443682500</c:v>
                </c:pt>
                <c:pt idx="3">
                  <c:v>3443682500</c:v>
                </c:pt>
                <c:pt idx="4">
                  <c:v>3443682500</c:v>
                </c:pt>
                <c:pt idx="5">
                  <c:v>5245896750</c:v>
                </c:pt>
                <c:pt idx="6">
                  <c:v>5245896750</c:v>
                </c:pt>
              </c:numCache>
            </c:numRef>
          </c:val>
        </c:ser>
        <c:ser>
          <c:idx val="2"/>
          <c:order val="2"/>
          <c:tx>
            <c:strRef>
              <c:f>Sheet1!$D$1</c:f>
              <c:strCache>
                <c:ptCount val="1"/>
                <c:pt idx="0">
                  <c:v>Créance Hôpital de la Police</c:v>
                </c:pt>
              </c:strCache>
            </c:strRef>
          </c:tx>
          <c:spPr>
            <a:solidFill>
              <a:srgbClr val="BBBCBC"/>
            </a:solidFill>
          </c:spPr>
          <c:cat>
            <c:strRef>
              <c:f>Sheet1!$A$2:$A$8</c:f>
              <c:strCache>
                <c:ptCount val="7"/>
                <c:pt idx="0">
                  <c:v>2020</c:v>
                </c:pt>
                <c:pt idx="1">
                  <c:v>2021</c:v>
                </c:pt>
                <c:pt idx="2">
                  <c:v>2022</c:v>
                </c:pt>
                <c:pt idx="3">
                  <c:v>2023</c:v>
                </c:pt>
                <c:pt idx="4">
                  <c:v>2024</c:v>
                </c:pt>
                <c:pt idx="5">
                  <c:v>2025</c:v>
                </c:pt>
                <c:pt idx="6">
                  <c:v>31/08/2026</c:v>
                </c:pt>
              </c:strCache>
            </c:strRef>
          </c:cat>
          <c:val>
            <c:numRef>
              <c:f>Sheet1!$D$2:$D$8</c:f>
              <c:numCache>
                <c:formatCode># ##0,,</c:formatCode>
                <c:ptCount val="7"/>
                <c:pt idx="0">
                  <c:v>3407519850</c:v>
                </c:pt>
                <c:pt idx="1">
                  <c:v>3407519850</c:v>
                </c:pt>
                <c:pt idx="2">
                  <c:v>3407519850</c:v>
                </c:pt>
                <c:pt idx="3">
                  <c:v>3407519850</c:v>
                </c:pt>
                <c:pt idx="4">
                  <c:v>3407519850</c:v>
                </c:pt>
                <c:pt idx="5">
                  <c:v>3407519850</c:v>
                </c:pt>
                <c:pt idx="6">
                  <c:v>3407519850</c:v>
                </c:pt>
              </c:numCache>
            </c:numRef>
          </c:val>
        </c:ser>
        <c:ser>
          <c:idx val="3"/>
          <c:order val="3"/>
          <c:tx>
            <c:strRef>
              <c:f>Sheet1!$E$1</c:f>
              <c:strCache>
                <c:ptCount val="1"/>
                <c:pt idx="0">
                  <c:v>Financement du Grenier</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Sheet1!$E$2:$E$8</c:f>
              <c:numCache>
                <c:formatCode># ##0,,</c:formatCode>
                <c:ptCount val="7"/>
                <c:pt idx="0">
                  <c:v>0</c:v>
                </c:pt>
                <c:pt idx="1">
                  <c:v>27030000</c:v>
                </c:pt>
                <c:pt idx="2">
                  <c:v>458483900</c:v>
                </c:pt>
                <c:pt idx="3">
                  <c:v>504192100</c:v>
                </c:pt>
                <c:pt idx="4">
                  <c:v>650882600</c:v>
                </c:pt>
                <c:pt idx="5">
                  <c:v>817121335</c:v>
                </c:pt>
                <c:pt idx="6">
                  <c:v>915477260</c:v>
                </c:pt>
              </c:numCache>
            </c:numRef>
          </c:val>
        </c:ser>
        <c:ser>
          <c:idx val="4"/>
          <c:order val="4"/>
          <c:tx>
            <c:strRef>
              <c:f>Sheet1!$F$1</c:f>
              <c:strCache>
                <c:ptCount val="1"/>
                <c:pt idx="0">
                  <c:v>Trésorerie</c:v>
                </c:pt>
              </c:strCache>
            </c:strRef>
          </c:tx>
          <c:spPr>
            <a:solidFill>
              <a:srgbClr val="060606"/>
            </a:solidFill>
          </c:spPr>
          <c:cat>
            <c:strRef>
              <c:f>Sheet1!$A$2:$A$8</c:f>
              <c:strCache>
                <c:ptCount val="7"/>
                <c:pt idx="0">
                  <c:v>2020</c:v>
                </c:pt>
                <c:pt idx="1">
                  <c:v>2021</c:v>
                </c:pt>
                <c:pt idx="2">
                  <c:v>2022</c:v>
                </c:pt>
                <c:pt idx="3">
                  <c:v>2023</c:v>
                </c:pt>
                <c:pt idx="4">
                  <c:v>2024</c:v>
                </c:pt>
                <c:pt idx="5">
                  <c:v>2025</c:v>
                </c:pt>
                <c:pt idx="6">
                  <c:v>31/08/2026</c:v>
                </c:pt>
              </c:strCache>
            </c:strRef>
          </c:cat>
          <c:val>
            <c:numRef>
              <c:f>Sheet1!$F$2:$F$8</c:f>
              <c:numCache>
                <c:formatCode># ##0,,</c:formatCode>
                <c:ptCount val="7"/>
                <c:pt idx="0">
                  <c:v>630462899</c:v>
                </c:pt>
                <c:pt idx="1">
                  <c:v>2300331943</c:v>
                </c:pt>
                <c:pt idx="2">
                  <c:v>1233051977</c:v>
                </c:pt>
                <c:pt idx="3">
                  <c:v>1116267103</c:v>
                </c:pt>
                <c:pt idx="4">
                  <c:v>979838445</c:v>
                </c:pt>
                <c:pt idx="5">
                  <c:v>1964171543</c:v>
                </c:pt>
                <c:pt idx="6">
                  <c:v>3359100618</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Fonds propres</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-6743081733</c:v>
                </c:pt>
                <c:pt idx="1">
                  <c:v>-4659173531</c:v>
                </c:pt>
                <c:pt idx="2">
                  <c:v>-2598840854</c:v>
                </c:pt>
                <c:pt idx="3">
                  <c:v>-1668211752</c:v>
                </c:pt>
                <c:pt idx="4">
                  <c:v>-876142111</c:v>
                </c:pt>
                <c:pt idx="5">
                  <c:v>-438242200</c:v>
                </c:pt>
                <c:pt idx="6">
                  <c:v>-879498700</c:v>
                </c:pt>
              </c:numCache>
            </c:numRef>
          </c:val>
        </c:ser>
        <c:ser>
          <c:idx val="1"/>
          <c:order val="1"/>
          <c:tx>
            <c:strRef>
              <c:f>Sheet1!$C$1</c:f>
              <c:strCache>
                <c:ptCount val="1"/>
                <c:pt idx="0">
                  <c:v>Résultat de l'exercice</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1018579699</c:v>
                </c:pt>
                <c:pt idx="1">
                  <c:v>2083908202</c:v>
                </c:pt>
                <c:pt idx="2">
                  <c:v>2060332677</c:v>
                </c:pt>
                <c:pt idx="3">
                  <c:v>930629102</c:v>
                </c:pt>
                <c:pt idx="4">
                  <c:v>792069641</c:v>
                </c:pt>
                <c:pt idx="5">
                  <c:v>437899911</c:v>
                </c:pt>
                <c:pt idx="6">
                  <c:v>-441256500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Taux directeur</c:v>
                </c:pt>
              </c:strCache>
            </c:strRef>
          </c:tx>
          <c:spPr>
            <a:ln w="28575">
              <a:solidFill>
                <a:srgbClr val="112A40"/>
              </a:solidFill>
            </a:ln>
          </c:spPr>
          <c:marker>
            <c:spPr>
              <a:solidFill>
                <a:srgbClr val="112A40"/>
              </a:solidFill>
              <a:ln>
                <a:solidFill>
                  <a:srgbClr val="112A40"/>
                </a:solidFill>
              </a:ln>
            </c:spPr>
          </c:marker>
          <c:cat>
            <c:strRef>
              <c:f>Sheet1!$A$2:$A$10</c:f>
              <c:strCache>
                <c:ptCount val="9"/>
                <c:pt idx="0">
                  <c:v>01/01/2020</c:v>
                </c:pt>
                <c:pt idx="1">
                  <c:v>24/06/2020</c:v>
                </c:pt>
                <c:pt idx="2">
                  <c:v>16/06/2022</c:v>
                </c:pt>
                <c:pt idx="3">
                  <c:v>16/09/2022</c:v>
                </c:pt>
                <c:pt idx="4">
                  <c:v>16/12/2022</c:v>
                </c:pt>
                <c:pt idx="5">
                  <c:v>16/03/2023</c:v>
                </c:pt>
                <c:pt idx="6">
                  <c:v>16/09/2023</c:v>
                </c:pt>
                <c:pt idx="7">
                  <c:v>16/12/2023</c:v>
                </c:pt>
                <c:pt idx="8">
                  <c:v>16/06/2025</c:v>
                </c:pt>
              </c:strCache>
            </c:strRef>
          </c:cat>
          <c:val>
            <c:numRef>
              <c:f>Sheet1!$B$2:$B$10</c:f>
              <c:numCache>
                <c:formatCode>0.00</c:formatCode>
                <c:ptCount val="9"/>
                <c:pt idx="0">
                  <c:v>2.5</c:v>
                </c:pt>
                <c:pt idx="1">
                  <c:v>2.0</c:v>
                </c:pt>
                <c:pt idx="2">
                  <c:v>2.25</c:v>
                </c:pt>
                <c:pt idx="3">
                  <c:v>2.5</c:v>
                </c:pt>
                <c:pt idx="4">
                  <c:v>2.75</c:v>
                </c:pt>
                <c:pt idx="5">
                  <c:v>3.0</c:v>
                </c:pt>
                <c:pt idx="6">
                  <c:v>3.25</c:v>
                </c:pt>
                <c:pt idx="7">
                  <c:v>3.5</c:v>
                </c:pt>
                <c:pt idx="8">
                  <c:v>3.25</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CIMA H</c:v>
                </c:pt>
              </c:strCache>
            </c:strRef>
          </c:tx>
          <c:spPr>
            <a:ln w="28575">
              <a:solidFill>
                <a:srgbClr val="112A40"/>
              </a:solidFill>
            </a:ln>
          </c:spPr>
          <c:marker>
            <c:spPr>
              <a:solidFill>
                <a:srgbClr val="112A40"/>
              </a:solidFill>
              <a:ln>
                <a:solidFill>
                  <a:srgbClr val="112A40"/>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Sheet1!$B$2:$B$24</c:f>
              <c:numCache>
                <c:formatCode>0.00</c:formatCode>
                <c:ptCount val="23"/>
                <c:pt idx="0">
                  <c:v>100.0</c:v>
                </c:pt>
                <c:pt idx="1">
                  <c:v>99.25</c:v>
                </c:pt>
                <c:pt idx="2">
                  <c:v>99.09</c:v>
                </c:pt>
                <c:pt idx="3">
                  <c:v>98.89</c:v>
                </c:pt>
                <c:pt idx="4">
                  <c:v>98.34</c:v>
                </c:pt>
                <c:pt idx="5">
                  <c:v>97.53</c:v>
                </c:pt>
                <c:pt idx="6">
                  <c:v>96.63</c:v>
                </c:pt>
                <c:pt idx="7">
                  <c:v>95.6</c:v>
                </c:pt>
                <c:pt idx="8">
                  <c:v>94.25</c:v>
                </c:pt>
                <c:pt idx="9">
                  <c:v>92.31</c:v>
                </c:pt>
                <c:pt idx="10">
                  <c:v>89.56</c:v>
                </c:pt>
                <c:pt idx="11">
                  <c:v>86.04</c:v>
                </c:pt>
                <c:pt idx="12">
                  <c:v>81.51</c:v>
                </c:pt>
                <c:pt idx="13">
                  <c:v>75.11</c:v>
                </c:pt>
                <c:pt idx="14">
                  <c:v>66.44</c:v>
                </c:pt>
                <c:pt idx="15">
                  <c:v>55.74</c:v>
                </c:pt>
                <c:pt idx="16">
                  <c:v>43.23</c:v>
                </c:pt>
                <c:pt idx="17">
                  <c:v>29.22</c:v>
                </c:pt>
                <c:pt idx="18">
                  <c:v>15.94</c:v>
                </c:pt>
                <c:pt idx="19">
                  <c:v>5.26</c:v>
                </c:pt>
                <c:pt idx="20">
                  <c:v>0.3</c:v>
                </c:pt>
                <c:pt idx="21">
                  <c:v>0.0</c:v>
                </c:pt>
                <c:pt idx="22">
                  <c:v>0.0</c:v>
                </c:pt>
              </c:numCache>
            </c:numRef>
          </c:val>
          <c:smooth val="0"/>
        </c:ser>
        <c:ser>
          <c:idx val="1"/>
          <c:order val="1"/>
          <c:tx>
            <c:strRef>
              <c:f>Sheet1!$C$1</c:f>
              <c:strCache>
                <c:ptCount val="1"/>
                <c:pt idx="0">
                  <c:v>CIMA F</c:v>
                </c:pt>
              </c:strCache>
            </c:strRef>
          </c:tx>
          <c:spPr>
            <a:ln w="28575">
              <a:solidFill>
                <a:srgbClr val="EFAC62"/>
              </a:solidFill>
            </a:ln>
          </c:spPr>
          <c:marker>
            <c:spPr>
              <a:solidFill>
                <a:srgbClr val="EFAC62"/>
              </a:solidFill>
              <a:ln>
                <a:solidFill>
                  <a:srgbClr val="EFAC62"/>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Sheet1!$C$2:$C$24</c:f>
              <c:numCache>
                <c:formatCode>0.00</c:formatCode>
                <c:ptCount val="23"/>
                <c:pt idx="0">
                  <c:v>100.0</c:v>
                </c:pt>
                <c:pt idx="1">
                  <c:v>99.6</c:v>
                </c:pt>
                <c:pt idx="2">
                  <c:v>99.51</c:v>
                </c:pt>
                <c:pt idx="3">
                  <c:v>99.41</c:v>
                </c:pt>
                <c:pt idx="4">
                  <c:v>99.12</c:v>
                </c:pt>
                <c:pt idx="5">
                  <c:v>98.68</c:v>
                </c:pt>
                <c:pt idx="6">
                  <c:v>98.19</c:v>
                </c:pt>
                <c:pt idx="7">
                  <c:v>97.62</c:v>
                </c:pt>
                <c:pt idx="8">
                  <c:v>96.88</c:v>
                </c:pt>
                <c:pt idx="9">
                  <c:v>95.79</c:v>
                </c:pt>
                <c:pt idx="10">
                  <c:v>94.24</c:v>
                </c:pt>
                <c:pt idx="11">
                  <c:v>92.22</c:v>
                </c:pt>
                <c:pt idx="12">
                  <c:v>89.58</c:v>
                </c:pt>
                <c:pt idx="13">
                  <c:v>85.81</c:v>
                </c:pt>
                <c:pt idx="14">
                  <c:v>80.52</c:v>
                </c:pt>
                <c:pt idx="15">
                  <c:v>73.52</c:v>
                </c:pt>
                <c:pt idx="16">
                  <c:v>64.46</c:v>
                </c:pt>
                <c:pt idx="17">
                  <c:v>52.62</c:v>
                </c:pt>
                <c:pt idx="18">
                  <c:v>38.44</c:v>
                </c:pt>
                <c:pt idx="19">
                  <c:v>21.64</c:v>
                </c:pt>
                <c:pt idx="20">
                  <c:v>4.87</c:v>
                </c:pt>
                <c:pt idx="21">
                  <c:v>0.1</c:v>
                </c:pt>
                <c:pt idx="22">
                  <c:v>0.0</c:v>
                </c:pt>
              </c:numCache>
            </c:numRef>
          </c:val>
          <c:smooth val="0"/>
        </c:ser>
        <c:ser>
          <c:idx val="2"/>
          <c:order val="2"/>
          <c:tx>
            <c:strRef>
              <c:f>Sheet1!$D$1</c:f>
              <c:strCache>
                <c:ptCount val="1"/>
                <c:pt idx="0">
                  <c:v>TD CIMA</c:v>
                </c:pt>
              </c:strCache>
            </c:strRef>
          </c:tx>
          <c:spPr>
            <a:ln w="28575">
              <a:solidFill>
                <a:srgbClr val="53565A"/>
              </a:solidFill>
            </a:ln>
          </c:spPr>
          <c:marker>
            <c:spPr>
              <a:solidFill>
                <a:srgbClr val="53565A"/>
              </a:solidFill>
              <a:ln>
                <a:solidFill>
                  <a:srgbClr val="53565A"/>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Sheet1!$D$2:$D$24</c:f>
              <c:numCache>
                <c:formatCode>0.00</c:formatCode>
                <c:ptCount val="23"/>
                <c:pt idx="0">
                  <c:v>100.0</c:v>
                </c:pt>
                <c:pt idx="1">
                  <c:v>97.1</c:v>
                </c:pt>
                <c:pt idx="2">
                  <c:v>96.88</c:v>
                </c:pt>
                <c:pt idx="3">
                  <c:v>96.67</c:v>
                </c:pt>
                <c:pt idx="4">
                  <c:v>96.2</c:v>
                </c:pt>
                <c:pt idx="5">
                  <c:v>95.49</c:v>
                </c:pt>
                <c:pt idx="6">
                  <c:v>94.7</c:v>
                </c:pt>
                <c:pt idx="7">
                  <c:v>93.7</c:v>
                </c:pt>
                <c:pt idx="8">
                  <c:v>92.26</c:v>
                </c:pt>
                <c:pt idx="9">
                  <c:v>90.14</c:v>
                </c:pt>
                <c:pt idx="10">
                  <c:v>87.03</c:v>
                </c:pt>
                <c:pt idx="11">
                  <c:v>82.48</c:v>
                </c:pt>
                <c:pt idx="12">
                  <c:v>75.93</c:v>
                </c:pt>
                <c:pt idx="13">
                  <c:v>66.8</c:v>
                </c:pt>
                <c:pt idx="14">
                  <c:v>54.76</c:v>
                </c:pt>
                <c:pt idx="15">
                  <c:v>40.19</c:v>
                </c:pt>
                <c:pt idx="16">
                  <c:v>24.83</c:v>
                </c:pt>
                <c:pt idx="17">
                  <c:v>11.72</c:v>
                </c:pt>
                <c:pt idx="18">
                  <c:v>3.64</c:v>
                </c:pt>
                <c:pt idx="19">
                  <c:v>0.59</c:v>
                </c:pt>
                <c:pt idx="20">
                  <c:v>0.03</c:v>
                </c:pt>
                <c:pt idx="21">
                  <c:v>0.0</c:v>
                </c:pt>
                <c:pt idx="22">
                  <c:v>0.0</c:v>
                </c:pt>
              </c:numCache>
            </c:numRef>
          </c:val>
          <c:smooth val="0"/>
        </c:ser>
        <c:ser>
          <c:idx val="3"/>
          <c:order val="3"/>
          <c:tx>
            <c:strRef>
              <c:f>Sheet1!$E$1</c:f>
              <c:strCache>
                <c:ptCount val="1"/>
                <c:pt idx="0">
                  <c:v>TV CIMA</c:v>
                </c:pt>
              </c:strCache>
            </c:strRef>
          </c:tx>
          <c:spPr>
            <a:ln w="28575">
              <a:solidFill>
                <a:srgbClr val="BBBCBC"/>
              </a:solidFill>
            </a:ln>
          </c:spPr>
          <c:marker>
            <c:spPr>
              <a:solidFill>
                <a:srgbClr val="BBBCBC"/>
              </a:solidFill>
              <a:ln>
                <a:solidFill>
                  <a:srgbClr val="BBBCBC"/>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Sheet1!$E$2:$E$24</c:f>
              <c:numCache>
                <c:formatCode>0.00</c:formatCode>
                <c:ptCount val="23"/>
                <c:pt idx="0">
                  <c:v>100.0</c:v>
                </c:pt>
                <c:pt idx="1">
                  <c:v>97.75</c:v>
                </c:pt>
                <c:pt idx="2">
                  <c:v>97.6</c:v>
                </c:pt>
                <c:pt idx="3">
                  <c:v>97.47</c:v>
                </c:pt>
                <c:pt idx="4">
                  <c:v>97.23</c:v>
                </c:pt>
                <c:pt idx="5">
                  <c:v>96.91</c:v>
                </c:pt>
                <c:pt idx="6">
                  <c:v>96.48</c:v>
                </c:pt>
                <c:pt idx="7">
                  <c:v>95.94</c:v>
                </c:pt>
                <c:pt idx="8">
                  <c:v>95.22</c:v>
                </c:pt>
                <c:pt idx="9">
                  <c:v>94.21</c:v>
                </c:pt>
                <c:pt idx="10">
                  <c:v>92.73</c:v>
                </c:pt>
                <c:pt idx="11">
                  <c:v>90.46</c:v>
                </c:pt>
                <c:pt idx="12">
                  <c:v>86.94</c:v>
                </c:pt>
                <c:pt idx="13">
                  <c:v>81.48</c:v>
                </c:pt>
                <c:pt idx="14">
                  <c:v>73.17</c:v>
                </c:pt>
                <c:pt idx="15">
                  <c:v>61.15</c:v>
                </c:pt>
                <c:pt idx="16">
                  <c:v>45.26</c:v>
                </c:pt>
                <c:pt idx="17">
                  <c:v>27.28</c:v>
                </c:pt>
                <c:pt idx="18">
                  <c:v>11.64</c:v>
                </c:pt>
                <c:pt idx="19">
                  <c:v>2.77</c:v>
                </c:pt>
                <c:pt idx="20">
                  <c:v>0.24</c:v>
                </c:pt>
                <c:pt idx="21">
                  <c:v>0.0</c:v>
                </c:pt>
                <c:pt idx="22">
                  <c:v>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CIMA H</c:v>
                </c:pt>
              </c:strCache>
            </c:strRef>
          </c:tx>
          <c:spPr>
            <a:ln w="28575">
              <a:solidFill>
                <a:srgbClr val="112A40"/>
              </a:solidFill>
            </a:ln>
          </c:spPr>
          <c:marker>
            <c:spPr>
              <a:solidFill>
                <a:srgbClr val="112A40"/>
              </a:solidFill>
              <a:ln>
                <a:solidFill>
                  <a:srgbClr val="112A40"/>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Sheet1!$B$2:$B$14</c:f>
              <c:numCache>
                <c:formatCode>0.00</c:formatCode>
                <c:ptCount val="13"/>
                <c:pt idx="0">
                  <c:v>1.58</c:v>
                </c:pt>
                <c:pt idx="1">
                  <c:v>1.75</c:v>
                </c:pt>
                <c:pt idx="2">
                  <c:v>1.99</c:v>
                </c:pt>
                <c:pt idx="3">
                  <c:v>2.48</c:v>
                </c:pt>
                <c:pt idx="4">
                  <c:v>3.5</c:v>
                </c:pt>
                <c:pt idx="5">
                  <c:v>5.27</c:v>
                </c:pt>
                <c:pt idx="6">
                  <c:v>7.14</c:v>
                </c:pt>
                <c:pt idx="7">
                  <c:v>9.38</c:v>
                </c:pt>
                <c:pt idx="8">
                  <c:v>13.53</c:v>
                </c:pt>
                <c:pt idx="9">
                  <c:v>20.78</c:v>
                </c:pt>
                <c:pt idx="10">
                  <c:v>29.82</c:v>
                </c:pt>
                <c:pt idx="11">
                  <c:v>42.42</c:v>
                </c:pt>
                <c:pt idx="12">
                  <c:v>62.56</c:v>
                </c:pt>
              </c:numCache>
            </c:numRef>
          </c:val>
          <c:smooth val="0"/>
        </c:ser>
        <c:ser>
          <c:idx val="1"/>
          <c:order val="1"/>
          <c:tx>
            <c:strRef>
              <c:f>Sheet1!$C$1</c:f>
              <c:strCache>
                <c:ptCount val="1"/>
                <c:pt idx="0">
                  <c:v>CIMA F</c:v>
                </c:pt>
              </c:strCache>
            </c:strRef>
          </c:tx>
          <c:spPr>
            <a:ln w="28575">
              <a:solidFill>
                <a:srgbClr val="EFAC62"/>
              </a:solidFill>
            </a:ln>
          </c:spPr>
          <c:marker>
            <c:spPr>
              <a:solidFill>
                <a:srgbClr val="EFAC62"/>
              </a:solidFill>
              <a:ln>
                <a:solidFill>
                  <a:srgbClr val="EFAC62"/>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Sheet1!$C$2:$C$14</c:f>
              <c:numCache>
                <c:formatCode>0.00</c:formatCode>
                <c:ptCount val="13"/>
                <c:pt idx="0">
                  <c:v>0.84</c:v>
                </c:pt>
                <c:pt idx="1">
                  <c:v>0.94</c:v>
                </c:pt>
                <c:pt idx="2">
                  <c:v>1.08</c:v>
                </c:pt>
                <c:pt idx="3">
                  <c:v>1.34</c:v>
                </c:pt>
                <c:pt idx="4">
                  <c:v>1.89</c:v>
                </c:pt>
                <c:pt idx="5">
                  <c:v>2.85</c:v>
                </c:pt>
                <c:pt idx="6">
                  <c:v>3.87</c:v>
                </c:pt>
                <c:pt idx="7">
                  <c:v>5.09</c:v>
                </c:pt>
                <c:pt idx="8">
                  <c:v>7.2</c:v>
                </c:pt>
                <c:pt idx="9">
                  <c:v>10.86</c:v>
                </c:pt>
                <c:pt idx="10">
                  <c:v>15.56</c:v>
                </c:pt>
                <c:pt idx="11">
                  <c:v>22.2</c:v>
                </c:pt>
                <c:pt idx="12">
                  <c:v>32.91</c:v>
                </c:pt>
              </c:numCache>
            </c:numRef>
          </c:val>
          <c:smooth val="0"/>
        </c:ser>
        <c:ser>
          <c:idx val="2"/>
          <c:order val="2"/>
          <c:tx>
            <c:strRef>
              <c:f>Sheet1!$D$1</c:f>
              <c:strCache>
                <c:ptCount val="1"/>
                <c:pt idx="0">
                  <c:v>TD CIMA</c:v>
                </c:pt>
              </c:strCache>
            </c:strRef>
          </c:tx>
          <c:spPr>
            <a:ln w="28575">
              <a:solidFill>
                <a:srgbClr val="53565A"/>
              </a:solidFill>
            </a:ln>
          </c:spPr>
          <c:marker>
            <c:spPr>
              <a:solidFill>
                <a:srgbClr val="53565A"/>
              </a:solidFill>
              <a:ln>
                <a:solidFill>
                  <a:srgbClr val="53565A"/>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Sheet1!$D$2:$D$14</c:f>
              <c:numCache>
                <c:formatCode>0.00</c:formatCode>
                <c:ptCount val="13"/>
                <c:pt idx="0">
                  <c:v>1.35</c:v>
                </c:pt>
                <c:pt idx="1">
                  <c:v>1.6</c:v>
                </c:pt>
                <c:pt idx="2">
                  <c:v>1.83</c:v>
                </c:pt>
                <c:pt idx="3">
                  <c:v>2.64</c:v>
                </c:pt>
                <c:pt idx="4">
                  <c:v>3.9</c:v>
                </c:pt>
                <c:pt idx="5">
                  <c:v>5.87</c:v>
                </c:pt>
                <c:pt idx="6">
                  <c:v>8.94</c:v>
                </c:pt>
                <c:pt idx="7">
                  <c:v>13.71</c:v>
                </c:pt>
                <c:pt idx="8">
                  <c:v>21.11</c:v>
                </c:pt>
                <c:pt idx="9">
                  <c:v>32.55</c:v>
                </c:pt>
                <c:pt idx="10">
                  <c:v>50.12</c:v>
                </c:pt>
                <c:pt idx="11">
                  <c:v>76.92</c:v>
                </c:pt>
                <c:pt idx="12">
                  <c:v>117.24</c:v>
                </c:pt>
              </c:numCache>
            </c:numRef>
          </c:val>
          <c:smooth val="0"/>
        </c:ser>
        <c:ser>
          <c:idx val="3"/>
          <c:order val="3"/>
          <c:tx>
            <c:strRef>
              <c:f>Sheet1!$E$1</c:f>
              <c:strCache>
                <c:ptCount val="1"/>
                <c:pt idx="0">
                  <c:v>TV CIMA</c:v>
                </c:pt>
              </c:strCache>
            </c:strRef>
          </c:tx>
          <c:spPr>
            <a:ln w="28575">
              <a:solidFill>
                <a:srgbClr val="BBBCBC"/>
              </a:solidFill>
            </a:ln>
          </c:spPr>
          <c:marker>
            <c:spPr>
              <a:solidFill>
                <a:srgbClr val="BBBCBC"/>
              </a:solidFill>
              <a:ln>
                <a:solidFill>
                  <a:srgbClr val="BBBCBC"/>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Sheet1!$E$2:$E$14</c:f>
              <c:numCache>
                <c:formatCode>0.00</c:formatCode>
                <c:ptCount val="13"/>
                <c:pt idx="0">
                  <c:v>0.62</c:v>
                </c:pt>
                <c:pt idx="1">
                  <c:v>0.78</c:v>
                </c:pt>
                <c:pt idx="2">
                  <c:v>1.03</c:v>
                </c:pt>
                <c:pt idx="3">
                  <c:v>1.32</c:v>
                </c:pt>
                <c:pt idx="4">
                  <c:v>1.82</c:v>
                </c:pt>
                <c:pt idx="5">
                  <c:v>2.66</c:v>
                </c:pt>
                <c:pt idx="6">
                  <c:v>4.08</c:v>
                </c:pt>
                <c:pt idx="7">
                  <c:v>6.46</c:v>
                </c:pt>
                <c:pt idx="8">
                  <c:v>10.48</c:v>
                </c:pt>
                <c:pt idx="9">
                  <c:v>17.22</c:v>
                </c:pt>
                <c:pt idx="10">
                  <c:v>28.5</c:v>
                </c:pt>
                <c:pt idx="11">
                  <c:v>47.25</c:v>
                </c:pt>
                <c:pt idx="12">
                  <c:v>78.09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E2DAE2-9FC7-48A6-84A5-82A6F426499B}" type="datetimeFigureOut">
              <a:rPr lang="fr-FR" smtClean="0"/>
              <a:t>22/09/2026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B2686-849E-4084-A991-5071DA2BBBBD}" type="slidenum">
              <a:rPr lang="fr-FR" smtClean="0"/>
              <a:t>‹N°›</a:t>
            </a:fld>
            <a:endParaRPr lang="fr-FR"/>
          </a:p>
        </p:txBody>
      </p:sp>
    </p:spTree>
    <p:extLst>
      <p:ext uri="{BB962C8B-B14F-4D97-AF65-F5344CB8AC3E}">
        <p14:creationId xmlns:p14="http://schemas.microsoft.com/office/powerpoint/2010/main" val="710728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ratio comptable mélange les soins de l'année et les factures d'années antérieures payées ou comptabilisées dans l'année. Le vrai ratio (par année de survenance des soins) demande la base des prestations avec la date des soins. Les comptes retenus sont listés dans l'annexe des méthodes. En 2020, la prime d'assurance décès (compte 65180000) est ajoutée au décès car la garantie était alors confiée à un assureur.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produit a un code de poste sur la fiche de paie (Solde) : 936 maladie, 8Z6 décès, 870 EFC, 998 PEP, 9X4 Grenier, 9W3 flotte, 8Z7 MEDOC. Les retraités sont précomptés par la CGRAE sur leur pension. Les montants moyens sont observés dans les fichiers de précomptes, pas tirés d'un barème (non reçu).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Rapport d'étape au 15/10/2026, version 2. Données arrêtées à l'envoi du FPPN reçu le 15/10/2026, complétées le 18/10/2026 (grands livres PDF, inflation Banque mondiale, tables CIMA).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rapport suit l'ordre : résumé exécutif, compréhension du FPPN, démarche, données, analyses par thème, tables de mortalité, méthodes à venir, outils, analyses en attente, annexes.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peut être présentée seule : elle reprend les messages essentiels du rapport, avec les chiffres et les renvois aux parties détaillées.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probables. Pourquoi « fragile » malgré des excédents ? Parce que les excédents annuels ne suffisent pas encore à effacer les pertes passées (fonds propres négatifs) et que l'épargne due aux mutualistes n'est pas couverte par des actifs disponibles. Pourquoi « peu documenté » ? Aucune base de prestations, pas de date de naissance des mutualistes, pas de barème officiel transmis. Chaque ligne renvoie à une partie détaillée du rapport.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Comment lire : chaque ligne donne un indicateur, sa valeur et sa définition. Les quatre valeurs sont calculées sur les fichiers du FPPN et détaillées dans les parties 5, 7, 8 et 4. Le précompte des prêts mesure la part des échéances effectivement retenue sur salaire ; l'écart peut être payé autrement (caisse, banque), ce que le Grenier doit confirmer.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schéma résume les flux d'argent. Les mutualistes cotisent par précompte sur salaire (Solde) ou sur pension (CGRAE). Le FPPN paie les prestations maladie (cliniques, pharmacies) et décès (familles), gère l'épargne (PEP, EFC), finance les prêts du Grenier et des investissements (CMP, terrains). Les montants sont ceux de la comptabilité 2025 et du bilan au 31/08/2026.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six constats sont classés du plus général (données) au plus financier (actifs). Les chiffres sont exacts et proviennent des balances comptables et des précomptes. Le constat « actifs peu liquides » repose sur la nature des comptes (investissements, terrains, créances) ; leur valeur réelle n'a pas été expertisée.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Graphique de gauche : rapport entre prestations et cotisations maladie comptabilisées, par exercice. Graphique de droite : épargne due aux mutualistes (passif) et actifs qui lui sont dédiés. Les deux graphiques sont détaillés dans les parties 5 et 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Gauche : fonds propres (résultat compris) à chaque clôture. Droite : encours des prêts du Grenier en fin d'année et au 31/08/2026. Détails dans les parties 9 et 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Ordre de priorité : sans les données (actions 1 à 3), les provisions et les engagements ne peuvent pas être calculés. Les actions 4 et 5 relèvent de la direction du FPPN et du conseil d'administration. Les numéros entre parenthèses renvoient à la liste des documents demandés (PBC).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feuille de route ne fixe pas de dates : elles dépendent du délai de transmission des données par le FPPN. Chaque étape produit une mise à jour de ce rapport.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donne au lecteur les clés pour comprendre la suite, sans connaissance préalable en actuariat.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mutuelle sociale n'est pas une compagnie d'assurance : elle est régie par le règlement UEMOA de 2009, pas par le Code CIMA. Le Code CIMA est utilisé ici seulement comme référence technique (tables de mortalité, taux d'actualisation), faute de règles techniques équivalentes dans le règlement. Le FOMUS-CI garantit les mutuelles sociales ivoiriennes.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1"/>
        <p:cNvGrpSpPr/>
        <p:nvPr/>
      </p:nvGrpSpPr>
      <p:grpSpPr>
        <a:xfrm>
          <a:off x="0" y="0"/>
          <a:ext cx="0" cy="0"/>
          <a:chOff x="0" y="0"/>
          <a:chExt cx="0" cy="0"/>
        </a:xfrm>
      </p:grpSpPr>
      <p:sp>
        <p:nvSpPr>
          <p:cNvPr id="9212" name="Google Shape;9212;g1230f352834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CI"/>
          </a:p>
        </p:txBody>
      </p:sp>
      <p:sp>
        <p:nvSpPr>
          <p:cNvPr id="9213" name="Google Shape;9213;g1230f352834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Lecture : chaque colonne relie une cause (en haut) à son effet (en bas). Les causes sont démontrées par les données ; les effets sont des risques, c'est-à-dire des conséquences possibles, à confirmer par les analyses en attente.</a:t>
            </a:r>
          </a:p>
        </p:txBody>
      </p:sp>
    </p:spTree>
    <p:extLst>
      <p:ext uri="{BB962C8B-B14F-4D97-AF65-F5344CB8AC3E}">
        <p14:creationId xmlns:p14="http://schemas.microsoft.com/office/powerpoint/2010/main" val="3069930257"/>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fichier aller dit ce que le FPPN demande de retenir ; le fichier retour dit ce qui a été réellement retenu. L'écart entre les deux révèle des rejets (agent sorti, montant erroné, plafond atteint). Ce rapprochement est la base du contrôle des cotisations (partie 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résultat de l'exercice est la différence entre produits et charges (y compris les éléments exceptionnels, dits hors activités ordinaires). En 2025, il reste positif, mais il diminue depuis 2021 (partie 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définitions sont volontairement simples. Les formules exactes figurent dans les diapositives « méthode » de chaque partie et dans l'annexe des méthodes.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sept axes viennent de l'offre technique d'Adenka. La colonne « état » dit honnêtement ce qui est fait et ce qui attend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schéma est modifiable dans PowerPoint et sera complété au fil des entretiens. Chaque flèche correspond à un script Python conservé ; le contrôle indiqué sous chaque étape est automatique.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Exhaustivité : rien n'est perdu entre le fichier reçu et la base (empreintes SHA-256, nombre de lignes et de cellules). Cohérence : les totaux imprimés par les logiciels sont retrouvés. Rapprochement : deux sources qui décrivent le même flux (aller et retour, précomptes et comptabilité) doivent concorder. Limite : ces contrôles prouvent la fidélité aux fichiers, pas l'exactitude des fichiers eux-mêmes.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mois est compté comme reçu quand au moins un fichier lisible le couvre. Les balances comptables couvrent l'année entière en totaux annuels ; le détail des écritures de janvier à août 2020 manque.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la colonne matricule de la dernière ligne contient un nombre de lignes, pas un matricule ; (2) le montant est la somme de toutes les lignes au-dessus ; (3) compter cette ligne aurait doublé le total du mois. Règle appliquée : une ligne dont le montant égale la somme des autres (à 1 % près) est écartée. Au total, 87 lignes de ce type ont été écartées. Noms et matricules masqués.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le montant source répète deux fois la même suite de chiffres ; (2) un précompte décès de plusieurs milliards de FCFA par agent est impossible (médiane du poste : environ 2 300 FCFA) ; (3) le montant retenu est la première moitié. Correction appliquée seulement au poste décès, au-delà d'un million de FCFA, et signalée au FPPN.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précompte = montant retour / montant aller sur les mois où les deux fichiers existent. Un taux supérieur à 100 % signifie que le fichier aller était incomplet (cas du PEP en juillet 2024).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Janvier 2025 : le fichier retour compte moins de lignes que le fichier aller, des précomptes n'ont pas été faits. Juillet 2024 : le fichier retour compte plus de lignes que le fichier aller, le fichier aller n'incluait pas les nouveaux épargnants (le fichier aller d'août 2024 en compte nettement plus).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fichier vide (0 octet) ne contient aucune donnée ; un fichier endommagé a une partie de ses données détruite (souvent lors d'une copie ou d'un transfert). Aucun de ces défauts ne vient du traitement d'Adenka : les empreintes prouvent que les fichiers sont identiques à ceux reçus.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pour le client : la qualité de l'analyse dépend désormais de la transmission des données manquantes, pas du traitement.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Effectif du mois m = nombre de matricules distincts du fichier maladie 936 du mois m. Entrée = matricule présent en m et absent en m-1 ; sortie = l'inverse (mois consécutifs seulement). Taux de cotisation = précompte du mois / salaire de base du mois, pour chaque agent des mois détaillés. Limite : les motifs de sortie (retraite, décès, radiation) ne sont pas connus.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droite de tendance estimée par moindres carrés donne une hausse de 296,28 cotisants par mois (intervalle de confiance à 95 % : 241,31 à 351,25). La probabilité d'observer une telle pente si la vraie pente était nulle est inférieure à 0,01 % (p-valeur 6.91e-12). La hausse se fait par paliers en juillet, ce qui rend la droite seulement approximative (R² = 0,81).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mois sans mois précédent disponible (janvier 2024, janvier 2025 après le fichier vide de décembre 2024) n'ont pas de flux calculé. Les sorties de novembre 2024 et janvier 2026 sont plus élevées : leur motif doit être demandé au FPPN (départs à la retraite de fin d'année probables, non vérifiés).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L'ancienneté est calculée à partir de la date de recrutement du fichier détaillé de janvier 2025. Elle ne donne pas l'âge : deux agents de même ancienneté peuvent avoir des âges différents. Pour cette raison, aucune hypothèse d'âge n'a été faite.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pour le premier agent : 11 354 / 301 159 = 3,77 % (maladie) ; 3 704 / 301 159 = 1,23 % (décès) ; total 5,00 %. Le barème annoncé en entretien est 3,5 % et 1,5 %. Le total est donc bon mais la répartition diffère. Matricules masqués.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clé comptable est obtenue en rapportant les cotisations maladie comptabilisées au total des cotisations, puis en multipliant par 5 %. Elle est proche du barème annoncé, pas de la clé de la Solde.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 S/C maladie = prestations maladie / (cotisations totales × part maladie). Avec la clé de la Solde (75,40 %), la part des cotisations affectée à la maladie augmente, donc le ratio maladie baisse et le ratio décès monte. Les prestations ne changent pas : seule l'affectation des cotisations change.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Méthode : indice des prix base 100 en 2020, construit en cumulant l'inflation annuelle de la Banque mondiale (2021 : 4,16 % ; 2022 : 5,23 % ; 2023 : 4,37 % ; 2024 : 3,45 % ; 2025 : 0,13 %). Cotisations réelles = cotisations nominales × 100 / indice. Elles mesurent le pouvoir d'achat des cotisations en francs de 2020.</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Rapprochement 2025 : cotisations maladie comptabilisées comparées aux précomptes maladie (12 mois) et retraités CGRAE (12 mois). Les cotisations à recevoir du Trésor (compte 41111000) mesurent ce que l'État doit encore au FPPN à la clôture.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question de la clé de répartition est la plus importante de cette partie : elle change le résultat de chaque garantie.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txBody>
          <a:bodyPr/>
          <a:lstStyle/>
          <a:p>
            <a:endParaRPr lang="fr-CI"/>
          </a:p>
        </p:txBody>
      </p:sp>
      <p:sp>
        <p:nvSpPr>
          <p:cNvPr id="3" name="Notes Placeholder 2"/>
          <p:cNvSpPr>
            <a:spLocks noGrp="1"/>
          </p:cNvSpPr>
          <p:nvPr>
            <p:ph type="body" idx="1"/>
          </p:nvPr>
        </p:nvSpPr>
        <p:spPr/>
        <p:txBody>
          <a:bodyPr/>
          <a:lstStyle/>
          <a:p>
            <a:r>
              <a:t>Chaque anneau donne un pourcentage. La trésorerie totale (toutes banques et caisses) ne représente qu'une petite part de l'épargne due. Les prêts en retard sont mesurés ici en nombre de prêts ; en montant d'encours, la part est plus faible (voir partie 7).</a:t>
            </a:r>
          </a:p>
        </p:txBody>
      </p:sp>
      <p:sp>
        <p:nvSpPr>
          <p:cNvPr id="4" name="Slide Number Placeholder 3"/>
          <p:cNvSpPr>
            <a:spLocks noGrp="1"/>
          </p:cNvSpPr>
          <p:nvPr>
            <p:ph type="sldNum" sz="quarter" idx="10"/>
          </p:nvPr>
        </p:nvSpPr>
        <p:spPr/>
        <p:txBody>
          <a:bodyPr/>
          <a:lstStyle/>
          <a:p>
            <a:pPr>
              <a:defRPr/>
            </a:pPr>
            <a:fld id="{DB19E439-0A36-4389-B1D4-036D35E9F4EA}" type="slidenum">
              <a:rPr lang="en-US" smtClean="0"/>
              <a:pPr>
                <a:defRPr/>
              </a:pPr>
              <a:t>107</a:t>
            </a:fld>
            <a:endParaRPr lang="en-US"/>
          </a:p>
        </p:txBody>
      </p:sp>
    </p:spTree>
    <p:extLst>
      <p:ext uri="{BB962C8B-B14F-4D97-AF65-F5344CB8AC3E}">
        <p14:creationId xmlns:p14="http://schemas.microsoft.com/office/powerpoint/2010/main" val="1278848441"/>
      </p:ext>
    </p:extLst>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compte 60120000 « Charges de prestations maladie » porte à lui seul plus de la moitié du total : il regroupe des prestations sans détail de nature, ce qui empêche l'analyse par type de soins. Montants exacts lus dans la balance 2025.</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de tendance (moindres carrés sur 2020 à 2025) : le S/C maladie progresse de 12,91 points par an (IC 95 % : 3,85 à 21,97 ; p-valeur 0,0167). Avec six points seulement, la tendance est significative au seuil de 5 % mais son rythme est imprécis.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taux de croissance annuel moyen (TCAM) est le taux constant qui mène de la valeur de départ à la valeur d'arrivée : TCAM = (V_fin / V_début)^(1/n) - 1. Une régression du logarithme des prestations sur le temps donne une croissance annuelle moyenne de 121,21 % (IC 95 % : 56,12 % à 213,44 %), estimation plus robuste aux valeurs extrêmes que le TCAM.</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chaque couleur est une nature de soins. La catégorie « autres prestations maladie » correspond aux comptes 6012x, dont le compte global 60120000. Imagerie, analyses et consultations sont les natures détaillées qui progressent le plus.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Frais de gestion = comptes 61 à 66, hors prime d'assurance décès. Résultat = produits - charges + résultat hors activités ordinaires (classe 8). Les huit mois de 2026 n'intègrent pas les écritures de fin d'année (amortissements, provisions).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hausse rapide du ratio maladie est le principal risque technique : à ce rythme, les cotisations maladie ne couvriront plus les prestations.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L'épargne PEP et EFC appartient aux mutualistes : c'est une dette du FPPN. Un bon adossement suppose des actifs liquides et réservés d'un montant au moins égal à la part exigible. Limite : les conditions de retrait ne sont pas connues ; la part réellement exigible à court terme ne peut donc pas être calculée.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Montants lus dans la balance au 31/08/2026 (provisoire). Les soldes créditeurs du passif sont affichés en valeur positive. Le fonds commun de placement est compté comme actif dédié bien que sa destination ne soit pas précisée : la couverture réelle est donc au plus de ce niveau.</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L'épargne non couverte finance d'autres emplois : investissements au CMP, terrains, créance sur l'Hôpital de la Police, prêts du Grenier. Ces emplois ne sont pas mobilisables rapidement.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versements sont les précomptes retour de la Solde. La différence entre versements de l'année et variation du compte d'épargne mesure les sorties de l'année (échéances, retraits, transferts), sans pouvoir les détailler faute de comptes individuels.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Scénarios théoriques, pas des prévisions : on suppose qu'une part de l'épargne est demandée en une fois et on la compare aux actifs dédiés puis à toute la trésorerie (banques et caisses). Les conditions réelles de retrait (délais, pénalités, échéances) ne sont pas connues.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référence est le code qui accompagne chaque précompte (exemple : PEP0522 = PEP souscrit en mai 2022). Les références PTI ont des montants mensuels élevés et peu de mutualistes : elles pourraient correspondre à des remboursements de prêts, ce que le FPPN doit confirmer.</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L'adossement de l'épargne est le principal risque financier relevé.</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L'encours est le capital restant dû. Le retard (en jours) est celui imprimé par le logiciel de prêts. On mesure la part en nombre de prêts et en montant d'encours, avec un intervalle de confiance de Wilson pour la proportion de prêts en retard. Limite : les retards dépendent de la date des précomptes de la Solde.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croissance annuel moyen de l'encours de fin 2022 à fin 2025 : 65,64 %. La créance du FPPN sur le Grenier (compte 47111102) mesure le financement apporté.</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 montants débloqués sur la période (fichiers annuels de 2021 à 2025, mensuels par sous-portefeuille en 2026). La politique de crédit de 2021 est au format Word ancien et doit être renvoyée lisible pour vérifier taux, durées et plafonds.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 31/08/2026, 150 prêts sur 2 959 ont plus de 30 jours de retard, soit 5,07 % des prêts (IC de Wilson à 95 % : 4,34 % à 5,92 %). En montant, la part est plus faible (1,83 %) : les prêts en retard sont de petits encours.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le retard est imprimé en jours par le logiciel ; (2) trois de ces prêts ont un « mécano » de 2 ou 3 chiffres (142, 87, 166), alors qu'un mécano en compte 6 : ce sont des anomalies de saisie ; (3) ces prêts anciens ont encore un encours et doivent être provisionnés ou passés en perte. Noms masqués.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Échéances = somme des montants d'échéance des prêts ayant un encours dans la balance âgée du mois. Précomptes = précomptes 9X4 retour du même mois. L'écart peut être payé hors Solde (caisse, banque) ou correspondre à des rejets.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taux de perte théoriques (25 %, 50 %, 100 %) appliqués à l'encours en retard. Ce ne sont pas des estimations de perte, mais des ordres de grandeur pour fixer une provision. La politique de provisionnement doit être fixée par le FPPN.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risque principal n'est pas la perte sur prêts, limitée, mais la mobilisation de l'épargne des mutualistes pour financer cette croissance.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retraités cotisent sur leur pension par la CGRAE. Leur coût santé, plus élevé que celui des actifs, devra être comparé à leur cotisation dès réception des factures. La convention avec la CGRAE n'a pas été reçue.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produits ne relèvent pas directement des garanties de base, mais ils transitent par le FPPN et engagent sa responsabilité vis-à-vis des adhérents.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bilan n'a pas été transmis : il est reconstitué à partir des soldes des balances. Fonds propres = réserves + report à nouveau + pertes reportées + résultat de l'exercice. Le 31/08/2026 est provisoire et ne comprend pas les écritures de fin d'année.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même montant au franc près de 2020 à 2026 ; (2) seul le numéro de compte change en 2024 (reclassement du compte 19 vers le compte 158) ; (3) une estimation recalculée chaque année varierait avec les dossiers en attente. La provision n'est donc pas une estimation actuelle.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nombre de mois couverts n'est pas une norme : c'est un indicateur de cohérence. Une provision figée perd son sens quand les prestations changent : elle était très supérieure aux besoins en 2021 et diminue en proportion depuis. Seul un calcul fondé sur les dossiers dira si elle est suffisante.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investissements au CMP (comptes 47111101, 47111104, 47111105) et la créance sur l'Hôpital de la Police (47111100) sont des créances sur des structures liées : leur recouvrement et leur valeur réelle doivent être documentés.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comptes de capitaux propres ont un solde créditeur (positif pour le FPPN), sauf le report à nouveau débiteur (pertes passées), affiché ici en négatif. Libellés exacts de la balance 2025.</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 fonds propres négatifs signifient que les dettes dépassent les actifs comptables. Le respect des ratios de solvabilité du règlement UEMOA sera vérifié dès que les seuils auront été relevés dans le texte intégral.</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Rendement apparent = produits financiers (classe 77) / encours moyen des placements (52 à 53). Il est irrégulier : l'essentiel des intérêts est comptabilisé en 2025 à la clôture d'un dépôt à terme. Taux directeurs : communiqués du Comité de politique monétaire de la BCEAO (validés).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constats appellent une décision de gouvernance : politique de provisionnement, politique de placement, encadrement des investissements dans les structures liées.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table de mortalité donne, pour chaque âge, la probabilité de mourir dans l'année (qx) et le nombre de survivants sur 1 000 000 de naissances (Lx). Pour le FPPN, elle sert à : (1) comparer la mortalité réelle des policiers à une référence, ce qui dit si la cotisation décès est bien calibrée ; (2) calculer la valeur des engagements qui durent toute la vie (prise en charge santé des retraités, rentes). Ces deux analyses demandent les dates de naissance (PBC, items 9 et 28).</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de prudence : on choisit la table qui défavorise l'organisme. Pour un risque décès (le FPPN paie au décès), une table qui prévoit plus de décès est prudente : CIMA H. Pour un risque de survie (le FPPN paie tant que la personne vit), une table qui prévoit des vies plus longues est prudente : CIMA F. Les fichiers fournis portent eux-mêmes cet usage dans le nom de leur feuille. Les tables TD et TV sont les anciennes tables réglementaires remplacées en 2012 (Code CIMA, article 338 modifié).</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courbe de survie donne la part des personnes encore en vie à chaque âge. L'écart entre les courbes mesure l'écart de prudence entre une table de décès et une table de survie.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qx en pour mille aux âges de 20 à 80 ans. Ce sont les âges de la population du FPPN (actifs puis retraités). La comparaison avec la mortalité observée se fera par le rapport décès observés / décès attendus (voir partie 11).</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Rente viagère : valeur aujourd'hui de 1 FCFA payé chaque année, au début de l'année, tant que la personne vit, actualisé au taux de 3,5 % (plafond du Code CIMA). Formule : ä_x = Σ (L_(x+k) / L_x) × v^k, avec v = 1 / 1,035. Exemple : si le FPPN prenait en charge 100 000 FCFA par an de soins pour un retraité de 60 ans, l'engagement vaudrait environ 100 000 × ä_60. Ce sont des valeurs de référence, pas des engagements du FPPN.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indicateurs présentés sont des références techniques. Ils deviendront des engagements chiffrés du FPPN dès réception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dossiers connus non payés se comptent dossier par dossier. Les sinistres non déclarés (tardifs) s'estiment à partir des délais observés dans le passé : c'est le rôle de la méthode Chain Ladder (diapositive suivante). Données nécessaires : bases des prestations avec date de survenance, de déclaration et de paiement ; liste des dossiers non payés à chaque clôture.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 on range les paiements cumulés dans un triangle (année de survenance × délai). Le facteur de développement f_j = Σ C(i, j+1) / Σ C(i, j) mesure la progression moyenne d'un délai au suivant. On complète le triangle avec ces facteurs ; la charge ultime moins les paiements déjà faits donne la provision. Hypothèse : le rythme de règlement passé se répète. Aucun chiffre n'est présenté : les données ne sont pas encore reçues.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Exposition : nombre d'années-personnes passées à chaque âge pendant la période (calculée à partir des dates de naissance, d'entrée et de sortie). Décès attendus : exposition × qx de la table CIMA H. Un ratio A/E supérieur à 100 % signifie une mortalité plus forte que la table ; un intervalle de confiance (loi de Poisson) dira si l'écart est significatif.</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familles de ratios habituelles pour une mutuelle sociale sont : couverture des engagements par des actifs admis, niveau des réserves, part des frais de gestion, liquidité. Les seuils exacts n'ont pas pu être lus dans le texte et ne sont donc pas cités. Les montants nécessaires (provisions, épargne, placements, fonds propres) sont déjà disponibles dans les balances.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Méthode : on fait vieillir la population d'une année à l'autre (sorties par retraite et décès avec CIMA H, entrées de recrues), on projette les salaires et donc les cotisations, puis les prestations (coût moyen par âge et par statut). L'écart cotisations - prestations - frais donne l'équilibre de chaque année ; des sensibilités testent les hypothèses. Données nécessaires : âges, coût des soins par âge, barèmes, hypothèses de recrutement.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Aucun chiffre n'est présenté pour ces méthodes : les appliquer sans les données conduirait à des résultats sans valeur. Chaque méthode est reliée aux numéros de la liste des documents demandés.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images des diapositives suivantes sont des extraits réels des scripts de la mission, mis en forme comme dans l'éditeur VS Code (ce ne sont pas des captures d'écran). Les numéros de ligne correspondent aux scripts du dossier de la mission.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mis en forme comme dans VS Code (thème sombre,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mis en forme comme dans VS Code (thème sombre,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mis en forme comme dans VS Code (thème sombre,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mis en forme comme dans VS Code (thème sombre,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mis en forme comme dans VS Code (thème sombre,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mis en forme comme dans VS Code (thème sombre,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 à la construction, chaque chiffre est écrit à partir de la valeur calculée et enregistré (diapositive, valeur exacte, texte affiché). Après la construction, un script relit le fichier PowerPoint et vérifie la présence de chaque texte sur sa diapositive. Le résultat figure dans l'onglet « Traçabilité »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Liste détaillée et à jour dans la PBC pointée.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questions peuvent être posées lors des prochains entretiens ; les réponses seront intégrées à la version suivante du rapport.</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exactes utilisées dans le rapport.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2.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88630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322439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70939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22779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92137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75739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746722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376728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918188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7573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564129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121349794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2668261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2">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817001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04122780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52980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95068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2042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774805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69639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9657460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2965436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5393278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64853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274899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338644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55240017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1" preserve="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738263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12" preserve="1">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0582835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273835987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slideLayout" Target="../slideLayouts/slideLayout30.xml"/><Relationship Id="rId16" Type="http://schemas.openxmlformats.org/officeDocument/2006/relationships/theme" Target="../theme/theme2.xml"/><Relationship Id="rId17"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7" name="Image 16"/>
          <p:cNvPicPr>
            <a:picLocks noChangeAspect="1"/>
          </p:cNvPicPr>
          <p:nvPr userDrawn="1"/>
        </p:nvPicPr>
        <p:blipFill rotWithShape="1">
          <a:blip r:embed="rId17" cstate="print">
            <a:extLst>
              <a:ext uri="{28A0092B-C50C-407E-A947-70E740481C1C}">
                <a14:useLocalDpi xmlns:a14="http://schemas.microsoft.com/office/drawing/2010/main" val="0"/>
              </a:ext>
            </a:extLst>
          </a:blip>
          <a:srcRect l="-1" r="1564" b="34369"/>
          <a:stretch/>
        </p:blipFill>
        <p:spPr>
          <a:xfrm>
            <a:off x="-147909" y="-58723"/>
            <a:ext cx="12339909" cy="691672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
        <p:nvSpPr>
          <p:cNvPr id="15" name="ZoneTexte 14">
            <a:extLst>
              <a:ext uri="{FF2B5EF4-FFF2-40B4-BE49-F238E27FC236}">
                <a16:creationId xmlns:a16="http://schemas.microsoft.com/office/drawing/2014/main" id="{C6E7D94B-8E49-C846-A392-87DFA5EF4A9D}"/>
              </a:ext>
            </a:extLst>
          </p:cNvPr>
          <p:cNvSpPr txBox="1"/>
          <p:nvPr userDrawn="1"/>
        </p:nvSpPr>
        <p:spPr>
          <a:xfrm>
            <a:off x="221940" y="6394008"/>
            <a:ext cx="10929842" cy="261610"/>
          </a:xfrm>
          <a:prstGeom prst="rect">
            <a:avLst/>
          </a:prstGeom>
          <a:noFill/>
        </p:spPr>
        <p:txBody>
          <a:bodyPr wrap="square">
            <a:spAutoFit/>
          </a:bodyPr>
          <a:lstStyle/>
          <a:p>
            <a:r>
              <a:rPr lang="fr-FR" sz="1100">
                <a:solidFill>
                  <a:schemeClr val="bg1"/>
                </a:solidFill>
                <a:latin typeface="Helvetica" panose="020B0604020202020204" pitchFamily="34" charset="0"/>
                <a:cs typeface="Helvetica" panose="020B0604020202020204" pitchFamily="34" charset="0"/>
              </a:rPr>
              <a:t>Empreinte Africaine, Expertise Internationale</a:t>
            </a:r>
          </a:p>
        </p:txBody>
      </p:sp>
    </p:spTree>
    <p:extLst>
      <p:ext uri="{BB962C8B-B14F-4D97-AF65-F5344CB8AC3E}">
        <p14:creationId xmlns:p14="http://schemas.microsoft.com/office/powerpoint/2010/main" val="2063413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Image 7"/>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504" y="283"/>
            <a:ext cx="12190992" cy="685743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Tree>
    <p:extLst>
      <p:ext uri="{BB962C8B-B14F-4D97-AF65-F5344CB8AC3E}">
        <p14:creationId xmlns:p14="http://schemas.microsoft.com/office/powerpoint/2010/main" val="60505563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6.png"/><Relationship Id="rId11" Type="http://schemas.openxmlformats.org/officeDocument/2006/relationships/image" Target="../media/image17.png"/><Relationship Id="rId12" Type="http://schemas.openxmlformats.org/officeDocument/2006/relationships/image" Target="../media/image19.png"/><Relationship Id="rId13" Type="http://schemas.openxmlformats.org/officeDocument/2006/relationships/image" Target="../media/image20.png"/><Relationship Id="rId14" Type="http://schemas.openxmlformats.org/officeDocument/2006/relationships/image" Target="../media/image21.png"/><Relationship Id="rId15" Type="http://schemas.openxmlformats.org/officeDocument/2006/relationships/image" Target="../media/image22.png"/><Relationship Id="rId16" Type="http://schemas.openxmlformats.org/officeDocument/2006/relationships/image" Target="../media/image23.png"/><Relationship Id="rId17" Type="http://schemas.openxmlformats.org/officeDocument/2006/relationships/image" Target="../media/image24.png"/><Relationship Id="rId18" Type="http://schemas.openxmlformats.org/officeDocument/2006/relationships/image" Target="../media/image25.png"/><Relationship Id="rId19" Type="http://schemas.openxmlformats.org/officeDocument/2006/relationships/image" Target="../media/image26.png"/><Relationship Id="rId20" Type="http://schemas.openxmlformats.org/officeDocument/2006/relationships/image" Target="../media/image27.png"/><Relationship Id="rId21"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46.png"/><Relationship Id="rId6" Type="http://schemas.openxmlformats.org/officeDocument/2006/relationships/image" Target="../media/image98.png"/><Relationship Id="rId7"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18.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7.xml"/><Relationship Id="rId7" Type="http://schemas.openxmlformats.org/officeDocument/2006/relationships/chart" Target="../charts/chart8.xml"/><Relationship Id="rId8"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15.xml"/><Relationship Id="rId3" Type="http://schemas.openxmlformats.org/officeDocument/2006/relationships/notesSlide" Target="../notesSlides/notesSlide40.xml"/><Relationship Id="rId4" Type="http://schemas.openxmlformats.org/officeDocument/2006/relationships/image" Target="../media/image8.png"/><Relationship Id="rId5" Type="http://schemas.openxmlformats.org/officeDocument/2006/relationships/oleObject" Target="../embeddings/oleObject3.bin"/><Relationship Id="rId6" Type="http://schemas.openxmlformats.org/officeDocument/2006/relationships/image" Target="../media/image163.emf"/><Relationship Id="rId7" Type="http://schemas.openxmlformats.org/officeDocument/2006/relationships/chart" Target="../charts/chart17.xml"/><Relationship Id="rId8" Type="http://schemas.openxmlformats.org/officeDocument/2006/relationships/chart" Target="../charts/chart18.xml"/><Relationship Id="rId9" Type="http://schemas.openxmlformats.org/officeDocument/2006/relationships/image" Target="../media/image164.png"/><Relationship Id="rId10" Type="http://schemas.openxmlformats.org/officeDocument/2006/relationships/image" Target="../media/image18.png"/><Relationship Id="rId11" Type="http://schemas.openxmlformats.org/officeDocument/2006/relationships/chart" Target="../charts/chart19.xml"/><Relationship Id="rId12" Type="http://schemas.openxmlformats.org/officeDocument/2006/relationships/chart" Target="../charts/chart20.xml"/><Relationship Id="rId13" Type="http://schemas.openxmlformats.org/officeDocument/2006/relationships/image" Target="../media/image165.png"/><Relationship Id="rId14" Type="http://schemas.openxmlformats.org/officeDocument/2006/relationships/image" Target="../media/image16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28.png"/><Relationship Id="rId5" Type="http://schemas.openxmlformats.org/officeDocument/2006/relationships/image" Target="../media/image45.png"/><Relationship Id="rId6" Type="http://schemas.openxmlformats.org/officeDocument/2006/relationships/image" Target="../media/image129.png"/><Relationship Id="rId7" Type="http://schemas.openxmlformats.org/officeDocument/2006/relationships/image" Target="../media/image46.png"/><Relationship Id="rId8" Type="http://schemas.openxmlformats.org/officeDocument/2006/relationships/image" Target="../media/image1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9.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0.xml"/><Relationship Id="rId7"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1.xml"/><Relationship Id="rId7"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2.xml"/><Relationship Id="rId7"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3.xml"/><Relationship Id="rId7"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4.xml"/><Relationship Id="rId7"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5.xml"/><Relationship Id="rId7"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6.xml"/><Relationship Id="rId7"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xml"/><Relationship Id="rId7"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xml"/><Relationship Id="rId7"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xml"/><Relationship Id="rId7"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xml"/><Relationship Id="rId7"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1.xml"/><Relationship Id="rId7"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2.xml"/><Relationship Id="rId7"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3.xml"/><Relationship Id="rId7"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4.xml"/><Relationship Id="rId7"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notesSlide" Target="../notesSlides/notesSlide5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5.xml"/><Relationship Id="rId7" Type="http://schemas.openxmlformats.org/officeDocument/2006/relationships/notesSlide" Target="../notesSlides/notesSlide5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6.xml"/><Relationship Id="rId7" Type="http://schemas.openxmlformats.org/officeDocument/2006/relationships/notesSlide" Target="../notesSlides/notesSlide5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7.xml"/><Relationship Id="rId7" Type="http://schemas.openxmlformats.org/officeDocument/2006/relationships/notesSlide" Target="../notesSlides/notesSlide5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8.xml"/><Relationship Id="rId7" Type="http://schemas.openxmlformats.org/officeDocument/2006/relationships/notesSlide" Target="../notesSlides/notesSlide5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notesSlide" Target="../notesSlides/notesSlide6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9.xml"/><Relationship Id="rId7" Type="http://schemas.openxmlformats.org/officeDocument/2006/relationships/notesSlide" Target="../notesSlides/notesSlide6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0.xml"/><Relationship Id="rId7" Type="http://schemas.openxmlformats.org/officeDocument/2006/relationships/notesSlide" Target="../notesSlides/notesSlide6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1.xml"/><Relationship Id="rId7" Type="http://schemas.openxmlformats.org/officeDocument/2006/relationships/notesSlide" Target="../notesSlides/notesSlide6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2.xml"/><Relationship Id="rId7" Type="http://schemas.openxmlformats.org/officeDocument/2006/relationships/notesSlide" Target="../notesSlides/notesSlide6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3.xml"/><Relationship Id="rId7" Type="http://schemas.openxmlformats.org/officeDocument/2006/relationships/notesSlide" Target="../notesSlides/notesSlide7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notesSlide" Target="../notesSlides/notesSlide7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4.xml"/><Relationship Id="rId7" Type="http://schemas.openxmlformats.org/officeDocument/2006/relationships/notesSlide" Target="../notesSlides/notesSlide7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5.xml"/><Relationship Id="rId7" Type="http://schemas.openxmlformats.org/officeDocument/2006/relationships/notesSlide" Target="../notesSlides/notesSlide7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notesSlide" Target="../notesSlides/notesSlide7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1.png"/><Relationship Id="rId7" Type="http://schemas.openxmlformats.org/officeDocument/2006/relationships/notesSlide" Target="../notesSlides/notesSlide8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2.png"/><Relationship Id="rId7" Type="http://schemas.openxmlformats.org/officeDocument/2006/relationships/notesSlide" Target="../notesSlides/notesSlide8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3.png"/><Relationship Id="rId7" Type="http://schemas.openxmlformats.org/officeDocument/2006/relationships/notesSlide" Target="../notesSlides/notesSlide8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4.png"/><Relationship Id="rId7" Type="http://schemas.openxmlformats.org/officeDocument/2006/relationships/notesSlide" Target="../notesSlides/notesSlide8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5.png"/><Relationship Id="rId7" Type="http://schemas.openxmlformats.org/officeDocument/2006/relationships/notesSlide" Target="../notesSlides/notesSlide8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6.png"/><Relationship Id="rId7" Type="http://schemas.openxmlformats.org/officeDocument/2006/relationships/notesSlide" Target="../notesSlides/notesSlide9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0.png"/><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cstate="print">
            <a:extLst>
              <a:ext uri="{28A0092B-C50C-407E-A947-70E740481C1C}">
                <a14:useLocalDpi xmlns:a14="http://schemas.microsoft.com/office/drawing/2010/main" val="0"/>
              </a:ext>
            </a:extLst>
          </a:blip>
          <a:srcRect l="-175" t="524" r="-2445" b="9082"/>
          <a:stretch/>
        </p:blipFill>
        <p:spPr>
          <a:xfrm>
            <a:off x="4883082" y="0"/>
            <a:ext cx="7785652" cy="6858000"/>
          </a:xfrm>
          <a:prstGeom prst="rect">
            <a:avLst/>
          </a:prstGeom>
        </p:spPr>
      </p:pic>
      <p:sp>
        <p:nvSpPr>
          <p:cNvPr id="5" name="Rectangle 4"/>
          <p:cNvSpPr/>
          <p:nvPr/>
        </p:nvSpPr>
        <p:spPr>
          <a:xfrm>
            <a:off x="13092" y="0"/>
            <a:ext cx="5740400" cy="6858000"/>
          </a:xfrm>
          <a:prstGeom prst="rect">
            <a:avLst/>
          </a:prstGeom>
          <a:solidFill>
            <a:srgbClr val="0606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8" name="Text Placeholder 4">
            <a:extLst>
              <a:ext uri="{FF2B5EF4-FFF2-40B4-BE49-F238E27FC236}">
                <a16:creationId xmlns:a16="http://schemas.microsoft.com/office/drawing/2014/main" id="{5B17207E-7FD3-4B75-ADFE-CC565F8DB8A1}"/>
              </a:ext>
            </a:extLst>
          </p:cNvPr>
          <p:cNvSpPr txBox="1">
            <a:spLocks/>
          </p:cNvSpPr>
          <p:nvPr/>
        </p:nvSpPr>
        <p:spPr>
          <a:xfrm>
            <a:off x="7740000" y="6388244"/>
            <a:ext cx="3960000" cy="337676"/>
          </a:xfrm>
          <a:prstGeom prst="rect">
            <a:avLst/>
          </a:prstGeom>
        </p:spPr>
        <p:txBody>
          <a:bodyPr vert="horz" lIns="91440" tIns="45720" rIns="91440" bIns="45720" rtlCol="0" anchor="ctr">
            <a:noAutofit/>
          </a:bodyPr>
          <a:lstStyle>
            <a:defPPr>
              <a:defRPr lang="fr-F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I" sz="1000" noProof="0">
                <a:solidFill>
                  <a:srgbClr val="FFFFFF"/>
                </a:solidFill>
                <a:latin typeface=".Helvetica"/>
                <a:ea typeface=".Helvetica Neue Interface" panose="020B0604020202020204" pitchFamily="34" charset="0"/>
                <a:cs typeface="Open Sans"/>
              </a:rPr>
              <a:t>Rapport d'étape au 15 octobre 2026, version 2</a:t>
            </a:r>
          </a:p>
        </p:txBody>
      </p:sp>
      <p:sp>
        <p:nvSpPr>
          <p:cNvPr id="9" name="Google Shape;138;p25"/>
          <p:cNvSpPr txBox="1"/>
          <p:nvPr/>
        </p:nvSpPr>
        <p:spPr>
          <a:xfrm>
            <a:off x="908861" y="2534894"/>
            <a:ext cx="4608000" cy="1231106"/>
          </a:xfrm>
          <a:prstGeom prst="rect">
            <a:avLst/>
          </a:prstGeom>
          <a:noFill/>
          <a:ln>
            <a:noFill/>
          </a:ln>
        </p:spPr>
        <p:txBody>
          <a:bodyPr spcFirstLastPara="1" wrap="square" lIns="0" tIns="0" rIns="0" bIns="0" anchor="t" anchorCtr="0">
            <a:spAutoFit/>
          </a:bodyPr>
          <a:lstStyle/>
          <a:p>
            <a:r>
              <a:rPr lang="fr-CI" sz="4000" b="1" noProof="0">
                <a:solidFill>
                  <a:schemeClr val="bg1"/>
                </a:solidFill>
                <a:latin typeface="Helvetica" panose="020B0604020202020204" pitchFamily="34" charset="0"/>
                <a:cs typeface="Helvetica" panose="020B0604020202020204" pitchFamily="34" charset="0"/>
              </a:rPr>
              <a:t>Rapport actuariel</a:t>
            </a:r>
          </a:p>
          <a:p>
            <a:r>
              <a:rPr lang="fr-CI" sz="4000" b="1" noProof="0">
                <a:solidFill>
                  <a:schemeClr val="bg1"/>
                </a:solidFill>
                <a:latin typeface="Helvetica" panose="020B0604020202020204" pitchFamily="34" charset="0"/>
                <a:cs typeface="Helvetica" panose="020B0604020202020204" pitchFamily="34" charset="0"/>
              </a:rPr>
              <a:t>et statistique</a:t>
            </a:r>
          </a:p>
          <a:p>
            <a:r>
              <a:rPr lang="fr-CI" sz="4000" b="1" noProof="0">
                <a:solidFill>
                  <a:schemeClr val="bg1"/>
                </a:solidFill>
                <a:latin typeface="Helvetica" panose="020B0604020202020204" pitchFamily="34" charset="0"/>
                <a:cs typeface="Helvetica" panose="020B0604020202020204" pitchFamily="34" charset="0"/>
              </a:rPr>
              <a:t>du FPPN</a:t>
            </a:r>
          </a:p>
        </p:txBody>
      </p:sp>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2" name="Rectangle 11"/>
          <p:cNvSpPr/>
          <p:nvPr/>
        </p:nvSpPr>
        <p:spPr>
          <a:xfrm>
            <a:off x="9487408" y="229231"/>
            <a:ext cx="2704592" cy="1323439"/>
          </a:xfrm>
          <a:prstGeom prst="rect">
            <a:avLst/>
          </a:prstGeom>
        </p:spPr>
        <p:txBody>
          <a:bodyPr wrap="square">
            <a:spAutoFit/>
          </a:bodyPr>
          <a:lstStyle/>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SA au Capital de 100 millions FCFA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Immeuble le 24, 3e étage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Boulevard </a:t>
            </a:r>
            <a:r>
              <a:rPr lang="fr-CI" sz="1000" noProof="0" err="1">
                <a:solidFill>
                  <a:schemeClr val="bg1"/>
                </a:solidFill>
                <a:latin typeface="Helvetica" panose="020B0604020202020204" pitchFamily="34" charset="0"/>
                <a:ea typeface="Times New Roman" panose="02020603050405020304" pitchFamily="18" charset="0"/>
                <a:cs typeface="Helvetica" panose="020B0604020202020204" pitchFamily="34" charset="0"/>
              </a:rPr>
              <a:t>Clozel</a:t>
            </a: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 Plateau, Abidjan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06 BPM 459 Abidjan 06, Côte d’ivoire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NCC : 2404702K</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RCCM : CI-ABJ-03-2024-B14-00114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Tel (225) 27 20 33 90 90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www.adenka.ci</a:t>
            </a:r>
          </a:p>
        </p:txBody>
      </p:sp>
    </p:spTree>
    <p:extLst>
      <p:ext uri="{BB962C8B-B14F-4D97-AF65-F5344CB8AC3E}">
        <p14:creationId xmlns:p14="http://schemas.microsoft.com/office/powerpoint/2010/main" val="104732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972000" y="306000"/>
            <a:ext cx="7200000" cy="396000"/>
          </a:xfrm>
          <a:prstGeom prst="rect">
            <a:avLst/>
          </a:prstGeom>
          <a:noFill/>
        </p:spPr>
        <p:txBody>
          <a:bodyPr wrap="square" anchor="t" lIns="54000" rIns="54000"/>
          <a:lstStyle/>
          <a:p>
            <a:pPr algn="l"/>
            <a:r>
              <a:rPr sz="2400" b="1">
                <a:solidFill>
                  <a:srgbClr val="112A40"/>
                </a:solidFill>
                <a:latin typeface="Helvetica"/>
              </a:rPr>
              <a:t>SOMMAIRE</a:t>
            </a:r>
          </a:p>
        </p:txBody>
      </p:sp>
      <p:cxnSp>
        <p:nvCxnSpPr>
          <p:cNvPr id="28" name="Connector 27"/>
          <p:cNvCxnSpPr/>
          <p:nvPr/>
        </p:nvCxnSpPr>
        <p:spPr>
          <a:xfrm>
            <a:off x="932400" y="1454400"/>
            <a:ext cx="0" cy="443520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32400" y="14544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821599" y="1314000"/>
            <a:ext cx="280800" cy="2808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6"/>
          <a:stretch>
            <a:fillRect/>
          </a:stretch>
        </p:blipFill>
        <p:spPr>
          <a:xfrm>
            <a:off x="1877759" y="1370160"/>
            <a:ext cx="168480" cy="168480"/>
          </a:xfrm>
          <a:prstGeom prst="rect">
            <a:avLst/>
          </a:prstGeom>
        </p:spPr>
      </p:pic>
      <p:sp>
        <p:nvSpPr>
          <p:cNvPr id="32" name="Rectangle 31"/>
          <p:cNvSpPr/>
          <p:nvPr/>
        </p:nvSpPr>
        <p:spPr>
          <a:xfrm>
            <a:off x="2444400" y="1317600"/>
            <a:ext cx="8272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Résumé exécutif</a:t>
            </a:r>
          </a:p>
        </p:txBody>
      </p:sp>
      <p:sp>
        <p:nvSpPr>
          <p:cNvPr id="33" name="Rectangle 32"/>
          <p:cNvSpPr/>
          <p:nvPr/>
        </p:nvSpPr>
        <p:spPr>
          <a:xfrm>
            <a:off x="10756800" y="1317600"/>
            <a:ext cx="550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3</a:t>
            </a:r>
          </a:p>
        </p:txBody>
      </p:sp>
      <p:cxnSp>
        <p:nvCxnSpPr>
          <p:cNvPr id="34" name="Connector 33"/>
          <p:cNvCxnSpPr/>
          <p:nvPr/>
        </p:nvCxnSpPr>
        <p:spPr>
          <a:xfrm>
            <a:off x="932400" y="17712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821599" y="1630800"/>
            <a:ext cx="280800" cy="2808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7"/>
          <a:stretch>
            <a:fillRect/>
          </a:stretch>
        </p:blipFill>
        <p:spPr>
          <a:xfrm>
            <a:off x="1877759" y="1686960"/>
            <a:ext cx="168480" cy="168480"/>
          </a:xfrm>
          <a:prstGeom prst="rect">
            <a:avLst/>
          </a:prstGeom>
        </p:spPr>
      </p:pic>
      <p:sp>
        <p:nvSpPr>
          <p:cNvPr id="37" name="Rectangle 36"/>
          <p:cNvSpPr/>
          <p:nvPr/>
        </p:nvSpPr>
        <p:spPr>
          <a:xfrm>
            <a:off x="2444400" y="1634400"/>
            <a:ext cx="8272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Comprendre le FPPN</a:t>
            </a:r>
          </a:p>
        </p:txBody>
      </p:sp>
      <p:sp>
        <p:nvSpPr>
          <p:cNvPr id="38" name="Rectangle 37"/>
          <p:cNvSpPr/>
          <p:nvPr/>
        </p:nvSpPr>
        <p:spPr>
          <a:xfrm>
            <a:off x="10756800" y="1634400"/>
            <a:ext cx="550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14</a:t>
            </a:r>
          </a:p>
        </p:txBody>
      </p:sp>
      <p:cxnSp>
        <p:nvCxnSpPr>
          <p:cNvPr id="39" name="Connector 38"/>
          <p:cNvCxnSpPr/>
          <p:nvPr/>
        </p:nvCxnSpPr>
        <p:spPr>
          <a:xfrm>
            <a:off x="932400" y="20880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1821599" y="1947600"/>
            <a:ext cx="280800" cy="2808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8"/>
          <a:stretch>
            <a:fillRect/>
          </a:stretch>
        </p:blipFill>
        <p:spPr>
          <a:xfrm>
            <a:off x="1877759" y="2003760"/>
            <a:ext cx="168480" cy="168480"/>
          </a:xfrm>
          <a:prstGeom prst="rect">
            <a:avLst/>
          </a:prstGeom>
        </p:spPr>
      </p:pic>
      <p:sp>
        <p:nvSpPr>
          <p:cNvPr id="42" name="Rectangle 41"/>
          <p:cNvSpPr/>
          <p:nvPr/>
        </p:nvSpPr>
        <p:spPr>
          <a:xfrm>
            <a:off x="2444400" y="1951200"/>
            <a:ext cx="8272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Contexte et démarche</a:t>
            </a:r>
          </a:p>
        </p:txBody>
      </p:sp>
      <p:sp>
        <p:nvSpPr>
          <p:cNvPr id="43" name="Rectangle 42"/>
          <p:cNvSpPr/>
          <p:nvPr/>
        </p:nvSpPr>
        <p:spPr>
          <a:xfrm>
            <a:off x="10756800" y="1951200"/>
            <a:ext cx="550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20</a:t>
            </a:r>
          </a:p>
        </p:txBody>
      </p:sp>
      <p:cxnSp>
        <p:nvCxnSpPr>
          <p:cNvPr id="44" name="Connector 43"/>
          <p:cNvCxnSpPr/>
          <p:nvPr/>
        </p:nvCxnSpPr>
        <p:spPr>
          <a:xfrm>
            <a:off x="932400" y="24048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1821599" y="2264400"/>
            <a:ext cx="280800" cy="2808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mage.png"/>
          <p:cNvPicPr>
            <a:picLocks noChangeAspect="1"/>
          </p:cNvPicPr>
          <p:nvPr/>
        </p:nvPicPr>
        <p:blipFill>
          <a:blip r:embed="rId9"/>
          <a:stretch>
            <a:fillRect/>
          </a:stretch>
        </p:blipFill>
        <p:spPr>
          <a:xfrm>
            <a:off x="1877759" y="2320560"/>
            <a:ext cx="168480" cy="168480"/>
          </a:xfrm>
          <a:prstGeom prst="rect">
            <a:avLst/>
          </a:prstGeom>
        </p:spPr>
      </p:pic>
      <p:sp>
        <p:nvSpPr>
          <p:cNvPr id="47" name="Rectangle 46"/>
          <p:cNvSpPr/>
          <p:nvPr/>
        </p:nvSpPr>
        <p:spPr>
          <a:xfrm>
            <a:off x="2444400" y="2268000"/>
            <a:ext cx="8272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Données et qualité</a:t>
            </a:r>
          </a:p>
        </p:txBody>
      </p:sp>
      <p:sp>
        <p:nvSpPr>
          <p:cNvPr id="48" name="Rectangle 47"/>
          <p:cNvSpPr/>
          <p:nvPr/>
        </p:nvSpPr>
        <p:spPr>
          <a:xfrm>
            <a:off x="10756800" y="2268000"/>
            <a:ext cx="550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23</a:t>
            </a:r>
          </a:p>
        </p:txBody>
      </p:sp>
      <p:cxnSp>
        <p:nvCxnSpPr>
          <p:cNvPr id="49" name="Connector 48"/>
          <p:cNvCxnSpPr/>
          <p:nvPr/>
        </p:nvCxnSpPr>
        <p:spPr>
          <a:xfrm>
            <a:off x="932400" y="27216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1821599" y="2581200"/>
            <a:ext cx="280800" cy="2808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image.png"/>
          <p:cNvPicPr>
            <a:picLocks noChangeAspect="1"/>
          </p:cNvPicPr>
          <p:nvPr/>
        </p:nvPicPr>
        <p:blipFill>
          <a:blip r:embed="rId10"/>
          <a:stretch>
            <a:fillRect/>
          </a:stretch>
        </p:blipFill>
        <p:spPr>
          <a:xfrm>
            <a:off x="1877759" y="2637360"/>
            <a:ext cx="168480" cy="168480"/>
          </a:xfrm>
          <a:prstGeom prst="rect">
            <a:avLst/>
          </a:prstGeom>
        </p:spPr>
      </p:pic>
      <p:sp>
        <p:nvSpPr>
          <p:cNvPr id="52" name="Rectangle 51"/>
          <p:cNvSpPr/>
          <p:nvPr/>
        </p:nvSpPr>
        <p:spPr>
          <a:xfrm>
            <a:off x="2444400" y="2584800"/>
            <a:ext cx="8272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Effectifs et cotisations</a:t>
            </a:r>
          </a:p>
        </p:txBody>
      </p:sp>
      <p:sp>
        <p:nvSpPr>
          <p:cNvPr id="53" name="Rectangle 52"/>
          <p:cNvSpPr/>
          <p:nvPr/>
        </p:nvSpPr>
        <p:spPr>
          <a:xfrm>
            <a:off x="10756800" y="2584800"/>
            <a:ext cx="550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32</a:t>
            </a:r>
          </a:p>
        </p:txBody>
      </p:sp>
      <p:cxnSp>
        <p:nvCxnSpPr>
          <p:cNvPr id="54" name="Connector 53"/>
          <p:cNvCxnSpPr/>
          <p:nvPr/>
        </p:nvCxnSpPr>
        <p:spPr>
          <a:xfrm>
            <a:off x="932400" y="30384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1821599" y="2897999"/>
            <a:ext cx="280800" cy="2808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image.png"/>
          <p:cNvPicPr>
            <a:picLocks noChangeAspect="1"/>
          </p:cNvPicPr>
          <p:nvPr/>
        </p:nvPicPr>
        <p:blipFill>
          <a:blip r:embed="rId11"/>
          <a:stretch>
            <a:fillRect/>
          </a:stretch>
        </p:blipFill>
        <p:spPr>
          <a:xfrm>
            <a:off x="1877759" y="2954160"/>
            <a:ext cx="168480" cy="168480"/>
          </a:xfrm>
          <a:prstGeom prst="rect">
            <a:avLst/>
          </a:prstGeom>
        </p:spPr>
      </p:pic>
      <p:sp>
        <p:nvSpPr>
          <p:cNvPr id="57" name="Rectangle 56"/>
          <p:cNvSpPr/>
          <p:nvPr/>
        </p:nvSpPr>
        <p:spPr>
          <a:xfrm>
            <a:off x="2444400" y="2901599"/>
            <a:ext cx="8272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Sinistralité et résultat</a:t>
            </a:r>
          </a:p>
        </p:txBody>
      </p:sp>
      <p:sp>
        <p:nvSpPr>
          <p:cNvPr id="58" name="Rectangle 57"/>
          <p:cNvSpPr/>
          <p:nvPr/>
        </p:nvSpPr>
        <p:spPr>
          <a:xfrm>
            <a:off x="10756800" y="2901599"/>
            <a:ext cx="550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43</a:t>
            </a:r>
          </a:p>
        </p:txBody>
      </p:sp>
      <p:cxnSp>
        <p:nvCxnSpPr>
          <p:cNvPr id="59" name="Connector 58"/>
          <p:cNvCxnSpPr/>
          <p:nvPr/>
        </p:nvCxnSpPr>
        <p:spPr>
          <a:xfrm>
            <a:off x="932400" y="33552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821599" y="3214800"/>
            <a:ext cx="280800" cy="2808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image.png"/>
          <p:cNvPicPr>
            <a:picLocks noChangeAspect="1"/>
          </p:cNvPicPr>
          <p:nvPr/>
        </p:nvPicPr>
        <p:blipFill>
          <a:blip r:embed="rId12"/>
          <a:stretch>
            <a:fillRect/>
          </a:stretch>
        </p:blipFill>
        <p:spPr>
          <a:xfrm>
            <a:off x="1877759" y="3270960"/>
            <a:ext cx="168480" cy="168480"/>
          </a:xfrm>
          <a:prstGeom prst="rect">
            <a:avLst/>
          </a:prstGeom>
        </p:spPr>
      </p:pic>
      <p:sp>
        <p:nvSpPr>
          <p:cNvPr id="62" name="Rectangle 61"/>
          <p:cNvSpPr/>
          <p:nvPr/>
        </p:nvSpPr>
        <p:spPr>
          <a:xfrm>
            <a:off x="2444400" y="3218400"/>
            <a:ext cx="8272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Épargne des mutualistes</a:t>
            </a:r>
          </a:p>
        </p:txBody>
      </p:sp>
      <p:sp>
        <p:nvSpPr>
          <p:cNvPr id="63" name="Rectangle 62"/>
          <p:cNvSpPr/>
          <p:nvPr/>
        </p:nvSpPr>
        <p:spPr>
          <a:xfrm>
            <a:off x="10756800" y="3218400"/>
            <a:ext cx="550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51</a:t>
            </a:r>
          </a:p>
        </p:txBody>
      </p:sp>
      <p:cxnSp>
        <p:nvCxnSpPr>
          <p:cNvPr id="64" name="Connector 63"/>
          <p:cNvCxnSpPr/>
          <p:nvPr/>
        </p:nvCxnSpPr>
        <p:spPr>
          <a:xfrm>
            <a:off x="932400" y="367199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1821599" y="3531599"/>
            <a:ext cx="280800" cy="2808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mage.png"/>
          <p:cNvPicPr>
            <a:picLocks noChangeAspect="1"/>
          </p:cNvPicPr>
          <p:nvPr/>
        </p:nvPicPr>
        <p:blipFill>
          <a:blip r:embed="rId13"/>
          <a:stretch>
            <a:fillRect/>
          </a:stretch>
        </p:blipFill>
        <p:spPr>
          <a:xfrm>
            <a:off x="1877759" y="3587759"/>
            <a:ext cx="168480" cy="168480"/>
          </a:xfrm>
          <a:prstGeom prst="rect">
            <a:avLst/>
          </a:prstGeom>
        </p:spPr>
      </p:pic>
      <p:sp>
        <p:nvSpPr>
          <p:cNvPr id="67" name="Rectangle 66"/>
          <p:cNvSpPr/>
          <p:nvPr/>
        </p:nvSpPr>
        <p:spPr>
          <a:xfrm>
            <a:off x="2444400" y="3535199"/>
            <a:ext cx="8272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Prêts du Grenier</a:t>
            </a:r>
          </a:p>
        </p:txBody>
      </p:sp>
      <p:sp>
        <p:nvSpPr>
          <p:cNvPr id="68" name="Rectangle 67"/>
          <p:cNvSpPr/>
          <p:nvPr/>
        </p:nvSpPr>
        <p:spPr>
          <a:xfrm>
            <a:off x="10756800" y="3535199"/>
            <a:ext cx="550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59</a:t>
            </a:r>
          </a:p>
        </p:txBody>
      </p:sp>
      <p:cxnSp>
        <p:nvCxnSpPr>
          <p:cNvPr id="69" name="Connector 68"/>
          <p:cNvCxnSpPr/>
          <p:nvPr/>
        </p:nvCxnSpPr>
        <p:spPr>
          <a:xfrm>
            <a:off x="932400" y="39888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1821599" y="3848400"/>
            <a:ext cx="280800" cy="2808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image.png"/>
          <p:cNvPicPr>
            <a:picLocks noChangeAspect="1"/>
          </p:cNvPicPr>
          <p:nvPr/>
        </p:nvPicPr>
        <p:blipFill>
          <a:blip r:embed="rId14"/>
          <a:stretch>
            <a:fillRect/>
          </a:stretch>
        </p:blipFill>
        <p:spPr>
          <a:xfrm>
            <a:off x="1877759" y="3904560"/>
            <a:ext cx="168480" cy="168480"/>
          </a:xfrm>
          <a:prstGeom prst="rect">
            <a:avLst/>
          </a:prstGeom>
        </p:spPr>
      </p:pic>
      <p:sp>
        <p:nvSpPr>
          <p:cNvPr id="72" name="Rectangle 71"/>
          <p:cNvSpPr/>
          <p:nvPr/>
        </p:nvSpPr>
        <p:spPr>
          <a:xfrm>
            <a:off x="2444400" y="3851999"/>
            <a:ext cx="8272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Retraités et annexes</a:t>
            </a:r>
          </a:p>
        </p:txBody>
      </p:sp>
      <p:sp>
        <p:nvSpPr>
          <p:cNvPr id="73" name="Rectangle 72"/>
          <p:cNvSpPr/>
          <p:nvPr/>
        </p:nvSpPr>
        <p:spPr>
          <a:xfrm>
            <a:off x="10756800" y="3851999"/>
            <a:ext cx="550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68</a:t>
            </a:r>
          </a:p>
        </p:txBody>
      </p:sp>
      <p:cxnSp>
        <p:nvCxnSpPr>
          <p:cNvPr id="74" name="Connector 73"/>
          <p:cNvCxnSpPr/>
          <p:nvPr/>
        </p:nvCxnSpPr>
        <p:spPr>
          <a:xfrm>
            <a:off x="932400" y="43056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1821599" y="4165199"/>
            <a:ext cx="280800" cy="2808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image.png"/>
          <p:cNvPicPr>
            <a:picLocks noChangeAspect="1"/>
          </p:cNvPicPr>
          <p:nvPr/>
        </p:nvPicPr>
        <p:blipFill>
          <a:blip r:embed="rId15"/>
          <a:stretch>
            <a:fillRect/>
          </a:stretch>
        </p:blipFill>
        <p:spPr>
          <a:xfrm>
            <a:off x="1877759" y="4221360"/>
            <a:ext cx="168480" cy="168480"/>
          </a:xfrm>
          <a:prstGeom prst="rect">
            <a:avLst/>
          </a:prstGeom>
        </p:spPr>
      </p:pic>
      <p:sp>
        <p:nvSpPr>
          <p:cNvPr id="77" name="Rectangle 76"/>
          <p:cNvSpPr/>
          <p:nvPr/>
        </p:nvSpPr>
        <p:spPr>
          <a:xfrm>
            <a:off x="2444400" y="4168799"/>
            <a:ext cx="8272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Bilan et placements</a:t>
            </a:r>
          </a:p>
        </p:txBody>
      </p:sp>
      <p:sp>
        <p:nvSpPr>
          <p:cNvPr id="78" name="Rectangle 77"/>
          <p:cNvSpPr/>
          <p:nvPr/>
        </p:nvSpPr>
        <p:spPr>
          <a:xfrm>
            <a:off x="10756800" y="4168799"/>
            <a:ext cx="550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71</a:t>
            </a:r>
          </a:p>
        </p:txBody>
      </p:sp>
      <p:cxnSp>
        <p:nvCxnSpPr>
          <p:cNvPr id="79" name="Connector 78"/>
          <p:cNvCxnSpPr/>
          <p:nvPr/>
        </p:nvCxnSpPr>
        <p:spPr>
          <a:xfrm>
            <a:off x="932400" y="46224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1821599" y="4482000"/>
            <a:ext cx="280800" cy="2808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1" name="Picture 80" descr="image.png"/>
          <p:cNvPicPr>
            <a:picLocks noChangeAspect="1"/>
          </p:cNvPicPr>
          <p:nvPr/>
        </p:nvPicPr>
        <p:blipFill>
          <a:blip r:embed="rId16"/>
          <a:stretch>
            <a:fillRect/>
          </a:stretch>
        </p:blipFill>
        <p:spPr>
          <a:xfrm>
            <a:off x="1877759" y="4538160"/>
            <a:ext cx="168480" cy="168480"/>
          </a:xfrm>
          <a:prstGeom prst="rect">
            <a:avLst/>
          </a:prstGeom>
        </p:spPr>
      </p:pic>
      <p:sp>
        <p:nvSpPr>
          <p:cNvPr id="82" name="Rectangle 81"/>
          <p:cNvSpPr/>
          <p:nvPr/>
        </p:nvSpPr>
        <p:spPr>
          <a:xfrm>
            <a:off x="2444400" y="4485600"/>
            <a:ext cx="8272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Tables de mortalité</a:t>
            </a:r>
          </a:p>
        </p:txBody>
      </p:sp>
      <p:sp>
        <p:nvSpPr>
          <p:cNvPr id="83" name="Rectangle 82"/>
          <p:cNvSpPr/>
          <p:nvPr/>
        </p:nvSpPr>
        <p:spPr>
          <a:xfrm>
            <a:off x="10756800" y="4485600"/>
            <a:ext cx="550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80</a:t>
            </a:r>
          </a:p>
        </p:txBody>
      </p:sp>
      <p:cxnSp>
        <p:nvCxnSpPr>
          <p:cNvPr id="84" name="Connector 83"/>
          <p:cNvCxnSpPr/>
          <p:nvPr/>
        </p:nvCxnSpPr>
        <p:spPr>
          <a:xfrm>
            <a:off x="932400" y="49392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85" name="Oval 84"/>
          <p:cNvSpPr/>
          <p:nvPr/>
        </p:nvSpPr>
        <p:spPr>
          <a:xfrm>
            <a:off x="1821599" y="4798799"/>
            <a:ext cx="280800" cy="2808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6" name="Picture 85" descr="image.png"/>
          <p:cNvPicPr>
            <a:picLocks noChangeAspect="1"/>
          </p:cNvPicPr>
          <p:nvPr/>
        </p:nvPicPr>
        <p:blipFill>
          <a:blip r:embed="rId17"/>
          <a:stretch>
            <a:fillRect/>
          </a:stretch>
        </p:blipFill>
        <p:spPr>
          <a:xfrm>
            <a:off x="1877759" y="4854960"/>
            <a:ext cx="168480" cy="168480"/>
          </a:xfrm>
          <a:prstGeom prst="rect">
            <a:avLst/>
          </a:prstGeom>
        </p:spPr>
      </p:pic>
      <p:sp>
        <p:nvSpPr>
          <p:cNvPr id="87" name="Rectangle 86"/>
          <p:cNvSpPr/>
          <p:nvPr/>
        </p:nvSpPr>
        <p:spPr>
          <a:xfrm>
            <a:off x="2444400" y="4802399"/>
            <a:ext cx="8272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Méthodes actuarielles</a:t>
            </a:r>
          </a:p>
        </p:txBody>
      </p:sp>
      <p:sp>
        <p:nvSpPr>
          <p:cNvPr id="88" name="Rectangle 87"/>
          <p:cNvSpPr/>
          <p:nvPr/>
        </p:nvSpPr>
        <p:spPr>
          <a:xfrm>
            <a:off x="10756800" y="4802399"/>
            <a:ext cx="550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87</a:t>
            </a:r>
          </a:p>
        </p:txBody>
      </p:sp>
      <p:cxnSp>
        <p:nvCxnSpPr>
          <p:cNvPr id="89" name="Connector 88"/>
          <p:cNvCxnSpPr/>
          <p:nvPr/>
        </p:nvCxnSpPr>
        <p:spPr>
          <a:xfrm>
            <a:off x="932400" y="52560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90" name="Oval 89"/>
          <p:cNvSpPr/>
          <p:nvPr/>
        </p:nvSpPr>
        <p:spPr>
          <a:xfrm>
            <a:off x="1821599" y="5115600"/>
            <a:ext cx="280800" cy="2808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1" name="Picture 90" descr="image.png"/>
          <p:cNvPicPr>
            <a:picLocks noChangeAspect="1"/>
          </p:cNvPicPr>
          <p:nvPr/>
        </p:nvPicPr>
        <p:blipFill>
          <a:blip r:embed="rId18"/>
          <a:stretch>
            <a:fillRect/>
          </a:stretch>
        </p:blipFill>
        <p:spPr>
          <a:xfrm>
            <a:off x="1877759" y="5171760"/>
            <a:ext cx="168480" cy="168480"/>
          </a:xfrm>
          <a:prstGeom prst="rect">
            <a:avLst/>
          </a:prstGeom>
        </p:spPr>
      </p:pic>
      <p:sp>
        <p:nvSpPr>
          <p:cNvPr id="92" name="Rectangle 91"/>
          <p:cNvSpPr/>
          <p:nvPr/>
        </p:nvSpPr>
        <p:spPr>
          <a:xfrm>
            <a:off x="2444400" y="5119200"/>
            <a:ext cx="8272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Outils et traçabilité</a:t>
            </a:r>
          </a:p>
        </p:txBody>
      </p:sp>
      <p:sp>
        <p:nvSpPr>
          <p:cNvPr id="93" name="Rectangle 92"/>
          <p:cNvSpPr/>
          <p:nvPr/>
        </p:nvSpPr>
        <p:spPr>
          <a:xfrm>
            <a:off x="10756800" y="5119200"/>
            <a:ext cx="550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94</a:t>
            </a:r>
          </a:p>
        </p:txBody>
      </p:sp>
      <p:cxnSp>
        <p:nvCxnSpPr>
          <p:cNvPr id="94" name="Connector 93"/>
          <p:cNvCxnSpPr/>
          <p:nvPr/>
        </p:nvCxnSpPr>
        <p:spPr>
          <a:xfrm>
            <a:off x="932400" y="557279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95" name="Oval 94"/>
          <p:cNvSpPr/>
          <p:nvPr/>
        </p:nvSpPr>
        <p:spPr>
          <a:xfrm>
            <a:off x="1821599" y="5432399"/>
            <a:ext cx="280800" cy="2808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6" name="Picture 95" descr="image.png"/>
          <p:cNvPicPr>
            <a:picLocks noChangeAspect="1"/>
          </p:cNvPicPr>
          <p:nvPr/>
        </p:nvPicPr>
        <p:blipFill>
          <a:blip r:embed="rId19"/>
          <a:stretch>
            <a:fillRect/>
          </a:stretch>
        </p:blipFill>
        <p:spPr>
          <a:xfrm>
            <a:off x="1877759" y="5488559"/>
            <a:ext cx="168480" cy="168480"/>
          </a:xfrm>
          <a:prstGeom prst="rect">
            <a:avLst/>
          </a:prstGeom>
        </p:spPr>
      </p:pic>
      <p:sp>
        <p:nvSpPr>
          <p:cNvPr id="97" name="Rectangle 96"/>
          <p:cNvSpPr/>
          <p:nvPr/>
        </p:nvSpPr>
        <p:spPr>
          <a:xfrm>
            <a:off x="2444400" y="5435999"/>
            <a:ext cx="8272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Analyses en attente</a:t>
            </a:r>
          </a:p>
        </p:txBody>
      </p:sp>
      <p:sp>
        <p:nvSpPr>
          <p:cNvPr id="98" name="Rectangle 97"/>
          <p:cNvSpPr/>
          <p:nvPr/>
        </p:nvSpPr>
        <p:spPr>
          <a:xfrm>
            <a:off x="10756800" y="5435999"/>
            <a:ext cx="550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103</a:t>
            </a:r>
          </a:p>
        </p:txBody>
      </p:sp>
      <p:cxnSp>
        <p:nvCxnSpPr>
          <p:cNvPr id="99" name="Connector 98"/>
          <p:cNvCxnSpPr/>
          <p:nvPr/>
        </p:nvCxnSpPr>
        <p:spPr>
          <a:xfrm>
            <a:off x="932400" y="58896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100" name="Oval 99"/>
          <p:cNvSpPr/>
          <p:nvPr/>
        </p:nvSpPr>
        <p:spPr>
          <a:xfrm>
            <a:off x="1821599" y="5749200"/>
            <a:ext cx="280800" cy="2808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1" name="Picture 100" descr="image.png"/>
          <p:cNvPicPr>
            <a:picLocks noChangeAspect="1"/>
          </p:cNvPicPr>
          <p:nvPr/>
        </p:nvPicPr>
        <p:blipFill>
          <a:blip r:embed="rId20"/>
          <a:stretch>
            <a:fillRect/>
          </a:stretch>
        </p:blipFill>
        <p:spPr>
          <a:xfrm>
            <a:off x="1877759" y="5805359"/>
            <a:ext cx="168480" cy="168480"/>
          </a:xfrm>
          <a:prstGeom prst="rect">
            <a:avLst/>
          </a:prstGeom>
        </p:spPr>
      </p:pic>
      <p:sp>
        <p:nvSpPr>
          <p:cNvPr id="102" name="Rectangle 101"/>
          <p:cNvSpPr/>
          <p:nvPr/>
        </p:nvSpPr>
        <p:spPr>
          <a:xfrm>
            <a:off x="2444400" y="5752799"/>
            <a:ext cx="8272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Annexes</a:t>
            </a:r>
          </a:p>
        </p:txBody>
      </p:sp>
      <p:sp>
        <p:nvSpPr>
          <p:cNvPr id="103" name="Rectangle 102"/>
          <p:cNvSpPr/>
          <p:nvPr/>
        </p:nvSpPr>
        <p:spPr>
          <a:xfrm>
            <a:off x="10756800" y="5752799"/>
            <a:ext cx="550800" cy="27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106</a:t>
            </a:r>
          </a:p>
        </p:txBody>
      </p:sp>
    </p:spTree>
    <p:extLst>
      <p:ext uri="{BB962C8B-B14F-4D97-AF65-F5344CB8AC3E}">
        <p14:creationId xmlns:p14="http://schemas.microsoft.com/office/powerpoint/2010/main" val="77577176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R</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Résumé exécutif</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Constats, chiffres clés, risques et actions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55161340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Résumé exécutif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dégage des excédents mais reste fragile et peu documenté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négatifs, épargne couverte à 16,28 % par des actifs dédiés, provisions figées depuis 2020</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sur les documents reçus le 15/10/2026 (S/C : prestations / cotisations)</a:t>
            </a:r>
          </a:p>
        </p:txBody>
      </p:sp>
      <p:sp>
        <p:nvSpPr>
          <p:cNvPr id="31" name="TextBox 30"/>
          <p:cNvSpPr txBox="1"/>
          <p:nvPr/>
        </p:nvSpPr>
        <p:spPr>
          <a:xfrm>
            <a:off x="503999" y="1386000"/>
            <a:ext cx="11231999" cy="216000"/>
          </a:xfrm>
          <a:prstGeom prst="rect">
            <a:avLst/>
          </a:prstGeom>
          <a:noFill/>
        </p:spPr>
        <p:txBody>
          <a:bodyPr wrap="square" anchor="t" lIns="54000" rIns="54000"/>
          <a:lstStyle/>
          <a:p>
            <a:pPr algn="ctr"/>
            <a:r>
              <a:rPr sz="1200" b="0">
                <a:solidFill>
                  <a:srgbClr val="EFAC62"/>
                </a:solidFill>
                <a:latin typeface="Helvetica"/>
              </a:rPr>
              <a:t>Tableau 1 : Principaux constats au 15/10/2026</a:t>
            </a:r>
          </a:p>
        </p:txBody>
      </p:sp>
      <p:graphicFrame>
        <p:nvGraphicFramePr>
          <p:cNvPr id="32" name="Table 31"/>
          <p:cNvGraphicFramePr>
            <a:graphicFrameLocks noGrp="1"/>
          </p:cNvGraphicFramePr>
          <p:nvPr/>
        </p:nvGraphicFramePr>
        <p:xfrm>
          <a:off x="503999" y="1655999"/>
          <a:ext cx="11231997" cy="2916000"/>
        </p:xfrm>
        <a:graphic>
          <a:graphicData uri="http://schemas.openxmlformats.org/drawingml/2006/table">
            <a:tbl>
              <a:tblPr firstRow="0" bandRow="0">
                <a:tableStyleId>{5940675A-B579-460E-94D1-54222C63F5DA}</a:tableStyleId>
              </a:tblPr>
              <a:tblGrid>
                <a:gridCol w="1655999"/>
                <a:gridCol w="5903999"/>
                <a:gridCol w="3671999"/>
              </a:tblGrid>
              <a:tr h="324000">
                <a:tc>
                  <a:txBody>
                    <a:bodyPr/>
                    <a:lstStyle/>
                    <a:p>
                      <a:pPr marL="0" indent="0" lvl="0">
                        <a:buNone/>
                      </a:pPr>
                      <a:r>
                        <a:rPr sz="1200" b="1">
                          <a:solidFill>
                            <a:srgbClr val="FFFFFF"/>
                          </a:solidFill>
                          <a:latin typeface="Helvetica"/>
                        </a:rPr>
                        <a:t>Domaine</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Chiffre clé</a:t>
                      </a:r>
                    </a:p>
                  </a:txBody>
                  <a:tcPr marL="43200" marR="43200" marT="14400" marB="14400" anchor="ctr">
                    <a:solidFill>
                      <a:srgbClr val="060606"/>
                    </a:solidFill>
                  </a:tcPr>
                </a:tc>
              </a:tr>
              <a:tr h="324000">
                <a:tc>
                  <a:txBody>
                    <a:bodyPr/>
                    <a:lstStyle/>
                    <a:p>
                      <a:pPr marL="0" indent="0" lvl="0">
                        <a:buNone/>
                      </a:pPr>
                      <a:r>
                        <a:rPr sz="1200" b="1">
                          <a:solidFill>
                            <a:srgbClr val="060606"/>
                          </a:solidFill>
                          <a:latin typeface="Helvetica"/>
                        </a:rPr>
                        <a:t>Données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Les précomptes mensuels ne sont disponibles qu'à partir de 2023 ou 2024 selon le poste. Aucune base de prestations n'a été reçue.</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4 454 416 lignes de précomptes contrôlées</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Cotisations</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Le précompte total est de 5 % du salaire de base, réparti 3,77 % maladie et 1,23 % décès au lieu de 3,5 % et 1,5 %.</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5,00 % = 3,77 % + 1,23 %</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Les prestations maladie comptabilisées augmentent bien plus vite que les cotisations maladie.</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S/C 6,00 % (2021), 73,53 % (2025)</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Provisions</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Les provisions pour prestations à payer ont le même montant de 2020 à 2026.</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4 829 298 290 FCFA</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Épargne</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L'épargne des mutualistes (PEP, EFC) dépasse largement les actifs qui lui sont dédiés.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15 743 516 391 FCFA</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Fonds propres</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Les fonds propres sont négatifs sur toute la période. Les excédents réduisent l'écart.</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-438 242 200 FCFA (2025)</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Grenier</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Le portefeuille de prêts croît très vite et le FPPN le finance en grande partie.</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1 044 302 107 FCFA d'encours</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Actifs</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Une part importante de l'actif est faite de créances et d'investissements peu liquides.</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CMP : 7 083 534 565 FCFA</a:t>
                      </a:r>
                    </a:p>
                  </a:txBody>
                  <a:tcPr marL="43200" marR="43200" marT="14400" marB="14400" anchor="ctr">
                    <a:solidFill>
                      <a:srgbClr val="F2F2F2"/>
                    </a:solidFill>
                  </a:tcPr>
                </a:tc>
              </a:tr>
            </a:tbl>
          </a:graphicData>
        </a:graphic>
      </p:graphicFrame>
    </p:spTree>
    <p:extLst>
      <p:ext uri="{BB962C8B-B14F-4D97-AF65-F5344CB8AC3E}">
        <p14:creationId xmlns:p14="http://schemas.microsoft.com/office/powerpoint/2010/main" val="332846066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Image 4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43" name="ZoneTexte 42">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17" name="Freeform 6"/>
          <p:cNvSpPr>
            <a:spLocks/>
          </p:cNvSpPr>
          <p:nvPr/>
        </p:nvSpPr>
        <p:spPr bwMode="auto">
          <a:xfrm>
            <a:off x="3056825" y="1419474"/>
            <a:ext cx="502110" cy="654841"/>
          </a:xfrm>
          <a:custGeom>
            <a:avLst/>
            <a:gdLst>
              <a:gd name="T0" fmla="*/ 56 w 69"/>
              <a:gd name="T1" fmla="*/ 0 h 90"/>
              <a:gd name="T2" fmla="*/ 0 w 69"/>
              <a:gd name="T3" fmla="*/ 0 h 90"/>
              <a:gd name="T4" fmla="*/ 0 w 69"/>
              <a:gd name="T5" fmla="*/ 90 h 90"/>
              <a:gd name="T6" fmla="*/ 56 w 69"/>
              <a:gd name="T7" fmla="*/ 90 h 90"/>
              <a:gd name="T8" fmla="*/ 69 w 69"/>
              <a:gd name="T9" fmla="*/ 77 h 90"/>
              <a:gd name="T10" fmla="*/ 69 w 69"/>
              <a:gd name="T11" fmla="*/ 13 h 90"/>
              <a:gd name="T12" fmla="*/ 56 w 69"/>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9" h="90">
                <a:moveTo>
                  <a:pt x="56" y="0"/>
                </a:moveTo>
                <a:cubicBezTo>
                  <a:pt x="0" y="0"/>
                  <a:pt x="0" y="0"/>
                  <a:pt x="0" y="0"/>
                </a:cubicBezTo>
                <a:cubicBezTo>
                  <a:pt x="0" y="90"/>
                  <a:pt x="0" y="90"/>
                  <a:pt x="0" y="90"/>
                </a:cubicBezTo>
                <a:cubicBezTo>
                  <a:pt x="56" y="90"/>
                  <a:pt x="56" y="90"/>
                  <a:pt x="56" y="90"/>
                </a:cubicBezTo>
                <a:cubicBezTo>
                  <a:pt x="63" y="90"/>
                  <a:pt x="69" y="84"/>
                  <a:pt x="69" y="77"/>
                </a:cubicBezTo>
                <a:cubicBezTo>
                  <a:pt x="69" y="13"/>
                  <a:pt x="69" y="13"/>
                  <a:pt x="69" y="13"/>
                </a:cubicBezTo>
                <a:cubicBezTo>
                  <a:pt x="69" y="6"/>
                  <a:pt x="63" y="0"/>
                  <a:pt x="56"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A</a:t>
            </a:r>
          </a:p>
        </p:txBody>
      </p:sp>
      <p:sp>
        <p:nvSpPr>
          <p:cNvPr id="18" name="Freeform 7"/>
          <p:cNvSpPr>
            <a:spLocks/>
          </p:cNvSpPr>
          <p:nvPr/>
        </p:nvSpPr>
        <p:spPr bwMode="auto">
          <a:xfrm>
            <a:off x="1361056" y="1419474"/>
            <a:ext cx="1652505" cy="654841"/>
          </a:xfrm>
          <a:custGeom>
            <a:avLst/>
            <a:gdLst>
              <a:gd name="T0" fmla="*/ 0 w 227"/>
              <a:gd name="T1" fmla="*/ 13 h 90"/>
              <a:gd name="T2" fmla="*/ 0 w 227"/>
              <a:gd name="T3" fmla="*/ 77 h 90"/>
              <a:gd name="T4" fmla="*/ 13 w 227"/>
              <a:gd name="T5" fmla="*/ 90 h 90"/>
              <a:gd name="T6" fmla="*/ 227 w 227"/>
              <a:gd name="T7" fmla="*/ 90 h 90"/>
              <a:gd name="T8" fmla="*/ 227 w 227"/>
              <a:gd name="T9" fmla="*/ 0 h 90"/>
              <a:gd name="T10" fmla="*/ 13 w 227"/>
              <a:gd name="T11" fmla="*/ 0 h 90"/>
              <a:gd name="T12" fmla="*/ 0 w 227"/>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7" h="90">
                <a:moveTo>
                  <a:pt x="0" y="13"/>
                </a:moveTo>
                <a:cubicBezTo>
                  <a:pt x="0" y="77"/>
                  <a:pt x="0" y="77"/>
                  <a:pt x="0" y="77"/>
                </a:cubicBezTo>
                <a:cubicBezTo>
                  <a:pt x="0" y="84"/>
                  <a:pt x="6" y="90"/>
                  <a:pt x="13" y="90"/>
                </a:cubicBezTo>
                <a:cubicBezTo>
                  <a:pt x="227" y="90"/>
                  <a:pt x="227" y="90"/>
                  <a:pt x="227" y="90"/>
                </a:cubicBezTo>
                <a:cubicBezTo>
                  <a:pt x="227" y="0"/>
                  <a:pt x="227" y="0"/>
                  <a:pt x="227" y="0"/>
                </a:cubicBezTo>
                <a:cubicBezTo>
                  <a:pt x="13" y="0"/>
                  <a:pt x="13" y="0"/>
                  <a:pt x="13" y="0"/>
                </a:cubicBezTo>
                <a:cubicBezTo>
                  <a:pt x="6" y="0"/>
                  <a:pt x="0" y="6"/>
                  <a:pt x="0"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Sinistralité maladie 2025</a:t>
            </a:r>
          </a:p>
        </p:txBody>
      </p:sp>
      <p:sp>
        <p:nvSpPr>
          <p:cNvPr id="19" name="Freeform 8"/>
          <p:cNvSpPr>
            <a:spLocks/>
          </p:cNvSpPr>
          <p:nvPr/>
        </p:nvSpPr>
        <p:spPr bwMode="auto">
          <a:xfrm>
            <a:off x="1383343" y="2766552"/>
            <a:ext cx="494899" cy="654841"/>
          </a:xfrm>
          <a:custGeom>
            <a:avLst/>
            <a:gdLst>
              <a:gd name="T0" fmla="*/ 12 w 68"/>
              <a:gd name="T1" fmla="*/ 0 h 90"/>
              <a:gd name="T2" fmla="*/ 68 w 68"/>
              <a:gd name="T3" fmla="*/ 0 h 90"/>
              <a:gd name="T4" fmla="*/ 68 w 68"/>
              <a:gd name="T5" fmla="*/ 90 h 90"/>
              <a:gd name="T6" fmla="*/ 12 w 68"/>
              <a:gd name="T7" fmla="*/ 90 h 90"/>
              <a:gd name="T8" fmla="*/ 0 w 68"/>
              <a:gd name="T9" fmla="*/ 77 h 90"/>
              <a:gd name="T10" fmla="*/ 0 w 68"/>
              <a:gd name="T11" fmla="*/ 13 h 90"/>
              <a:gd name="T12" fmla="*/ 12 w 68"/>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8" h="90">
                <a:moveTo>
                  <a:pt x="12" y="0"/>
                </a:moveTo>
                <a:cubicBezTo>
                  <a:pt x="68" y="0"/>
                  <a:pt x="68" y="0"/>
                  <a:pt x="68" y="0"/>
                </a:cubicBezTo>
                <a:cubicBezTo>
                  <a:pt x="68" y="90"/>
                  <a:pt x="68" y="90"/>
                  <a:pt x="68" y="90"/>
                </a:cubicBezTo>
                <a:cubicBezTo>
                  <a:pt x="12" y="90"/>
                  <a:pt x="12" y="90"/>
                  <a:pt x="12" y="90"/>
                </a:cubicBezTo>
                <a:cubicBezTo>
                  <a:pt x="5" y="90"/>
                  <a:pt x="0" y="84"/>
                  <a:pt x="0" y="77"/>
                </a:cubicBezTo>
                <a:cubicBezTo>
                  <a:pt x="0" y="13"/>
                  <a:pt x="0" y="13"/>
                  <a:pt x="0" y="13"/>
                </a:cubicBezTo>
                <a:cubicBezTo>
                  <a:pt x="0" y="6"/>
                  <a:pt x="5" y="0"/>
                  <a:pt x="12"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B</a:t>
            </a:r>
          </a:p>
        </p:txBody>
      </p:sp>
      <p:sp>
        <p:nvSpPr>
          <p:cNvPr id="28" name="Freeform 9"/>
          <p:cNvSpPr>
            <a:spLocks/>
          </p:cNvSpPr>
          <p:nvPr/>
        </p:nvSpPr>
        <p:spPr bwMode="auto">
          <a:xfrm>
            <a:off x="1928716" y="2766552"/>
            <a:ext cx="1645295" cy="654841"/>
          </a:xfrm>
          <a:custGeom>
            <a:avLst/>
            <a:gdLst>
              <a:gd name="T0" fmla="*/ 226 w 226"/>
              <a:gd name="T1" fmla="*/ 13 h 90"/>
              <a:gd name="T2" fmla="*/ 226 w 226"/>
              <a:gd name="T3" fmla="*/ 77 h 90"/>
              <a:gd name="T4" fmla="*/ 213 w 226"/>
              <a:gd name="T5" fmla="*/ 90 h 90"/>
              <a:gd name="T6" fmla="*/ 0 w 226"/>
              <a:gd name="T7" fmla="*/ 90 h 90"/>
              <a:gd name="T8" fmla="*/ 0 w 226"/>
              <a:gd name="T9" fmla="*/ 0 h 90"/>
              <a:gd name="T10" fmla="*/ 213 w 226"/>
              <a:gd name="T11" fmla="*/ 0 h 90"/>
              <a:gd name="T12" fmla="*/ 226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226" y="13"/>
                </a:moveTo>
                <a:cubicBezTo>
                  <a:pt x="226" y="77"/>
                  <a:pt x="226" y="77"/>
                  <a:pt x="226" y="77"/>
                </a:cubicBezTo>
                <a:cubicBezTo>
                  <a:pt x="226" y="84"/>
                  <a:pt x="220" y="90"/>
                  <a:pt x="213" y="90"/>
                </a:cubicBezTo>
                <a:cubicBezTo>
                  <a:pt x="0" y="90"/>
                  <a:pt x="0" y="90"/>
                  <a:pt x="0" y="90"/>
                </a:cubicBezTo>
                <a:cubicBezTo>
                  <a:pt x="0" y="0"/>
                  <a:pt x="0" y="0"/>
                  <a:pt x="0" y="0"/>
                </a:cubicBezTo>
                <a:cubicBezTo>
                  <a:pt x="213" y="0"/>
                  <a:pt x="213" y="0"/>
                  <a:pt x="213" y="0"/>
                </a:cubicBezTo>
                <a:cubicBezTo>
                  <a:pt x="220" y="0"/>
                  <a:pt x="226" y="6"/>
                  <a:pt x="226"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Couverture de l'épargne</a:t>
            </a:r>
          </a:p>
        </p:txBody>
      </p:sp>
      <p:sp>
        <p:nvSpPr>
          <p:cNvPr id="30" name="Freeform 10"/>
          <p:cNvSpPr>
            <a:spLocks/>
          </p:cNvSpPr>
          <p:nvPr/>
        </p:nvSpPr>
        <p:spPr bwMode="auto">
          <a:xfrm>
            <a:off x="3093533" y="3988769"/>
            <a:ext cx="494899" cy="654841"/>
          </a:xfrm>
          <a:custGeom>
            <a:avLst/>
            <a:gdLst>
              <a:gd name="T0" fmla="*/ 55 w 68"/>
              <a:gd name="T1" fmla="*/ 0 h 90"/>
              <a:gd name="T2" fmla="*/ 0 w 68"/>
              <a:gd name="T3" fmla="*/ 0 h 90"/>
              <a:gd name="T4" fmla="*/ 0 w 68"/>
              <a:gd name="T5" fmla="*/ 90 h 90"/>
              <a:gd name="T6" fmla="*/ 55 w 68"/>
              <a:gd name="T7" fmla="*/ 90 h 90"/>
              <a:gd name="T8" fmla="*/ 68 w 68"/>
              <a:gd name="T9" fmla="*/ 77 h 90"/>
              <a:gd name="T10" fmla="*/ 68 w 68"/>
              <a:gd name="T11" fmla="*/ 13 h 90"/>
              <a:gd name="T12" fmla="*/ 55 w 68"/>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8" h="90">
                <a:moveTo>
                  <a:pt x="55" y="0"/>
                </a:moveTo>
                <a:cubicBezTo>
                  <a:pt x="0" y="0"/>
                  <a:pt x="0" y="0"/>
                  <a:pt x="0" y="0"/>
                </a:cubicBezTo>
                <a:cubicBezTo>
                  <a:pt x="0" y="90"/>
                  <a:pt x="0" y="90"/>
                  <a:pt x="0" y="90"/>
                </a:cubicBezTo>
                <a:cubicBezTo>
                  <a:pt x="55" y="90"/>
                  <a:pt x="55" y="90"/>
                  <a:pt x="55" y="90"/>
                </a:cubicBezTo>
                <a:cubicBezTo>
                  <a:pt x="63" y="90"/>
                  <a:pt x="68" y="84"/>
                  <a:pt x="68" y="77"/>
                </a:cubicBezTo>
                <a:cubicBezTo>
                  <a:pt x="68" y="13"/>
                  <a:pt x="68" y="13"/>
                  <a:pt x="68" y="13"/>
                </a:cubicBezTo>
                <a:cubicBezTo>
                  <a:pt x="68" y="5"/>
                  <a:pt x="63" y="0"/>
                  <a:pt x="55"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C</a:t>
            </a:r>
          </a:p>
        </p:txBody>
      </p:sp>
      <p:sp>
        <p:nvSpPr>
          <p:cNvPr id="31" name="Freeform 11"/>
          <p:cNvSpPr>
            <a:spLocks/>
          </p:cNvSpPr>
          <p:nvPr/>
        </p:nvSpPr>
        <p:spPr bwMode="auto">
          <a:xfrm>
            <a:off x="1397764" y="3988769"/>
            <a:ext cx="1644639" cy="654841"/>
          </a:xfrm>
          <a:custGeom>
            <a:avLst/>
            <a:gdLst>
              <a:gd name="T0" fmla="*/ 0 w 226"/>
              <a:gd name="T1" fmla="*/ 13 h 90"/>
              <a:gd name="T2" fmla="*/ 0 w 226"/>
              <a:gd name="T3" fmla="*/ 77 h 90"/>
              <a:gd name="T4" fmla="*/ 13 w 226"/>
              <a:gd name="T5" fmla="*/ 90 h 90"/>
              <a:gd name="T6" fmla="*/ 226 w 226"/>
              <a:gd name="T7" fmla="*/ 90 h 90"/>
              <a:gd name="T8" fmla="*/ 226 w 226"/>
              <a:gd name="T9" fmla="*/ 0 h 90"/>
              <a:gd name="T10" fmla="*/ 13 w 226"/>
              <a:gd name="T11" fmla="*/ 0 h 90"/>
              <a:gd name="T12" fmla="*/ 0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0" y="13"/>
                </a:moveTo>
                <a:cubicBezTo>
                  <a:pt x="0" y="77"/>
                  <a:pt x="0" y="77"/>
                  <a:pt x="0" y="77"/>
                </a:cubicBezTo>
                <a:cubicBezTo>
                  <a:pt x="0" y="84"/>
                  <a:pt x="5" y="90"/>
                  <a:pt x="13" y="90"/>
                </a:cubicBezTo>
                <a:cubicBezTo>
                  <a:pt x="226" y="90"/>
                  <a:pt x="226" y="90"/>
                  <a:pt x="226" y="90"/>
                </a:cubicBezTo>
                <a:cubicBezTo>
                  <a:pt x="226" y="0"/>
                  <a:pt x="226" y="0"/>
                  <a:pt x="226" y="0"/>
                </a:cubicBezTo>
                <a:cubicBezTo>
                  <a:pt x="13" y="0"/>
                  <a:pt x="13" y="0"/>
                  <a:pt x="13" y="0"/>
                </a:cubicBezTo>
                <a:cubicBezTo>
                  <a:pt x="5" y="0"/>
                  <a:pt x="0" y="5"/>
                  <a:pt x="0"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Précompte des prêts</a:t>
            </a:r>
          </a:p>
        </p:txBody>
      </p:sp>
      <p:sp>
        <p:nvSpPr>
          <p:cNvPr id="32" name="Freeform 12"/>
          <p:cNvSpPr>
            <a:spLocks/>
          </p:cNvSpPr>
          <p:nvPr/>
        </p:nvSpPr>
        <p:spPr bwMode="auto">
          <a:xfrm>
            <a:off x="1412185" y="5316630"/>
            <a:ext cx="502110" cy="654841"/>
          </a:xfrm>
          <a:custGeom>
            <a:avLst/>
            <a:gdLst>
              <a:gd name="T0" fmla="*/ 13 w 69"/>
              <a:gd name="T1" fmla="*/ 0 h 90"/>
              <a:gd name="T2" fmla="*/ 69 w 69"/>
              <a:gd name="T3" fmla="*/ 0 h 90"/>
              <a:gd name="T4" fmla="*/ 69 w 69"/>
              <a:gd name="T5" fmla="*/ 90 h 90"/>
              <a:gd name="T6" fmla="*/ 13 w 69"/>
              <a:gd name="T7" fmla="*/ 90 h 90"/>
              <a:gd name="T8" fmla="*/ 0 w 69"/>
              <a:gd name="T9" fmla="*/ 77 h 90"/>
              <a:gd name="T10" fmla="*/ 0 w 69"/>
              <a:gd name="T11" fmla="*/ 13 h 90"/>
              <a:gd name="T12" fmla="*/ 13 w 69"/>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9" h="90">
                <a:moveTo>
                  <a:pt x="13" y="0"/>
                </a:moveTo>
                <a:cubicBezTo>
                  <a:pt x="69" y="0"/>
                  <a:pt x="69" y="0"/>
                  <a:pt x="69" y="0"/>
                </a:cubicBezTo>
                <a:cubicBezTo>
                  <a:pt x="69" y="90"/>
                  <a:pt x="69" y="90"/>
                  <a:pt x="69" y="90"/>
                </a:cubicBezTo>
                <a:cubicBezTo>
                  <a:pt x="13" y="90"/>
                  <a:pt x="13" y="90"/>
                  <a:pt x="13" y="90"/>
                </a:cubicBezTo>
                <a:cubicBezTo>
                  <a:pt x="6" y="90"/>
                  <a:pt x="0" y="84"/>
                  <a:pt x="0" y="77"/>
                </a:cubicBezTo>
                <a:cubicBezTo>
                  <a:pt x="0" y="13"/>
                  <a:pt x="0" y="13"/>
                  <a:pt x="0" y="13"/>
                </a:cubicBezTo>
                <a:cubicBezTo>
                  <a:pt x="0" y="5"/>
                  <a:pt x="6" y="0"/>
                  <a:pt x="13" y="0"/>
                </a:cubicBezTo>
                <a:close/>
              </a:path>
            </a:pathLst>
          </a:custGeom>
          <a:noFill/>
          <a:ln>
            <a:solidFill>
              <a:schemeClr val="accent2">
                <a:lumMod val="60000"/>
                <a:lumOff val="40000"/>
              </a:schemeClr>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D</a:t>
            </a:r>
          </a:p>
        </p:txBody>
      </p:sp>
      <p:sp>
        <p:nvSpPr>
          <p:cNvPr id="33" name="Freeform 13"/>
          <p:cNvSpPr>
            <a:spLocks/>
          </p:cNvSpPr>
          <p:nvPr/>
        </p:nvSpPr>
        <p:spPr bwMode="auto">
          <a:xfrm>
            <a:off x="1958213" y="5316630"/>
            <a:ext cx="1644639" cy="654841"/>
          </a:xfrm>
          <a:custGeom>
            <a:avLst/>
            <a:gdLst>
              <a:gd name="T0" fmla="*/ 226 w 226"/>
              <a:gd name="T1" fmla="*/ 13 h 90"/>
              <a:gd name="T2" fmla="*/ 226 w 226"/>
              <a:gd name="T3" fmla="*/ 77 h 90"/>
              <a:gd name="T4" fmla="*/ 214 w 226"/>
              <a:gd name="T5" fmla="*/ 90 h 90"/>
              <a:gd name="T6" fmla="*/ 0 w 226"/>
              <a:gd name="T7" fmla="*/ 90 h 90"/>
              <a:gd name="T8" fmla="*/ 0 w 226"/>
              <a:gd name="T9" fmla="*/ 0 h 90"/>
              <a:gd name="T10" fmla="*/ 214 w 226"/>
              <a:gd name="T11" fmla="*/ 0 h 90"/>
              <a:gd name="T12" fmla="*/ 226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226" y="13"/>
                </a:moveTo>
                <a:cubicBezTo>
                  <a:pt x="226" y="77"/>
                  <a:pt x="226" y="77"/>
                  <a:pt x="226" y="77"/>
                </a:cubicBezTo>
                <a:cubicBezTo>
                  <a:pt x="226" y="84"/>
                  <a:pt x="221" y="90"/>
                  <a:pt x="214" y="90"/>
                </a:cubicBezTo>
                <a:cubicBezTo>
                  <a:pt x="0" y="90"/>
                  <a:pt x="0" y="90"/>
                  <a:pt x="0" y="90"/>
                </a:cubicBezTo>
                <a:cubicBezTo>
                  <a:pt x="0" y="0"/>
                  <a:pt x="0" y="0"/>
                  <a:pt x="0" y="0"/>
                </a:cubicBezTo>
                <a:cubicBezTo>
                  <a:pt x="214" y="0"/>
                  <a:pt x="214" y="0"/>
                  <a:pt x="214" y="0"/>
                </a:cubicBezTo>
                <a:cubicBezTo>
                  <a:pt x="221" y="0"/>
                  <a:pt x="226" y="5"/>
                  <a:pt x="226" y="13"/>
                </a:cubicBezTo>
                <a:close/>
              </a:path>
            </a:pathLst>
          </a:custGeom>
          <a:noFill/>
          <a:ln>
            <a:solidFill>
              <a:schemeClr val="accent2">
                <a:lumMod val="60000"/>
                <a:lumOff val="40000"/>
              </a:schemeClr>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Taux de cotisation</a:t>
            </a:r>
          </a:p>
        </p:txBody>
      </p:sp>
      <p:sp>
        <p:nvSpPr>
          <p:cNvPr id="38" name="TextBox 31"/>
          <p:cNvSpPr txBox="1">
            <a:spLocks noChangeArrowheads="1"/>
          </p:cNvSpPr>
          <p:nvPr/>
        </p:nvSpPr>
        <p:spPr bwMode="auto">
          <a:xfrm>
            <a:off x="4139775" y="1427111"/>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73,53 %</a:t>
            </a:r>
          </a:p>
        </p:txBody>
      </p:sp>
      <p:sp>
        <p:nvSpPr>
          <p:cNvPr id="39" name="TextBox 96"/>
          <p:cNvSpPr txBox="1"/>
          <p:nvPr/>
        </p:nvSpPr>
        <p:spPr>
          <a:xfrm>
            <a:off x="5621262" y="1350000"/>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Prestations maladie comptabilisées rapportées aux cotisations maladie de 2025. Ce ratio était de 6,00 % en 2021.</a:t>
            </a:r>
          </a:p>
        </p:txBody>
      </p:sp>
      <p:sp>
        <p:nvSpPr>
          <p:cNvPr id="42" name="TextBox 31"/>
          <p:cNvSpPr txBox="1">
            <a:spLocks noChangeArrowheads="1"/>
          </p:cNvSpPr>
          <p:nvPr/>
        </p:nvSpPr>
        <p:spPr bwMode="auto">
          <a:xfrm>
            <a:off x="4132468" y="2803714"/>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16,28 %</a:t>
            </a:r>
          </a:p>
        </p:txBody>
      </p:sp>
      <p:sp>
        <p:nvSpPr>
          <p:cNvPr id="46" name="TextBox 31"/>
          <p:cNvSpPr txBox="1">
            <a:spLocks noChangeArrowheads="1"/>
          </p:cNvSpPr>
          <p:nvPr/>
        </p:nvSpPr>
        <p:spPr bwMode="auto">
          <a:xfrm>
            <a:off x="4135359" y="4021323"/>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84,55 %</a:t>
            </a:r>
          </a:p>
        </p:txBody>
      </p:sp>
      <p:sp>
        <p:nvSpPr>
          <p:cNvPr id="50" name="TextBox 31"/>
          <p:cNvSpPr txBox="1">
            <a:spLocks noChangeArrowheads="1"/>
          </p:cNvSpPr>
          <p:nvPr/>
        </p:nvSpPr>
        <p:spPr bwMode="auto">
          <a:xfrm>
            <a:off x="4135359" y="5389553"/>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5,00 %</a:t>
            </a:r>
          </a:p>
        </p:txBody>
      </p:sp>
      <p:pic>
        <p:nvPicPr>
          <p:cNvPr id="5" name="Imag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3942" y="1459698"/>
            <a:ext cx="491517" cy="491517"/>
          </a:xfrm>
          <a:prstGeom prst="rect">
            <a:avLst/>
          </a:prstGeom>
        </p:spPr>
      </p:pic>
      <p:pic>
        <p:nvPicPr>
          <p:cNvPr id="6" name="Imag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85442" y="2848158"/>
            <a:ext cx="514311" cy="514311"/>
          </a:xfrm>
          <a:prstGeom prst="rect">
            <a:avLst/>
          </a:prstGeom>
        </p:spPr>
      </p:pic>
      <p:pic>
        <p:nvPicPr>
          <p:cNvPr id="7" name="Imag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24788" y="4050954"/>
            <a:ext cx="538212" cy="544470"/>
          </a:xfrm>
          <a:prstGeom prst="rect">
            <a:avLst/>
          </a:prstGeom>
        </p:spPr>
      </p:pic>
      <p:pic>
        <p:nvPicPr>
          <p:cNvPr id="8" name="Imag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95657" y="5362112"/>
            <a:ext cx="529802" cy="541319"/>
          </a:xfrm>
          <a:prstGeom prst="rect">
            <a:avLst/>
          </a:prstGeom>
        </p:spPr>
      </p:pic>
      <p:sp>
        <p:nvSpPr>
          <p:cNvPr id="36" name="TextBox 96"/>
          <p:cNvSpPr txBox="1"/>
          <p:nvPr/>
        </p:nvSpPr>
        <p:spPr>
          <a:xfrm>
            <a:off x="5621262" y="2728901"/>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Banques, dépôts à terme et fonds dédiés à l'épargne, rapportés à l'épargne due aux mutualistes au 31/08/2026.</a:t>
            </a:r>
          </a:p>
        </p:txBody>
      </p:sp>
      <p:cxnSp>
        <p:nvCxnSpPr>
          <p:cNvPr id="53" name="Straight Connector 2"/>
          <p:cNvCxnSpPr/>
          <p:nvPr/>
        </p:nvCxnSpPr>
        <p:spPr>
          <a:xfrm>
            <a:off x="5419816" y="1350000"/>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59" name="Straight Connector 41"/>
          <p:cNvCxnSpPr/>
          <p:nvPr/>
        </p:nvCxnSpPr>
        <p:spPr>
          <a:xfrm>
            <a:off x="10756527" y="1350000"/>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37" name="Straight Connector 2"/>
          <p:cNvCxnSpPr/>
          <p:nvPr/>
        </p:nvCxnSpPr>
        <p:spPr>
          <a:xfrm>
            <a:off x="5419816" y="2638944"/>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40" name="Straight Connector 41"/>
          <p:cNvCxnSpPr/>
          <p:nvPr/>
        </p:nvCxnSpPr>
        <p:spPr>
          <a:xfrm>
            <a:off x="10756527" y="2638944"/>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41" name="TextBox 96"/>
          <p:cNvSpPr txBox="1"/>
          <p:nvPr/>
        </p:nvSpPr>
        <p:spPr>
          <a:xfrm>
            <a:off x="5621262" y="4021323"/>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Précomptes Grenier (poste 9X4) rapportés aux échéances des prêts en cours, août 2026.</a:t>
            </a:r>
          </a:p>
        </p:txBody>
      </p:sp>
      <p:cxnSp>
        <p:nvCxnSpPr>
          <p:cNvPr id="44" name="Straight Connector 2"/>
          <p:cNvCxnSpPr/>
          <p:nvPr/>
        </p:nvCxnSpPr>
        <p:spPr>
          <a:xfrm>
            <a:off x="5419816" y="3931367"/>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45" name="Straight Connector 41"/>
          <p:cNvCxnSpPr/>
          <p:nvPr/>
        </p:nvCxnSpPr>
        <p:spPr>
          <a:xfrm>
            <a:off x="10756527" y="3931367"/>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48" name="TextBox 96"/>
          <p:cNvSpPr txBox="1"/>
          <p:nvPr/>
        </p:nvSpPr>
        <p:spPr>
          <a:xfrm>
            <a:off x="5621262" y="5313746"/>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Précompte total sur le salaire de base : 3,77 % maladie et 1,23 % décès, sur 209 670 lignes.</a:t>
            </a:r>
          </a:p>
        </p:txBody>
      </p:sp>
      <p:cxnSp>
        <p:nvCxnSpPr>
          <p:cNvPr id="49" name="Straight Connector 2"/>
          <p:cNvCxnSpPr/>
          <p:nvPr/>
        </p:nvCxnSpPr>
        <p:spPr>
          <a:xfrm>
            <a:off x="5419816" y="5223789"/>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63" name="Straight Connector 41"/>
          <p:cNvCxnSpPr/>
          <p:nvPr/>
        </p:nvCxnSpPr>
        <p:spPr>
          <a:xfrm>
            <a:off x="10756527" y="5223789"/>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6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indicateurs clés</a:t>
            </a:r>
          </a:p>
        </p:txBody>
      </p:sp>
      <p:sp>
        <p:nvSpPr>
          <p:cNvPr id="6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ratios résument la situation technique et financière du FPPN</a:t>
            </a:r>
          </a:p>
        </p:txBody>
      </p:sp>
      <p:sp>
        <p:nvSpPr>
          <p:cNvPr id="6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Sinistralité maladie, couverture de l'épargne, précompte des prêts et taux de cotisation, mesurés sur les données reçues</a:t>
            </a:r>
          </a:p>
        </p:txBody>
      </p:sp>
      <p:sp>
        <p:nvSpPr>
          <p:cNvPr id="6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Tree>
    <p:extLst>
      <p:ext uri="{BB962C8B-B14F-4D97-AF65-F5344CB8AC3E}">
        <p14:creationId xmlns:p14="http://schemas.microsoft.com/office/powerpoint/2010/main" val="166854283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Fonctionnement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et l'épargne financent prestations, prêts et investissements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 3 417 551 722 FCFA de cotisations, 1 964 772 027 FCFA de prestations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1" name="Rounded Rectangle 30"/>
          <p:cNvSpPr/>
          <p:nvPr/>
        </p:nvSpPr>
        <p:spPr>
          <a:xfrm>
            <a:off x="503999" y="2736000"/>
            <a:ext cx="2160000" cy="1152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Mutualistes</a:t>
            </a:r>
          </a:p>
          <a:p>
            <a:pPr algn="ctr"/>
            <a:r>
              <a:rPr sz="1400" b="0">
                <a:solidFill>
                  <a:srgbClr val="FFFFFF"/>
                </a:solidFill>
                <a:latin typeface="Helvetica"/>
              </a:rPr>
              <a:t>actifs et retraités</a:t>
            </a:r>
          </a:p>
        </p:txBody>
      </p:sp>
      <p:sp>
        <p:nvSpPr>
          <p:cNvPr id="32" name="Rounded Rectangle 31"/>
          <p:cNvSpPr/>
          <p:nvPr/>
        </p:nvSpPr>
        <p:spPr>
          <a:xfrm>
            <a:off x="3240000" y="1800000"/>
            <a:ext cx="2232000" cy="864000"/>
          </a:xfrm>
          <a:prstGeom prst="roundRect">
            <a:avLst/>
          </a:prstGeom>
          <a:solidFill>
            <a:srgbClr val="F2F2F2"/>
          </a:solid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Solde (actifs)</a:t>
            </a:r>
          </a:p>
        </p:txBody>
      </p:sp>
      <p:sp>
        <p:nvSpPr>
          <p:cNvPr id="33" name="Rounded Rectangle 32"/>
          <p:cNvSpPr/>
          <p:nvPr/>
        </p:nvSpPr>
        <p:spPr>
          <a:xfrm>
            <a:off x="3240000" y="3960000"/>
            <a:ext cx="2232000" cy="864000"/>
          </a:xfrm>
          <a:prstGeom prst="roundRect">
            <a:avLst/>
          </a:prstGeom>
          <a:solidFill>
            <a:srgbClr val="F2F2F2"/>
          </a:solid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CGRAE (retraités)</a:t>
            </a:r>
          </a:p>
        </p:txBody>
      </p:sp>
      <p:sp>
        <p:nvSpPr>
          <p:cNvPr id="34" name="Rounded Rectangle 33"/>
          <p:cNvSpPr/>
          <p:nvPr/>
        </p:nvSpPr>
        <p:spPr>
          <a:xfrm>
            <a:off x="6048000" y="2592000"/>
            <a:ext cx="2376000" cy="1440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060606"/>
                </a:solidFill>
                <a:latin typeface="Helvetica"/>
              </a:rPr>
              <a:t>FPPN</a:t>
            </a:r>
          </a:p>
          <a:p>
            <a:pPr algn="ctr"/>
            <a:r>
              <a:rPr sz="1400" b="0">
                <a:solidFill>
                  <a:srgbClr val="060606"/>
                </a:solidFill>
                <a:latin typeface="Helvetica"/>
              </a:rPr>
              <a:t>Cotisations 3 417 551 722 FCFA</a:t>
            </a:r>
          </a:p>
        </p:txBody>
      </p:sp>
      <p:sp>
        <p:nvSpPr>
          <p:cNvPr id="35" name="Rounded Rectangle 34"/>
          <p:cNvSpPr/>
          <p:nvPr/>
        </p:nvSpPr>
        <p:spPr>
          <a:xfrm>
            <a:off x="9072000" y="1007999"/>
            <a:ext cx="2664000" cy="827999"/>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Prestations maladie</a:t>
            </a:r>
          </a:p>
          <a:p>
            <a:pPr algn="ctr"/>
            <a:r>
              <a:rPr sz="1000" b="0">
                <a:solidFill>
                  <a:srgbClr val="FFFFFF"/>
                </a:solidFill>
                <a:latin typeface="Helvetica"/>
              </a:rPr>
              <a:t>1 771 635 361 FCFA</a:t>
            </a:r>
          </a:p>
        </p:txBody>
      </p:sp>
      <p:cxnSp>
        <p:nvCxnSpPr>
          <p:cNvPr id="36" name="Connector 35"/>
          <p:cNvCxnSpPr/>
          <p:nvPr/>
        </p:nvCxnSpPr>
        <p:spPr>
          <a:xfrm flipV="1">
            <a:off x="8424000" y="1404000"/>
            <a:ext cx="648000" cy="1907999"/>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072000" y="2051999"/>
            <a:ext cx="2664000" cy="827999"/>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Prestations décès</a:t>
            </a:r>
          </a:p>
          <a:p>
            <a:pPr algn="ctr"/>
            <a:r>
              <a:rPr sz="1000" b="0">
                <a:solidFill>
                  <a:srgbClr val="FFFFFF"/>
                </a:solidFill>
                <a:latin typeface="Helvetica"/>
              </a:rPr>
              <a:t>193 136 666 FCFA</a:t>
            </a:r>
          </a:p>
        </p:txBody>
      </p:sp>
      <p:cxnSp>
        <p:nvCxnSpPr>
          <p:cNvPr id="38" name="Connector 37"/>
          <p:cNvCxnSpPr/>
          <p:nvPr/>
        </p:nvCxnSpPr>
        <p:spPr>
          <a:xfrm flipV="1">
            <a:off x="8424000" y="2448000"/>
            <a:ext cx="648000" cy="863999"/>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072000" y="3096000"/>
            <a:ext cx="2664000" cy="827999"/>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Épargne PEP et EFC</a:t>
            </a:r>
          </a:p>
          <a:p>
            <a:pPr algn="ctr"/>
            <a:r>
              <a:rPr sz="1000" b="0">
                <a:solidFill>
                  <a:srgbClr val="FFFFFF"/>
                </a:solidFill>
                <a:latin typeface="Helvetica"/>
              </a:rPr>
              <a:t>15 743 516 391 FCFA</a:t>
            </a:r>
          </a:p>
        </p:txBody>
      </p:sp>
      <p:cxnSp>
        <p:nvCxnSpPr>
          <p:cNvPr id="40" name="Connector 39"/>
          <p:cNvCxnSpPr/>
          <p:nvPr/>
        </p:nvCxnSpPr>
        <p:spPr>
          <a:xfrm>
            <a:off x="8424000" y="3311999"/>
            <a:ext cx="648000" cy="180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9072000" y="4140000"/>
            <a:ext cx="2664000" cy="827999"/>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Prêts du Grenier</a:t>
            </a:r>
          </a:p>
          <a:p>
            <a:pPr algn="ctr"/>
            <a:r>
              <a:rPr sz="1000" b="0">
                <a:solidFill>
                  <a:srgbClr val="FFFFFF"/>
                </a:solidFill>
                <a:latin typeface="Helvetica"/>
              </a:rPr>
              <a:t>915 477 260 FCFA</a:t>
            </a:r>
          </a:p>
        </p:txBody>
      </p:sp>
      <p:cxnSp>
        <p:nvCxnSpPr>
          <p:cNvPr id="42" name="Connector 41"/>
          <p:cNvCxnSpPr/>
          <p:nvPr/>
        </p:nvCxnSpPr>
        <p:spPr>
          <a:xfrm>
            <a:off x="8424000" y="3311999"/>
            <a:ext cx="648000" cy="1224001"/>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072000" y="5184000"/>
            <a:ext cx="2664000" cy="827999"/>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CMP et terrains</a:t>
            </a:r>
          </a:p>
          <a:p>
            <a:pPr algn="ctr"/>
            <a:r>
              <a:rPr sz="1000" b="0">
                <a:solidFill>
                  <a:srgbClr val="FFFFFF"/>
                </a:solidFill>
                <a:latin typeface="Helvetica"/>
              </a:rPr>
              <a:t>12 329 431 315 FCFA</a:t>
            </a:r>
          </a:p>
        </p:txBody>
      </p:sp>
      <p:cxnSp>
        <p:nvCxnSpPr>
          <p:cNvPr id="44" name="Connector 43"/>
          <p:cNvCxnSpPr/>
          <p:nvPr/>
        </p:nvCxnSpPr>
        <p:spPr>
          <a:xfrm>
            <a:off x="8424000" y="3311999"/>
            <a:ext cx="648000" cy="2268001"/>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2664000" y="2232000"/>
            <a:ext cx="576000" cy="864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664000" y="3528000"/>
            <a:ext cx="576000" cy="864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472000" y="2232000"/>
            <a:ext cx="576000" cy="792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5472000" y="3600000"/>
            <a:ext cx="576000" cy="792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03999" y="5112000"/>
            <a:ext cx="5400000" cy="864000"/>
          </a:xfrm>
          <a:prstGeom prst="rect">
            <a:avLst/>
          </a:prstGeom>
          <a:noFill/>
        </p:spPr>
        <p:txBody>
          <a:bodyPr wrap="square" anchor="t" lIns="54000" rIns="54000"/>
          <a:lstStyle/>
          <a:p>
            <a:pPr algn="l"/>
            <a:r>
              <a:rPr sz="1100" b="0">
                <a:solidFill>
                  <a:srgbClr val="53565A"/>
                </a:solidFill>
                <a:latin typeface="Helvetica"/>
              </a:rPr>
              <a:t>Flux 2025 (comptabilité). Épargne, Grenier, CMP et terrains : soldes au 31/08/2026.</a:t>
            </a:r>
          </a:p>
          <a:p>
            <a:pPr algn="l"/>
            <a:r>
              <a:rPr sz="1100" b="0">
                <a:solidFill>
                  <a:srgbClr val="53565A"/>
                </a:solidFill>
                <a:latin typeface="Helvetica"/>
              </a:rPr>
              <a:t>Précompte : retenue à la source sur salaire ou pension.</a:t>
            </a:r>
          </a:p>
        </p:txBody>
      </p:sp>
    </p:spTree>
    <p:extLst>
      <p:ext uri="{BB962C8B-B14F-4D97-AF65-F5344CB8AC3E}">
        <p14:creationId xmlns:p14="http://schemas.microsoft.com/office/powerpoint/2010/main" val="175619526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7"/>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9" name="ZoneTexte 28">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33" name="Image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5360" y="1696495"/>
            <a:ext cx="561464" cy="561464"/>
          </a:xfrm>
          <a:prstGeom prst="rect">
            <a:avLst/>
          </a:prstGeom>
        </p:spPr>
      </p:pic>
      <p:pic>
        <p:nvPicPr>
          <p:cNvPr id="34" name="Image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28579" y="1762812"/>
            <a:ext cx="542282" cy="542282"/>
          </a:xfrm>
          <a:prstGeom prst="rect">
            <a:avLst/>
          </a:prstGeom>
        </p:spPr>
      </p:pic>
      <p:pic>
        <p:nvPicPr>
          <p:cNvPr id="35" name="Image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5360" y="3093364"/>
            <a:ext cx="698701" cy="706825"/>
          </a:xfrm>
          <a:prstGeom prst="rect">
            <a:avLst/>
          </a:prstGeom>
        </p:spPr>
      </p:pic>
      <p:pic>
        <p:nvPicPr>
          <p:cNvPr id="36" name="Image 3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59430" y="3093364"/>
            <a:ext cx="611431" cy="624722"/>
          </a:xfrm>
          <a:prstGeom prst="rect">
            <a:avLst/>
          </a:prstGeom>
        </p:spPr>
      </p:pic>
      <p:pic>
        <p:nvPicPr>
          <p:cNvPr id="44" name="Image 4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35360" y="4454973"/>
            <a:ext cx="678177" cy="678177"/>
          </a:xfrm>
          <a:prstGeom prst="rect">
            <a:avLst/>
          </a:prstGeom>
        </p:spPr>
      </p:pic>
      <p:pic>
        <p:nvPicPr>
          <p:cNvPr id="45" name="Image 4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272615" y="4594783"/>
            <a:ext cx="598246" cy="598246"/>
          </a:xfrm>
          <a:prstGeom prst="rect">
            <a:avLst/>
          </a:prstGeom>
        </p:spPr>
      </p:pic>
      <p:sp>
        <p:nvSpPr>
          <p:cNvPr id="17" name="TextBox 49"/>
          <p:cNvSpPr txBox="1"/>
          <p:nvPr/>
        </p:nvSpPr>
        <p:spPr>
          <a:xfrm>
            <a:off x="7085829" y="1404489"/>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Sinistralité en hausse</a:t>
            </a:r>
          </a:p>
          <a:p>
            <a:r>
              <a:rPr lang="fr-CI" sz="1200" noProof="0">
                <a:latin typeface="Helvetica" panose="020B0604020202020204" pitchFamily="34" charset="0"/>
                <a:ea typeface="Open Sans Light" panose="020B0306030504020204" pitchFamily="34" charset="0"/>
                <a:cs typeface="Helvetica" panose="020B0604020202020204" pitchFamily="34" charset="0"/>
              </a:rPr>
              <a:t>S/C maladie de 6,00 % en 2021 à 73,53 % en 2025 (partie 5).</a:t>
            </a:r>
            <a:endParaRPr lang="fr-CI" sz="1200" noProof="0">
              <a:latin typeface="Helvetica" panose="020B0604020202020204" pitchFamily="34" charset="0"/>
              <a:cs typeface="Helvetica" panose="020B0604020202020204" pitchFamily="34" charset="0"/>
            </a:endParaRPr>
          </a:p>
        </p:txBody>
      </p:sp>
      <p:sp>
        <p:nvSpPr>
          <p:cNvPr id="20" name="TextBox 49"/>
          <p:cNvSpPr txBox="1"/>
          <p:nvPr/>
        </p:nvSpPr>
        <p:spPr>
          <a:xfrm>
            <a:off x="1932614" y="2848076"/>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Provisions figées</a:t>
            </a:r>
          </a:p>
          <a:p>
            <a:r>
              <a:rPr lang="fr-CI" sz="1200" noProof="0">
                <a:latin typeface="Helvetica" panose="020B0604020202020204" pitchFamily="34" charset="0"/>
                <a:ea typeface="Open Sans Light" panose="020B0306030504020204" pitchFamily="34" charset="0"/>
                <a:cs typeface="Helvetica" panose="020B0604020202020204" pitchFamily="34" charset="0"/>
              </a:rPr>
              <a:t>Même montant de 2020 à 2026, alors que les prestations ont été multipliées par 3,90 (partie 9).</a:t>
            </a:r>
            <a:endParaRPr lang="fr-CI" sz="1200" noProof="0">
              <a:latin typeface="Helvetica" panose="020B0604020202020204" pitchFamily="34" charset="0"/>
              <a:cs typeface="Helvetica" panose="020B0604020202020204" pitchFamily="34" charset="0"/>
            </a:endParaRPr>
          </a:p>
        </p:txBody>
      </p:sp>
      <p:sp>
        <p:nvSpPr>
          <p:cNvPr id="21" name="TextBox 49"/>
          <p:cNvSpPr txBox="1"/>
          <p:nvPr/>
        </p:nvSpPr>
        <p:spPr>
          <a:xfrm>
            <a:off x="7085829" y="2818934"/>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Épargne non adossée</a:t>
            </a:r>
          </a:p>
          <a:p>
            <a:r>
              <a:rPr lang="fr-CI" sz="1200" noProof="0">
                <a:latin typeface="Helvetica" panose="020B0604020202020204" pitchFamily="34" charset="0"/>
                <a:ea typeface="Open Sans Light" panose="020B0306030504020204" pitchFamily="34" charset="0"/>
                <a:cs typeface="Helvetica" panose="020B0604020202020204" pitchFamily="34" charset="0"/>
              </a:rPr>
              <a:t>16,28 % seulement de l'épargne est couverte par des actifs dédiés (partie 6).</a:t>
            </a:r>
            <a:endParaRPr lang="fr-CI" sz="1200" noProof="0">
              <a:latin typeface="Helvetica" panose="020B0604020202020204" pitchFamily="34" charset="0"/>
              <a:cs typeface="Helvetica" panose="020B0604020202020204" pitchFamily="34" charset="0"/>
            </a:endParaRPr>
          </a:p>
        </p:txBody>
      </p:sp>
      <p:sp>
        <p:nvSpPr>
          <p:cNvPr id="24" name="TextBox 49"/>
          <p:cNvSpPr txBox="1"/>
          <p:nvPr/>
        </p:nvSpPr>
        <p:spPr>
          <a:xfrm>
            <a:off x="1932614" y="4227172"/>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Fonds propres négatifs</a:t>
            </a:r>
          </a:p>
          <a:p>
            <a:r>
              <a:rPr lang="fr-CI" sz="1200" noProof="0">
                <a:latin typeface="Helvetica" panose="020B0604020202020204" pitchFamily="34" charset="0"/>
                <a:ea typeface="Open Sans Light" panose="020B0306030504020204" pitchFamily="34" charset="0"/>
                <a:cs typeface="Helvetica" panose="020B0604020202020204" pitchFamily="34" charset="0"/>
              </a:rPr>
              <a:t>De -6 743 081 733 FCFA en 2020 à -438 242 200 FCFA en 2025 (partie 9).</a:t>
            </a:r>
            <a:endParaRPr lang="fr-CI" sz="1200" noProof="0">
              <a:latin typeface="Helvetica" panose="020B0604020202020204" pitchFamily="34" charset="0"/>
              <a:cs typeface="Helvetica" panose="020B0604020202020204" pitchFamily="34" charset="0"/>
            </a:endParaRPr>
          </a:p>
        </p:txBody>
      </p:sp>
      <p:sp>
        <p:nvSpPr>
          <p:cNvPr id="25" name="TextBox 49"/>
          <p:cNvSpPr txBox="1"/>
          <p:nvPr/>
        </p:nvSpPr>
        <p:spPr>
          <a:xfrm>
            <a:off x="7085829" y="4198030"/>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Actifs peu liquides</a:t>
            </a:r>
          </a:p>
          <a:p>
            <a:r>
              <a:rPr lang="fr-CI" sz="1200" noProof="0">
                <a:latin typeface="Helvetica" panose="020B0604020202020204" pitchFamily="34" charset="0"/>
                <a:ea typeface="Open Sans Light" panose="020B0306030504020204" pitchFamily="34" charset="0"/>
                <a:cs typeface="Helvetica" panose="020B0604020202020204" pitchFamily="34" charset="0"/>
              </a:rPr>
              <a:t>CMP, terrains, créance sur l'Hôpital de la Police : l'essentiel de l'actif n'est pas mobilisable rapidement (partie 9).</a:t>
            </a:r>
            <a:endParaRPr lang="fr-CI" sz="1200" noProof="0">
              <a:latin typeface="Helvetica" panose="020B0604020202020204" pitchFamily="34" charset="0"/>
              <a:cs typeface="Helvetica" panose="020B0604020202020204" pitchFamily="34" charset="0"/>
            </a:endParaRPr>
          </a:p>
        </p:txBody>
      </p:sp>
      <p:sp>
        <p:nvSpPr>
          <p:cNvPr id="30" name="TextBox 49"/>
          <p:cNvSpPr txBox="1"/>
          <p:nvPr/>
        </p:nvSpPr>
        <p:spPr>
          <a:xfrm>
            <a:off x="1932614" y="1433631"/>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Données incomplètes</a:t>
            </a:r>
          </a:p>
          <a:p>
            <a:r>
              <a:rPr lang="fr-CI" sz="1200" noProof="0">
                <a:latin typeface="Helvetica" panose="020B0604020202020204" pitchFamily="34" charset="0"/>
                <a:ea typeface="Open Sans Light" panose="020B0306030504020204" pitchFamily="34" charset="0"/>
                <a:cs typeface="Helvetica" panose="020B0604020202020204" pitchFamily="34" charset="0"/>
              </a:rPr>
              <a:t>Pas de base de prestations, pas de date de naissance. Les analyses actuarielles centrales sont en attente (parties 3 et 13).</a:t>
            </a:r>
            <a:endParaRPr lang="fr-CI" sz="1200" noProof="0">
              <a:latin typeface="Helvetica" panose="020B0604020202020204" pitchFamily="34" charset="0"/>
              <a:cs typeface="Helvetica" panose="020B0604020202020204" pitchFamily="34" charset="0"/>
            </a:endParaRPr>
          </a:p>
        </p:txBody>
      </p:sp>
      <p:sp>
        <p:nvSpPr>
          <p:cNvPr id="46"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Six constats majeurs</a:t>
            </a:r>
          </a:p>
        </p:txBody>
      </p:sp>
      <p:sp>
        <p:nvSpPr>
          <p:cNvPr id="47"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fragilités portent sur les données, les provisions, l'épargne et les actifs</a:t>
            </a:r>
          </a:p>
        </p:txBody>
      </p:sp>
      <p:sp>
        <p:nvSpPr>
          <p:cNvPr id="48"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constat est démontré dans la partie indiquée, à partir des fichiers du FPPN</a:t>
            </a:r>
          </a:p>
        </p:txBody>
      </p:sp>
      <p:sp>
        <p:nvSpPr>
          <p:cNvPr id="49"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Tree>
    <p:extLst>
      <p:ext uri="{BB962C8B-B14F-4D97-AF65-F5344CB8AC3E}">
        <p14:creationId xmlns:p14="http://schemas.microsoft.com/office/powerpoint/2010/main" val="33558344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Graphiques clés (1/2)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maladie monte pendant que l'épargne reste peu couverte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2025 : 73,53 %. Couverture de l'épargne au 31/08/2026 : 16,28 %</a:t>
            </a:r>
          </a:p>
        </p:txBody>
      </p:sp>
      <p:sp>
        <p:nvSpPr>
          <p:cNvPr id="30" name="TextBox 29"/>
          <p:cNvSpPr txBox="1"/>
          <p:nvPr/>
        </p:nvSpPr>
        <p:spPr>
          <a:xfrm>
            <a:off x="50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1 : Ratio S/C maladie (prestations / cotisations)</a:t>
            </a:r>
          </a:p>
        </p:txBody>
      </p:sp>
      <p:sp>
        <p:nvSpPr>
          <p:cNvPr id="31" name="TextBox 30"/>
          <p:cNvSpPr txBox="1"/>
          <p:nvPr/>
        </p:nvSpPr>
        <p:spPr>
          <a:xfrm>
            <a:off x="50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a:t>
            </a:r>
          </a:p>
        </p:txBody>
      </p:sp>
      <p:graphicFrame>
        <p:nvGraphicFramePr>
          <p:cNvPr id="32" name="Chart 31"/>
          <p:cNvGraphicFramePr>
            <a:graphicFrameLocks noGrp="1"/>
          </p:cNvGraphicFramePr>
          <p:nvPr/>
        </p:nvGraphicFramePr>
        <p:xfrm>
          <a:off x="503999" y="1782000"/>
          <a:ext cx="547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626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2 : Épargne due et actifs dédiés</a:t>
            </a:r>
          </a:p>
        </p:txBody>
      </p:sp>
      <p:sp>
        <p:nvSpPr>
          <p:cNvPr id="34" name="TextBox 33"/>
          <p:cNvSpPr txBox="1"/>
          <p:nvPr/>
        </p:nvSpPr>
        <p:spPr>
          <a:xfrm>
            <a:off x="626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5" name="Chart 34"/>
          <p:cNvGraphicFramePr>
            <a:graphicFrameLocks noGrp="1"/>
          </p:cNvGraphicFramePr>
          <p:nvPr/>
        </p:nvGraphicFramePr>
        <p:xfrm>
          <a:off x="6263999" y="1782000"/>
          <a:ext cx="5472000" cy="4284000"/>
        </p:xfrm>
        <a:graphic>
          <a:graphicData uri="http://schemas.openxmlformats.org/drawingml/2006/chart">
            <c:chart xmlns:c="http://schemas.openxmlformats.org/drawingml/2006/chart" r:id="rId7"/>
          </a:graphicData>
        </a:graphic>
      </p:graphicFrame>
      <p:sp>
        <p:nvSpPr>
          <p:cNvPr id="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Tree>
    <p:extLst>
      <p:ext uri="{BB962C8B-B14F-4D97-AF65-F5344CB8AC3E}">
        <p14:creationId xmlns:p14="http://schemas.microsoft.com/office/powerpoint/2010/main" val="200526419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Graphiques clés (2/2)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fonds propres restent négatifs et l'encours de prêts explose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2025 : -438 242 200 FCFA. Encours du Grenier au 31/08/2026 : 1 044 302 107 FCFA</a:t>
            </a:r>
          </a:p>
        </p:txBody>
      </p:sp>
      <p:sp>
        <p:nvSpPr>
          <p:cNvPr id="30" name="TextBox 29"/>
          <p:cNvSpPr txBox="1"/>
          <p:nvPr/>
        </p:nvSpPr>
        <p:spPr>
          <a:xfrm>
            <a:off x="50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3 : Fonds propres</a:t>
            </a:r>
          </a:p>
        </p:txBody>
      </p:sp>
      <p:sp>
        <p:nvSpPr>
          <p:cNvPr id="31" name="TextBox 30"/>
          <p:cNvSpPr txBox="1"/>
          <p:nvPr/>
        </p:nvSpPr>
        <p:spPr>
          <a:xfrm>
            <a:off x="50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47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626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4 : Encours des prêts du Grenier</a:t>
            </a:r>
          </a:p>
        </p:txBody>
      </p:sp>
      <p:sp>
        <p:nvSpPr>
          <p:cNvPr id="34" name="TextBox 33"/>
          <p:cNvSpPr txBox="1"/>
          <p:nvPr/>
        </p:nvSpPr>
        <p:spPr>
          <a:xfrm>
            <a:off x="626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5" name="Chart 34"/>
          <p:cNvGraphicFramePr>
            <a:graphicFrameLocks noGrp="1"/>
          </p:cNvGraphicFramePr>
          <p:nvPr/>
        </p:nvGraphicFramePr>
        <p:xfrm>
          <a:off x="6263999" y="1782000"/>
          <a:ext cx="5472000" cy="4284000"/>
        </p:xfrm>
        <a:graphic>
          <a:graphicData uri="http://schemas.openxmlformats.org/drawingml/2006/chart">
            <c:chart xmlns:c="http://schemas.openxmlformats.org/drawingml/2006/chart" r:id="rId7"/>
          </a:graphicData>
        </a:graphic>
      </p:graphicFrame>
      <p:sp>
        <p:nvSpPr>
          <p:cNvPr id="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Exports du logiciel de prêts du Grenier du Policier (balances âgées, production) reçus le 15/10/2026. Traitements Adenka</a:t>
            </a:r>
          </a:p>
        </p:txBody>
      </p:sp>
    </p:spTree>
    <p:extLst>
      <p:ext uri="{BB962C8B-B14F-4D97-AF65-F5344CB8AC3E}">
        <p14:creationId xmlns:p14="http://schemas.microsoft.com/office/powerpoint/2010/main" val="64809566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4">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19" name="ZoneTexte 18">
            <a:extLst>
              <a:ext uri="{FF2B5EF4-FFF2-40B4-BE49-F238E27FC236}">
                <a16:creationId xmlns:a16="http://schemas.microsoft.com/office/drawing/2014/main" id="{C6E7D94B-8E49-C846-A392-87DFA5EF4A9D}"/>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graphicFrame>
        <p:nvGraphicFramePr>
          <p:cNvPr id="3" name="Object 2" hidden="1"/>
          <p:cNvGraphicFramePr>
            <a:graphicFrameLocks noChangeAspect="1"/>
          </p:cNvGraphicFramePr>
          <p:nvPr>
            <p:custDataLst>
              <p:tags r:id="rId1"/>
            </p:custDataLst>
          </p:nvPr>
        </p:nvGraphicFramePr>
        <p:xfrm>
          <a:off x="2258716" y="1350000"/>
          <a:ext cx="1325" cy="1325"/>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7" name="Object 2" hidden="1"/>
                      <p:cNvPicPr/>
                      <p:nvPr/>
                    </p:nvPicPr>
                    <p:blipFill>
                      <a:blip r:embed="rId6"/>
                      <a:stretch>
                        <a:fillRect/>
                      </a:stretch>
                    </p:blipFill>
                    <p:spPr>
                      <a:xfrm>
                        <a:off x="1525589" y="1589"/>
                        <a:ext cx="1587" cy="1587"/>
                      </a:xfrm>
                      <a:prstGeom prst="rect">
                        <a:avLst/>
                      </a:prstGeom>
                    </p:spPr>
                  </p:pic>
                </p:oleObj>
              </mc:Fallback>
            </mc:AlternateContent>
          </a:graphicData>
        </a:graphic>
      </p:graphicFrame>
      <p:graphicFrame>
        <p:nvGraphicFramePr>
          <p:cNvPr id="13" name="Chart Placeholder 15"/>
          <p:cNvGraphicFramePr>
            <a:graphicFrameLocks/>
          </p:cNvGraphicFramePr>
          <p:nvPr>
            <p:extLst>
              <p:ext uri="{D42A27DB-BD31-4B8C-83A1-F6EECF244321}">
                <p14:modId xmlns:p14="http://schemas.microsoft.com/office/powerpoint/2010/main" val="2929624729"/>
              </p:ext>
            </p:extLst>
          </p:nvPr>
        </p:nvGraphicFramePr>
        <p:xfrm>
          <a:off x="3743620" y="1872000"/>
          <a:ext cx="2231044" cy="3397603"/>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4" name="Chart Placeholder 15"/>
          <p:cNvGraphicFramePr>
            <a:graphicFrameLocks/>
          </p:cNvGraphicFramePr>
          <p:nvPr>
            <p:extLst>
              <p:ext uri="{D42A27DB-BD31-4B8C-83A1-F6EECF244321}">
                <p14:modId xmlns:p14="http://schemas.microsoft.com/office/powerpoint/2010/main" val="153666400"/>
              </p:ext>
            </p:extLst>
          </p:nvPr>
        </p:nvGraphicFramePr>
        <p:xfrm>
          <a:off x="1260936" y="1872000"/>
          <a:ext cx="2232370" cy="3397603"/>
        </p:xfrm>
        <a:graphic>
          <a:graphicData uri="http://schemas.openxmlformats.org/drawingml/2006/chart">
            <c:chart xmlns:c="http://schemas.openxmlformats.org/drawingml/2006/chart" xmlns:r="http://schemas.openxmlformats.org/officeDocument/2006/relationships" r:id="rId8"/>
          </a:graphicData>
        </a:graphic>
      </p:graphicFrame>
      <p:pic>
        <p:nvPicPr>
          <p:cNvPr id="16" name="Image 1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068918" y="2932592"/>
            <a:ext cx="616405" cy="616405"/>
          </a:xfrm>
          <a:prstGeom prst="rect">
            <a:avLst/>
          </a:prstGeom>
        </p:spPr>
      </p:pic>
      <p:pic>
        <p:nvPicPr>
          <p:cNvPr id="17" name="Image 16"/>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462040" y="2849977"/>
            <a:ext cx="794203" cy="803437"/>
          </a:xfrm>
          <a:prstGeom prst="rect">
            <a:avLst/>
          </a:prstGeom>
        </p:spPr>
      </p:pic>
      <p:graphicFrame>
        <p:nvGraphicFramePr>
          <p:cNvPr id="18" name="Chart Placeholder 15"/>
          <p:cNvGraphicFramePr>
            <a:graphicFrameLocks/>
          </p:cNvGraphicFramePr>
          <p:nvPr>
            <p:extLst>
              <p:ext uri="{D42A27DB-BD31-4B8C-83A1-F6EECF244321}">
                <p14:modId xmlns:p14="http://schemas.microsoft.com/office/powerpoint/2010/main" val="4022307174"/>
              </p:ext>
            </p:extLst>
          </p:nvPr>
        </p:nvGraphicFramePr>
        <p:xfrm>
          <a:off x="8456022" y="1872000"/>
          <a:ext cx="2223091" cy="3397603"/>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21" name="Chart Placeholder 15"/>
          <p:cNvGraphicFramePr>
            <a:graphicFrameLocks/>
          </p:cNvGraphicFramePr>
          <p:nvPr>
            <p:extLst>
              <p:ext uri="{D42A27DB-BD31-4B8C-83A1-F6EECF244321}">
                <p14:modId xmlns:p14="http://schemas.microsoft.com/office/powerpoint/2010/main" val="3635906843"/>
              </p:ext>
            </p:extLst>
          </p:nvPr>
        </p:nvGraphicFramePr>
        <p:xfrm>
          <a:off x="6103797" y="1872000"/>
          <a:ext cx="2223091" cy="3397603"/>
        </p:xfrm>
        <a:graphic>
          <a:graphicData uri="http://schemas.openxmlformats.org/drawingml/2006/chart">
            <c:chart xmlns:c="http://schemas.openxmlformats.org/drawingml/2006/chart" xmlns:r="http://schemas.openxmlformats.org/officeDocument/2006/relationships" r:id="rId12"/>
          </a:graphicData>
        </a:graphic>
      </p:graphicFrame>
      <p:pic>
        <p:nvPicPr>
          <p:cNvPr id="24" name="Image 2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896238" y="2932592"/>
            <a:ext cx="638209" cy="638209"/>
          </a:xfrm>
          <a:prstGeom prst="rect">
            <a:avLst/>
          </a:prstGeom>
        </p:spPr>
      </p:pic>
      <p:pic>
        <p:nvPicPr>
          <p:cNvPr id="26" name="Image 25"/>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192169" y="2849977"/>
            <a:ext cx="703522" cy="718817"/>
          </a:xfrm>
          <a:prstGeom prst="rect">
            <a:avLst/>
          </a:prstGeom>
        </p:spPr>
      </p:pic>
      <p:sp>
        <p:nvSpPr>
          <p:cNvPr id="28"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taux à surveiller</a:t>
            </a:r>
          </a:p>
        </p:txBody>
      </p:sp>
      <p:sp>
        <p:nvSpPr>
          <p:cNvPr id="29"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faible part des engagements est couverte par des ressources disponibles</a:t>
            </a:r>
          </a:p>
        </p:txBody>
      </p:sp>
      <p:sp>
        <p:nvSpPr>
          <p:cNvPr id="30"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de l'épargne, sinistralité, trésorerie rapportée à l'épargne et prêts en retard de plus de 30 jours</a:t>
            </a:r>
          </a:p>
        </p:txBody>
      </p:sp>
      <p:sp>
        <p:nvSpPr>
          <p:cNvPr id="31"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Exports du logiciel de prêts du Grenier du Policier (balances âgées, production) reçus le 15/10/2026. Traitements Adenka</a:t>
            </a:r>
          </a:p>
        </p:txBody>
      </p:sp>
      <p:sp>
        <p:nvSpPr>
          <p:cNvPr id="32" name="TextBox 31"/>
          <p:cNvSpPr txBox="1"/>
          <p:nvPr/>
        </p:nvSpPr>
        <p:spPr>
          <a:xfrm>
            <a:off x="1152936" y="5305603"/>
            <a:ext cx="2448370" cy="324000"/>
          </a:xfrm>
          <a:prstGeom prst="rect">
            <a:avLst/>
          </a:prstGeom>
          <a:noFill/>
        </p:spPr>
        <p:txBody>
          <a:bodyPr wrap="square" anchor="t" lIns="54000" rIns="54000"/>
          <a:lstStyle/>
          <a:p>
            <a:pPr algn="ctr"/>
            <a:r>
              <a:rPr sz="2000" b="1">
                <a:solidFill>
                  <a:srgbClr val="112A40"/>
                </a:solidFill>
                <a:latin typeface="Helvetica"/>
              </a:rPr>
              <a:t>16,28 %</a:t>
            </a:r>
          </a:p>
        </p:txBody>
      </p:sp>
      <p:sp>
        <p:nvSpPr>
          <p:cNvPr id="33" name="TextBox 32"/>
          <p:cNvSpPr txBox="1"/>
          <p:nvPr/>
        </p:nvSpPr>
        <p:spPr>
          <a:xfrm>
            <a:off x="1152936" y="5629603"/>
            <a:ext cx="2448370" cy="720000"/>
          </a:xfrm>
          <a:prstGeom prst="rect">
            <a:avLst/>
          </a:prstGeom>
          <a:noFill/>
        </p:spPr>
        <p:txBody>
          <a:bodyPr wrap="square" anchor="t" lIns="54000" rIns="54000"/>
          <a:lstStyle/>
          <a:p>
            <a:pPr algn="ctr"/>
            <a:r>
              <a:rPr sz="1200" b="0">
                <a:solidFill>
                  <a:srgbClr val="060606"/>
                </a:solidFill>
                <a:latin typeface="Helvetica"/>
              </a:rPr>
              <a:t>Épargne couverte par des actifs dédiés (31/08/2026)</a:t>
            </a:r>
          </a:p>
        </p:txBody>
      </p:sp>
      <p:sp>
        <p:nvSpPr>
          <p:cNvPr id="34" name="TextBox 33"/>
          <p:cNvSpPr txBox="1"/>
          <p:nvPr/>
        </p:nvSpPr>
        <p:spPr>
          <a:xfrm>
            <a:off x="3635619" y="5305603"/>
            <a:ext cx="2447043" cy="324000"/>
          </a:xfrm>
          <a:prstGeom prst="rect">
            <a:avLst/>
          </a:prstGeom>
          <a:noFill/>
        </p:spPr>
        <p:txBody>
          <a:bodyPr wrap="square" anchor="t" lIns="54000" rIns="54000"/>
          <a:lstStyle/>
          <a:p>
            <a:pPr algn="ctr"/>
            <a:r>
              <a:rPr sz="2000" b="1">
                <a:solidFill>
                  <a:srgbClr val="112A40"/>
                </a:solidFill>
                <a:latin typeface="Helvetica"/>
              </a:rPr>
              <a:t>73,53 %</a:t>
            </a:r>
          </a:p>
        </p:txBody>
      </p:sp>
      <p:sp>
        <p:nvSpPr>
          <p:cNvPr id="35" name="TextBox 34"/>
          <p:cNvSpPr txBox="1"/>
          <p:nvPr/>
        </p:nvSpPr>
        <p:spPr>
          <a:xfrm>
            <a:off x="3635619" y="5629603"/>
            <a:ext cx="2447043" cy="720000"/>
          </a:xfrm>
          <a:prstGeom prst="rect">
            <a:avLst/>
          </a:prstGeom>
          <a:noFill/>
        </p:spPr>
        <p:txBody>
          <a:bodyPr wrap="square" anchor="t" lIns="54000" rIns="54000"/>
          <a:lstStyle/>
          <a:p>
            <a:pPr algn="ctr"/>
            <a:r>
              <a:rPr sz="1200" b="0">
                <a:solidFill>
                  <a:srgbClr val="060606"/>
                </a:solidFill>
                <a:latin typeface="Helvetica"/>
              </a:rPr>
              <a:t>Sinistralité maladie (S/C 2025)</a:t>
            </a:r>
          </a:p>
        </p:txBody>
      </p:sp>
      <p:sp>
        <p:nvSpPr>
          <p:cNvPr id="36" name="TextBox 35"/>
          <p:cNvSpPr txBox="1"/>
          <p:nvPr/>
        </p:nvSpPr>
        <p:spPr>
          <a:xfrm>
            <a:off x="5995797" y="5305603"/>
            <a:ext cx="2439091" cy="324000"/>
          </a:xfrm>
          <a:prstGeom prst="rect">
            <a:avLst/>
          </a:prstGeom>
          <a:noFill/>
        </p:spPr>
        <p:txBody>
          <a:bodyPr wrap="square" anchor="t" lIns="54000" rIns="54000"/>
          <a:lstStyle/>
          <a:p>
            <a:pPr algn="ctr"/>
            <a:r>
              <a:rPr sz="2000" b="1">
                <a:solidFill>
                  <a:srgbClr val="112A40"/>
                </a:solidFill>
                <a:latin typeface="Helvetica"/>
              </a:rPr>
              <a:t>21,34 %</a:t>
            </a:r>
          </a:p>
        </p:txBody>
      </p:sp>
      <p:sp>
        <p:nvSpPr>
          <p:cNvPr id="37" name="TextBox 36"/>
          <p:cNvSpPr txBox="1"/>
          <p:nvPr/>
        </p:nvSpPr>
        <p:spPr>
          <a:xfrm>
            <a:off x="5995797" y="5629603"/>
            <a:ext cx="2439091" cy="720000"/>
          </a:xfrm>
          <a:prstGeom prst="rect">
            <a:avLst/>
          </a:prstGeom>
          <a:noFill/>
        </p:spPr>
        <p:txBody>
          <a:bodyPr wrap="square" anchor="t" lIns="54000" rIns="54000"/>
          <a:lstStyle/>
          <a:p>
            <a:pPr algn="ctr"/>
            <a:r>
              <a:rPr sz="1200" b="0">
                <a:solidFill>
                  <a:srgbClr val="060606"/>
                </a:solidFill>
                <a:latin typeface="Helvetica"/>
              </a:rPr>
              <a:t>Trésorerie totale / épargne due (31/08/2026)</a:t>
            </a:r>
          </a:p>
        </p:txBody>
      </p:sp>
      <p:sp>
        <p:nvSpPr>
          <p:cNvPr id="38" name="TextBox 37"/>
          <p:cNvSpPr txBox="1"/>
          <p:nvPr/>
        </p:nvSpPr>
        <p:spPr>
          <a:xfrm>
            <a:off x="8348021" y="5305603"/>
            <a:ext cx="2439091" cy="324000"/>
          </a:xfrm>
          <a:prstGeom prst="rect">
            <a:avLst/>
          </a:prstGeom>
          <a:noFill/>
        </p:spPr>
        <p:txBody>
          <a:bodyPr wrap="square" anchor="t" lIns="54000" rIns="54000"/>
          <a:lstStyle/>
          <a:p>
            <a:pPr algn="ctr"/>
            <a:r>
              <a:rPr sz="2000" b="1">
                <a:solidFill>
                  <a:srgbClr val="112A40"/>
                </a:solidFill>
                <a:latin typeface="Helvetica"/>
              </a:rPr>
              <a:t>5,07 %</a:t>
            </a:r>
          </a:p>
        </p:txBody>
      </p:sp>
      <p:sp>
        <p:nvSpPr>
          <p:cNvPr id="39" name="TextBox 38"/>
          <p:cNvSpPr txBox="1"/>
          <p:nvPr/>
        </p:nvSpPr>
        <p:spPr>
          <a:xfrm>
            <a:off x="8348021" y="5629603"/>
            <a:ext cx="2439091" cy="720000"/>
          </a:xfrm>
          <a:prstGeom prst="rect">
            <a:avLst/>
          </a:prstGeom>
          <a:noFill/>
        </p:spPr>
        <p:txBody>
          <a:bodyPr wrap="square" anchor="t" lIns="54000" rIns="54000"/>
          <a:lstStyle/>
          <a:p>
            <a:pPr algn="ctr"/>
            <a:r>
              <a:rPr sz="1200" b="0">
                <a:solidFill>
                  <a:srgbClr val="060606"/>
                </a:solidFill>
                <a:latin typeface="Helvetica"/>
              </a:rPr>
              <a:t>Prêts en retard de plus de 30 jours (en nombre, 31/08/2026)</a:t>
            </a:r>
          </a:p>
        </p:txBody>
      </p:sp>
    </p:spTree>
    <p:extLst>
      <p:ext uri="{BB962C8B-B14F-4D97-AF65-F5344CB8AC3E}">
        <p14:creationId xmlns:p14="http://schemas.microsoft.com/office/powerpoint/2010/main" val="184065309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14"/>
        <p:cNvGrpSpPr/>
        <p:nvPr/>
      </p:nvGrpSpPr>
      <p:grpSpPr>
        <a:xfrm>
          <a:off x="0" y="0"/>
          <a:ext cx="0" cy="0"/>
          <a:chOff x="0" y="0"/>
          <a:chExt cx="0" cy="0"/>
        </a:xfrm>
      </p:grpSpPr>
      <p:pic>
        <p:nvPicPr>
          <p:cNvPr id="34" name="Image 33"/>
          <p:cNvPicPr>
            <a:picLocks noChangeAspect="1"/>
          </p:cNvPicPr>
          <p:nvPr/>
        </p:nvPicPr>
        <p:blipFill rotWithShape="1">
          <a:blip r:embed="rId3">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2" name="ZoneTexte 31">
            <a:extLst>
              <a:ext uri="{FF2B5EF4-FFF2-40B4-BE49-F238E27FC236}">
                <a16:creationId xmlns:a16="http://schemas.microsoft.com/office/drawing/2014/main" id="{C6E7D94B-8E49-C846-A392-87DFA5EF4A9D}"/>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217" name="Google Shape;9217;p112"/>
          <p:cNvSpPr txBox="1"/>
          <p:nvPr/>
        </p:nvSpPr>
        <p:spPr>
          <a:xfrm>
            <a:off x="894942"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1</a:t>
            </a:r>
          </a:p>
        </p:txBody>
      </p:sp>
      <p:sp>
        <p:nvSpPr>
          <p:cNvPr id="9218" name="Google Shape;9218;p112"/>
          <p:cNvSpPr txBox="1"/>
          <p:nvPr/>
        </p:nvSpPr>
        <p:spPr>
          <a:xfrm>
            <a:off x="805834" y="1978279"/>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Pas de base de prestations ni de dates de naissance</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220" name="Google Shape;9220;p112"/>
          <p:cNvSpPr txBox="1"/>
          <p:nvPr/>
        </p:nvSpPr>
        <p:spPr>
          <a:xfrm>
            <a:off x="2914550"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2</a:t>
            </a:r>
          </a:p>
        </p:txBody>
      </p:sp>
      <p:sp>
        <p:nvSpPr>
          <p:cNvPr id="9222" name="Google Shape;9222;p112"/>
          <p:cNvSpPr txBox="1"/>
          <p:nvPr/>
        </p:nvSpPr>
        <p:spPr>
          <a:xfrm>
            <a:off x="805734" y="47230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1</a:t>
            </a:r>
          </a:p>
        </p:txBody>
      </p:sp>
      <p:sp>
        <p:nvSpPr>
          <p:cNvPr id="9224" name="Google Shape;9224;p112"/>
          <p:cNvSpPr txBox="1"/>
          <p:nvPr/>
        </p:nvSpPr>
        <p:spPr>
          <a:xfrm>
            <a:off x="2758434" y="47230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2</a:t>
            </a:r>
          </a:p>
        </p:txBody>
      </p:sp>
      <p:sp>
        <p:nvSpPr>
          <p:cNvPr id="9226" name="Google Shape;9226;p112"/>
          <p:cNvSpPr txBox="1"/>
          <p:nvPr/>
        </p:nvSpPr>
        <p:spPr>
          <a:xfrm>
            <a:off x="7440342"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3</a:t>
            </a:r>
          </a:p>
        </p:txBody>
      </p:sp>
      <p:sp>
        <p:nvSpPr>
          <p:cNvPr id="9228" name="Google Shape;9228;p112"/>
          <p:cNvSpPr txBox="1"/>
          <p:nvPr/>
        </p:nvSpPr>
        <p:spPr>
          <a:xfrm>
            <a:off x="9359589"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4</a:t>
            </a:r>
          </a:p>
        </p:txBody>
      </p:sp>
      <p:sp>
        <p:nvSpPr>
          <p:cNvPr id="9230" name="Google Shape;9230;p112"/>
          <p:cNvSpPr txBox="1"/>
          <p:nvPr/>
        </p:nvSpPr>
        <p:spPr>
          <a:xfrm>
            <a:off x="7351134" y="47230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3</a:t>
            </a:r>
          </a:p>
        </p:txBody>
      </p:sp>
      <p:sp>
        <p:nvSpPr>
          <p:cNvPr id="9232" name="Google Shape;9232;p112"/>
          <p:cNvSpPr txBox="1"/>
          <p:nvPr/>
        </p:nvSpPr>
        <p:spPr>
          <a:xfrm>
            <a:off x="9303834" y="47230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4</a:t>
            </a:r>
          </a:p>
        </p:txBody>
      </p:sp>
      <p:sp>
        <p:nvSpPr>
          <p:cNvPr id="97" name="Google Shape;9218;p112"/>
          <p:cNvSpPr txBox="1"/>
          <p:nvPr/>
        </p:nvSpPr>
        <p:spPr>
          <a:xfrm>
            <a:off x="2862877" y="1998709"/>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Provisions jamais recalculées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8" name="Google Shape;9218;p112"/>
          <p:cNvSpPr txBox="1"/>
          <p:nvPr/>
        </p:nvSpPr>
        <p:spPr>
          <a:xfrm>
            <a:off x="7408766" y="2018006"/>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Épargne utilisée pour d'autres emplois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9" name="Google Shape;9218;p112"/>
          <p:cNvSpPr txBox="1"/>
          <p:nvPr/>
        </p:nvSpPr>
        <p:spPr>
          <a:xfrm>
            <a:off x="9465809" y="2038436"/>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Écart entre échéances et précomptes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0" name="Google Shape;9218;p112"/>
          <p:cNvSpPr txBox="1"/>
          <p:nvPr/>
        </p:nvSpPr>
        <p:spPr>
          <a:xfrm>
            <a:off x="907230" y="3725703"/>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Coût réel des sinistres inconnu</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1" name="Google Shape;9218;p112"/>
          <p:cNvSpPr txBox="1"/>
          <p:nvPr/>
        </p:nvSpPr>
        <p:spPr>
          <a:xfrm>
            <a:off x="2964273" y="3746133"/>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Engagements mal mesurés au bilan</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2" name="Google Shape;9218;p112"/>
          <p:cNvSpPr txBox="1"/>
          <p:nvPr/>
        </p:nvSpPr>
        <p:spPr>
          <a:xfrm>
            <a:off x="7510162" y="3765430"/>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Manque de liquidités en cas de retraits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3" name="Google Shape;9218;p112"/>
          <p:cNvSpPr txBox="1"/>
          <p:nvPr/>
        </p:nvSpPr>
        <p:spPr>
          <a:xfrm>
            <a:off x="9567205" y="3785860"/>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Retards et pertes sur les prêts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pic>
        <p:nvPicPr>
          <p:cNvPr id="27" name="Imag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76588" y="3164965"/>
            <a:ext cx="389251" cy="389251"/>
          </a:xfrm>
          <a:prstGeom prst="rect">
            <a:avLst/>
          </a:prstGeom>
        </p:spPr>
      </p:pic>
      <p:pic>
        <p:nvPicPr>
          <p:cNvPr id="28" name="Image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03377" y="3160836"/>
            <a:ext cx="375952" cy="375953"/>
          </a:xfrm>
          <a:prstGeom prst="rect">
            <a:avLst/>
          </a:prstGeom>
        </p:spPr>
      </p:pic>
      <p:pic>
        <p:nvPicPr>
          <p:cNvPr id="29" name="Image 2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428049" y="3121109"/>
            <a:ext cx="423892" cy="433107"/>
          </a:xfrm>
          <a:prstGeom prst="rect">
            <a:avLst/>
          </a:prstGeom>
        </p:spPr>
      </p:pic>
      <p:pic>
        <p:nvPicPr>
          <p:cNvPr id="30" name="Image 2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60990" y="3121109"/>
            <a:ext cx="484396" cy="490027"/>
          </a:xfrm>
          <a:prstGeom prst="rect">
            <a:avLst/>
          </a:prstGeom>
        </p:spPr>
      </p:pic>
      <p:pic>
        <p:nvPicPr>
          <p:cNvPr id="2" name="Image 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5451325" y="2716425"/>
            <a:ext cx="1112757" cy="1112757"/>
          </a:xfrm>
          <a:prstGeom prst="rect">
            <a:avLst/>
          </a:prstGeom>
        </p:spPr>
      </p:pic>
      <p:sp>
        <p:nvSpPr>
          <p:cNvPr id="9233"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Carte des risques</a:t>
            </a:r>
          </a:p>
        </p:txBody>
      </p:sp>
      <p:sp>
        <p:nvSpPr>
          <p:cNvPr id="9234"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causes identifiées produisent quatre risques pour le FPPN</a:t>
            </a:r>
          </a:p>
        </p:txBody>
      </p:sp>
      <p:sp>
        <p:nvSpPr>
          <p:cNvPr id="9235"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causes relèvent de la gestion des données et des choix d'emploi des ressources</a:t>
            </a:r>
          </a:p>
        </p:txBody>
      </p:sp>
      <p:sp>
        <p:nvSpPr>
          <p:cNvPr id="92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Tree>
    <p:extLst>
      <p:ext uri="{BB962C8B-B14F-4D97-AF65-F5344CB8AC3E}">
        <p14:creationId xmlns:p14="http://schemas.microsoft.com/office/powerpoint/2010/main" val="931009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Recommandations prioritaires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actions conditionnent la fiabilité des engagements et la solvabilité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trois premières actions relèvent de la transmission de données, les deux dernières des décisions de gestion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Numéros de la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 : Actions recommandées</a:t>
            </a:r>
          </a:p>
        </p:txBody>
      </p:sp>
      <p:graphicFrame>
        <p:nvGraphicFramePr>
          <p:cNvPr id="32" name="Table 31"/>
          <p:cNvGraphicFramePr>
            <a:graphicFrameLocks noGrp="1"/>
          </p:cNvGraphicFramePr>
          <p:nvPr/>
        </p:nvGraphicFramePr>
        <p:xfrm>
          <a:off x="503999" y="1655999"/>
          <a:ext cx="11232000" cy="1944000"/>
        </p:xfrm>
        <a:graphic>
          <a:graphicData uri="http://schemas.openxmlformats.org/drawingml/2006/table">
            <a:tbl>
              <a:tblPr firstRow="0" bandRow="0">
                <a:tableStyleId>{5940675A-B579-460E-94D1-54222C63F5DA}</a:tableStyleId>
              </a:tblPr>
              <a:tblGrid>
                <a:gridCol w="432000"/>
                <a:gridCol w="4104000"/>
                <a:gridCol w="5400000"/>
                <a:gridCol w="1296000"/>
              </a:tblGrid>
              <a:tr h="324000">
                <a:tc>
                  <a:txBody>
                    <a:bodyPr/>
                    <a:lstStyle/>
                    <a:p>
                      <a:pPr marL="0" indent="0" lvl="0">
                        <a:buNone/>
                      </a:pPr>
                      <a:r>
                        <a:rPr sz="12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Action</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Objet</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Priorité</a:t>
                      </a:r>
                    </a:p>
                  </a:txBody>
                  <a:tcPr marL="43200" marR="43200" marT="14400" marB="14400" anchor="ctr">
                    <a:solidFill>
                      <a:srgbClr val="060606"/>
                    </a:solidFill>
                  </a:tcPr>
                </a:tc>
              </a:tr>
              <a:tr h="324000">
                <a:tc>
                  <a:txBody>
                    <a:bodyPr/>
                    <a:lstStyle/>
                    <a:p>
                      <a:pPr marL="0" indent="0" lvl="0">
                        <a:buNone/>
                      </a:pPr>
                      <a:r>
                        <a:rPr sz="12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Transmettre les bases de prestations décès et santé 2020 à 2026 (13, 28, 40)</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Calculer les provisions, la sinistralité par année de survenance et les délais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Urgente</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Transmettre le fichier des mutualistes avec date de naissance et sexe (9)</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Mesurer la mortalité, projeter l'équilibre technique, calculer les engagements</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Urgente</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Transmettre les comptes individuels PEP et EFC (16, 17)</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Évaluer la dette d'épargne envers chaque mutualiste</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Urgente</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Recalculer les provisions techniques à chaque clôture</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Remplacer des montants figés depuis 2020 par une estimation fondée sur les dossiers</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Haute</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Adosser l'épargne à des placements liquides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Couvrir l'épargne exigible, encadrer le financement du Grenier et du CMP</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Haute</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35759911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5" name="Google Shape;7418;p41"/>
          <p:cNvSpPr/>
          <p:nvPr/>
        </p:nvSpPr>
        <p:spPr>
          <a:xfrm rot="21013821">
            <a:off x="6297998" y="4033104"/>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295963" y="1764647"/>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008889" y="4032906"/>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044421" y="1769072"/>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238167">
            <a:off x="1055515" y="1925819"/>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395864">
            <a:off x="1055515" y="4170923"/>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354388">
            <a:off x="6338696" y="1925819"/>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76429">
            <a:off x="6338696" y="4170923"/>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312337" y="1350000"/>
            <a:ext cx="3277758" cy="1840504"/>
          </a:xfrm>
          <a:prstGeom prst="rect">
            <a:avLst/>
          </a:prstGeom>
        </p:spPr>
        <p:txBody>
          <a:bodyPr wrap="square">
            <a:spAutoFit/>
          </a:bodyPr>
          <a:lstStyle/>
          <a:p>
            <a:pPr lvl="0">
              <a:lnSpc>
                <a:spcPct val="110000"/>
              </a:lnSpc>
            </a:pPr>
            <a:r>
              <a:rPr lang="fr-CI" sz="16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Collecter</a:t>
            </a:r>
          </a:p>
          <a:p>
            <a:r>
              <a:rPr lang="fr-CI" sz="1600" noProof="0">
                <a:latin typeface="Helvetica" panose="020B0604020202020204" pitchFamily="34" charset="0"/>
                <a:ea typeface="Open Sans Light" panose="020B0306030504020204" pitchFamily="34" charset="0"/>
                <a:cs typeface="Helvetica" panose="020B0604020202020204" pitchFamily="34" charset="0"/>
              </a:rPr>
              <a:t>Bases de prestations, mutualistes avec date de naissance, comptes d'épargne, barèmes et convention CGRAE.</a:t>
            </a:r>
            <a:endParaRPr lang="fr-CI" sz="1600" noProof="0"/>
          </a:p>
        </p:txBody>
      </p:sp>
      <p:sp>
        <p:nvSpPr>
          <p:cNvPr id="20" name="Rectangle 19"/>
          <p:cNvSpPr/>
          <p:nvPr/>
        </p:nvSpPr>
        <p:spPr>
          <a:xfrm>
            <a:off x="2312337" y="3769850"/>
            <a:ext cx="3277758" cy="1840504"/>
          </a:xfrm>
          <a:prstGeom prst="rect">
            <a:avLst/>
          </a:prstGeom>
        </p:spPr>
        <p:txBody>
          <a:bodyPr wrap="square">
            <a:spAutoFit/>
          </a:bodyPr>
          <a:lstStyle/>
          <a:p>
            <a:pPr lvl="0">
              <a:lnSpc>
                <a:spcPct val="110000"/>
              </a:lnSpc>
            </a:pPr>
            <a:r>
              <a:rPr lang="fr-CI" sz="16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Calculer</a:t>
            </a:r>
          </a:p>
          <a:p>
            <a:r>
              <a:rPr lang="fr-CI" sz="1600" noProof="0">
                <a:latin typeface="Helvetica" panose="020B0604020202020204" pitchFamily="34" charset="0"/>
                <a:ea typeface="Open Sans Light" panose="020B0306030504020204" pitchFamily="34" charset="0"/>
                <a:cs typeface="Helvetica" panose="020B0604020202020204" pitchFamily="34" charset="0"/>
              </a:rPr>
              <a:t>Provisions (PSAP, Chain Ladder), mortalité observée comparée à CIMA H, engagements d'épargne.</a:t>
            </a:r>
            <a:endParaRPr lang="fr-CI" sz="1600" noProof="0"/>
          </a:p>
        </p:txBody>
      </p:sp>
      <p:sp>
        <p:nvSpPr>
          <p:cNvPr id="22" name="Rectangle 21"/>
          <p:cNvSpPr/>
          <p:nvPr/>
        </p:nvSpPr>
        <p:spPr>
          <a:xfrm>
            <a:off x="7611772" y="1354300"/>
            <a:ext cx="3277758" cy="1840504"/>
          </a:xfrm>
          <a:prstGeom prst="rect">
            <a:avLst/>
          </a:prstGeom>
        </p:spPr>
        <p:txBody>
          <a:bodyPr wrap="square">
            <a:spAutoFit/>
          </a:bodyPr>
          <a:lstStyle/>
          <a:p>
            <a:pPr lvl="0">
              <a:lnSpc>
                <a:spcPct val="110000"/>
              </a:lnSpc>
            </a:pPr>
            <a:r>
              <a:rPr lang="fr-CI" sz="16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Vérifier</a:t>
            </a:r>
          </a:p>
          <a:p>
            <a:r>
              <a:rPr lang="fr-CI" sz="1600" noProof="0">
                <a:latin typeface="Helvetica" panose="020B0604020202020204" pitchFamily="34" charset="0"/>
                <a:ea typeface="Open Sans Light" panose="020B0306030504020204" pitchFamily="34" charset="0"/>
                <a:cs typeface="Helvetica" panose="020B0604020202020204" pitchFamily="34" charset="0"/>
              </a:rPr>
              <a:t>Rapprochement avec la comptabilité, ratios du règlement UEMOA, échanges avec les services du FPPN.</a:t>
            </a:r>
            <a:endParaRPr lang="fr-CI" sz="1600" noProof="0"/>
          </a:p>
        </p:txBody>
      </p:sp>
      <p:sp>
        <p:nvSpPr>
          <p:cNvPr id="23" name="Rectangle 22"/>
          <p:cNvSpPr/>
          <p:nvPr/>
        </p:nvSpPr>
        <p:spPr>
          <a:xfrm>
            <a:off x="7611772" y="3774150"/>
            <a:ext cx="3277758" cy="1840504"/>
          </a:xfrm>
          <a:prstGeom prst="rect">
            <a:avLst/>
          </a:prstGeom>
        </p:spPr>
        <p:txBody>
          <a:bodyPr wrap="square">
            <a:spAutoFit/>
          </a:bodyPr>
          <a:lstStyle/>
          <a:p>
            <a:pPr lvl="0">
              <a:lnSpc>
                <a:spcPct val="110000"/>
              </a:lnSpc>
            </a:pPr>
            <a:r>
              <a:rPr lang="fr-CI" sz="16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Projeter</a:t>
            </a:r>
          </a:p>
          <a:p>
            <a:r>
              <a:rPr lang="fr-CI" sz="1600" noProof="0">
                <a:latin typeface="Helvetica" panose="020B0604020202020204" pitchFamily="34" charset="0"/>
                <a:ea typeface="Open Sans Light" panose="020B0306030504020204" pitchFamily="34" charset="0"/>
                <a:cs typeface="Helvetica" panose="020B0604020202020204" pitchFamily="34" charset="0"/>
              </a:rPr>
              <a:t>Équilibre technique sur 5 à 10 ans, sensibilités, recommandations chiffrées.</a:t>
            </a:r>
            <a:endParaRPr lang="fr-CI" sz="1600" noProof="0"/>
          </a:p>
        </p:txBody>
      </p:sp>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Feuille de route proposée</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étapes pour passer du constat à l'évaluation des engagements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étape dépend de la précédente. La première est la transmission des données manquantes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Tree>
    <p:extLst>
      <p:ext uri="{BB962C8B-B14F-4D97-AF65-F5344CB8AC3E}">
        <p14:creationId xmlns:p14="http://schemas.microsoft.com/office/powerpoint/2010/main" val="213771860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Comprendre le FPPN</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Cadre, garanties, circuits et notions de base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7784085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Cadre juridique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est une mutuelle sociale régie par le droit de l'UEMOA</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règlement n° 07/2009/CM/UEMOA fixe les règles. L'AIRMS contrôle. Le Code CIMA sert de référence technique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textes cités (classeur des sources externes validées)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 : Textes et organismes de référence</a:t>
            </a:r>
          </a:p>
        </p:txBody>
      </p:sp>
      <p:graphicFrame>
        <p:nvGraphicFramePr>
          <p:cNvPr id="32" name="Table 31"/>
          <p:cNvGraphicFramePr>
            <a:graphicFrameLocks noGrp="1"/>
          </p:cNvGraphicFramePr>
          <p:nvPr/>
        </p:nvGraphicFramePr>
        <p:xfrm>
          <a:off x="503999" y="1655999"/>
          <a:ext cx="11232000" cy="1944000"/>
        </p:xfrm>
        <a:graphic>
          <a:graphicData uri="http://schemas.openxmlformats.org/drawingml/2006/table">
            <a:tbl>
              <a:tblPr firstRow="0" bandRow="0">
                <a:tableStyleId>{5940675A-B579-460E-94D1-54222C63F5DA}</a:tableStyleId>
              </a:tblPr>
              <a:tblGrid>
                <a:gridCol w="3096000"/>
                <a:gridCol w="4320000"/>
                <a:gridCol w="3816000"/>
              </a:tblGrid>
              <a:tr h="324000">
                <a:tc>
                  <a:txBody>
                    <a:bodyPr/>
                    <a:lstStyle/>
                    <a:p>
                      <a:pPr marL="0" indent="0" lvl="0">
                        <a:buNone/>
                      </a:pPr>
                      <a:r>
                        <a:rPr sz="1200" b="1">
                          <a:solidFill>
                            <a:srgbClr val="FFFFFF"/>
                          </a:solidFill>
                          <a:latin typeface="Helvetica"/>
                        </a:rPr>
                        <a:t>Texte ou organisme</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Rôle pour le FPPN</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Usage dans ce rapport</a:t>
                      </a:r>
                    </a:p>
                  </a:txBody>
                  <a:tcPr marL="43200" marR="43200" marT="14400" marB="14400" anchor="ctr">
                    <a:solidFill>
                      <a:srgbClr val="060606"/>
                    </a:solidFill>
                  </a:tcPr>
                </a:tc>
              </a:tr>
              <a:tr h="324000">
                <a:tc>
                  <a:txBody>
                    <a:bodyPr/>
                    <a:lstStyle/>
                    <a:p>
                      <a:pPr marL="0" indent="0" lvl="0">
                        <a:buNone/>
                      </a:pPr>
                      <a:r>
                        <a:rPr sz="1200" b="1">
                          <a:solidFill>
                            <a:srgbClr val="060606"/>
                          </a:solidFill>
                          <a:latin typeface="Helvetica"/>
                        </a:rPr>
                        <a:t>Règlement n° 07/2009/CM/UEMOA (26/06/2009)</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Règles de fonctionnement des mutuelles sociales : réserves, placements, gouvernance</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Cadre de référence. Seuils des ratios à relever dans le texte intégral</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AIRMS (Autorité de régulation de la mutualité sociale)</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Contrôle des mutuelles sociales en Côte d'Ivoire</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Indicateurs à comparer (en attente)</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Ordonnance n° 2024-1043 (FOMUS-CI)</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Fonds de garantie des mutuelles sociales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Contexte de la garantie</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Code CIMA, article 338</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Tables de mortalité et taux d'intérêt maximal (3,5 %) des assureurs vie</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Référence technique : tables CIMA H et F, taux de 3,5 %</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Plan comptable des mutuelles sociales (PCMS)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Plan de comptes utilisé par le FPPN depuis 2021</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Lecture des balances comptables</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242021200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Garanties et produits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postes de précompte portent l'ensemble des produits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et décès sont les garanties de base. Épargne, prêts, flotte et MEDOC sont des produits complémentaires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 : Produits du FPPN et montants observés</a:t>
            </a:r>
          </a:p>
        </p:txBody>
      </p:sp>
      <p:graphicFrame>
        <p:nvGraphicFramePr>
          <p:cNvPr id="32" name="Table 31"/>
          <p:cNvGraphicFramePr>
            <a:graphicFrameLocks noGrp="1"/>
          </p:cNvGraphicFramePr>
          <p:nvPr/>
        </p:nvGraphicFramePr>
        <p:xfrm>
          <a:off x="503999" y="1655999"/>
          <a:ext cx="11232000" cy="2916000"/>
        </p:xfrm>
        <a:graphic>
          <a:graphicData uri="http://schemas.openxmlformats.org/drawingml/2006/table">
            <a:tbl>
              <a:tblPr firstRow="0" bandRow="0">
                <a:tableStyleId>{5940675A-B579-460E-94D1-54222C63F5DA}</a:tableStyleId>
              </a:tblPr>
              <a:tblGrid>
                <a:gridCol w="936000"/>
                <a:gridCol w="2736000"/>
                <a:gridCol w="4320000"/>
                <a:gridCol w="3240000"/>
              </a:tblGrid>
              <a:tr h="324000">
                <a:tc>
                  <a:txBody>
                    <a:bodyPr/>
                    <a:lstStyle/>
                    <a:p>
                      <a:pPr marL="0" indent="0" lvl="0">
                        <a:buNone/>
                      </a:pPr>
                      <a:r>
                        <a:rPr sz="1200" b="1">
                          <a:solidFill>
                            <a:srgbClr val="FFFFFF"/>
                          </a:solidFill>
                          <a:latin typeface="Helvetica"/>
                        </a:rPr>
                        <a:t>Poste</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Nature</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Montant moyen observé par mois</a:t>
                      </a:r>
                    </a:p>
                  </a:txBody>
                  <a:tcPr marL="43200" marR="43200" marT="14400" marB="14400" anchor="ctr">
                    <a:solidFill>
                      <a:srgbClr val="060606"/>
                    </a:solidFill>
                  </a:tcPr>
                </a:tc>
              </a:tr>
              <a:tr h="324000">
                <a:tc>
                  <a:txBody>
                    <a:bodyPr/>
                    <a:lstStyle/>
                    <a:p>
                      <a:pPr marL="0" indent="0" lvl="0">
                        <a:buNone/>
                      </a:pPr>
                      <a:r>
                        <a:rPr sz="12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Garantie santé des actifs, 3,77 % du salaire de base</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7 195 FCFA (août 2026)</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8Z6</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Décès</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Capital décès, frais funéraires, allocations. 1,23 % du salaire de base</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voir partie 4</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870</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Entraide fin de carrière (EFC)</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Épargne versée en fin de carrière</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8 132 FCFA par épargnant (2025)</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998</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Plan d'épargne (PEP)</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Épargne volontaire</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voir partie 6</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9X4</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Grenier du Policier</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Remboursement de prêts aux policiers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voir partie 7</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9W3</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Flotte automobile (GNA)</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Assurance des véhicules des adhérents</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environ 10 000 FCFA</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8Z7</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MEDOC</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Produit santé complémentaire (nature à préciser)</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5 000 FCFA</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CGRAE</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Retraités</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Garantie santé des retraités, précompte sur pension</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11 940 FCFA</a:t>
                      </a:r>
                    </a:p>
                  </a:txBody>
                  <a:tcPr marL="43200" marR="43200" marT="14400" marB="14400" anchor="ctr">
                    <a:solidFill>
                      <a:srgbClr val="F2F2F2"/>
                    </a:solidFill>
                  </a:tcPr>
                </a:tc>
              </a:tr>
            </a:tbl>
          </a:graphicData>
        </a:graphic>
      </p:graphicFrame>
    </p:spTree>
    <p:extLst>
      <p:ext uri="{BB962C8B-B14F-4D97-AF65-F5344CB8AC3E}">
        <p14:creationId xmlns:p14="http://schemas.microsoft.com/office/powerpoint/2010/main" val="182889125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des précomptes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sont retenues à la source, puis rapprochées par le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mois, le FPPN envoie un fichier « aller ». La Solde ou la CGRAE renvoie un fichier « retour » des sommes retenues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aller et retour reçus le 15/10/2026. Adenka</a:t>
            </a:r>
          </a:p>
        </p:txBody>
      </p:sp>
      <p:sp>
        <p:nvSpPr>
          <p:cNvPr id="31" name="Rounded Rectangle 30"/>
          <p:cNvSpPr/>
          <p:nvPr/>
        </p:nvSpPr>
        <p:spPr>
          <a:xfrm>
            <a:off x="503999" y="1872000"/>
            <a:ext cx="2376000" cy="864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1. FPPN</a:t>
            </a:r>
          </a:p>
        </p:txBody>
      </p:sp>
      <p:sp>
        <p:nvSpPr>
          <p:cNvPr id="32" name="TextBox 31"/>
          <p:cNvSpPr txBox="1"/>
          <p:nvPr/>
        </p:nvSpPr>
        <p:spPr>
          <a:xfrm>
            <a:off x="503999" y="2880000"/>
            <a:ext cx="2376000" cy="1080000"/>
          </a:xfrm>
          <a:prstGeom prst="rect">
            <a:avLst/>
          </a:prstGeom>
          <a:noFill/>
        </p:spPr>
        <p:txBody>
          <a:bodyPr wrap="square" anchor="t" lIns="54000" rIns="54000"/>
          <a:lstStyle/>
          <a:p>
            <a:pPr algn="ctr"/>
            <a:r>
              <a:rPr sz="1400" b="0">
                <a:solidFill>
                  <a:srgbClr val="060606"/>
                </a:solidFill>
                <a:latin typeface="Helvetica"/>
              </a:rPr>
              <a:t>Prépare le fichier aller : qui précompter et combien</a:t>
            </a:r>
          </a:p>
        </p:txBody>
      </p:sp>
      <p:cxnSp>
        <p:nvCxnSpPr>
          <p:cNvPr id="33" name="Connector 32"/>
          <p:cNvCxnSpPr/>
          <p:nvPr/>
        </p:nvCxnSpPr>
        <p:spPr>
          <a:xfrm>
            <a:off x="2880000" y="2304000"/>
            <a:ext cx="504000" cy="0"/>
          </a:xfrm>
          <a:prstGeom prst="line">
            <a:avLst/>
          </a:prstGeom>
          <a:ln w="381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384000" y="1872000"/>
            <a:ext cx="2376000" cy="864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060606"/>
                </a:solidFill>
                <a:latin typeface="Helvetica"/>
              </a:rPr>
              <a:t>2. Solde / CGRAE</a:t>
            </a:r>
          </a:p>
        </p:txBody>
      </p:sp>
      <p:sp>
        <p:nvSpPr>
          <p:cNvPr id="35" name="TextBox 34"/>
          <p:cNvSpPr txBox="1"/>
          <p:nvPr/>
        </p:nvSpPr>
        <p:spPr>
          <a:xfrm>
            <a:off x="3384000" y="2880000"/>
            <a:ext cx="2376000" cy="1080000"/>
          </a:xfrm>
          <a:prstGeom prst="rect">
            <a:avLst/>
          </a:prstGeom>
          <a:noFill/>
        </p:spPr>
        <p:txBody>
          <a:bodyPr wrap="square" anchor="t" lIns="54000" rIns="54000"/>
          <a:lstStyle/>
          <a:p>
            <a:pPr algn="ctr"/>
            <a:r>
              <a:rPr sz="1400" b="0">
                <a:solidFill>
                  <a:srgbClr val="060606"/>
                </a:solidFill>
                <a:latin typeface="Helvetica"/>
              </a:rPr>
              <a:t>Retient les montants sur salaire ou pension</a:t>
            </a:r>
          </a:p>
        </p:txBody>
      </p:sp>
      <p:cxnSp>
        <p:nvCxnSpPr>
          <p:cNvPr id="36" name="Connector 35"/>
          <p:cNvCxnSpPr/>
          <p:nvPr/>
        </p:nvCxnSpPr>
        <p:spPr>
          <a:xfrm>
            <a:off x="5760000" y="2304000"/>
            <a:ext cx="503999" cy="0"/>
          </a:xfrm>
          <a:prstGeom prst="line">
            <a:avLst/>
          </a:prstGeom>
          <a:ln w="381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6263999" y="1872000"/>
            <a:ext cx="2376000" cy="864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3. Fichier retour</a:t>
            </a:r>
          </a:p>
        </p:txBody>
      </p:sp>
      <p:sp>
        <p:nvSpPr>
          <p:cNvPr id="38" name="TextBox 37"/>
          <p:cNvSpPr txBox="1"/>
          <p:nvPr/>
        </p:nvSpPr>
        <p:spPr>
          <a:xfrm>
            <a:off x="6263999" y="2880000"/>
            <a:ext cx="2376000" cy="1080000"/>
          </a:xfrm>
          <a:prstGeom prst="rect">
            <a:avLst/>
          </a:prstGeom>
          <a:noFill/>
        </p:spPr>
        <p:txBody>
          <a:bodyPr wrap="square" anchor="t" lIns="54000" rIns="54000"/>
          <a:lstStyle/>
          <a:p>
            <a:pPr algn="ctr"/>
            <a:r>
              <a:rPr sz="1400" b="0">
                <a:solidFill>
                  <a:srgbClr val="060606"/>
                </a:solidFill>
                <a:latin typeface="Helvetica"/>
              </a:rPr>
              <a:t>Liste des montants réellement retenus</a:t>
            </a:r>
          </a:p>
        </p:txBody>
      </p:sp>
      <p:cxnSp>
        <p:nvCxnSpPr>
          <p:cNvPr id="39" name="Connector 38"/>
          <p:cNvCxnSpPr/>
          <p:nvPr/>
        </p:nvCxnSpPr>
        <p:spPr>
          <a:xfrm>
            <a:off x="8640000" y="2304000"/>
            <a:ext cx="504000" cy="0"/>
          </a:xfrm>
          <a:prstGeom prst="line">
            <a:avLst/>
          </a:prstGeom>
          <a:ln w="381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9144000" y="1872000"/>
            <a:ext cx="2376000" cy="864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060606"/>
                </a:solidFill>
                <a:latin typeface="Helvetica"/>
              </a:rPr>
              <a:t>4. FPPN</a:t>
            </a:r>
          </a:p>
        </p:txBody>
      </p:sp>
      <p:sp>
        <p:nvSpPr>
          <p:cNvPr id="41" name="TextBox 40"/>
          <p:cNvSpPr txBox="1"/>
          <p:nvPr/>
        </p:nvSpPr>
        <p:spPr>
          <a:xfrm>
            <a:off x="9144000" y="2880000"/>
            <a:ext cx="2376000" cy="1080000"/>
          </a:xfrm>
          <a:prstGeom prst="rect">
            <a:avLst/>
          </a:prstGeom>
          <a:noFill/>
        </p:spPr>
        <p:txBody>
          <a:bodyPr wrap="square" anchor="t" lIns="54000" rIns="54000"/>
          <a:lstStyle/>
          <a:p>
            <a:pPr algn="ctr"/>
            <a:r>
              <a:rPr sz="1400" b="0">
                <a:solidFill>
                  <a:srgbClr val="060606"/>
                </a:solidFill>
                <a:latin typeface="Helvetica"/>
              </a:rPr>
              <a:t>Rapproche aller et retour, comptabilise, relance les rejets</a:t>
            </a:r>
          </a:p>
        </p:txBody>
      </p:sp>
      <p:sp>
        <p:nvSpPr>
          <p:cNvPr id="42" name="Rounded Rectangle 41"/>
          <p:cNvSpPr/>
          <p:nvPr/>
        </p:nvSpPr>
        <p:spPr>
          <a:xfrm>
            <a:off x="503999" y="4320000"/>
            <a:ext cx="11232000" cy="936000"/>
          </a:xfrm>
          <a:prstGeom prst="roundRect">
            <a:avLst/>
          </a:prstGeom>
          <a:solidFill>
            <a:srgbClr val="F2F2F2"/>
          </a:solid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060606"/>
                </a:solidFill>
                <a:latin typeface="Helvetica"/>
              </a:rPr>
              <a:t>Contrôle Adenka : taux de précompte = montant retour / montant aller, poste par poste et mois par mois (partie 3)</a:t>
            </a:r>
          </a:p>
        </p:txBody>
      </p:sp>
    </p:spTree>
    <p:extLst>
      <p:ext uri="{BB962C8B-B14F-4D97-AF65-F5344CB8AC3E}">
        <p14:creationId xmlns:p14="http://schemas.microsoft.com/office/powerpoint/2010/main" val="2517182212"/>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Flux financiers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ressources de l'année couvrent les prestations, les frais et dégagent un excédent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Produits 3 671 499 865 FCFA, charges 3 250 431 812 FCFA, résultat 437 899 911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5 : Produits, charges et résultat 2025</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Les cotisations sont la ressource principale.</a:t>
            </a:r>
            <a:r>
              <a:rPr sz="1400" b="0">
                <a:solidFill>
                  <a:srgbClr val="060606"/>
                </a:solidFill>
                <a:latin typeface="Helvetica"/>
              </a:rPr>
              <a:t> 2 409 281 030 FCFA en maladie et 1 008 270 692 FCFA en décès.</a:t>
            </a:r>
          </a:p>
          <a:p>
            <a:pPr algn="just">
              <a:spcAft>
                <a:spcPts val="800"/>
              </a:spcAft>
            </a:pPr>
            <a:r>
              <a:rPr sz="1400" b="1">
                <a:solidFill>
                  <a:srgbClr val="060606"/>
                </a:solidFill>
                <a:latin typeface="Helvetica"/>
              </a:rPr>
              <a:t>Les prestations maladie absorbent la plus grande part.</a:t>
            </a:r>
            <a:r>
              <a:rPr sz="1400" b="0">
                <a:solidFill>
                  <a:srgbClr val="060606"/>
                </a:solidFill>
                <a:latin typeface="Helvetica"/>
              </a:rPr>
              <a:t> 1 771 635 361 FCFA, contre 193 136 666 FCFA en décès.</a:t>
            </a:r>
          </a:p>
          <a:p>
            <a:pPr algn="just">
              <a:spcAft>
                <a:spcPts val="800"/>
              </a:spcAft>
            </a:pPr>
            <a:r>
              <a:rPr sz="1400" b="1">
                <a:solidFill>
                  <a:srgbClr val="060606"/>
                </a:solidFill>
                <a:latin typeface="Helvetica"/>
              </a:rPr>
              <a:t>Les frais de gestion pèsent 32,23 % des cotisations.</a:t>
            </a:r>
            <a:r>
              <a:rPr sz="1400" b="0">
                <a:solidFill>
                  <a:srgbClr val="060606"/>
                </a:solidFill>
                <a:latin typeface="Helvetica"/>
              </a:rPr>
              <a:t> Ils couvrent le personnel, les indemnités des organes, le fonctionnement et les amortissements.</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Tree>
    <p:extLst>
      <p:ext uri="{BB962C8B-B14F-4D97-AF65-F5344CB8AC3E}">
        <p14:creationId xmlns:p14="http://schemas.microsoft.com/office/powerpoint/2010/main" val="395616173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Notions de base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Sept notions suffisent pour lire l'ensemble du rapport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notion est définie ici une fois, puis utilisée avec le même sens dans tout le rapport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 : Notions utilisées dans le rapport</a:t>
            </a:r>
          </a:p>
        </p:txBody>
      </p:sp>
      <p:graphicFrame>
        <p:nvGraphicFramePr>
          <p:cNvPr id="32" name="Table 31"/>
          <p:cNvGraphicFramePr>
            <a:graphicFrameLocks noGrp="1"/>
          </p:cNvGraphicFramePr>
          <p:nvPr/>
        </p:nvGraphicFramePr>
        <p:xfrm>
          <a:off x="503999" y="1655999"/>
          <a:ext cx="11232000" cy="2592000"/>
        </p:xfrm>
        <a:graphic>
          <a:graphicData uri="http://schemas.openxmlformats.org/drawingml/2006/table">
            <a:tbl>
              <a:tblPr firstRow="0" bandRow="0">
                <a:tableStyleId>{5940675A-B579-460E-94D1-54222C63F5DA}</a:tableStyleId>
              </a:tblPr>
              <a:tblGrid>
                <a:gridCol w="1872000"/>
                <a:gridCol w="5544000"/>
                <a:gridCol w="3816000"/>
              </a:tblGrid>
              <a:tr h="324000">
                <a:tc>
                  <a:txBody>
                    <a:bodyPr/>
                    <a:lstStyle/>
                    <a:p>
                      <a:pPr marL="0" indent="0" lvl="0">
                        <a:buNone/>
                      </a:pPr>
                      <a:r>
                        <a:rPr sz="1200" b="1">
                          <a:solidFill>
                            <a:srgbClr val="FFFFFF"/>
                          </a:solidFill>
                          <a:latin typeface="Helvetica"/>
                        </a:rPr>
                        <a:t>Notion</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Définition simple</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Exemple dans le rapport</a:t>
                      </a:r>
                    </a:p>
                  </a:txBody>
                  <a:tcPr marL="43200" marR="43200" marT="14400" marB="14400" anchor="ctr">
                    <a:solidFill>
                      <a:srgbClr val="060606"/>
                    </a:solidFill>
                  </a:tcPr>
                </a:tc>
              </a:tr>
              <a:tr h="324000">
                <a:tc>
                  <a:txBody>
                    <a:bodyPr/>
                    <a:lstStyle/>
                    <a:p>
                      <a:pPr marL="0" indent="0" lvl="0">
                        <a:buNone/>
                      </a:pPr>
                      <a:r>
                        <a:rPr sz="1200" b="1">
                          <a:solidFill>
                            <a:srgbClr val="060606"/>
                          </a:solidFill>
                          <a:latin typeface="Helvetica"/>
                        </a:rPr>
                        <a:t>Cotisation</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Somme versée par le mutualiste pour être couvert</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5 % du salaire de base</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Prestation</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Somme payée par le FPPN quand le risque survient (soins, décès)</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Factures des cliniques, capital décès</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Sinistralité (S/C)</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Prestations divisées par cotisations : part des cotisations consommée par les prestations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S/C maladie 2025</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Provision technique</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Somme mise de côté au bilan pour payer les prestations déjà nées mais pas encore payées</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Provision pour prestations à payer</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Engagement</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Ce que le FPPN devra payer plus tard à ses mutualistes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Épargne PEP et EFC à restituer</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Adossement</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Correspondance entre les dettes et les actifs disponibles pour les payer</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Épargne et placements dédiés</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Ce qui reste quand on retire toutes les dettes de tous les actifs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Négatifs de 2020 à 2026</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46406062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Contexte et démarche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Mission, périmètre, chaîne de traitement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06776365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Mission et périmètre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volet actuariel couvre les engagements, les provisions et les placements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Période d'analyse du 1er janvier 2020 au 31 août 2026. Données arrêtées à l'envoi du FPPN reçu le 15/10/2026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offre technique Adenka et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 : Périmètre de la mission actuarielle et statistique</a:t>
            </a:r>
          </a:p>
        </p:txBody>
      </p:sp>
      <p:graphicFrame>
        <p:nvGraphicFramePr>
          <p:cNvPr id="32" name="Table 31"/>
          <p:cNvGraphicFramePr>
            <a:graphicFrameLocks noGrp="1"/>
          </p:cNvGraphicFramePr>
          <p:nvPr/>
        </p:nvGraphicFramePr>
        <p:xfrm>
          <a:off x="503999" y="1655999"/>
          <a:ext cx="11232000" cy="2592000"/>
        </p:xfrm>
        <a:graphic>
          <a:graphicData uri="http://schemas.openxmlformats.org/drawingml/2006/table">
            <a:tbl>
              <a:tblPr firstRow="0" bandRow="0">
                <a:tableStyleId>{5940675A-B579-460E-94D1-54222C63F5DA}</a:tableStyleId>
              </a:tblPr>
              <a:tblGrid>
                <a:gridCol w="2304000"/>
                <a:gridCol w="5472000"/>
                <a:gridCol w="3456000"/>
              </a:tblGrid>
              <a:tr h="324000">
                <a:tc>
                  <a:txBody>
                    <a:bodyPr/>
                    <a:lstStyle/>
                    <a:p>
                      <a:pPr marL="0" indent="0" lvl="0">
                        <a:buNone/>
                      </a:pPr>
                      <a:r>
                        <a:rPr sz="1200" b="1">
                          <a:solidFill>
                            <a:srgbClr val="FFFFFF"/>
                          </a:solidFill>
                          <a:latin typeface="Helvetica"/>
                        </a:rPr>
                        <a:t>Axe</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Question traitée</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État au 15/10/2026</a:t>
                      </a:r>
                    </a:p>
                  </a:txBody>
                  <a:tcPr marL="43200" marR="43200" marT="14400" marB="14400" anchor="ctr">
                    <a:solidFill>
                      <a:srgbClr val="060606"/>
                    </a:solidFill>
                  </a:tcPr>
                </a:tc>
              </a:tr>
              <a:tr h="324000">
                <a:tc>
                  <a:txBody>
                    <a:bodyPr/>
                    <a:lstStyle/>
                    <a:p>
                      <a:pPr marL="0" indent="0" lvl="0">
                        <a:buNone/>
                      </a:pPr>
                      <a:r>
                        <a:rPr sz="1200" b="1">
                          <a:solidFill>
                            <a:srgbClr val="060606"/>
                          </a:solidFill>
                          <a:latin typeface="Helvetica"/>
                        </a:rPr>
                        <a:t>Contrôle des données de base</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Les données sont-elles complètes et cohérentes avec la comptabilité ?</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Réalisé sur les données reçues</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Engagements envers les adhérents</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Combien le FPPN doit-il aux mutualistes et ayants droit ?</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Partiel : épargne seulement</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Suffisance des provisions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Les provisions couvrent-elles les prestations dues ?</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Constat sur les montants, calcul en attente</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Adossement actif / passif</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Les actifs sont-ils disponibles quand les dettes arrivent à échéance ?</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Réalisé sur les balances</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Adéquation des placements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Les placements sont-ils sûrs, liquides, rentables ?</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Réalisé sur les balances</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Indicateurs AIRMS</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Les ratios des mutuelles sociales sont-ils respectés ?</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En attente des seuils du règlement</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Équilibre technique</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Les cotisations futures couvrent-elles les prestations futures ?</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En attente des âges et des dossiers</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1600897771"/>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Chaîne de traitement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chiffre est tracé du fichier du FPPN jusqu'au rapport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Cinq étapes, chacune avec son contrôle : inventaire, extraction, base, analyses, rapport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
        <p:nvSpPr>
          <p:cNvPr id="31" name="Rounded Rectangle 30"/>
          <p:cNvSpPr/>
          <p:nvPr/>
        </p:nvSpPr>
        <p:spPr>
          <a:xfrm>
            <a:off x="503999" y="1800000"/>
            <a:ext cx="1944000" cy="93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Inventaire</a:t>
            </a:r>
          </a:p>
          <a:p>
            <a:pPr algn="ctr"/>
            <a:r>
              <a:rPr sz="1300" b="0">
                <a:solidFill>
                  <a:srgbClr val="FFFFFF"/>
                </a:solidFill>
                <a:latin typeface="Helvetica"/>
              </a:rPr>
              <a:t>4 287 fichiers</a:t>
            </a:r>
          </a:p>
        </p:txBody>
      </p:sp>
      <p:sp>
        <p:nvSpPr>
          <p:cNvPr id="32" name="Rounded Rectangle 31"/>
          <p:cNvSpPr/>
          <p:nvPr/>
        </p:nvSpPr>
        <p:spPr>
          <a:xfrm>
            <a:off x="503999" y="3311999"/>
            <a:ext cx="1944000" cy="864000"/>
          </a:xfrm>
          <a:prstGeom prst="roundRect">
            <a:avLst/>
          </a:prstGeom>
          <a:noFill/>
          <a:ln w="19050">
            <a:solidFill>
              <a:srgbClr val="EFAC62"/>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112A40"/>
                </a:solidFill>
                <a:latin typeface="Helvetica"/>
              </a:rPr>
              <a:t>Contrôle</a:t>
            </a:r>
          </a:p>
          <a:p>
            <a:pPr algn="ctr"/>
            <a:r>
              <a:rPr sz="1100" b="0">
                <a:solidFill>
                  <a:srgbClr val="112A40"/>
                </a:solidFill>
                <a:latin typeface="Helvetica"/>
              </a:rPr>
              <a:t>Doublons, illisibles</a:t>
            </a:r>
          </a:p>
        </p:txBody>
      </p:sp>
      <p:cxnSp>
        <p:nvCxnSpPr>
          <p:cNvPr id="33" name="Connector 32"/>
          <p:cNvCxnSpPr/>
          <p:nvPr/>
        </p:nvCxnSpPr>
        <p:spPr>
          <a:xfrm>
            <a:off x="1475999" y="2736000"/>
            <a:ext cx="0" cy="575999"/>
          </a:xfrm>
          <a:prstGeom prst="line">
            <a:avLst/>
          </a:prstGeom>
          <a:ln w="19050">
            <a:solidFill>
              <a:srgbClr val="EFAC6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448000" y="2268000"/>
            <a:ext cx="342000" cy="0"/>
          </a:xfrm>
          <a:prstGeom prst="line">
            <a:avLst/>
          </a:prstGeom>
          <a:ln w="381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2790000" y="1800000"/>
            <a:ext cx="1944000" cy="93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Extraction</a:t>
            </a:r>
          </a:p>
          <a:p>
            <a:pPr algn="ctr"/>
            <a:r>
              <a:rPr sz="1300" b="0">
                <a:solidFill>
                  <a:srgbClr val="FFFFFF"/>
                </a:solidFill>
                <a:latin typeface="Helvetica"/>
              </a:rPr>
              <a:t>CSV sans perte</a:t>
            </a:r>
          </a:p>
        </p:txBody>
      </p:sp>
      <p:sp>
        <p:nvSpPr>
          <p:cNvPr id="36" name="Rounded Rectangle 35"/>
          <p:cNvSpPr/>
          <p:nvPr/>
        </p:nvSpPr>
        <p:spPr>
          <a:xfrm>
            <a:off x="2790000" y="3311999"/>
            <a:ext cx="1944000" cy="864000"/>
          </a:xfrm>
          <a:prstGeom prst="roundRect">
            <a:avLst/>
          </a:prstGeom>
          <a:noFill/>
          <a:ln w="19050">
            <a:solidFill>
              <a:srgbClr val="EFAC62"/>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112A40"/>
                </a:solidFill>
                <a:latin typeface="Helvetica"/>
              </a:rPr>
              <a:t>Contrôle</a:t>
            </a:r>
          </a:p>
          <a:p>
            <a:pPr algn="ctr"/>
            <a:r>
              <a:rPr sz="1100" b="0">
                <a:solidFill>
                  <a:srgbClr val="112A40"/>
                </a:solidFill>
                <a:latin typeface="Helvetica"/>
              </a:rPr>
              <a:t>Empreintes SHA-256</a:t>
            </a:r>
          </a:p>
        </p:txBody>
      </p:sp>
      <p:cxnSp>
        <p:nvCxnSpPr>
          <p:cNvPr id="37" name="Connector 36"/>
          <p:cNvCxnSpPr/>
          <p:nvPr/>
        </p:nvCxnSpPr>
        <p:spPr>
          <a:xfrm>
            <a:off x="3761999" y="2736000"/>
            <a:ext cx="0" cy="575999"/>
          </a:xfrm>
          <a:prstGeom prst="line">
            <a:avLst/>
          </a:prstGeom>
          <a:ln w="19050">
            <a:solidFill>
              <a:srgbClr val="EFAC6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734000" y="2268000"/>
            <a:ext cx="342000" cy="0"/>
          </a:xfrm>
          <a:prstGeom prst="line">
            <a:avLst/>
          </a:prstGeom>
          <a:ln w="381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076000" y="1800000"/>
            <a:ext cx="1944000" cy="93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Base</a:t>
            </a:r>
          </a:p>
          <a:p>
            <a:pPr algn="ctr"/>
            <a:r>
              <a:rPr sz="1300" b="0">
                <a:solidFill>
                  <a:srgbClr val="FFFFFF"/>
                </a:solidFill>
                <a:latin typeface="Helvetica"/>
              </a:rPr>
              <a:t>4,45 millions de lignes</a:t>
            </a:r>
          </a:p>
        </p:txBody>
      </p:sp>
      <p:sp>
        <p:nvSpPr>
          <p:cNvPr id="40" name="Rounded Rectangle 39"/>
          <p:cNvSpPr/>
          <p:nvPr/>
        </p:nvSpPr>
        <p:spPr>
          <a:xfrm>
            <a:off x="5076000" y="3311999"/>
            <a:ext cx="1944000" cy="864000"/>
          </a:xfrm>
          <a:prstGeom prst="roundRect">
            <a:avLst/>
          </a:prstGeom>
          <a:noFill/>
          <a:ln w="19050">
            <a:solidFill>
              <a:srgbClr val="EFAC62"/>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112A40"/>
                </a:solidFill>
                <a:latin typeface="Helvetica"/>
              </a:rPr>
              <a:t>Contrôle</a:t>
            </a:r>
          </a:p>
          <a:p>
            <a:pPr algn="ctr"/>
            <a:r>
              <a:rPr sz="1100" b="0">
                <a:solidFill>
                  <a:srgbClr val="112A40"/>
                </a:solidFill>
                <a:latin typeface="Helvetica"/>
              </a:rPr>
              <a:t>Totaux, montants doublés</a:t>
            </a:r>
          </a:p>
        </p:txBody>
      </p:sp>
      <p:cxnSp>
        <p:nvCxnSpPr>
          <p:cNvPr id="41" name="Connector 40"/>
          <p:cNvCxnSpPr/>
          <p:nvPr/>
        </p:nvCxnSpPr>
        <p:spPr>
          <a:xfrm>
            <a:off x="6048000" y="2736000"/>
            <a:ext cx="0" cy="575999"/>
          </a:xfrm>
          <a:prstGeom prst="line">
            <a:avLst/>
          </a:prstGeom>
          <a:ln w="19050">
            <a:solidFill>
              <a:srgbClr val="EFAC6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7020000" y="2268000"/>
            <a:ext cx="342000" cy="0"/>
          </a:xfrm>
          <a:prstGeom prst="line">
            <a:avLst/>
          </a:prstGeom>
          <a:ln w="381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7361999" y="1800000"/>
            <a:ext cx="1944000" cy="93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Analyses</a:t>
            </a:r>
          </a:p>
          <a:p>
            <a:pPr algn="ctr"/>
            <a:r>
              <a:rPr sz="1300" b="0">
                <a:solidFill>
                  <a:srgbClr val="FFFFFF"/>
                </a:solidFill>
                <a:latin typeface="Helvetica"/>
              </a:rPr>
              <a:t>Indicateurs, tests</a:t>
            </a:r>
          </a:p>
        </p:txBody>
      </p:sp>
      <p:sp>
        <p:nvSpPr>
          <p:cNvPr id="44" name="Rounded Rectangle 43"/>
          <p:cNvSpPr/>
          <p:nvPr/>
        </p:nvSpPr>
        <p:spPr>
          <a:xfrm>
            <a:off x="7361999" y="3311999"/>
            <a:ext cx="1944000" cy="864000"/>
          </a:xfrm>
          <a:prstGeom prst="roundRect">
            <a:avLst/>
          </a:prstGeom>
          <a:noFill/>
          <a:ln w="19050">
            <a:solidFill>
              <a:srgbClr val="EFAC62"/>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112A40"/>
                </a:solidFill>
                <a:latin typeface="Helvetica"/>
              </a:rPr>
              <a:t>Contrôle</a:t>
            </a:r>
          </a:p>
          <a:p>
            <a:pPr algn="ctr"/>
            <a:r>
              <a:rPr sz="1100" b="0">
                <a:solidFill>
                  <a:srgbClr val="112A40"/>
                </a:solidFill>
                <a:latin typeface="Helvetica"/>
              </a:rPr>
              <a:t>Classeur des calculs</a:t>
            </a:r>
          </a:p>
        </p:txBody>
      </p:sp>
      <p:cxnSp>
        <p:nvCxnSpPr>
          <p:cNvPr id="45" name="Connector 44"/>
          <p:cNvCxnSpPr/>
          <p:nvPr/>
        </p:nvCxnSpPr>
        <p:spPr>
          <a:xfrm>
            <a:off x="8333999" y="2736000"/>
            <a:ext cx="0" cy="575999"/>
          </a:xfrm>
          <a:prstGeom prst="line">
            <a:avLst/>
          </a:prstGeom>
          <a:ln w="19050">
            <a:solidFill>
              <a:srgbClr val="EFAC6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305999" y="2268000"/>
            <a:ext cx="342000" cy="0"/>
          </a:xfrm>
          <a:prstGeom prst="line">
            <a:avLst/>
          </a:prstGeom>
          <a:ln w="381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9647999" y="1800000"/>
            <a:ext cx="1944000" cy="93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Rapport</a:t>
            </a:r>
          </a:p>
          <a:p>
            <a:pPr algn="ctr"/>
            <a:r>
              <a:rPr sz="1300" b="0">
                <a:solidFill>
                  <a:srgbClr val="FFFFFF"/>
                </a:solidFill>
                <a:latin typeface="Helvetica"/>
              </a:rPr>
              <a:t>Graphiques natifs</a:t>
            </a:r>
          </a:p>
        </p:txBody>
      </p:sp>
      <p:sp>
        <p:nvSpPr>
          <p:cNvPr id="48" name="Rounded Rectangle 47"/>
          <p:cNvSpPr/>
          <p:nvPr/>
        </p:nvSpPr>
        <p:spPr>
          <a:xfrm>
            <a:off x="9647999" y="3311999"/>
            <a:ext cx="1944000" cy="864000"/>
          </a:xfrm>
          <a:prstGeom prst="roundRect">
            <a:avLst/>
          </a:prstGeom>
          <a:noFill/>
          <a:ln w="19050">
            <a:solidFill>
              <a:srgbClr val="EFAC62"/>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112A40"/>
                </a:solidFill>
                <a:latin typeface="Helvetica"/>
              </a:rPr>
              <a:t>Contrôle</a:t>
            </a:r>
          </a:p>
          <a:p>
            <a:pPr algn="ctr"/>
            <a:r>
              <a:rPr sz="1100" b="0">
                <a:solidFill>
                  <a:srgbClr val="112A40"/>
                </a:solidFill>
                <a:latin typeface="Helvetica"/>
              </a:rPr>
              <a:t>Contrôle des chiffres</a:t>
            </a:r>
          </a:p>
        </p:txBody>
      </p:sp>
      <p:cxnSp>
        <p:nvCxnSpPr>
          <p:cNvPr id="49" name="Connector 48"/>
          <p:cNvCxnSpPr/>
          <p:nvPr/>
        </p:nvCxnSpPr>
        <p:spPr>
          <a:xfrm>
            <a:off x="10619999" y="2736000"/>
            <a:ext cx="0" cy="575999"/>
          </a:xfrm>
          <a:prstGeom prst="line">
            <a:avLst/>
          </a:prstGeom>
          <a:ln w="19050">
            <a:solidFill>
              <a:srgbClr val="EFAC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03999" y="4536000"/>
            <a:ext cx="11232000" cy="1080000"/>
          </a:xfrm>
          <a:prstGeom prst="rect">
            <a:avLst/>
          </a:prstGeom>
          <a:noFill/>
        </p:spPr>
        <p:txBody>
          <a:bodyPr wrap="square" anchor="t" lIns="54000" rIns="54000"/>
          <a:lstStyle/>
          <a:p>
            <a:pPr algn="l"/>
            <a:r>
              <a:rPr sz="1300" b="0">
                <a:solidFill>
                  <a:srgbClr val="53565A"/>
                </a:solidFill>
                <a:latin typeface="Helvetica"/>
              </a:rPr>
              <a:t>Schéma modifiable, à compléter au fil des entretiens avec les services du FPPN (sources supplémentaires, nouveaux contrôles).</a:t>
            </a:r>
          </a:p>
        </p:txBody>
      </p:sp>
    </p:spTree>
    <p:extLst>
      <p:ext uri="{BB962C8B-B14F-4D97-AF65-F5344CB8AC3E}">
        <p14:creationId xmlns:p14="http://schemas.microsoft.com/office/powerpoint/2010/main" val="159534898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Données et qualité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Couverture, contrôles, anomalies détectées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59786347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contrôle des données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contrôles garantissent que la base reproduit fidèlement les fichiers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Exhaustivité, cohérence interne et rapprochement entre sources indépendantes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31" name="Rounded Rectangle 30"/>
          <p:cNvSpPr/>
          <p:nvPr/>
        </p:nvSpPr>
        <p:spPr>
          <a:xfrm>
            <a:off x="503999" y="1512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Exhaustivité</a:t>
            </a:r>
          </a:p>
        </p:txBody>
      </p:sp>
      <p:sp>
        <p:nvSpPr>
          <p:cNvPr id="32" name="Rectangle 31"/>
          <p:cNvSpPr/>
          <p:nvPr/>
        </p:nvSpPr>
        <p:spPr>
          <a:xfrm>
            <a:off x="2988000" y="1512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96000" y="1602000"/>
            <a:ext cx="5688000" cy="936000"/>
          </a:xfrm>
          <a:prstGeom prst="rect">
            <a:avLst/>
          </a:prstGeom>
          <a:noFill/>
        </p:spPr>
        <p:txBody>
          <a:bodyPr wrap="square" anchor="ctr" lIns="54000" rIns="54000"/>
          <a:lstStyle/>
          <a:p>
            <a:pPr algn="l"/>
            <a:r>
              <a:rPr sz="1400" b="0">
                <a:solidFill>
                  <a:srgbClr val="060606"/>
                </a:solidFill>
                <a:latin typeface="Helvetica"/>
              </a:rPr>
              <a:t>Empreinte SHA-256 de chaque fichier. Lignes et cellules comptées avant et après conversion.</a:t>
            </a:r>
          </a:p>
        </p:txBody>
      </p:sp>
      <p:sp>
        <p:nvSpPr>
          <p:cNvPr id="34" name="Rounded Rectangle 33"/>
          <p:cNvSpPr/>
          <p:nvPr/>
        </p:nvSpPr>
        <p:spPr>
          <a:xfrm>
            <a:off x="9000000" y="1512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218 fichiers copiés, 491 feuilles converties</a:t>
            </a:r>
          </a:p>
        </p:txBody>
      </p:sp>
      <p:sp>
        <p:nvSpPr>
          <p:cNvPr id="35" name="Rounded Rectangle 34"/>
          <p:cNvSpPr/>
          <p:nvPr/>
        </p:nvSpPr>
        <p:spPr>
          <a:xfrm>
            <a:off x="503999" y="2844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Cohérence interne</a:t>
            </a:r>
          </a:p>
        </p:txBody>
      </p:sp>
      <p:sp>
        <p:nvSpPr>
          <p:cNvPr id="36" name="Rectangle 35"/>
          <p:cNvSpPr/>
          <p:nvPr/>
        </p:nvSpPr>
        <p:spPr>
          <a:xfrm>
            <a:off x="2988000" y="2844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96000" y="2934000"/>
            <a:ext cx="5688000" cy="936000"/>
          </a:xfrm>
          <a:prstGeom prst="rect">
            <a:avLst/>
          </a:prstGeom>
          <a:noFill/>
        </p:spPr>
        <p:txBody>
          <a:bodyPr wrap="square" anchor="ctr" lIns="54000" rIns="54000"/>
          <a:lstStyle/>
          <a:p>
            <a:pPr algn="l"/>
            <a:r>
              <a:rPr sz="1400" b="0">
                <a:solidFill>
                  <a:srgbClr val="060606"/>
                </a:solidFill>
                <a:latin typeface="Helvetica"/>
              </a:rPr>
              <a:t>Totaux imprimés retrouvés (Grenier). Débit = crédit (comptabilité).</a:t>
            </a:r>
          </a:p>
        </p:txBody>
      </p:sp>
      <p:sp>
        <p:nvSpPr>
          <p:cNvPr id="38" name="Rounded Rectangle 37"/>
          <p:cNvSpPr/>
          <p:nvPr/>
        </p:nvSpPr>
        <p:spPr>
          <a:xfrm>
            <a:off x="9000000" y="2844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37 balances âgées, 7 exercices</a:t>
            </a:r>
          </a:p>
        </p:txBody>
      </p:sp>
      <p:sp>
        <p:nvSpPr>
          <p:cNvPr id="39" name="Rounded Rectangle 38"/>
          <p:cNvSpPr/>
          <p:nvPr/>
        </p:nvSpPr>
        <p:spPr>
          <a:xfrm>
            <a:off x="503999" y="4176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Rapprochement</a:t>
            </a:r>
          </a:p>
        </p:txBody>
      </p:sp>
      <p:sp>
        <p:nvSpPr>
          <p:cNvPr id="40" name="Rectangle 39"/>
          <p:cNvSpPr/>
          <p:nvPr/>
        </p:nvSpPr>
        <p:spPr>
          <a:xfrm>
            <a:off x="2988000" y="4176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096000" y="4266000"/>
            <a:ext cx="5688000" cy="936000"/>
          </a:xfrm>
          <a:prstGeom prst="rect">
            <a:avLst/>
          </a:prstGeom>
          <a:noFill/>
        </p:spPr>
        <p:txBody>
          <a:bodyPr wrap="square" anchor="ctr" lIns="54000" rIns="54000"/>
          <a:lstStyle/>
          <a:p>
            <a:pPr algn="l"/>
            <a:r>
              <a:rPr sz="1400" b="0">
                <a:solidFill>
                  <a:srgbClr val="060606"/>
                </a:solidFill>
                <a:latin typeface="Helvetica"/>
              </a:rPr>
              <a:t>Taux = montant retour / montant aller, par poste et par mois commun.</a:t>
            </a:r>
          </a:p>
        </p:txBody>
      </p:sp>
      <p:sp>
        <p:nvSpPr>
          <p:cNvPr id="42" name="Rounded Rectangle 41"/>
          <p:cNvSpPr/>
          <p:nvPr/>
        </p:nvSpPr>
        <p:spPr>
          <a:xfrm>
            <a:off x="9000000" y="4176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6 postes comparés</a:t>
            </a:r>
          </a:p>
        </p:txBody>
      </p:sp>
    </p:spTree>
    <p:extLst>
      <p:ext uri="{BB962C8B-B14F-4D97-AF65-F5344CB8AC3E}">
        <p14:creationId xmlns:p14="http://schemas.microsoft.com/office/powerpoint/2010/main" val="2687670533"/>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Couverture de la période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données mensuelles ne couvrent pas les années 2020 à 2022</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80 mois, seuls la comptabilité et le PEP sont complets. Aucune donnée de prestations n'a été reçue</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6 : Mois reçus par flux de données, sur 80 mois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mois (janvier 2020 à août 2026)</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La comptabilité couvre toute la période en totaux annuels.</a:t>
            </a:r>
            <a:r>
              <a:rPr sz="1400" b="0">
                <a:solidFill>
                  <a:srgbClr val="060606"/>
                </a:solidFill>
                <a:latin typeface="Helvetica"/>
              </a:rPr>
              <a:t> Seul le détail des écritures de janvier à août 2020 manque.</a:t>
            </a:r>
          </a:p>
          <a:p>
            <a:pPr algn="just">
              <a:spcAft>
                <a:spcPts val="800"/>
              </a:spcAft>
            </a:pPr>
            <a:r>
              <a:rPr sz="1400" b="1">
                <a:solidFill>
                  <a:srgbClr val="060606"/>
                </a:solidFill>
                <a:latin typeface="Helvetica"/>
              </a:rPr>
              <a:t>Les précomptes mensuels commencent en 2023 ou 2024.</a:t>
            </a:r>
            <a:r>
              <a:rPr sz="1400" b="0">
                <a:solidFill>
                  <a:srgbClr val="060606"/>
                </a:solidFill>
                <a:latin typeface="Helvetica"/>
              </a:rPr>
              <a:t> Maladie et décès en janvier 2024, retraités en février 2024, EFC en janvier 2023.</a:t>
            </a:r>
          </a:p>
          <a:p>
            <a:pPr algn="just">
              <a:spcAft>
                <a:spcPts val="800"/>
              </a:spcAft>
            </a:pPr>
            <a:r>
              <a:rPr sz="1400" b="1">
                <a:solidFill>
                  <a:srgbClr val="060606"/>
                </a:solidFill>
                <a:latin typeface="Helvetica"/>
              </a:rPr>
              <a:t>Le PEP est complet grâce aux fichiers texte de la Solde</a:t>
            </a:r>
            <a:r>
              <a:rPr sz="1400" b="0">
                <a:solidFill>
                  <a:srgbClr val="060606"/>
                </a:solidFill>
                <a:latin typeface="Helvetica"/>
              </a:rPr>
              <a:t>, qui donnent le détail par mutualiste et par mois de 2020 à 2022.</a:t>
            </a:r>
          </a:p>
          <a:p>
            <a:pPr algn="just">
              <a:spcAft>
                <a:spcPts val="800"/>
              </a:spcAft>
            </a:pPr>
            <a:r>
              <a:rPr sz="1400" b="1">
                <a:solidFill>
                  <a:srgbClr val="060606"/>
                </a:solidFill>
                <a:latin typeface="Helvetica"/>
              </a:rPr>
              <a:t>Aucune base de prestations n'a été transmise.</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Tree>
    <p:extLst>
      <p:ext uri="{BB962C8B-B14F-4D97-AF65-F5344CB8AC3E}">
        <p14:creationId xmlns:p14="http://schemas.microsoft.com/office/powerpoint/2010/main" val="661027332"/>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lignes de total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ligne de total cachée aurait doublé les cotisations maladie du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Fichier de février 2025 : la dernière ligne porte 202 597 314 FCFA, soit la somme des 27 861 lignes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FPPN-SOLDE\EFFECTIF POLICE (MALADIE)\2025\FEVRIER 2025_effectif_police_936.xlsx (identifiant d'extraction F03875). Noms et matricules masqués</a:t>
            </a:r>
          </a:p>
        </p:txBody>
      </p:sp>
      <p:graphicFrame>
        <p:nvGraphicFramePr>
          <p:cNvPr id="31" name="Table 30"/>
          <p:cNvGraphicFramePr>
            <a:graphicFrameLocks noGrp="1"/>
          </p:cNvGraphicFramePr>
          <p:nvPr/>
        </p:nvGraphicFramePr>
        <p:xfrm>
          <a:off x="503999" y="1548000"/>
          <a:ext cx="8136000" cy="1116000"/>
        </p:xfrm>
        <a:graphic>
          <a:graphicData uri="http://schemas.openxmlformats.org/drawingml/2006/table">
            <a:tbl>
              <a:tblPr firstRow="0" bandRow="0">
                <a:tableStyleId>{5940675A-B579-460E-94D1-54222C63F5DA}</a:tableStyleId>
              </a:tblPr>
              <a:tblGrid>
                <a:gridCol w="720000"/>
                <a:gridCol w="936000"/>
                <a:gridCol w="576000"/>
                <a:gridCol w="1224000"/>
                <a:gridCol w="1296000"/>
                <a:gridCol w="1296000"/>
                <a:gridCol w="1224000"/>
                <a:gridCol w="864000"/>
              </a:tblGrid>
              <a:tr h="223200">
                <a:tc>
                  <a:txBody>
                    <a:bodyPr/>
                    <a:lstStyle/>
                    <a:p>
                      <a:pPr marL="0" indent="0" lvl="0">
                        <a:buNone/>
                      </a:pPr>
                      <a:r>
                        <a:rPr sz="1000" b="1">
                          <a:solidFill>
                            <a:srgbClr val="FFFFFF"/>
                          </a:solidFill>
                          <a:latin typeface="Helvetica"/>
                        </a:rPr>
                        <a:t>Poste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Org</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Début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Fin</a:t>
                      </a:r>
                    </a:p>
                  </a:txBody>
                  <a:tcPr marL="43200" marR="43200" marT="14400" marB="14400" anchor="ctr">
                    <a:solidFill>
                      <a:srgbClr val="060606"/>
                    </a:solidFill>
                  </a:tcPr>
                </a:tc>
              </a:tr>
              <a:tr h="223200">
                <a:tc>
                  <a:txBody>
                    <a:bodyPr/>
                    <a:lstStyle/>
                    <a:p>
                      <a:pPr marL="0" indent="0" lvl="0">
                        <a:buNone/>
                      </a:pPr>
                      <a:r>
                        <a:rPr sz="10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175***Z</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 Z.</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22883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2011-04-01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r>
              <a:tr h="223200">
                <a:tc>
                  <a:txBody>
                    <a:bodyPr/>
                    <a:lstStyle/>
                    <a:p>
                      <a:pPr marL="0" indent="0" lvl="0">
                        <a:buNone/>
                      </a:pPr>
                      <a:r>
                        <a:rPr sz="1000" b="1">
                          <a:solidFill>
                            <a:srgbClr val="060606"/>
                          </a:solidFill>
                          <a:latin typeface="Helvetica"/>
                        </a:rPr>
                        <a:t>936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175***S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 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22003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2011-04-01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r>
              <a:tr h="223200">
                <a:tc>
                  <a:txBody>
                    <a:bodyPr/>
                    <a:lstStyle/>
                    <a:p>
                      <a:pPr marL="0" indent="0" lvl="0">
                        <a:buNone/>
                      </a:pPr>
                      <a:r>
                        <a:rPr sz="10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175***P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K. T. I.</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22003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2000-08-01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r>
              <a:tr h="223200">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27 861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202597314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r>
            </a:tbl>
          </a:graphicData>
        </a:graphic>
      </p:graphicFrame>
      <p:sp>
        <p:nvSpPr>
          <p:cNvPr id="32" name="TextBox 31"/>
          <p:cNvSpPr txBox="1"/>
          <p:nvPr/>
        </p:nvSpPr>
        <p:spPr>
          <a:xfrm>
            <a:off x="503999" y="1350000"/>
            <a:ext cx="8136000" cy="180000"/>
          </a:xfrm>
          <a:prstGeom prst="rect">
            <a:avLst/>
          </a:prstGeom>
          <a:noFill/>
        </p:spPr>
        <p:txBody>
          <a:bodyPr wrap="square" anchor="t" lIns="54000" rIns="54000"/>
          <a:lstStyle/>
          <a:p>
            <a:pPr algn="l"/>
            <a:r>
              <a:rPr sz="900" b="0">
                <a:solidFill>
                  <a:srgbClr val="53565A"/>
                </a:solidFill>
                <a:latin typeface="Helvetica"/>
              </a:rPr>
              <a:t>Extrait : FPPN-SOLDE\EFFECTIF POLICE (MALADIE)\2025\FEVRIER 2025_effectif_police_936.xlsx</a:t>
            </a:r>
          </a:p>
        </p:txBody>
      </p:sp>
      <p:sp>
        <p:nvSpPr>
          <p:cNvPr id="33" name="Rounded Rectangle 32"/>
          <p:cNvSpPr/>
          <p:nvPr/>
        </p:nvSpPr>
        <p:spPr>
          <a:xfrm>
            <a:off x="2718000" y="2429999"/>
            <a:ext cx="1260000" cy="24479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780000" y="227879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238000" y="2429999"/>
            <a:ext cx="1332000" cy="24479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372000" y="227879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856000" y="1584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9216000" y="1548000"/>
            <a:ext cx="2519999" cy="1188000"/>
          </a:xfrm>
          <a:prstGeom prst="rect">
            <a:avLst/>
          </a:prstGeom>
          <a:noFill/>
        </p:spPr>
        <p:txBody>
          <a:bodyPr wrap="square" anchor="t" lIns="54000" rIns="54000"/>
          <a:lstStyle/>
          <a:p>
            <a:pPr algn="l"/>
            <a:r>
              <a:rPr sz="1300" b="0">
                <a:solidFill>
                  <a:srgbClr val="060606"/>
                </a:solidFill>
                <a:latin typeface="Helvetica"/>
              </a:rPr>
              <a:t>Le « matricule » est en fait le nombre de lignes du fichier.</a:t>
            </a:r>
          </a:p>
        </p:txBody>
      </p:sp>
      <p:sp>
        <p:nvSpPr>
          <p:cNvPr id="39" name="Oval 38"/>
          <p:cNvSpPr/>
          <p:nvPr/>
        </p:nvSpPr>
        <p:spPr>
          <a:xfrm>
            <a:off x="8856000" y="288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9216000" y="2844000"/>
            <a:ext cx="2519999" cy="1188000"/>
          </a:xfrm>
          <a:prstGeom prst="rect">
            <a:avLst/>
          </a:prstGeom>
          <a:noFill/>
        </p:spPr>
        <p:txBody>
          <a:bodyPr wrap="square" anchor="t" lIns="54000" rIns="54000"/>
          <a:lstStyle/>
          <a:p>
            <a:pPr algn="l"/>
            <a:r>
              <a:rPr sz="1300" b="0">
                <a:solidFill>
                  <a:srgbClr val="060606"/>
                </a:solidFill>
                <a:latin typeface="Helvetica"/>
              </a:rPr>
              <a:t>Le montant 202 597 314 FCFA est la somme de toutes les lignes.</a:t>
            </a:r>
          </a:p>
        </p:txBody>
      </p:sp>
      <p:sp>
        <p:nvSpPr>
          <p:cNvPr id="41" name="Oval 40"/>
          <p:cNvSpPr/>
          <p:nvPr/>
        </p:nvSpPr>
        <p:spPr>
          <a:xfrm>
            <a:off x="8856000" y="4176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9216000" y="4140000"/>
            <a:ext cx="2519999" cy="1188000"/>
          </a:xfrm>
          <a:prstGeom prst="rect">
            <a:avLst/>
          </a:prstGeom>
          <a:noFill/>
        </p:spPr>
        <p:txBody>
          <a:bodyPr wrap="square" anchor="t" lIns="54000" rIns="54000"/>
          <a:lstStyle/>
          <a:p>
            <a:pPr algn="l"/>
            <a:r>
              <a:rPr sz="1300" b="0">
                <a:solidFill>
                  <a:srgbClr val="060606"/>
                </a:solidFill>
                <a:latin typeface="Helvetica"/>
              </a:rPr>
              <a:t>Règle : ligne écartée. 87 lignes de ce type écartées au total (10 340 860 286 FCFA de double compte évité).</a:t>
            </a:r>
          </a:p>
        </p:txBody>
      </p:sp>
    </p:spTree>
    <p:extLst>
      <p:ext uri="{BB962C8B-B14F-4D97-AF65-F5344CB8AC3E}">
        <p14:creationId xmlns:p14="http://schemas.microsoft.com/office/powerpoint/2010/main" val="1422331341"/>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montants doublés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Des montants saisis deux fois à la suite gonflaient les précomptes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Avril 2024 : 17 montants de plus d'un million de FCFA sont des montants écrits deux fois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FPPN-SOLDE\ALLOCATION DECES\2024\FPPN_ALLOC_DECES_8Z6_AVRIL_2024.xlsx. Noms et matricules masqués</a:t>
            </a:r>
          </a:p>
        </p:txBody>
      </p:sp>
      <p:graphicFrame>
        <p:nvGraphicFramePr>
          <p:cNvPr id="31" name="Table 30"/>
          <p:cNvGraphicFramePr>
            <a:graphicFrameLocks noGrp="1"/>
          </p:cNvGraphicFramePr>
          <p:nvPr/>
        </p:nvGraphicFramePr>
        <p:xfrm>
          <a:off x="503999" y="1548000"/>
          <a:ext cx="7920000" cy="1116000"/>
        </p:xfrm>
        <a:graphic>
          <a:graphicData uri="http://schemas.openxmlformats.org/drawingml/2006/table">
            <a:tbl>
              <a:tblPr firstRow="0" bandRow="0">
                <a:tableStyleId>{5940675A-B579-460E-94D1-54222C63F5DA}</a:tableStyleId>
              </a:tblPr>
              <a:tblGrid>
                <a:gridCol w="1440000"/>
                <a:gridCol w="1440000"/>
                <a:gridCol w="2880000"/>
                <a:gridCol w="2160000"/>
              </a:tblGrid>
              <a:tr h="223200">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dans le fichier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corrigé</a:t>
                      </a:r>
                    </a:p>
                  </a:txBody>
                  <a:tcPr marL="43200" marR="43200" marT="14400" marB="14400" anchor="ctr">
                    <a:solidFill>
                      <a:srgbClr val="060606"/>
                    </a:solidFill>
                  </a:tcPr>
                </a:tc>
              </a:tr>
              <a:tr h="223200">
                <a:tc>
                  <a:txBody>
                    <a:bodyPr/>
                    <a:lstStyle/>
                    <a:p>
                      <a:pPr marL="0" indent="0" lvl="0">
                        <a:buNone/>
                      </a:pPr>
                      <a:r>
                        <a:rPr sz="1000" b="1">
                          <a:solidFill>
                            <a:srgbClr val="060606"/>
                          </a:solidFill>
                          <a:latin typeface="Helvetica"/>
                        </a:rPr>
                        <a:t>260***E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K. N. K.</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4792447924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47924</a:t>
                      </a:r>
                    </a:p>
                  </a:txBody>
                  <a:tcPr marL="43200" marR="43200" marT="14400" marB="14400" anchor="ctr">
                    <a:solidFill>
                      <a:srgbClr val="FFFFFF"/>
                    </a:solidFill>
                  </a:tcPr>
                </a:tc>
              </a:tr>
              <a:tr h="223200">
                <a:tc>
                  <a:txBody>
                    <a:bodyPr/>
                    <a:lstStyle/>
                    <a:p>
                      <a:pPr marL="0" indent="0" lvl="0">
                        <a:buNone/>
                      </a:pPr>
                      <a:r>
                        <a:rPr sz="1000" b="1">
                          <a:solidFill>
                            <a:srgbClr val="060606"/>
                          </a:solidFill>
                          <a:latin typeface="Helvetica"/>
                        </a:rPr>
                        <a:t>463***P</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 G. 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3506635066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35066</a:t>
                      </a:r>
                    </a:p>
                  </a:txBody>
                  <a:tcPr marL="43200" marR="43200" marT="14400" marB="14400" anchor="ctr">
                    <a:solidFill>
                      <a:srgbClr val="F2F2F2"/>
                    </a:solidFill>
                  </a:tcPr>
                </a:tc>
              </a:tr>
              <a:tr h="223200">
                <a:tc>
                  <a:txBody>
                    <a:bodyPr/>
                    <a:lstStyle/>
                    <a:p>
                      <a:pPr marL="0" indent="0" lvl="0">
                        <a:buNone/>
                      </a:pPr>
                      <a:r>
                        <a:rPr sz="1000" b="1">
                          <a:solidFill>
                            <a:srgbClr val="060606"/>
                          </a:solidFill>
                          <a:latin typeface="Helvetica"/>
                        </a:rPr>
                        <a:t>498***P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 E. D.</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3379533795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33795</a:t>
                      </a:r>
                    </a:p>
                  </a:txBody>
                  <a:tcPr marL="43200" marR="43200" marT="14400" marB="14400" anchor="ctr">
                    <a:solidFill>
                      <a:srgbClr val="FFFFFF"/>
                    </a:solidFill>
                  </a:tcPr>
                </a:tc>
              </a:tr>
              <a:tr h="223200">
                <a:tc>
                  <a:txBody>
                    <a:bodyPr/>
                    <a:lstStyle/>
                    <a:p>
                      <a:pPr marL="0" indent="0" lvl="0">
                        <a:buNone/>
                      </a:pPr>
                      <a:r>
                        <a:rPr sz="1000" b="1">
                          <a:solidFill>
                            <a:srgbClr val="060606"/>
                          </a:solidFill>
                          <a:latin typeface="Helvetica"/>
                        </a:rPr>
                        <a:t>300***Y</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O. B. F.</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3328733287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33287</a:t>
                      </a:r>
                    </a:p>
                  </a:txBody>
                  <a:tcPr marL="43200" marR="43200" marT="14400" marB="14400" anchor="ctr">
                    <a:solidFill>
                      <a:srgbClr val="F2F2F2"/>
                    </a:solidFill>
                  </a:tcPr>
                </a:tc>
              </a:tr>
            </a:tbl>
          </a:graphicData>
        </a:graphic>
      </p:graphicFrame>
      <p:sp>
        <p:nvSpPr>
          <p:cNvPr id="32" name="TextBox 31"/>
          <p:cNvSpPr txBox="1"/>
          <p:nvPr/>
        </p:nvSpPr>
        <p:spPr>
          <a:xfrm>
            <a:off x="503999" y="1350000"/>
            <a:ext cx="7920000" cy="180000"/>
          </a:xfrm>
          <a:prstGeom prst="rect">
            <a:avLst/>
          </a:prstGeom>
          <a:noFill/>
        </p:spPr>
        <p:txBody>
          <a:bodyPr wrap="square" anchor="t" lIns="54000" rIns="54000"/>
          <a:lstStyle/>
          <a:p>
            <a:pPr algn="l"/>
            <a:r>
              <a:rPr sz="900" b="0">
                <a:solidFill>
                  <a:srgbClr val="53565A"/>
                </a:solidFill>
                <a:latin typeface="Helvetica"/>
              </a:rPr>
              <a:t>Extrait : FPPN-SOLDE\ALLOCATION DECES\2024\FPPN_ALLOC_DECES_8Z6_AVRIL_2024.xlsx</a:t>
            </a:r>
          </a:p>
        </p:txBody>
      </p:sp>
      <p:sp>
        <p:nvSpPr>
          <p:cNvPr id="33" name="Rounded Rectangle 32"/>
          <p:cNvSpPr/>
          <p:nvPr/>
        </p:nvSpPr>
        <p:spPr>
          <a:xfrm>
            <a:off x="3366000" y="1760400"/>
            <a:ext cx="2916000" cy="24479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083999" y="16092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6245999" y="1760400"/>
            <a:ext cx="2196000" cy="24479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243999" y="16092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640000" y="1584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9000000" y="1548000"/>
            <a:ext cx="2736000" cy="1188000"/>
          </a:xfrm>
          <a:prstGeom prst="rect">
            <a:avLst/>
          </a:prstGeom>
          <a:noFill/>
        </p:spPr>
        <p:txBody>
          <a:bodyPr wrap="square" anchor="t" lIns="54000" rIns="54000"/>
          <a:lstStyle/>
          <a:p>
            <a:pPr algn="l"/>
            <a:r>
              <a:rPr sz="1300" b="0">
                <a:solidFill>
                  <a:srgbClr val="060606"/>
                </a:solidFill>
                <a:latin typeface="Helvetica"/>
              </a:rPr>
              <a:t>Le montant source répète deux fois « 47924 ».</a:t>
            </a:r>
          </a:p>
        </p:txBody>
      </p:sp>
      <p:sp>
        <p:nvSpPr>
          <p:cNvPr id="39" name="Oval 38"/>
          <p:cNvSpPr/>
          <p:nvPr/>
        </p:nvSpPr>
        <p:spPr>
          <a:xfrm>
            <a:off x="8640000" y="288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9000000" y="2844000"/>
            <a:ext cx="2736000" cy="1188000"/>
          </a:xfrm>
          <a:prstGeom prst="rect">
            <a:avLst/>
          </a:prstGeom>
          <a:noFill/>
        </p:spPr>
        <p:txBody>
          <a:bodyPr wrap="square" anchor="t" lIns="54000" rIns="54000"/>
          <a:lstStyle/>
          <a:p>
            <a:pPr algn="l"/>
            <a:r>
              <a:rPr sz="1300" b="0">
                <a:solidFill>
                  <a:srgbClr val="060606"/>
                </a:solidFill>
                <a:latin typeface="Helvetica"/>
              </a:rPr>
              <a:t>Un précompte décès de plus d'un million par agent est impossible.</a:t>
            </a:r>
          </a:p>
        </p:txBody>
      </p:sp>
      <p:sp>
        <p:nvSpPr>
          <p:cNvPr id="41" name="Oval 40"/>
          <p:cNvSpPr/>
          <p:nvPr/>
        </p:nvSpPr>
        <p:spPr>
          <a:xfrm>
            <a:off x="8640000" y="4176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9000000" y="4140000"/>
            <a:ext cx="2736000" cy="1188000"/>
          </a:xfrm>
          <a:prstGeom prst="rect">
            <a:avLst/>
          </a:prstGeom>
          <a:noFill/>
        </p:spPr>
        <p:txBody>
          <a:bodyPr wrap="square" anchor="t" lIns="54000" rIns="54000"/>
          <a:lstStyle/>
          <a:p>
            <a:pPr algn="l"/>
            <a:r>
              <a:rPr sz="1300" b="0">
                <a:solidFill>
                  <a:srgbClr val="060606"/>
                </a:solidFill>
                <a:latin typeface="Helvetica"/>
              </a:rPr>
              <a:t>Montant retenu : la première moitié. Ligne signalée au FPPN.</a:t>
            </a:r>
          </a:p>
        </p:txBody>
      </p:sp>
    </p:spTree>
    <p:extLst>
      <p:ext uri="{BB962C8B-B14F-4D97-AF65-F5344CB8AC3E}">
        <p14:creationId xmlns:p14="http://schemas.microsoft.com/office/powerpoint/2010/main" val="1087997389"/>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Rapprochement aller et retour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Solde précompte en moyenne 97 à 100 % des montants demandés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les mois communs, l'écart moyen est faible, mais certains mois s'écartent fortement</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7 : Montant précompté rapporté au montant demandé, mois communs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du montant demandé</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Le taux moyen va de 97,41 % à 100,19 %.</a:t>
            </a:r>
            <a:r>
              <a:rPr sz="1400" b="0">
                <a:solidFill>
                  <a:srgbClr val="060606"/>
                </a:solidFill>
                <a:latin typeface="Helvetica"/>
              </a:rPr>
              <a:t> Les montants demandés sont presque entièrement retenus.</a:t>
            </a:r>
          </a:p>
          <a:p>
            <a:pPr algn="just">
              <a:spcAft>
                <a:spcPts val="800"/>
              </a:spcAft>
            </a:pPr>
            <a:r>
              <a:rPr sz="1400" b="1">
                <a:solidFill>
                  <a:srgbClr val="060606"/>
                </a:solidFill>
                <a:latin typeface="Helvetica"/>
              </a:rPr>
              <a:t>Certains mois s'écartent nettement.</a:t>
            </a:r>
            <a:r>
              <a:rPr sz="1400" b="0">
                <a:solidFill>
                  <a:srgbClr val="060606"/>
                </a:solidFill>
                <a:latin typeface="Helvetica"/>
              </a:rPr>
              <a:t> Mois le plus bas : 69,19 % pour le Grenier, 76,96 % pour le PEP.</a:t>
            </a:r>
          </a:p>
          <a:p>
            <a:pPr algn="just">
              <a:spcAft>
                <a:spcPts val="800"/>
              </a:spcAft>
            </a:pPr>
            <a:r>
              <a:rPr sz="1400" b="1">
                <a:solidFill>
                  <a:srgbClr val="060606"/>
                </a:solidFill>
                <a:latin typeface="Helvetica"/>
              </a:rPr>
              <a:t>Ces écarts traduisent des rejets ou des fichiers incomplets</a:t>
            </a:r>
            <a:r>
              <a:rPr sz="1400" b="0">
                <a:solidFill>
                  <a:srgbClr val="060606"/>
                </a:solidFill>
                <a:latin typeface="Helvetica"/>
              </a:rPr>
              <a:t> et doivent être expliqués mois par mois par le FPPN.</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Tree>
    <p:extLst>
      <p:ext uri="{BB962C8B-B14F-4D97-AF65-F5344CB8AC3E}">
        <p14:creationId xmlns:p14="http://schemas.microsoft.com/office/powerpoint/2010/main" val="791505448"/>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écarts du PEP</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deux mois extrêmes du PEP s'expliquent par le contenu des fichiers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Janvier 2025 : 76,96 %. Juillet 2024 : 150,62 %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graphicFrame>
        <p:nvGraphicFramePr>
          <p:cNvPr id="31" name="Table 30"/>
          <p:cNvGraphicFramePr>
            <a:graphicFrameLocks noGrp="1"/>
          </p:cNvGraphicFramePr>
          <p:nvPr/>
        </p:nvGraphicFramePr>
        <p:xfrm>
          <a:off x="503999" y="1548000"/>
          <a:ext cx="10080000" cy="669600"/>
        </p:xfrm>
        <a:graphic>
          <a:graphicData uri="http://schemas.openxmlformats.org/drawingml/2006/table">
            <a:tbl>
              <a:tblPr firstRow="0" bandRow="0">
                <a:tableStyleId>{5940675A-B579-460E-94D1-54222C63F5DA}</a:tableStyleId>
              </a:tblPr>
              <a:tblGrid>
                <a:gridCol w="864000"/>
                <a:gridCol w="2376000"/>
                <a:gridCol w="936000"/>
                <a:gridCol w="1944000"/>
                <a:gridCol w="936000"/>
                <a:gridCol w="1944000"/>
                <a:gridCol w="1080000"/>
              </a:tblGrid>
              <a:tr h="223200">
                <a:tc>
                  <a:txBody>
                    <a:bodyPr/>
                    <a:lstStyle/>
                    <a:p>
                      <a:pPr marL="0" indent="0" lvl="0">
                        <a:buNone/>
                      </a:pPr>
                      <a:r>
                        <a:rPr sz="1000" b="1">
                          <a:solidFill>
                            <a:srgbClr val="FFFFFF"/>
                          </a:solidFill>
                          <a:latin typeface="Helvetica"/>
                        </a:rPr>
                        <a:t>Mois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Fichier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Lignes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Lignes retour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retour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Taux</a:t>
                      </a:r>
                    </a:p>
                  </a:txBody>
                  <a:tcPr marL="43200" marR="43200" marT="14400" marB="14400" anchor="ctr">
                    <a:solidFill>
                      <a:srgbClr val="060606"/>
                    </a:solidFill>
                  </a:tcPr>
                </a:tc>
              </a:tr>
              <a:tr h="223200">
                <a:tc>
                  <a:txBody>
                    <a:bodyPr/>
                    <a:lstStyle/>
                    <a:p>
                      <a:pPr marL="0" indent="0" lvl="0">
                        <a:buNone/>
                      </a:pPr>
                      <a:r>
                        <a:rPr sz="1000" b="1">
                          <a:solidFill>
                            <a:srgbClr val="060606"/>
                          </a:solidFill>
                          <a:latin typeface="Helvetica"/>
                        </a:rPr>
                        <a:t>janv. 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 ALLER JANVIER 2025.xlsx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12 256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156 130 575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9 679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120 164 075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76,96 %</a:t>
                      </a:r>
                    </a:p>
                  </a:txBody>
                  <a:tcPr marL="43200" marR="43200" marT="14400" marB="14400" anchor="ctr">
                    <a:solidFill>
                      <a:srgbClr val="FFFFFF"/>
                    </a:solidFill>
                  </a:tcPr>
                </a:tc>
              </a:tr>
              <a:tr h="223200">
                <a:tc>
                  <a:txBody>
                    <a:bodyPr/>
                    <a:lstStyle/>
                    <a:p>
                      <a:pPr marL="0" indent="0" lvl="0">
                        <a:buNone/>
                      </a:pPr>
                      <a:r>
                        <a:rPr sz="1000" b="1">
                          <a:solidFill>
                            <a:srgbClr val="060606"/>
                          </a:solidFill>
                          <a:latin typeface="Helvetica"/>
                        </a:rPr>
                        <a:t>juil. 2024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FICHIER ALLER JUILLET 2024.xlsx</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7 180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97 910 325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11 654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147 477 325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150,62 %</a:t>
                      </a:r>
                    </a:p>
                  </a:txBody>
                  <a:tcPr marL="43200" marR="43200" marT="14400" marB="14400" anchor="ctr">
                    <a:solidFill>
                      <a:srgbClr val="F2F2F2"/>
                    </a:solidFill>
                  </a:tcPr>
                </a:tc>
              </a:tr>
            </a:tbl>
          </a:graphicData>
        </a:graphic>
      </p:graphicFrame>
      <p:sp>
        <p:nvSpPr>
          <p:cNvPr id="32" name="TextBox 31"/>
          <p:cNvSpPr txBox="1"/>
          <p:nvPr/>
        </p:nvSpPr>
        <p:spPr>
          <a:xfrm>
            <a:off x="503999" y="1350000"/>
            <a:ext cx="10080000" cy="180000"/>
          </a:xfrm>
          <a:prstGeom prst="rect">
            <a:avLst/>
          </a:prstGeom>
          <a:noFill/>
        </p:spPr>
        <p:txBody>
          <a:bodyPr wrap="square" anchor="t" lIns="54000" rIns="54000"/>
          <a:lstStyle/>
          <a:p>
            <a:pPr algn="l"/>
            <a:r>
              <a:rPr sz="900" b="0">
                <a:solidFill>
                  <a:srgbClr val="53565A"/>
                </a:solidFill>
                <a:latin typeface="Helvetica"/>
              </a:rPr>
              <a:t>Extrait : FPPN-SOLDE\PEP\FICHIER ALLER et FICHIER RETOUR</a:t>
            </a:r>
          </a:p>
        </p:txBody>
      </p:sp>
      <p:sp>
        <p:nvSpPr>
          <p:cNvPr id="33" name="Rounded Rectangle 32"/>
          <p:cNvSpPr/>
          <p:nvPr/>
        </p:nvSpPr>
        <p:spPr>
          <a:xfrm>
            <a:off x="6605999" y="1760400"/>
            <a:ext cx="972000" cy="24479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380000" y="16092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6605999" y="1983600"/>
            <a:ext cx="972000" cy="24479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380000" y="18324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503999" y="23616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64000" y="2343600"/>
            <a:ext cx="9720000" cy="324000"/>
          </a:xfrm>
          <a:prstGeom prst="rect">
            <a:avLst/>
          </a:prstGeom>
          <a:noFill/>
        </p:spPr>
        <p:txBody>
          <a:bodyPr wrap="square" anchor="t" lIns="54000" rIns="54000"/>
          <a:lstStyle/>
          <a:p>
            <a:pPr algn="l"/>
            <a:r>
              <a:rPr sz="1200" b="0">
                <a:solidFill>
                  <a:srgbClr val="060606"/>
                </a:solidFill>
                <a:latin typeface="Helvetica"/>
              </a:rPr>
              <a:t>Janvier 2025 : 2 577 épargnants demandés mais non précomptés.</a:t>
            </a:r>
          </a:p>
        </p:txBody>
      </p:sp>
      <p:sp>
        <p:nvSpPr>
          <p:cNvPr id="39" name="Oval 38"/>
          <p:cNvSpPr/>
          <p:nvPr/>
        </p:nvSpPr>
        <p:spPr>
          <a:xfrm>
            <a:off x="503999" y="27216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64000" y="2703600"/>
            <a:ext cx="9720000" cy="324000"/>
          </a:xfrm>
          <a:prstGeom prst="rect">
            <a:avLst/>
          </a:prstGeom>
          <a:noFill/>
        </p:spPr>
        <p:txBody>
          <a:bodyPr wrap="square" anchor="t" lIns="54000" rIns="54000"/>
          <a:lstStyle/>
          <a:p>
            <a:pPr algn="l"/>
            <a:r>
              <a:rPr sz="1200" b="0">
                <a:solidFill>
                  <a:srgbClr val="060606"/>
                </a:solidFill>
                <a:latin typeface="Helvetica"/>
              </a:rPr>
              <a:t>Juillet 2024 : 4 474 lignes de plus au retour qu'à l'aller.</a:t>
            </a:r>
          </a:p>
        </p:txBody>
      </p:sp>
      <p:sp>
        <p:nvSpPr>
          <p:cNvPr id="41" name="Oval 40"/>
          <p:cNvSpPr/>
          <p:nvPr/>
        </p:nvSpPr>
        <p:spPr>
          <a:xfrm>
            <a:off x="503999" y="30816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64000" y="3063600"/>
            <a:ext cx="9720000" cy="324000"/>
          </a:xfrm>
          <a:prstGeom prst="rect">
            <a:avLst/>
          </a:prstGeom>
          <a:noFill/>
        </p:spPr>
        <p:txBody>
          <a:bodyPr wrap="square" anchor="t" lIns="54000" rIns="54000"/>
          <a:lstStyle/>
          <a:p>
            <a:pPr algn="l"/>
            <a:r>
              <a:rPr sz="1200" b="0">
                <a:solidFill>
                  <a:srgbClr val="060606"/>
                </a:solidFill>
                <a:latin typeface="Helvetica"/>
              </a:rPr>
              <a:t>Conclusion : le taux mensuel dépend de la qualité des deux fichiers. Le FPPN doit tenir un état des rejets.</a:t>
            </a:r>
          </a:p>
        </p:txBody>
      </p:sp>
    </p:spTree>
    <p:extLst>
      <p:ext uri="{BB962C8B-B14F-4D97-AF65-F5344CB8AC3E}">
        <p14:creationId xmlns:p14="http://schemas.microsoft.com/office/powerpoint/2010/main" val="1786895408"/>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Fichiers vides ou endommagés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Onze fichiers sont vides, illisibles ou mal classés et doivent être renvoyés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fichiers comptables endommagés ont tous un double lisible, sauf le grand livre des comptes 2022</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journal de contrôle de l'extraction. Note interne des anomalies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 : Fichiers à renvoyer ou à corriger</a:t>
            </a:r>
          </a:p>
        </p:txBody>
      </p:sp>
      <p:graphicFrame>
        <p:nvGraphicFramePr>
          <p:cNvPr id="32" name="Table 31"/>
          <p:cNvGraphicFramePr>
            <a:graphicFrameLocks noGrp="1"/>
          </p:cNvGraphicFramePr>
          <p:nvPr/>
        </p:nvGraphicFramePr>
        <p:xfrm>
          <a:off x="503999" y="1655999"/>
          <a:ext cx="11232000" cy="2592000"/>
        </p:xfrm>
        <a:graphic>
          <a:graphicData uri="http://schemas.openxmlformats.org/drawingml/2006/table">
            <a:tbl>
              <a:tblPr firstRow="0" bandRow="0">
                <a:tableStyleId>{5940675A-B579-460E-94D1-54222C63F5DA}</a:tableStyleId>
              </a:tblPr>
              <a:tblGrid>
                <a:gridCol w="4680000"/>
                <a:gridCol w="3096000"/>
                <a:gridCol w="3456000"/>
              </a:tblGrid>
              <a:tr h="324000">
                <a:tc>
                  <a:txBody>
                    <a:bodyPr/>
                    <a:lstStyle/>
                    <a:p>
                      <a:pPr marL="0" indent="0" lvl="0">
                        <a:buNone/>
                      </a:pPr>
                      <a:r>
                        <a:rPr sz="1200" b="1">
                          <a:solidFill>
                            <a:srgbClr val="FFFFFF"/>
                          </a:solidFill>
                          <a:latin typeface="Helvetica"/>
                        </a:rPr>
                        <a:t>Fichier</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Défaut</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Conséquence</a:t>
                      </a:r>
                    </a:p>
                  </a:txBody>
                  <a:tcPr marL="43200" marR="43200" marT="14400" marB="14400" anchor="ctr">
                    <a:solidFill>
                      <a:srgbClr val="060606"/>
                    </a:solidFill>
                  </a:tcPr>
                </a:tc>
              </a:tr>
              <a:tr h="324000">
                <a:tc>
                  <a:txBody>
                    <a:bodyPr/>
                    <a:lstStyle/>
                    <a:p>
                      <a:pPr marL="0" indent="0" lvl="0">
                        <a:buNone/>
                      </a:pPr>
                      <a:r>
                        <a:rPr sz="1200" b="1">
                          <a:solidFill>
                            <a:srgbClr val="060606"/>
                          </a:solidFill>
                          <a:latin typeface="Helvetica"/>
                        </a:rPr>
                        <a:t>Décès 8Z6 et maladie 936, décembre 2024</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Vides (0 octet), identiques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Aucune donnée pour décembre 2024</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MEDOC 8Z7, retours de février et avril 2026</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 aucune ligne sélectionnée »</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Précomptes MEDOC inconnus ces deux mois</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Balances des tiers 2021 et 2025 (Excel)</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Endommagées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PDF lisibles utilisés</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Grands livres des comptes 2021, 2024 (Excel)</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Endommagés</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PDF lisibles utilisés</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Grand livre des comptes 2022 (Excel et PDF)</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Endommagés tous les deux</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417 pages sur 657 récupérées. Balance 2022 intacte</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Grands livres des tiers 2023 et 2025 (Excel)</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Endommagés</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PDF lisibles utilisés</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Fichiers aller dans les dossiers retour (CGRAE juin 2024, GNA janvier 2026)</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Mal classés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Retours de ces mois manquants</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92087760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données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données reçues sont fidèlement reprises, mais incomplètes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Base contrôlée à 100 %. Manquent les prestations, les âges et les années 2020 à 2022 en mensuel</a:t>
            </a:r>
          </a:p>
        </p:txBody>
      </p:sp>
      <p:sp>
        <p:nvSpPr>
          <p:cNvPr id="30" name="Rounded Rectangle 29"/>
          <p:cNvSpPr/>
          <p:nvPr/>
        </p:nvSpPr>
        <p:spPr>
          <a:xfrm>
            <a:off x="503999" y="1548000"/>
            <a:ext cx="3600000" cy="57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Fidélité</a:t>
            </a:r>
          </a:p>
        </p:txBody>
      </p:sp>
      <p:sp>
        <p:nvSpPr>
          <p:cNvPr id="31" name="Rounded Rectangle 30"/>
          <p:cNvSpPr/>
          <p:nvPr/>
        </p:nvSpPr>
        <p:spPr>
          <a:xfrm>
            <a:off x="503999" y="2232000"/>
            <a:ext cx="3600000" cy="3528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7999" y="2376000"/>
            <a:ext cx="3311999" cy="3240000"/>
          </a:xfrm>
          <a:prstGeom prst="rect">
            <a:avLst/>
          </a:prstGeom>
          <a:noFill/>
        </p:spPr>
        <p:txBody>
          <a:bodyPr wrap="square" anchor="t" lIns="54000" rIns="54000"/>
          <a:lstStyle/>
          <a:p>
            <a:pPr algn="l"/>
            <a:r>
              <a:rPr sz="1600" b="0">
                <a:solidFill>
                  <a:srgbClr val="060606"/>
                </a:solidFill>
                <a:latin typeface="Helvetica"/>
              </a:rPr>
              <a:t>Empreintes identiques, lignes et cellules identiques, totaux des logiciels retrouvés.</a:t>
            </a:r>
          </a:p>
        </p:txBody>
      </p:sp>
      <p:pic>
        <p:nvPicPr>
          <p:cNvPr id="33" name="Picture 32" descr="image.png"/>
          <p:cNvPicPr>
            <a:picLocks noChangeAspect="1"/>
          </p:cNvPicPr>
          <p:nvPr/>
        </p:nvPicPr>
        <p:blipFill>
          <a:blip r:embed="rId6"/>
          <a:stretch>
            <a:fillRect/>
          </a:stretch>
        </p:blipFill>
        <p:spPr>
          <a:xfrm>
            <a:off x="2016000" y="4896000"/>
            <a:ext cx="576000" cy="576000"/>
          </a:xfrm>
          <a:prstGeom prst="rect">
            <a:avLst/>
          </a:prstGeom>
        </p:spPr>
      </p:pic>
      <p:sp>
        <p:nvSpPr>
          <p:cNvPr id="34" name="Rounded Rectangle 33"/>
          <p:cNvSpPr/>
          <p:nvPr/>
        </p:nvSpPr>
        <p:spPr>
          <a:xfrm>
            <a:off x="4320000" y="1548000"/>
            <a:ext cx="3600000" cy="57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Anomalies corrigées</a:t>
            </a:r>
          </a:p>
        </p:txBody>
      </p:sp>
      <p:sp>
        <p:nvSpPr>
          <p:cNvPr id="35" name="Rounded Rectangle 34"/>
          <p:cNvSpPr/>
          <p:nvPr/>
        </p:nvSpPr>
        <p:spPr>
          <a:xfrm>
            <a:off x="4320000" y="2232000"/>
            <a:ext cx="3600000" cy="3528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64000" y="2376000"/>
            <a:ext cx="3311999" cy="3240000"/>
          </a:xfrm>
          <a:prstGeom prst="rect">
            <a:avLst/>
          </a:prstGeom>
          <a:noFill/>
        </p:spPr>
        <p:txBody>
          <a:bodyPr wrap="square" anchor="t" lIns="54000" rIns="54000"/>
          <a:lstStyle/>
          <a:p>
            <a:pPr algn="l"/>
            <a:r>
              <a:rPr sz="1600" b="0">
                <a:solidFill>
                  <a:srgbClr val="060606"/>
                </a:solidFill>
                <a:latin typeface="Helvetica"/>
              </a:rPr>
              <a:t>87 lignes de total écartées, 17 montants doublés corrigés.</a:t>
            </a:r>
          </a:p>
        </p:txBody>
      </p:sp>
      <p:pic>
        <p:nvPicPr>
          <p:cNvPr id="37" name="Picture 36" descr="image.png"/>
          <p:cNvPicPr>
            <a:picLocks noChangeAspect="1"/>
          </p:cNvPicPr>
          <p:nvPr/>
        </p:nvPicPr>
        <p:blipFill>
          <a:blip r:embed="rId7"/>
          <a:stretch>
            <a:fillRect/>
          </a:stretch>
        </p:blipFill>
        <p:spPr>
          <a:xfrm>
            <a:off x="5832000" y="4896000"/>
            <a:ext cx="576000" cy="576000"/>
          </a:xfrm>
          <a:prstGeom prst="rect">
            <a:avLst/>
          </a:prstGeom>
        </p:spPr>
      </p:pic>
      <p:sp>
        <p:nvSpPr>
          <p:cNvPr id="38" name="Rounded Rectangle 37"/>
          <p:cNvSpPr/>
          <p:nvPr/>
        </p:nvSpPr>
        <p:spPr>
          <a:xfrm>
            <a:off x="8135999" y="1548000"/>
            <a:ext cx="3600000" cy="57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Manques</a:t>
            </a:r>
          </a:p>
        </p:txBody>
      </p:sp>
      <p:sp>
        <p:nvSpPr>
          <p:cNvPr id="39" name="Rounded Rectangle 38"/>
          <p:cNvSpPr/>
          <p:nvPr/>
        </p:nvSpPr>
        <p:spPr>
          <a:xfrm>
            <a:off x="8135999" y="2232000"/>
            <a:ext cx="3600000" cy="3528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79999" y="2376000"/>
            <a:ext cx="3311999" cy="3240000"/>
          </a:xfrm>
          <a:prstGeom prst="rect">
            <a:avLst/>
          </a:prstGeom>
          <a:noFill/>
        </p:spPr>
        <p:txBody>
          <a:bodyPr wrap="square" anchor="t" lIns="54000" rIns="54000"/>
          <a:lstStyle/>
          <a:p>
            <a:pPr algn="l"/>
            <a:r>
              <a:rPr sz="1600" b="0">
                <a:solidFill>
                  <a:srgbClr val="060606"/>
                </a:solidFill>
                <a:latin typeface="Helvetica"/>
              </a:rPr>
              <a:t>Bases de prestations, dates de naissance, précomptes 2020 à 2022, fichiers vides de décembre 2024.</a:t>
            </a:r>
          </a:p>
        </p:txBody>
      </p:sp>
      <p:pic>
        <p:nvPicPr>
          <p:cNvPr id="41" name="Picture 40" descr="image.png"/>
          <p:cNvPicPr>
            <a:picLocks noChangeAspect="1"/>
          </p:cNvPicPr>
          <p:nvPr/>
        </p:nvPicPr>
        <p:blipFill>
          <a:blip r:embed="rId8"/>
          <a:stretch>
            <a:fillRect/>
          </a:stretch>
        </p:blipFill>
        <p:spPr>
          <a:xfrm>
            <a:off x="9647999" y="4896000"/>
            <a:ext cx="576000" cy="576000"/>
          </a:xfrm>
          <a:prstGeom prst="rect">
            <a:avLst/>
          </a:prstGeom>
        </p:spPr>
      </p:pic>
    </p:spTree>
    <p:extLst>
      <p:ext uri="{BB962C8B-B14F-4D97-AF65-F5344CB8AC3E}">
        <p14:creationId xmlns:p14="http://schemas.microsoft.com/office/powerpoint/2010/main" val="3303828996"/>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4</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Effectifs et cotisations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Cotisants, retraités, taux, cotisations en termes réels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561242126"/>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effectifs et taux</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Effectifs, flux et taux sont mesurés agent par agent, chaque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cotisant est un matricule précompté au poste maladie 936 dans le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31" name="Rounded Rectangle 30"/>
          <p:cNvSpPr/>
          <p:nvPr/>
        </p:nvSpPr>
        <p:spPr>
          <a:xfrm>
            <a:off x="503999" y="1512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Effectif</a:t>
            </a:r>
          </a:p>
        </p:txBody>
      </p:sp>
      <p:sp>
        <p:nvSpPr>
          <p:cNvPr id="32" name="Rectangle 31"/>
          <p:cNvSpPr/>
          <p:nvPr/>
        </p:nvSpPr>
        <p:spPr>
          <a:xfrm>
            <a:off x="2988000" y="1512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96000" y="1602000"/>
            <a:ext cx="5688000" cy="936000"/>
          </a:xfrm>
          <a:prstGeom prst="rect">
            <a:avLst/>
          </a:prstGeom>
          <a:noFill/>
        </p:spPr>
        <p:txBody>
          <a:bodyPr wrap="square" anchor="ctr" lIns="54000" rIns="54000"/>
          <a:lstStyle/>
          <a:p>
            <a:pPr algn="l"/>
            <a:r>
              <a:rPr sz="1400" b="0">
                <a:solidFill>
                  <a:srgbClr val="060606"/>
                </a:solidFill>
                <a:latin typeface="Helvetica"/>
              </a:rPr>
              <a:t>E(m) = nombre de matricules distincts au poste 936 le mois m</a:t>
            </a:r>
          </a:p>
        </p:txBody>
      </p:sp>
      <p:sp>
        <p:nvSpPr>
          <p:cNvPr id="34" name="Rounded Rectangle 33"/>
          <p:cNvSpPr/>
          <p:nvPr/>
        </p:nvSpPr>
        <p:spPr>
          <a:xfrm>
            <a:off x="9000000" y="1512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31 mois disponibles</a:t>
            </a:r>
          </a:p>
        </p:txBody>
      </p:sp>
      <p:sp>
        <p:nvSpPr>
          <p:cNvPr id="35" name="Rounded Rectangle 34"/>
          <p:cNvSpPr/>
          <p:nvPr/>
        </p:nvSpPr>
        <p:spPr>
          <a:xfrm>
            <a:off x="503999" y="2844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Flux</a:t>
            </a:r>
          </a:p>
        </p:txBody>
      </p:sp>
      <p:sp>
        <p:nvSpPr>
          <p:cNvPr id="36" name="Rectangle 35"/>
          <p:cNvSpPr/>
          <p:nvPr/>
        </p:nvSpPr>
        <p:spPr>
          <a:xfrm>
            <a:off x="2988000" y="2844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96000" y="2934000"/>
            <a:ext cx="5688000" cy="936000"/>
          </a:xfrm>
          <a:prstGeom prst="rect">
            <a:avLst/>
          </a:prstGeom>
          <a:noFill/>
        </p:spPr>
        <p:txBody>
          <a:bodyPr wrap="square" anchor="ctr" lIns="54000" rIns="54000"/>
          <a:lstStyle/>
          <a:p>
            <a:pPr algn="l"/>
            <a:r>
              <a:rPr sz="1400" b="0">
                <a:solidFill>
                  <a:srgbClr val="060606"/>
                </a:solidFill>
                <a:latin typeface="Helvetica"/>
              </a:rPr>
              <a:t>Entrées(m) = |M(m) \ M(m-1)|. Sorties(m) = |M(m-1) \ M(m)|</a:t>
            </a:r>
          </a:p>
        </p:txBody>
      </p:sp>
      <p:sp>
        <p:nvSpPr>
          <p:cNvPr id="38" name="Rounded Rectangle 37"/>
          <p:cNvSpPr/>
          <p:nvPr/>
        </p:nvSpPr>
        <p:spPr>
          <a:xfrm>
            <a:off x="9000000" y="2844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Mois consécutifs</a:t>
            </a:r>
          </a:p>
        </p:txBody>
      </p:sp>
      <p:sp>
        <p:nvSpPr>
          <p:cNvPr id="39" name="Rounded Rectangle 38"/>
          <p:cNvSpPr/>
          <p:nvPr/>
        </p:nvSpPr>
        <p:spPr>
          <a:xfrm>
            <a:off x="503999" y="4176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Taux de cotisation</a:t>
            </a:r>
          </a:p>
        </p:txBody>
      </p:sp>
      <p:sp>
        <p:nvSpPr>
          <p:cNvPr id="40" name="Rectangle 39"/>
          <p:cNvSpPr/>
          <p:nvPr/>
        </p:nvSpPr>
        <p:spPr>
          <a:xfrm>
            <a:off x="2988000" y="4176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096000" y="4266000"/>
            <a:ext cx="5688000" cy="936000"/>
          </a:xfrm>
          <a:prstGeom prst="rect">
            <a:avLst/>
          </a:prstGeom>
          <a:noFill/>
        </p:spPr>
        <p:txBody>
          <a:bodyPr wrap="square" anchor="ctr" lIns="54000" rIns="54000"/>
          <a:lstStyle/>
          <a:p>
            <a:pPr algn="l"/>
            <a:r>
              <a:rPr sz="1400" b="0">
                <a:solidFill>
                  <a:srgbClr val="060606"/>
                </a:solidFill>
                <a:latin typeface="Helvetica"/>
              </a:rPr>
              <a:t>t = précompte / salaire de base, par agent</a:t>
            </a:r>
          </a:p>
        </p:txBody>
      </p:sp>
      <p:sp>
        <p:nvSpPr>
          <p:cNvPr id="42" name="Rounded Rectangle 41"/>
          <p:cNvSpPr/>
          <p:nvPr/>
        </p:nvSpPr>
        <p:spPr>
          <a:xfrm>
            <a:off x="9000000" y="4176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209 670 lignes</a:t>
            </a:r>
          </a:p>
        </p:txBody>
      </p:sp>
    </p:spTree>
    <p:extLst>
      <p:ext uri="{BB962C8B-B14F-4D97-AF65-F5344CB8AC3E}">
        <p14:creationId xmlns:p14="http://schemas.microsoft.com/office/powerpoint/2010/main" val="1792366366"/>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Effectifs cotisants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cotisants actifs augmentent d'un tiers en trente et un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23 119 cotisants en janvier 2024, 31 198 en août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8 : Cotisants actifs précomptés (poste 936), par mois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mutualistes</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Hausse de 34,95 % en 31 mois.</a:t>
            </a:r>
            <a:r>
              <a:rPr sz="1400" b="0">
                <a:solidFill>
                  <a:srgbClr val="060606"/>
                </a:solidFill>
                <a:latin typeface="Helvetica"/>
              </a:rPr>
              <a:t> Taux de croissance annuel moyen : 12,30 %.</a:t>
            </a:r>
          </a:p>
          <a:p>
            <a:pPr algn="just">
              <a:spcAft>
                <a:spcPts val="800"/>
              </a:spcAft>
            </a:pPr>
            <a:r>
              <a:rPr sz="1400" b="1">
                <a:solidFill>
                  <a:srgbClr val="060606"/>
                </a:solidFill>
                <a:latin typeface="Helvetica"/>
              </a:rPr>
              <a:t>La hausse se fait par paliers en juillet.</a:t>
            </a:r>
            <a:r>
              <a:rPr sz="1400" b="0">
                <a:solidFill>
                  <a:srgbClr val="060606"/>
                </a:solidFill>
                <a:latin typeface="Helvetica"/>
              </a:rPr>
              <a:t> 4 926 entrées en juillet 2024 et 4 127 en juillet 2025 : ce sont les promotions de recrues.</a:t>
            </a:r>
          </a:p>
          <a:p>
            <a:pPr algn="just">
              <a:spcAft>
                <a:spcPts val="800"/>
              </a:spcAft>
            </a:pPr>
            <a:r>
              <a:rPr sz="1400" b="1">
                <a:solidFill>
                  <a:srgbClr val="060606"/>
                </a:solidFill>
                <a:latin typeface="Helvetica"/>
              </a:rPr>
              <a:t>La tendance est statistiquement significative</a:t>
            </a:r>
            <a:r>
              <a:rPr sz="1400" b="0">
                <a:solidFill>
                  <a:srgbClr val="060606"/>
                </a:solidFill>
                <a:latin typeface="Helvetica"/>
              </a:rPr>
              <a:t> : 296,28 cotisants de plus par mois en moyenne.</a:t>
            </a:r>
          </a:p>
          <a:p>
            <a:pPr algn="just">
              <a:spcAft>
                <a:spcPts val="800"/>
              </a:spcAft>
            </a:pPr>
            <a:r>
              <a:rPr sz="1400" b="1">
                <a:solidFill>
                  <a:srgbClr val="060606"/>
                </a:solidFill>
                <a:latin typeface="Helvetica"/>
              </a:rPr>
              <a:t>Le fichier ne donne ni âge ni sexe</a:t>
            </a:r>
            <a:r>
              <a:rPr sz="1400" b="0">
                <a:solidFill>
                  <a:srgbClr val="060606"/>
                </a:solidFill>
                <a:latin typeface="Helvetica"/>
              </a:rPr>
              <a:t>, ce qui empêche de projeter la mortalité et les départs à la retraite.</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(décembre 2024 : fichier vide)</a:t>
            </a:r>
          </a:p>
        </p:txBody>
      </p:sp>
    </p:spTree>
    <p:extLst>
      <p:ext uri="{BB962C8B-B14F-4D97-AF65-F5344CB8AC3E}">
        <p14:creationId xmlns:p14="http://schemas.microsoft.com/office/powerpoint/2010/main" val="743853665"/>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Entrées et sorties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entrées massives de juillet s'opposent à des sorties faibles et régulières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Entrées : 6 240 en 2024, 4 274 en 2025. Sorties : 1 753 et 464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9 : Entrées et sorties de cotisants, par mois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mutualistes</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Les entrées sont concentrées en juillet</a:t>
            </a:r>
            <a:r>
              <a:rPr sz="1400" b="0">
                <a:solidFill>
                  <a:srgbClr val="060606"/>
                </a:solidFill>
                <a:latin typeface="Helvetica"/>
              </a:rPr>
              <a:t>, mois d'intégration des recrues.</a:t>
            </a:r>
          </a:p>
          <a:p>
            <a:pPr algn="just">
              <a:spcAft>
                <a:spcPts val="800"/>
              </a:spcAft>
            </a:pPr>
            <a:r>
              <a:rPr sz="1400" b="1">
                <a:solidFill>
                  <a:srgbClr val="060606"/>
                </a:solidFill>
                <a:latin typeface="Helvetica"/>
              </a:rPr>
              <a:t>Les sorties restent faibles</a:t>
            </a:r>
            <a:r>
              <a:rPr sz="1400" b="0">
                <a:solidFill>
                  <a:srgbClr val="060606"/>
                </a:solidFill>
                <a:latin typeface="Helvetica"/>
              </a:rPr>
              <a:t>, sauf en novembre 2024 et janvier 2026.</a:t>
            </a:r>
          </a:p>
          <a:p>
            <a:pPr algn="just">
              <a:spcAft>
                <a:spcPts val="800"/>
              </a:spcAft>
            </a:pPr>
            <a:r>
              <a:rPr sz="1400" b="1">
                <a:solidFill>
                  <a:srgbClr val="060606"/>
                </a:solidFill>
                <a:latin typeface="Helvetica"/>
              </a:rPr>
              <a:t>Le motif de sortie est indispensable</a:t>
            </a:r>
            <a:r>
              <a:rPr sz="1400" b="0">
                <a:solidFill>
                  <a:srgbClr val="060606"/>
                </a:solidFill>
                <a:latin typeface="Helvetica"/>
              </a:rPr>
              <a:t> pour distinguer retraites, décès et radiations, et donc pour calculer des taux de mortalité.</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Tree>
    <p:extLst>
      <p:ext uri="{BB962C8B-B14F-4D97-AF65-F5344CB8AC3E}">
        <p14:creationId xmlns:p14="http://schemas.microsoft.com/office/powerpoint/2010/main" val="1407675919"/>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Structure des effectifs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population jeune en service, recrutée en majorité depuis moins de dix ans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janv. 25, ancienneté médiane de 7,50 ans, salaire de base médian de 186 765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10 : Agents par ancienneté de service, janv. 25</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d'agents</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56,82 % des agents ont moins de dix ans de service.</a:t>
            </a:r>
          </a:p>
          <a:p>
            <a:pPr algn="just">
              <a:spcAft>
                <a:spcPts val="800"/>
              </a:spcAft>
            </a:pPr>
            <a:r>
              <a:rPr sz="1400" b="1">
                <a:solidFill>
                  <a:srgbClr val="060606"/>
                </a:solidFill>
                <a:latin typeface="Helvetica"/>
              </a:rPr>
              <a:t>Une seconde vague a 15 à 25 ans de service</a:t>
            </a:r>
            <a:r>
              <a:rPr sz="1400" b="0">
                <a:solidFill>
                  <a:srgbClr val="060606"/>
                </a:solidFill>
                <a:latin typeface="Helvetica"/>
              </a:rPr>
              <a:t> : 30,79 % des agents.</a:t>
            </a:r>
          </a:p>
          <a:p>
            <a:pPr algn="just">
              <a:spcAft>
                <a:spcPts val="800"/>
              </a:spcAft>
            </a:pPr>
            <a:r>
              <a:rPr sz="1400" b="1">
                <a:solidFill>
                  <a:srgbClr val="060606"/>
                </a:solidFill>
                <a:latin typeface="Helvetica"/>
              </a:rPr>
              <a:t>Cette vague partira à la retraite dans les années à venir</a:t>
            </a:r>
            <a:r>
              <a:rPr sz="1400" b="0">
                <a:solidFill>
                  <a:srgbClr val="060606"/>
                </a:solidFill>
                <a:latin typeface="Helvetica"/>
              </a:rPr>
              <a:t> et deviendra une population de retraités CGRAE, plus consommatrice de soins.</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(fichiers maladie 936 détaillés)</a:t>
            </a:r>
          </a:p>
        </p:txBody>
      </p:sp>
    </p:spTree>
    <p:extLst>
      <p:ext uri="{BB962C8B-B14F-4D97-AF65-F5344CB8AC3E}">
        <p14:creationId xmlns:p14="http://schemas.microsoft.com/office/powerpoint/2010/main" val="2395222692"/>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taux de cotisation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Pour chaque agent, maladie et décès font 5,00 % du salaire de base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même répartition, 3,77 % et 1,23 %, se retrouve sur 209 670 lignes des mois détaillés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Matricules masqués</a:t>
            </a:r>
          </a:p>
        </p:txBody>
      </p:sp>
      <p:graphicFrame>
        <p:nvGraphicFramePr>
          <p:cNvPr id="31" name="Table 30"/>
          <p:cNvGraphicFramePr>
            <a:graphicFrameLocks noGrp="1"/>
          </p:cNvGraphicFramePr>
          <p:nvPr/>
        </p:nvGraphicFramePr>
        <p:xfrm>
          <a:off x="503999" y="1548000"/>
          <a:ext cx="9648000" cy="892800"/>
        </p:xfrm>
        <a:graphic>
          <a:graphicData uri="http://schemas.openxmlformats.org/drawingml/2006/table">
            <a:tbl>
              <a:tblPr firstRow="0" bandRow="0">
                <a:tableStyleId>{5940675A-B579-460E-94D1-54222C63F5DA}</a:tableStyleId>
              </a:tblPr>
              <a:tblGrid>
                <a:gridCol w="1152000"/>
                <a:gridCol w="792000"/>
                <a:gridCol w="1512000"/>
                <a:gridCol w="1368000"/>
                <a:gridCol w="1296000"/>
                <a:gridCol w="1224000"/>
                <a:gridCol w="1152000"/>
                <a:gridCol w="1152000"/>
              </a:tblGrid>
              <a:tr h="223200">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Grade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Salaire de base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Maladie 936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Décès 8Z6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Maladie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Décès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Total %</a:t>
                      </a:r>
                    </a:p>
                  </a:txBody>
                  <a:tcPr marL="43200" marR="43200" marT="14400" marB="14400" anchor="ctr">
                    <a:solidFill>
                      <a:srgbClr val="060606"/>
                    </a:solidFill>
                  </a:tcPr>
                </a:tc>
              </a:tr>
              <a:tr h="223200">
                <a:tc>
                  <a:txBody>
                    <a:bodyPr/>
                    <a:lstStyle/>
                    <a:p>
                      <a:pPr marL="0" indent="0" lvl="0">
                        <a:buNone/>
                      </a:pPr>
                      <a:r>
                        <a:rPr sz="1000" b="1">
                          <a:solidFill>
                            <a:srgbClr val="060606"/>
                          </a:solidFill>
                          <a:latin typeface="Helvetica"/>
                        </a:rPr>
                        <a:t>163***W</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MH</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301159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11354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3704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FFFFF"/>
                    </a:solidFill>
                  </a:tcPr>
                </a:tc>
              </a:tr>
              <a:tr h="223200">
                <a:tc>
                  <a:txBody>
                    <a:bodyPr/>
                    <a:lstStyle/>
                    <a:p>
                      <a:pPr marL="0" indent="0" lvl="0">
                        <a:buNone/>
                      </a:pPr>
                      <a:r>
                        <a:rPr sz="1000" b="1">
                          <a:solidFill>
                            <a:srgbClr val="060606"/>
                          </a:solidFill>
                          <a:latin typeface="Helvetica"/>
                        </a:rPr>
                        <a:t>171***W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MQ</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438898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16546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5398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2F2F2"/>
                    </a:solidFill>
                  </a:tcPr>
                </a:tc>
              </a:tr>
              <a:tr h="223200">
                <a:tc>
                  <a:txBody>
                    <a:bodyPr/>
                    <a:lstStyle/>
                    <a:p>
                      <a:pPr marL="0" indent="0" lvl="0">
                        <a:buNone/>
                      </a:pPr>
                      <a:r>
                        <a:rPr sz="1000" b="1">
                          <a:solidFill>
                            <a:srgbClr val="060606"/>
                          </a:solidFill>
                          <a:latin typeface="Helvetica"/>
                        </a:rPr>
                        <a:t>172***N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I1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817097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30805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10050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FFFFF"/>
                    </a:solidFill>
                  </a:tcPr>
                </a:tc>
              </a:tr>
            </a:tbl>
          </a:graphicData>
        </a:graphic>
      </p:graphicFrame>
      <p:sp>
        <p:nvSpPr>
          <p:cNvPr id="32" name="TextBox 31"/>
          <p:cNvSpPr txBox="1"/>
          <p:nvPr/>
        </p:nvSpPr>
        <p:spPr>
          <a:xfrm>
            <a:off x="503999" y="1350000"/>
            <a:ext cx="9648000" cy="180000"/>
          </a:xfrm>
          <a:prstGeom prst="rect">
            <a:avLst/>
          </a:prstGeom>
          <a:noFill/>
        </p:spPr>
        <p:txBody>
          <a:bodyPr wrap="square" anchor="t" lIns="54000" rIns="54000"/>
          <a:lstStyle/>
          <a:p>
            <a:pPr algn="l"/>
            <a:r>
              <a:rPr sz="900" b="0">
                <a:solidFill>
                  <a:srgbClr val="53565A"/>
                </a:solidFill>
                <a:latin typeface="Helvetica"/>
              </a:rPr>
              <a:t>Extrait : FPPN-SOLDE\EFFECTIF POLICE (MALADIE)\2024\042024_effectif_police_936_AVRIL 2024.xlsx et FPPN_ALLOC_DECES_8Z6_AVRIL_2024.xlsx</a:t>
            </a:r>
          </a:p>
        </p:txBody>
      </p:sp>
      <p:sp>
        <p:nvSpPr>
          <p:cNvPr id="33" name="Rounded Rectangle 32"/>
          <p:cNvSpPr/>
          <p:nvPr/>
        </p:nvSpPr>
        <p:spPr>
          <a:xfrm>
            <a:off x="6605999" y="1760400"/>
            <a:ext cx="1260000" cy="24479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67999" y="16092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7829999" y="1760400"/>
            <a:ext cx="1188000" cy="24479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19999" y="16092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8982000" y="1760400"/>
            <a:ext cx="1188000" cy="24479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972000" y="16092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503999" y="25848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64000" y="2566800"/>
            <a:ext cx="9288000" cy="324000"/>
          </a:xfrm>
          <a:prstGeom prst="rect">
            <a:avLst/>
          </a:prstGeom>
          <a:noFill/>
        </p:spPr>
        <p:txBody>
          <a:bodyPr wrap="square" anchor="t" lIns="54000" rIns="54000"/>
          <a:lstStyle/>
          <a:p>
            <a:pPr algn="l"/>
            <a:r>
              <a:rPr sz="1200" b="0">
                <a:solidFill>
                  <a:srgbClr val="060606"/>
                </a:solidFill>
                <a:latin typeface="Helvetica"/>
              </a:rPr>
              <a:t>11 354 / 301 159 = 3,77 % au lieu de 3,5 %.</a:t>
            </a:r>
          </a:p>
        </p:txBody>
      </p:sp>
      <p:sp>
        <p:nvSpPr>
          <p:cNvPr id="41" name="Oval 40"/>
          <p:cNvSpPr/>
          <p:nvPr/>
        </p:nvSpPr>
        <p:spPr>
          <a:xfrm>
            <a:off x="503999" y="29448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64000" y="2926799"/>
            <a:ext cx="9288000" cy="324000"/>
          </a:xfrm>
          <a:prstGeom prst="rect">
            <a:avLst/>
          </a:prstGeom>
          <a:noFill/>
        </p:spPr>
        <p:txBody>
          <a:bodyPr wrap="square" anchor="t" lIns="54000" rIns="54000"/>
          <a:lstStyle/>
          <a:p>
            <a:pPr algn="l"/>
            <a:r>
              <a:rPr sz="1200" b="0">
                <a:solidFill>
                  <a:srgbClr val="060606"/>
                </a:solidFill>
                <a:latin typeface="Helvetica"/>
              </a:rPr>
              <a:t>3 704 / 301 159 = 1,23 % au lieu de 1,5 %.</a:t>
            </a:r>
          </a:p>
        </p:txBody>
      </p:sp>
      <p:sp>
        <p:nvSpPr>
          <p:cNvPr id="43" name="Oval 42"/>
          <p:cNvSpPr/>
          <p:nvPr/>
        </p:nvSpPr>
        <p:spPr>
          <a:xfrm>
            <a:off x="503999" y="33048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64000" y="3286799"/>
            <a:ext cx="9288000" cy="324000"/>
          </a:xfrm>
          <a:prstGeom prst="rect">
            <a:avLst/>
          </a:prstGeom>
          <a:noFill/>
        </p:spPr>
        <p:txBody>
          <a:bodyPr wrap="square" anchor="t" lIns="54000" rIns="54000"/>
          <a:lstStyle/>
          <a:p>
            <a:pPr algn="l"/>
            <a:r>
              <a:rPr sz="1200" b="0">
                <a:solidFill>
                  <a:srgbClr val="060606"/>
                </a:solidFill>
                <a:latin typeface="Helvetica"/>
              </a:rPr>
              <a:t>Le total de 5,00 % est conforme. La clé maladie / décès ne l'est pas.</a:t>
            </a:r>
          </a:p>
        </p:txBody>
      </p:sp>
    </p:spTree>
    <p:extLst>
      <p:ext uri="{BB962C8B-B14F-4D97-AF65-F5344CB8AC3E}">
        <p14:creationId xmlns:p14="http://schemas.microsoft.com/office/powerpoint/2010/main" val="2495585914"/>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Taux de cotisation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clés de répartition coexistent pour le même taux de 5 %</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Barème annoncé 3,5 / 1,5. Solde 3,77 / 1,23. Comptabilité 2025 3,52 / 1,48</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11 : Répartition du taux de 5 % selon la source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du salaire de base</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Le total de 5 % est respecté partout.</a:t>
            </a:r>
          </a:p>
          <a:p>
            <a:pPr algn="just">
              <a:spcAft>
                <a:spcPts val="800"/>
              </a:spcAft>
            </a:pPr>
            <a:r>
              <a:rPr sz="1400" b="1">
                <a:solidFill>
                  <a:srgbClr val="060606"/>
                </a:solidFill>
                <a:latin typeface="Helvetica"/>
              </a:rPr>
              <a:t>La Solde retient 3,77 % au poste maladie et 1,23 % au poste décès.</a:t>
            </a:r>
          </a:p>
          <a:p>
            <a:pPr algn="just">
              <a:spcAft>
                <a:spcPts val="800"/>
              </a:spcAft>
            </a:pPr>
            <a:r>
              <a:rPr sz="1400" b="1">
                <a:solidFill>
                  <a:srgbClr val="060606"/>
                </a:solidFill>
                <a:latin typeface="Helvetica"/>
              </a:rPr>
              <a:t>La comptabilité répartit à 70,50 % pour la maladie</a:t>
            </a:r>
            <a:r>
              <a:rPr sz="1400" b="0">
                <a:solidFill>
                  <a:srgbClr val="060606"/>
                </a:solidFill>
                <a:latin typeface="Helvetica"/>
              </a:rPr>
              <a:t>, proche des 70 % du barème annoncé.</a:t>
            </a:r>
          </a:p>
          <a:p>
            <a:pPr algn="just">
              <a:spcAft>
                <a:spcPts val="800"/>
              </a:spcAft>
            </a:pPr>
            <a:r>
              <a:rPr sz="1400" b="1">
                <a:solidFill>
                  <a:srgbClr val="060606"/>
                </a:solidFill>
                <a:latin typeface="Helvetica"/>
              </a:rPr>
              <a:t>Le barème officiel n'a pas été reçu</a:t>
            </a:r>
            <a:r>
              <a:rPr sz="1400" b="0">
                <a:solidFill>
                  <a:srgbClr val="060606"/>
                </a:solidFill>
                <a:latin typeface="Helvetica"/>
              </a:rPr>
              <a:t> et doit trancher.</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Balances des comptes du FPPN (Sage 100), exercices 2020 à 2025 et du 01/01 au 31/08/2026 (provisoire). Traitements Adenka</a:t>
            </a:r>
          </a:p>
        </p:txBody>
      </p:sp>
    </p:spTree>
    <p:extLst>
      <p:ext uri="{BB962C8B-B14F-4D97-AF65-F5344CB8AC3E}">
        <p14:creationId xmlns:p14="http://schemas.microsoft.com/office/powerpoint/2010/main" val="3795841567"/>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clé de répartition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clé retenue change la sinistralité de chaque garantie de plusieurs points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2025 : 73,53 % avec la clé comptable, 68,75 % avec la clé de la Solde</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12 : Ratio S/C 2025 selon la clé de répartition</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Avec la clé de la Solde, le S/C maladie 2025 passe à 68,75 %</a:t>
            </a:r>
            <a:r>
              <a:rPr sz="1400" b="0">
                <a:solidFill>
                  <a:srgbClr val="060606"/>
                </a:solidFill>
                <a:latin typeface="Helvetica"/>
              </a:rPr>
              <a:t> et le S/C décès à 22,97 %.</a:t>
            </a:r>
          </a:p>
          <a:p>
            <a:pPr algn="just">
              <a:spcAft>
                <a:spcPts val="800"/>
              </a:spcAft>
            </a:pPr>
            <a:r>
              <a:rPr sz="1400" b="1">
                <a:solidFill>
                  <a:srgbClr val="060606"/>
                </a:solidFill>
                <a:latin typeface="Helvetica"/>
              </a:rPr>
              <a:t>Avec le barème annoncé, le S/C maladie vaut 74,06 %.</a:t>
            </a:r>
          </a:p>
          <a:p>
            <a:pPr algn="just">
              <a:spcAft>
                <a:spcPts val="800"/>
              </a:spcAft>
            </a:pPr>
            <a:r>
              <a:rPr sz="1400" b="1">
                <a:solidFill>
                  <a:srgbClr val="060606"/>
                </a:solidFill>
                <a:latin typeface="Helvetica"/>
              </a:rPr>
              <a:t>Le résultat par garantie dépend donc d'une décision de gestion</a:t>
            </a:r>
            <a:r>
              <a:rPr sz="1400" b="0">
                <a:solidFill>
                  <a:srgbClr val="060606"/>
                </a:solidFill>
                <a:latin typeface="Helvetica"/>
              </a:rPr>
              <a:t>, qui doit être écrite dans le barème et appliquée de la même façon par la Solde et la comptabilité.</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Tree>
    <p:extLst>
      <p:ext uri="{BB962C8B-B14F-4D97-AF65-F5344CB8AC3E}">
        <p14:creationId xmlns:p14="http://schemas.microsoft.com/office/powerpoint/2010/main" val="2458974622"/>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en termes réels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Hors inflation, les cotisations progressent de 23 % entre 2020 et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Hausse nominale 45,76 %, hausse des prix 18,50 %, hausse réelle 23,01 %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13 : Cotisations nominales et réelles (francs de 2020)</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L'inflation explique une partie de la hausse.</a:t>
            </a:r>
            <a:r>
              <a:rPr sz="1400" b="0">
                <a:solidFill>
                  <a:srgbClr val="060606"/>
                </a:solidFill>
                <a:latin typeface="Helvetica"/>
              </a:rPr>
              <a:t> Les prix ont augmenté de 18,50 % entre 2020 et 2025.</a:t>
            </a:r>
          </a:p>
          <a:p>
            <a:pPr algn="just">
              <a:spcAft>
                <a:spcPts val="800"/>
              </a:spcAft>
            </a:pPr>
            <a:r>
              <a:rPr sz="1400" b="1">
                <a:solidFill>
                  <a:srgbClr val="060606"/>
                </a:solidFill>
                <a:latin typeface="Helvetica"/>
              </a:rPr>
              <a:t>La hausse réelle reste nette : 23,01 %.</a:t>
            </a:r>
            <a:r>
              <a:rPr sz="1400" b="0">
                <a:solidFill>
                  <a:srgbClr val="060606"/>
                </a:solidFill>
                <a:latin typeface="Helvetica"/>
              </a:rPr>
              <a:t> Elle vient surtout de la hausse des effectifs.</a:t>
            </a:r>
          </a:p>
          <a:p>
            <a:pPr algn="just">
              <a:spcAft>
                <a:spcPts val="800"/>
              </a:spcAft>
            </a:pPr>
            <a:r>
              <a:rPr sz="1400" b="1">
                <a:solidFill>
                  <a:srgbClr val="060606"/>
                </a:solidFill>
                <a:latin typeface="Helvetica"/>
              </a:rPr>
              <a:t>L'inflation de 2025 est très faible (0,13 %)</a:t>
            </a:r>
            <a:r>
              <a:rPr sz="1400" b="0">
                <a:solidFill>
                  <a:srgbClr val="060606"/>
                </a:solidFill>
                <a:latin typeface="Helvetica"/>
              </a:rPr>
              <a:t>, après 5,23 % en 2022.</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Banque mondiale, FP.CPI.TOTL.ZG, mise à jour du 08/10/2026. Balances des comptes du FPPN (Sage 100), exercices 2020 à 2025 et du 01/01 au 31/08/2026 (provisoire). Traitements Adenka</a:t>
            </a:r>
          </a:p>
        </p:txBody>
      </p:sp>
    </p:spTree>
    <p:extLst>
      <p:ext uri="{BB962C8B-B14F-4D97-AF65-F5344CB8AC3E}">
        <p14:creationId xmlns:p14="http://schemas.microsoft.com/office/powerpoint/2010/main" val="3988493896"/>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comptabilisées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comptabilisées progressent de 45,76 % entre 2020 et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2 344 618 501 FCFA en 2020, 3 417 551 722 FCFA en 2025. Taux de croissance annuel moyen 7,83 %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14 : Cotisations comptabilisées par garantie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En 2025, comptabilité et précomptes maladie diffèrent de 6,89 %.</a:t>
            </a:r>
            <a:r>
              <a:rPr sz="1400" b="0">
                <a:solidFill>
                  <a:srgbClr val="060606"/>
                </a:solidFill>
                <a:latin typeface="Helvetica"/>
              </a:rPr>
              <a:t> Comptabilité 2 409 281 030 FCFA. Précomptes 2 587 432 980 FCFA.</a:t>
            </a:r>
          </a:p>
          <a:p>
            <a:pPr algn="just">
              <a:spcAft>
                <a:spcPts val="800"/>
              </a:spcAft>
            </a:pPr>
            <a:r>
              <a:rPr sz="1400" b="1">
                <a:solidFill>
                  <a:srgbClr val="060606"/>
                </a:solidFill>
                <a:latin typeface="Helvetica"/>
              </a:rPr>
              <a:t>L'écart vient de la clé de répartition</a:t>
            </a:r>
            <a:r>
              <a:rPr sz="1400" b="0">
                <a:solidFill>
                  <a:srgbClr val="060606"/>
                </a:solidFill>
                <a:latin typeface="Helvetica"/>
              </a:rPr>
              <a:t> : la comptabilité affecte au décès une part plus grande que la Solde.</a:t>
            </a:r>
          </a:p>
          <a:p>
            <a:pPr algn="just">
              <a:spcAft>
                <a:spcPts val="800"/>
              </a:spcAft>
            </a:pPr>
            <a:r>
              <a:rPr sz="1400" b="1">
                <a:solidFill>
                  <a:srgbClr val="060606"/>
                </a:solidFill>
                <a:latin typeface="Helvetica"/>
              </a:rPr>
              <a:t>Fin 2025, l'État devait 704 189 157 FCFA de cotisations</a:t>
            </a:r>
            <a:r>
              <a:rPr sz="1400" b="0">
                <a:solidFill>
                  <a:srgbClr val="060606"/>
                </a:solidFill>
                <a:latin typeface="Helvetica"/>
              </a:rPr>
              <a:t>. Le compte est soldé au 31/08/2026.</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Tree>
    <p:extLst>
      <p:ext uri="{BB962C8B-B14F-4D97-AF65-F5344CB8AC3E}">
        <p14:creationId xmlns:p14="http://schemas.microsoft.com/office/powerpoint/2010/main" val="2321246572"/>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effectifs et cotisations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augmentent avec les effectifs, mais leur répartition doit être clarifiée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Effectifs en hausse d'un tiers, taux total de 5 % respecté, trois clés de répartition différentes</a:t>
            </a:r>
          </a:p>
        </p:txBody>
      </p:sp>
      <p:sp>
        <p:nvSpPr>
          <p:cNvPr id="30" name="Rounded Rectangle 29"/>
          <p:cNvSpPr/>
          <p:nvPr/>
        </p:nvSpPr>
        <p:spPr>
          <a:xfrm>
            <a:off x="503999" y="1548000"/>
            <a:ext cx="3600000" cy="57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Effectifs</a:t>
            </a:r>
          </a:p>
        </p:txBody>
      </p:sp>
      <p:sp>
        <p:nvSpPr>
          <p:cNvPr id="31" name="Rounded Rectangle 30"/>
          <p:cNvSpPr/>
          <p:nvPr/>
        </p:nvSpPr>
        <p:spPr>
          <a:xfrm>
            <a:off x="503999" y="2232000"/>
            <a:ext cx="3600000" cy="3528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7999" y="2376000"/>
            <a:ext cx="3311999" cy="3240000"/>
          </a:xfrm>
          <a:prstGeom prst="rect">
            <a:avLst/>
          </a:prstGeom>
          <a:noFill/>
        </p:spPr>
        <p:txBody>
          <a:bodyPr wrap="square" anchor="t" lIns="54000" rIns="54000"/>
          <a:lstStyle/>
          <a:p>
            <a:pPr algn="l"/>
            <a:r>
              <a:rPr sz="1600" b="0">
                <a:solidFill>
                  <a:srgbClr val="060606"/>
                </a:solidFill>
                <a:latin typeface="Helvetica"/>
              </a:rPr>
              <a:t>31 198 cotisants en août 2026, hausse significative par paliers en juillet.</a:t>
            </a:r>
          </a:p>
        </p:txBody>
      </p:sp>
      <p:pic>
        <p:nvPicPr>
          <p:cNvPr id="33" name="Picture 32" descr="image.png"/>
          <p:cNvPicPr>
            <a:picLocks noChangeAspect="1"/>
          </p:cNvPicPr>
          <p:nvPr/>
        </p:nvPicPr>
        <p:blipFill>
          <a:blip r:embed="rId6"/>
          <a:stretch>
            <a:fillRect/>
          </a:stretch>
        </p:blipFill>
        <p:spPr>
          <a:xfrm>
            <a:off x="2016000" y="4896000"/>
            <a:ext cx="576000" cy="576000"/>
          </a:xfrm>
          <a:prstGeom prst="rect">
            <a:avLst/>
          </a:prstGeom>
        </p:spPr>
      </p:pic>
      <p:sp>
        <p:nvSpPr>
          <p:cNvPr id="34" name="Rounded Rectangle 33"/>
          <p:cNvSpPr/>
          <p:nvPr/>
        </p:nvSpPr>
        <p:spPr>
          <a:xfrm>
            <a:off x="4320000" y="1548000"/>
            <a:ext cx="3600000" cy="57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Taux</a:t>
            </a:r>
          </a:p>
        </p:txBody>
      </p:sp>
      <p:sp>
        <p:nvSpPr>
          <p:cNvPr id="35" name="Rounded Rectangle 34"/>
          <p:cNvSpPr/>
          <p:nvPr/>
        </p:nvSpPr>
        <p:spPr>
          <a:xfrm>
            <a:off x="4320000" y="2232000"/>
            <a:ext cx="3600000" cy="3528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64000" y="2376000"/>
            <a:ext cx="3311999" cy="3240000"/>
          </a:xfrm>
          <a:prstGeom prst="rect">
            <a:avLst/>
          </a:prstGeom>
          <a:noFill/>
        </p:spPr>
        <p:txBody>
          <a:bodyPr wrap="square" anchor="t" lIns="54000" rIns="54000"/>
          <a:lstStyle/>
          <a:p>
            <a:pPr algn="l"/>
            <a:r>
              <a:rPr sz="1600" b="0">
                <a:solidFill>
                  <a:srgbClr val="060606"/>
                </a:solidFill>
                <a:latin typeface="Helvetica"/>
              </a:rPr>
              <a:t>5,00 % au total, mais 3,77 % / 1,23 % à la Solde contre 3,5 % / 1,5 % annoncés.</a:t>
            </a:r>
          </a:p>
        </p:txBody>
      </p:sp>
      <p:pic>
        <p:nvPicPr>
          <p:cNvPr id="37" name="Picture 36" descr="image.png"/>
          <p:cNvPicPr>
            <a:picLocks noChangeAspect="1"/>
          </p:cNvPicPr>
          <p:nvPr/>
        </p:nvPicPr>
        <p:blipFill>
          <a:blip r:embed="rId7"/>
          <a:stretch>
            <a:fillRect/>
          </a:stretch>
        </p:blipFill>
        <p:spPr>
          <a:xfrm>
            <a:off x="5832000" y="4896000"/>
            <a:ext cx="576000" cy="576000"/>
          </a:xfrm>
          <a:prstGeom prst="rect">
            <a:avLst/>
          </a:prstGeom>
        </p:spPr>
      </p:pic>
      <p:sp>
        <p:nvSpPr>
          <p:cNvPr id="38" name="Rounded Rectangle 37"/>
          <p:cNvSpPr/>
          <p:nvPr/>
        </p:nvSpPr>
        <p:spPr>
          <a:xfrm>
            <a:off x="8135999" y="1548000"/>
            <a:ext cx="3600000" cy="57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Données à obtenir</a:t>
            </a:r>
          </a:p>
        </p:txBody>
      </p:sp>
      <p:sp>
        <p:nvSpPr>
          <p:cNvPr id="39" name="Rounded Rectangle 38"/>
          <p:cNvSpPr/>
          <p:nvPr/>
        </p:nvSpPr>
        <p:spPr>
          <a:xfrm>
            <a:off x="8135999" y="2232000"/>
            <a:ext cx="3600000" cy="3528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79999" y="2376000"/>
            <a:ext cx="3311999" cy="3240000"/>
          </a:xfrm>
          <a:prstGeom prst="rect">
            <a:avLst/>
          </a:prstGeom>
          <a:noFill/>
        </p:spPr>
        <p:txBody>
          <a:bodyPr wrap="square" anchor="t" lIns="54000" rIns="54000"/>
          <a:lstStyle/>
          <a:p>
            <a:pPr algn="l"/>
            <a:r>
              <a:rPr sz="1600" b="0">
                <a:solidFill>
                  <a:srgbClr val="060606"/>
                </a:solidFill>
                <a:latin typeface="Helvetica"/>
              </a:rPr>
              <a:t>Barème officiel, dates de naissance, motifs de sortie.</a:t>
            </a:r>
          </a:p>
        </p:txBody>
      </p:sp>
      <p:pic>
        <p:nvPicPr>
          <p:cNvPr id="41" name="Picture 40" descr="image.png"/>
          <p:cNvPicPr>
            <a:picLocks noChangeAspect="1"/>
          </p:cNvPicPr>
          <p:nvPr/>
        </p:nvPicPr>
        <p:blipFill>
          <a:blip r:embed="rId8"/>
          <a:stretch>
            <a:fillRect/>
          </a:stretch>
        </p:blipFill>
        <p:spPr>
          <a:xfrm>
            <a:off x="9647999" y="4896000"/>
            <a:ext cx="576000" cy="576000"/>
          </a:xfrm>
          <a:prstGeom prst="rect">
            <a:avLst/>
          </a:prstGeom>
        </p:spPr>
      </p:pic>
    </p:spTree>
    <p:extLst>
      <p:ext uri="{BB962C8B-B14F-4D97-AF65-F5344CB8AC3E}">
        <p14:creationId xmlns:p14="http://schemas.microsoft.com/office/powerpoint/2010/main" val="3968432391"/>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5</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Sinistralité et résultat</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Prestations, frais de gestion, résultat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229293870"/>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sinistralité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ratio S/C rapporte les prestations de l'année aux cotisations de l'année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 Σ prestations comptabilisées / Σ cotisations comptabilisées, par garantie et par exercice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31" name="Rounded Rectangle 30"/>
          <p:cNvSpPr/>
          <p:nvPr/>
        </p:nvSpPr>
        <p:spPr>
          <a:xfrm>
            <a:off x="503999" y="1512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Formule</a:t>
            </a:r>
          </a:p>
        </p:txBody>
      </p:sp>
      <p:sp>
        <p:nvSpPr>
          <p:cNvPr id="32" name="Rectangle 31"/>
          <p:cNvSpPr/>
          <p:nvPr/>
        </p:nvSpPr>
        <p:spPr>
          <a:xfrm>
            <a:off x="2988000" y="1512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96000" y="1602000"/>
            <a:ext cx="5688000" cy="936000"/>
          </a:xfrm>
          <a:prstGeom prst="rect">
            <a:avLst/>
          </a:prstGeom>
          <a:noFill/>
        </p:spPr>
        <p:txBody>
          <a:bodyPr wrap="square" anchor="ctr" lIns="54000" rIns="54000"/>
          <a:lstStyle/>
          <a:p>
            <a:pPr algn="l"/>
            <a:r>
              <a:rPr sz="1400" b="0">
                <a:solidFill>
                  <a:srgbClr val="060606"/>
                </a:solidFill>
                <a:latin typeface="Helvetica"/>
              </a:rPr>
              <a:t>S/C(garantie, n) = Prestations(garantie, n) / Cotisations(garantie, n)</a:t>
            </a:r>
          </a:p>
        </p:txBody>
      </p:sp>
      <p:sp>
        <p:nvSpPr>
          <p:cNvPr id="34" name="Rounded Rectangle 33"/>
          <p:cNvSpPr/>
          <p:nvPr/>
        </p:nvSpPr>
        <p:spPr>
          <a:xfrm>
            <a:off x="9000000" y="1512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Exercices 2020 à 2026</a:t>
            </a:r>
          </a:p>
        </p:txBody>
      </p:sp>
      <p:sp>
        <p:nvSpPr>
          <p:cNvPr id="35" name="Rounded Rectangle 34"/>
          <p:cNvSpPr/>
          <p:nvPr/>
        </p:nvSpPr>
        <p:spPr>
          <a:xfrm>
            <a:off x="503999" y="2844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Prestations maladie</a:t>
            </a:r>
          </a:p>
        </p:txBody>
      </p:sp>
      <p:sp>
        <p:nvSpPr>
          <p:cNvPr id="36" name="Rectangle 35"/>
          <p:cNvSpPr/>
          <p:nvPr/>
        </p:nvSpPr>
        <p:spPr>
          <a:xfrm>
            <a:off x="2988000" y="2844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96000" y="2934000"/>
            <a:ext cx="5688000" cy="936000"/>
          </a:xfrm>
          <a:prstGeom prst="rect">
            <a:avLst/>
          </a:prstGeom>
          <a:noFill/>
        </p:spPr>
        <p:txBody>
          <a:bodyPr wrap="square" anchor="ctr" lIns="54000" rIns="54000"/>
          <a:lstStyle/>
          <a:p>
            <a:pPr algn="l"/>
            <a:r>
              <a:rPr sz="1400" b="0">
                <a:solidFill>
                  <a:srgbClr val="060606"/>
                </a:solidFill>
                <a:latin typeface="Helvetica"/>
              </a:rPr>
              <a:t>Comptes 601, 6013, 6018, 60800007</a:t>
            </a:r>
          </a:p>
        </p:txBody>
      </p:sp>
      <p:sp>
        <p:nvSpPr>
          <p:cNvPr id="38" name="Rounded Rectangle 37"/>
          <p:cNvSpPr/>
          <p:nvPr/>
        </p:nvSpPr>
        <p:spPr>
          <a:xfrm>
            <a:off x="9000000" y="2844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12 comptes en 2025</a:t>
            </a:r>
          </a:p>
        </p:txBody>
      </p:sp>
      <p:sp>
        <p:nvSpPr>
          <p:cNvPr id="39" name="Rounded Rectangle 38"/>
          <p:cNvSpPr/>
          <p:nvPr/>
        </p:nvSpPr>
        <p:spPr>
          <a:xfrm>
            <a:off x="503999" y="4176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Prestations décès</a:t>
            </a:r>
          </a:p>
        </p:txBody>
      </p:sp>
      <p:sp>
        <p:nvSpPr>
          <p:cNvPr id="40" name="Rectangle 39"/>
          <p:cNvSpPr/>
          <p:nvPr/>
        </p:nvSpPr>
        <p:spPr>
          <a:xfrm>
            <a:off x="2988000" y="4176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096000" y="4266000"/>
            <a:ext cx="5688000" cy="936000"/>
          </a:xfrm>
          <a:prstGeom prst="rect">
            <a:avLst/>
          </a:prstGeom>
          <a:noFill/>
        </p:spPr>
        <p:txBody>
          <a:bodyPr wrap="square" anchor="ctr" lIns="54000" rIns="54000"/>
          <a:lstStyle/>
          <a:p>
            <a:pPr algn="l"/>
            <a:r>
              <a:rPr sz="1400" b="0">
                <a:solidFill>
                  <a:srgbClr val="060606"/>
                </a:solidFill>
                <a:latin typeface="Helvetica"/>
              </a:rPr>
              <a:t>Comptes 6021, 6024 (+ 65180000 en 2020)</a:t>
            </a:r>
          </a:p>
        </p:txBody>
      </p:sp>
      <p:sp>
        <p:nvSpPr>
          <p:cNvPr id="42" name="Rounded Rectangle 41"/>
          <p:cNvSpPr/>
          <p:nvPr/>
        </p:nvSpPr>
        <p:spPr>
          <a:xfrm>
            <a:off x="9000000" y="4176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Obsèques, frais funéraires</a:t>
            </a:r>
          </a:p>
        </p:txBody>
      </p:sp>
    </p:spTree>
    <p:extLst>
      <p:ext uri="{BB962C8B-B14F-4D97-AF65-F5344CB8AC3E}">
        <p14:creationId xmlns:p14="http://schemas.microsoft.com/office/powerpoint/2010/main" val="1121260397"/>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S/C maladie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Douze comptes de prestations divisés par un compte de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1 771 635 361 FCFA / 2 409 281 030 FCFA = 73,53 %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des comptes 2025 (Sage 100). Traitements Adenka</a:t>
            </a:r>
          </a:p>
        </p:txBody>
      </p:sp>
      <p:graphicFrame>
        <p:nvGraphicFramePr>
          <p:cNvPr id="31" name="Table 30"/>
          <p:cNvGraphicFramePr>
            <a:graphicFrameLocks noGrp="1"/>
          </p:cNvGraphicFramePr>
          <p:nvPr/>
        </p:nvGraphicFramePr>
        <p:xfrm>
          <a:off x="503999" y="1548000"/>
          <a:ext cx="7344000" cy="2700000"/>
        </p:xfrm>
        <a:graphic>
          <a:graphicData uri="http://schemas.openxmlformats.org/drawingml/2006/table">
            <a:tbl>
              <a:tblPr firstRow="0" bandRow="0">
                <a:tableStyleId>{5940675A-B579-460E-94D1-54222C63F5DA}</a:tableStyleId>
              </a:tblPr>
              <a:tblGrid>
                <a:gridCol w="1224000"/>
                <a:gridCol w="3960000"/>
                <a:gridCol w="2160000"/>
              </a:tblGrid>
              <a:tr h="180000">
                <a:tc>
                  <a:txBody>
                    <a:bodyPr/>
                    <a:lstStyle/>
                    <a:p>
                      <a:pPr marL="0" indent="0" lvl="0">
                        <a:buNone/>
                      </a:pPr>
                      <a:r>
                        <a:rPr sz="9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Intitulé</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Montant 2025</a:t>
                      </a:r>
                    </a:p>
                  </a:txBody>
                  <a:tcPr marL="43200" marR="43200" marT="14400" marB="14400" anchor="ctr">
                    <a:solidFill>
                      <a:srgbClr val="060606"/>
                    </a:solidFill>
                  </a:tcPr>
                </a:tc>
              </a:tr>
              <a:tr h="180000">
                <a:tc>
                  <a:txBody>
                    <a:bodyPr/>
                    <a:lstStyle/>
                    <a:p>
                      <a:pPr marL="0" indent="0" lvl="0">
                        <a:buNone/>
                      </a:pPr>
                      <a:r>
                        <a:rPr sz="900" b="1">
                          <a:solidFill>
                            <a:srgbClr val="060606"/>
                          </a:solidFill>
                          <a:latin typeface="Helvetica"/>
                        </a:rPr>
                        <a:t>60111000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Pharmacie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38 076 031 FCFA</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60112000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Consultations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173 759 919 FCFA</a:t>
                      </a:r>
                    </a:p>
                  </a:txBody>
                  <a:tcPr marL="43200" marR="43200" marT="14400" marB="14400" anchor="ctr">
                    <a:solidFill>
                      <a:srgbClr val="F2F2F2"/>
                    </a:solidFill>
                  </a:tcPr>
                </a:tc>
              </a:tr>
              <a:tr h="180000">
                <a:tc>
                  <a:txBody>
                    <a:bodyPr/>
                    <a:lstStyle/>
                    <a:p>
                      <a:pPr marL="0" indent="0" lvl="0">
                        <a:buNone/>
                      </a:pPr>
                      <a:r>
                        <a:rPr sz="900" b="1">
                          <a:solidFill>
                            <a:srgbClr val="060606"/>
                          </a:solidFill>
                          <a:latin typeface="Helvetica"/>
                        </a:rPr>
                        <a:t>60113000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Hospitalisations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23 247 618 FCFA</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60114000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Analyses Médicales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234 266 144 FCFA</a:t>
                      </a:r>
                    </a:p>
                  </a:txBody>
                  <a:tcPr marL="43200" marR="43200" marT="14400" marB="14400" anchor="ctr">
                    <a:solidFill>
                      <a:srgbClr val="F2F2F2"/>
                    </a:solidFill>
                  </a:tcPr>
                </a:tc>
              </a:tr>
              <a:tr h="180000">
                <a:tc>
                  <a:txBody>
                    <a:bodyPr/>
                    <a:lstStyle/>
                    <a:p>
                      <a:pPr marL="0" indent="0" lvl="0">
                        <a:buNone/>
                      </a:pPr>
                      <a:r>
                        <a:rPr sz="900" b="1">
                          <a:solidFill>
                            <a:srgbClr val="060606"/>
                          </a:solidFill>
                          <a:latin typeface="Helvetica"/>
                        </a:rPr>
                        <a:t>60115000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Radio Imagérie &amp; Echographie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249 812 169 FCFA</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60118000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Transport Médicalisé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1 265 340 FCFA</a:t>
                      </a:r>
                    </a:p>
                  </a:txBody>
                  <a:tcPr marL="43200" marR="43200" marT="14400" marB="14400" anchor="ctr">
                    <a:solidFill>
                      <a:srgbClr val="F2F2F2"/>
                    </a:solidFill>
                  </a:tcPr>
                </a:tc>
              </a:tr>
              <a:tr h="180000">
                <a:tc>
                  <a:txBody>
                    <a:bodyPr/>
                    <a:lstStyle/>
                    <a:p>
                      <a:pPr marL="0" indent="0" lvl="0">
                        <a:buNone/>
                      </a:pPr>
                      <a:r>
                        <a:rPr sz="900" b="1">
                          <a:solidFill>
                            <a:srgbClr val="060606"/>
                          </a:solidFill>
                          <a:latin typeface="Helvetica"/>
                        </a:rPr>
                        <a:t>60119000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Traitements médicaux</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14 461 585 FCFA</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60120000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Charges de Prestations Maladie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989 729 545 FCFA</a:t>
                      </a:r>
                    </a:p>
                  </a:txBody>
                  <a:tcPr marL="43200" marR="43200" marT="14400" marB="14400" anchor="ctr">
                    <a:solidFill>
                      <a:srgbClr val="F2F2F2"/>
                    </a:solidFill>
                  </a:tcPr>
                </a:tc>
              </a:tr>
              <a:tr h="180000">
                <a:tc>
                  <a:txBody>
                    <a:bodyPr/>
                    <a:lstStyle/>
                    <a:p>
                      <a:pPr marL="0" indent="0" lvl="0">
                        <a:buNone/>
                      </a:pPr>
                      <a:r>
                        <a:rPr sz="900" b="1">
                          <a:solidFill>
                            <a:srgbClr val="060606"/>
                          </a:solidFill>
                          <a:latin typeface="Helvetica"/>
                        </a:rPr>
                        <a:t>60121000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Remboursement de soins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4 881 810 FCFA</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60122000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Allocation naissance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700 000 FCFA</a:t>
                      </a:r>
                    </a:p>
                  </a:txBody>
                  <a:tcPr marL="43200" marR="43200" marT="14400" marB="14400" anchor="ctr">
                    <a:solidFill>
                      <a:srgbClr val="F2F2F2"/>
                    </a:solidFill>
                  </a:tcPr>
                </a:tc>
              </a:tr>
              <a:tr h="180000">
                <a:tc>
                  <a:txBody>
                    <a:bodyPr/>
                    <a:lstStyle/>
                    <a:p>
                      <a:pPr marL="0" indent="0" lvl="0">
                        <a:buNone/>
                      </a:pPr>
                      <a:r>
                        <a:rPr sz="900" b="1">
                          <a:solidFill>
                            <a:srgbClr val="060606"/>
                          </a:solidFill>
                          <a:latin typeface="Helvetica"/>
                        </a:rPr>
                        <a:t>60130000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Charges de prestat°séance réducat°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9 485 200 FCFA</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60800007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Bons de prise en charge médicale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31 950 000 FCFA</a:t>
                      </a:r>
                    </a:p>
                  </a:txBody>
                  <a:tcPr marL="43200" marR="43200" marT="14400" marB="14400" anchor="ctr">
                    <a:solidFill>
                      <a:srgbClr val="F2F2F2"/>
                    </a:solidFill>
                  </a:tcPr>
                </a:tc>
              </a:tr>
              <a:tr h="180000">
                <a:tc>
                  <a:txBody>
                    <a:bodyPr/>
                    <a:lstStyle/>
                    <a:p>
                      <a:pPr marL="0" indent="0" lvl="0">
                        <a:buNone/>
                      </a:pPr>
                      <a:r>
                        <a:rPr sz="900" b="1">
                          <a:solidFill>
                            <a:srgbClr val="060606"/>
                          </a:solidFill>
                          <a:latin typeface="Helvetica"/>
                        </a:rPr>
                        <a:t>Total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Prestations maladie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1 771 635 361 FCFA</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70100000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COTISATIONS MALADIES ACQUISES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2 409 281 030 FCFA</a:t>
                      </a:r>
                    </a:p>
                  </a:txBody>
                  <a:tcPr marL="43200" marR="43200" marT="14400" marB="14400" anchor="ctr">
                    <a:solidFill>
                      <a:srgbClr val="F2F2F2"/>
                    </a:solidFill>
                  </a:tcPr>
                </a:tc>
              </a:tr>
            </a:tbl>
          </a:graphicData>
        </a:graphic>
      </p:graphicFrame>
      <p:sp>
        <p:nvSpPr>
          <p:cNvPr id="32" name="TextBox 31"/>
          <p:cNvSpPr txBox="1"/>
          <p:nvPr/>
        </p:nvSpPr>
        <p:spPr>
          <a:xfrm>
            <a:off x="503999" y="1350000"/>
            <a:ext cx="7343999"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sp>
        <p:nvSpPr>
          <p:cNvPr id="33" name="Rounded Rectangle 32"/>
          <p:cNvSpPr/>
          <p:nvPr/>
        </p:nvSpPr>
        <p:spPr>
          <a:xfrm>
            <a:off x="5670000" y="2977200"/>
            <a:ext cx="2196000" cy="201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68000" y="2826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670000" y="3877200"/>
            <a:ext cx="2196000" cy="201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68000" y="3726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670000" y="4057200"/>
            <a:ext cx="2196000" cy="201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68000" y="3906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8063999" y="1584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424000" y="1548000"/>
            <a:ext cx="3312000" cy="1188000"/>
          </a:xfrm>
          <a:prstGeom prst="rect">
            <a:avLst/>
          </a:prstGeom>
          <a:noFill/>
        </p:spPr>
        <p:txBody>
          <a:bodyPr wrap="square" anchor="t" lIns="54000" rIns="54000"/>
          <a:lstStyle/>
          <a:p>
            <a:pPr algn="l"/>
            <a:r>
              <a:rPr sz="1300" b="0">
                <a:solidFill>
                  <a:srgbClr val="060606"/>
                </a:solidFill>
                <a:latin typeface="Helvetica"/>
              </a:rPr>
              <a:t>Compte global : plus de la moitié des prestations, sans détail.</a:t>
            </a:r>
          </a:p>
        </p:txBody>
      </p:sp>
      <p:sp>
        <p:nvSpPr>
          <p:cNvPr id="41" name="Oval 40"/>
          <p:cNvSpPr/>
          <p:nvPr/>
        </p:nvSpPr>
        <p:spPr>
          <a:xfrm>
            <a:off x="8063999" y="288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424000" y="2844000"/>
            <a:ext cx="3312000" cy="1188000"/>
          </a:xfrm>
          <a:prstGeom prst="rect">
            <a:avLst/>
          </a:prstGeom>
          <a:noFill/>
        </p:spPr>
        <p:txBody>
          <a:bodyPr wrap="square" anchor="t" lIns="54000" rIns="54000"/>
          <a:lstStyle/>
          <a:p>
            <a:pPr algn="l"/>
            <a:r>
              <a:rPr sz="1300" b="0">
                <a:solidFill>
                  <a:srgbClr val="060606"/>
                </a:solidFill>
                <a:latin typeface="Helvetica"/>
              </a:rPr>
              <a:t>Somme des 12 comptes de prestations maladie.</a:t>
            </a:r>
          </a:p>
        </p:txBody>
      </p:sp>
      <p:sp>
        <p:nvSpPr>
          <p:cNvPr id="43" name="Oval 42"/>
          <p:cNvSpPr/>
          <p:nvPr/>
        </p:nvSpPr>
        <p:spPr>
          <a:xfrm>
            <a:off x="8063999" y="4176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424000" y="4140000"/>
            <a:ext cx="3312000" cy="1188000"/>
          </a:xfrm>
          <a:prstGeom prst="rect">
            <a:avLst/>
          </a:prstGeom>
          <a:noFill/>
        </p:spPr>
        <p:txBody>
          <a:bodyPr wrap="square" anchor="t" lIns="54000" rIns="54000"/>
          <a:lstStyle/>
          <a:p>
            <a:pPr algn="l"/>
            <a:r>
              <a:rPr sz="1300" b="0">
                <a:solidFill>
                  <a:srgbClr val="060606"/>
                </a:solidFill>
                <a:latin typeface="Helvetica"/>
              </a:rPr>
              <a:t>Cotisations maladie acquises. S/C = total / cotisations.</a:t>
            </a:r>
          </a:p>
        </p:txBody>
      </p:sp>
    </p:spTree>
    <p:extLst>
      <p:ext uri="{BB962C8B-B14F-4D97-AF65-F5344CB8AC3E}">
        <p14:creationId xmlns:p14="http://schemas.microsoft.com/office/powerpoint/2010/main" val="3774462207"/>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prestations maladie absorbent presque toutes les cotisations maladie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 6,00 % en 2021, 73,53 % en 2025, 97,40 % sur huit mois de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15 : Prestations comptabilisées / cotisations (S/C)</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 de la garantie</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Le ratio maladie a été multiplié par 12,26 entre 2021 et 2025.</a:t>
            </a:r>
          </a:p>
          <a:p>
            <a:pPr algn="just">
              <a:spcAft>
                <a:spcPts val="800"/>
              </a:spcAft>
            </a:pPr>
            <a:r>
              <a:rPr sz="1400" b="1">
                <a:solidFill>
                  <a:srgbClr val="060606"/>
                </a:solidFill>
                <a:latin typeface="Helvetica"/>
              </a:rPr>
              <a:t>Les ratios très bas de 2020 à 2022 sont suspects</a:t>
            </a:r>
            <a:r>
              <a:rPr sz="1400" b="0">
                <a:solidFill>
                  <a:srgbClr val="060606"/>
                </a:solidFill>
                <a:latin typeface="Helvetica"/>
              </a:rPr>
              <a:t> : des factures de ces années ont probablement été comptabilisées plus tard. À vérifier sur la base des prestations.</a:t>
            </a:r>
          </a:p>
          <a:p>
            <a:pPr algn="just">
              <a:spcAft>
                <a:spcPts val="800"/>
              </a:spcAft>
            </a:pPr>
            <a:r>
              <a:rPr sz="1400" b="1">
                <a:solidFill>
                  <a:srgbClr val="060606"/>
                </a:solidFill>
                <a:latin typeface="Helvetica"/>
              </a:rPr>
              <a:t>En décès, le ratio oscille entre 15,21 % et 21,81 % depuis 2022.</a:t>
            </a:r>
          </a:p>
          <a:p>
            <a:pPr algn="just">
              <a:spcAft>
                <a:spcPts val="800"/>
              </a:spcAft>
            </a:pPr>
            <a:r>
              <a:rPr sz="1400" b="1">
                <a:solidFill>
                  <a:srgbClr val="060606"/>
                </a:solidFill>
                <a:latin typeface="Helvetica"/>
              </a:rPr>
              <a:t>En 2020, la prime d'assurance décès (574 393 861 FCFA) représentait 82,23 % des cotisations décès.</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Tree>
    <p:extLst>
      <p:ext uri="{BB962C8B-B14F-4D97-AF65-F5344CB8AC3E}">
        <p14:creationId xmlns:p14="http://schemas.microsoft.com/office/powerpoint/2010/main" val="3025970685"/>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Croissance des prestations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prestations maladie croissent beaucoup plus vite que les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 croissance annuel moyen 2021 à 2025 : prestations maladie 104,42 %, cotisations 7,83 %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Fichiers de précomptes de la Solde, de la CGRAE et du FPPN reçus le 15/10/2026. Traitements Adenka. Exports du logiciel de prêts du Grenier du Policier (balances âgées, production) reçus le 15/10/2026.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 : Taux de croissance annuels moyens</a:t>
            </a:r>
          </a:p>
        </p:txBody>
      </p:sp>
      <p:graphicFrame>
        <p:nvGraphicFramePr>
          <p:cNvPr id="32" name="Table 31"/>
          <p:cNvGraphicFramePr>
            <a:graphicFrameLocks noGrp="1"/>
          </p:cNvGraphicFramePr>
          <p:nvPr/>
        </p:nvGraphicFramePr>
        <p:xfrm>
          <a:off x="503999" y="1655999"/>
          <a:ext cx="11231997" cy="2592000"/>
        </p:xfrm>
        <a:graphic>
          <a:graphicData uri="http://schemas.openxmlformats.org/drawingml/2006/table">
            <a:tbl>
              <a:tblPr firstRow="0" bandRow="0">
                <a:tableStyleId>{5940675A-B579-460E-94D1-54222C63F5DA}</a:tableStyleId>
              </a:tblPr>
              <a:tblGrid>
                <a:gridCol w="2736000"/>
                <a:gridCol w="1655999"/>
                <a:gridCol w="2015999"/>
                <a:gridCol w="2015999"/>
                <a:gridCol w="1296000"/>
                <a:gridCol w="1512000"/>
              </a:tblGrid>
              <a:tr h="324000">
                <a:tc>
                  <a:txBody>
                    <a:bodyPr/>
                    <a:lstStyle/>
                    <a:p>
                      <a:pPr marL="0" indent="0" lvl="0">
                        <a:buNone/>
                      </a:pPr>
                      <a:r>
                        <a:rPr sz="12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Période</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Valeur de départ</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Valeur d'arrivée</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Multiplié par</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TCAM</a:t>
                      </a:r>
                    </a:p>
                  </a:txBody>
                  <a:tcPr marL="43200" marR="43200" marT="14400" marB="14400" anchor="ctr">
                    <a:solidFill>
                      <a:srgbClr val="060606"/>
                    </a:solidFill>
                  </a:tcPr>
                </a:tc>
              </a:tr>
              <a:tr h="324000">
                <a:tc>
                  <a:txBody>
                    <a:bodyPr/>
                    <a:lstStyle/>
                    <a:p>
                      <a:pPr marL="0" indent="0" lvl="0">
                        <a:buNone/>
                      </a:pPr>
                      <a:r>
                        <a:rPr sz="1200" b="1">
                          <a:solidFill>
                            <a:srgbClr val="060606"/>
                          </a:solidFill>
                          <a:latin typeface="Helvetica"/>
                        </a:rPr>
                        <a:t>Cotisations maladie et décès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2 344 618 501 FCFA</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3 417 551 722 FCFA</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1,46</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7,83 %</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Prestations maladie</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2021 à 2025</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101 453 171 FCFA</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1 771 635 361 FCFA</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17,46</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104,42 %</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Épargne PEP et EFC (passif)</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10 828 205 640 FCFA</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13 814 066 964 FCFA</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1,28</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4,99 %</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Encours des prêts du Grenier</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31/12/2022 à 31/12/2025</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182 555 907 FCFA</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829 623 319 FCFA</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4,54</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65,64 %</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Production de prêts du Grenier</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2022 à 2025</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269 775 100 FCFA</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1 609 400 144 FCFA</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5,97</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81,37 %</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Cotisants actifs (maladie 936)</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janv. 2024 à août 2026</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23 119</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31 198</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1,35</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12,30 %</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Investissements au CMP</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2 984 680 712 FCFA</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6 002 976 947 FCFA</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2,01</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15,00 %</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2637783679"/>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Prestations maladie par nature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Plus de la moitié des prestations maladie est enregistrée sans détail de nature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le compte global porte 995 311 355 FCFA sur 1 771 635 361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16 : Prestations maladie comptabilisées par nature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Les prestations maladie passent de 101 453 171 FCFA en 2021 à 1 771 635 361 FCFA en 2025.</a:t>
            </a:r>
          </a:p>
          <a:p>
            <a:pPr algn="just">
              <a:spcAft>
                <a:spcPts val="800"/>
              </a:spcAft>
            </a:pPr>
            <a:r>
              <a:rPr sz="1400" b="1">
                <a:solidFill>
                  <a:srgbClr val="060606"/>
                </a:solidFill>
                <a:latin typeface="Helvetica"/>
              </a:rPr>
              <a:t>Imagerie, analyses et consultations représentent 37,13 % des prestations de 2025.</a:t>
            </a:r>
          </a:p>
          <a:p>
            <a:pPr algn="just">
              <a:spcAft>
                <a:spcPts val="800"/>
              </a:spcAft>
            </a:pPr>
            <a:r>
              <a:rPr sz="1400" b="1">
                <a:solidFill>
                  <a:srgbClr val="060606"/>
                </a:solidFill>
                <a:latin typeface="Helvetica"/>
              </a:rPr>
              <a:t>Un compte global empêche le suivi par type de soins et par prestataire.</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Tree>
    <p:extLst>
      <p:ext uri="{BB962C8B-B14F-4D97-AF65-F5344CB8AC3E}">
        <p14:creationId xmlns:p14="http://schemas.microsoft.com/office/powerpoint/2010/main" val="438436021"/>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Frais de gestion et résultat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excédents se réduisent et deviennent un déficit en 2026</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Résultat net : 1 018 579 699 FCFA en 2020, 437 899 911 FCFA en 2025, -441 256 500 FCFA sur huit mois de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17 : Frais de gestion et résultat net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Les frais pèsent entre 31,46 % et 40,11 % des cotisations depuis 2021.</a:t>
            </a:r>
          </a:p>
          <a:p>
            <a:pPr algn="just">
              <a:spcAft>
                <a:spcPts val="800"/>
              </a:spcAft>
            </a:pPr>
            <a:r>
              <a:rPr sz="1400" b="1">
                <a:solidFill>
                  <a:srgbClr val="060606"/>
                </a:solidFill>
                <a:latin typeface="Helvetica"/>
              </a:rPr>
              <a:t>Le résultat baisse depuis 2021</a:t>
            </a:r>
            <a:r>
              <a:rPr sz="1400" b="0">
                <a:solidFill>
                  <a:srgbClr val="060606"/>
                </a:solidFill>
                <a:latin typeface="Helvetica"/>
              </a:rPr>
              <a:t> : de 2 083 908 202 FCFA à 437 899 911 FCFA en 2025.</a:t>
            </a:r>
          </a:p>
          <a:p>
            <a:pPr algn="just">
              <a:spcAft>
                <a:spcPts val="800"/>
              </a:spcAft>
            </a:pPr>
            <a:r>
              <a:rPr sz="1400" b="1">
                <a:solidFill>
                  <a:srgbClr val="060606"/>
                </a:solidFill>
                <a:latin typeface="Helvetica"/>
              </a:rPr>
              <a:t>Les huit premiers mois de 2026 sont déficitaires</a:t>
            </a:r>
            <a:r>
              <a:rPr sz="1400" b="0">
                <a:solidFill>
                  <a:srgbClr val="060606"/>
                </a:solidFill>
                <a:latin typeface="Helvetica"/>
              </a:rPr>
              <a:t>, avant écritures de fin d'année.</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Tree>
    <p:extLst>
      <p:ext uri="{BB962C8B-B14F-4D97-AF65-F5344CB8AC3E}">
        <p14:creationId xmlns:p14="http://schemas.microsoft.com/office/powerpoint/2010/main" val="2651095649"/>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sinistralité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maladie approche le niveau des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 S/C maladie multiplié par plus de douze depuis 2021, résultat en baisse, déficit sur 2026</a:t>
            </a:r>
          </a:p>
        </p:txBody>
      </p:sp>
      <p:sp>
        <p:nvSpPr>
          <p:cNvPr id="30" name="Rounded Rectangle 29"/>
          <p:cNvSpPr/>
          <p:nvPr/>
        </p:nvSpPr>
        <p:spPr>
          <a:xfrm>
            <a:off x="503999" y="1548000"/>
            <a:ext cx="3600000" cy="57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Tendance</a:t>
            </a:r>
          </a:p>
        </p:txBody>
      </p:sp>
      <p:sp>
        <p:nvSpPr>
          <p:cNvPr id="31" name="Rounded Rectangle 30"/>
          <p:cNvSpPr/>
          <p:nvPr/>
        </p:nvSpPr>
        <p:spPr>
          <a:xfrm>
            <a:off x="503999" y="2232000"/>
            <a:ext cx="3600000" cy="3528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7999" y="2376000"/>
            <a:ext cx="3311999" cy="3240000"/>
          </a:xfrm>
          <a:prstGeom prst="rect">
            <a:avLst/>
          </a:prstGeom>
          <a:noFill/>
        </p:spPr>
        <p:txBody>
          <a:bodyPr wrap="square" anchor="t" lIns="54000" rIns="54000"/>
          <a:lstStyle/>
          <a:p>
            <a:pPr algn="l"/>
            <a:r>
              <a:rPr sz="1600" b="0">
                <a:solidFill>
                  <a:srgbClr val="060606"/>
                </a:solidFill>
                <a:latin typeface="Helvetica"/>
              </a:rPr>
              <a:t>Hausse significative du S/C maladie, environ 12,91 points par an de 2020 à 2025.</a:t>
            </a:r>
          </a:p>
        </p:txBody>
      </p:sp>
      <p:pic>
        <p:nvPicPr>
          <p:cNvPr id="33" name="Picture 32" descr="image.png"/>
          <p:cNvPicPr>
            <a:picLocks noChangeAspect="1"/>
          </p:cNvPicPr>
          <p:nvPr/>
        </p:nvPicPr>
        <p:blipFill>
          <a:blip r:embed="rId6"/>
          <a:stretch>
            <a:fillRect/>
          </a:stretch>
        </p:blipFill>
        <p:spPr>
          <a:xfrm>
            <a:off x="2016000" y="4896000"/>
            <a:ext cx="576000" cy="576000"/>
          </a:xfrm>
          <a:prstGeom prst="rect">
            <a:avLst/>
          </a:prstGeom>
        </p:spPr>
      </p:pic>
      <p:sp>
        <p:nvSpPr>
          <p:cNvPr id="34" name="Rounded Rectangle 33"/>
          <p:cNvSpPr/>
          <p:nvPr/>
        </p:nvSpPr>
        <p:spPr>
          <a:xfrm>
            <a:off x="4320000" y="1548000"/>
            <a:ext cx="3600000" cy="57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Limite</a:t>
            </a:r>
          </a:p>
        </p:txBody>
      </p:sp>
      <p:sp>
        <p:nvSpPr>
          <p:cNvPr id="35" name="Rounded Rectangle 34"/>
          <p:cNvSpPr/>
          <p:nvPr/>
        </p:nvSpPr>
        <p:spPr>
          <a:xfrm>
            <a:off x="4320000" y="2232000"/>
            <a:ext cx="3600000" cy="3528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64000" y="2376000"/>
            <a:ext cx="3311999" cy="3240000"/>
          </a:xfrm>
          <a:prstGeom prst="rect">
            <a:avLst/>
          </a:prstGeom>
          <a:noFill/>
        </p:spPr>
        <p:txBody>
          <a:bodyPr wrap="square" anchor="t" lIns="54000" rIns="54000"/>
          <a:lstStyle/>
          <a:p>
            <a:pPr algn="l"/>
            <a:r>
              <a:rPr sz="1600" b="0">
                <a:solidFill>
                  <a:srgbClr val="060606"/>
                </a:solidFill>
                <a:latin typeface="Helvetica"/>
              </a:rPr>
              <a:t>Ratio comptable : le coût réel par année de soins demande la base des prestations.</a:t>
            </a:r>
          </a:p>
        </p:txBody>
      </p:sp>
      <p:pic>
        <p:nvPicPr>
          <p:cNvPr id="37" name="Picture 36" descr="image.png"/>
          <p:cNvPicPr>
            <a:picLocks noChangeAspect="1"/>
          </p:cNvPicPr>
          <p:nvPr/>
        </p:nvPicPr>
        <p:blipFill>
          <a:blip r:embed="rId7"/>
          <a:stretch>
            <a:fillRect/>
          </a:stretch>
        </p:blipFill>
        <p:spPr>
          <a:xfrm>
            <a:off x="5832000" y="4896000"/>
            <a:ext cx="576000" cy="576000"/>
          </a:xfrm>
          <a:prstGeom prst="rect">
            <a:avLst/>
          </a:prstGeom>
        </p:spPr>
      </p:pic>
      <p:sp>
        <p:nvSpPr>
          <p:cNvPr id="38" name="Rounded Rectangle 37"/>
          <p:cNvSpPr/>
          <p:nvPr/>
        </p:nvSpPr>
        <p:spPr>
          <a:xfrm>
            <a:off x="8135999" y="1548000"/>
            <a:ext cx="3600000" cy="57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Action</a:t>
            </a:r>
          </a:p>
        </p:txBody>
      </p:sp>
      <p:sp>
        <p:nvSpPr>
          <p:cNvPr id="39" name="Rounded Rectangle 38"/>
          <p:cNvSpPr/>
          <p:nvPr/>
        </p:nvSpPr>
        <p:spPr>
          <a:xfrm>
            <a:off x="8135999" y="2232000"/>
            <a:ext cx="3600000" cy="3528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79999" y="2376000"/>
            <a:ext cx="3311999" cy="3240000"/>
          </a:xfrm>
          <a:prstGeom prst="rect">
            <a:avLst/>
          </a:prstGeom>
          <a:noFill/>
        </p:spPr>
        <p:txBody>
          <a:bodyPr wrap="square" anchor="t" lIns="54000" rIns="54000"/>
          <a:lstStyle/>
          <a:p>
            <a:pPr algn="l"/>
            <a:r>
              <a:rPr sz="1600" b="0">
                <a:solidFill>
                  <a:srgbClr val="060606"/>
                </a:solidFill>
                <a:latin typeface="Helvetica"/>
              </a:rPr>
              <a:t>Détailler le compte global de prestations par nature et par prestataire.</a:t>
            </a:r>
          </a:p>
        </p:txBody>
      </p:sp>
      <p:pic>
        <p:nvPicPr>
          <p:cNvPr id="41" name="Picture 40" descr="image.png"/>
          <p:cNvPicPr>
            <a:picLocks noChangeAspect="1"/>
          </p:cNvPicPr>
          <p:nvPr/>
        </p:nvPicPr>
        <p:blipFill>
          <a:blip r:embed="rId8"/>
          <a:stretch>
            <a:fillRect/>
          </a:stretch>
        </p:blipFill>
        <p:spPr>
          <a:xfrm>
            <a:off x="9647999" y="4896000"/>
            <a:ext cx="576000" cy="576000"/>
          </a:xfrm>
          <a:prstGeom prst="rect">
            <a:avLst/>
          </a:prstGeom>
        </p:spPr>
      </p:pic>
    </p:spTree>
    <p:extLst>
      <p:ext uri="{BB962C8B-B14F-4D97-AF65-F5344CB8AC3E}">
        <p14:creationId xmlns:p14="http://schemas.microsoft.com/office/powerpoint/2010/main" val="2200077522"/>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6</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Épargne des mutualistes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Dette d'épargne, actifs dédiés, sensibilité aux retraits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609995778"/>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adossement de l'épargne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couverture compare l'épargne due aux actifs qui lui sont réservés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 (banques, dépôts à terme et fonds dédiés) / (comptes PEP et EFC)</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31" name="Rounded Rectangle 30"/>
          <p:cNvSpPr/>
          <p:nvPr/>
        </p:nvSpPr>
        <p:spPr>
          <a:xfrm>
            <a:off x="503999" y="1512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Passif d'épargne</a:t>
            </a:r>
          </a:p>
        </p:txBody>
      </p:sp>
      <p:sp>
        <p:nvSpPr>
          <p:cNvPr id="32" name="Rectangle 31"/>
          <p:cNvSpPr/>
          <p:nvPr/>
        </p:nvSpPr>
        <p:spPr>
          <a:xfrm>
            <a:off x="2988000" y="1512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96000" y="1602000"/>
            <a:ext cx="5688000" cy="936000"/>
          </a:xfrm>
          <a:prstGeom prst="rect">
            <a:avLst/>
          </a:prstGeom>
          <a:noFill/>
        </p:spPr>
        <p:txBody>
          <a:bodyPr wrap="square" anchor="ctr" lIns="54000" rIns="54000"/>
          <a:lstStyle/>
          <a:p>
            <a:pPr algn="l"/>
            <a:r>
              <a:rPr sz="1400" b="0">
                <a:solidFill>
                  <a:srgbClr val="060606"/>
                </a:solidFill>
                <a:latin typeface="Helvetica"/>
              </a:rPr>
              <a:t>Comptes 41195100 (PEP) et 41195200 (EFC)</a:t>
            </a:r>
          </a:p>
        </p:txBody>
      </p:sp>
      <p:sp>
        <p:nvSpPr>
          <p:cNvPr id="34" name="Rounded Rectangle 33"/>
          <p:cNvSpPr/>
          <p:nvPr/>
        </p:nvSpPr>
        <p:spPr>
          <a:xfrm>
            <a:off x="9000000" y="1512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Soldes créditeurs</a:t>
            </a:r>
          </a:p>
        </p:txBody>
      </p:sp>
      <p:sp>
        <p:nvSpPr>
          <p:cNvPr id="35" name="Rounded Rectangle 34"/>
          <p:cNvSpPr/>
          <p:nvPr/>
        </p:nvSpPr>
        <p:spPr>
          <a:xfrm>
            <a:off x="503999" y="2844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Actifs dédiés</a:t>
            </a:r>
          </a:p>
        </p:txBody>
      </p:sp>
      <p:sp>
        <p:nvSpPr>
          <p:cNvPr id="36" name="Rectangle 35"/>
          <p:cNvSpPr/>
          <p:nvPr/>
        </p:nvSpPr>
        <p:spPr>
          <a:xfrm>
            <a:off x="2988000" y="2844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96000" y="2934000"/>
            <a:ext cx="5688000" cy="936000"/>
          </a:xfrm>
          <a:prstGeom prst="rect">
            <a:avLst/>
          </a:prstGeom>
          <a:noFill/>
        </p:spPr>
        <p:txBody>
          <a:bodyPr wrap="square" anchor="ctr" lIns="54000" rIns="54000"/>
          <a:lstStyle/>
          <a:p>
            <a:pPr algn="l"/>
            <a:r>
              <a:rPr sz="1400" b="0">
                <a:solidFill>
                  <a:srgbClr val="060606"/>
                </a:solidFill>
                <a:latin typeface="Helvetica"/>
              </a:rPr>
              <a:t>Comptes 5211020x, 5221020x (EFC), 5211030x, 5221030x, 526120 (PEP), 5330 (FCP)</a:t>
            </a:r>
          </a:p>
        </p:txBody>
      </p:sp>
      <p:sp>
        <p:nvSpPr>
          <p:cNvPr id="38" name="Rounded Rectangle 37"/>
          <p:cNvSpPr/>
          <p:nvPr/>
        </p:nvSpPr>
        <p:spPr>
          <a:xfrm>
            <a:off x="9000000" y="2844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Soldes débiteurs</a:t>
            </a:r>
          </a:p>
        </p:txBody>
      </p:sp>
      <p:sp>
        <p:nvSpPr>
          <p:cNvPr id="39" name="Rounded Rectangle 38"/>
          <p:cNvSpPr/>
          <p:nvPr/>
        </p:nvSpPr>
        <p:spPr>
          <a:xfrm>
            <a:off x="503999" y="4176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Couverture</a:t>
            </a:r>
          </a:p>
        </p:txBody>
      </p:sp>
      <p:sp>
        <p:nvSpPr>
          <p:cNvPr id="40" name="Rectangle 39"/>
          <p:cNvSpPr/>
          <p:nvPr/>
        </p:nvSpPr>
        <p:spPr>
          <a:xfrm>
            <a:off x="2988000" y="4176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096000" y="4266000"/>
            <a:ext cx="5688000" cy="936000"/>
          </a:xfrm>
          <a:prstGeom prst="rect">
            <a:avLst/>
          </a:prstGeom>
          <a:noFill/>
        </p:spPr>
        <p:txBody>
          <a:bodyPr wrap="square" anchor="ctr" lIns="54000" rIns="54000"/>
          <a:lstStyle/>
          <a:p>
            <a:pPr algn="l"/>
            <a:r>
              <a:rPr sz="1400" b="0">
                <a:solidFill>
                  <a:srgbClr val="060606"/>
                </a:solidFill>
                <a:latin typeface="Helvetica"/>
              </a:rPr>
              <a:t>Actifs dédiés / passif d'épargne</a:t>
            </a:r>
          </a:p>
        </p:txBody>
      </p:sp>
      <p:sp>
        <p:nvSpPr>
          <p:cNvPr id="42" name="Rounded Rectangle 41"/>
          <p:cNvSpPr/>
          <p:nvPr/>
        </p:nvSpPr>
        <p:spPr>
          <a:xfrm>
            <a:off x="9000000" y="4176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À chaque clôture</a:t>
            </a:r>
          </a:p>
        </p:txBody>
      </p:sp>
    </p:spTree>
    <p:extLst>
      <p:ext uri="{BB962C8B-B14F-4D97-AF65-F5344CB8AC3E}">
        <p14:creationId xmlns:p14="http://schemas.microsoft.com/office/powerpoint/2010/main" val="1311825840"/>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couverture de l'épargne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comptes de dette face à quatre comptes d'actifs dédiés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2 562 885 661 FCFA / 15 743 516 391 FCFA = 16,28 % au 31/08/2026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au 31/08/2026 (impression provisoire)</a:t>
            </a:r>
          </a:p>
        </p:txBody>
      </p:sp>
      <p:graphicFrame>
        <p:nvGraphicFramePr>
          <p:cNvPr id="31" name="Table 30"/>
          <p:cNvGraphicFramePr>
            <a:graphicFrameLocks noGrp="1"/>
          </p:cNvGraphicFramePr>
          <p:nvPr/>
        </p:nvGraphicFramePr>
        <p:xfrm>
          <a:off x="503999" y="1548000"/>
          <a:ext cx="7704000" cy="2008800"/>
        </p:xfrm>
        <a:graphic>
          <a:graphicData uri="http://schemas.openxmlformats.org/drawingml/2006/table">
            <a:tbl>
              <a:tblPr firstRow="0" bandRow="0">
                <a:tableStyleId>{5940675A-B579-460E-94D1-54222C63F5DA}</a:tableStyleId>
              </a:tblPr>
              <a:tblGrid>
                <a:gridCol w="1224000"/>
                <a:gridCol w="4104000"/>
                <a:gridCol w="2376000"/>
              </a:tblGrid>
              <a:tr h="223200">
                <a:tc>
                  <a:txBody>
                    <a:bodyPr/>
                    <a:lstStyle/>
                    <a:p>
                      <a:pPr marL="0" indent="0" lvl="0">
                        <a:buNone/>
                      </a:pPr>
                      <a:r>
                        <a:rPr sz="10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Intitulé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Solde au 31/08/2026</a:t>
                      </a:r>
                    </a:p>
                  </a:txBody>
                  <a:tcPr marL="43200" marR="43200" marT="14400" marB="14400" anchor="ctr">
                    <a:solidFill>
                      <a:srgbClr val="060606"/>
                    </a:solidFill>
                  </a:tcPr>
                </a:tc>
              </a:tr>
              <a:tr h="223200">
                <a:tc>
                  <a:txBody>
                    <a:bodyPr/>
                    <a:lstStyle/>
                    <a:p>
                      <a:pPr marL="0" indent="0" lvl="0">
                        <a:buNone/>
                      </a:pPr>
                      <a:r>
                        <a:rPr sz="1000" b="1">
                          <a:solidFill>
                            <a:srgbClr val="060606"/>
                          </a:solidFill>
                          <a:latin typeface="Helvetica"/>
                        </a:rPr>
                        <a:t>41195100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COTISATION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5 229 245 425 FCFA</a:t>
                      </a:r>
                    </a:p>
                  </a:txBody>
                  <a:tcPr marL="43200" marR="43200" marT="14400" marB="14400" anchor="ctr">
                    <a:solidFill>
                      <a:srgbClr val="FFFFFF"/>
                    </a:solidFill>
                  </a:tcPr>
                </a:tc>
              </a:tr>
              <a:tr h="223200">
                <a:tc>
                  <a:txBody>
                    <a:bodyPr/>
                    <a:lstStyle/>
                    <a:p>
                      <a:pPr marL="0" indent="0" lvl="0">
                        <a:buNone/>
                      </a:pPr>
                      <a:r>
                        <a:rPr sz="1000" b="1">
                          <a:solidFill>
                            <a:srgbClr val="060606"/>
                          </a:solidFill>
                          <a:latin typeface="Helvetica"/>
                        </a:rPr>
                        <a:t>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COTISATION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10 514 270 966 FCFA</a:t>
                      </a:r>
                    </a:p>
                  </a:txBody>
                  <a:tcPr marL="43200" marR="43200" marT="14400" marB="14400" anchor="ctr">
                    <a:solidFill>
                      <a:srgbClr val="F2F2F2"/>
                    </a:solidFill>
                  </a:tcPr>
                </a:tc>
              </a:tr>
              <a:tr h="223200">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Total épargne due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15 743 516 391 FCFA</a:t>
                      </a:r>
                    </a:p>
                  </a:txBody>
                  <a:tcPr marL="43200" marR="43200" marT="14400" marB="14400" anchor="ctr">
                    <a:solidFill>
                      <a:srgbClr val="FFFFFF"/>
                    </a:solidFill>
                  </a:tcPr>
                </a:tc>
              </a:tr>
              <a:tr h="223200">
                <a:tc>
                  <a:txBody>
                    <a:bodyPr/>
                    <a:lstStyle/>
                    <a:p>
                      <a:pPr marL="0" indent="0" lvl="0">
                        <a:buNone/>
                      </a:pPr>
                      <a:r>
                        <a:rPr sz="1000" b="1">
                          <a:solidFill>
                            <a:srgbClr val="060606"/>
                          </a:solidFill>
                          <a:latin typeface="Helvetica"/>
                        </a:rPr>
                        <a:t>52110200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Banque BOA-Entraide fin de carrière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1 540 006 941 FCFA</a:t>
                      </a:r>
                    </a:p>
                  </a:txBody>
                  <a:tcPr marL="43200" marR="43200" marT="14400" marB="14400" anchor="ctr">
                    <a:solidFill>
                      <a:srgbClr val="F2F2F2"/>
                    </a:solidFill>
                  </a:tcPr>
                </a:tc>
              </a:tr>
              <a:tr h="223200">
                <a:tc>
                  <a:txBody>
                    <a:bodyPr/>
                    <a:lstStyle/>
                    <a:p>
                      <a:pPr marL="0" indent="0" lvl="0">
                        <a:buNone/>
                      </a:pPr>
                      <a:r>
                        <a:rPr sz="1000" b="1">
                          <a:solidFill>
                            <a:srgbClr val="060606"/>
                          </a:solidFill>
                          <a:latin typeface="Helvetica"/>
                        </a:rPr>
                        <a:t>52110300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Banque BOA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37 336 916 FCFA</a:t>
                      </a:r>
                    </a:p>
                  </a:txBody>
                  <a:tcPr marL="43200" marR="43200" marT="14400" marB="14400" anchor="ctr">
                    <a:solidFill>
                      <a:srgbClr val="FFFFFF"/>
                    </a:solidFill>
                  </a:tcPr>
                </a:tc>
              </a:tr>
              <a:tr h="223200">
                <a:tc>
                  <a:txBody>
                    <a:bodyPr/>
                    <a:lstStyle/>
                    <a:p>
                      <a:pPr marL="0" indent="0" lvl="0">
                        <a:buNone/>
                      </a:pPr>
                      <a:r>
                        <a:rPr sz="1000" b="1">
                          <a:solidFill>
                            <a:srgbClr val="060606"/>
                          </a:solidFill>
                          <a:latin typeface="Helvetica"/>
                        </a:rPr>
                        <a:t>52210200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DAT BOA ENTRAIDE  FIN DE CARRIERE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485 541 804 FCFA</a:t>
                      </a:r>
                    </a:p>
                  </a:txBody>
                  <a:tcPr marL="43200" marR="43200" marT="14400" marB="14400" anchor="ctr">
                    <a:solidFill>
                      <a:srgbClr val="F2F2F2"/>
                    </a:solidFill>
                  </a:tcPr>
                </a:tc>
              </a:tr>
              <a:tr h="223200">
                <a:tc>
                  <a:txBody>
                    <a:bodyPr/>
                    <a:lstStyle/>
                    <a:p>
                      <a:pPr marL="0" indent="0" lvl="0">
                        <a:buNone/>
                      </a:pPr>
                      <a:r>
                        <a:rPr sz="1000" b="1">
                          <a:solidFill>
                            <a:srgbClr val="060606"/>
                          </a:solidFill>
                          <a:latin typeface="Helvetica"/>
                        </a:rPr>
                        <a:t>53300001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COMMUN DE PLACEMENT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500 000 000 FCFA</a:t>
                      </a:r>
                    </a:p>
                  </a:txBody>
                  <a:tcPr marL="43200" marR="43200" marT="14400" marB="14400" anchor="ctr">
                    <a:solidFill>
                      <a:srgbClr val="FFFFFF"/>
                    </a:solidFill>
                  </a:tcPr>
                </a:tc>
              </a:tr>
              <a:tr h="223200">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Total actifs dédiés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2 562 885 661 FCFA</a:t>
                      </a:r>
                    </a:p>
                  </a:txBody>
                  <a:tcPr marL="43200" marR="43200" marT="14400" marB="14400" anchor="ctr">
                    <a:solidFill>
                      <a:srgbClr val="F2F2F2"/>
                    </a:solidFill>
                  </a:tcPr>
                </a:tc>
              </a:tr>
            </a:tbl>
          </a:graphicData>
        </a:graphic>
      </p:graphicFrame>
      <p:sp>
        <p:nvSpPr>
          <p:cNvPr id="32" name="TextBox 31"/>
          <p:cNvSpPr txBox="1"/>
          <p:nvPr/>
        </p:nvSpPr>
        <p:spPr>
          <a:xfrm>
            <a:off x="503999" y="1350000"/>
            <a:ext cx="7703999" cy="180000"/>
          </a:xfrm>
          <a:prstGeom prst="rect">
            <a:avLst/>
          </a:prstGeom>
          <a:noFill/>
        </p:spPr>
        <p:txBody>
          <a:bodyPr wrap="square" anchor="t" lIns="54000" rIns="54000"/>
          <a:lstStyle/>
          <a:p>
            <a:pPr algn="l"/>
            <a:r>
              <a:rPr sz="900" b="0">
                <a:solidFill>
                  <a:srgbClr val="53565A"/>
                </a:solidFill>
                <a:latin typeface="Helvetica"/>
              </a:rPr>
              <a:t>Extrait : AUDIT ADENKA\DAFC\2026\BALANCE FPPN DU 01-01-2026 AU 31-08-2026.xlsx</a:t>
            </a:r>
          </a:p>
        </p:txBody>
      </p:sp>
      <p:sp>
        <p:nvSpPr>
          <p:cNvPr id="33" name="Rounded Rectangle 32"/>
          <p:cNvSpPr/>
          <p:nvPr/>
        </p:nvSpPr>
        <p:spPr>
          <a:xfrm>
            <a:off x="5813999" y="2206800"/>
            <a:ext cx="2411999" cy="24479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27999" y="20556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813999" y="3322800"/>
            <a:ext cx="2411999" cy="24479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27999" y="31716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424000" y="1584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784000" y="1548000"/>
            <a:ext cx="2952000" cy="1188000"/>
          </a:xfrm>
          <a:prstGeom prst="rect">
            <a:avLst/>
          </a:prstGeom>
          <a:noFill/>
        </p:spPr>
        <p:txBody>
          <a:bodyPr wrap="square" anchor="t" lIns="54000" rIns="54000"/>
          <a:lstStyle/>
          <a:p>
            <a:pPr algn="l"/>
            <a:r>
              <a:rPr sz="1300" b="0">
                <a:solidFill>
                  <a:srgbClr val="060606"/>
                </a:solidFill>
                <a:latin typeface="Helvetica"/>
              </a:rPr>
              <a:t>Dette envers les épargnants PEP et EFC.</a:t>
            </a:r>
          </a:p>
        </p:txBody>
      </p:sp>
      <p:sp>
        <p:nvSpPr>
          <p:cNvPr id="39" name="Oval 38"/>
          <p:cNvSpPr/>
          <p:nvPr/>
        </p:nvSpPr>
        <p:spPr>
          <a:xfrm>
            <a:off x="8424000" y="288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784000" y="2844000"/>
            <a:ext cx="2952000" cy="1188000"/>
          </a:xfrm>
          <a:prstGeom prst="rect">
            <a:avLst/>
          </a:prstGeom>
          <a:noFill/>
        </p:spPr>
        <p:txBody>
          <a:bodyPr wrap="square" anchor="t" lIns="54000" rIns="54000"/>
          <a:lstStyle/>
          <a:p>
            <a:pPr algn="l"/>
            <a:r>
              <a:rPr sz="1300" b="0">
                <a:solidFill>
                  <a:srgbClr val="060606"/>
                </a:solidFill>
                <a:latin typeface="Helvetica"/>
              </a:rPr>
              <a:t>Actifs réservés : banques, dépôt à terme, fonds commun de placement.</a:t>
            </a:r>
          </a:p>
        </p:txBody>
      </p:sp>
      <p:sp>
        <p:nvSpPr>
          <p:cNvPr id="41" name="Oval 40"/>
          <p:cNvSpPr/>
          <p:nvPr/>
        </p:nvSpPr>
        <p:spPr>
          <a:xfrm>
            <a:off x="8424000" y="4176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784000" y="4140000"/>
            <a:ext cx="2952000" cy="1188000"/>
          </a:xfrm>
          <a:prstGeom prst="rect">
            <a:avLst/>
          </a:prstGeom>
          <a:noFill/>
        </p:spPr>
        <p:txBody>
          <a:bodyPr wrap="square" anchor="t" lIns="54000" rIns="54000"/>
          <a:lstStyle/>
          <a:p>
            <a:pPr algn="l"/>
            <a:r>
              <a:rPr sz="1300" b="0">
                <a:solidFill>
                  <a:srgbClr val="060606"/>
                </a:solidFill>
                <a:latin typeface="Helvetica"/>
              </a:rPr>
              <a:t>Couverture = 16,28 %.</a:t>
            </a:r>
          </a:p>
        </p:txBody>
      </p:sp>
    </p:spTree>
    <p:extLst>
      <p:ext uri="{BB962C8B-B14F-4D97-AF65-F5344CB8AC3E}">
        <p14:creationId xmlns:p14="http://schemas.microsoft.com/office/powerpoint/2010/main" val="2936206680"/>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de l'épargne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des mutualistes n'est couverte qu'à 16,28 % par des actifs dédiés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 entre 6,49 % et 19,29 % selon les années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18 : Épargne au passif et actifs dédiés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La dette d'épargne augmente de 45,39 % depuis 2020.</a:t>
            </a:r>
          </a:p>
          <a:p>
            <a:pPr algn="just">
              <a:spcAft>
                <a:spcPts val="800"/>
              </a:spcAft>
            </a:pPr>
            <a:r>
              <a:rPr sz="1400" b="1">
                <a:solidFill>
                  <a:srgbClr val="060606"/>
                </a:solidFill>
                <a:latin typeface="Helvetica"/>
              </a:rPr>
              <a:t>L'EFC triple</a:t>
            </a:r>
            <a:r>
              <a:rPr sz="1400" b="0">
                <a:solidFill>
                  <a:srgbClr val="060606"/>
                </a:solidFill>
                <a:latin typeface="Helvetica"/>
              </a:rPr>
              <a:t> : 3 461 975 893 FCFA en 2020, 10 514 270 966 FCFA au 31/08/2026.</a:t>
            </a:r>
          </a:p>
          <a:p>
            <a:pPr algn="just">
              <a:spcAft>
                <a:spcPts val="800"/>
              </a:spcAft>
            </a:pPr>
            <a:r>
              <a:rPr sz="1400" b="1">
                <a:solidFill>
                  <a:srgbClr val="060606"/>
                </a:solidFill>
                <a:latin typeface="Helvetica"/>
              </a:rPr>
              <a:t>Les actifs dédiés restent faibles</a:t>
            </a:r>
            <a:r>
              <a:rPr sz="1400" b="0">
                <a:solidFill>
                  <a:srgbClr val="060606"/>
                </a:solidFill>
                <a:latin typeface="Helvetica"/>
              </a:rPr>
              <a:t>, et l'écart finance des emplois peu liquides.</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Tree>
    <p:extLst>
      <p:ext uri="{BB962C8B-B14F-4D97-AF65-F5344CB8AC3E}">
        <p14:creationId xmlns:p14="http://schemas.microsoft.com/office/powerpoint/2010/main" val="2972495434"/>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Versements d'épargne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versements au PEP ont été multipliés par quatre depuis 2022</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PEP 2025 : 2 029 929 725 FCFA versés par 16 932 épargnants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19 : Versements précomptés par produit d'épargne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 (EFC à partir de 2023)</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Épargnants PEP : 1 327 en 2020, 17 199 en 2026.</a:t>
            </a:r>
          </a:p>
          <a:p>
            <a:pPr algn="just">
              <a:spcAft>
                <a:spcPts val="800"/>
              </a:spcAft>
            </a:pPr>
            <a:r>
              <a:rPr sz="1400" b="1">
                <a:solidFill>
                  <a:srgbClr val="060606"/>
                </a:solidFill>
                <a:latin typeface="Helvetica"/>
              </a:rPr>
              <a:t>En 2025, le PEP reçoit 2 029 929 725 FCFA mais le compte n'augmente que de 1 134 898 141 FCFA</a:t>
            </a:r>
            <a:r>
              <a:rPr sz="1400" b="0">
                <a:solidFill>
                  <a:srgbClr val="060606"/>
                </a:solidFill>
                <a:latin typeface="Helvetica"/>
              </a:rPr>
              <a:t> : la différence correspond à des sorties.</a:t>
            </a:r>
          </a:p>
          <a:p>
            <a:pPr algn="just">
              <a:spcAft>
                <a:spcPts val="800"/>
              </a:spcAft>
            </a:pPr>
            <a:r>
              <a:rPr sz="1400" b="1">
                <a:solidFill>
                  <a:srgbClr val="060606"/>
                </a:solidFill>
                <a:latin typeface="Helvetica"/>
              </a:rPr>
              <a:t>Sans comptes individuels, la dette réelle envers chaque épargnant n'est pas vérifiable.</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Tree>
    <p:extLst>
      <p:ext uri="{BB962C8B-B14F-4D97-AF65-F5344CB8AC3E}">
        <p14:creationId xmlns:p14="http://schemas.microsoft.com/office/powerpoint/2010/main" val="2697749324"/>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retraits d'épargne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retrait de 20 % de l'épargne dépasserait la trésorerie totale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actifs dédiés couvrent un retrait de 16,28 % de l'épargne. La trésorerie totale, 21,34 %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20 : Besoin de liquidités selon le taux de retrait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 au 31/08/2026</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Un retrait de 10 % (1 574 351 639 FCFA) est couvert par les actifs dédiés.</a:t>
            </a:r>
          </a:p>
          <a:p>
            <a:pPr algn="just">
              <a:spcAft>
                <a:spcPts val="800"/>
              </a:spcAft>
            </a:pPr>
            <a:r>
              <a:rPr sz="1400" b="1">
                <a:solidFill>
                  <a:srgbClr val="060606"/>
                </a:solidFill>
                <a:latin typeface="Helvetica"/>
              </a:rPr>
              <a:t>Au-delà de 21,34 %, toute la trésorerie ne suffit plus.</a:t>
            </a:r>
          </a:p>
          <a:p>
            <a:pPr algn="just">
              <a:spcAft>
                <a:spcPts val="800"/>
              </a:spcAft>
            </a:pPr>
            <a:r>
              <a:rPr sz="1400" b="1">
                <a:solidFill>
                  <a:srgbClr val="060606"/>
                </a:solidFill>
                <a:latin typeface="Helvetica"/>
              </a:rPr>
              <a:t>Le FPPN devrait alors vendre ou mobiliser des actifs peu liquides.</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Tree>
    <p:extLst>
      <p:ext uri="{BB962C8B-B14F-4D97-AF65-F5344CB8AC3E}">
        <p14:creationId xmlns:p14="http://schemas.microsoft.com/office/powerpoint/2010/main" val="3729910838"/>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Poste 998 : autres références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poste de l'épargne PEP porte aussi d'autres références à expliquer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PTI, RPEP, EP et TI apparaissent à côté des références PEP sur la période 2020 à 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86000"/>
            <a:ext cx="10080000" cy="216000"/>
          </a:xfrm>
          <a:prstGeom prst="rect">
            <a:avLst/>
          </a:prstGeom>
          <a:noFill/>
        </p:spPr>
        <p:txBody>
          <a:bodyPr wrap="square" anchor="t" lIns="54000" rIns="54000"/>
          <a:lstStyle/>
          <a:p>
            <a:pPr algn="ctr"/>
            <a:r>
              <a:rPr sz="1200" b="0">
                <a:solidFill>
                  <a:srgbClr val="EFAC62"/>
                </a:solidFill>
                <a:latin typeface="Helvetica"/>
              </a:rPr>
              <a:t>Tableau 9 : Références du poste 998, 2020 à août 2026</a:t>
            </a:r>
          </a:p>
        </p:txBody>
      </p:sp>
      <p:graphicFrame>
        <p:nvGraphicFramePr>
          <p:cNvPr id="32" name="Table 31"/>
          <p:cNvGraphicFramePr>
            <a:graphicFrameLocks noGrp="1"/>
          </p:cNvGraphicFramePr>
          <p:nvPr/>
        </p:nvGraphicFramePr>
        <p:xfrm>
          <a:off x="503999" y="1655999"/>
          <a:ext cx="10080000" cy="2916000"/>
        </p:xfrm>
        <a:graphic>
          <a:graphicData uri="http://schemas.openxmlformats.org/drawingml/2006/table">
            <a:tbl>
              <a:tblPr firstRow="0" bandRow="0">
                <a:tableStyleId>{5940675A-B579-460E-94D1-54222C63F5DA}</a:tableStyleId>
              </a:tblPr>
              <a:tblGrid>
                <a:gridCol w="2160000"/>
                <a:gridCol w="2160000"/>
                <a:gridCol w="3600000"/>
                <a:gridCol w="2160000"/>
              </a:tblGrid>
              <a:tr h="324000">
                <a:tc>
                  <a:txBody>
                    <a:bodyPr/>
                    <a:lstStyle/>
                    <a:p>
                      <a:pPr marL="0" indent="0" lvl="0">
                        <a:buNone/>
                      </a:pPr>
                      <a:r>
                        <a:rPr sz="12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Lignes</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Montant total</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Mutualistes</a:t>
                      </a:r>
                    </a:p>
                  </a:txBody>
                  <a:tcPr marL="43200" marR="43200" marT="14400" marB="14400" anchor="ctr">
                    <a:solidFill>
                      <a:srgbClr val="060606"/>
                    </a:solidFill>
                  </a:tcPr>
                </a:tc>
              </a:tr>
              <a:tr h="324000">
                <a:tc>
                  <a:txBody>
                    <a:bodyPr/>
                    <a:lstStyle/>
                    <a:p>
                      <a:pPr marL="0" indent="0" lvl="0">
                        <a:buNone/>
                      </a:pPr>
                      <a:r>
                        <a:rPr sz="1200" b="1">
                          <a:solidFill>
                            <a:srgbClr val="060606"/>
                          </a:solidFill>
                          <a:latin typeface="Helvetica"/>
                        </a:rPr>
                        <a:t>PEP</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460 252</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6 270 087 894 FCFA</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18 495</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sans référence</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55 703</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702 069 750 FCFA</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16 603</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PTI</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1 206</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108 489 526 FCFA</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51</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RPEP</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2 368</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30 896 500 FCFA</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2 367</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EP</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1 722</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30 284 000 FCFA</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1 715</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TI</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2 246 770 FCFA</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24</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R-PEP</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90</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1 290 000 FCFA</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88</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PTQ</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1 255 064 FCFA</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3</a:t>
                      </a:r>
                    </a:p>
                  </a:txBody>
                  <a:tcPr marL="43200" marR="43200" marT="14400" marB="14400" anchor="ctr">
                    <a:solidFill>
                      <a:srgbClr val="F2F2F2"/>
                    </a:solidFill>
                  </a:tcPr>
                </a:tc>
              </a:tr>
            </a:tbl>
          </a:graphicData>
        </a:graphic>
      </p:graphicFrame>
    </p:spTree>
    <p:extLst>
      <p:ext uri="{BB962C8B-B14F-4D97-AF65-F5344CB8AC3E}">
        <p14:creationId xmlns:p14="http://schemas.microsoft.com/office/powerpoint/2010/main" val="2335940023"/>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due aux mutualistes est très peu couverte par des actifs disponibles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de 16,28 % au 31/08/2026. Un retrait de 21,34 % épuiserait toute la trésorerie</a:t>
            </a:r>
          </a:p>
        </p:txBody>
      </p:sp>
      <p:sp>
        <p:nvSpPr>
          <p:cNvPr id="30" name="Rounded Rectangle 29"/>
          <p:cNvSpPr/>
          <p:nvPr/>
        </p:nvSpPr>
        <p:spPr>
          <a:xfrm>
            <a:off x="503999" y="1548000"/>
            <a:ext cx="3600000" cy="57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Dette</a:t>
            </a:r>
          </a:p>
        </p:txBody>
      </p:sp>
      <p:sp>
        <p:nvSpPr>
          <p:cNvPr id="31" name="Rounded Rectangle 30"/>
          <p:cNvSpPr/>
          <p:nvPr/>
        </p:nvSpPr>
        <p:spPr>
          <a:xfrm>
            <a:off x="503999" y="2232000"/>
            <a:ext cx="3600000" cy="3528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7999" y="2376000"/>
            <a:ext cx="3311999" cy="3240000"/>
          </a:xfrm>
          <a:prstGeom prst="rect">
            <a:avLst/>
          </a:prstGeom>
          <a:noFill/>
        </p:spPr>
        <p:txBody>
          <a:bodyPr wrap="square" anchor="t" lIns="54000" rIns="54000"/>
          <a:lstStyle/>
          <a:p>
            <a:pPr algn="l"/>
            <a:r>
              <a:rPr sz="1600" b="0">
                <a:solidFill>
                  <a:srgbClr val="060606"/>
                </a:solidFill>
                <a:latin typeface="Helvetica"/>
              </a:rPr>
              <a:t>15 743 516 391 FCFA au 31/08/2026.</a:t>
            </a:r>
          </a:p>
        </p:txBody>
      </p:sp>
      <p:pic>
        <p:nvPicPr>
          <p:cNvPr id="33" name="Picture 32" descr="image.png"/>
          <p:cNvPicPr>
            <a:picLocks noChangeAspect="1"/>
          </p:cNvPicPr>
          <p:nvPr/>
        </p:nvPicPr>
        <p:blipFill>
          <a:blip r:embed="rId6"/>
          <a:stretch>
            <a:fillRect/>
          </a:stretch>
        </p:blipFill>
        <p:spPr>
          <a:xfrm>
            <a:off x="2016000" y="4896000"/>
            <a:ext cx="576000" cy="576000"/>
          </a:xfrm>
          <a:prstGeom prst="rect">
            <a:avLst/>
          </a:prstGeom>
        </p:spPr>
      </p:pic>
      <p:sp>
        <p:nvSpPr>
          <p:cNvPr id="34" name="Rounded Rectangle 33"/>
          <p:cNvSpPr/>
          <p:nvPr/>
        </p:nvSpPr>
        <p:spPr>
          <a:xfrm>
            <a:off x="4320000" y="1548000"/>
            <a:ext cx="3600000" cy="57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Risque</a:t>
            </a:r>
          </a:p>
        </p:txBody>
      </p:sp>
      <p:sp>
        <p:nvSpPr>
          <p:cNvPr id="35" name="Rounded Rectangle 34"/>
          <p:cNvSpPr/>
          <p:nvPr/>
        </p:nvSpPr>
        <p:spPr>
          <a:xfrm>
            <a:off x="4320000" y="2232000"/>
            <a:ext cx="3600000" cy="3528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64000" y="2376000"/>
            <a:ext cx="3311999" cy="3240000"/>
          </a:xfrm>
          <a:prstGeom prst="rect">
            <a:avLst/>
          </a:prstGeom>
          <a:noFill/>
        </p:spPr>
        <p:txBody>
          <a:bodyPr wrap="square" anchor="t" lIns="54000" rIns="54000"/>
          <a:lstStyle/>
          <a:p>
            <a:pPr algn="l"/>
            <a:r>
              <a:rPr sz="1600" b="0">
                <a:solidFill>
                  <a:srgbClr val="060606"/>
                </a:solidFill>
                <a:latin typeface="Helvetica"/>
              </a:rPr>
              <a:t>Liquidité : impossibilité de rembourser rapidement en cas de retraits importants.</a:t>
            </a:r>
          </a:p>
        </p:txBody>
      </p:sp>
      <p:pic>
        <p:nvPicPr>
          <p:cNvPr id="37" name="Picture 36" descr="image.png"/>
          <p:cNvPicPr>
            <a:picLocks noChangeAspect="1"/>
          </p:cNvPicPr>
          <p:nvPr/>
        </p:nvPicPr>
        <p:blipFill>
          <a:blip r:embed="rId7"/>
          <a:stretch>
            <a:fillRect/>
          </a:stretch>
        </p:blipFill>
        <p:spPr>
          <a:xfrm>
            <a:off x="5832000" y="4896000"/>
            <a:ext cx="576000" cy="576000"/>
          </a:xfrm>
          <a:prstGeom prst="rect">
            <a:avLst/>
          </a:prstGeom>
        </p:spPr>
      </p:pic>
      <p:sp>
        <p:nvSpPr>
          <p:cNvPr id="38" name="Rounded Rectangle 37"/>
          <p:cNvSpPr/>
          <p:nvPr/>
        </p:nvSpPr>
        <p:spPr>
          <a:xfrm>
            <a:off x="8135999" y="1548000"/>
            <a:ext cx="3600000" cy="57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Données à obtenir</a:t>
            </a:r>
          </a:p>
        </p:txBody>
      </p:sp>
      <p:sp>
        <p:nvSpPr>
          <p:cNvPr id="39" name="Rounded Rectangle 38"/>
          <p:cNvSpPr/>
          <p:nvPr/>
        </p:nvSpPr>
        <p:spPr>
          <a:xfrm>
            <a:off x="8135999" y="2232000"/>
            <a:ext cx="3600000" cy="3528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79999" y="2376000"/>
            <a:ext cx="3311999" cy="3240000"/>
          </a:xfrm>
          <a:prstGeom prst="rect">
            <a:avLst/>
          </a:prstGeom>
          <a:noFill/>
        </p:spPr>
        <p:txBody>
          <a:bodyPr wrap="square" anchor="t" lIns="54000" rIns="54000"/>
          <a:lstStyle/>
          <a:p>
            <a:pPr algn="l"/>
            <a:r>
              <a:rPr sz="1600" b="0">
                <a:solidFill>
                  <a:srgbClr val="060606"/>
                </a:solidFill>
                <a:latin typeface="Helvetica"/>
              </a:rPr>
              <a:t>Règlement des produits, comptes individuels, conditions de retrait.</a:t>
            </a:r>
          </a:p>
        </p:txBody>
      </p:sp>
      <p:pic>
        <p:nvPicPr>
          <p:cNvPr id="41" name="Picture 40" descr="image.png"/>
          <p:cNvPicPr>
            <a:picLocks noChangeAspect="1"/>
          </p:cNvPicPr>
          <p:nvPr/>
        </p:nvPicPr>
        <p:blipFill>
          <a:blip r:embed="rId8"/>
          <a:stretch>
            <a:fillRect/>
          </a:stretch>
        </p:blipFill>
        <p:spPr>
          <a:xfrm>
            <a:off x="9647999" y="4896000"/>
            <a:ext cx="576000" cy="576000"/>
          </a:xfrm>
          <a:prstGeom prst="rect">
            <a:avLst/>
          </a:prstGeom>
        </p:spPr>
      </p:pic>
    </p:spTree>
    <p:extLst>
      <p:ext uri="{BB962C8B-B14F-4D97-AF65-F5344CB8AC3E}">
        <p14:creationId xmlns:p14="http://schemas.microsoft.com/office/powerpoint/2010/main" val="1145820251"/>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7</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Prêts du Grenier</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Encours, production, retards, précomptes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736104906"/>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risque de crédit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risque des prêts se mesure par la part de l'encours en retard</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30 jours / encours total, à chaque date de balance âgée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31" name="Rounded Rectangle 30"/>
          <p:cNvSpPr/>
          <p:nvPr/>
        </p:nvSpPr>
        <p:spPr>
          <a:xfrm>
            <a:off x="503999" y="1512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Part en retard (montant)</a:t>
            </a:r>
          </a:p>
        </p:txBody>
      </p:sp>
      <p:sp>
        <p:nvSpPr>
          <p:cNvPr id="32" name="Rectangle 31"/>
          <p:cNvSpPr/>
          <p:nvPr/>
        </p:nvSpPr>
        <p:spPr>
          <a:xfrm>
            <a:off x="2988000" y="1512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96000" y="1602000"/>
            <a:ext cx="5688000" cy="936000"/>
          </a:xfrm>
          <a:prstGeom prst="rect">
            <a:avLst/>
          </a:prstGeom>
          <a:noFill/>
        </p:spPr>
        <p:txBody>
          <a:bodyPr wrap="square" anchor="ctr" lIns="54000" rIns="54000"/>
          <a:lstStyle/>
          <a:p>
            <a:pPr algn="l"/>
            <a:r>
              <a:rPr sz="1400" b="0">
                <a:solidFill>
                  <a:srgbClr val="060606"/>
                </a:solidFill>
                <a:latin typeface="Helvetica"/>
              </a:rPr>
              <a:t>Σ encours des prêts en retard &gt; 30 j / Σ encours</a:t>
            </a:r>
          </a:p>
        </p:txBody>
      </p:sp>
      <p:sp>
        <p:nvSpPr>
          <p:cNvPr id="34" name="Rounded Rectangle 33"/>
          <p:cNvSpPr/>
          <p:nvPr/>
        </p:nvSpPr>
        <p:spPr>
          <a:xfrm>
            <a:off x="9000000" y="1512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37 balances âgées</a:t>
            </a:r>
          </a:p>
        </p:txBody>
      </p:sp>
      <p:sp>
        <p:nvSpPr>
          <p:cNvPr id="35" name="Rounded Rectangle 34"/>
          <p:cNvSpPr/>
          <p:nvPr/>
        </p:nvSpPr>
        <p:spPr>
          <a:xfrm>
            <a:off x="503999" y="2844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Part en retard (nombre)</a:t>
            </a:r>
          </a:p>
        </p:txBody>
      </p:sp>
      <p:sp>
        <p:nvSpPr>
          <p:cNvPr id="36" name="Rectangle 35"/>
          <p:cNvSpPr/>
          <p:nvPr/>
        </p:nvSpPr>
        <p:spPr>
          <a:xfrm>
            <a:off x="2988000" y="2844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96000" y="2934000"/>
            <a:ext cx="5688000" cy="936000"/>
          </a:xfrm>
          <a:prstGeom prst="rect">
            <a:avLst/>
          </a:prstGeom>
          <a:noFill/>
        </p:spPr>
        <p:txBody>
          <a:bodyPr wrap="square" anchor="ctr" lIns="54000" rIns="54000"/>
          <a:lstStyle/>
          <a:p>
            <a:pPr algn="l"/>
            <a:r>
              <a:rPr sz="1400" b="0">
                <a:solidFill>
                  <a:srgbClr val="060606"/>
                </a:solidFill>
                <a:latin typeface="Helvetica"/>
              </a:rPr>
              <a:t>nombre de prêts en retard &gt; 30 j / nombre de prêts, IC de Wilson à 95 %</a:t>
            </a:r>
          </a:p>
        </p:txBody>
      </p:sp>
      <p:sp>
        <p:nvSpPr>
          <p:cNvPr id="38" name="Rounded Rectangle 37"/>
          <p:cNvSpPr/>
          <p:nvPr/>
        </p:nvSpPr>
        <p:spPr>
          <a:xfrm>
            <a:off x="9000000" y="2844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31/08/2026</a:t>
            </a:r>
          </a:p>
        </p:txBody>
      </p:sp>
      <p:sp>
        <p:nvSpPr>
          <p:cNvPr id="39" name="Rounded Rectangle 38"/>
          <p:cNvSpPr/>
          <p:nvPr/>
        </p:nvSpPr>
        <p:spPr>
          <a:xfrm>
            <a:off x="503999" y="4176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Précompte des échéances</a:t>
            </a:r>
          </a:p>
        </p:txBody>
      </p:sp>
      <p:sp>
        <p:nvSpPr>
          <p:cNvPr id="40" name="Rectangle 39"/>
          <p:cNvSpPr/>
          <p:nvPr/>
        </p:nvSpPr>
        <p:spPr>
          <a:xfrm>
            <a:off x="2988000" y="4176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096000" y="4266000"/>
            <a:ext cx="5688000" cy="936000"/>
          </a:xfrm>
          <a:prstGeom prst="rect">
            <a:avLst/>
          </a:prstGeom>
          <a:noFill/>
        </p:spPr>
        <p:txBody>
          <a:bodyPr wrap="square" anchor="ctr" lIns="54000" rIns="54000"/>
          <a:lstStyle/>
          <a:p>
            <a:pPr algn="l"/>
            <a:r>
              <a:rPr sz="1400" b="0">
                <a:solidFill>
                  <a:srgbClr val="060606"/>
                </a:solidFill>
                <a:latin typeface="Helvetica"/>
              </a:rPr>
              <a:t>précomptes 9X4 du mois / échéances des prêts en cours</a:t>
            </a:r>
          </a:p>
        </p:txBody>
      </p:sp>
      <p:sp>
        <p:nvSpPr>
          <p:cNvPr id="42" name="Rounded Rectangle 41"/>
          <p:cNvSpPr/>
          <p:nvPr/>
        </p:nvSpPr>
        <p:spPr>
          <a:xfrm>
            <a:off x="9000000" y="4176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Mois de 2026</a:t>
            </a:r>
          </a:p>
        </p:txBody>
      </p:sp>
    </p:spTree>
    <p:extLst>
      <p:ext uri="{BB962C8B-B14F-4D97-AF65-F5344CB8AC3E}">
        <p14:creationId xmlns:p14="http://schemas.microsoft.com/office/powerpoint/2010/main" val="3122052741"/>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Encours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L'encours de prêts a été multiplié par 132 depuis fin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2 959 prêts, 1 044 302 107 FCFA, dont 915 477 260 FCFA financés par le FPPN</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21 : Encours des prêts et financement du FPPN</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Encours : 7 900 000 FCFA fin 2021, 1 044 302 107 FCFA au 31/08/2026</a:t>
            </a:r>
            <a:r>
              <a:rPr sz="1400" b="0">
                <a:solidFill>
                  <a:srgbClr val="060606"/>
                </a:solidFill>
                <a:latin typeface="Helvetica"/>
              </a:rPr>
              <a:t>, soit 132,19 fois plus.</a:t>
            </a:r>
          </a:p>
          <a:p>
            <a:pPr algn="just">
              <a:spcAft>
                <a:spcPts val="800"/>
              </a:spcAft>
            </a:pPr>
            <a:r>
              <a:rPr sz="1400" b="1">
                <a:solidFill>
                  <a:srgbClr val="060606"/>
                </a:solidFill>
                <a:latin typeface="Helvetica"/>
              </a:rPr>
              <a:t>Le FPPN finance 87,66 % de l'encours.</a:t>
            </a:r>
          </a:p>
          <a:p>
            <a:pPr algn="just">
              <a:spcAft>
                <a:spcPts val="800"/>
              </a:spcAft>
            </a:pPr>
            <a:r>
              <a:rPr sz="1400" b="1">
                <a:solidFill>
                  <a:srgbClr val="060606"/>
                </a:solidFill>
                <a:latin typeface="Helvetica"/>
              </a:rPr>
              <a:t>Prêts courts et chers</a:t>
            </a:r>
            <a:r>
              <a:rPr sz="1400" b="0">
                <a:solidFill>
                  <a:srgbClr val="060606"/>
                </a:solidFill>
                <a:latin typeface="Helvetica"/>
              </a:rPr>
              <a:t> : durée médiane 10 mois, taux médian 18,00 %.</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Balances des comptes du FPPN (Sage 100), exercices 2020 à 2025 et du 01/01 au 31/08/2026 (provisoire). Traitements Adenka</a:t>
            </a:r>
          </a:p>
        </p:txBody>
      </p:sp>
    </p:spTree>
    <p:extLst>
      <p:ext uri="{BB962C8B-B14F-4D97-AF65-F5344CB8AC3E}">
        <p14:creationId xmlns:p14="http://schemas.microsoft.com/office/powerpoint/2010/main" val="2957721823"/>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Production de prêts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crédits scolaires et habitat portent la croissance de la production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Montants débloqués : 269 775 100 FCFA en 2022, 1 609 400 144 FCFA en 2025 (4 774 prêts)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22 : Montants débloqués par type de crédit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La production a été multipliée par 5,97 entre 2022 et 2025.</a:t>
            </a:r>
          </a:p>
          <a:p>
            <a:pPr algn="just">
              <a:spcAft>
                <a:spcPts val="800"/>
              </a:spcAft>
            </a:pPr>
            <a:r>
              <a:rPr sz="1400" b="1">
                <a:solidFill>
                  <a:srgbClr val="060606"/>
                </a:solidFill>
                <a:latin typeface="Helvetica"/>
              </a:rPr>
              <a:t>Scolaire et habitat font 66,12 % des montants de 2025.</a:t>
            </a:r>
          </a:p>
          <a:p>
            <a:pPr algn="just">
              <a:spcAft>
                <a:spcPts val="800"/>
              </a:spcAft>
            </a:pPr>
            <a:r>
              <a:rPr sz="1400" b="1">
                <a:solidFill>
                  <a:srgbClr val="060606"/>
                </a:solidFill>
                <a:latin typeface="Helvetica"/>
              </a:rPr>
              <a:t>Le crédit habitat, aux montants unitaires plus importants, allonge le risque.</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Tree>
    <p:extLst>
      <p:ext uri="{BB962C8B-B14F-4D97-AF65-F5344CB8AC3E}">
        <p14:creationId xmlns:p14="http://schemas.microsoft.com/office/powerpoint/2010/main" val="630204177"/>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Retards de remboursement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retards ont culminé début 2026 avant de revenir à un niveau faible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30 jours : 61,96 % fin janvier 2026, 1,83 % au 31/08/2026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23 : Part de l'encours en retard de plus de 30 et 90 jours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 l'encours</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Fin janvier 2026, la plupart de l'encours avait entre 31 et 90 jours de retard.</a:t>
            </a:r>
          </a:p>
          <a:p>
            <a:pPr algn="just">
              <a:spcAft>
                <a:spcPts val="800"/>
              </a:spcAft>
            </a:pPr>
            <a:r>
              <a:rPr sz="1400" b="1">
                <a:solidFill>
                  <a:srgbClr val="060606"/>
                </a:solidFill>
                <a:latin typeface="Helvetica"/>
              </a:rPr>
              <a:t>Ces retards se sont résorbés en quelques mois</a:t>
            </a:r>
            <a:r>
              <a:rPr sz="1400" b="0">
                <a:solidFill>
                  <a:srgbClr val="060606"/>
                </a:solidFill>
                <a:latin typeface="Helvetica"/>
              </a:rPr>
              <a:t>, ce qui fait penser à des échéances non précomptées en fin d'année 2025.</a:t>
            </a:r>
          </a:p>
          <a:p>
            <a:pPr algn="just">
              <a:spcAft>
                <a:spcPts val="800"/>
              </a:spcAft>
            </a:pPr>
            <a:r>
              <a:rPr sz="1400" b="1">
                <a:solidFill>
                  <a:srgbClr val="060606"/>
                </a:solidFill>
                <a:latin typeface="Helvetica"/>
              </a:rPr>
              <a:t>126 prêts ont plus de 180 jours de retard</a:t>
            </a:r>
            <a:r>
              <a:rPr sz="1400" b="0">
                <a:solidFill>
                  <a:srgbClr val="060606"/>
                </a:solidFill>
                <a:latin typeface="Helvetica"/>
              </a:rPr>
              <a:t> et doivent être provisionnés.</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Tree>
    <p:extLst>
      <p:ext uri="{BB962C8B-B14F-4D97-AF65-F5344CB8AC3E}">
        <p14:creationId xmlns:p14="http://schemas.microsoft.com/office/powerpoint/2010/main" val="3196680416"/>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prêts en retard</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retards les plus anciens dépassent trois ans et révèlent des mécanos anormaux</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quatre prêts les plus en retard au 31/08/2026 ont entre 1 105 et 1 308 jours de retard</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Noms masqués</a:t>
            </a:r>
          </a:p>
        </p:txBody>
      </p:sp>
      <p:graphicFrame>
        <p:nvGraphicFramePr>
          <p:cNvPr id="31" name="Table 30"/>
          <p:cNvGraphicFramePr>
            <a:graphicFrameLocks noGrp="1"/>
          </p:cNvGraphicFramePr>
          <p:nvPr/>
        </p:nvGraphicFramePr>
        <p:xfrm>
          <a:off x="503999" y="1548000"/>
          <a:ext cx="8495998" cy="1116000"/>
        </p:xfrm>
        <a:graphic>
          <a:graphicData uri="http://schemas.openxmlformats.org/drawingml/2006/table">
            <a:tbl>
              <a:tblPr firstRow="0" bandRow="0">
                <a:tableStyleId>{5940675A-B579-460E-94D1-54222C63F5DA}</a:tableStyleId>
              </a:tblPr>
              <a:tblGrid>
                <a:gridCol w="1224000"/>
                <a:gridCol w="1440000"/>
                <a:gridCol w="2160000"/>
                <a:gridCol w="2015999"/>
                <a:gridCol w="1655999"/>
              </a:tblGrid>
              <a:tr h="223200">
                <a:tc>
                  <a:txBody>
                    <a:bodyPr/>
                    <a:lstStyle/>
                    <a:p>
                      <a:pPr marL="0" indent="0" lvl="0">
                        <a:buNone/>
                      </a:pPr>
                      <a:r>
                        <a:rPr sz="1000" b="1">
                          <a:solidFill>
                            <a:srgbClr val="FFFFFF"/>
                          </a:solidFill>
                          <a:latin typeface="Helvetica"/>
                        </a:rPr>
                        <a:t>Mécano</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débloqué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Encours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Retard (jours)</a:t>
                      </a:r>
                    </a:p>
                  </a:txBody>
                  <a:tcPr marL="43200" marR="43200" marT="14400" marB="14400" anchor="ctr">
                    <a:solidFill>
                      <a:srgbClr val="060606"/>
                    </a:solidFill>
                  </a:tcPr>
                </a:tc>
              </a:tr>
              <a:tr h="223200">
                <a:tc>
                  <a:txBody>
                    <a:bodyPr/>
                    <a:lstStyle/>
                    <a:p>
                      <a:pPr marL="0" indent="0" lvl="0">
                        <a:buNone/>
                      </a:pPr>
                      <a:r>
                        <a:rPr sz="1000" b="1">
                          <a:solidFill>
                            <a:srgbClr val="060606"/>
                          </a:solidFill>
                          <a:latin typeface="Helvetica"/>
                        </a:rPr>
                        <a:t>142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 M.</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500 000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90 536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1308</a:t>
                      </a:r>
                    </a:p>
                  </a:txBody>
                  <a:tcPr marL="43200" marR="43200" marT="14400" marB="14400" anchor="ctr">
                    <a:solidFill>
                      <a:srgbClr val="FFFFFF"/>
                    </a:solidFill>
                  </a:tcPr>
                </a:tc>
              </a:tr>
              <a:tr h="223200">
                <a:tc>
                  <a:txBody>
                    <a:bodyPr/>
                    <a:lstStyle/>
                    <a:p>
                      <a:pPr marL="0" indent="0" lvl="0">
                        <a:buNone/>
                      </a:pPr>
                      <a:r>
                        <a:rPr sz="1000" b="1">
                          <a:solidFill>
                            <a:srgbClr val="060606"/>
                          </a:solidFill>
                          <a:latin typeface="Helvetica"/>
                        </a:rPr>
                        <a:t>87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 K. M.</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83 743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1279</a:t>
                      </a:r>
                    </a:p>
                  </a:txBody>
                  <a:tcPr marL="43200" marR="43200" marT="14400" marB="14400" anchor="ctr">
                    <a:solidFill>
                      <a:srgbClr val="F2F2F2"/>
                    </a:solidFill>
                  </a:tcPr>
                </a:tc>
              </a:tr>
              <a:tr h="223200">
                <a:tc>
                  <a:txBody>
                    <a:bodyPr/>
                    <a:lstStyle/>
                    <a:p>
                      <a:pPr marL="0" indent="0" lvl="0">
                        <a:buNone/>
                      </a:pPr>
                      <a:r>
                        <a:rPr sz="1000" b="1">
                          <a:solidFill>
                            <a:srgbClr val="060606"/>
                          </a:solidFill>
                          <a:latin typeface="Helvetica"/>
                        </a:rPr>
                        <a:t>166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 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800 000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60 468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1189</a:t>
                      </a:r>
                    </a:p>
                  </a:txBody>
                  <a:tcPr marL="43200" marR="43200" marT="14400" marB="14400" anchor="ctr">
                    <a:solidFill>
                      <a:srgbClr val="FFFFFF"/>
                    </a:solidFill>
                  </a:tcPr>
                </a:tc>
              </a:tr>
              <a:tr h="223200">
                <a:tc>
                  <a:txBody>
                    <a:bodyPr/>
                    <a:lstStyle/>
                    <a:p>
                      <a:pPr marL="0" indent="0" lvl="0">
                        <a:buNone/>
                      </a:pPr>
                      <a:r>
                        <a:rPr sz="1000" b="1">
                          <a:solidFill>
                            <a:srgbClr val="060606"/>
                          </a:solidFill>
                          <a:latin typeface="Helvetica"/>
                        </a:rPr>
                        <a:t>418***9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K. A. F.</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1105</a:t>
                      </a:r>
                    </a:p>
                  </a:txBody>
                  <a:tcPr marL="43200" marR="43200" marT="14400" marB="14400" anchor="ctr">
                    <a:solidFill>
                      <a:srgbClr val="F2F2F2"/>
                    </a:solidFill>
                  </a:tcPr>
                </a:tc>
              </a:tr>
            </a:tbl>
          </a:graphicData>
        </a:graphic>
      </p:graphicFrame>
      <p:sp>
        <p:nvSpPr>
          <p:cNvPr id="32" name="TextBox 31"/>
          <p:cNvSpPr txBox="1"/>
          <p:nvPr/>
        </p:nvSpPr>
        <p:spPr>
          <a:xfrm>
            <a:off x="503999" y="1350000"/>
            <a:ext cx="8496000" cy="180000"/>
          </a:xfrm>
          <a:prstGeom prst="rect">
            <a:avLst/>
          </a:prstGeom>
          <a:noFill/>
        </p:spPr>
        <p:txBody>
          <a:bodyPr wrap="square" anchor="t" lIns="54000" rIns="54000"/>
          <a:lstStyle/>
          <a:p>
            <a:pPr algn="l"/>
            <a:r>
              <a:rPr sz="900" b="0">
                <a:solidFill>
                  <a:srgbClr val="53565A"/>
                </a:solidFill>
                <a:latin typeface="Helvetica"/>
              </a:rPr>
              <a:t>Extrait : AUDIT ADENKA\SERVICE GRENIER DU POLICIER\FICHIER ALLER\GRENIER AOÛT 2026\BalanceAgeeDetaille AOUT 2026.xls</a:t>
            </a:r>
          </a:p>
        </p:txBody>
      </p:sp>
      <p:sp>
        <p:nvSpPr>
          <p:cNvPr id="33" name="Rounded Rectangle 32"/>
          <p:cNvSpPr/>
          <p:nvPr/>
        </p:nvSpPr>
        <p:spPr>
          <a:xfrm>
            <a:off x="485999" y="1760400"/>
            <a:ext cx="1260000" cy="24479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548000" y="16092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7325999" y="1760400"/>
            <a:ext cx="1691999" cy="24479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20000" y="16092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485999" y="1983600"/>
            <a:ext cx="1260000" cy="24479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548000" y="18324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9216000" y="1584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9576000" y="1548000"/>
            <a:ext cx="2160000" cy="1188000"/>
          </a:xfrm>
          <a:prstGeom prst="rect">
            <a:avLst/>
          </a:prstGeom>
          <a:noFill/>
        </p:spPr>
        <p:txBody>
          <a:bodyPr wrap="square" anchor="t" lIns="54000" rIns="54000"/>
          <a:lstStyle/>
          <a:p>
            <a:pPr algn="l"/>
            <a:r>
              <a:rPr sz="1300" b="0">
                <a:solidFill>
                  <a:srgbClr val="060606"/>
                </a:solidFill>
                <a:latin typeface="Helvetica"/>
              </a:rPr>
              <a:t>Mécanos de 2 ou 3 chiffres : saisie anormale.</a:t>
            </a:r>
          </a:p>
        </p:txBody>
      </p:sp>
      <p:sp>
        <p:nvSpPr>
          <p:cNvPr id="41" name="Oval 40"/>
          <p:cNvSpPr/>
          <p:nvPr/>
        </p:nvSpPr>
        <p:spPr>
          <a:xfrm>
            <a:off x="9216000" y="288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9576000" y="2844000"/>
            <a:ext cx="2160000" cy="1188000"/>
          </a:xfrm>
          <a:prstGeom prst="rect">
            <a:avLst/>
          </a:prstGeom>
          <a:noFill/>
        </p:spPr>
        <p:txBody>
          <a:bodyPr wrap="square" anchor="t" lIns="54000" rIns="54000"/>
          <a:lstStyle/>
          <a:p>
            <a:pPr algn="l"/>
            <a:r>
              <a:rPr sz="1300" b="0">
                <a:solidFill>
                  <a:srgbClr val="060606"/>
                </a:solidFill>
                <a:latin typeface="Helvetica"/>
              </a:rPr>
              <a:t>Plus de trois ans de retard.</a:t>
            </a:r>
          </a:p>
        </p:txBody>
      </p:sp>
      <p:sp>
        <p:nvSpPr>
          <p:cNvPr id="43" name="Oval 42"/>
          <p:cNvSpPr/>
          <p:nvPr/>
        </p:nvSpPr>
        <p:spPr>
          <a:xfrm>
            <a:off x="9216000" y="4176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9576000" y="4140000"/>
            <a:ext cx="2160000" cy="1188000"/>
          </a:xfrm>
          <a:prstGeom prst="rect">
            <a:avLst/>
          </a:prstGeom>
          <a:noFill/>
        </p:spPr>
        <p:txBody>
          <a:bodyPr wrap="square" anchor="t" lIns="54000" rIns="54000"/>
          <a:lstStyle/>
          <a:p>
            <a:pPr algn="l"/>
            <a:r>
              <a:rPr sz="1300" b="0">
                <a:solidFill>
                  <a:srgbClr val="060606"/>
                </a:solidFill>
                <a:latin typeface="Helvetica"/>
              </a:rPr>
              <a:t>Encours encore inscrit : à provisionner.</a:t>
            </a:r>
          </a:p>
        </p:txBody>
      </p:sp>
    </p:spTree>
    <p:extLst>
      <p:ext uri="{BB962C8B-B14F-4D97-AF65-F5344CB8AC3E}">
        <p14:creationId xmlns:p14="http://schemas.microsoft.com/office/powerpoint/2010/main" val="3792721592"/>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Échéances et précomptes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précomptes ne couvrent que 76 à 85 % des échéances des prêts en cours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De janvier à août 2026, l'écart mensuel va de 25 226 684 FCFA à 44 655 924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24 : Échéances des prêts en cours et précomptes 9X4, 2026</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Part précomptée : de 75,74 % à 85,38 %.</a:t>
            </a:r>
          </a:p>
          <a:p>
            <a:pPr algn="just">
              <a:spcAft>
                <a:spcPts val="800"/>
              </a:spcAft>
            </a:pPr>
            <a:r>
              <a:rPr sz="1400" b="1">
                <a:solidFill>
                  <a:srgbClr val="060606"/>
                </a:solidFill>
                <a:latin typeface="Helvetica"/>
              </a:rPr>
              <a:t>L'export du logiciel perd la lettre-clé du mécano</a:t>
            </a:r>
            <a:r>
              <a:rPr sz="1400" b="0">
                <a:solidFill>
                  <a:srgbClr val="060606"/>
                </a:solidFill>
                <a:latin typeface="Helvetica"/>
              </a:rPr>
              <a:t> (321100C devient 321100), ce qui complique le rapprochement prêt par prêt.</a:t>
            </a:r>
          </a:p>
          <a:p>
            <a:pPr algn="just">
              <a:spcAft>
                <a:spcPts val="800"/>
              </a:spcAft>
            </a:pPr>
            <a:r>
              <a:rPr sz="1400" b="1">
                <a:solidFill>
                  <a:srgbClr val="060606"/>
                </a:solidFill>
                <a:latin typeface="Helvetica"/>
              </a:rPr>
              <a:t>Un rapprochement avec les encaissements bancaires du Grenier est nécessaire.</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Fichiers de précomptes de la Solde, de la CGRAE et du FPPN reçus le 15/10/2026. Traitements Adenka</a:t>
            </a:r>
          </a:p>
        </p:txBody>
      </p:sp>
    </p:spTree>
    <p:extLst>
      <p:ext uri="{BB962C8B-B14F-4D97-AF65-F5344CB8AC3E}">
        <p14:creationId xmlns:p14="http://schemas.microsoft.com/office/powerpoint/2010/main" val="3353328446"/>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pertes sur prêts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Même une perte totale sur les prêts très en retard reste limitée en montant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180 jours : 14 826 812 FCFA. De plus de 90 jours : 17 845 260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
        <p:nvSpPr>
          <p:cNvPr id="31" name="TextBox 30"/>
          <p:cNvSpPr txBox="1"/>
          <p:nvPr/>
        </p:nvSpPr>
        <p:spPr>
          <a:xfrm>
            <a:off x="503999" y="1386000"/>
            <a:ext cx="9720000" cy="216000"/>
          </a:xfrm>
          <a:prstGeom prst="rect">
            <a:avLst/>
          </a:prstGeom>
          <a:noFill/>
        </p:spPr>
        <p:txBody>
          <a:bodyPr wrap="square" anchor="t" lIns="54000" rIns="54000"/>
          <a:lstStyle/>
          <a:p>
            <a:pPr algn="ctr"/>
            <a:r>
              <a:rPr sz="1200" b="0">
                <a:solidFill>
                  <a:srgbClr val="EFAC62"/>
                </a:solidFill>
                <a:latin typeface="Helvetica"/>
              </a:rPr>
              <a:t>Tableau 10 : Provision selon le taux de perte</a:t>
            </a:r>
          </a:p>
        </p:txBody>
      </p:sp>
      <p:graphicFrame>
        <p:nvGraphicFramePr>
          <p:cNvPr id="32" name="Table 31"/>
          <p:cNvGraphicFramePr>
            <a:graphicFrameLocks noGrp="1"/>
          </p:cNvGraphicFramePr>
          <p:nvPr/>
        </p:nvGraphicFramePr>
        <p:xfrm>
          <a:off x="503999" y="1655999"/>
          <a:ext cx="9720000" cy="1296000"/>
        </p:xfrm>
        <a:graphic>
          <a:graphicData uri="http://schemas.openxmlformats.org/drawingml/2006/table">
            <a:tbl>
              <a:tblPr firstRow="0" bandRow="0">
                <a:tableStyleId>{5940675A-B579-460E-94D1-54222C63F5DA}</a:tableStyleId>
              </a:tblPr>
              <a:tblGrid>
                <a:gridCol w="2520000"/>
                <a:gridCol w="3600000"/>
                <a:gridCol w="3600000"/>
              </a:tblGrid>
              <a:tr h="324000">
                <a:tc>
                  <a:txBody>
                    <a:bodyPr/>
                    <a:lstStyle/>
                    <a:p>
                      <a:pPr marL="0" indent="0" lvl="0">
                        <a:buNone/>
                      </a:pPr>
                      <a:r>
                        <a:rPr sz="1200" b="1">
                          <a:solidFill>
                            <a:srgbClr val="FFFFFF"/>
                          </a:solidFill>
                          <a:latin typeface="Helvetica"/>
                        </a:rPr>
                        <a:t>Taux de perte</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Sur l'encours &gt; 180 jours</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Sur l'encours &gt; 90 jours</a:t>
                      </a:r>
                    </a:p>
                  </a:txBody>
                  <a:tcPr marL="43200" marR="43200" marT="14400" marB="14400" anchor="ctr">
                    <a:solidFill>
                      <a:srgbClr val="060606"/>
                    </a:solidFill>
                  </a:tcPr>
                </a:tc>
              </a:tr>
              <a:tr h="324000">
                <a:tc>
                  <a:txBody>
                    <a:bodyPr/>
                    <a:lstStyle/>
                    <a:p>
                      <a:pPr marL="0" indent="0" lvl="0">
                        <a:buNone/>
                      </a:pPr>
                      <a:r>
                        <a:rPr sz="1200" b="1">
                          <a:solidFill>
                            <a:srgbClr val="060606"/>
                          </a:solidFill>
                          <a:latin typeface="Helvetica"/>
                        </a:rPr>
                        <a:t>25,00 %</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3 706 703 FCFA</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4 461 315 FCFA</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50,00 %</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7 413 406 FCFA</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8 922 630 FCFA</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100,00 %</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14 826 812 FCFA</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17 845 260 FCFA</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1809130116"/>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Grenier croît très vite grâce au financement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multiplié par 132, financé à 87,67 %, retards maîtrisés mais précomptes incomplets</a:t>
            </a:r>
          </a:p>
        </p:txBody>
      </p:sp>
      <p:sp>
        <p:nvSpPr>
          <p:cNvPr id="30" name="Rounded Rectangle 29"/>
          <p:cNvSpPr/>
          <p:nvPr/>
        </p:nvSpPr>
        <p:spPr>
          <a:xfrm>
            <a:off x="503999" y="1548000"/>
            <a:ext cx="3600000" cy="57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Croissance</a:t>
            </a:r>
          </a:p>
        </p:txBody>
      </p:sp>
      <p:sp>
        <p:nvSpPr>
          <p:cNvPr id="31" name="Rounded Rectangle 30"/>
          <p:cNvSpPr/>
          <p:nvPr/>
        </p:nvSpPr>
        <p:spPr>
          <a:xfrm>
            <a:off x="503999" y="2232000"/>
            <a:ext cx="3600000" cy="3528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7999" y="2376000"/>
            <a:ext cx="3311999" cy="3240000"/>
          </a:xfrm>
          <a:prstGeom prst="rect">
            <a:avLst/>
          </a:prstGeom>
          <a:noFill/>
        </p:spPr>
        <p:txBody>
          <a:bodyPr wrap="square" anchor="t" lIns="54000" rIns="54000"/>
          <a:lstStyle/>
          <a:p>
            <a:pPr algn="l"/>
            <a:r>
              <a:rPr sz="1600" b="0">
                <a:solidFill>
                  <a:srgbClr val="060606"/>
                </a:solidFill>
                <a:latin typeface="Helvetica"/>
              </a:rPr>
              <a:t>1 044 302 107 FCFA d'encours au 31/08/2026.</a:t>
            </a:r>
          </a:p>
        </p:txBody>
      </p:sp>
      <p:pic>
        <p:nvPicPr>
          <p:cNvPr id="33" name="Picture 32" descr="image.png"/>
          <p:cNvPicPr>
            <a:picLocks noChangeAspect="1"/>
          </p:cNvPicPr>
          <p:nvPr/>
        </p:nvPicPr>
        <p:blipFill>
          <a:blip r:embed="rId6"/>
          <a:stretch>
            <a:fillRect/>
          </a:stretch>
        </p:blipFill>
        <p:spPr>
          <a:xfrm>
            <a:off x="2016000" y="4896000"/>
            <a:ext cx="576000" cy="576000"/>
          </a:xfrm>
          <a:prstGeom prst="rect">
            <a:avLst/>
          </a:prstGeom>
        </p:spPr>
      </p:pic>
      <p:sp>
        <p:nvSpPr>
          <p:cNvPr id="34" name="Rounded Rectangle 33"/>
          <p:cNvSpPr/>
          <p:nvPr/>
        </p:nvSpPr>
        <p:spPr>
          <a:xfrm>
            <a:off x="4320000" y="1548000"/>
            <a:ext cx="3600000" cy="57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Risque</a:t>
            </a:r>
          </a:p>
        </p:txBody>
      </p:sp>
      <p:sp>
        <p:nvSpPr>
          <p:cNvPr id="35" name="Rounded Rectangle 34"/>
          <p:cNvSpPr/>
          <p:nvPr/>
        </p:nvSpPr>
        <p:spPr>
          <a:xfrm>
            <a:off x="4320000" y="2232000"/>
            <a:ext cx="3600000" cy="3528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64000" y="2376000"/>
            <a:ext cx="3311999" cy="3240000"/>
          </a:xfrm>
          <a:prstGeom prst="rect">
            <a:avLst/>
          </a:prstGeom>
          <a:noFill/>
        </p:spPr>
        <p:txBody>
          <a:bodyPr wrap="square" anchor="t" lIns="54000" rIns="54000"/>
          <a:lstStyle/>
          <a:p>
            <a:pPr algn="l"/>
            <a:r>
              <a:rPr sz="1600" b="0">
                <a:solidFill>
                  <a:srgbClr val="060606"/>
                </a:solidFill>
                <a:latin typeface="Helvetica"/>
              </a:rPr>
              <a:t>Précomptes inférieurs aux échéances. 126 prêts en retard de plus de 180 jours.</a:t>
            </a:r>
          </a:p>
        </p:txBody>
      </p:sp>
      <p:pic>
        <p:nvPicPr>
          <p:cNvPr id="37" name="Picture 36" descr="image.png"/>
          <p:cNvPicPr>
            <a:picLocks noChangeAspect="1"/>
          </p:cNvPicPr>
          <p:nvPr/>
        </p:nvPicPr>
        <p:blipFill>
          <a:blip r:embed="rId7"/>
          <a:stretch>
            <a:fillRect/>
          </a:stretch>
        </p:blipFill>
        <p:spPr>
          <a:xfrm>
            <a:off x="5832000" y="4896000"/>
            <a:ext cx="576000" cy="576000"/>
          </a:xfrm>
          <a:prstGeom prst="rect">
            <a:avLst/>
          </a:prstGeom>
        </p:spPr>
      </p:pic>
      <p:sp>
        <p:nvSpPr>
          <p:cNvPr id="38" name="Rounded Rectangle 37"/>
          <p:cNvSpPr/>
          <p:nvPr/>
        </p:nvSpPr>
        <p:spPr>
          <a:xfrm>
            <a:off x="8135999" y="1548000"/>
            <a:ext cx="3600000" cy="57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Données à obtenir</a:t>
            </a:r>
          </a:p>
        </p:txBody>
      </p:sp>
      <p:sp>
        <p:nvSpPr>
          <p:cNvPr id="39" name="Rounded Rectangle 38"/>
          <p:cNvSpPr/>
          <p:nvPr/>
        </p:nvSpPr>
        <p:spPr>
          <a:xfrm>
            <a:off x="8135999" y="2232000"/>
            <a:ext cx="3600000" cy="3528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79999" y="2376000"/>
            <a:ext cx="3311999" cy="3240000"/>
          </a:xfrm>
          <a:prstGeom prst="rect">
            <a:avLst/>
          </a:prstGeom>
          <a:noFill/>
        </p:spPr>
        <p:txBody>
          <a:bodyPr wrap="square" anchor="t" lIns="54000" rIns="54000"/>
          <a:lstStyle/>
          <a:p>
            <a:pPr algn="l"/>
            <a:r>
              <a:rPr sz="1600" b="0">
                <a:solidFill>
                  <a:srgbClr val="060606"/>
                </a:solidFill>
                <a:latin typeface="Helvetica"/>
              </a:rPr>
              <a:t>Politique de crédit lisible, encaissements hors Solde, sens des sous-portefeuilles CRF, CRO, CRS.</a:t>
            </a:r>
          </a:p>
        </p:txBody>
      </p:sp>
      <p:pic>
        <p:nvPicPr>
          <p:cNvPr id="41" name="Picture 40" descr="image.png"/>
          <p:cNvPicPr>
            <a:picLocks noChangeAspect="1"/>
          </p:cNvPicPr>
          <p:nvPr/>
        </p:nvPicPr>
        <p:blipFill>
          <a:blip r:embed="rId8"/>
          <a:stretch>
            <a:fillRect/>
          </a:stretch>
        </p:blipFill>
        <p:spPr>
          <a:xfrm>
            <a:off x="9647999" y="4896000"/>
            <a:ext cx="576000" cy="576000"/>
          </a:xfrm>
          <a:prstGeom prst="rect">
            <a:avLst/>
          </a:prstGeom>
        </p:spPr>
      </p:pic>
    </p:spTree>
    <p:extLst>
      <p:ext uri="{BB962C8B-B14F-4D97-AF65-F5344CB8AC3E}">
        <p14:creationId xmlns:p14="http://schemas.microsoft.com/office/powerpoint/2010/main" val="1136091221"/>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8</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Retraités et annexes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CGRAE, flotte automobile, MEDOC</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088818147"/>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Retraités CGRAE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retraités cotisants sont passés de 16 à 610 en deux ans et demi</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Précompte moyen de 11 940 FCFA par mois sur la pension. Données depuis février 2024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25 : Retraités précomptés par la CGRAE, par mois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retraités</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610 retraités sont précomptés en août 2026.</a:t>
            </a:r>
          </a:p>
          <a:p>
            <a:pPr algn="just">
              <a:spcAft>
                <a:spcPts val="800"/>
              </a:spcAft>
            </a:pPr>
            <a:r>
              <a:rPr sz="1400" b="1">
                <a:solidFill>
                  <a:srgbClr val="060606"/>
                </a:solidFill>
                <a:latin typeface="Helvetica"/>
              </a:rPr>
              <a:t>Plusieurs anomalies de gestion apparaissent</a:t>
            </a:r>
            <a:r>
              <a:rPr sz="1400" b="0">
                <a:solidFill>
                  <a:srgbClr val="060606"/>
                </a:solidFill>
                <a:latin typeface="Helvetica"/>
              </a:rPr>
              <a:t> : précomptes en double ou indus remboursés, numéros de décision erronés, précomptes non effectués.</a:t>
            </a:r>
          </a:p>
          <a:p>
            <a:pPr algn="just">
              <a:spcAft>
                <a:spcPts val="800"/>
              </a:spcAft>
            </a:pPr>
            <a:r>
              <a:rPr sz="1400" b="1">
                <a:solidFill>
                  <a:srgbClr val="060606"/>
                </a:solidFill>
                <a:latin typeface="Helvetica"/>
              </a:rPr>
              <a:t>La convention avec la CGRAE doit être transmise.</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Tree>
    <p:extLst>
      <p:ext uri="{BB962C8B-B14F-4D97-AF65-F5344CB8AC3E}">
        <p14:creationId xmlns:p14="http://schemas.microsoft.com/office/powerpoint/2010/main" val="3615685578"/>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Produits annexes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produits sont précomptés sans documentation transmise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Flotte automobile (9W3) et MEDOC (8Z7) : nature, garanties et comptabilisation à préciser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11 : Produits annexes et points à clarifier</a:t>
            </a:r>
          </a:p>
        </p:txBody>
      </p:sp>
      <p:graphicFrame>
        <p:nvGraphicFramePr>
          <p:cNvPr id="32" name="Table 31"/>
          <p:cNvGraphicFramePr>
            <a:graphicFrameLocks noGrp="1"/>
          </p:cNvGraphicFramePr>
          <p:nvPr/>
        </p:nvGraphicFramePr>
        <p:xfrm>
          <a:off x="503999" y="1655999"/>
          <a:ext cx="11232000" cy="1296000"/>
        </p:xfrm>
        <a:graphic>
          <a:graphicData uri="http://schemas.openxmlformats.org/drawingml/2006/table">
            <a:tbl>
              <a:tblPr firstRow="0" bandRow="0">
                <a:tableStyleId>{5940675A-B579-460E-94D1-54222C63F5DA}</a:tableStyleId>
              </a:tblPr>
              <a:tblGrid>
                <a:gridCol w="1800000"/>
                <a:gridCol w="4896000"/>
                <a:gridCol w="4536000"/>
              </a:tblGrid>
              <a:tr h="324000">
                <a:tc>
                  <a:txBody>
                    <a:bodyPr/>
                    <a:lstStyle/>
                    <a:p>
                      <a:pPr marL="0" indent="0" lvl="0">
                        <a:buNone/>
                      </a:pPr>
                      <a:r>
                        <a:rPr sz="11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Ce que montrent les données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À obtenir du FPPN</a:t>
                      </a:r>
                    </a:p>
                  </a:txBody>
                  <a:tcPr marL="43200" marR="43200" marT="14400" marB="14400" anchor="ctr">
                    <a:solidFill>
                      <a:srgbClr val="060606"/>
                    </a:solidFill>
                  </a:tcPr>
                </a:tc>
              </a:tr>
              <a:tr h="324000">
                <a:tc>
                  <a:txBody>
                    <a:bodyPr/>
                    <a:lstStyle/>
                    <a:p>
                      <a:pPr marL="0" indent="0" lvl="0">
                        <a:buNone/>
                      </a:pPr>
                      <a:r>
                        <a:rPr sz="1100" b="1">
                          <a:solidFill>
                            <a:srgbClr val="060606"/>
                          </a:solidFill>
                          <a:latin typeface="Helvetica"/>
                        </a:rPr>
                        <a:t>Flotte automobile GNA (9W3)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Précomptes mensuels de 2023 à 2026, environ 10 000 FCFA par adhérent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Convention avec l'assureur, primes reversées, sinistres, rôle du FPPN</a:t>
                      </a:r>
                    </a:p>
                  </a:txBody>
                  <a:tcPr marL="43200" marR="43200" marT="14400" marB="14400" anchor="ctr">
                    <a:solidFill>
                      <a:srgbClr val="FFFFFF"/>
                    </a:solidFill>
                  </a:tcPr>
                </a:tc>
              </a:tr>
              <a:tr h="324000">
                <a:tc>
                  <a:txBody>
                    <a:bodyPr/>
                    <a:lstStyle/>
                    <a:p>
                      <a:pPr marL="0" indent="0" lvl="0">
                        <a:buNone/>
                      </a:pPr>
                      <a:r>
                        <a:rPr sz="1100" b="1">
                          <a:solidFill>
                            <a:srgbClr val="060606"/>
                          </a:solidFill>
                          <a:latin typeface="Helvetica"/>
                        </a:rPr>
                        <a:t>MEDOC (8Z7)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5 000 FCFA par mois depuis novembre 2025. 121 contrats signés en novembre et décembre 2025. Retours vides en février et avril 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Nature du produit, garanties, bénéficiaires, comptabilisation</a:t>
                      </a:r>
                    </a:p>
                  </a:txBody>
                  <a:tcPr marL="43200" marR="43200" marT="14400" marB="14400" anchor="ctr">
                    <a:solidFill>
                      <a:srgbClr val="F2F2F2"/>
                    </a:solidFill>
                  </a:tcPr>
                </a:tc>
              </a:tr>
              <a:tr h="324000">
                <a:tc>
                  <a:txBody>
                    <a:bodyPr/>
                    <a:lstStyle/>
                    <a:p>
                      <a:pPr marL="0" indent="0" lvl="0">
                        <a:buNone/>
                      </a:pPr>
                      <a:r>
                        <a:rPr sz="1100" b="1">
                          <a:solidFill>
                            <a:srgbClr val="060606"/>
                          </a:solidFill>
                          <a:latin typeface="Helvetica"/>
                        </a:rPr>
                        <a:t>Identifiants « 183FPPN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34 identifiants sans mécano dans les fichiers aller PEP et Grenier de 2025 et 2026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Identité et mécano de ces personnes</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156798719"/>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9</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Bilan et placements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Provisions, structure de l'actif, fonds propres, rendement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410008378"/>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lecture du bilan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bilan est reconstitué compte par compte à partir des balances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épargne, actifs et fonds propres sont calculés à chaque clôture, de 2020 au 31/08/2026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31" name="Rounded Rectangle 30"/>
          <p:cNvSpPr/>
          <p:nvPr/>
        </p:nvSpPr>
        <p:spPr>
          <a:xfrm>
            <a:off x="503999" y="1512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Provisions techniques</a:t>
            </a:r>
          </a:p>
        </p:txBody>
      </p:sp>
      <p:sp>
        <p:nvSpPr>
          <p:cNvPr id="32" name="Rectangle 31"/>
          <p:cNvSpPr/>
          <p:nvPr/>
        </p:nvSpPr>
        <p:spPr>
          <a:xfrm>
            <a:off x="2988000" y="1512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96000" y="1602000"/>
            <a:ext cx="5688000" cy="936000"/>
          </a:xfrm>
          <a:prstGeom prst="rect">
            <a:avLst/>
          </a:prstGeom>
          <a:noFill/>
        </p:spPr>
        <p:txBody>
          <a:bodyPr wrap="square" anchor="ctr" lIns="54000" rIns="54000"/>
          <a:lstStyle/>
          <a:p>
            <a:pPr algn="l"/>
            <a:r>
              <a:rPr sz="1400" b="0">
                <a:solidFill>
                  <a:srgbClr val="060606"/>
                </a:solidFill>
                <a:latin typeface="Helvetica"/>
              </a:rPr>
              <a:t>Comptes 19011000, 19012000 (jusqu'en 2023) puis 15801000, 15802000</a:t>
            </a:r>
          </a:p>
        </p:txBody>
      </p:sp>
      <p:sp>
        <p:nvSpPr>
          <p:cNvPr id="34" name="Rounded Rectangle 33"/>
          <p:cNvSpPr/>
          <p:nvPr/>
        </p:nvSpPr>
        <p:spPr>
          <a:xfrm>
            <a:off x="9000000" y="1512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Prestations à payer</a:t>
            </a:r>
          </a:p>
        </p:txBody>
      </p:sp>
      <p:sp>
        <p:nvSpPr>
          <p:cNvPr id="35" name="Rounded Rectangle 34"/>
          <p:cNvSpPr/>
          <p:nvPr/>
        </p:nvSpPr>
        <p:spPr>
          <a:xfrm>
            <a:off x="503999" y="2844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Fonds propres</a:t>
            </a:r>
          </a:p>
        </p:txBody>
      </p:sp>
      <p:sp>
        <p:nvSpPr>
          <p:cNvPr id="36" name="Rectangle 35"/>
          <p:cNvSpPr/>
          <p:nvPr/>
        </p:nvSpPr>
        <p:spPr>
          <a:xfrm>
            <a:off x="2988000" y="2844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96000" y="2934000"/>
            <a:ext cx="5688000" cy="936000"/>
          </a:xfrm>
          <a:prstGeom prst="rect">
            <a:avLst/>
          </a:prstGeom>
          <a:noFill/>
        </p:spPr>
        <p:txBody>
          <a:bodyPr wrap="square" anchor="ctr" lIns="54000" rIns="54000"/>
          <a:lstStyle/>
          <a:p>
            <a:pPr algn="l"/>
            <a:r>
              <a:rPr sz="1400" b="0">
                <a:solidFill>
                  <a:srgbClr val="060606"/>
                </a:solidFill>
                <a:latin typeface="Helvetica"/>
              </a:rPr>
              <a:t>Comptes 10, 11, 12 + résultat de l'exercice</a:t>
            </a:r>
          </a:p>
        </p:txBody>
      </p:sp>
      <p:sp>
        <p:nvSpPr>
          <p:cNvPr id="38" name="Rounded Rectangle 37"/>
          <p:cNvSpPr/>
          <p:nvPr/>
        </p:nvSpPr>
        <p:spPr>
          <a:xfrm>
            <a:off x="9000000" y="2844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À chaque clôture</a:t>
            </a:r>
          </a:p>
        </p:txBody>
      </p:sp>
      <p:sp>
        <p:nvSpPr>
          <p:cNvPr id="39" name="Rounded Rectangle 38"/>
          <p:cNvSpPr/>
          <p:nvPr/>
        </p:nvSpPr>
        <p:spPr>
          <a:xfrm>
            <a:off x="503999" y="4176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Mois couverts</a:t>
            </a:r>
          </a:p>
        </p:txBody>
      </p:sp>
      <p:sp>
        <p:nvSpPr>
          <p:cNvPr id="40" name="Rectangle 39"/>
          <p:cNvSpPr/>
          <p:nvPr/>
        </p:nvSpPr>
        <p:spPr>
          <a:xfrm>
            <a:off x="2988000" y="4176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096000" y="4266000"/>
            <a:ext cx="5688000" cy="936000"/>
          </a:xfrm>
          <a:prstGeom prst="rect">
            <a:avLst/>
          </a:prstGeom>
          <a:noFill/>
        </p:spPr>
        <p:txBody>
          <a:bodyPr wrap="square" anchor="ctr" lIns="54000" rIns="54000"/>
          <a:lstStyle/>
          <a:p>
            <a:pPr algn="l"/>
            <a:r>
              <a:rPr sz="1400" b="0">
                <a:solidFill>
                  <a:srgbClr val="060606"/>
                </a:solidFill>
                <a:latin typeface="Helvetica"/>
              </a:rPr>
              <a:t>Provisions / prestations mensuelles moyennes de l'année</a:t>
            </a:r>
          </a:p>
        </p:txBody>
      </p:sp>
      <p:sp>
        <p:nvSpPr>
          <p:cNvPr id="42" name="Rounded Rectangle 41"/>
          <p:cNvSpPr/>
          <p:nvPr/>
        </p:nvSpPr>
        <p:spPr>
          <a:xfrm>
            <a:off x="9000000" y="4176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Indicateur de cohérence</a:t>
            </a:r>
          </a:p>
        </p:txBody>
      </p:sp>
    </p:spTree>
    <p:extLst>
      <p:ext uri="{BB962C8B-B14F-4D97-AF65-F5344CB8AC3E}">
        <p14:creationId xmlns:p14="http://schemas.microsoft.com/office/powerpoint/2010/main" val="2712279558"/>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provisions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deux comptes de provisions portent exactement le même montant sept ans de suite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2 867 602 878 FCFA et obsèques 1 961 695 412 FCFA à chaque clôture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graphicFrame>
        <p:nvGraphicFramePr>
          <p:cNvPr id="31" name="Table 30"/>
          <p:cNvGraphicFramePr>
            <a:graphicFrameLocks noGrp="1"/>
          </p:cNvGraphicFramePr>
          <p:nvPr/>
        </p:nvGraphicFramePr>
        <p:xfrm>
          <a:off x="503999" y="1548000"/>
          <a:ext cx="9072000" cy="1785600"/>
        </p:xfrm>
        <a:graphic>
          <a:graphicData uri="http://schemas.openxmlformats.org/drawingml/2006/table">
            <a:tbl>
              <a:tblPr firstRow="0" bandRow="0">
                <a:tableStyleId>{5940675A-B579-460E-94D1-54222C63F5DA}</a:tableStyleId>
              </a:tblPr>
              <a:tblGrid>
                <a:gridCol w="1296000"/>
                <a:gridCol w="1440000"/>
                <a:gridCol w="2448000"/>
                <a:gridCol w="1440000"/>
                <a:gridCol w="2448000"/>
              </a:tblGrid>
              <a:tr h="223200">
                <a:tc>
                  <a:txBody>
                    <a:bodyPr/>
                    <a:lstStyle/>
                    <a:p>
                      <a:pPr marL="0" indent="0" lvl="0">
                        <a:buNone/>
                      </a:pPr>
                      <a:r>
                        <a:rPr sz="1000" b="1">
                          <a:solidFill>
                            <a:srgbClr val="FFFFFF"/>
                          </a:solidFill>
                          <a:latin typeface="Helvetica"/>
                        </a:rPr>
                        <a:t>Clôture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 maladie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Provision maladie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 obsèques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Provision obsèques</a:t>
                      </a:r>
                    </a:p>
                  </a:txBody>
                  <a:tcPr marL="43200" marR="43200" marT="14400" marB="14400" anchor="ctr">
                    <a:solidFill>
                      <a:srgbClr val="060606"/>
                    </a:solidFill>
                  </a:tcPr>
                </a:tc>
              </a:tr>
              <a:tr h="223200">
                <a:tc>
                  <a:txBody>
                    <a:bodyPr/>
                    <a:lstStyle/>
                    <a:p>
                      <a:pPr marL="0" indent="0" lvl="0">
                        <a:buNone/>
                      </a:pPr>
                      <a:r>
                        <a:rPr sz="10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23200">
                <a:tc>
                  <a:txBody>
                    <a:bodyPr/>
                    <a:lstStyle/>
                    <a:p>
                      <a:pPr marL="0" indent="0" lvl="0">
                        <a:buNone/>
                      </a:pPr>
                      <a:r>
                        <a:rPr sz="10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23200">
                <a:tc>
                  <a:txBody>
                    <a:bodyPr/>
                    <a:lstStyle/>
                    <a:p>
                      <a:pPr marL="0" indent="0" lvl="0">
                        <a:buNone/>
                      </a:pPr>
                      <a:r>
                        <a:rPr sz="10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23200">
                <a:tc>
                  <a:txBody>
                    <a:bodyPr/>
                    <a:lstStyle/>
                    <a:p>
                      <a:pPr marL="0" indent="0" lvl="0">
                        <a:buNone/>
                      </a:pPr>
                      <a:r>
                        <a:rPr sz="10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23200">
                <a:tc>
                  <a:txBody>
                    <a:bodyPr/>
                    <a:lstStyle/>
                    <a:p>
                      <a:pPr marL="0" indent="0" lvl="0">
                        <a:buNone/>
                      </a:pPr>
                      <a:r>
                        <a:rPr sz="10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23200">
                <a:tc>
                  <a:txBody>
                    <a:bodyPr/>
                    <a:lstStyle/>
                    <a:p>
                      <a:pPr marL="0" indent="0" lvl="0">
                        <a:buNone/>
                      </a:pPr>
                      <a:r>
                        <a:rPr sz="10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23200">
                <a:tc>
                  <a:txBody>
                    <a:bodyPr/>
                    <a:lstStyle/>
                    <a:p>
                      <a:pPr marL="0" indent="0" lvl="0">
                        <a:buNone/>
                      </a:pPr>
                      <a:r>
                        <a:rPr sz="100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bl>
          </a:graphicData>
        </a:graphic>
      </p:graphicFrame>
      <p:sp>
        <p:nvSpPr>
          <p:cNvPr id="32" name="TextBox 31"/>
          <p:cNvSpPr txBox="1"/>
          <p:nvPr/>
        </p:nvSpPr>
        <p:spPr>
          <a:xfrm>
            <a:off x="503999" y="1350000"/>
            <a:ext cx="9072000" cy="180000"/>
          </a:xfrm>
          <a:prstGeom prst="rect">
            <a:avLst/>
          </a:prstGeom>
          <a:noFill/>
        </p:spPr>
        <p:txBody>
          <a:bodyPr wrap="square" anchor="t" lIns="54000" rIns="54000"/>
          <a:lstStyle/>
          <a:p>
            <a:pPr algn="l"/>
            <a:r>
              <a:rPr sz="900" b="0">
                <a:solidFill>
                  <a:srgbClr val="53565A"/>
                </a:solidFill>
                <a:latin typeface="Helvetica"/>
              </a:rPr>
              <a:t>Extrait : AUDIT ADENKA\DAFC\2020 à 2026 (balances des comptes)</a:t>
            </a:r>
          </a:p>
        </p:txBody>
      </p:sp>
      <p:sp>
        <p:nvSpPr>
          <p:cNvPr id="33" name="Rounded Rectangle 32"/>
          <p:cNvSpPr/>
          <p:nvPr/>
        </p:nvSpPr>
        <p:spPr>
          <a:xfrm>
            <a:off x="3221999" y="1760400"/>
            <a:ext cx="2484000" cy="24479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508000" y="16092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3221999" y="3099600"/>
            <a:ext cx="2484000" cy="24479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508000" y="29484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1782000" y="2653200"/>
            <a:ext cx="1475999" cy="24479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060000" y="2502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503999" y="34776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64000" y="3459600"/>
            <a:ext cx="8712000" cy="324000"/>
          </a:xfrm>
          <a:prstGeom prst="rect">
            <a:avLst/>
          </a:prstGeom>
          <a:noFill/>
        </p:spPr>
        <p:txBody>
          <a:bodyPr wrap="square" anchor="t" lIns="54000" rIns="54000"/>
          <a:lstStyle/>
          <a:p>
            <a:pPr algn="l"/>
            <a:r>
              <a:rPr sz="1200" b="0">
                <a:solidFill>
                  <a:srgbClr val="060606"/>
                </a:solidFill>
                <a:latin typeface="Helvetica"/>
              </a:rPr>
              <a:t>Même montant en 2020…</a:t>
            </a:r>
          </a:p>
        </p:txBody>
      </p:sp>
      <p:sp>
        <p:nvSpPr>
          <p:cNvPr id="41" name="Oval 40"/>
          <p:cNvSpPr/>
          <p:nvPr/>
        </p:nvSpPr>
        <p:spPr>
          <a:xfrm>
            <a:off x="503999" y="38376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64000" y="3819600"/>
            <a:ext cx="8712000" cy="324000"/>
          </a:xfrm>
          <a:prstGeom prst="rect">
            <a:avLst/>
          </a:prstGeom>
          <a:noFill/>
        </p:spPr>
        <p:txBody>
          <a:bodyPr wrap="square" anchor="t" lIns="54000" rIns="54000"/>
          <a:lstStyle/>
          <a:p>
            <a:pPr algn="l"/>
            <a:r>
              <a:rPr sz="1200" b="0">
                <a:solidFill>
                  <a:srgbClr val="060606"/>
                </a:solidFill>
                <a:latin typeface="Helvetica"/>
              </a:rPr>
              <a:t>… et au 31/08/2026.</a:t>
            </a:r>
          </a:p>
        </p:txBody>
      </p:sp>
      <p:sp>
        <p:nvSpPr>
          <p:cNvPr id="43" name="Oval 42"/>
          <p:cNvSpPr/>
          <p:nvPr/>
        </p:nvSpPr>
        <p:spPr>
          <a:xfrm>
            <a:off x="503999" y="41976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64000" y="4179600"/>
            <a:ext cx="8712000" cy="324000"/>
          </a:xfrm>
          <a:prstGeom prst="rect">
            <a:avLst/>
          </a:prstGeom>
          <a:noFill/>
        </p:spPr>
        <p:txBody>
          <a:bodyPr wrap="square" anchor="t" lIns="54000" rIns="54000"/>
          <a:lstStyle/>
          <a:p>
            <a:pPr algn="l"/>
            <a:r>
              <a:rPr sz="1200" b="0">
                <a:solidFill>
                  <a:srgbClr val="060606"/>
                </a:solidFill>
                <a:latin typeface="Helvetica"/>
              </a:rPr>
              <a:t>Seul le compte change en 2024 (19 vers 158).</a:t>
            </a:r>
          </a:p>
        </p:txBody>
      </p:sp>
    </p:spTree>
    <p:extLst>
      <p:ext uri="{BB962C8B-B14F-4D97-AF65-F5344CB8AC3E}">
        <p14:creationId xmlns:p14="http://schemas.microsoft.com/office/powerpoint/2010/main" val="2622512467"/>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techniques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ne couvre plus que 21 mois de prestations, contre 115 en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 prestations mensuelles : 115,14 mois en 2021, 29,50 en 2025, 21,48 en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26 : Mois de prestations couverts par les provisions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mois de prestations</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La provision vaut 4 829 298 290 FCFA chaque année.</a:t>
            </a:r>
          </a:p>
          <a:p>
            <a:pPr algn="just">
              <a:spcAft>
                <a:spcPts val="800"/>
              </a:spcAft>
            </a:pPr>
            <a:r>
              <a:rPr sz="1400" b="1">
                <a:solidFill>
                  <a:srgbClr val="060606"/>
                </a:solidFill>
                <a:latin typeface="Helvetica"/>
              </a:rPr>
              <a:t>Les prestations mensuelles passent de 41 942 486 FCFA en 2021 à 224 856 973 FCFA en 2026.</a:t>
            </a:r>
          </a:p>
          <a:p>
            <a:pPr algn="just">
              <a:spcAft>
                <a:spcPts val="800"/>
              </a:spcAft>
            </a:pPr>
            <a:r>
              <a:rPr sz="1400" b="1">
                <a:solidFill>
                  <a:srgbClr val="060606"/>
                </a:solidFill>
                <a:latin typeface="Helvetica"/>
              </a:rPr>
              <a:t>Le calcul (PSAP, Chain Ladder) suppose les bases de prestations demandées</a:t>
            </a:r>
            <a:r>
              <a:rPr sz="1400" b="0">
                <a:solidFill>
                  <a:srgbClr val="060606"/>
                </a:solidFill>
                <a:latin typeface="Helvetica"/>
              </a:rPr>
              <a:t> (partie 11).</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Tree>
    <p:extLst>
      <p:ext uri="{BB962C8B-B14F-4D97-AF65-F5344CB8AC3E}">
        <p14:creationId xmlns:p14="http://schemas.microsoft.com/office/powerpoint/2010/main" val="2016961834"/>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Structure de l'actif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L'actif repose sur des créances et des investissements peu liquides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CMP 7 083 534 565 FCFA, terrains 5 245 896 750 FCFA, trésorerie 3 359 100 618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27 : Principaux postes de l'actif</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CMP : 2 984 680 712 FCFA en 2020, 7 083 534 565 FCFA au 31/08/2026.</a:t>
            </a:r>
          </a:p>
          <a:p>
            <a:pPr algn="just">
              <a:spcAft>
                <a:spcPts val="800"/>
              </a:spcAft>
            </a:pPr>
            <a:r>
              <a:rPr sz="1400" b="1">
                <a:solidFill>
                  <a:srgbClr val="060606"/>
                </a:solidFill>
                <a:latin typeface="Helvetica"/>
              </a:rPr>
              <a:t>La créance sur l'Hôpital de la Police (3 407 519 850 FCFA) est inchangée depuis 2020.</a:t>
            </a:r>
          </a:p>
          <a:p>
            <a:pPr algn="just">
              <a:spcAft>
                <a:spcPts val="800"/>
              </a:spcAft>
            </a:pPr>
            <a:r>
              <a:rPr sz="1400" b="1">
                <a:solidFill>
                  <a:srgbClr val="060606"/>
                </a:solidFill>
                <a:latin typeface="Helvetica"/>
              </a:rPr>
              <a:t>Dettes envers les cliniques : 690 234 451 FCFA au 31/08/2026.</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Tree>
    <p:extLst>
      <p:ext uri="{BB962C8B-B14F-4D97-AF65-F5344CB8AC3E}">
        <p14:creationId xmlns:p14="http://schemas.microsoft.com/office/powerpoint/2010/main" val="400284294"/>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fonds propres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pertes reportées dépassent les réserves, d'où des fonds propres négatifs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2025 = -876 142 111 FCFA + résultat 437 899 911 FCFA = -438 242 200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des comptes 2025</a:t>
            </a:r>
          </a:p>
        </p:txBody>
      </p:sp>
      <p:graphicFrame>
        <p:nvGraphicFramePr>
          <p:cNvPr id="31" name="Table 30"/>
          <p:cNvGraphicFramePr>
            <a:graphicFrameLocks noGrp="1"/>
          </p:cNvGraphicFramePr>
          <p:nvPr/>
        </p:nvGraphicFramePr>
        <p:xfrm>
          <a:off x="503999" y="1548000"/>
          <a:ext cx="7704000" cy="1785600"/>
        </p:xfrm>
        <a:graphic>
          <a:graphicData uri="http://schemas.openxmlformats.org/drawingml/2006/table">
            <a:tbl>
              <a:tblPr firstRow="0" bandRow="0">
                <a:tableStyleId>{5940675A-B579-460E-94D1-54222C63F5DA}</a:tableStyleId>
              </a:tblPr>
              <a:tblGrid>
                <a:gridCol w="1224000"/>
                <a:gridCol w="4104000"/>
                <a:gridCol w="2376000"/>
              </a:tblGrid>
              <a:tr h="223200">
                <a:tc>
                  <a:txBody>
                    <a:bodyPr/>
                    <a:lstStyle/>
                    <a:p>
                      <a:pPr marL="0" indent="0" lvl="0">
                        <a:buNone/>
                      </a:pPr>
                      <a:r>
                        <a:rPr sz="10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Intitulé (balance 2025)</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223200">
                <a:tc>
                  <a:txBody>
                    <a:bodyPr/>
                    <a:lstStyle/>
                    <a:p>
                      <a:pPr marL="0" indent="0" lvl="0">
                        <a:buNone/>
                      </a:pPr>
                      <a:r>
                        <a:rPr sz="1000" b="1">
                          <a:solidFill>
                            <a:srgbClr val="060606"/>
                          </a:solidFill>
                          <a:latin typeface="Helvetica"/>
                        </a:rPr>
                        <a:t>10620000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Réévaluation matériels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2 899 400 000 FCFA</a:t>
                      </a:r>
                    </a:p>
                  </a:txBody>
                  <a:tcPr marL="43200" marR="43200" marT="14400" marB="14400" anchor="ctr">
                    <a:solidFill>
                      <a:srgbClr val="FFFFFF"/>
                    </a:solidFill>
                  </a:tcPr>
                </a:tc>
              </a:tr>
              <a:tr h="223200">
                <a:tc>
                  <a:txBody>
                    <a:bodyPr/>
                    <a:lstStyle/>
                    <a:p>
                      <a:pPr marL="0" indent="0" lvl="0">
                        <a:buNone/>
                      </a:pPr>
                      <a:r>
                        <a:rPr sz="1000" b="1">
                          <a:solidFill>
                            <a:srgbClr val="060606"/>
                          </a:solidFill>
                          <a:latin typeface="Helvetica"/>
                        </a:rPr>
                        <a:t>11100000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Réserves légale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2F2F2"/>
                    </a:solidFill>
                  </a:tcPr>
                </a:tc>
              </a:tr>
              <a:tr h="223200">
                <a:tc>
                  <a:txBody>
                    <a:bodyPr/>
                    <a:lstStyle/>
                    <a:p>
                      <a:pPr marL="0" indent="0" lvl="0">
                        <a:buNone/>
                      </a:pPr>
                      <a:r>
                        <a:rPr sz="1000" b="1">
                          <a:solidFill>
                            <a:srgbClr val="060606"/>
                          </a:solidFill>
                          <a:latin typeface="Helvetica"/>
                        </a:rPr>
                        <a:t>11880000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RESERVES FACULTATIVES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677 208 998 FCFA</a:t>
                      </a:r>
                    </a:p>
                  </a:txBody>
                  <a:tcPr marL="43200" marR="43200" marT="14400" marB="14400" anchor="ctr">
                    <a:solidFill>
                      <a:srgbClr val="FFFFFF"/>
                    </a:solidFill>
                  </a:tcPr>
                </a:tc>
              </a:tr>
              <a:tr h="223200">
                <a:tc>
                  <a:txBody>
                    <a:bodyPr/>
                    <a:lstStyle/>
                    <a:p>
                      <a:pPr marL="0" indent="0" lvl="0">
                        <a:buNone/>
                      </a:pPr>
                      <a:r>
                        <a:rPr sz="1000" b="1">
                          <a:solidFill>
                            <a:srgbClr val="060606"/>
                          </a:solidFill>
                          <a:latin typeface="Helvetica"/>
                        </a:rPr>
                        <a:t>12900000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Report à nouveau débiteur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-5 272 983 928 FCFA</a:t>
                      </a:r>
                    </a:p>
                  </a:txBody>
                  <a:tcPr marL="43200" marR="43200" marT="14400" marB="14400" anchor="ctr">
                    <a:solidFill>
                      <a:srgbClr val="F2F2F2"/>
                    </a:solidFill>
                  </a:tcPr>
                </a:tc>
              </a:tr>
              <a:tr h="223200">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Sous-total capitaux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-876 142 111 FCFA</a:t>
                      </a:r>
                    </a:p>
                  </a:txBody>
                  <a:tcPr marL="43200" marR="43200" marT="14400" marB="14400" anchor="ctr">
                    <a:solidFill>
                      <a:srgbClr val="FFFFFF"/>
                    </a:solidFill>
                  </a:tcPr>
                </a:tc>
              </a:tr>
              <a:tr h="223200">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Résultat de l'exercice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437 899 911 FCFA</a:t>
                      </a:r>
                    </a:p>
                  </a:txBody>
                  <a:tcPr marL="43200" marR="43200" marT="14400" marB="14400" anchor="ctr">
                    <a:solidFill>
                      <a:srgbClr val="F2F2F2"/>
                    </a:solidFill>
                  </a:tcPr>
                </a:tc>
              </a:tr>
              <a:tr h="223200">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bl>
          </a:graphicData>
        </a:graphic>
      </p:graphicFrame>
      <p:sp>
        <p:nvSpPr>
          <p:cNvPr id="32" name="TextBox 31"/>
          <p:cNvSpPr txBox="1"/>
          <p:nvPr/>
        </p:nvSpPr>
        <p:spPr>
          <a:xfrm>
            <a:off x="503999" y="1350000"/>
            <a:ext cx="7703999"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sp>
        <p:nvSpPr>
          <p:cNvPr id="33" name="Rounded Rectangle 32"/>
          <p:cNvSpPr/>
          <p:nvPr/>
        </p:nvSpPr>
        <p:spPr>
          <a:xfrm>
            <a:off x="5813999" y="2429999"/>
            <a:ext cx="2411999" cy="24479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27999" y="227879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813999" y="3099600"/>
            <a:ext cx="2411999" cy="24479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27999" y="29484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424000" y="1584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784000" y="1548000"/>
            <a:ext cx="2952000" cy="1188000"/>
          </a:xfrm>
          <a:prstGeom prst="rect">
            <a:avLst/>
          </a:prstGeom>
          <a:noFill/>
        </p:spPr>
        <p:txBody>
          <a:bodyPr wrap="square" anchor="t" lIns="54000" rIns="54000"/>
          <a:lstStyle/>
          <a:p>
            <a:pPr algn="l"/>
            <a:r>
              <a:rPr sz="1300" b="0">
                <a:solidFill>
                  <a:srgbClr val="060606"/>
                </a:solidFill>
                <a:latin typeface="Helvetica"/>
              </a:rPr>
              <a:t>Pertes reportées : plus que les réserves.</a:t>
            </a:r>
          </a:p>
        </p:txBody>
      </p:sp>
      <p:sp>
        <p:nvSpPr>
          <p:cNvPr id="39" name="Oval 38"/>
          <p:cNvSpPr/>
          <p:nvPr/>
        </p:nvSpPr>
        <p:spPr>
          <a:xfrm>
            <a:off x="8424000" y="288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784000" y="2844000"/>
            <a:ext cx="2952000" cy="1188000"/>
          </a:xfrm>
          <a:prstGeom prst="rect">
            <a:avLst/>
          </a:prstGeom>
          <a:noFill/>
        </p:spPr>
        <p:txBody>
          <a:bodyPr wrap="square" anchor="t" lIns="54000" rIns="54000"/>
          <a:lstStyle/>
          <a:p>
            <a:pPr algn="l"/>
            <a:r>
              <a:rPr sz="1300" b="0">
                <a:solidFill>
                  <a:srgbClr val="060606"/>
                </a:solidFill>
                <a:latin typeface="Helvetica"/>
              </a:rPr>
              <a:t>Fonds propres négatifs malgré le résultat positif.</a:t>
            </a:r>
          </a:p>
        </p:txBody>
      </p:sp>
      <p:sp>
        <p:nvSpPr>
          <p:cNvPr id="41" name="Oval 40"/>
          <p:cNvSpPr/>
          <p:nvPr/>
        </p:nvSpPr>
        <p:spPr>
          <a:xfrm>
            <a:off x="8424000" y="4176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784000" y="4140000"/>
            <a:ext cx="2952000" cy="1188000"/>
          </a:xfrm>
          <a:prstGeom prst="rect">
            <a:avLst/>
          </a:prstGeom>
          <a:noFill/>
        </p:spPr>
        <p:txBody>
          <a:bodyPr wrap="square" anchor="t" lIns="54000" rIns="54000"/>
          <a:lstStyle/>
          <a:p>
            <a:pPr algn="l"/>
            <a:r>
              <a:rPr sz="1300" b="0">
                <a:solidFill>
                  <a:srgbClr val="060606"/>
                </a:solidFill>
                <a:latin typeface="Helvetica"/>
              </a:rPr>
              <a:t>Les excédents futurs devront absorber ce solde.</a:t>
            </a:r>
          </a:p>
        </p:txBody>
      </p:sp>
    </p:spTree>
    <p:extLst>
      <p:ext uri="{BB962C8B-B14F-4D97-AF65-F5344CB8AC3E}">
        <p14:creationId xmlns:p14="http://schemas.microsoft.com/office/powerpoint/2010/main" val="2720018288"/>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Fonds propres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fonds propres restent négatifs malgré six années d'excédents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-6 743 081 733 FCFA fin 2020, -438 242 200 FCFA fin 2025, -879 498 700 FCFA au 31/08/2026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28 : Fonds propres et résultat de l'exercice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Les excédents de 2020 à 2025 réduisent l'écart sans le combler.</a:t>
            </a:r>
          </a:p>
          <a:p>
            <a:pPr algn="just">
              <a:spcAft>
                <a:spcPts val="800"/>
              </a:spcAft>
            </a:pPr>
            <a:r>
              <a:rPr sz="1400" b="1">
                <a:solidFill>
                  <a:srgbClr val="060606"/>
                </a:solidFill>
                <a:latin typeface="Helvetica"/>
              </a:rPr>
              <a:t>Le déficit des huit premiers mois de 2026 inverse la tendance.</a:t>
            </a:r>
          </a:p>
          <a:p>
            <a:pPr algn="just">
              <a:spcAft>
                <a:spcPts val="800"/>
              </a:spcAft>
            </a:pPr>
            <a:r>
              <a:rPr sz="1400" b="1">
                <a:solidFill>
                  <a:srgbClr val="060606"/>
                </a:solidFill>
                <a:latin typeface="Helvetica"/>
              </a:rPr>
              <a:t>Le redressement dépend de la maîtrise de la sinistralité maladie.</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Tree>
    <p:extLst>
      <p:ext uri="{BB962C8B-B14F-4D97-AF65-F5344CB8AC3E}">
        <p14:creationId xmlns:p14="http://schemas.microsoft.com/office/powerpoint/2010/main" val="3519138568"/>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Rendement des placements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problème des placements est leur faible volume, pas leur rendement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Rendement moyen apparent 2021 à 2025 : 6,48 % par an. Taux directeur BCEAO entre 2,00 % et 3,50 %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29 : Taux directeur de la BCEAO</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date d'effet</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Produits financiers 2021 à 2025 : 173 881 316 FCFA</a:t>
            </a:r>
            <a:r>
              <a:rPr sz="1400" b="0">
                <a:solidFill>
                  <a:srgbClr val="060606"/>
                </a:solidFill>
                <a:latin typeface="Helvetica"/>
              </a:rPr>
              <a:t>, pour un encours moyen de placements d'environ 536 763 072 FCFA.</a:t>
            </a:r>
          </a:p>
          <a:p>
            <a:pPr algn="just">
              <a:spcAft>
                <a:spcPts val="800"/>
              </a:spcAft>
            </a:pPr>
            <a:r>
              <a:rPr sz="1400" b="1">
                <a:solidFill>
                  <a:srgbClr val="060606"/>
                </a:solidFill>
                <a:latin typeface="Helvetica"/>
              </a:rPr>
              <a:t>Le rendement dépasse le taux directeur, mais il est irrégulier.</a:t>
            </a:r>
          </a:p>
          <a:p>
            <a:pPr algn="just">
              <a:spcAft>
                <a:spcPts val="800"/>
              </a:spcAft>
            </a:pPr>
            <a:r>
              <a:rPr sz="1400" b="1">
                <a:solidFill>
                  <a:srgbClr val="060606"/>
                </a:solidFill>
                <a:latin typeface="Helvetica"/>
              </a:rPr>
              <a:t>Le vrai sujet est le volume placé, face à 15 743 516 391 FCFA d'épargne à restituer.</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BCEAO, communiqués du Comité de politique monétaire. Balances des comptes du FPPN (Sage 100), exercices 2020 à 2025 et du 01/01 au 31/08/2026 (provisoire). Traitements Adenka</a:t>
            </a:r>
          </a:p>
        </p:txBody>
      </p:sp>
    </p:spTree>
    <p:extLst>
      <p:ext uri="{BB962C8B-B14F-4D97-AF65-F5344CB8AC3E}">
        <p14:creationId xmlns:p14="http://schemas.microsoft.com/office/powerpoint/2010/main" val="2948440819"/>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bilan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bilan combine provisions figées, fonds propres négatifs et actifs peu liquides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Trois fragilités cumulées qui limitent la capacité du FPPN à faire face à un choc</a:t>
            </a:r>
          </a:p>
        </p:txBody>
      </p:sp>
      <p:sp>
        <p:nvSpPr>
          <p:cNvPr id="30" name="Rounded Rectangle 29"/>
          <p:cNvSpPr/>
          <p:nvPr/>
        </p:nvSpPr>
        <p:spPr>
          <a:xfrm>
            <a:off x="503999" y="1548000"/>
            <a:ext cx="3600000" cy="57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Provisions</a:t>
            </a:r>
          </a:p>
        </p:txBody>
      </p:sp>
      <p:sp>
        <p:nvSpPr>
          <p:cNvPr id="31" name="Rounded Rectangle 30"/>
          <p:cNvSpPr/>
          <p:nvPr/>
        </p:nvSpPr>
        <p:spPr>
          <a:xfrm>
            <a:off x="503999" y="2232000"/>
            <a:ext cx="3600000" cy="3528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7999" y="2376000"/>
            <a:ext cx="3311999" cy="3240000"/>
          </a:xfrm>
          <a:prstGeom prst="rect">
            <a:avLst/>
          </a:prstGeom>
          <a:noFill/>
        </p:spPr>
        <p:txBody>
          <a:bodyPr wrap="square" anchor="t" lIns="54000" rIns="54000"/>
          <a:lstStyle/>
          <a:p>
            <a:pPr algn="l"/>
            <a:r>
              <a:rPr sz="1600" b="0">
                <a:solidFill>
                  <a:srgbClr val="060606"/>
                </a:solidFill>
                <a:latin typeface="Helvetica"/>
              </a:rPr>
              <a:t>Montant identique de 2020 à 2026, à recalculer à partir des dossiers.</a:t>
            </a:r>
          </a:p>
        </p:txBody>
      </p:sp>
      <p:pic>
        <p:nvPicPr>
          <p:cNvPr id="33" name="Picture 32" descr="image.png"/>
          <p:cNvPicPr>
            <a:picLocks noChangeAspect="1"/>
          </p:cNvPicPr>
          <p:nvPr/>
        </p:nvPicPr>
        <p:blipFill>
          <a:blip r:embed="rId6"/>
          <a:stretch>
            <a:fillRect/>
          </a:stretch>
        </p:blipFill>
        <p:spPr>
          <a:xfrm>
            <a:off x="2016000" y="4896000"/>
            <a:ext cx="576000" cy="576000"/>
          </a:xfrm>
          <a:prstGeom prst="rect">
            <a:avLst/>
          </a:prstGeom>
        </p:spPr>
      </p:pic>
      <p:sp>
        <p:nvSpPr>
          <p:cNvPr id="34" name="Rounded Rectangle 33"/>
          <p:cNvSpPr/>
          <p:nvPr/>
        </p:nvSpPr>
        <p:spPr>
          <a:xfrm>
            <a:off x="4320000" y="1548000"/>
            <a:ext cx="3600000" cy="57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Fonds propres</a:t>
            </a:r>
          </a:p>
        </p:txBody>
      </p:sp>
      <p:sp>
        <p:nvSpPr>
          <p:cNvPr id="35" name="Rounded Rectangle 34"/>
          <p:cNvSpPr/>
          <p:nvPr/>
        </p:nvSpPr>
        <p:spPr>
          <a:xfrm>
            <a:off x="4320000" y="2232000"/>
            <a:ext cx="3600000" cy="3528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64000" y="2376000"/>
            <a:ext cx="3311999" cy="3240000"/>
          </a:xfrm>
          <a:prstGeom prst="rect">
            <a:avLst/>
          </a:prstGeom>
          <a:noFill/>
        </p:spPr>
        <p:txBody>
          <a:bodyPr wrap="square" anchor="t" lIns="54000" rIns="54000"/>
          <a:lstStyle/>
          <a:p>
            <a:pPr algn="l"/>
            <a:r>
              <a:rPr sz="1600" b="0">
                <a:solidFill>
                  <a:srgbClr val="060606"/>
                </a:solidFill>
                <a:latin typeface="Helvetica"/>
              </a:rPr>
              <a:t>Négatifs à chaque clôture, redressement interrompu en 2026.</a:t>
            </a:r>
          </a:p>
        </p:txBody>
      </p:sp>
      <p:pic>
        <p:nvPicPr>
          <p:cNvPr id="37" name="Picture 36" descr="image.png"/>
          <p:cNvPicPr>
            <a:picLocks noChangeAspect="1"/>
          </p:cNvPicPr>
          <p:nvPr/>
        </p:nvPicPr>
        <p:blipFill>
          <a:blip r:embed="rId7"/>
          <a:stretch>
            <a:fillRect/>
          </a:stretch>
        </p:blipFill>
        <p:spPr>
          <a:xfrm>
            <a:off x="5832000" y="4896000"/>
            <a:ext cx="576000" cy="576000"/>
          </a:xfrm>
          <a:prstGeom prst="rect">
            <a:avLst/>
          </a:prstGeom>
        </p:spPr>
      </p:pic>
      <p:sp>
        <p:nvSpPr>
          <p:cNvPr id="38" name="Rounded Rectangle 37"/>
          <p:cNvSpPr/>
          <p:nvPr/>
        </p:nvSpPr>
        <p:spPr>
          <a:xfrm>
            <a:off x="8135999" y="1548000"/>
            <a:ext cx="3600000" cy="57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Actifs</a:t>
            </a:r>
          </a:p>
        </p:txBody>
      </p:sp>
      <p:sp>
        <p:nvSpPr>
          <p:cNvPr id="39" name="Rounded Rectangle 38"/>
          <p:cNvSpPr/>
          <p:nvPr/>
        </p:nvSpPr>
        <p:spPr>
          <a:xfrm>
            <a:off x="8135999" y="2232000"/>
            <a:ext cx="3600000" cy="3528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79999" y="2376000"/>
            <a:ext cx="3311999" cy="3240000"/>
          </a:xfrm>
          <a:prstGeom prst="rect">
            <a:avLst/>
          </a:prstGeom>
          <a:noFill/>
        </p:spPr>
        <p:txBody>
          <a:bodyPr wrap="square" anchor="t" lIns="54000" rIns="54000"/>
          <a:lstStyle/>
          <a:p>
            <a:pPr algn="l"/>
            <a:r>
              <a:rPr sz="1600" b="0">
                <a:solidFill>
                  <a:srgbClr val="060606"/>
                </a:solidFill>
                <a:latin typeface="Helvetica"/>
              </a:rPr>
              <a:t>CMP, terrains et créances dominent. Trésorerie faible face à l'épargne due.</a:t>
            </a:r>
          </a:p>
        </p:txBody>
      </p:sp>
      <p:pic>
        <p:nvPicPr>
          <p:cNvPr id="41" name="Picture 40" descr="image.png"/>
          <p:cNvPicPr>
            <a:picLocks noChangeAspect="1"/>
          </p:cNvPicPr>
          <p:nvPr/>
        </p:nvPicPr>
        <p:blipFill>
          <a:blip r:embed="rId8"/>
          <a:stretch>
            <a:fillRect/>
          </a:stretch>
        </p:blipFill>
        <p:spPr>
          <a:xfrm>
            <a:off x="9647999" y="4896000"/>
            <a:ext cx="576000" cy="576000"/>
          </a:xfrm>
          <a:prstGeom prst="rect">
            <a:avLst/>
          </a:prstGeom>
        </p:spPr>
      </p:pic>
    </p:spTree>
    <p:extLst>
      <p:ext uri="{BB962C8B-B14F-4D97-AF65-F5344CB8AC3E}">
        <p14:creationId xmlns:p14="http://schemas.microsoft.com/office/powerpoint/2010/main" val="3877477595"/>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10</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Tables de mortalité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Rôle, choix des tables, indicateurs de référence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197023259"/>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Pourquoi des tables de mortalité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servent à mesurer et à évaluer tout engagement lié à la vie humaine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Elles préparent deux analyses de la mission : la mortalité des policiers et les engagements viagers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1" name="Rounded Rectangle 30"/>
          <p:cNvSpPr/>
          <p:nvPr/>
        </p:nvSpPr>
        <p:spPr>
          <a:xfrm>
            <a:off x="503999" y="1512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qx</a:t>
            </a:r>
          </a:p>
        </p:txBody>
      </p:sp>
      <p:sp>
        <p:nvSpPr>
          <p:cNvPr id="32" name="Rectangle 31"/>
          <p:cNvSpPr/>
          <p:nvPr/>
        </p:nvSpPr>
        <p:spPr>
          <a:xfrm>
            <a:off x="2988000" y="1512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96000" y="1602000"/>
            <a:ext cx="5688000" cy="936000"/>
          </a:xfrm>
          <a:prstGeom prst="rect">
            <a:avLst/>
          </a:prstGeom>
          <a:noFill/>
        </p:spPr>
        <p:txBody>
          <a:bodyPr wrap="square" anchor="ctr" lIns="54000" rIns="54000"/>
          <a:lstStyle/>
          <a:p>
            <a:pPr algn="l"/>
            <a:r>
              <a:rPr sz="1400" b="0">
                <a:solidFill>
                  <a:srgbClr val="060606"/>
                </a:solidFill>
                <a:latin typeface="Helvetica"/>
              </a:rPr>
              <a:t>Probabilité de décéder entre l'âge x et x + 1</a:t>
            </a:r>
          </a:p>
        </p:txBody>
      </p:sp>
      <p:sp>
        <p:nvSpPr>
          <p:cNvPr id="34" name="Rounded Rectangle 33"/>
          <p:cNvSpPr/>
          <p:nvPr/>
        </p:nvSpPr>
        <p:spPr>
          <a:xfrm>
            <a:off x="9000000" y="1512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Lue dans la table</a:t>
            </a:r>
          </a:p>
        </p:txBody>
      </p:sp>
      <p:sp>
        <p:nvSpPr>
          <p:cNvPr id="35" name="Rounded Rectangle 34"/>
          <p:cNvSpPr/>
          <p:nvPr/>
        </p:nvSpPr>
        <p:spPr>
          <a:xfrm>
            <a:off x="503999" y="2844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Lx</a:t>
            </a:r>
          </a:p>
        </p:txBody>
      </p:sp>
      <p:sp>
        <p:nvSpPr>
          <p:cNvPr id="36" name="Rectangle 35"/>
          <p:cNvSpPr/>
          <p:nvPr/>
        </p:nvSpPr>
        <p:spPr>
          <a:xfrm>
            <a:off x="2988000" y="2844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96000" y="2934000"/>
            <a:ext cx="5688000" cy="936000"/>
          </a:xfrm>
          <a:prstGeom prst="rect">
            <a:avLst/>
          </a:prstGeom>
          <a:noFill/>
        </p:spPr>
        <p:txBody>
          <a:bodyPr wrap="square" anchor="ctr" lIns="54000" rIns="54000"/>
          <a:lstStyle/>
          <a:p>
            <a:pPr algn="l"/>
            <a:r>
              <a:rPr sz="1400" b="0">
                <a:solidFill>
                  <a:srgbClr val="060606"/>
                </a:solidFill>
                <a:latin typeface="Helvetica"/>
              </a:rPr>
              <a:t>Nombre de survivants à l'âge x sur 1 000 000</a:t>
            </a:r>
          </a:p>
        </p:txBody>
      </p:sp>
      <p:sp>
        <p:nvSpPr>
          <p:cNvPr id="38" name="Rounded Rectangle 37"/>
          <p:cNvSpPr/>
          <p:nvPr/>
        </p:nvSpPr>
        <p:spPr>
          <a:xfrm>
            <a:off x="9000000" y="2844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Lue dans la table</a:t>
            </a:r>
          </a:p>
        </p:txBody>
      </p:sp>
      <p:sp>
        <p:nvSpPr>
          <p:cNvPr id="39" name="Rounded Rectangle 38"/>
          <p:cNvSpPr/>
          <p:nvPr/>
        </p:nvSpPr>
        <p:spPr>
          <a:xfrm>
            <a:off x="503999" y="4176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Usage</a:t>
            </a:r>
          </a:p>
        </p:txBody>
      </p:sp>
      <p:sp>
        <p:nvSpPr>
          <p:cNvPr id="40" name="Rectangle 39"/>
          <p:cNvSpPr/>
          <p:nvPr/>
        </p:nvSpPr>
        <p:spPr>
          <a:xfrm>
            <a:off x="2988000" y="4176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096000" y="4266000"/>
            <a:ext cx="5688000" cy="936000"/>
          </a:xfrm>
          <a:prstGeom prst="rect">
            <a:avLst/>
          </a:prstGeom>
          <a:noFill/>
        </p:spPr>
        <p:txBody>
          <a:bodyPr wrap="square" anchor="ctr" lIns="54000" rIns="54000"/>
          <a:lstStyle/>
          <a:p>
            <a:pPr algn="l"/>
            <a:r>
              <a:rPr sz="1400" b="0">
                <a:solidFill>
                  <a:srgbClr val="060606"/>
                </a:solidFill>
                <a:latin typeface="Helvetica"/>
              </a:rPr>
              <a:t>Comparer la mortalité observée. Évaluer les engagements viagers</a:t>
            </a:r>
          </a:p>
        </p:txBody>
      </p:sp>
      <p:sp>
        <p:nvSpPr>
          <p:cNvPr id="42" name="Rounded Rectangle 41"/>
          <p:cNvSpPr/>
          <p:nvPr/>
        </p:nvSpPr>
        <p:spPr>
          <a:xfrm>
            <a:off x="9000000" y="4176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En attente des dates de naissance</a:t>
            </a:r>
          </a:p>
        </p:txBody>
      </p:sp>
    </p:spTree>
    <p:extLst>
      <p:ext uri="{BB962C8B-B14F-4D97-AF65-F5344CB8AC3E}">
        <p14:creationId xmlns:p14="http://schemas.microsoft.com/office/powerpoint/2010/main" val="3571102337"/>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des tables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principe de prudence fixe la table selon le risque porté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CIMA H pour le risque décès, CIMA F pour le risque de survie, TD et TV en comparaison historique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12 : Tables de mortalité CIMA et usage retenu</a:t>
            </a:r>
          </a:p>
        </p:txBody>
      </p:sp>
      <p:graphicFrame>
        <p:nvGraphicFramePr>
          <p:cNvPr id="32" name="Table 31"/>
          <p:cNvGraphicFramePr>
            <a:graphicFrameLocks noGrp="1"/>
          </p:cNvGraphicFramePr>
          <p:nvPr/>
        </p:nvGraphicFramePr>
        <p:xfrm>
          <a:off x="503999" y="1655999"/>
          <a:ext cx="11232000" cy="1620000"/>
        </p:xfrm>
        <a:graphic>
          <a:graphicData uri="http://schemas.openxmlformats.org/drawingml/2006/table">
            <a:tbl>
              <a:tblPr firstRow="0" bandRow="0">
                <a:tableStyleId>{5940675A-B579-460E-94D1-54222C63F5DA}</a:tableStyleId>
              </a:tblPr>
              <a:tblGrid>
                <a:gridCol w="1368000"/>
                <a:gridCol w="2160000"/>
                <a:gridCol w="2664000"/>
                <a:gridCol w="5040000"/>
              </a:tblGrid>
              <a:tr h="324000">
                <a:tc>
                  <a:txBody>
                    <a:bodyPr/>
                    <a:lstStyle/>
                    <a:p>
                      <a:pPr marL="0" indent="0" lvl="0">
                        <a:buNone/>
                      </a:pPr>
                      <a:r>
                        <a:rPr sz="1200" b="1">
                          <a:solidFill>
                            <a:srgbClr val="FFFFFF"/>
                          </a:solidFill>
                          <a:latin typeface="Helvetica"/>
                        </a:rPr>
                        <a:t>Table</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Feuille du fichier</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Risque</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Usage dans la mission</a:t>
                      </a:r>
                    </a:p>
                  </a:txBody>
                  <a:tcPr marL="43200" marR="43200" marT="14400" marB="14400" anchor="ctr">
                    <a:solidFill>
                      <a:srgbClr val="060606"/>
                    </a:solidFill>
                  </a:tcPr>
                </a:tc>
              </a:tr>
              <a:tr h="324000">
                <a:tc>
                  <a:txBody>
                    <a:bodyPr/>
                    <a:lstStyle/>
                    <a:p>
                      <a:pPr marL="0" indent="0" lvl="0">
                        <a:buNone/>
                      </a:pPr>
                      <a:r>
                        <a:rPr sz="1200" b="1">
                          <a:solidFill>
                            <a:srgbClr val="060606"/>
                          </a:solidFill>
                          <a:latin typeface="Helvetica"/>
                        </a:rPr>
                        <a:t>CIMA H</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CIMA_H (décès)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Décès (paiement au décès)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Calibrage de la cotisation décès. Comparaison à la mortalité observée</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CIMA F</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CIMA_F (vie)</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Survie (paiement tant que la personne vit)</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Engagements viagers : prise en charge des retraités, rentes</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TD CIMA</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TD_CIMA (décès)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Décès (ancienne table)</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Comparaison historique</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TV CIMA</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TV_CIMA (vie)</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Survie (ancienne table)</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Comparaison historique</a:t>
                      </a:r>
                    </a:p>
                  </a:txBody>
                  <a:tcPr marL="43200" marR="43200" marT="14400" marB="14400" anchor="ctr">
                    <a:solidFill>
                      <a:srgbClr val="F2F2F2"/>
                    </a:solidFill>
                  </a:tcPr>
                </a:tc>
              </a:tr>
            </a:tbl>
          </a:graphicData>
        </a:graphic>
      </p:graphicFrame>
    </p:spTree>
    <p:extLst>
      <p:ext uri="{BB962C8B-B14F-4D97-AF65-F5344CB8AC3E}">
        <p14:creationId xmlns:p14="http://schemas.microsoft.com/office/powerpoint/2010/main" val="1082336130"/>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Courbes de survie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de survie prévoient des vies plus longues que les tables de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Survivants à 60 ans sur 100 naissances : 81,51 (CIMA H), 89,58 (CIMA F)</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30 : Survivants pour 100 naissances, par âge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des naissances</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Espérance de vie à la naissance : 73,50 ans (CIMA H), 81,64 ans (CIMA F).</a:t>
            </a:r>
          </a:p>
          <a:p>
            <a:pPr algn="just">
              <a:spcAft>
                <a:spcPts val="800"/>
              </a:spcAft>
            </a:pPr>
            <a:r>
              <a:rPr sz="1400" b="1">
                <a:solidFill>
                  <a:srgbClr val="060606"/>
                </a:solidFill>
                <a:latin typeface="Helvetica"/>
              </a:rPr>
              <a:t>Les anciennes tables prévoient davantage de décès</a:t>
            </a:r>
            <a:r>
              <a:rPr sz="1400" b="0">
                <a:solidFill>
                  <a:srgbClr val="060606"/>
                </a:solidFill>
                <a:latin typeface="Helvetica"/>
              </a:rPr>
              <a:t> : 67,51 ans (TD), 74,56 ans (TV).</a:t>
            </a:r>
          </a:p>
          <a:p>
            <a:pPr algn="just">
              <a:spcAft>
                <a:spcPts val="800"/>
              </a:spcAft>
            </a:pPr>
            <a:r>
              <a:rPr sz="1400" b="1">
                <a:solidFill>
                  <a:srgbClr val="060606"/>
                </a:solidFill>
                <a:latin typeface="Helvetica"/>
              </a:rPr>
              <a:t>Le choix de la table change donc fortement les montants calculés.</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Tree>
    <p:extLst>
      <p:ext uri="{BB962C8B-B14F-4D97-AF65-F5344CB8AC3E}">
        <p14:creationId xmlns:p14="http://schemas.microsoft.com/office/powerpoint/2010/main" val="747922192"/>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Probabilités de décès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probabilité de décès double environ tous les dix ans aux âges actifs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Probabilité de décès à 40 ans : 3,50 pour mille (CIMA H), 1,89 pour mille (CIMA F)</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31 : Probabilité de décès dans l'année (qx), par âge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pour mille</a:t>
            </a:r>
          </a:p>
        </p:txBody>
      </p:sp>
      <p:graphicFrame>
        <p:nvGraphicFramePr>
          <p:cNvPr id="32" name="Chart 31"/>
          <p:cNvGraphicFramePr>
            <a:graphicFrameLocks noGrp="1"/>
          </p:cNvGraphicFramePr>
          <p:nvPr/>
        </p:nvGraphicFramePr>
        <p:xfrm>
          <a:off x="503999" y="1782000"/>
          <a:ext cx="6552000" cy="4284000"/>
        </p:xfrm>
        <a:graphic>
          <a:graphicData uri="http://schemas.openxmlformats.org/drawingml/2006/chart">
            <c:chart xmlns:c="http://schemas.openxmlformats.org/drawingml/2006/chart" r:id="rId6"/>
          </a:graphicData>
        </a:graphic>
      </p:graphicFrame>
      <p:sp>
        <p:nvSpPr>
          <p:cNvPr id="33" name="TextBox 32"/>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À 55 ans : 9,38 pour mille (CIMA H) et 5,09 pour mille (CIMA F).</a:t>
            </a:r>
          </a:p>
          <a:p>
            <a:pPr algn="just">
              <a:spcAft>
                <a:spcPts val="800"/>
              </a:spcAft>
            </a:pPr>
            <a:r>
              <a:rPr sz="1400" b="1">
                <a:solidFill>
                  <a:srgbClr val="060606"/>
                </a:solidFill>
                <a:latin typeface="Helvetica"/>
              </a:rPr>
              <a:t>Entre 20 et 60 ans, CIMA H prévoit 18,77 % de décès de moins que TD</a:t>
            </a:r>
            <a:r>
              <a:rPr sz="1400" b="0">
                <a:solidFill>
                  <a:srgbClr val="060606"/>
                </a:solidFill>
                <a:latin typeface="Helvetica"/>
              </a:rPr>
              <a:t>, et CIMA F 9,06 % de moins que TV.</a:t>
            </a:r>
          </a:p>
          <a:p>
            <a:pPr algn="just">
              <a:spcAft>
                <a:spcPts val="800"/>
              </a:spcAft>
            </a:pPr>
            <a:r>
              <a:rPr sz="1400" b="1">
                <a:solidFill>
                  <a:srgbClr val="060606"/>
                </a:solidFill>
                <a:latin typeface="Helvetica"/>
              </a:rPr>
              <a:t>La table ronde CIMA FANAF de 2011 indique 17 % pour CIMA H et environ 4 % pour CIMA F, sur l'ensemble des âges.</a:t>
            </a:r>
          </a:p>
        </p:txBody>
      </p:sp>
      <p:sp>
        <p:nvSpPr>
          <p:cNvPr id="3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Tree>
    <p:extLst>
      <p:ext uri="{BB962C8B-B14F-4D97-AF65-F5344CB8AC3E}">
        <p14:creationId xmlns:p14="http://schemas.microsoft.com/office/powerpoint/2010/main" val="2277051541"/>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Indicateurs de référence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rente viagère vaut entre 12 et 18 années de paiement selon l'âge et la table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Valeur d'une rente de 1 FCFA par an à 60 ans, au taux de 3,5 % : 16,84 (CIMA F), 14,26 (CIMA H)</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1" name="TextBox 30"/>
          <p:cNvSpPr txBox="1"/>
          <p:nvPr/>
        </p:nvSpPr>
        <p:spPr>
          <a:xfrm>
            <a:off x="503999" y="1386000"/>
            <a:ext cx="10800000" cy="216000"/>
          </a:xfrm>
          <a:prstGeom prst="rect">
            <a:avLst/>
          </a:prstGeom>
          <a:noFill/>
        </p:spPr>
        <p:txBody>
          <a:bodyPr wrap="square" anchor="t" lIns="54000" rIns="54000"/>
          <a:lstStyle/>
          <a:p>
            <a:pPr algn="ctr"/>
            <a:r>
              <a:rPr sz="1200" b="0">
                <a:solidFill>
                  <a:srgbClr val="EFAC62"/>
                </a:solidFill>
                <a:latin typeface="Helvetica"/>
              </a:rPr>
              <a:t>Tableau 13 : Espérance de vie et valeur de la rente viagère (taux de 3,5 %)</a:t>
            </a:r>
          </a:p>
        </p:txBody>
      </p:sp>
      <p:graphicFrame>
        <p:nvGraphicFramePr>
          <p:cNvPr id="32" name="Table 31"/>
          <p:cNvGraphicFramePr>
            <a:graphicFrameLocks noGrp="1"/>
          </p:cNvGraphicFramePr>
          <p:nvPr/>
        </p:nvGraphicFramePr>
        <p:xfrm>
          <a:off x="503999" y="1655999"/>
          <a:ext cx="10800000" cy="1620000"/>
        </p:xfrm>
        <a:graphic>
          <a:graphicData uri="http://schemas.openxmlformats.org/drawingml/2006/table">
            <a:tbl>
              <a:tblPr firstRow="0" bandRow="0">
                <a:tableStyleId>{5940675A-B579-460E-94D1-54222C63F5DA}</a:tableStyleId>
              </a:tblPr>
              <a:tblGrid>
                <a:gridCol w="1800000"/>
                <a:gridCol w="1800000"/>
                <a:gridCol w="1800000"/>
                <a:gridCol w="1800000"/>
                <a:gridCol w="1800000"/>
                <a:gridCol w="1800000"/>
              </a:tblGrid>
              <a:tr h="324000">
                <a:tc>
                  <a:txBody>
                    <a:bodyPr/>
                    <a:lstStyle/>
                    <a:p>
                      <a:pPr marL="0" indent="0" lvl="0">
                        <a:buNone/>
                      </a:pPr>
                      <a:r>
                        <a:rPr sz="1200" b="1">
                          <a:solidFill>
                            <a:srgbClr val="FFFFFF"/>
                          </a:solidFill>
                          <a:latin typeface="Helvetica"/>
                        </a:rPr>
                        <a:t>Table</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e55 (ans)</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e60 (ans)</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ä55</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ä60</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ä65</a:t>
                      </a:r>
                    </a:p>
                  </a:txBody>
                  <a:tcPr marL="43200" marR="43200" marT="14400" marB="14400" anchor="ctr">
                    <a:solidFill>
                      <a:srgbClr val="060606"/>
                    </a:solidFill>
                  </a:tcPr>
                </a:tc>
              </a:tr>
              <a:tr h="324000">
                <a:tc>
                  <a:txBody>
                    <a:bodyPr/>
                    <a:lstStyle/>
                    <a:p>
                      <a:pPr marL="0" indent="0" lvl="0">
                        <a:buNone/>
                      </a:pPr>
                      <a:r>
                        <a:rPr sz="1200" b="1">
                          <a:solidFill>
                            <a:srgbClr val="060606"/>
                          </a:solidFill>
                          <a:latin typeface="Helvetica"/>
                        </a:rPr>
                        <a:t>CIMA H</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24,15</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20,34</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15,96</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14,26</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12,52</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CIMA F</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30,23</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26,04</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18,39</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16,84</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15,17</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TD CIMA</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19,36</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15,80</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13,82</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11,98</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10,13</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TV CIMA</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24,04</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19,90</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16,10</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14,20</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12,21</a:t>
                      </a:r>
                    </a:p>
                  </a:txBody>
                  <a:tcPr marL="43200" marR="43200" marT="14400" marB="14400" anchor="ctr">
                    <a:solidFill>
                      <a:srgbClr val="F2F2F2"/>
                    </a:solidFill>
                  </a:tcPr>
                </a:tc>
              </a:tr>
            </a:tbl>
          </a:graphicData>
        </a:graphic>
      </p:graphicFrame>
    </p:spTree>
    <p:extLst>
      <p:ext uri="{BB962C8B-B14F-4D97-AF65-F5344CB8AC3E}">
        <p14:creationId xmlns:p14="http://schemas.microsoft.com/office/powerpoint/2010/main" val="1371032122"/>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tables de mortalité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CIMA sont prêtes. Il manque les dates de naissance pour les appliquer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Choix prudent : CIMA H pour le décès, CIMA F pour la survie</a:t>
            </a:r>
          </a:p>
        </p:txBody>
      </p:sp>
      <p:sp>
        <p:nvSpPr>
          <p:cNvPr id="30" name="Rounded Rectangle 29"/>
          <p:cNvSpPr/>
          <p:nvPr/>
        </p:nvSpPr>
        <p:spPr>
          <a:xfrm>
            <a:off x="503999" y="1548000"/>
            <a:ext cx="3600000" cy="57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Rôle</a:t>
            </a:r>
          </a:p>
        </p:txBody>
      </p:sp>
      <p:sp>
        <p:nvSpPr>
          <p:cNvPr id="31" name="Rounded Rectangle 30"/>
          <p:cNvSpPr/>
          <p:nvPr/>
        </p:nvSpPr>
        <p:spPr>
          <a:xfrm>
            <a:off x="503999" y="2232000"/>
            <a:ext cx="3600000" cy="3528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7999" y="2376000"/>
            <a:ext cx="3311999" cy="3240000"/>
          </a:xfrm>
          <a:prstGeom prst="rect">
            <a:avLst/>
          </a:prstGeom>
          <a:noFill/>
        </p:spPr>
        <p:txBody>
          <a:bodyPr wrap="square" anchor="t" lIns="54000" rIns="54000"/>
          <a:lstStyle/>
          <a:p>
            <a:pPr algn="l"/>
            <a:r>
              <a:rPr sz="1600" b="0">
                <a:solidFill>
                  <a:srgbClr val="060606"/>
                </a:solidFill>
                <a:latin typeface="Helvetica"/>
              </a:rPr>
              <a:t>Mesurer la mortalité des policiers et évaluer les engagements viagers.</a:t>
            </a:r>
          </a:p>
        </p:txBody>
      </p:sp>
      <p:pic>
        <p:nvPicPr>
          <p:cNvPr id="33" name="Picture 32" descr="image.png"/>
          <p:cNvPicPr>
            <a:picLocks noChangeAspect="1"/>
          </p:cNvPicPr>
          <p:nvPr/>
        </p:nvPicPr>
        <p:blipFill>
          <a:blip r:embed="rId6"/>
          <a:stretch>
            <a:fillRect/>
          </a:stretch>
        </p:blipFill>
        <p:spPr>
          <a:xfrm>
            <a:off x="2016000" y="4896000"/>
            <a:ext cx="576000" cy="576000"/>
          </a:xfrm>
          <a:prstGeom prst="rect">
            <a:avLst/>
          </a:prstGeom>
        </p:spPr>
      </p:pic>
      <p:sp>
        <p:nvSpPr>
          <p:cNvPr id="34" name="Rounded Rectangle 33"/>
          <p:cNvSpPr/>
          <p:nvPr/>
        </p:nvSpPr>
        <p:spPr>
          <a:xfrm>
            <a:off x="4320000" y="1548000"/>
            <a:ext cx="3600000" cy="57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Impact du choix</a:t>
            </a:r>
          </a:p>
        </p:txBody>
      </p:sp>
      <p:sp>
        <p:nvSpPr>
          <p:cNvPr id="35" name="Rounded Rectangle 34"/>
          <p:cNvSpPr/>
          <p:nvPr/>
        </p:nvSpPr>
        <p:spPr>
          <a:xfrm>
            <a:off x="4320000" y="2232000"/>
            <a:ext cx="3600000" cy="3528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64000" y="2376000"/>
            <a:ext cx="3311999" cy="3240000"/>
          </a:xfrm>
          <a:prstGeom prst="rect">
            <a:avLst/>
          </a:prstGeom>
          <a:noFill/>
        </p:spPr>
        <p:txBody>
          <a:bodyPr wrap="square" anchor="t" lIns="54000" rIns="54000"/>
          <a:lstStyle/>
          <a:p>
            <a:pPr algn="l"/>
            <a:r>
              <a:rPr sz="1600" b="0">
                <a:solidFill>
                  <a:srgbClr val="060606"/>
                </a:solidFill>
                <a:latin typeface="Helvetica"/>
              </a:rPr>
              <a:t>Une rente à 60 ans vaut 16,84 années de paiement avec CIMA F, 14,26 avec CIMA H.</a:t>
            </a:r>
          </a:p>
        </p:txBody>
      </p:sp>
      <p:pic>
        <p:nvPicPr>
          <p:cNvPr id="37" name="Picture 36" descr="image.png"/>
          <p:cNvPicPr>
            <a:picLocks noChangeAspect="1"/>
          </p:cNvPicPr>
          <p:nvPr/>
        </p:nvPicPr>
        <p:blipFill>
          <a:blip r:embed="rId7"/>
          <a:stretch>
            <a:fillRect/>
          </a:stretch>
        </p:blipFill>
        <p:spPr>
          <a:xfrm>
            <a:off x="5832000" y="4896000"/>
            <a:ext cx="576000" cy="576000"/>
          </a:xfrm>
          <a:prstGeom prst="rect">
            <a:avLst/>
          </a:prstGeom>
        </p:spPr>
      </p:pic>
      <p:sp>
        <p:nvSpPr>
          <p:cNvPr id="38" name="Rounded Rectangle 37"/>
          <p:cNvSpPr/>
          <p:nvPr/>
        </p:nvSpPr>
        <p:spPr>
          <a:xfrm>
            <a:off x="8135999" y="1548000"/>
            <a:ext cx="3600000" cy="57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Condition</a:t>
            </a:r>
          </a:p>
        </p:txBody>
      </p:sp>
      <p:sp>
        <p:nvSpPr>
          <p:cNvPr id="39" name="Rounded Rectangle 38"/>
          <p:cNvSpPr/>
          <p:nvPr/>
        </p:nvSpPr>
        <p:spPr>
          <a:xfrm>
            <a:off x="8135999" y="2232000"/>
            <a:ext cx="3600000" cy="3528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79999" y="2376000"/>
            <a:ext cx="3311999" cy="3240000"/>
          </a:xfrm>
          <a:prstGeom prst="rect">
            <a:avLst/>
          </a:prstGeom>
          <a:noFill/>
        </p:spPr>
        <p:txBody>
          <a:bodyPr wrap="square" anchor="t" lIns="54000" rIns="54000"/>
          <a:lstStyle/>
          <a:p>
            <a:pPr algn="l"/>
            <a:r>
              <a:rPr sz="1600" b="0">
                <a:solidFill>
                  <a:srgbClr val="060606"/>
                </a:solidFill>
                <a:latin typeface="Helvetica"/>
              </a:rPr>
              <a:t>Fichier des mutualistes avec date de naissance et sexe (PBC, item 9) et base des décès (item 28).</a:t>
            </a:r>
          </a:p>
        </p:txBody>
      </p:sp>
      <p:pic>
        <p:nvPicPr>
          <p:cNvPr id="41" name="Picture 40" descr="image.png"/>
          <p:cNvPicPr>
            <a:picLocks noChangeAspect="1"/>
          </p:cNvPicPr>
          <p:nvPr/>
        </p:nvPicPr>
        <p:blipFill>
          <a:blip r:embed="rId8"/>
          <a:stretch>
            <a:fillRect/>
          </a:stretch>
        </p:blipFill>
        <p:spPr>
          <a:xfrm>
            <a:off x="9647999" y="4896000"/>
            <a:ext cx="576000" cy="576000"/>
          </a:xfrm>
          <a:prstGeom prst="rect">
            <a:avLst/>
          </a:prstGeom>
        </p:spPr>
      </p:pic>
    </p:spTree>
    <p:extLst>
      <p:ext uri="{BB962C8B-B14F-4D97-AF65-F5344CB8AC3E}">
        <p14:creationId xmlns:p14="http://schemas.microsoft.com/office/powerpoint/2010/main" val="193071005"/>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11</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Méthodes actuarielles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À venir : provisions, mortalité, ratios, projection</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91313078"/>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 méthode PSAP</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pour sinistres à payer additionne dossiers connus et sinistres non déclarés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PSAP = dossiers déclarés non payés + sinistres survenus non encore déclarés (IBNR)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31" name="Rounded Rectangle 30"/>
          <p:cNvSpPr/>
          <p:nvPr/>
        </p:nvSpPr>
        <p:spPr>
          <a:xfrm>
            <a:off x="503999" y="1512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Dossiers connus</a:t>
            </a:r>
          </a:p>
        </p:txBody>
      </p:sp>
      <p:sp>
        <p:nvSpPr>
          <p:cNvPr id="32" name="Rectangle 31"/>
          <p:cNvSpPr/>
          <p:nvPr/>
        </p:nvSpPr>
        <p:spPr>
          <a:xfrm>
            <a:off x="2988000" y="1512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96000" y="1602000"/>
            <a:ext cx="5688000" cy="936000"/>
          </a:xfrm>
          <a:prstGeom prst="rect">
            <a:avLst/>
          </a:prstGeom>
          <a:noFill/>
        </p:spPr>
        <p:txBody>
          <a:bodyPr wrap="square" anchor="ctr" lIns="54000" rIns="54000"/>
          <a:lstStyle/>
          <a:p>
            <a:pPr algn="l"/>
            <a:r>
              <a:rPr sz="1400" b="0">
                <a:solidFill>
                  <a:srgbClr val="060606"/>
                </a:solidFill>
                <a:latin typeface="Helvetica"/>
              </a:rPr>
              <a:t>Somme des montants dus des dossiers déclarés non payés</a:t>
            </a:r>
          </a:p>
        </p:txBody>
      </p:sp>
      <p:sp>
        <p:nvSpPr>
          <p:cNvPr id="34" name="Rounded Rectangle 33"/>
          <p:cNvSpPr/>
          <p:nvPr/>
        </p:nvSpPr>
        <p:spPr>
          <a:xfrm>
            <a:off x="9000000" y="1512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PBC 14, 29</a:t>
            </a:r>
          </a:p>
        </p:txBody>
      </p:sp>
      <p:sp>
        <p:nvSpPr>
          <p:cNvPr id="35" name="Rounded Rectangle 34"/>
          <p:cNvSpPr/>
          <p:nvPr/>
        </p:nvSpPr>
        <p:spPr>
          <a:xfrm>
            <a:off x="503999" y="2844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Tardifs (IBNR)</a:t>
            </a:r>
          </a:p>
        </p:txBody>
      </p:sp>
      <p:sp>
        <p:nvSpPr>
          <p:cNvPr id="36" name="Rectangle 35"/>
          <p:cNvSpPr/>
          <p:nvPr/>
        </p:nvSpPr>
        <p:spPr>
          <a:xfrm>
            <a:off x="2988000" y="2844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96000" y="2934000"/>
            <a:ext cx="5688000" cy="936000"/>
          </a:xfrm>
          <a:prstGeom prst="rect">
            <a:avLst/>
          </a:prstGeom>
          <a:noFill/>
        </p:spPr>
        <p:txBody>
          <a:bodyPr wrap="square" anchor="ctr" lIns="54000" rIns="54000"/>
          <a:lstStyle/>
          <a:p>
            <a:pPr algn="l"/>
            <a:r>
              <a:rPr sz="1400" b="0">
                <a:solidFill>
                  <a:srgbClr val="060606"/>
                </a:solidFill>
                <a:latin typeface="Helvetica"/>
              </a:rPr>
              <a:t>Estimés par Chain Ladder sur les délais passés</a:t>
            </a:r>
          </a:p>
        </p:txBody>
      </p:sp>
      <p:sp>
        <p:nvSpPr>
          <p:cNvPr id="38" name="Rounded Rectangle 37"/>
          <p:cNvSpPr/>
          <p:nvPr/>
        </p:nvSpPr>
        <p:spPr>
          <a:xfrm>
            <a:off x="9000000" y="2844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PBC 13, 28, 40</a:t>
            </a:r>
          </a:p>
        </p:txBody>
      </p:sp>
      <p:sp>
        <p:nvSpPr>
          <p:cNvPr id="39" name="Rounded Rectangle 38"/>
          <p:cNvSpPr/>
          <p:nvPr/>
        </p:nvSpPr>
        <p:spPr>
          <a:xfrm>
            <a:off x="503999" y="4176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PSAP</a:t>
            </a:r>
          </a:p>
        </p:txBody>
      </p:sp>
      <p:sp>
        <p:nvSpPr>
          <p:cNvPr id="40" name="Rectangle 39"/>
          <p:cNvSpPr/>
          <p:nvPr/>
        </p:nvSpPr>
        <p:spPr>
          <a:xfrm>
            <a:off x="2988000" y="4176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096000" y="4266000"/>
            <a:ext cx="5688000" cy="936000"/>
          </a:xfrm>
          <a:prstGeom prst="rect">
            <a:avLst/>
          </a:prstGeom>
          <a:noFill/>
        </p:spPr>
        <p:txBody>
          <a:bodyPr wrap="square" anchor="ctr" lIns="54000" rIns="54000"/>
          <a:lstStyle/>
          <a:p>
            <a:pPr algn="l"/>
            <a:r>
              <a:rPr sz="1400" b="0">
                <a:solidFill>
                  <a:srgbClr val="060606"/>
                </a:solidFill>
                <a:latin typeface="Helvetica"/>
              </a:rPr>
              <a:t>Dossiers connus + tardifs, par garantie et par clôture</a:t>
            </a:r>
          </a:p>
        </p:txBody>
      </p:sp>
      <p:sp>
        <p:nvSpPr>
          <p:cNvPr id="42" name="Rounded Rectangle 41"/>
          <p:cNvSpPr/>
          <p:nvPr/>
        </p:nvSpPr>
        <p:spPr>
          <a:xfrm>
            <a:off x="9000000" y="4176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À comparer aux provisions au bilan</a:t>
            </a:r>
          </a:p>
        </p:txBody>
      </p:sp>
      <p:sp>
        <p:nvSpPr>
          <p:cNvPr id="43" name="Rounded Rectangle 42"/>
          <p:cNvSpPr/>
          <p:nvPr/>
        </p:nvSpPr>
        <p:spPr>
          <a:xfrm>
            <a:off x="503999" y="5562000"/>
            <a:ext cx="11232000" cy="450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Travail en attente des données : voir la liste des données manquantes (PBC pointée et partie 13)</a:t>
            </a:r>
          </a:p>
        </p:txBody>
      </p:sp>
    </p:spTree>
    <p:extLst>
      <p:ext uri="{BB962C8B-B14F-4D97-AF65-F5344CB8AC3E}">
        <p14:creationId xmlns:p14="http://schemas.microsoft.com/office/powerpoint/2010/main" val="1222265253"/>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Chain Ladder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triangle des paiements révèle le rythme de règlement des sinistres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ligne est une année de survenance, chaque colonne une année de développement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(méthode actuarielle standard)</a:t>
            </a:r>
          </a:p>
        </p:txBody>
      </p:sp>
      <p:graphicFrame>
        <p:nvGraphicFramePr>
          <p:cNvPr id="31" name="Table 30"/>
          <p:cNvGraphicFramePr>
            <a:graphicFrameLocks noGrp="1"/>
          </p:cNvGraphicFramePr>
          <p:nvPr/>
        </p:nvGraphicFramePr>
        <p:xfrm>
          <a:off x="503999" y="1548000"/>
          <a:ext cx="6839999" cy="2160000"/>
        </p:xfrm>
        <a:graphic>
          <a:graphicData uri="http://schemas.openxmlformats.org/drawingml/2006/table">
            <a:tbl>
              <a:tblPr firstRow="0" bandRow="0">
                <a:tableStyleId>{5940675A-B579-460E-94D1-54222C63F5DA}</a:tableStyleId>
              </a:tblPr>
              <a:tblGrid>
                <a:gridCol w="1655999"/>
                <a:gridCol w="1296000"/>
                <a:gridCol w="1296000"/>
                <a:gridCol w="1296000"/>
                <a:gridCol w="1296000"/>
              </a:tblGrid>
              <a:tr h="432000">
                <a:tc>
                  <a:txBody>
                    <a:bodyPr/>
                    <a:lstStyle/>
                    <a:p>
                      <a:pPr marL="0" indent="0" lvl="0">
                        <a:buNone/>
                      </a:pPr>
                      <a:r>
                        <a:rPr sz="1400" b="1">
                          <a:solidFill>
                            <a:srgbClr val="FFFFFF"/>
                          </a:solidFill>
                          <a:latin typeface="Helvetica"/>
                        </a:rPr>
                        <a:t>Survenance</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1</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2</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3</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4</a:t>
                      </a:r>
                    </a:p>
                  </a:txBody>
                  <a:tcPr marL="43200" marR="43200" marT="14400" marB="14400" anchor="ctr">
                    <a:solidFill>
                      <a:srgbClr val="060606"/>
                    </a:solidFill>
                  </a:tcPr>
                </a:tc>
              </a:tr>
              <a:tr h="432000">
                <a:tc>
                  <a:txBody>
                    <a:bodyPr/>
                    <a:lstStyle/>
                    <a:p>
                      <a:pPr marL="0" indent="0" lvl="0">
                        <a:buNone/>
                      </a:pPr>
                      <a:r>
                        <a:rPr sz="1400" b="1">
                          <a:solidFill>
                            <a:srgbClr val="060606"/>
                          </a:solidFill>
                          <a:latin typeface="Helvetica"/>
                        </a:rPr>
                        <a:t>Année n-3</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C(1,2)</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C(1,3)</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C(1,4)</a:t>
                      </a:r>
                    </a:p>
                  </a:txBody>
                  <a:tcPr marL="43200" marR="43200" marT="14400" marB="14400" anchor="ctr">
                    <a:solidFill>
                      <a:srgbClr val="FFFFFF"/>
                    </a:solidFill>
                  </a:tcPr>
                </a:tc>
              </a:tr>
              <a:tr h="432000">
                <a:tc>
                  <a:txBody>
                    <a:bodyPr/>
                    <a:lstStyle/>
                    <a:p>
                      <a:pPr marL="0" indent="0" lvl="0">
                        <a:buNone/>
                      </a:pPr>
                      <a:r>
                        <a:rPr sz="1400" b="1">
                          <a:solidFill>
                            <a:srgbClr val="060606"/>
                          </a:solidFill>
                          <a:latin typeface="Helvetica"/>
                        </a:rPr>
                        <a:t>Année n-2</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C(2,1)</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C(2,2)</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C(2,3)</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r>
              <a:tr h="432000">
                <a:tc>
                  <a:txBody>
                    <a:bodyPr/>
                    <a:lstStyle/>
                    <a:p>
                      <a:pPr marL="0" indent="0" lvl="0">
                        <a:buNone/>
                      </a:pPr>
                      <a:r>
                        <a:rPr sz="1400" b="1">
                          <a:solidFill>
                            <a:srgbClr val="060606"/>
                          </a:solidFill>
                          <a:latin typeface="Helvetica"/>
                        </a:rPr>
                        <a:t>Année n-1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C(3,1)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C(3,2)</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FFFFF"/>
                    </a:solidFill>
                  </a:tcPr>
                </a:tc>
              </a:tr>
              <a:tr h="432000">
                <a:tc>
                  <a:txBody>
                    <a:bodyPr/>
                    <a:lstStyle/>
                    <a:p>
                      <a:pPr marL="0" indent="0" lvl="0">
                        <a:buNone/>
                      </a:pPr>
                      <a:r>
                        <a:rPr sz="1400" b="1">
                          <a:solidFill>
                            <a:srgbClr val="060606"/>
                          </a:solidFill>
                          <a:latin typeface="Helvetica"/>
                        </a:rPr>
                        <a:t>Année n</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C(4,1)</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r>
            </a:tbl>
          </a:graphicData>
        </a:graphic>
      </p:graphicFrame>
      <p:sp>
        <p:nvSpPr>
          <p:cNvPr id="32" name="TextBox 31"/>
          <p:cNvSpPr txBox="1"/>
          <p:nvPr/>
        </p:nvSpPr>
        <p:spPr>
          <a:xfrm>
            <a:off x="503999" y="3816000"/>
            <a:ext cx="6840000" cy="1440000"/>
          </a:xfrm>
          <a:prstGeom prst="rect">
            <a:avLst/>
          </a:prstGeom>
          <a:noFill/>
        </p:spPr>
        <p:txBody>
          <a:bodyPr wrap="square" anchor="t" lIns="54000" rIns="54000"/>
          <a:lstStyle/>
          <a:p>
            <a:pPr algn="l"/>
            <a:r>
              <a:rPr sz="1300" b="0">
                <a:solidFill>
                  <a:srgbClr val="060606"/>
                </a:solidFill>
                <a:latin typeface="Helvetica"/>
              </a:rPr>
              <a:t>C(i, j) : paiements cumulés de l'année de survenance i, au délai j.</a:t>
            </a:r>
          </a:p>
          <a:p>
            <a:pPr algn="l"/>
            <a:r>
              <a:rPr sz="1300" b="0">
                <a:solidFill>
                  <a:srgbClr val="060606"/>
                </a:solidFill>
                <a:latin typeface="Helvetica"/>
              </a:rPr>
              <a:t>« ? » : montants futurs à estimer.</a:t>
            </a:r>
          </a:p>
          <a:p>
            <a:pPr algn="l"/>
            <a:r>
              <a:rPr sz="1300" b="0">
                <a:solidFill>
                  <a:srgbClr val="060606"/>
                </a:solidFill>
                <a:latin typeface="Helvetica"/>
              </a:rPr>
              <a:t>Facteur de développement : f(j) = Σ C(i, j+1) / Σ C(i, j).</a:t>
            </a:r>
          </a:p>
          <a:p>
            <a:pPr algn="l"/>
            <a:r>
              <a:rPr sz="1300" b="0">
                <a:solidFill>
                  <a:srgbClr val="060606"/>
                </a:solidFill>
                <a:latin typeface="Helvetica"/>
              </a:rPr>
              <a:t>Charge ultime = dernier montant connu × produit des facteurs suivants.</a:t>
            </a:r>
          </a:p>
          <a:p>
            <a:pPr algn="l"/>
            <a:r>
              <a:rPr sz="1300" b="0">
                <a:solidFill>
                  <a:srgbClr val="060606"/>
                </a:solidFill>
                <a:latin typeface="Helvetica"/>
              </a:rPr>
              <a:t>Provision = charge ultime - paiements déjà faits.</a:t>
            </a:r>
          </a:p>
        </p:txBody>
      </p:sp>
      <p:sp>
        <p:nvSpPr>
          <p:cNvPr id="33" name="Rounded Rectangle 32"/>
          <p:cNvSpPr/>
          <p:nvPr/>
        </p:nvSpPr>
        <p:spPr>
          <a:xfrm>
            <a:off x="7776000" y="1548000"/>
            <a:ext cx="3960000" cy="1872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060606"/>
                </a:solidFill>
                <a:latin typeface="Helvetica"/>
              </a:rPr>
              <a:t>Hypothèse</a:t>
            </a:r>
          </a:p>
          <a:p>
            <a:pPr algn="ctr"/>
            <a:r>
              <a:rPr sz="1300" b="0">
                <a:solidFill>
                  <a:srgbClr val="060606"/>
                </a:solidFill>
                <a:latin typeface="Helvetica"/>
              </a:rPr>
              <a:t>Le rythme de règlement passé se répète dans le futur.</a:t>
            </a:r>
          </a:p>
        </p:txBody>
      </p:sp>
      <p:sp>
        <p:nvSpPr>
          <p:cNvPr id="34" name="Rounded Rectangle 33"/>
          <p:cNvSpPr/>
          <p:nvPr/>
        </p:nvSpPr>
        <p:spPr>
          <a:xfrm>
            <a:off x="7776000" y="3600000"/>
            <a:ext cx="3960000" cy="18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060606"/>
                </a:solidFill>
                <a:latin typeface="Helvetica"/>
              </a:rPr>
              <a:t>Données</a:t>
            </a:r>
          </a:p>
          <a:p>
            <a:pPr algn="ctr"/>
            <a:r>
              <a:rPr sz="1300" b="0">
                <a:solidFill>
                  <a:srgbClr val="060606"/>
                </a:solidFill>
                <a:latin typeface="Helvetica"/>
              </a:rPr>
              <a:t>Paiements par année de survenance et par délai, issus des bases de prestations (PBC 13, 28, 40).</a:t>
            </a:r>
          </a:p>
        </p:txBody>
      </p:sp>
      <p:sp>
        <p:nvSpPr>
          <p:cNvPr id="35" name="Rounded Rectangle 34"/>
          <p:cNvSpPr/>
          <p:nvPr/>
        </p:nvSpPr>
        <p:spPr>
          <a:xfrm>
            <a:off x="503999" y="5562000"/>
            <a:ext cx="11232000" cy="450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Travail en attente des données : voir la liste des données manquantes (PBC pointée et partie 13)</a:t>
            </a:r>
          </a:p>
        </p:txBody>
      </p:sp>
    </p:spTree>
    <p:extLst>
      <p:ext uri="{BB962C8B-B14F-4D97-AF65-F5344CB8AC3E}">
        <p14:creationId xmlns:p14="http://schemas.microsoft.com/office/powerpoint/2010/main" val="2159425604"/>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Mortalité observée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rapport décès observés / décès attendus mesure l'écart à la table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 A/E = décès observés / Σ qx(table) × exposition au risque, par âge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31" name="Rounded Rectangle 30"/>
          <p:cNvSpPr/>
          <p:nvPr/>
        </p:nvSpPr>
        <p:spPr>
          <a:xfrm>
            <a:off x="503999" y="1512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Exposition</a:t>
            </a:r>
          </a:p>
        </p:txBody>
      </p:sp>
      <p:sp>
        <p:nvSpPr>
          <p:cNvPr id="32" name="Rectangle 31"/>
          <p:cNvSpPr/>
          <p:nvPr/>
        </p:nvSpPr>
        <p:spPr>
          <a:xfrm>
            <a:off x="2988000" y="1512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96000" y="1602000"/>
            <a:ext cx="5688000" cy="936000"/>
          </a:xfrm>
          <a:prstGeom prst="rect">
            <a:avLst/>
          </a:prstGeom>
          <a:noFill/>
        </p:spPr>
        <p:txBody>
          <a:bodyPr wrap="square" anchor="ctr" lIns="54000" rIns="54000"/>
          <a:lstStyle/>
          <a:p>
            <a:pPr algn="l"/>
            <a:r>
              <a:rPr sz="1400" b="0">
                <a:solidFill>
                  <a:srgbClr val="060606"/>
                </a:solidFill>
                <a:latin typeface="Helvetica"/>
              </a:rPr>
              <a:t>E_x = années-personnes passées à l'âge x</a:t>
            </a:r>
          </a:p>
        </p:txBody>
      </p:sp>
      <p:sp>
        <p:nvSpPr>
          <p:cNvPr id="34" name="Rounded Rectangle 33"/>
          <p:cNvSpPr/>
          <p:nvPr/>
        </p:nvSpPr>
        <p:spPr>
          <a:xfrm>
            <a:off x="9000000" y="1512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Dates de naissance, entrée, sortie</a:t>
            </a:r>
          </a:p>
        </p:txBody>
      </p:sp>
      <p:sp>
        <p:nvSpPr>
          <p:cNvPr id="35" name="Rounded Rectangle 34"/>
          <p:cNvSpPr/>
          <p:nvPr/>
        </p:nvSpPr>
        <p:spPr>
          <a:xfrm>
            <a:off x="503999" y="2844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Décès attendus</a:t>
            </a:r>
          </a:p>
        </p:txBody>
      </p:sp>
      <p:sp>
        <p:nvSpPr>
          <p:cNvPr id="36" name="Rectangle 35"/>
          <p:cNvSpPr/>
          <p:nvPr/>
        </p:nvSpPr>
        <p:spPr>
          <a:xfrm>
            <a:off x="2988000" y="2844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96000" y="2934000"/>
            <a:ext cx="5688000" cy="936000"/>
          </a:xfrm>
          <a:prstGeom prst="rect">
            <a:avLst/>
          </a:prstGeom>
          <a:noFill/>
        </p:spPr>
        <p:txBody>
          <a:bodyPr wrap="square" anchor="ctr" lIns="54000" rIns="54000"/>
          <a:lstStyle/>
          <a:p>
            <a:pPr algn="l"/>
            <a:r>
              <a:rPr sz="1400" b="0">
                <a:solidFill>
                  <a:srgbClr val="060606"/>
                </a:solidFill>
                <a:latin typeface="Helvetica"/>
              </a:rPr>
              <a:t>Σ E_x × qx (CIMA H)</a:t>
            </a:r>
          </a:p>
        </p:txBody>
      </p:sp>
      <p:sp>
        <p:nvSpPr>
          <p:cNvPr id="38" name="Rounded Rectangle 37"/>
          <p:cNvSpPr/>
          <p:nvPr/>
        </p:nvSpPr>
        <p:spPr>
          <a:xfrm>
            <a:off x="9000000" y="2844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Table fournie</a:t>
            </a:r>
          </a:p>
        </p:txBody>
      </p:sp>
      <p:sp>
        <p:nvSpPr>
          <p:cNvPr id="39" name="Rounded Rectangle 38"/>
          <p:cNvSpPr/>
          <p:nvPr/>
        </p:nvSpPr>
        <p:spPr>
          <a:xfrm>
            <a:off x="503999" y="4176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Ratio A/E</a:t>
            </a:r>
          </a:p>
        </p:txBody>
      </p:sp>
      <p:sp>
        <p:nvSpPr>
          <p:cNvPr id="40" name="Rectangle 39"/>
          <p:cNvSpPr/>
          <p:nvPr/>
        </p:nvSpPr>
        <p:spPr>
          <a:xfrm>
            <a:off x="2988000" y="4176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096000" y="4266000"/>
            <a:ext cx="5688000" cy="936000"/>
          </a:xfrm>
          <a:prstGeom prst="rect">
            <a:avLst/>
          </a:prstGeom>
          <a:noFill/>
        </p:spPr>
        <p:txBody>
          <a:bodyPr wrap="square" anchor="ctr" lIns="54000" rIns="54000"/>
          <a:lstStyle/>
          <a:p>
            <a:pPr algn="l"/>
            <a:r>
              <a:rPr sz="1400" b="0">
                <a:solidFill>
                  <a:srgbClr val="060606"/>
                </a:solidFill>
                <a:latin typeface="Helvetica"/>
              </a:rPr>
              <a:t>Décès observés / décès attendus, avec IC de Poisson</a:t>
            </a:r>
          </a:p>
        </p:txBody>
      </p:sp>
      <p:sp>
        <p:nvSpPr>
          <p:cNvPr id="42" name="Rounded Rectangle 41"/>
          <p:cNvSpPr/>
          <p:nvPr/>
        </p:nvSpPr>
        <p:spPr>
          <a:xfrm>
            <a:off x="9000000" y="4176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Base des décès (PBC 28)</a:t>
            </a:r>
          </a:p>
        </p:txBody>
      </p:sp>
      <p:sp>
        <p:nvSpPr>
          <p:cNvPr id="43" name="Rounded Rectangle 42"/>
          <p:cNvSpPr/>
          <p:nvPr/>
        </p:nvSpPr>
        <p:spPr>
          <a:xfrm>
            <a:off x="503999" y="5562000"/>
            <a:ext cx="11232000" cy="450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Travail en attente des données : voir la liste des données manquantes (PBC pointée et partie 13)</a:t>
            </a:r>
          </a:p>
        </p:txBody>
      </p:sp>
    </p:spTree>
    <p:extLst>
      <p:ext uri="{BB962C8B-B14F-4D97-AF65-F5344CB8AC3E}">
        <p14:creationId xmlns:p14="http://schemas.microsoft.com/office/powerpoint/2010/main" val="875709512"/>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Ratios AIRMS et solvabilité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ratios réglementaires comparent réserves, engagements et placements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seuils seront relevés dans le texte intégral du règlement n° 07/2009/CM/UEMOA avant tout calcul</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n° 07/2009/CM/UEMOA (texte intégral à exploiter)</a:t>
            </a:r>
          </a:p>
        </p:txBody>
      </p:sp>
      <p:sp>
        <p:nvSpPr>
          <p:cNvPr id="31" name="Rounded Rectangle 30"/>
          <p:cNvSpPr/>
          <p:nvPr/>
        </p:nvSpPr>
        <p:spPr>
          <a:xfrm>
            <a:off x="503999" y="1512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Couverture des engagements</a:t>
            </a:r>
          </a:p>
        </p:txBody>
      </p:sp>
      <p:sp>
        <p:nvSpPr>
          <p:cNvPr id="32" name="Rectangle 31"/>
          <p:cNvSpPr/>
          <p:nvPr/>
        </p:nvSpPr>
        <p:spPr>
          <a:xfrm>
            <a:off x="2988000" y="1512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96000" y="1602000"/>
            <a:ext cx="5688000" cy="936000"/>
          </a:xfrm>
          <a:prstGeom prst="rect">
            <a:avLst/>
          </a:prstGeom>
          <a:noFill/>
        </p:spPr>
        <p:txBody>
          <a:bodyPr wrap="square" anchor="ctr" lIns="54000" rIns="54000"/>
          <a:lstStyle/>
          <a:p>
            <a:pPr algn="l"/>
            <a:r>
              <a:rPr sz="1400" b="0">
                <a:solidFill>
                  <a:srgbClr val="060606"/>
                </a:solidFill>
                <a:latin typeface="Helvetica"/>
              </a:rPr>
              <a:t>Actifs admis / (provisions + épargne)</a:t>
            </a:r>
          </a:p>
        </p:txBody>
      </p:sp>
      <p:sp>
        <p:nvSpPr>
          <p:cNvPr id="34" name="Rounded Rectangle 33"/>
          <p:cNvSpPr/>
          <p:nvPr/>
        </p:nvSpPr>
        <p:spPr>
          <a:xfrm>
            <a:off x="9000000" y="1512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Seuil à relever</a:t>
            </a:r>
          </a:p>
        </p:txBody>
      </p:sp>
      <p:sp>
        <p:nvSpPr>
          <p:cNvPr id="35" name="Rounded Rectangle 34"/>
          <p:cNvSpPr/>
          <p:nvPr/>
        </p:nvSpPr>
        <p:spPr>
          <a:xfrm>
            <a:off x="503999" y="2844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Réserves</a:t>
            </a:r>
          </a:p>
        </p:txBody>
      </p:sp>
      <p:sp>
        <p:nvSpPr>
          <p:cNvPr id="36" name="Rectangle 35"/>
          <p:cNvSpPr/>
          <p:nvPr/>
        </p:nvSpPr>
        <p:spPr>
          <a:xfrm>
            <a:off x="2988000" y="2844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96000" y="2934000"/>
            <a:ext cx="5688000" cy="936000"/>
          </a:xfrm>
          <a:prstGeom prst="rect">
            <a:avLst/>
          </a:prstGeom>
          <a:noFill/>
        </p:spPr>
        <p:txBody>
          <a:bodyPr wrap="square" anchor="ctr" lIns="54000" rIns="54000"/>
          <a:lstStyle/>
          <a:p>
            <a:pPr algn="l"/>
            <a:r>
              <a:rPr sz="1400" b="0">
                <a:solidFill>
                  <a:srgbClr val="060606"/>
                </a:solidFill>
                <a:latin typeface="Helvetica"/>
              </a:rPr>
              <a:t>Fonds propres / cotisations ou engagements</a:t>
            </a:r>
          </a:p>
        </p:txBody>
      </p:sp>
      <p:sp>
        <p:nvSpPr>
          <p:cNvPr id="38" name="Rounded Rectangle 37"/>
          <p:cNvSpPr/>
          <p:nvPr/>
        </p:nvSpPr>
        <p:spPr>
          <a:xfrm>
            <a:off x="9000000" y="2844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Seuil à relever</a:t>
            </a:r>
          </a:p>
        </p:txBody>
      </p:sp>
      <p:sp>
        <p:nvSpPr>
          <p:cNvPr id="39" name="Rounded Rectangle 38"/>
          <p:cNvSpPr/>
          <p:nvPr/>
        </p:nvSpPr>
        <p:spPr>
          <a:xfrm>
            <a:off x="503999" y="4176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Frais de gestion</a:t>
            </a:r>
          </a:p>
        </p:txBody>
      </p:sp>
      <p:sp>
        <p:nvSpPr>
          <p:cNvPr id="40" name="Rectangle 39"/>
          <p:cNvSpPr/>
          <p:nvPr/>
        </p:nvSpPr>
        <p:spPr>
          <a:xfrm>
            <a:off x="2988000" y="4176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096000" y="4266000"/>
            <a:ext cx="5688000" cy="936000"/>
          </a:xfrm>
          <a:prstGeom prst="rect">
            <a:avLst/>
          </a:prstGeom>
          <a:noFill/>
        </p:spPr>
        <p:txBody>
          <a:bodyPr wrap="square" anchor="ctr" lIns="54000" rIns="54000"/>
          <a:lstStyle/>
          <a:p>
            <a:pPr algn="l"/>
            <a:r>
              <a:rPr sz="1400" b="0">
                <a:solidFill>
                  <a:srgbClr val="060606"/>
                </a:solidFill>
                <a:latin typeface="Helvetica"/>
              </a:rPr>
              <a:t>Frais / cotisations</a:t>
            </a:r>
          </a:p>
        </p:txBody>
      </p:sp>
      <p:sp>
        <p:nvSpPr>
          <p:cNvPr id="42" name="Rounded Rectangle 41"/>
          <p:cNvSpPr/>
          <p:nvPr/>
        </p:nvSpPr>
        <p:spPr>
          <a:xfrm>
            <a:off x="9000000" y="4176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Seuil à relever</a:t>
            </a:r>
          </a:p>
        </p:txBody>
      </p:sp>
      <p:sp>
        <p:nvSpPr>
          <p:cNvPr id="43" name="Rounded Rectangle 42"/>
          <p:cNvSpPr/>
          <p:nvPr/>
        </p:nvSpPr>
        <p:spPr>
          <a:xfrm>
            <a:off x="503999" y="5562000"/>
            <a:ext cx="11232000" cy="450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Travail en attente des données : voir la liste des données manquantes (PBC pointée et partie 13)</a:t>
            </a:r>
          </a:p>
        </p:txBody>
      </p:sp>
    </p:spTree>
    <p:extLst>
      <p:ext uri="{BB962C8B-B14F-4D97-AF65-F5344CB8AC3E}">
        <p14:creationId xmlns:p14="http://schemas.microsoft.com/office/powerpoint/2010/main" val="3722988995"/>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Projection de l'équilibre technique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projection teste si les cotisations futures couvriront les prestations futures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Population, salaires, consommation de soins et décès sont projetés année par année sur 5 à 10 ans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31" name="Rounded Rectangle 30"/>
          <p:cNvSpPr/>
          <p:nvPr/>
        </p:nvSpPr>
        <p:spPr>
          <a:xfrm>
            <a:off x="503999" y="1512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Population</a:t>
            </a:r>
          </a:p>
        </p:txBody>
      </p:sp>
      <p:sp>
        <p:nvSpPr>
          <p:cNvPr id="32" name="Rectangle 31"/>
          <p:cNvSpPr/>
          <p:nvPr/>
        </p:nvSpPr>
        <p:spPr>
          <a:xfrm>
            <a:off x="2988000" y="1512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96000" y="1602000"/>
            <a:ext cx="5688000" cy="936000"/>
          </a:xfrm>
          <a:prstGeom prst="rect">
            <a:avLst/>
          </a:prstGeom>
          <a:noFill/>
        </p:spPr>
        <p:txBody>
          <a:bodyPr wrap="square" anchor="ctr" lIns="54000" rIns="54000"/>
          <a:lstStyle/>
          <a:p>
            <a:pPr algn="l"/>
            <a:r>
              <a:rPr sz="1400" b="0">
                <a:solidFill>
                  <a:srgbClr val="060606"/>
                </a:solidFill>
                <a:latin typeface="Helvetica"/>
              </a:rPr>
              <a:t>N(x+1, t+1) = N(x, t) × (1 - qx - taux de sortie) + entrées</a:t>
            </a:r>
          </a:p>
        </p:txBody>
      </p:sp>
      <p:sp>
        <p:nvSpPr>
          <p:cNvPr id="34" name="Rounded Rectangle 33"/>
          <p:cNvSpPr/>
          <p:nvPr/>
        </p:nvSpPr>
        <p:spPr>
          <a:xfrm>
            <a:off x="9000000" y="1512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Âges, motifs de sortie</a:t>
            </a:r>
          </a:p>
        </p:txBody>
      </p:sp>
      <p:sp>
        <p:nvSpPr>
          <p:cNvPr id="35" name="Rounded Rectangle 34"/>
          <p:cNvSpPr/>
          <p:nvPr/>
        </p:nvSpPr>
        <p:spPr>
          <a:xfrm>
            <a:off x="503999" y="2844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Cotisations</a:t>
            </a:r>
          </a:p>
        </p:txBody>
      </p:sp>
      <p:sp>
        <p:nvSpPr>
          <p:cNvPr id="36" name="Rectangle 35"/>
          <p:cNvSpPr/>
          <p:nvPr/>
        </p:nvSpPr>
        <p:spPr>
          <a:xfrm>
            <a:off x="2988000" y="2844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96000" y="2934000"/>
            <a:ext cx="5688000" cy="936000"/>
          </a:xfrm>
          <a:prstGeom prst="rect">
            <a:avLst/>
          </a:prstGeom>
          <a:noFill/>
        </p:spPr>
        <p:txBody>
          <a:bodyPr wrap="square" anchor="ctr" lIns="54000" rIns="54000"/>
          <a:lstStyle/>
          <a:p>
            <a:pPr algn="l"/>
            <a:r>
              <a:rPr sz="1400" b="0">
                <a:solidFill>
                  <a:srgbClr val="060606"/>
                </a:solidFill>
                <a:latin typeface="Helvetica"/>
              </a:rPr>
              <a:t>Σ salaires projetés × 5 %</a:t>
            </a:r>
          </a:p>
        </p:txBody>
      </p:sp>
      <p:sp>
        <p:nvSpPr>
          <p:cNvPr id="38" name="Rounded Rectangle 37"/>
          <p:cNvSpPr/>
          <p:nvPr/>
        </p:nvSpPr>
        <p:spPr>
          <a:xfrm>
            <a:off x="9000000" y="2844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Barème officiel</a:t>
            </a:r>
          </a:p>
        </p:txBody>
      </p:sp>
      <p:sp>
        <p:nvSpPr>
          <p:cNvPr id="39" name="Rounded Rectangle 38"/>
          <p:cNvSpPr/>
          <p:nvPr/>
        </p:nvSpPr>
        <p:spPr>
          <a:xfrm>
            <a:off x="503999" y="4176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Prestations</a:t>
            </a:r>
          </a:p>
        </p:txBody>
      </p:sp>
      <p:sp>
        <p:nvSpPr>
          <p:cNvPr id="40" name="Rectangle 39"/>
          <p:cNvSpPr/>
          <p:nvPr/>
        </p:nvSpPr>
        <p:spPr>
          <a:xfrm>
            <a:off x="2988000" y="4176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096000" y="4266000"/>
            <a:ext cx="5688000" cy="936000"/>
          </a:xfrm>
          <a:prstGeom prst="rect">
            <a:avLst/>
          </a:prstGeom>
          <a:noFill/>
        </p:spPr>
        <p:txBody>
          <a:bodyPr wrap="square" anchor="ctr" lIns="54000" rIns="54000"/>
          <a:lstStyle/>
          <a:p>
            <a:pPr algn="l"/>
            <a:r>
              <a:rPr sz="1400" b="0">
                <a:solidFill>
                  <a:srgbClr val="060606"/>
                </a:solidFill>
                <a:latin typeface="Helvetica"/>
              </a:rPr>
              <a:t>Σ effectifs par âge × coût moyen par âge</a:t>
            </a:r>
          </a:p>
        </p:txBody>
      </p:sp>
      <p:sp>
        <p:nvSpPr>
          <p:cNvPr id="42" name="Rounded Rectangle 41"/>
          <p:cNvSpPr/>
          <p:nvPr/>
        </p:nvSpPr>
        <p:spPr>
          <a:xfrm>
            <a:off x="9000000" y="4176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Base des prestations</a:t>
            </a:r>
          </a:p>
        </p:txBody>
      </p:sp>
      <p:sp>
        <p:nvSpPr>
          <p:cNvPr id="43" name="Rounded Rectangle 42"/>
          <p:cNvSpPr/>
          <p:nvPr/>
        </p:nvSpPr>
        <p:spPr>
          <a:xfrm>
            <a:off x="503999" y="5562000"/>
            <a:ext cx="11232000" cy="450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Travail en attente des données : voir la liste des données manquantes (PBC pointée et partie 13)</a:t>
            </a:r>
          </a:p>
        </p:txBody>
      </p:sp>
    </p:spTree>
    <p:extLst>
      <p:ext uri="{BB962C8B-B14F-4D97-AF65-F5344CB8AC3E}">
        <p14:creationId xmlns:p14="http://schemas.microsoft.com/office/powerpoint/2010/main" val="1804803715"/>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Travaux en attente des données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Ces méthodes seront appliquées dès réception des données listées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Voir la liste des documents demandés (PBC pointée) et la partie 13 du rapport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liste des documents demandés (PBC) pointée au 18/10/2026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14 : Méthodes en attente et données nécessaires</a:t>
            </a:r>
          </a:p>
        </p:txBody>
      </p:sp>
      <p:graphicFrame>
        <p:nvGraphicFramePr>
          <p:cNvPr id="32" name="Table 31"/>
          <p:cNvGraphicFramePr>
            <a:graphicFrameLocks noGrp="1"/>
          </p:cNvGraphicFramePr>
          <p:nvPr/>
        </p:nvGraphicFramePr>
        <p:xfrm>
          <a:off x="503999" y="1655999"/>
          <a:ext cx="11232000" cy="1944000"/>
        </p:xfrm>
        <a:graphic>
          <a:graphicData uri="http://schemas.openxmlformats.org/drawingml/2006/table">
            <a:tbl>
              <a:tblPr firstRow="0" bandRow="0">
                <a:tableStyleId>{5940675A-B579-460E-94D1-54222C63F5DA}</a:tableStyleId>
              </a:tblPr>
              <a:tblGrid>
                <a:gridCol w="2880000"/>
                <a:gridCol w="6480000"/>
                <a:gridCol w="1872000"/>
              </a:tblGrid>
              <a:tr h="324000">
                <a:tc>
                  <a:txBody>
                    <a:bodyPr/>
                    <a:lstStyle/>
                    <a:p>
                      <a:pPr marL="0" indent="0" lvl="0">
                        <a:buNone/>
                      </a:pPr>
                      <a:r>
                        <a:rPr sz="1200" b="1">
                          <a:solidFill>
                            <a:srgbClr val="FFFFFF"/>
                          </a:solidFill>
                          <a:latin typeface="Helvetica"/>
                        </a:rPr>
                        <a:t>Méthode</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Données nécessaires</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PBC</a:t>
                      </a:r>
                    </a:p>
                  </a:txBody>
                  <a:tcPr marL="43200" marR="43200" marT="14400" marB="14400" anchor="ctr">
                    <a:solidFill>
                      <a:srgbClr val="060606"/>
                    </a:solidFill>
                  </a:tcPr>
                </a:tc>
              </a:tr>
              <a:tr h="324000">
                <a:tc>
                  <a:txBody>
                    <a:bodyPr/>
                    <a:lstStyle/>
                    <a:p>
                      <a:pPr marL="0" indent="0" lvl="0">
                        <a:buNone/>
                      </a:pPr>
                      <a:r>
                        <a:rPr sz="1200" b="1">
                          <a:solidFill>
                            <a:srgbClr val="060606"/>
                          </a:solidFill>
                          <a:latin typeface="Helvetica"/>
                        </a:rPr>
                        <a:t>PSAP et Chain Ladder</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Bases des prestations avec dates. Dossiers non payés à chaque clôture</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13, 14, 28, 29, 40</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Mortalité observée (A/E)</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Mutualistes avec date de naissance, sexe, entrée, sortie. Base des décès</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9, 10, 11, 28</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Ratios AIRMS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Texte intégral du règlement UEMOA. Liste des placements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18, 23</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Projection de l'équilibre</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Âges, barèmes, coût des soins par âge, hypothèses de recrutement</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1, 2, 3, 9, 40</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Engagements d'épargne</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Comptes individuels PEP et EFC. Règlement des produits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16, 17, 18, 19</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3758657453"/>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Outils et traçabilité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Chaîne de traitement, extraits de code, contrôle des chiffres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467116511"/>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Environnement de travail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traitements sont écrits en Python et exécutés dans VS Code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Huit scripts conservés, rejouables à chaque nouvel envoi du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dépôt de la mission (dossier scripts)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15 : Scripts de la mission</a:t>
            </a:r>
          </a:p>
        </p:txBody>
      </p:sp>
      <p:graphicFrame>
        <p:nvGraphicFramePr>
          <p:cNvPr id="32" name="Table 31"/>
          <p:cNvGraphicFramePr>
            <a:graphicFrameLocks noGrp="1"/>
          </p:cNvGraphicFramePr>
          <p:nvPr/>
        </p:nvGraphicFramePr>
        <p:xfrm>
          <a:off x="503999" y="1655999"/>
          <a:ext cx="11232000" cy="2592000"/>
        </p:xfrm>
        <a:graphic>
          <a:graphicData uri="http://schemas.openxmlformats.org/drawingml/2006/table">
            <a:tbl>
              <a:tblPr firstRow="0" bandRow="0">
                <a:tableStyleId>{5940675A-B579-460E-94D1-54222C63F5DA}</a:tableStyleId>
              </a:tblPr>
              <a:tblGrid>
                <a:gridCol w="2736000"/>
                <a:gridCol w="4680000"/>
                <a:gridCol w="3816000"/>
              </a:tblGrid>
              <a:tr h="324000">
                <a:tc>
                  <a:txBody>
                    <a:bodyPr/>
                    <a:lstStyle/>
                    <a:p>
                      <a:pPr marL="0" indent="0" lvl="0">
                        <a:buNone/>
                      </a:pPr>
                      <a:r>
                        <a:rPr sz="1200" b="1">
                          <a:solidFill>
                            <a:srgbClr val="FFFFFF"/>
                          </a:solidFill>
                          <a:latin typeface="Helvetica"/>
                        </a:rPr>
                        <a:t>Script</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Rôle</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Contrôle intégré</a:t>
                      </a:r>
                    </a:p>
                  </a:txBody>
                  <a:tcPr marL="43200" marR="43200" marT="14400" marB="14400" anchor="ctr">
                    <a:solidFill>
                      <a:srgbClr val="060606"/>
                    </a:solidFill>
                  </a:tcPr>
                </a:tc>
              </a:tr>
              <a:tr h="324000">
                <a:tc>
                  <a:txBody>
                    <a:bodyPr/>
                    <a:lstStyle/>
                    <a:p>
                      <a:pPr marL="0" indent="0" lvl="0">
                        <a:buNone/>
                      </a:pPr>
                      <a:r>
                        <a:rPr sz="1200" b="1">
                          <a:solidFill>
                            <a:srgbClr val="060606"/>
                          </a:solidFill>
                          <a:latin typeface="Helvetica"/>
                        </a:rPr>
                        <a:t>inventaire_fppn.py</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Inventaire et résumé des 4 287 fichiers reçus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Doublons, fichiers illisibles</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extraction_fppn.py</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Extraction sans perte, archive découpée pour l'envoi</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Empreintes SHA-256, lignes et cellules</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base_fppn.py</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Base d'analyse : lecture par en-tête ou par contenu</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Lignes de total, montants doublés</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grenier_fppn.py</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Lecture des exports du logiciel de prêts</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Totaux imprimés retrouvés</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compta_fppn.py</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Lecture des balances Sage</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Débit = crédit, totaux</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analyses_fppn.py, analyses_complements_fppn.py</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Indicateurs, tests, sensibilités, tables CIMA</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Classeur des calculs</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rapport_v2_fppn.py</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Rapport, graphiques et tableaux natifs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Contrôle automatique des chiffres</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3113986855"/>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reconnaître le vrai format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script lit les premiers octets pour reconnaître le vrai format d'un fichier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C'est ainsi que les 70 fichiers « .xls » du Grenier ont été reconnus comme des pages web lisibles</a:t>
            </a:r>
          </a:p>
        </p:txBody>
      </p:sp>
      <p:sp>
        <p:nvSpPr>
          <p:cNvPr id="30" name="TextBox 29"/>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Un fichier Excel moderne commence par « PK »</a:t>
            </a:r>
            <a:r>
              <a:rPr sz="1400" b="0">
                <a:solidFill>
                  <a:srgbClr val="060606"/>
                </a:solidFill>
                <a:latin typeface="Helvetica"/>
              </a:rPr>
              <a:t>, un ancien par d'autres octets.</a:t>
            </a:r>
          </a:p>
          <a:p>
            <a:pPr algn="just">
              <a:spcAft>
                <a:spcPts val="800"/>
              </a:spcAft>
            </a:pPr>
            <a:r>
              <a:rPr sz="1400" b="1">
                <a:solidFill>
                  <a:srgbClr val="060606"/>
                </a:solidFill>
                <a:latin typeface="Helvetica"/>
              </a:rPr>
              <a:t>Une page web contient « &lt;html » ou « &lt;table ».</a:t>
            </a:r>
          </a:p>
          <a:p>
            <a:pPr algn="just">
              <a:spcAft>
                <a:spcPts val="800"/>
              </a:spcAft>
            </a:pPr>
            <a:r>
              <a:rPr sz="1400" b="1">
                <a:solidFill>
                  <a:srgbClr val="060606"/>
                </a:solidFill>
                <a:latin typeface="Helvetica"/>
              </a:rPr>
              <a:t>Ce test évite de déclarer illisible un fichier simplement mal nommé.</a:t>
            </a:r>
          </a:p>
        </p:txBody>
      </p:sp>
      <p:sp>
        <p:nvSpPr>
          <p:cNvPr id="31"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(extrait mis en forme, pas une capture d'écran)</a:t>
            </a:r>
          </a:p>
        </p:txBody>
      </p:sp>
      <p:pic>
        <p:nvPicPr>
          <p:cNvPr id="32" name="Picture 31" descr="code_extraction.png"/>
          <p:cNvPicPr>
            <a:picLocks noChangeAspect="1"/>
          </p:cNvPicPr>
          <p:nvPr/>
        </p:nvPicPr>
        <p:blipFill>
          <a:blip r:embed="rId6"/>
          <a:stretch>
            <a:fillRect/>
          </a:stretch>
        </p:blipFill>
        <p:spPr>
          <a:xfrm>
            <a:off x="503999" y="1692000"/>
            <a:ext cx="6840000" cy="1928879"/>
          </a:xfrm>
          <a:prstGeom prst="rect">
            <a:avLst/>
          </a:prstGeom>
        </p:spPr>
      </p:pic>
      <p:sp>
        <p:nvSpPr>
          <p:cNvPr id="33" name="TextBox 32"/>
          <p:cNvSpPr txBox="1"/>
          <p:nvPr/>
        </p:nvSpPr>
        <p:spPr>
          <a:xfrm>
            <a:off x="503999" y="1386000"/>
            <a:ext cx="6840000" cy="251999"/>
          </a:xfrm>
          <a:prstGeom prst="rect">
            <a:avLst/>
          </a:prstGeom>
          <a:noFill/>
        </p:spPr>
        <p:txBody>
          <a:bodyPr wrap="square" anchor="t" lIns="54000" rIns="54000"/>
          <a:lstStyle/>
          <a:p>
            <a:pPr algn="ctr"/>
            <a:r>
              <a:rPr sz="1200" b="0">
                <a:solidFill>
                  <a:srgbClr val="EFAC62"/>
                </a:solidFill>
                <a:latin typeface="Helvetica"/>
              </a:rPr>
              <a:t>Figure 32 : Extrait du script, mis en forme comme dans VS Code (reconnaître le vrai format)</a:t>
            </a:r>
          </a:p>
        </p:txBody>
      </p:sp>
    </p:spTree>
    <p:extLst>
      <p:ext uri="{BB962C8B-B14F-4D97-AF65-F5344CB8AC3E}">
        <p14:creationId xmlns:p14="http://schemas.microsoft.com/office/powerpoint/2010/main" val="2903080955"/>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écarter les lignes de total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ligne égale à la somme des autres est écartée automatiquement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Règle appliquée feuille par feuille, avec une tolérance de 1 %</a:t>
            </a:r>
          </a:p>
        </p:txBody>
      </p:sp>
      <p:sp>
        <p:nvSpPr>
          <p:cNvPr id="30" name="TextBox 29"/>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On calcule la somme de la feuille.</a:t>
            </a:r>
          </a:p>
          <a:p>
            <a:pPr algn="just">
              <a:spcAft>
                <a:spcPts val="800"/>
              </a:spcAft>
            </a:pPr>
            <a:r>
              <a:rPr sz="1400" b="1">
                <a:solidFill>
                  <a:srgbClr val="060606"/>
                </a:solidFill>
                <a:latin typeface="Helvetica"/>
              </a:rPr>
              <a:t>Une ligne dont le montant égale la somme des autres est un total</a:t>
            </a:r>
            <a:r>
              <a:rPr sz="1400" b="0">
                <a:solidFill>
                  <a:srgbClr val="060606"/>
                </a:solidFill>
                <a:latin typeface="Helvetica"/>
              </a:rPr>
              <a:t>, pas un mutualiste.</a:t>
            </a:r>
          </a:p>
          <a:p>
            <a:pPr algn="just">
              <a:spcAft>
                <a:spcPts val="800"/>
              </a:spcAft>
            </a:pPr>
            <a:r>
              <a:rPr sz="1400" b="1">
                <a:solidFill>
                  <a:srgbClr val="060606"/>
                </a:solidFill>
                <a:latin typeface="Helvetica"/>
              </a:rPr>
              <a:t>Chaque ligne écartée est enregistrée</a:t>
            </a:r>
            <a:r>
              <a:rPr sz="1400" b="0">
                <a:solidFill>
                  <a:srgbClr val="060606"/>
                </a:solidFill>
                <a:latin typeface="Helvetica"/>
              </a:rPr>
              <a:t> avec son fichier et son montant.</a:t>
            </a:r>
          </a:p>
        </p:txBody>
      </p:sp>
      <p:sp>
        <p:nvSpPr>
          <p:cNvPr id="31"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(extrait mis en forme, pas une capture d'écran)</a:t>
            </a:r>
          </a:p>
        </p:txBody>
      </p:sp>
      <p:pic>
        <p:nvPicPr>
          <p:cNvPr id="32" name="Picture 31" descr="code_total.png"/>
          <p:cNvPicPr>
            <a:picLocks noChangeAspect="1"/>
          </p:cNvPicPr>
          <p:nvPr/>
        </p:nvPicPr>
        <p:blipFill>
          <a:blip r:embed="rId6"/>
          <a:stretch>
            <a:fillRect/>
          </a:stretch>
        </p:blipFill>
        <p:spPr>
          <a:xfrm>
            <a:off x="503999" y="1692000"/>
            <a:ext cx="6840000" cy="2156430"/>
          </a:xfrm>
          <a:prstGeom prst="rect">
            <a:avLst/>
          </a:prstGeom>
        </p:spPr>
      </p:pic>
      <p:sp>
        <p:nvSpPr>
          <p:cNvPr id="33" name="TextBox 32"/>
          <p:cNvSpPr txBox="1"/>
          <p:nvPr/>
        </p:nvSpPr>
        <p:spPr>
          <a:xfrm>
            <a:off x="503999" y="1386000"/>
            <a:ext cx="6840000" cy="251999"/>
          </a:xfrm>
          <a:prstGeom prst="rect">
            <a:avLst/>
          </a:prstGeom>
          <a:noFill/>
        </p:spPr>
        <p:txBody>
          <a:bodyPr wrap="square" anchor="t" lIns="54000" rIns="54000"/>
          <a:lstStyle/>
          <a:p>
            <a:pPr algn="ctr"/>
            <a:r>
              <a:rPr sz="1200" b="0">
                <a:solidFill>
                  <a:srgbClr val="EFAC62"/>
                </a:solidFill>
                <a:latin typeface="Helvetica"/>
              </a:rPr>
              <a:t>Figure 33 : Extrait du script, mis en forme comme dans VS Code (écarter les lignes de total)</a:t>
            </a:r>
          </a:p>
        </p:txBody>
      </p:sp>
    </p:spTree>
    <p:extLst>
      <p:ext uri="{BB962C8B-B14F-4D97-AF65-F5344CB8AC3E}">
        <p14:creationId xmlns:p14="http://schemas.microsoft.com/office/powerpoint/2010/main" val="3747193369"/>
      </p:ext>
    </p:extLst>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corriger les montants doublés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montants écrits deux fois à la suite sont corrigés et signalés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Correction limitée au poste décès, au-delà d'un million de FCFA</a:t>
            </a:r>
          </a:p>
        </p:txBody>
      </p:sp>
      <p:sp>
        <p:nvSpPr>
          <p:cNvPr id="30" name="TextBox 29"/>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Le montant est découpé en deux moitiés.</a:t>
            </a:r>
          </a:p>
          <a:p>
            <a:pPr algn="just">
              <a:spcAft>
                <a:spcPts val="800"/>
              </a:spcAft>
            </a:pPr>
            <a:r>
              <a:rPr sz="1400" b="1">
                <a:solidFill>
                  <a:srgbClr val="060606"/>
                </a:solidFill>
                <a:latin typeface="Helvetica"/>
              </a:rPr>
              <a:t>Si les deux moitiés sont identiques</a:t>
            </a:r>
            <a:r>
              <a:rPr sz="1400" b="0">
                <a:solidFill>
                  <a:srgbClr val="060606"/>
                </a:solidFill>
                <a:latin typeface="Helvetica"/>
              </a:rPr>
              <a:t>, la première est retenue.</a:t>
            </a:r>
          </a:p>
          <a:p>
            <a:pPr algn="just">
              <a:spcAft>
                <a:spcPts val="800"/>
              </a:spcAft>
            </a:pPr>
            <a:r>
              <a:rPr sz="1400" b="1">
                <a:solidFill>
                  <a:srgbClr val="060606"/>
                </a:solidFill>
                <a:latin typeface="Helvetica"/>
              </a:rPr>
              <a:t>Le montant d'origine est conservé</a:t>
            </a:r>
            <a:r>
              <a:rPr sz="1400" b="0">
                <a:solidFill>
                  <a:srgbClr val="060606"/>
                </a:solidFill>
                <a:latin typeface="Helvetica"/>
              </a:rPr>
              <a:t> dans une colonne à part.</a:t>
            </a:r>
          </a:p>
        </p:txBody>
      </p:sp>
      <p:sp>
        <p:nvSpPr>
          <p:cNvPr id="31"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(extrait mis en forme, pas une capture d'écran)</a:t>
            </a:r>
          </a:p>
        </p:txBody>
      </p:sp>
      <p:pic>
        <p:nvPicPr>
          <p:cNvPr id="32" name="Picture 31" descr="code_double.png"/>
          <p:cNvPicPr>
            <a:picLocks noChangeAspect="1"/>
          </p:cNvPicPr>
          <p:nvPr/>
        </p:nvPicPr>
        <p:blipFill>
          <a:blip r:embed="rId6"/>
          <a:stretch>
            <a:fillRect/>
          </a:stretch>
        </p:blipFill>
        <p:spPr>
          <a:xfrm>
            <a:off x="503999" y="1692000"/>
            <a:ext cx="6840000" cy="2544480"/>
          </a:xfrm>
          <a:prstGeom prst="rect">
            <a:avLst/>
          </a:prstGeom>
        </p:spPr>
      </p:pic>
      <p:sp>
        <p:nvSpPr>
          <p:cNvPr id="33" name="TextBox 32"/>
          <p:cNvSpPr txBox="1"/>
          <p:nvPr/>
        </p:nvSpPr>
        <p:spPr>
          <a:xfrm>
            <a:off x="503999" y="1386000"/>
            <a:ext cx="6840000" cy="251999"/>
          </a:xfrm>
          <a:prstGeom prst="rect">
            <a:avLst/>
          </a:prstGeom>
          <a:noFill/>
        </p:spPr>
        <p:txBody>
          <a:bodyPr wrap="square" anchor="t" lIns="54000" rIns="54000"/>
          <a:lstStyle/>
          <a:p>
            <a:pPr algn="ctr"/>
            <a:r>
              <a:rPr sz="1200" b="0">
                <a:solidFill>
                  <a:srgbClr val="EFAC62"/>
                </a:solidFill>
                <a:latin typeface="Helvetica"/>
              </a:rPr>
              <a:t>Figure 34 : Extrait du script, mis en forme comme dans VS Code (corriger les montants doublés)</a:t>
            </a:r>
          </a:p>
        </p:txBody>
      </p:sp>
    </p:spTree>
    <p:extLst>
      <p:ext uri="{BB962C8B-B14F-4D97-AF65-F5344CB8AC3E}">
        <p14:creationId xmlns:p14="http://schemas.microsoft.com/office/powerpoint/2010/main" val="1910738218"/>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lire les montants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montants imprimés avec espaces et « XOF » sont convertis sans perte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totaux recalculés sont égaux aux totaux imprimés dans les 37 balances âgées</a:t>
            </a:r>
          </a:p>
        </p:txBody>
      </p:sp>
      <p:sp>
        <p:nvSpPr>
          <p:cNvPr id="30" name="TextBox 29"/>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Les espaces, y compris insécables, sont retirés.</a:t>
            </a:r>
          </a:p>
          <a:p>
            <a:pPr algn="just">
              <a:spcAft>
                <a:spcPts val="800"/>
              </a:spcAft>
            </a:pPr>
            <a:r>
              <a:rPr sz="1400" b="1">
                <a:solidFill>
                  <a:srgbClr val="060606"/>
                </a:solidFill>
                <a:latin typeface="Helvetica"/>
              </a:rPr>
              <a:t>La mention « XOF » est retirée.</a:t>
            </a:r>
          </a:p>
          <a:p>
            <a:pPr algn="just">
              <a:spcAft>
                <a:spcPts val="800"/>
              </a:spcAft>
            </a:pPr>
            <a:r>
              <a:rPr sz="1400" b="1">
                <a:solidFill>
                  <a:srgbClr val="060606"/>
                </a:solidFill>
                <a:latin typeface="Helvetica"/>
              </a:rPr>
              <a:t>Le nombre obtenu est comparé au total imprimé</a:t>
            </a:r>
            <a:r>
              <a:rPr sz="1400" b="0">
                <a:solidFill>
                  <a:srgbClr val="060606"/>
                </a:solidFill>
                <a:latin typeface="Helvetica"/>
              </a:rPr>
              <a:t> par le logiciel.</a:t>
            </a:r>
          </a:p>
        </p:txBody>
      </p:sp>
      <p:sp>
        <p:nvSpPr>
          <p:cNvPr id="31"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(extrait mis en forme, pas une capture d'écran)</a:t>
            </a:r>
          </a:p>
        </p:txBody>
      </p:sp>
      <p:pic>
        <p:nvPicPr>
          <p:cNvPr id="32" name="Picture 31" descr="code_grenier.png"/>
          <p:cNvPicPr>
            <a:picLocks noChangeAspect="1"/>
          </p:cNvPicPr>
          <p:nvPr/>
        </p:nvPicPr>
        <p:blipFill>
          <a:blip r:embed="rId6"/>
          <a:stretch>
            <a:fillRect/>
          </a:stretch>
        </p:blipFill>
        <p:spPr>
          <a:xfrm>
            <a:off x="503999" y="1692000"/>
            <a:ext cx="6840000" cy="1559520"/>
          </a:xfrm>
          <a:prstGeom prst="rect">
            <a:avLst/>
          </a:prstGeom>
        </p:spPr>
      </p:pic>
      <p:sp>
        <p:nvSpPr>
          <p:cNvPr id="33" name="TextBox 32"/>
          <p:cNvSpPr txBox="1"/>
          <p:nvPr/>
        </p:nvSpPr>
        <p:spPr>
          <a:xfrm>
            <a:off x="503999" y="1386000"/>
            <a:ext cx="6840000" cy="251999"/>
          </a:xfrm>
          <a:prstGeom prst="rect">
            <a:avLst/>
          </a:prstGeom>
          <a:noFill/>
        </p:spPr>
        <p:txBody>
          <a:bodyPr wrap="square" anchor="t" lIns="54000" rIns="54000"/>
          <a:lstStyle/>
          <a:p>
            <a:pPr algn="ctr"/>
            <a:r>
              <a:rPr sz="1200" b="0">
                <a:solidFill>
                  <a:srgbClr val="EFAC62"/>
                </a:solidFill>
                <a:latin typeface="Helvetica"/>
              </a:rPr>
              <a:t>Figure 35 : Extrait du script, mis en forme comme dans VS Code (lire les montants du Grenier)</a:t>
            </a:r>
          </a:p>
        </p:txBody>
      </p:sp>
    </p:spTree>
    <p:extLst>
      <p:ext uri="{BB962C8B-B14F-4D97-AF65-F5344CB8AC3E}">
        <p14:creationId xmlns:p14="http://schemas.microsoft.com/office/powerpoint/2010/main" val="1175133881"/>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calculer la sinistralité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ratio S/C est calculé compte par compte, pour chaque exercice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compte utilisé est cité dans l'annexe des méthodes</a:t>
            </a:r>
          </a:p>
        </p:txBody>
      </p:sp>
      <p:sp>
        <p:nvSpPr>
          <p:cNvPr id="30" name="TextBox 29"/>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Cotisations : comptes 7010 et 7021.</a:t>
            </a:r>
          </a:p>
          <a:p>
            <a:pPr algn="just">
              <a:spcAft>
                <a:spcPts val="800"/>
              </a:spcAft>
            </a:pPr>
            <a:r>
              <a:rPr sz="1400" b="1">
                <a:solidFill>
                  <a:srgbClr val="060606"/>
                </a:solidFill>
                <a:latin typeface="Helvetica"/>
              </a:rPr>
              <a:t>Prestations : comptes 601, 6013, 6018, 60800007, 6021, 6024.</a:t>
            </a:r>
          </a:p>
          <a:p>
            <a:pPr algn="just">
              <a:spcAft>
                <a:spcPts val="800"/>
              </a:spcAft>
            </a:pPr>
            <a:r>
              <a:rPr sz="1400" b="1">
                <a:solidFill>
                  <a:srgbClr val="060606"/>
                </a:solidFill>
                <a:latin typeface="Helvetica"/>
              </a:rPr>
              <a:t>Le résultat est écrit dans le classeur des calculs.</a:t>
            </a:r>
          </a:p>
        </p:txBody>
      </p:sp>
      <p:sp>
        <p:nvSpPr>
          <p:cNvPr id="31"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(extrait mis en forme, pas une capture d'écran)</a:t>
            </a:r>
          </a:p>
        </p:txBody>
      </p:sp>
      <p:pic>
        <p:nvPicPr>
          <p:cNvPr id="32" name="Picture 31" descr="code_sc.png"/>
          <p:cNvPicPr>
            <a:picLocks noChangeAspect="1"/>
          </p:cNvPicPr>
          <p:nvPr/>
        </p:nvPicPr>
        <p:blipFill>
          <a:blip r:embed="rId6"/>
          <a:stretch>
            <a:fillRect/>
          </a:stretch>
        </p:blipFill>
        <p:spPr>
          <a:xfrm>
            <a:off x="503999" y="1692000"/>
            <a:ext cx="6840000" cy="3114990"/>
          </a:xfrm>
          <a:prstGeom prst="rect">
            <a:avLst/>
          </a:prstGeom>
        </p:spPr>
      </p:pic>
      <p:sp>
        <p:nvSpPr>
          <p:cNvPr id="33" name="TextBox 32"/>
          <p:cNvSpPr txBox="1"/>
          <p:nvPr/>
        </p:nvSpPr>
        <p:spPr>
          <a:xfrm>
            <a:off x="503999" y="1386000"/>
            <a:ext cx="6840000" cy="251999"/>
          </a:xfrm>
          <a:prstGeom prst="rect">
            <a:avLst/>
          </a:prstGeom>
          <a:noFill/>
        </p:spPr>
        <p:txBody>
          <a:bodyPr wrap="square" anchor="t" lIns="54000" rIns="54000"/>
          <a:lstStyle/>
          <a:p>
            <a:pPr algn="ctr"/>
            <a:r>
              <a:rPr sz="1200" b="0">
                <a:solidFill>
                  <a:srgbClr val="EFAC62"/>
                </a:solidFill>
                <a:latin typeface="Helvetica"/>
              </a:rPr>
              <a:t>Figure 36 : Extrait du script, mis en forme comme dans VS Code (calculer la sinistralité)</a:t>
            </a:r>
          </a:p>
        </p:txBody>
      </p:sp>
    </p:spTree>
    <p:extLst>
      <p:ext uri="{BB962C8B-B14F-4D97-AF65-F5344CB8AC3E}">
        <p14:creationId xmlns:p14="http://schemas.microsoft.com/office/powerpoint/2010/main" val="2236005945"/>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intervalle de confiance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L'intervalle de Wilson encadre la proportion de prêts en retard</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Méthode adaptée aux proportions, même faibles</a:t>
            </a:r>
          </a:p>
        </p:txBody>
      </p:sp>
      <p:sp>
        <p:nvSpPr>
          <p:cNvPr id="30" name="TextBox 29"/>
          <p:cNvSpPr txBox="1"/>
          <p:nvPr/>
        </p:nvSpPr>
        <p:spPr>
          <a:xfrm>
            <a:off x="7343999" y="1512000"/>
            <a:ext cx="4176000" cy="4536000"/>
          </a:xfrm>
          <a:prstGeom prst="rect">
            <a:avLst/>
          </a:prstGeom>
          <a:noFill/>
        </p:spPr>
        <p:txBody>
          <a:bodyPr wrap="square">
            <a:spAutoFit/>
          </a:bodyPr>
          <a:lstStyle/>
          <a:p>
            <a:pPr algn="just">
              <a:spcAft>
                <a:spcPts val="800"/>
              </a:spcAft>
            </a:pPr>
            <a:r>
              <a:rPr sz="1400" b="1">
                <a:solidFill>
                  <a:srgbClr val="060606"/>
                </a:solidFill>
                <a:latin typeface="Helvetica"/>
              </a:rPr>
              <a:t>p = nombre de prêts en retard / nombre de prêts.</a:t>
            </a:r>
          </a:p>
          <a:p>
            <a:pPr algn="just">
              <a:spcAft>
                <a:spcPts val="800"/>
              </a:spcAft>
            </a:pPr>
            <a:r>
              <a:rPr sz="1400" b="1">
                <a:solidFill>
                  <a:srgbClr val="060606"/>
                </a:solidFill>
                <a:latin typeface="Helvetica"/>
              </a:rPr>
              <a:t>L'intervalle est centré et élargi</a:t>
            </a:r>
            <a:r>
              <a:rPr sz="1400" b="0">
                <a:solidFill>
                  <a:srgbClr val="060606"/>
                </a:solidFill>
                <a:latin typeface="Helvetica"/>
              </a:rPr>
              <a:t> pour rester entre 0 et 1.</a:t>
            </a:r>
          </a:p>
          <a:p>
            <a:pPr algn="just">
              <a:spcAft>
                <a:spcPts val="800"/>
              </a:spcAft>
            </a:pPr>
            <a:r>
              <a:rPr sz="1400" b="1">
                <a:solidFill>
                  <a:srgbClr val="060606"/>
                </a:solidFill>
                <a:latin typeface="Helvetica"/>
              </a:rPr>
              <a:t>z = 1,96 pour un niveau de confiance de 95 %.</a:t>
            </a:r>
          </a:p>
        </p:txBody>
      </p:sp>
      <p:sp>
        <p:nvSpPr>
          <p:cNvPr id="31"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(extrait mis en forme, pas une capture d'écran)</a:t>
            </a:r>
          </a:p>
        </p:txBody>
      </p:sp>
      <p:pic>
        <p:nvPicPr>
          <p:cNvPr id="32" name="Picture 31" descr="code_stats.png"/>
          <p:cNvPicPr>
            <a:picLocks noChangeAspect="1"/>
          </p:cNvPicPr>
          <p:nvPr/>
        </p:nvPicPr>
        <p:blipFill>
          <a:blip r:embed="rId6"/>
          <a:stretch>
            <a:fillRect/>
          </a:stretch>
        </p:blipFill>
        <p:spPr>
          <a:xfrm>
            <a:off x="503999" y="1692000"/>
            <a:ext cx="6840000" cy="1313280"/>
          </a:xfrm>
          <a:prstGeom prst="rect">
            <a:avLst/>
          </a:prstGeom>
        </p:spPr>
      </p:pic>
      <p:sp>
        <p:nvSpPr>
          <p:cNvPr id="33" name="TextBox 32"/>
          <p:cNvSpPr txBox="1"/>
          <p:nvPr/>
        </p:nvSpPr>
        <p:spPr>
          <a:xfrm>
            <a:off x="503999" y="1386000"/>
            <a:ext cx="6840000" cy="251999"/>
          </a:xfrm>
          <a:prstGeom prst="rect">
            <a:avLst/>
          </a:prstGeom>
          <a:noFill/>
        </p:spPr>
        <p:txBody>
          <a:bodyPr wrap="square" anchor="t" lIns="54000" rIns="54000"/>
          <a:lstStyle/>
          <a:p>
            <a:pPr algn="ctr"/>
            <a:r>
              <a:rPr sz="1200" b="0">
                <a:solidFill>
                  <a:srgbClr val="EFAC62"/>
                </a:solidFill>
                <a:latin typeface="Helvetica"/>
              </a:rPr>
              <a:t>Figure 37 : Extrait du script, mis en forme comme dans VS Code (intervalle de confiance)</a:t>
            </a:r>
          </a:p>
        </p:txBody>
      </p:sp>
    </p:spTree>
    <p:extLst>
      <p:ext uri="{BB962C8B-B14F-4D97-AF65-F5344CB8AC3E}">
        <p14:creationId xmlns:p14="http://schemas.microsoft.com/office/powerpoint/2010/main" val="3400895075"/>
      </p:ext>
    </p:extLst>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automatique des chiffres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chiffre du rapport est recalculé et comparé au texte affiché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contrôle relit le PowerPoint produit et vérifie que chaque chiffre enregistré figure sur sa diapositive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31" name="Rounded Rectangle 30"/>
          <p:cNvSpPr/>
          <p:nvPr/>
        </p:nvSpPr>
        <p:spPr>
          <a:xfrm>
            <a:off x="503999" y="1512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Enregistrement</a:t>
            </a:r>
          </a:p>
        </p:txBody>
      </p:sp>
      <p:sp>
        <p:nvSpPr>
          <p:cNvPr id="32" name="Rectangle 31"/>
          <p:cNvSpPr/>
          <p:nvPr/>
        </p:nvSpPr>
        <p:spPr>
          <a:xfrm>
            <a:off x="2988000" y="1512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96000" y="1602000"/>
            <a:ext cx="5688000" cy="936000"/>
          </a:xfrm>
          <a:prstGeom prst="rect">
            <a:avLst/>
          </a:prstGeom>
          <a:noFill/>
        </p:spPr>
        <p:txBody>
          <a:bodyPr wrap="square" anchor="ctr" lIns="54000" rIns="54000"/>
          <a:lstStyle/>
          <a:p>
            <a:pPr algn="l"/>
            <a:r>
              <a:rPr sz="1400" b="0">
                <a:solidFill>
                  <a:srgbClr val="060606"/>
                </a:solidFill>
                <a:latin typeface="Helvetica"/>
              </a:rPr>
              <a:t>Chaque chiffre est produit par une fonction qui garde sa valeur exacte</a:t>
            </a:r>
          </a:p>
        </p:txBody>
      </p:sp>
      <p:sp>
        <p:nvSpPr>
          <p:cNvPr id="34" name="Rounded Rectangle 33"/>
          <p:cNvSpPr/>
          <p:nvPr/>
        </p:nvSpPr>
        <p:spPr>
          <a:xfrm>
            <a:off x="9000000" y="1512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Diapositive, indicateur, valeur</a:t>
            </a:r>
          </a:p>
        </p:txBody>
      </p:sp>
      <p:sp>
        <p:nvSpPr>
          <p:cNvPr id="35" name="Rounded Rectangle 34"/>
          <p:cNvSpPr/>
          <p:nvPr/>
        </p:nvSpPr>
        <p:spPr>
          <a:xfrm>
            <a:off x="503999" y="2844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Relecture</a:t>
            </a:r>
          </a:p>
        </p:txBody>
      </p:sp>
      <p:sp>
        <p:nvSpPr>
          <p:cNvPr id="36" name="Rectangle 35"/>
          <p:cNvSpPr/>
          <p:nvPr/>
        </p:nvSpPr>
        <p:spPr>
          <a:xfrm>
            <a:off x="2988000" y="2844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96000" y="2934000"/>
            <a:ext cx="5688000" cy="936000"/>
          </a:xfrm>
          <a:prstGeom prst="rect">
            <a:avLst/>
          </a:prstGeom>
          <a:noFill/>
        </p:spPr>
        <p:txBody>
          <a:bodyPr wrap="square" anchor="ctr" lIns="54000" rIns="54000"/>
          <a:lstStyle/>
          <a:p>
            <a:pPr algn="l"/>
            <a:r>
              <a:rPr sz="1400" b="0">
                <a:solidFill>
                  <a:srgbClr val="060606"/>
                </a:solidFill>
                <a:latin typeface="Helvetica"/>
              </a:rPr>
              <a:t>Le PowerPoint produit est relu, textes et tableaux compris</a:t>
            </a:r>
          </a:p>
        </p:txBody>
      </p:sp>
      <p:sp>
        <p:nvSpPr>
          <p:cNvPr id="38" name="Rounded Rectangle 37"/>
          <p:cNvSpPr/>
          <p:nvPr/>
        </p:nvSpPr>
        <p:spPr>
          <a:xfrm>
            <a:off x="9000000" y="2844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Après construction</a:t>
            </a:r>
          </a:p>
        </p:txBody>
      </p:sp>
      <p:sp>
        <p:nvSpPr>
          <p:cNvPr id="39" name="Rounded Rectangle 38"/>
          <p:cNvSpPr/>
          <p:nvPr/>
        </p:nvSpPr>
        <p:spPr>
          <a:xfrm>
            <a:off x="503999" y="4176000"/>
            <a:ext cx="2376000" cy="1080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FFFFFF"/>
                </a:solidFill>
                <a:latin typeface="Helvetica"/>
              </a:rPr>
              <a:t>Résultat</a:t>
            </a:r>
          </a:p>
        </p:txBody>
      </p:sp>
      <p:sp>
        <p:nvSpPr>
          <p:cNvPr id="40" name="Rectangle 39"/>
          <p:cNvSpPr/>
          <p:nvPr/>
        </p:nvSpPr>
        <p:spPr>
          <a:xfrm>
            <a:off x="2988000" y="4176000"/>
            <a:ext cx="5903999" cy="108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096000" y="4266000"/>
            <a:ext cx="5688000" cy="936000"/>
          </a:xfrm>
          <a:prstGeom prst="rect">
            <a:avLst/>
          </a:prstGeom>
          <a:noFill/>
        </p:spPr>
        <p:txBody>
          <a:bodyPr wrap="square" anchor="ctr" lIns="54000" rIns="54000"/>
          <a:lstStyle/>
          <a:p>
            <a:pPr algn="l"/>
            <a:r>
              <a:rPr sz="1400" b="0">
                <a:solidFill>
                  <a:srgbClr val="060606"/>
                </a:solidFill>
                <a:latin typeface="Helvetica"/>
              </a:rPr>
              <a:t>Chiffres retrouvés / chiffres enregistrés</a:t>
            </a:r>
          </a:p>
        </p:txBody>
      </p:sp>
      <p:sp>
        <p:nvSpPr>
          <p:cNvPr id="42" name="Rounded Rectangle 41"/>
          <p:cNvSpPr/>
          <p:nvPr/>
        </p:nvSpPr>
        <p:spPr>
          <a:xfrm>
            <a:off x="9000000" y="4176000"/>
            <a:ext cx="2736000" cy="1080000"/>
          </a:xfrm>
          <a:prstGeom prst="roundRect">
            <a:avLst/>
          </a:prstGeom>
          <a:no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0">
                <a:solidFill>
                  <a:srgbClr val="112A40"/>
                </a:solidFill>
                <a:latin typeface="Helvetica"/>
              </a:rPr>
              <a:t>Onglet Traçabilité</a:t>
            </a:r>
          </a:p>
        </p:txBody>
      </p:sp>
    </p:spTree>
    <p:extLst>
      <p:ext uri="{BB962C8B-B14F-4D97-AF65-F5344CB8AC3E}">
        <p14:creationId xmlns:p14="http://schemas.microsoft.com/office/powerpoint/2010/main" val="102962527"/>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Analyses en attente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Documents à obtenir, risques, points à clarifier</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591152657"/>
      </p:ext>
    </p:extLst>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Analyses en attente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analyses actuarielles centrales dépendent de trois bases non reçues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mortalité, équilibre technique et contrôles santé seront réalisés dès réception des documents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PBC pointée au 18/10/2026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16 : Analyses en attente et documents nécessaires</a:t>
            </a:r>
          </a:p>
        </p:txBody>
      </p:sp>
      <p:graphicFrame>
        <p:nvGraphicFramePr>
          <p:cNvPr id="32" name="Table 31"/>
          <p:cNvGraphicFramePr>
            <a:graphicFrameLocks noGrp="1"/>
          </p:cNvGraphicFramePr>
          <p:nvPr/>
        </p:nvGraphicFramePr>
        <p:xfrm>
          <a:off x="503999" y="1655999"/>
          <a:ext cx="11232000" cy="2592000"/>
        </p:xfrm>
        <a:graphic>
          <a:graphicData uri="http://schemas.openxmlformats.org/drawingml/2006/table">
            <a:tbl>
              <a:tblPr firstRow="0" bandRow="0">
                <a:tableStyleId>{5940675A-B579-460E-94D1-54222C63F5DA}</a:tableStyleId>
              </a:tblPr>
              <a:tblGrid>
                <a:gridCol w="2592000"/>
                <a:gridCol w="4464000"/>
                <a:gridCol w="4176000"/>
              </a:tblGrid>
              <a:tr h="324000">
                <a:tc>
                  <a:txBody>
                    <a:bodyPr/>
                    <a:lstStyle/>
                    <a:p>
                      <a:pPr marL="0" indent="0" lvl="0">
                        <a:buNone/>
                      </a:pPr>
                      <a:r>
                        <a:rPr sz="1200" b="1">
                          <a:solidFill>
                            <a:srgbClr val="FFFFFF"/>
                          </a:solidFill>
                          <a:latin typeface="Helvetica"/>
                        </a:rPr>
                        <a:t>Analyse</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Objet</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Documents nécessaires (PBC)</a:t>
                      </a:r>
                    </a:p>
                  </a:txBody>
                  <a:tcPr marL="43200" marR="43200" marT="14400" marB="14400" anchor="ctr">
                    <a:solidFill>
                      <a:srgbClr val="060606"/>
                    </a:solidFill>
                  </a:tcPr>
                </a:tc>
              </a:tr>
              <a:tr h="324000">
                <a:tc>
                  <a:txBody>
                    <a:bodyPr/>
                    <a:lstStyle/>
                    <a:p>
                      <a:pPr marL="0" indent="0" lvl="0">
                        <a:buNone/>
                      </a:pPr>
                      <a:r>
                        <a:rPr sz="1200" b="1">
                          <a:solidFill>
                            <a:srgbClr val="060606"/>
                          </a:solidFill>
                          <a:latin typeface="Helvetica"/>
                        </a:rPr>
                        <a:t>Provisions (PSAP, Chain Ladder)</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Montant restant à payer, y compris non déclarés</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Prestations décès et santé, dossiers non payés (13, 14, 28, 29, 40)</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Sinistralité par année de survenance</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Coût réel de chaque année</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Bases des prestations (13, 28, 40)</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Mortalité observée (A/E)</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Comparaison à CIMA H</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Mutualistes avec date de naissance (9). Décès (28)</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Délais et dossiers en attente</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Délais de déclaration et de paiement</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Bases des prestations avec dates (28, 40)</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Contrôles santé (S1 à S7)</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Doublons, bénéficiaires hors fichier</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Factures santé (40). Cartes actives (42)</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Engagements d'épargne</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Dette envers chaque épargnant</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Comptes individuels (16, 17)</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Ratios AIRMS, équilibre technique</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Solvabilité, projection</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Règlement UEMOA, âges, barèmes (1, 2, 3)</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3505239028"/>
      </p:ext>
    </p:extLst>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à clarifier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points demandent une réponse du FPPN avant la prochaine version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point est relié à un constat chiffré du rapport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17 : Points à clarifier avec le FPPN</a:t>
            </a:r>
          </a:p>
        </p:txBody>
      </p:sp>
      <p:graphicFrame>
        <p:nvGraphicFramePr>
          <p:cNvPr id="32" name="Table 31"/>
          <p:cNvGraphicFramePr>
            <a:graphicFrameLocks noGrp="1"/>
          </p:cNvGraphicFramePr>
          <p:nvPr/>
        </p:nvGraphicFramePr>
        <p:xfrm>
          <a:off x="503999" y="1655999"/>
          <a:ext cx="11232000" cy="2916000"/>
        </p:xfrm>
        <a:graphic>
          <a:graphicData uri="http://schemas.openxmlformats.org/drawingml/2006/table">
            <a:tbl>
              <a:tblPr firstRow="0" bandRow="0">
                <a:tableStyleId>{5940675A-B579-460E-94D1-54222C63F5DA}</a:tableStyleId>
              </a:tblPr>
              <a:tblGrid>
                <a:gridCol w="432000"/>
                <a:gridCol w="3240000"/>
                <a:gridCol w="7560000"/>
              </a:tblGrid>
              <a:tr h="324000">
                <a:tc>
                  <a:txBody>
                    <a:bodyPr/>
                    <a:lstStyle/>
                    <a:p>
                      <a:pPr marL="0" indent="0" lvl="0">
                        <a:buNone/>
                      </a:pPr>
                      <a:r>
                        <a:rPr sz="12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Question au FPPN</a:t>
                      </a:r>
                    </a:p>
                  </a:txBody>
                  <a:tcPr marL="43200" marR="43200" marT="14400" marB="14400" anchor="ctr">
                    <a:solidFill>
                      <a:srgbClr val="060606"/>
                    </a:solidFill>
                  </a:tcPr>
                </a:tc>
              </a:tr>
              <a:tr h="324000">
                <a:tc>
                  <a:txBody>
                    <a:bodyPr/>
                    <a:lstStyle/>
                    <a:p>
                      <a:pPr marL="0" indent="0" lvl="0">
                        <a:buNone/>
                      </a:pPr>
                      <a:r>
                        <a:rPr sz="12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Répartition du taux de 5 %</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Quel barème s'applique : 3,5 / 1,5 ou 3,77 / 1,23 ? Pourquoi la comptabilité suit-elle une autre clé ?</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Provisions figées</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Comment ont-elles été calculées ? Pourquoi n'ont-elles pas changé depuis 2020 ?</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Couverture de l'épargne</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Quelles sont les conditions de retrait du PEP et de l'EFC ?</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Créance sur l'Hôpital de la Police</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Quelle est sa nature ? Un remboursement est-il prévu ?</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Retards du Grenier début 2026</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Pourquoi la plupart de l'encours était-il en retard fin janvier 2026 ?</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Écart échéances / précomptes</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Comment sont réglées les échéances non précomptées ?</a:t>
                      </a:r>
                    </a:p>
                  </a:txBody>
                  <a:tcPr marL="43200" marR="43200" marT="14400" marB="14400" anchor="ctr">
                    <a:solidFill>
                      <a:srgbClr val="F2F2F2"/>
                    </a:solidFill>
                  </a:tcPr>
                </a:tc>
              </a:tr>
              <a:tr h="324000">
                <a:tc>
                  <a:txBody>
                    <a:bodyPr/>
                    <a:lstStyle/>
                    <a:p>
                      <a:pPr marL="0" indent="0" lvl="0">
                        <a:buNone/>
                      </a:pPr>
                      <a:r>
                        <a:rPr sz="12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Sinistralité 2020 à 2022</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Des factures de ces années ont-elles été comptabilisées plus tard ?</a:t>
                      </a:r>
                    </a:p>
                  </a:txBody>
                  <a:tcPr marL="43200" marR="43200" marT="14400" marB="14400" anchor="ctr">
                    <a:solidFill>
                      <a:srgbClr val="FFFFFF"/>
                    </a:solidFill>
                  </a:tcPr>
                </a:tc>
              </a:tr>
              <a:tr h="324000">
                <a:tc>
                  <a:txBody>
                    <a:bodyPr/>
                    <a:lstStyle/>
                    <a:p>
                      <a:pPr marL="0" indent="0" lvl="0">
                        <a:buNone/>
                      </a:pPr>
                      <a:r>
                        <a:rPr sz="12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Données manquantes</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Précomptes 2020 à 2023, fichiers vides de décembre 2024, grands livres endommagés</a:t>
                      </a:r>
                    </a:p>
                  </a:txBody>
                  <a:tcPr marL="43200" marR="43200" marT="14400" marB="14400" anchor="ctr">
                    <a:solidFill>
                      <a:srgbClr val="F2F2F2"/>
                    </a:solidFill>
                  </a:tcPr>
                </a:tc>
              </a:tr>
            </a:tbl>
          </a:graphicData>
        </a:graphic>
      </p:graphicFrame>
    </p:spTree>
    <p:extLst>
      <p:ext uri="{BB962C8B-B14F-4D97-AF65-F5344CB8AC3E}">
        <p14:creationId xmlns:p14="http://schemas.microsoft.com/office/powerpoint/2010/main" val="2987394925"/>
      </p:ext>
    </p:extLst>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Annexes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Méthodes, listes, abréviations, références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699236107"/>
      </p:ext>
    </p:extLst>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Méthodes et formules</a:t>
            </a:r>
          </a:p>
        </p:txBody>
      </p:sp>
      <p:sp>
        <p:nvSpPr>
          <p:cNvPr id="28" name="TextBox 27"/>
          <p:cNvSpPr txBox="1"/>
          <p:nvPr/>
        </p:nvSpPr>
        <p:spPr>
          <a:xfrm>
            <a:off x="503999" y="720000"/>
            <a:ext cx="11232000" cy="216000"/>
          </a:xfrm>
          <a:prstGeom prst="rect">
            <a:avLst/>
          </a:prstGeom>
          <a:noFill/>
        </p:spPr>
        <p:txBody>
          <a:bodyPr wrap="square" anchor="t" lIns="54000" rIns="54000"/>
          <a:lstStyle/>
          <a:p>
            <a:pPr algn="ctr"/>
            <a:r>
              <a:rPr sz="1200" b="0">
                <a:solidFill>
                  <a:srgbClr val="EFAC62"/>
                </a:solidFill>
                <a:latin typeface="Helvetica"/>
              </a:rPr>
              <a:t>Tableau 18 : Indicateurs, formules et sources</a:t>
            </a:r>
          </a:p>
        </p:txBody>
      </p:sp>
      <p:graphicFrame>
        <p:nvGraphicFramePr>
          <p:cNvPr id="29" name="Table 28"/>
          <p:cNvGraphicFramePr>
            <a:graphicFrameLocks noGrp="1"/>
          </p:cNvGraphicFramePr>
          <p:nvPr/>
        </p:nvGraphicFramePr>
        <p:xfrm>
          <a:off x="503999" y="990000"/>
          <a:ext cx="11232000" cy="3564000"/>
        </p:xfrm>
        <a:graphic>
          <a:graphicData uri="http://schemas.openxmlformats.org/drawingml/2006/table">
            <a:tbl>
              <a:tblPr firstRow="0" bandRow="0">
                <a:tableStyleId>{5940675A-B579-460E-94D1-54222C63F5DA}</a:tableStyleId>
              </a:tblPr>
              <a:tblGrid>
                <a:gridCol w="2304000"/>
                <a:gridCol w="5040000"/>
                <a:gridCol w="3888000"/>
              </a:tblGrid>
              <a:tr h="324000">
                <a:tc>
                  <a:txBody>
                    <a:bodyPr/>
                    <a:lstStyle/>
                    <a:p>
                      <a:pPr marL="0" indent="0" lvl="0">
                        <a:buNone/>
                      </a:pPr>
                      <a:r>
                        <a:rPr sz="11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Source des données</a:t>
                      </a:r>
                    </a:p>
                  </a:txBody>
                  <a:tcPr marL="43200" marR="43200" marT="14400" marB="14400" anchor="ctr">
                    <a:solidFill>
                      <a:srgbClr val="060606"/>
                    </a:solidFill>
                  </a:tcPr>
                </a:tc>
              </a:tr>
              <a:tr h="324000">
                <a:tc>
                  <a:txBody>
                    <a:bodyPr/>
                    <a:lstStyle/>
                    <a:p>
                      <a:pPr marL="0" indent="0" lvl="0">
                        <a:buNone/>
                      </a:pPr>
                      <a:r>
                        <a:rPr sz="1100" b="1">
                          <a:solidFill>
                            <a:srgbClr val="060606"/>
                          </a:solidFill>
                          <a:latin typeface="Helvetica"/>
                        </a:rPr>
                        <a:t>Ratio S/C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Prestations comptabilisées / cotisations comptabilisées, par garantie et par exercice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Comptes 601, 6013, 6018, 60800007, 6021, 6024. 7010, 7021</a:t>
                      </a:r>
                    </a:p>
                  </a:txBody>
                  <a:tcPr marL="43200" marR="43200" marT="14400" marB="14400" anchor="ctr">
                    <a:solidFill>
                      <a:srgbClr val="FFFFFF"/>
                    </a:solidFill>
                  </a:tcPr>
                </a:tc>
              </a:tr>
              <a:tr h="324000">
                <a:tc>
                  <a:txBody>
                    <a:bodyPr/>
                    <a:lstStyle/>
                    <a:p>
                      <a:pPr marL="0" indent="0" lvl="0">
                        <a:buNone/>
                      </a:pPr>
                      <a:r>
                        <a:rPr sz="1100" b="1">
                          <a:solidFill>
                            <a:srgbClr val="060606"/>
                          </a:solidFill>
                          <a:latin typeface="Helvetica"/>
                        </a:rPr>
                        <a:t>Taux de cotisation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Précompte du mois / salaire de base du mois, par agent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Fichiers 936 détaillés, 8Z6</a:t>
                      </a:r>
                    </a:p>
                  </a:txBody>
                  <a:tcPr marL="43200" marR="43200" marT="14400" marB="14400" anchor="ctr">
                    <a:solidFill>
                      <a:srgbClr val="F2F2F2"/>
                    </a:solidFill>
                  </a:tcPr>
                </a:tc>
              </a:tr>
              <a:tr h="324000">
                <a:tc>
                  <a:txBody>
                    <a:bodyPr/>
                    <a:lstStyle/>
                    <a:p>
                      <a:pPr marL="0" indent="0" lvl="0">
                        <a:buNone/>
                      </a:pPr>
                      <a:r>
                        <a:rPr sz="1100" b="1">
                          <a:solidFill>
                            <a:srgbClr val="060606"/>
                          </a:solidFill>
                          <a:latin typeface="Helvetica"/>
                        </a:rPr>
                        <a:t>Taux de précompte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Montant retour / montant aller, mois communs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Fichiers aller et retour</a:t>
                      </a:r>
                    </a:p>
                  </a:txBody>
                  <a:tcPr marL="43200" marR="43200" marT="14400" marB="14400" anchor="ctr">
                    <a:solidFill>
                      <a:srgbClr val="FFFFFF"/>
                    </a:solidFill>
                  </a:tcPr>
                </a:tc>
              </a:tr>
              <a:tr h="324000">
                <a:tc>
                  <a:txBody>
                    <a:bodyPr/>
                    <a:lstStyle/>
                    <a:p>
                      <a:pPr marL="0" indent="0" lvl="0">
                        <a:buNone/>
                      </a:pPr>
                      <a:r>
                        <a:rPr sz="1100" b="1">
                          <a:solidFill>
                            <a:srgbClr val="060606"/>
                          </a:solidFill>
                          <a:latin typeface="Helvetica"/>
                        </a:rPr>
                        <a:t>TCAM</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(V_fin / V_début)^(1/n) - 1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Selon l'indicateur</a:t>
                      </a:r>
                    </a:p>
                  </a:txBody>
                  <a:tcPr marL="43200" marR="43200" marT="14400" marB="14400" anchor="ctr">
                    <a:solidFill>
                      <a:srgbClr val="F2F2F2"/>
                    </a:solidFill>
                  </a:tcPr>
                </a:tc>
              </a:tr>
              <a:tr h="324000">
                <a:tc>
                  <a:txBody>
                    <a:bodyPr/>
                    <a:lstStyle/>
                    <a:p>
                      <a:pPr marL="0" indent="0" lvl="0">
                        <a:buNone/>
                      </a:pPr>
                      <a:r>
                        <a:rPr sz="1100" b="1">
                          <a:solidFill>
                            <a:srgbClr val="060606"/>
                          </a:solidFill>
                          <a:latin typeface="Helvetica"/>
                        </a:rPr>
                        <a:t>Tendance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Régression linéaire par moindres carrés. Test de Student sur la pente. IC à 95 %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Séries mensuelles ou annuelles</a:t>
                      </a:r>
                    </a:p>
                  </a:txBody>
                  <a:tcPr marL="43200" marR="43200" marT="14400" marB="14400" anchor="ctr">
                    <a:solidFill>
                      <a:srgbClr val="FFFFFF"/>
                    </a:solidFill>
                  </a:tcPr>
                </a:tc>
              </a:tr>
              <a:tr h="324000">
                <a:tc>
                  <a:txBody>
                    <a:bodyPr/>
                    <a:lstStyle/>
                    <a:p>
                      <a:pPr marL="0" indent="0" lvl="0">
                        <a:buNone/>
                      </a:pPr>
                      <a:r>
                        <a:rPr sz="1100" b="1">
                          <a:solidFill>
                            <a:srgbClr val="060606"/>
                          </a:solidFill>
                          <a:latin typeface="Helvetica"/>
                        </a:rPr>
                        <a:t>Intervalle de Wilson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 + z²/2n ± z √(p(1-p)/n + z²/4n²)) / (1 + z²/n), z = 1,96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Balance âgée du 31/08/2026</a:t>
                      </a:r>
                    </a:p>
                  </a:txBody>
                  <a:tcPr marL="43200" marR="43200" marT="14400" marB="14400" anchor="ctr">
                    <a:solidFill>
                      <a:srgbClr val="F2F2F2"/>
                    </a:solidFill>
                  </a:tcPr>
                </a:tc>
              </a:tr>
              <a:tr h="324000">
                <a:tc>
                  <a:txBody>
                    <a:bodyPr/>
                    <a:lstStyle/>
                    <a:p>
                      <a:pPr marL="0" indent="0" lvl="0">
                        <a:buNone/>
                      </a:pPr>
                      <a:r>
                        <a:rPr sz="1100" b="1">
                          <a:solidFill>
                            <a:srgbClr val="060606"/>
                          </a:solidFill>
                          <a:latin typeface="Helvetica"/>
                        </a:rPr>
                        <a:t>Valeur réelle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Valeur nominale × 100 / indice des prix (base 100 en 2020)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Banque mondiale, FP.CPI.TOTL.ZG</a:t>
                      </a:r>
                    </a:p>
                  </a:txBody>
                  <a:tcPr marL="43200" marR="43200" marT="14400" marB="14400" anchor="ctr">
                    <a:solidFill>
                      <a:srgbClr val="FFFFFF"/>
                    </a:solidFill>
                  </a:tcPr>
                </a:tc>
              </a:tr>
              <a:tr h="324000">
                <a:tc>
                  <a:txBody>
                    <a:bodyPr/>
                    <a:lstStyle/>
                    <a:p>
                      <a:pPr marL="0" indent="0" lvl="0">
                        <a:buNone/>
                      </a:pPr>
                      <a:r>
                        <a:rPr sz="1100" b="1">
                          <a:solidFill>
                            <a:srgbClr val="060606"/>
                          </a:solidFill>
                          <a:latin typeface="Helvetica"/>
                        </a:rPr>
                        <a:t>Couverture de l'épargne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Actifs dédiés / (comptes PEP + EFC)</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Balances des comptes</a:t>
                      </a:r>
                    </a:p>
                  </a:txBody>
                  <a:tcPr marL="43200" marR="43200" marT="14400" marB="14400" anchor="ctr">
                    <a:solidFill>
                      <a:srgbClr val="F2F2F2"/>
                    </a:solidFill>
                  </a:tcPr>
                </a:tc>
              </a:tr>
              <a:tr h="324000">
                <a:tc>
                  <a:txBody>
                    <a:bodyPr/>
                    <a:lstStyle/>
                    <a:p>
                      <a:pPr marL="0" indent="0" lvl="0">
                        <a:buNone/>
                      </a:pPr>
                      <a:r>
                        <a:rPr sz="1100" b="1">
                          <a:solidFill>
                            <a:srgbClr val="060606"/>
                          </a:solidFill>
                          <a:latin typeface="Helvetica"/>
                        </a:rPr>
                        <a:t>Rente viagère ä_x</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Σ (L_(x+k) / L_x) × (1,035)^(-k)</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Tables CIMA</a:t>
                      </a:r>
                    </a:p>
                  </a:txBody>
                  <a:tcPr marL="43200" marR="43200" marT="14400" marB="14400" anchor="ctr">
                    <a:solidFill>
                      <a:srgbClr val="FFFFFF"/>
                    </a:solidFill>
                  </a:tcPr>
                </a:tc>
              </a:tr>
              <a:tr h="324000">
                <a:tc>
                  <a:txBody>
                    <a:bodyPr/>
                    <a:lstStyle/>
                    <a:p>
                      <a:pPr marL="0" indent="0" lvl="0">
                        <a:buNone/>
                      </a:pPr>
                      <a:r>
                        <a:rPr sz="1100" b="1">
                          <a:solidFill>
                            <a:srgbClr val="060606"/>
                          </a:solidFill>
                          <a:latin typeface="Helvetica"/>
                        </a:rPr>
                        <a:t>Espérance de vie e_x</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Σ L_(x+k) / L_x pour k ≥ 1, + 0,5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Tables CIMA</a:t>
                      </a:r>
                    </a:p>
                  </a:txBody>
                  <a:tcPr marL="43200" marR="43200" marT="14400" marB="14400" anchor="ctr">
                    <a:solidFill>
                      <a:srgbClr val="F2F2F2"/>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a:t>
            </a:r>
          </a:p>
        </p:txBody>
      </p:sp>
    </p:spTree>
    <p:extLst>
      <p:ext uri="{BB962C8B-B14F-4D97-AF65-F5344CB8AC3E}">
        <p14:creationId xmlns:p14="http://schemas.microsoft.com/office/powerpoint/2010/main" val="3458304331"/>
      </p:ext>
    </p:extLst>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Outils et bibliothèques</a:t>
            </a:r>
          </a:p>
        </p:txBody>
      </p:sp>
      <p:sp>
        <p:nvSpPr>
          <p:cNvPr id="28" name="TextBox 27"/>
          <p:cNvSpPr txBox="1"/>
          <p:nvPr/>
        </p:nvSpPr>
        <p:spPr>
          <a:xfrm>
            <a:off x="503999" y="720000"/>
            <a:ext cx="11232000" cy="216000"/>
          </a:xfrm>
          <a:prstGeom prst="rect">
            <a:avLst/>
          </a:prstGeom>
          <a:noFill/>
        </p:spPr>
        <p:txBody>
          <a:bodyPr wrap="square" anchor="t" lIns="54000" rIns="54000"/>
          <a:lstStyle/>
          <a:p>
            <a:pPr algn="ctr"/>
            <a:r>
              <a:rPr sz="1200" b="0">
                <a:solidFill>
                  <a:srgbClr val="EFAC62"/>
                </a:solidFill>
                <a:latin typeface="Helvetica"/>
              </a:rPr>
              <a:t>Tableau 19 : Outils et bibliothèques utilisés</a:t>
            </a:r>
          </a:p>
        </p:txBody>
      </p:sp>
      <p:graphicFrame>
        <p:nvGraphicFramePr>
          <p:cNvPr id="29" name="Table 28"/>
          <p:cNvGraphicFramePr>
            <a:graphicFrameLocks noGrp="1"/>
          </p:cNvGraphicFramePr>
          <p:nvPr/>
        </p:nvGraphicFramePr>
        <p:xfrm>
          <a:off x="503999" y="990000"/>
          <a:ext cx="11232000" cy="3240000"/>
        </p:xfrm>
        <a:graphic>
          <a:graphicData uri="http://schemas.openxmlformats.org/drawingml/2006/table">
            <a:tbl>
              <a:tblPr firstRow="0" bandRow="0">
                <a:tableStyleId>{5940675A-B579-460E-94D1-54222C63F5DA}</a:tableStyleId>
              </a:tblPr>
              <a:tblGrid>
                <a:gridCol w="2520000"/>
                <a:gridCol w="6552000"/>
                <a:gridCol w="2160000"/>
              </a:tblGrid>
              <a:tr h="324000">
                <a:tc>
                  <a:txBody>
                    <a:bodyPr/>
                    <a:lstStyle/>
                    <a:p>
                      <a:pPr marL="0" indent="0" lvl="0">
                        <a:buNone/>
                      </a:pPr>
                      <a:r>
                        <a:rPr sz="1100" b="1">
                          <a:solidFill>
                            <a:srgbClr val="FFFFFF"/>
                          </a:solidFill>
                          <a:latin typeface="Helvetica"/>
                        </a:rPr>
                        <a:t>Outil</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Usage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Version</a:t>
                      </a:r>
                    </a:p>
                  </a:txBody>
                  <a:tcPr marL="43200" marR="43200" marT="14400" marB="14400" anchor="ctr">
                    <a:solidFill>
                      <a:srgbClr val="060606"/>
                    </a:solidFill>
                  </a:tcPr>
                </a:tc>
              </a:tr>
              <a:tr h="324000">
                <a:tc>
                  <a:txBody>
                    <a:bodyPr/>
                    <a:lstStyle/>
                    <a:p>
                      <a:pPr marL="0" indent="0" lvl="0">
                        <a:buNone/>
                      </a:pPr>
                      <a:r>
                        <a:rPr sz="1100" b="1">
                          <a:solidFill>
                            <a:srgbClr val="060606"/>
                          </a:solidFill>
                          <a:latin typeface="Helvetica"/>
                        </a:rPr>
                        <a:t>Python</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Langage des traitements. Scripts conservés et rejouables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3.13</a:t>
                      </a:r>
                    </a:p>
                  </a:txBody>
                  <a:tcPr marL="43200" marR="43200" marT="14400" marB="14400" anchor="ctr">
                    <a:solidFill>
                      <a:srgbClr val="FFFFFF"/>
                    </a:solidFill>
                  </a:tcPr>
                </a:tc>
              </a:tr>
              <a:tr h="324000">
                <a:tc>
                  <a:txBody>
                    <a:bodyPr/>
                    <a:lstStyle/>
                    <a:p>
                      <a:pPr marL="0" indent="0" lvl="0">
                        <a:buNone/>
                      </a:pPr>
                      <a:r>
                        <a:rPr sz="1100" b="1">
                          <a:solidFill>
                            <a:srgbClr val="060606"/>
                          </a:solidFill>
                          <a:latin typeface="Helvetica"/>
                        </a:rPr>
                        <a:t>Visual Studio Code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Éditeur et exécution des scripts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dernière</a:t>
                      </a:r>
                    </a:p>
                  </a:txBody>
                  <a:tcPr marL="43200" marR="43200" marT="14400" marB="14400" anchor="ctr">
                    <a:solidFill>
                      <a:srgbClr val="F2F2F2"/>
                    </a:solidFill>
                  </a:tcPr>
                </a:tc>
              </a:tr>
              <a:tr h="324000">
                <a:tc>
                  <a:txBody>
                    <a:bodyPr/>
                    <a:lstStyle/>
                    <a:p>
                      <a:pPr marL="0" indent="0" lvl="0">
                        <a:buNone/>
                      </a:pPr>
                      <a:r>
                        <a:rPr sz="1100" b="1">
                          <a:solidFill>
                            <a:srgbClr val="060606"/>
                          </a:solidFill>
                          <a:latin typeface="Helvetica"/>
                        </a:rPr>
                        <a:t>pandas, numpy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Tables de données, calculs, agrégations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3.0 et 2.5</a:t>
                      </a:r>
                    </a:p>
                  </a:txBody>
                  <a:tcPr marL="43200" marR="43200" marT="14400" marB="14400" anchor="ctr">
                    <a:solidFill>
                      <a:srgbClr val="FFFFFF"/>
                    </a:solidFill>
                  </a:tcPr>
                </a:tc>
              </a:tr>
              <a:tr h="324000">
                <a:tc>
                  <a:txBody>
                    <a:bodyPr/>
                    <a:lstStyle/>
                    <a:p>
                      <a:pPr marL="0" indent="0" lvl="0">
                        <a:buNone/>
                      </a:pPr>
                      <a:r>
                        <a:rPr sz="1100" b="1">
                          <a:solidFill>
                            <a:srgbClr val="060606"/>
                          </a:solidFill>
                          <a:latin typeface="Helvetica"/>
                        </a:rPr>
                        <a:t>statsmodels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Régressions et tests statistiques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0.15</a:t>
                      </a:r>
                    </a:p>
                  </a:txBody>
                  <a:tcPr marL="43200" marR="43200" marT="14400" marB="14400" anchor="ctr">
                    <a:solidFill>
                      <a:srgbClr val="F2F2F2"/>
                    </a:solidFill>
                  </a:tcPr>
                </a:tc>
              </a:tr>
              <a:tr h="324000">
                <a:tc>
                  <a:txBody>
                    <a:bodyPr/>
                    <a:lstStyle/>
                    <a:p>
                      <a:pPr marL="0" indent="0" lvl="0">
                        <a:buNone/>
                      </a:pPr>
                      <a:r>
                        <a:rPr sz="1100" b="1">
                          <a:solidFill>
                            <a:srgbClr val="060606"/>
                          </a:solidFill>
                          <a:latin typeface="Helvetica"/>
                        </a:rPr>
                        <a:t>python-calamine, openpyxl, lxml</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Lecture sans perte des fichiers Excel et des pages web</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dernière</a:t>
                      </a:r>
                    </a:p>
                  </a:txBody>
                  <a:tcPr marL="43200" marR="43200" marT="14400" marB="14400" anchor="ctr">
                    <a:solidFill>
                      <a:srgbClr val="FFFFFF"/>
                    </a:solidFill>
                  </a:tcPr>
                </a:tc>
              </a:tr>
              <a:tr h="324000">
                <a:tc>
                  <a:txBody>
                    <a:bodyPr/>
                    <a:lstStyle/>
                    <a:p>
                      <a:pPr marL="0" indent="0" lvl="0">
                        <a:buNone/>
                      </a:pPr>
                      <a:r>
                        <a:rPr sz="1100" b="1">
                          <a:solidFill>
                            <a:srgbClr val="060606"/>
                          </a:solidFill>
                          <a:latin typeface="Helvetica"/>
                        </a:rPr>
                        <a:t>pyarrow</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Stockage de la base d'analyse (Parquet)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26.0</a:t>
                      </a:r>
                    </a:p>
                  </a:txBody>
                  <a:tcPr marL="43200" marR="43200" marT="14400" marB="14400" anchor="ctr">
                    <a:solidFill>
                      <a:srgbClr val="F2F2F2"/>
                    </a:solidFill>
                  </a:tcPr>
                </a:tc>
              </a:tr>
              <a:tr h="324000">
                <a:tc>
                  <a:txBody>
                    <a:bodyPr/>
                    <a:lstStyle/>
                    <a:p>
                      <a:pPr marL="0" indent="0" lvl="0">
                        <a:buNone/>
                      </a:pPr>
                      <a:r>
                        <a:rPr sz="1100" b="1">
                          <a:solidFill>
                            <a:srgbClr val="060606"/>
                          </a:solidFill>
                          <a:latin typeface="Helvetica"/>
                        </a:rPr>
                        <a:t>pymupdf, pdftotext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Lecture et récupération des PDF comptables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dernière</a:t>
                      </a:r>
                    </a:p>
                  </a:txBody>
                  <a:tcPr marL="43200" marR="43200" marT="14400" marB="14400" anchor="ctr">
                    <a:solidFill>
                      <a:srgbClr val="FFFFFF"/>
                    </a:solidFill>
                  </a:tcPr>
                </a:tc>
              </a:tr>
              <a:tr h="324000">
                <a:tc>
                  <a:txBody>
                    <a:bodyPr/>
                    <a:lstStyle/>
                    <a:p>
                      <a:pPr marL="0" indent="0" lvl="0">
                        <a:buNone/>
                      </a:pPr>
                      <a:r>
                        <a:rPr sz="1100" b="1">
                          <a:solidFill>
                            <a:srgbClr val="060606"/>
                          </a:solidFill>
                          <a:latin typeface="Helvetica"/>
                        </a:rPr>
                        <a:t>pygments, Pillow</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Mise en forme des extraits de code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dernière</a:t>
                      </a:r>
                    </a:p>
                  </a:txBody>
                  <a:tcPr marL="43200" marR="43200" marT="14400" marB="14400" anchor="ctr">
                    <a:solidFill>
                      <a:srgbClr val="F2F2F2"/>
                    </a:solidFill>
                  </a:tcPr>
                </a:tc>
              </a:tr>
              <a:tr h="324000">
                <a:tc>
                  <a:txBody>
                    <a:bodyPr/>
                    <a:lstStyle/>
                    <a:p>
                      <a:pPr marL="0" indent="0" lvl="0">
                        <a:buNone/>
                      </a:pPr>
                      <a:r>
                        <a:rPr sz="1100" b="1">
                          <a:solidFill>
                            <a:srgbClr val="060606"/>
                          </a:solidFill>
                          <a:latin typeface="Helvetica"/>
                        </a:rPr>
                        <a:t>python-pptx</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Rapport, graphiques et tableaux natifs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a:t>
                      </a:r>
                    </a:p>
                  </a:txBody>
                  <a:tcPr marL="43200" marR="43200" marT="14400" marB="144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a:t>
            </a:r>
          </a:p>
        </p:txBody>
      </p:sp>
    </p:spTree>
    <p:extLst>
      <p:ext uri="{BB962C8B-B14F-4D97-AF65-F5344CB8AC3E}">
        <p14:creationId xmlns:p14="http://schemas.microsoft.com/office/powerpoint/2010/main" val="2552405875"/>
      </p:ext>
    </p:extLst>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Liste des figures</a:t>
            </a:r>
          </a:p>
        </p:txBody>
      </p:sp>
      <p:graphicFrame>
        <p:nvGraphicFramePr>
          <p:cNvPr id="28" name="Table 27"/>
          <p:cNvGraphicFramePr>
            <a:graphicFrameLocks noGrp="1"/>
          </p:cNvGraphicFramePr>
          <p:nvPr/>
        </p:nvGraphicFramePr>
        <p:xfrm>
          <a:off x="503999" y="720000"/>
          <a:ext cx="5472000" cy="3600000"/>
        </p:xfrm>
        <a:graphic>
          <a:graphicData uri="http://schemas.openxmlformats.org/drawingml/2006/table">
            <a:tbl>
              <a:tblPr firstRow="0" bandRow="0">
                <a:tableStyleId>{5940675A-B579-460E-94D1-54222C63F5DA}</a:tableStyleId>
              </a:tblPr>
              <a:tblGrid>
                <a:gridCol w="612000"/>
                <a:gridCol w="4320000"/>
                <a:gridCol w="540000"/>
              </a:tblGrid>
              <a:tr h="180000">
                <a:tc>
                  <a:txBody>
                    <a:bodyPr/>
                    <a:lstStyle/>
                    <a:p>
                      <a:pPr marL="0" indent="0" lvl="0">
                        <a:buNone/>
                      </a:pPr>
                      <a:r>
                        <a:rPr sz="900" b="1">
                          <a:solidFill>
                            <a:srgbClr val="FFFFFF"/>
                          </a:solidFill>
                          <a:latin typeface="Helvetica"/>
                        </a:rPr>
                        <a:t>Figure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Diapo.</a:t>
                      </a:r>
                    </a:p>
                  </a:txBody>
                  <a:tcPr marL="43200" marR="43200" marT="14400" marB="14400" anchor="ctr">
                    <a:solidFill>
                      <a:srgbClr val="060606"/>
                    </a:solidFill>
                  </a:tcPr>
                </a:tc>
              </a:tr>
              <a:tr h="180000">
                <a:tc>
                  <a:txBody>
                    <a:bodyPr/>
                    <a:lstStyle/>
                    <a:p>
                      <a:pPr marL="0" indent="0" lvl="0">
                        <a:buNone/>
                      </a:pPr>
                      <a:r>
                        <a:rPr sz="9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S/C maladie (prestations /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Épargne due et actifs dédiés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a:t>
                      </a:r>
                    </a:p>
                  </a:txBody>
                  <a:tcPr marL="43200" marR="43200" marT="14400" marB="14400" anchor="ctr">
                    <a:solidFill>
                      <a:srgbClr val="F2F2F2"/>
                    </a:solidFill>
                  </a:tcPr>
                </a:tc>
              </a:tr>
              <a:tr h="180000">
                <a:tc>
                  <a:txBody>
                    <a:bodyPr/>
                    <a:lstStyle/>
                    <a:p>
                      <a:pPr marL="0" indent="0" lvl="0">
                        <a:buNone/>
                      </a:pPr>
                      <a:r>
                        <a:rPr sz="9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Encours des prêts du Grenier</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a:t>
                      </a:r>
                    </a:p>
                  </a:txBody>
                  <a:tcPr marL="43200" marR="43200" marT="14400" marB="14400" anchor="ctr">
                    <a:solidFill>
                      <a:srgbClr val="F2F2F2"/>
                    </a:solidFill>
                  </a:tcPr>
                </a:tc>
              </a:tr>
              <a:tr h="180000">
                <a:tc>
                  <a:txBody>
                    <a:bodyPr/>
                    <a:lstStyle/>
                    <a:p>
                      <a:pPr marL="0" indent="0" lvl="0">
                        <a:buNone/>
                      </a:pPr>
                      <a:r>
                        <a:rPr sz="9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Produits, charges et résultat 2025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18</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Mois reçus par flux de données, sur 80 mois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25</a:t>
                      </a:r>
                    </a:p>
                  </a:txBody>
                  <a:tcPr marL="43200" marR="43200" marT="14400" marB="14400" anchor="ctr">
                    <a:solidFill>
                      <a:srgbClr val="F2F2F2"/>
                    </a:solidFill>
                  </a:tcPr>
                </a:tc>
              </a:tr>
              <a:tr h="180000">
                <a:tc>
                  <a:txBody>
                    <a:bodyPr/>
                    <a:lstStyle/>
                    <a:p>
                      <a:pPr marL="0" indent="0" lvl="0">
                        <a:buNone/>
                      </a:pPr>
                      <a:r>
                        <a:rPr sz="9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 précompté rapporté au montant demandé, mois communs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28</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Cotisants actifs précomptés (poste 936), par mois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34</a:t>
                      </a:r>
                    </a:p>
                  </a:txBody>
                  <a:tcPr marL="43200" marR="43200" marT="14400" marB="14400" anchor="ctr">
                    <a:solidFill>
                      <a:srgbClr val="F2F2F2"/>
                    </a:solidFill>
                  </a:tcPr>
                </a:tc>
              </a:tr>
              <a:tr h="180000">
                <a:tc>
                  <a:txBody>
                    <a:bodyPr/>
                    <a:lstStyle/>
                    <a:p>
                      <a:pPr marL="0" indent="0" lvl="0">
                        <a:buNone/>
                      </a:pPr>
                      <a:r>
                        <a:rPr sz="9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Entrées et sorties de cotisants, par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35</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Agents par ancienneté de service, janv. 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36</a:t>
                      </a:r>
                    </a:p>
                  </a:txBody>
                  <a:tcPr marL="43200" marR="43200" marT="14400" marB="14400" anchor="ctr">
                    <a:solidFill>
                      <a:srgbClr val="F2F2F2"/>
                    </a:solidFill>
                  </a:tcPr>
                </a:tc>
              </a:tr>
              <a:tr h="180000">
                <a:tc>
                  <a:txBody>
                    <a:bodyPr/>
                    <a:lstStyle/>
                    <a:p>
                      <a:pPr marL="0" indent="0" lvl="0">
                        <a:buNone/>
                      </a:pPr>
                      <a:r>
                        <a:rPr sz="9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Répartition du taux de 5 % selon la source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38</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S/C 2025 selon la clé de répartition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39</a:t>
                      </a:r>
                    </a:p>
                  </a:txBody>
                  <a:tcPr marL="43200" marR="43200" marT="14400" marB="14400" anchor="ctr">
                    <a:solidFill>
                      <a:srgbClr val="F2F2F2"/>
                    </a:solidFill>
                  </a:tcPr>
                </a:tc>
              </a:tr>
              <a:tr h="180000">
                <a:tc>
                  <a:txBody>
                    <a:bodyPr/>
                    <a:lstStyle/>
                    <a:p>
                      <a:pPr marL="0" indent="0" lvl="0">
                        <a:buNone/>
                      </a:pPr>
                      <a:r>
                        <a:rPr sz="9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Cotisations nominales et réelles (francs de 2020)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40</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Cotisations comptabilisées par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41</a:t>
                      </a:r>
                    </a:p>
                  </a:txBody>
                  <a:tcPr marL="43200" marR="43200" marT="14400" marB="14400" anchor="ctr">
                    <a:solidFill>
                      <a:srgbClr val="F2F2F2"/>
                    </a:solidFill>
                  </a:tcPr>
                </a:tc>
              </a:tr>
              <a:tr h="180000">
                <a:tc>
                  <a:txBody>
                    <a:bodyPr/>
                    <a:lstStyle/>
                    <a:p>
                      <a:pPr marL="0" indent="0" lvl="0">
                        <a:buNone/>
                      </a:pPr>
                      <a:r>
                        <a:rPr sz="9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Prestations comptabilisées / cotisations (S/C)</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46</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Prestations maladie comptabilisées par nature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48</a:t>
                      </a:r>
                    </a:p>
                  </a:txBody>
                  <a:tcPr marL="43200" marR="43200" marT="14400" marB="14400" anchor="ctr">
                    <a:solidFill>
                      <a:srgbClr val="F2F2F2"/>
                    </a:solidFill>
                  </a:tcPr>
                </a:tc>
              </a:tr>
              <a:tr h="180000">
                <a:tc>
                  <a:txBody>
                    <a:bodyPr/>
                    <a:lstStyle/>
                    <a:p>
                      <a:pPr marL="0" indent="0" lvl="0">
                        <a:buNone/>
                      </a:pPr>
                      <a:r>
                        <a:rPr sz="9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Frais de gestion et résultat net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49</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Épargne au passif et actifs dédiés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54</a:t>
                      </a:r>
                    </a:p>
                  </a:txBody>
                  <a:tcPr marL="43200" marR="43200" marT="14400" marB="14400" anchor="ctr">
                    <a:solidFill>
                      <a:srgbClr val="F2F2F2"/>
                    </a:solidFill>
                  </a:tcPr>
                </a:tc>
              </a:tr>
              <a:tr h="180000">
                <a:tc>
                  <a:txBody>
                    <a:bodyPr/>
                    <a:lstStyle/>
                    <a:p>
                      <a:pPr marL="0" indent="0" lvl="0">
                        <a:buNone/>
                      </a:pPr>
                      <a:r>
                        <a:rPr sz="9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Versements précomptés par produit d'épargne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55</a:t>
                      </a:r>
                    </a:p>
                  </a:txBody>
                  <a:tcPr marL="43200" marR="43200" marT="14400" marB="14400" anchor="ctr">
                    <a:solidFill>
                      <a:srgbClr val="FFFFFF"/>
                    </a:solidFill>
                  </a:tcPr>
                </a:tc>
              </a:tr>
            </a:tbl>
          </a:graphicData>
        </a:graphic>
      </p:graphicFrame>
      <p:graphicFrame>
        <p:nvGraphicFramePr>
          <p:cNvPr id="29" name="Table 28"/>
          <p:cNvGraphicFramePr>
            <a:graphicFrameLocks noGrp="1"/>
          </p:cNvGraphicFramePr>
          <p:nvPr/>
        </p:nvGraphicFramePr>
        <p:xfrm>
          <a:off x="6263999" y="720000"/>
          <a:ext cx="5472000" cy="3420000"/>
        </p:xfrm>
        <a:graphic>
          <a:graphicData uri="http://schemas.openxmlformats.org/drawingml/2006/table">
            <a:tbl>
              <a:tblPr firstRow="0" bandRow="0">
                <a:tableStyleId>{5940675A-B579-460E-94D1-54222C63F5DA}</a:tableStyleId>
              </a:tblPr>
              <a:tblGrid>
                <a:gridCol w="612000"/>
                <a:gridCol w="4320000"/>
                <a:gridCol w="540000"/>
              </a:tblGrid>
              <a:tr h="180000">
                <a:tc>
                  <a:txBody>
                    <a:bodyPr/>
                    <a:lstStyle/>
                    <a:p>
                      <a:pPr marL="0" indent="0" lvl="0">
                        <a:buNone/>
                      </a:pPr>
                      <a:r>
                        <a:rPr sz="900" b="1">
                          <a:solidFill>
                            <a:srgbClr val="FFFFFF"/>
                          </a:solidFill>
                          <a:latin typeface="Helvetica"/>
                        </a:rPr>
                        <a:t>Figure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Diapo.</a:t>
                      </a:r>
                    </a:p>
                  </a:txBody>
                  <a:tcPr marL="43200" marR="43200" marT="14400" marB="14400" anchor="ctr">
                    <a:solidFill>
                      <a:srgbClr val="060606"/>
                    </a:solidFill>
                  </a:tcPr>
                </a:tc>
              </a:tr>
              <a:tr h="180000">
                <a:tc>
                  <a:txBody>
                    <a:bodyPr/>
                    <a:lstStyle/>
                    <a:p>
                      <a:pPr marL="0" indent="0" lvl="0">
                        <a:buNone/>
                      </a:pPr>
                      <a:r>
                        <a:rPr sz="900" b="1">
                          <a:solidFill>
                            <a:srgbClr val="060606"/>
                          </a:solidFill>
                          <a:latin typeface="Helvetica"/>
                        </a:rPr>
                        <a:t>20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Besoin de liquidités selon le taux de retrait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56</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Encours des prêts et financement du FPPN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61</a:t>
                      </a:r>
                    </a:p>
                  </a:txBody>
                  <a:tcPr marL="43200" marR="43200" marT="14400" marB="14400" anchor="ctr">
                    <a:solidFill>
                      <a:srgbClr val="F2F2F2"/>
                    </a:solidFill>
                  </a:tcPr>
                </a:tc>
              </a:tr>
              <a:tr h="180000">
                <a:tc>
                  <a:txBody>
                    <a:bodyPr/>
                    <a:lstStyle/>
                    <a:p>
                      <a:pPr marL="0" indent="0" lvl="0">
                        <a:buNone/>
                      </a:pPr>
                      <a:r>
                        <a:rPr sz="900" b="1">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Montants débloqués par type de crédit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62</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Part de l'encours en retard de plus de 30 et 90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63</a:t>
                      </a:r>
                    </a:p>
                  </a:txBody>
                  <a:tcPr marL="43200" marR="43200" marT="14400" marB="14400" anchor="ctr">
                    <a:solidFill>
                      <a:srgbClr val="F2F2F2"/>
                    </a:solidFill>
                  </a:tcPr>
                </a:tc>
              </a:tr>
              <a:tr h="180000">
                <a:tc>
                  <a:txBody>
                    <a:bodyPr/>
                    <a:lstStyle/>
                    <a:p>
                      <a:pPr marL="0" indent="0" lvl="0">
                        <a:buNone/>
                      </a:pPr>
                      <a:r>
                        <a:rPr sz="900" b="1">
                          <a:solidFill>
                            <a:srgbClr val="060606"/>
                          </a:solidFill>
                          <a:latin typeface="Helvetica"/>
                        </a:rPr>
                        <a:t>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Échéances des prêts en cours et précomptes 9X4, 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65</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Retraités précomptés par la CGRAE, par mois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69</a:t>
                      </a:r>
                    </a:p>
                  </a:txBody>
                  <a:tcPr marL="43200" marR="43200" marT="14400" marB="14400" anchor="ctr">
                    <a:solidFill>
                      <a:srgbClr val="F2F2F2"/>
                    </a:solidFill>
                  </a:tcPr>
                </a:tc>
              </a:tr>
              <a:tr h="180000">
                <a:tc>
                  <a:txBody>
                    <a:bodyPr/>
                    <a:lstStyle/>
                    <a:p>
                      <a:pPr marL="0" indent="0" lvl="0">
                        <a:buNone/>
                      </a:pPr>
                      <a:r>
                        <a:rPr sz="900" b="1">
                          <a:solidFill>
                            <a:srgbClr val="060606"/>
                          </a:solidFill>
                          <a:latin typeface="Helvetica"/>
                        </a:rPr>
                        <a:t>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Mois de prestations couverts par les provisions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74</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Principaux postes de l'actif</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75</a:t>
                      </a:r>
                    </a:p>
                  </a:txBody>
                  <a:tcPr marL="43200" marR="43200" marT="14400" marB="14400" anchor="ctr">
                    <a:solidFill>
                      <a:srgbClr val="F2F2F2"/>
                    </a:solidFill>
                  </a:tcPr>
                </a:tc>
              </a:tr>
              <a:tr h="180000">
                <a:tc>
                  <a:txBody>
                    <a:bodyPr/>
                    <a:lstStyle/>
                    <a:p>
                      <a:pPr marL="0" indent="0" lvl="0">
                        <a:buNone/>
                      </a:pPr>
                      <a:r>
                        <a:rPr sz="900" b="1">
                          <a:solidFill>
                            <a:srgbClr val="060606"/>
                          </a:solidFill>
                          <a:latin typeface="Helvetica"/>
                        </a:rPr>
                        <a:t>28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Fonds propres et résultat de l'exercice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77</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29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directeur de la BCEAO</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78</a:t>
                      </a:r>
                    </a:p>
                  </a:txBody>
                  <a:tcPr marL="43200" marR="43200" marT="14400" marB="14400" anchor="ctr">
                    <a:solidFill>
                      <a:srgbClr val="F2F2F2"/>
                    </a:solidFill>
                  </a:tcPr>
                </a:tc>
              </a:tr>
              <a:tr h="180000">
                <a:tc>
                  <a:txBody>
                    <a:bodyPr/>
                    <a:lstStyle/>
                    <a:p>
                      <a:pPr marL="0" indent="0" lvl="0">
                        <a:buNone/>
                      </a:pPr>
                      <a:r>
                        <a:rPr sz="900" b="1">
                          <a:solidFill>
                            <a:srgbClr val="060606"/>
                          </a:solidFill>
                          <a:latin typeface="Helvetica"/>
                        </a:rPr>
                        <a:t>30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Survivants pour 100 naissances, par âge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83</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31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Probabilité de décès dans l'année (qx), par âge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84</a:t>
                      </a:r>
                    </a:p>
                  </a:txBody>
                  <a:tcPr marL="43200" marR="43200" marT="14400" marB="14400" anchor="ctr">
                    <a:solidFill>
                      <a:srgbClr val="F2F2F2"/>
                    </a:solidFill>
                  </a:tcPr>
                </a:tc>
              </a:tr>
              <a:tr h="180000">
                <a:tc>
                  <a:txBody>
                    <a:bodyPr/>
                    <a:lstStyle/>
                    <a:p>
                      <a:pPr marL="0" indent="0" lvl="0">
                        <a:buNone/>
                      </a:pPr>
                      <a:r>
                        <a:rPr sz="900" b="1">
                          <a:solidFill>
                            <a:srgbClr val="060606"/>
                          </a:solidFill>
                          <a:latin typeface="Helvetica"/>
                        </a:rPr>
                        <a:t>32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Extrait du script, mis en forme comme dans VS Code (reconnaître le vrai format)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96</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33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Extrait du script, mis en forme comme dans VS Code (écarter les lignes de total)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97</a:t>
                      </a:r>
                    </a:p>
                  </a:txBody>
                  <a:tcPr marL="43200" marR="43200" marT="14400" marB="14400" anchor="ctr">
                    <a:solidFill>
                      <a:srgbClr val="F2F2F2"/>
                    </a:solidFill>
                  </a:tcPr>
                </a:tc>
              </a:tr>
              <a:tr h="180000">
                <a:tc>
                  <a:txBody>
                    <a:bodyPr/>
                    <a:lstStyle/>
                    <a:p>
                      <a:pPr marL="0" indent="0" lvl="0">
                        <a:buNone/>
                      </a:pPr>
                      <a:r>
                        <a:rPr sz="900" b="1">
                          <a:solidFill>
                            <a:srgbClr val="060606"/>
                          </a:solidFill>
                          <a:latin typeface="Helvetica"/>
                        </a:rPr>
                        <a:t>34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Extrait du script, mis en forme comme dans VS Code (corriger les montants doublés)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98</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Extrait du script, mis en forme comme dans VS Code (lire les montants du Grenier)</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99</a:t>
                      </a:r>
                    </a:p>
                  </a:txBody>
                  <a:tcPr marL="43200" marR="43200" marT="14400" marB="14400" anchor="ctr">
                    <a:solidFill>
                      <a:srgbClr val="F2F2F2"/>
                    </a:solidFill>
                  </a:tcPr>
                </a:tc>
              </a:tr>
              <a:tr h="180000">
                <a:tc>
                  <a:txBody>
                    <a:bodyPr/>
                    <a:lstStyle/>
                    <a:p>
                      <a:pPr marL="0" indent="0" lvl="0">
                        <a:buNone/>
                      </a:pPr>
                      <a:r>
                        <a:rPr sz="900" b="1">
                          <a:solidFill>
                            <a:srgbClr val="060606"/>
                          </a:solidFill>
                          <a:latin typeface="Helvetica"/>
                        </a:rPr>
                        <a:t>36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Extrait du script, mis en forme comme dans VS Code (calculer la sinistralité)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100</a:t>
                      </a:r>
                    </a:p>
                  </a:txBody>
                  <a:tcPr marL="43200" marR="43200" marT="14400" marB="14400" anchor="ctr">
                    <a:solidFill>
                      <a:srgbClr val="FFFFFF"/>
                    </a:solidFill>
                  </a:tcPr>
                </a:tc>
              </a:tr>
              <a:tr h="180000">
                <a:tc>
                  <a:txBody>
                    <a:bodyPr/>
                    <a:lstStyle/>
                    <a:p>
                      <a:pPr marL="0" indent="0" lvl="0">
                        <a:buNone/>
                      </a:pPr>
                      <a:r>
                        <a:rPr sz="900" b="1">
                          <a:solidFill>
                            <a:srgbClr val="060606"/>
                          </a:solidFill>
                          <a:latin typeface="Helvetica"/>
                        </a:rPr>
                        <a:t>37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Extrait du script, mis en forme comme dans VS Code (intervalle de confiance)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101</a:t>
                      </a:r>
                    </a:p>
                  </a:txBody>
                  <a:tcPr marL="43200" marR="43200" marT="14400" marB="14400" anchor="ctr">
                    <a:solidFill>
                      <a:srgbClr val="F2F2F2"/>
                    </a:solidFill>
                  </a:tcPr>
                </a:tc>
              </a:tr>
            </a:tbl>
          </a:graphicData>
        </a:graphic>
      </p:graphicFrame>
    </p:spTree>
    <p:extLst>
      <p:ext uri="{BB962C8B-B14F-4D97-AF65-F5344CB8AC3E}">
        <p14:creationId xmlns:p14="http://schemas.microsoft.com/office/powerpoint/2010/main" val="781602673"/>
      </p:ext>
    </p:extLst>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Liste des tableaux</a:t>
            </a:r>
          </a:p>
        </p:txBody>
      </p:sp>
      <p:graphicFrame>
        <p:nvGraphicFramePr>
          <p:cNvPr id="28" name="Table 27"/>
          <p:cNvGraphicFramePr>
            <a:graphicFrameLocks noGrp="1"/>
          </p:cNvGraphicFramePr>
          <p:nvPr/>
        </p:nvGraphicFramePr>
        <p:xfrm>
          <a:off x="503999" y="720000"/>
          <a:ext cx="5472000" cy="3564000"/>
        </p:xfrm>
        <a:graphic>
          <a:graphicData uri="http://schemas.openxmlformats.org/drawingml/2006/table">
            <a:tbl>
              <a:tblPr firstRow="0" bandRow="0">
                <a:tableStyleId>{5940675A-B579-460E-94D1-54222C63F5DA}</a:tableStyleId>
              </a:tblPr>
              <a:tblGrid>
                <a:gridCol w="612000"/>
                <a:gridCol w="4320000"/>
                <a:gridCol w="540000"/>
              </a:tblGrid>
              <a:tr h="324000">
                <a:tc>
                  <a:txBody>
                    <a:bodyPr/>
                    <a:lstStyle/>
                    <a:p>
                      <a:pPr marL="0" indent="0" lvl="0">
                        <a:buNone/>
                      </a:pPr>
                      <a:r>
                        <a:rPr sz="1000" b="1">
                          <a:solidFill>
                            <a:srgbClr val="FFFFFF"/>
                          </a:solidFill>
                          <a:latin typeface="Helvetica"/>
                        </a:rPr>
                        <a:t>Tableau</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Diapo.</a:t>
                      </a:r>
                    </a:p>
                  </a:txBody>
                  <a:tcPr marL="43200" marR="43200" marT="14400" marB="14400" anchor="ctr">
                    <a:solidFill>
                      <a:srgbClr val="060606"/>
                    </a:solidFill>
                  </a:tcPr>
                </a:tc>
              </a:tr>
              <a:tr h="324000">
                <a:tc>
                  <a:txBody>
                    <a:bodyPr/>
                    <a:lstStyle/>
                    <a:p>
                      <a:pPr marL="0" indent="0" lvl="0">
                        <a:buNone/>
                      </a:pPr>
                      <a:r>
                        <a:rPr sz="10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Principaux constats au 15/10/2026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a:t>
                      </a:r>
                    </a:p>
                  </a:txBody>
                  <a:tcPr marL="43200" marR="43200" marT="14400" marB="14400" anchor="ctr">
                    <a:solidFill>
                      <a:srgbClr val="FFFFFF"/>
                    </a:solidFill>
                  </a:tcPr>
                </a:tc>
              </a:tr>
              <a:tr h="324000">
                <a:tc>
                  <a:txBody>
                    <a:bodyPr/>
                    <a:lstStyle/>
                    <a:p>
                      <a:pPr marL="0" indent="0" lvl="0">
                        <a:buNone/>
                      </a:pPr>
                      <a:r>
                        <a:rPr sz="10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Actions recommandées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a:t>
                      </a:r>
                    </a:p>
                  </a:txBody>
                  <a:tcPr marL="43200" marR="43200" marT="14400" marB="14400" anchor="ctr">
                    <a:solidFill>
                      <a:srgbClr val="F2F2F2"/>
                    </a:solidFill>
                  </a:tcPr>
                </a:tc>
              </a:tr>
              <a:tr h="324000">
                <a:tc>
                  <a:txBody>
                    <a:bodyPr/>
                    <a:lstStyle/>
                    <a:p>
                      <a:pPr marL="0" indent="0" lvl="0">
                        <a:buNone/>
                      </a:pPr>
                      <a:r>
                        <a:rPr sz="10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Textes et organismes de référence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a:t>
                      </a:r>
                    </a:p>
                  </a:txBody>
                  <a:tcPr marL="43200" marR="43200" marT="14400" marB="14400" anchor="ctr">
                    <a:solidFill>
                      <a:srgbClr val="FFFFFF"/>
                    </a:solidFill>
                  </a:tcPr>
                </a:tc>
              </a:tr>
              <a:tr h="324000">
                <a:tc>
                  <a:txBody>
                    <a:bodyPr/>
                    <a:lstStyle/>
                    <a:p>
                      <a:pPr marL="0" indent="0" lvl="0">
                        <a:buNone/>
                      </a:pPr>
                      <a:r>
                        <a:rPr sz="10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Produits du FPPN et montants observés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16</a:t>
                      </a:r>
                    </a:p>
                  </a:txBody>
                  <a:tcPr marL="43200" marR="43200" marT="14400" marB="14400" anchor="ctr">
                    <a:solidFill>
                      <a:srgbClr val="F2F2F2"/>
                    </a:solidFill>
                  </a:tcPr>
                </a:tc>
              </a:tr>
              <a:tr h="324000">
                <a:tc>
                  <a:txBody>
                    <a:bodyPr/>
                    <a:lstStyle/>
                    <a:p>
                      <a:pPr marL="0" indent="0" lvl="0">
                        <a:buNone/>
                      </a:pPr>
                      <a:r>
                        <a:rPr sz="10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Notions utilisées dans le rapport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a:t>
                      </a:r>
                    </a:p>
                  </a:txBody>
                  <a:tcPr marL="43200" marR="43200" marT="14400" marB="14400" anchor="ctr">
                    <a:solidFill>
                      <a:srgbClr val="FFFFFF"/>
                    </a:solidFill>
                  </a:tcPr>
                </a:tc>
              </a:tr>
              <a:tr h="324000">
                <a:tc>
                  <a:txBody>
                    <a:bodyPr/>
                    <a:lstStyle/>
                    <a:p>
                      <a:pPr marL="0" indent="0" lvl="0">
                        <a:buNone/>
                      </a:pPr>
                      <a:r>
                        <a:rPr sz="10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Périmètre de la mission actuarielle et statistique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21</a:t>
                      </a:r>
                    </a:p>
                  </a:txBody>
                  <a:tcPr marL="43200" marR="43200" marT="14400" marB="14400" anchor="ctr">
                    <a:solidFill>
                      <a:srgbClr val="F2F2F2"/>
                    </a:solidFill>
                  </a:tcPr>
                </a:tc>
              </a:tr>
              <a:tr h="324000">
                <a:tc>
                  <a:txBody>
                    <a:bodyPr/>
                    <a:lstStyle/>
                    <a:p>
                      <a:pPr marL="0" indent="0" lvl="0">
                        <a:buNone/>
                      </a:pPr>
                      <a:r>
                        <a:rPr sz="10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Fichiers à renvoyer ou à corriger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a:t>
                      </a:r>
                    </a:p>
                  </a:txBody>
                  <a:tcPr marL="43200" marR="43200" marT="14400" marB="14400" anchor="ctr">
                    <a:solidFill>
                      <a:srgbClr val="FFFFFF"/>
                    </a:solidFill>
                  </a:tcPr>
                </a:tc>
              </a:tr>
              <a:tr h="324000">
                <a:tc>
                  <a:txBody>
                    <a:bodyPr/>
                    <a:lstStyle/>
                    <a:p>
                      <a:pPr marL="0" indent="0" lvl="0">
                        <a:buNone/>
                      </a:pPr>
                      <a:r>
                        <a:rPr sz="10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Taux de croissance annuels moyens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47</a:t>
                      </a:r>
                    </a:p>
                  </a:txBody>
                  <a:tcPr marL="43200" marR="43200" marT="14400" marB="14400" anchor="ctr">
                    <a:solidFill>
                      <a:srgbClr val="F2F2F2"/>
                    </a:solidFill>
                  </a:tcPr>
                </a:tc>
              </a:tr>
              <a:tr h="324000">
                <a:tc>
                  <a:txBody>
                    <a:bodyPr/>
                    <a:lstStyle/>
                    <a:p>
                      <a:pPr marL="0" indent="0" lvl="0">
                        <a:buNone/>
                      </a:pPr>
                      <a:r>
                        <a:rPr sz="10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Références du poste 998, 2020 à août 2026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57</a:t>
                      </a:r>
                    </a:p>
                  </a:txBody>
                  <a:tcPr marL="43200" marR="43200" marT="14400" marB="14400" anchor="ctr">
                    <a:solidFill>
                      <a:srgbClr val="FFFFFF"/>
                    </a:solidFill>
                  </a:tcPr>
                </a:tc>
              </a:tr>
              <a:tr h="324000">
                <a:tc>
                  <a:txBody>
                    <a:bodyPr/>
                    <a:lstStyle/>
                    <a:p>
                      <a:pPr marL="0" indent="0" lvl="0">
                        <a:buNone/>
                      </a:pPr>
                      <a:r>
                        <a:rPr sz="10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Provision selon le taux de perte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66</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6263999" y="720000"/>
          <a:ext cx="5472000" cy="3240000"/>
        </p:xfrm>
        <a:graphic>
          <a:graphicData uri="http://schemas.openxmlformats.org/drawingml/2006/table">
            <a:tbl>
              <a:tblPr firstRow="0" bandRow="0">
                <a:tableStyleId>{5940675A-B579-460E-94D1-54222C63F5DA}</a:tableStyleId>
              </a:tblPr>
              <a:tblGrid>
                <a:gridCol w="612000"/>
                <a:gridCol w="4320000"/>
                <a:gridCol w="540000"/>
              </a:tblGrid>
              <a:tr h="324000">
                <a:tc>
                  <a:txBody>
                    <a:bodyPr/>
                    <a:lstStyle/>
                    <a:p>
                      <a:pPr marL="0" indent="0" lvl="0">
                        <a:buNone/>
                      </a:pPr>
                      <a:r>
                        <a:rPr sz="1000" b="1">
                          <a:solidFill>
                            <a:srgbClr val="FFFFFF"/>
                          </a:solidFill>
                          <a:latin typeface="Helvetica"/>
                        </a:rPr>
                        <a:t>Tableau</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Diapo.</a:t>
                      </a:r>
                    </a:p>
                  </a:txBody>
                  <a:tcPr marL="43200" marR="43200" marT="14400" marB="14400" anchor="ctr">
                    <a:solidFill>
                      <a:srgbClr val="060606"/>
                    </a:solidFill>
                  </a:tcPr>
                </a:tc>
              </a:tr>
              <a:tr h="324000">
                <a:tc>
                  <a:txBody>
                    <a:bodyPr/>
                    <a:lstStyle/>
                    <a:p>
                      <a:pPr marL="0" indent="0" lvl="0">
                        <a:buNone/>
                      </a:pPr>
                      <a:r>
                        <a:rPr sz="10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Produits annexes et points à clarifier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70</a:t>
                      </a:r>
                    </a:p>
                  </a:txBody>
                  <a:tcPr marL="43200" marR="43200" marT="14400" marB="14400" anchor="ctr">
                    <a:solidFill>
                      <a:srgbClr val="FFFFFF"/>
                    </a:solidFill>
                  </a:tcPr>
                </a:tc>
              </a:tr>
              <a:tr h="324000">
                <a:tc>
                  <a:txBody>
                    <a:bodyPr/>
                    <a:lstStyle/>
                    <a:p>
                      <a:pPr marL="0" indent="0" lvl="0">
                        <a:buNone/>
                      </a:pPr>
                      <a:r>
                        <a:rPr sz="10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Tables de mortalité CIMA et usage retenu</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82</a:t>
                      </a:r>
                    </a:p>
                  </a:txBody>
                  <a:tcPr marL="43200" marR="43200" marT="14400" marB="14400" anchor="ctr">
                    <a:solidFill>
                      <a:srgbClr val="F2F2F2"/>
                    </a:solidFill>
                  </a:tcPr>
                </a:tc>
              </a:tr>
              <a:tr h="324000">
                <a:tc>
                  <a:txBody>
                    <a:bodyPr/>
                    <a:lstStyle/>
                    <a:p>
                      <a:pPr marL="0" indent="0" lvl="0">
                        <a:buNone/>
                      </a:pPr>
                      <a:r>
                        <a:rPr sz="10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Espérance de vie et valeur de la rente viagère (taux de 3,5 %)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85</a:t>
                      </a:r>
                    </a:p>
                  </a:txBody>
                  <a:tcPr marL="43200" marR="43200" marT="14400" marB="14400" anchor="ctr">
                    <a:solidFill>
                      <a:srgbClr val="FFFFFF"/>
                    </a:solidFill>
                  </a:tcPr>
                </a:tc>
              </a:tr>
              <a:tr h="324000">
                <a:tc>
                  <a:txBody>
                    <a:bodyPr/>
                    <a:lstStyle/>
                    <a:p>
                      <a:pPr marL="0" indent="0" lvl="0">
                        <a:buNone/>
                      </a:pPr>
                      <a:r>
                        <a:rPr sz="10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Méthodes en attente et données nécessaires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93</a:t>
                      </a:r>
                    </a:p>
                  </a:txBody>
                  <a:tcPr marL="43200" marR="43200" marT="14400" marB="14400" anchor="ctr">
                    <a:solidFill>
                      <a:srgbClr val="F2F2F2"/>
                    </a:solidFill>
                  </a:tcPr>
                </a:tc>
              </a:tr>
              <a:tr h="324000">
                <a:tc>
                  <a:txBody>
                    <a:bodyPr/>
                    <a:lstStyle/>
                    <a:p>
                      <a:pPr marL="0" indent="0" lvl="0">
                        <a:buNone/>
                      </a:pPr>
                      <a:r>
                        <a:rPr sz="10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Scripts de la mission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95</a:t>
                      </a:r>
                    </a:p>
                  </a:txBody>
                  <a:tcPr marL="43200" marR="43200" marT="14400" marB="14400" anchor="ctr">
                    <a:solidFill>
                      <a:srgbClr val="FFFFFF"/>
                    </a:solidFill>
                  </a:tcPr>
                </a:tc>
              </a:tr>
              <a:tr h="324000">
                <a:tc>
                  <a:txBody>
                    <a:bodyPr/>
                    <a:lstStyle/>
                    <a:p>
                      <a:pPr marL="0" indent="0" lvl="0">
                        <a:buNone/>
                      </a:pPr>
                      <a:r>
                        <a:rPr sz="10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Analyses en attente et documents nécessaires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104</a:t>
                      </a:r>
                    </a:p>
                  </a:txBody>
                  <a:tcPr marL="43200" marR="43200" marT="14400" marB="14400" anchor="ctr">
                    <a:solidFill>
                      <a:srgbClr val="F2F2F2"/>
                    </a:solidFill>
                  </a:tcPr>
                </a:tc>
              </a:tr>
              <a:tr h="324000">
                <a:tc>
                  <a:txBody>
                    <a:bodyPr/>
                    <a:lstStyle/>
                    <a:p>
                      <a:pPr marL="0" indent="0" lvl="0">
                        <a:buNone/>
                      </a:pPr>
                      <a:r>
                        <a:rPr sz="10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Points à clarifier avec le FPPN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105</a:t>
                      </a:r>
                    </a:p>
                  </a:txBody>
                  <a:tcPr marL="43200" marR="43200" marT="14400" marB="14400" anchor="ctr">
                    <a:solidFill>
                      <a:srgbClr val="FFFFFF"/>
                    </a:solidFill>
                  </a:tcPr>
                </a:tc>
              </a:tr>
              <a:tr h="324000">
                <a:tc>
                  <a:txBody>
                    <a:bodyPr/>
                    <a:lstStyle/>
                    <a:p>
                      <a:pPr marL="0" indent="0" lvl="0">
                        <a:buNone/>
                      </a:pPr>
                      <a:r>
                        <a:rPr sz="10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Indicateurs, formules et sources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107</a:t>
                      </a:r>
                    </a:p>
                  </a:txBody>
                  <a:tcPr marL="43200" marR="43200" marT="14400" marB="14400" anchor="ctr">
                    <a:solidFill>
                      <a:srgbClr val="F2F2F2"/>
                    </a:solidFill>
                  </a:tcPr>
                </a:tc>
              </a:tr>
              <a:tr h="324000">
                <a:tc>
                  <a:txBody>
                    <a:bodyPr/>
                    <a:lstStyle/>
                    <a:p>
                      <a:pPr marL="0" indent="0" lvl="0">
                        <a:buNone/>
                      </a:pPr>
                      <a:r>
                        <a:rPr sz="10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Outils et bibliothèques utilisés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108</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1226359152"/>
      </p:ext>
    </p:extLst>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Signes et abréviations</a:t>
            </a:r>
          </a:p>
        </p:txBody>
      </p:sp>
      <p:graphicFrame>
        <p:nvGraphicFramePr>
          <p:cNvPr id="28" name="Table 27"/>
          <p:cNvGraphicFramePr>
            <a:graphicFrameLocks noGrp="1"/>
          </p:cNvGraphicFramePr>
          <p:nvPr/>
        </p:nvGraphicFramePr>
        <p:xfrm>
          <a:off x="503999" y="720000"/>
          <a:ext cx="11232000" cy="4212000"/>
        </p:xfrm>
        <a:graphic>
          <a:graphicData uri="http://schemas.openxmlformats.org/drawingml/2006/table">
            <a:tbl>
              <a:tblPr firstRow="0" bandRow="0">
                <a:tableStyleId>{5940675A-B579-460E-94D1-54222C63F5DA}</a:tableStyleId>
              </a:tblPr>
              <a:tblGrid>
                <a:gridCol w="1224000"/>
                <a:gridCol w="4392000"/>
                <a:gridCol w="1224000"/>
                <a:gridCol w="4392000"/>
              </a:tblGrid>
              <a:tr h="324000">
                <a:tc>
                  <a:txBody>
                    <a:bodyPr/>
                    <a:lstStyle/>
                    <a:p>
                      <a:pPr marL="0" indent="0" lvl="0">
                        <a:buNone/>
                      </a:pPr>
                      <a:r>
                        <a:rPr sz="1000" b="1">
                          <a:solidFill>
                            <a:srgbClr val="FFFFFF"/>
                          </a:solidFill>
                          <a:latin typeface="Helvetica"/>
                        </a:rPr>
                        <a:t>Sigle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Signification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Sigle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Signification</a:t>
                      </a:r>
                    </a:p>
                  </a:txBody>
                  <a:tcPr marL="43200" marR="43200" marT="14400" marB="14400" anchor="ctr">
                    <a:solidFill>
                      <a:srgbClr val="060606"/>
                    </a:solidFill>
                  </a:tcPr>
                </a:tc>
              </a:tr>
              <a:tr h="324000">
                <a:tc>
                  <a:txBody>
                    <a:bodyPr/>
                    <a:lstStyle/>
                    <a:p>
                      <a:pPr marL="0" indent="0" lvl="0">
                        <a:buNone/>
                      </a:pPr>
                      <a:r>
                        <a:rPr sz="1000" b="1">
                          <a:solidFill>
                            <a:srgbClr val="060606"/>
                          </a:solidFill>
                          <a:latin typeface="Helvetica"/>
                        </a:rPr>
                        <a:t>A/E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Décès observés / décès attendus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IC</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Intervalle de confiance</a:t>
                      </a:r>
                    </a:p>
                  </a:txBody>
                  <a:tcPr marL="43200" marR="43200" marT="14400" marB="14400" anchor="ctr">
                    <a:solidFill>
                      <a:srgbClr val="FFFFFF"/>
                    </a:solidFill>
                  </a:tcPr>
                </a:tc>
              </a:tr>
              <a:tr h="324000">
                <a:tc>
                  <a:txBody>
                    <a:bodyPr/>
                    <a:lstStyle/>
                    <a:p>
                      <a:pPr marL="0" indent="0" lvl="0">
                        <a:buNone/>
                      </a:pPr>
                      <a:r>
                        <a:rPr sz="1000" b="1">
                          <a:solidFill>
                            <a:srgbClr val="060606"/>
                          </a:solidFill>
                          <a:latin typeface="Helvetica"/>
                        </a:rPr>
                        <a:t>AIRMS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Autorité de régulation de la mutualité sociale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 / Md</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Millions / milliards de FCFA</a:t>
                      </a:r>
                    </a:p>
                  </a:txBody>
                  <a:tcPr marL="43200" marR="43200" marT="14400" marB="14400" anchor="ctr">
                    <a:solidFill>
                      <a:srgbClr val="F2F2F2"/>
                    </a:solidFill>
                  </a:tcPr>
                </a:tc>
              </a:tr>
              <a:tr h="324000">
                <a:tc>
                  <a:txBody>
                    <a:bodyPr/>
                    <a:lstStyle/>
                    <a:p>
                      <a:pPr marL="0" indent="0" lvl="0">
                        <a:buNone/>
                      </a:pPr>
                      <a:r>
                        <a:rPr sz="1000" b="1">
                          <a:solidFill>
                            <a:srgbClr val="060606"/>
                          </a:solidFill>
                          <a:latin typeface="Helvetica"/>
                        </a:rPr>
                        <a:t>ä_x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Valeur d'une rente viagère de 1 par an à l'âge 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PAR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Part de l'encours en retard</a:t>
                      </a:r>
                    </a:p>
                  </a:txBody>
                  <a:tcPr marL="43200" marR="43200" marT="14400" marB="14400" anchor="ctr">
                    <a:solidFill>
                      <a:srgbClr val="FFFFFF"/>
                    </a:solidFill>
                  </a:tcPr>
                </a:tc>
              </a:tr>
              <a:tr h="324000">
                <a:tc>
                  <a:txBody>
                    <a:bodyPr/>
                    <a:lstStyle/>
                    <a:p>
                      <a:pPr marL="0" indent="0" lvl="0">
                        <a:buNone/>
                      </a:pPr>
                      <a:r>
                        <a:rPr sz="1000" b="1">
                          <a:solidFill>
                            <a:srgbClr val="060606"/>
                          </a:solidFill>
                          <a:latin typeface="Helvetica"/>
                        </a:rPr>
                        <a:t>BCEAO</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Banque centrale des États de l'Afrique de l'Ouest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PBC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Liste des documents demandés au client</a:t>
                      </a:r>
                    </a:p>
                  </a:txBody>
                  <a:tcPr marL="43200" marR="43200" marT="14400" marB="14400" anchor="ctr">
                    <a:solidFill>
                      <a:srgbClr val="F2F2F2"/>
                    </a:solidFill>
                  </a:tcPr>
                </a:tc>
              </a:tr>
              <a:tr h="324000">
                <a:tc>
                  <a:txBody>
                    <a:bodyPr/>
                    <a:lstStyle/>
                    <a:p>
                      <a:pPr marL="0" indent="0" lvl="0">
                        <a:buNone/>
                      </a:pPr>
                      <a:r>
                        <a:rPr sz="1000" b="1">
                          <a:solidFill>
                            <a:srgbClr val="060606"/>
                          </a:solidFill>
                          <a:latin typeface="Helvetica"/>
                        </a:rPr>
                        <a:t>CGRAE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Caisse générale de retraite des agents de l'État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Plan d'épargne (poste 998)</a:t>
                      </a:r>
                    </a:p>
                  </a:txBody>
                  <a:tcPr marL="43200" marR="43200" marT="14400" marB="14400" anchor="ctr">
                    <a:solidFill>
                      <a:srgbClr val="FFFFFF"/>
                    </a:solidFill>
                  </a:tcPr>
                </a:tc>
              </a:tr>
              <a:tr h="324000">
                <a:tc>
                  <a:txBody>
                    <a:bodyPr/>
                    <a:lstStyle/>
                    <a:p>
                      <a:pPr marL="0" indent="0" lvl="0">
                        <a:buNone/>
                      </a:pPr>
                      <a:r>
                        <a:rPr sz="1000" b="1">
                          <a:solidFill>
                            <a:srgbClr val="060606"/>
                          </a:solidFill>
                          <a:latin typeface="Helvetica"/>
                        </a:rPr>
                        <a:t>CIMA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Conférence interafricaine des marchés d'assurances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PSAP</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Provision pour sinistres à payer</a:t>
                      </a:r>
                    </a:p>
                  </a:txBody>
                  <a:tcPr marL="43200" marR="43200" marT="14400" marB="14400" anchor="ctr">
                    <a:solidFill>
                      <a:srgbClr val="F2F2F2"/>
                    </a:solidFill>
                  </a:tcPr>
                </a:tc>
              </a:tr>
              <a:tr h="324000">
                <a:tc>
                  <a:txBody>
                    <a:bodyPr/>
                    <a:lstStyle/>
                    <a:p>
                      <a:pPr marL="0" indent="0" lvl="0">
                        <a:buNone/>
                      </a:pPr>
                      <a:r>
                        <a:rPr sz="1000" b="1">
                          <a:solidFill>
                            <a:srgbClr val="060606"/>
                          </a:solidFill>
                          <a:latin typeface="Helvetica"/>
                        </a:rPr>
                        <a:t>CMP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Centre médical de la Police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qx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Probabilité de décès entre x et x + 1</a:t>
                      </a:r>
                    </a:p>
                  </a:txBody>
                  <a:tcPr marL="43200" marR="43200" marT="14400" marB="14400" anchor="ctr">
                    <a:solidFill>
                      <a:srgbClr val="FFFFFF"/>
                    </a:solidFill>
                  </a:tcPr>
                </a:tc>
              </a:tr>
              <a:tr h="324000">
                <a:tc>
                  <a:txBody>
                    <a:bodyPr/>
                    <a:lstStyle/>
                    <a:p>
                      <a:pPr marL="0" indent="0" lvl="0">
                        <a:buNone/>
                      </a:pPr>
                      <a:r>
                        <a:rPr sz="1000" b="1">
                          <a:solidFill>
                            <a:srgbClr val="060606"/>
                          </a:solidFill>
                          <a:latin typeface="Helvetica"/>
                        </a:rPr>
                        <a:t>DAT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Dépôt à terme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S/C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Prestations / cotisations</a:t>
                      </a:r>
                    </a:p>
                  </a:txBody>
                  <a:tcPr marL="43200" marR="43200" marT="14400" marB="14400" anchor="ctr">
                    <a:solidFill>
                      <a:srgbClr val="F2F2F2"/>
                    </a:solidFill>
                  </a:tcPr>
                </a:tc>
              </a:tr>
              <a:tr h="324000">
                <a:tc>
                  <a:txBody>
                    <a:bodyPr/>
                    <a:lstStyle/>
                    <a:p>
                      <a:pPr marL="0" indent="0" lvl="0">
                        <a:buNone/>
                      </a:pPr>
                      <a:r>
                        <a:rPr sz="1000" b="1">
                          <a:solidFill>
                            <a:srgbClr val="060606"/>
                          </a:solidFill>
                          <a:latin typeface="Helvetica"/>
                        </a:rPr>
                        <a:t>e_x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Espérance de vie à l'âge 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TCAM</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Taux de croissance annuel moyen</a:t>
                      </a:r>
                    </a:p>
                  </a:txBody>
                  <a:tcPr marL="43200" marR="43200" marT="14400" marB="14400" anchor="ctr">
                    <a:solidFill>
                      <a:srgbClr val="FFFFFF"/>
                    </a:solidFill>
                  </a:tcPr>
                </a:tc>
              </a:tr>
              <a:tr h="324000">
                <a:tc>
                  <a:txBody>
                    <a:bodyPr/>
                    <a:lstStyle/>
                    <a:p>
                      <a:pPr marL="0" indent="0" lvl="0">
                        <a:buNone/>
                      </a:pPr>
                      <a:r>
                        <a:rPr sz="1000" b="1">
                          <a:solidFill>
                            <a:srgbClr val="060606"/>
                          </a:solidFill>
                          <a:latin typeface="Helvetica"/>
                        </a:rPr>
                        <a:t>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Entraide fin de carrière (poste 870)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UEMOA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Union économique et monétaire ouest-africaine</a:t>
                      </a:r>
                    </a:p>
                  </a:txBody>
                  <a:tcPr marL="43200" marR="43200" marT="14400" marB="14400" anchor="ctr">
                    <a:solidFill>
                      <a:srgbClr val="F2F2F2"/>
                    </a:solidFill>
                  </a:tcPr>
                </a:tc>
              </a:tr>
              <a:tr h="324000">
                <a:tc>
                  <a:txBody>
                    <a:bodyPr/>
                    <a:lstStyle/>
                    <a:p>
                      <a:pPr marL="0" indent="0" lvl="0">
                        <a:buNone/>
                      </a:pPr>
                      <a:r>
                        <a:rPr sz="1000" b="1">
                          <a:solidFill>
                            <a:srgbClr val="060606"/>
                          </a:solidFill>
                          <a:latin typeface="Helvetica"/>
                        </a:rPr>
                        <a:t>FCP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commun de placement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936, 8Z6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Postes maladie, décès</a:t>
                      </a:r>
                    </a:p>
                  </a:txBody>
                  <a:tcPr marL="43200" marR="43200" marT="14400" marB="14400" anchor="ctr">
                    <a:solidFill>
                      <a:srgbClr val="FFFFFF"/>
                    </a:solidFill>
                  </a:tcPr>
                </a:tc>
              </a:tr>
              <a:tr h="324000">
                <a:tc>
                  <a:txBody>
                    <a:bodyPr/>
                    <a:lstStyle/>
                    <a:p>
                      <a:pPr marL="0" indent="0" lvl="0">
                        <a:buNone/>
                      </a:pPr>
                      <a:r>
                        <a:rPr sz="1000" b="1">
                          <a:solidFill>
                            <a:srgbClr val="060606"/>
                          </a:solidFill>
                          <a:latin typeface="Helvetica"/>
                        </a:rPr>
                        <a:t>IBNR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Sinistres survenus non encore déclarés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9X4, 9W3, 8Z7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Postes Grenier, flotte, MEDOC</a:t>
                      </a:r>
                    </a:p>
                  </a:txBody>
                  <a:tcPr marL="43200" marR="43200" marT="14400" marB="14400" anchor="ctr">
                    <a:solidFill>
                      <a:srgbClr val="F2F2F2"/>
                    </a:solidFill>
                  </a:tcPr>
                </a:tc>
              </a:tr>
            </a:tbl>
          </a:graphicData>
        </a:graphic>
      </p:graphicFrame>
    </p:spTree>
    <p:extLst>
      <p:ext uri="{BB962C8B-B14F-4D97-AF65-F5344CB8AC3E}">
        <p14:creationId xmlns:p14="http://schemas.microsoft.com/office/powerpoint/2010/main" val="2527407166"/>
      </p:ext>
    </p:extLst>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Références et sources</a:t>
            </a:r>
          </a:p>
        </p:txBody>
      </p:sp>
      <p:graphicFrame>
        <p:nvGraphicFramePr>
          <p:cNvPr id="28" name="Table 27"/>
          <p:cNvGraphicFramePr>
            <a:graphicFrameLocks noGrp="1"/>
          </p:cNvGraphicFramePr>
          <p:nvPr/>
        </p:nvGraphicFramePr>
        <p:xfrm>
          <a:off x="503999" y="720000"/>
          <a:ext cx="11232000" cy="3564000"/>
        </p:xfrm>
        <a:graphic>
          <a:graphicData uri="http://schemas.openxmlformats.org/drawingml/2006/table">
            <a:tbl>
              <a:tblPr firstRow="0" bandRow="0">
                <a:tableStyleId>{5940675A-B579-460E-94D1-54222C63F5DA}</a:tableStyleId>
              </a:tblPr>
              <a:tblGrid>
                <a:gridCol w="3096000"/>
                <a:gridCol w="3816000"/>
                <a:gridCol w="4320000"/>
              </a:tblGrid>
              <a:tr h="324000">
                <a:tc>
                  <a:txBody>
                    <a:bodyPr/>
                    <a:lstStyle/>
                    <a:p>
                      <a:pPr marL="0" indent="0" lvl="0">
                        <a:buNone/>
                      </a:pPr>
                      <a:r>
                        <a:rPr sz="11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Contenu utilisé</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Lien ou emplacement</a:t>
                      </a:r>
                    </a:p>
                  </a:txBody>
                  <a:tcPr marL="43200" marR="43200" marT="14400" marB="14400" anchor="ctr">
                    <a:solidFill>
                      <a:srgbClr val="060606"/>
                    </a:solidFill>
                  </a:tcPr>
                </a:tc>
              </a:tr>
              <a:tr h="324000">
                <a:tc>
                  <a:txBody>
                    <a:bodyPr/>
                    <a:lstStyle/>
                    <a:p>
                      <a:pPr marL="0" indent="0" lvl="0">
                        <a:buNone/>
                      </a:pPr>
                      <a:r>
                        <a:rPr sz="1100" b="1">
                          <a:solidFill>
                            <a:srgbClr val="060606"/>
                          </a:solidFill>
                          <a:latin typeface="Helvetica"/>
                        </a:rPr>
                        <a:t>Envoi du FPPN du 15/10/2026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Précomptes, balances, exports du Grenier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Dossier 04-Documents reçus du client</a:t>
                      </a:r>
                    </a:p>
                  </a:txBody>
                  <a:tcPr marL="43200" marR="43200" marT="14400" marB="14400" anchor="ctr">
                    <a:solidFill>
                      <a:srgbClr val="FFFFFF"/>
                    </a:solidFill>
                  </a:tcPr>
                </a:tc>
              </a:tr>
              <a:tr h="324000">
                <a:tc>
                  <a:txBody>
                    <a:bodyPr/>
                    <a:lstStyle/>
                    <a:p>
                      <a:pPr marL="0" indent="0" lvl="0">
                        <a:buNone/>
                      </a:pPr>
                      <a:r>
                        <a:rPr sz="1100" b="1">
                          <a:solidFill>
                            <a:srgbClr val="060606"/>
                          </a:solidFill>
                          <a:latin typeface="Helvetica"/>
                        </a:rPr>
                        <a:t>Grands livres 2021, 2022, 2024, 2025 (PDF)</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Détail des écritures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Envoi complémentaire du 18/10/2026</a:t>
                      </a:r>
                    </a:p>
                  </a:txBody>
                  <a:tcPr marL="43200" marR="43200" marT="14400" marB="14400" anchor="ctr">
                    <a:solidFill>
                      <a:srgbClr val="F2F2F2"/>
                    </a:solidFill>
                  </a:tcPr>
                </a:tc>
              </a:tr>
              <a:tr h="324000">
                <a:tc>
                  <a:txBody>
                    <a:bodyPr/>
                    <a:lstStyle/>
                    <a:p>
                      <a:pPr marL="0" indent="0" lvl="0">
                        <a:buNone/>
                      </a:pPr>
                      <a:r>
                        <a:rPr sz="1100" b="1">
                          <a:solidFill>
                            <a:srgbClr val="060606"/>
                          </a:solidFill>
                          <a:latin typeface="Helvetica"/>
                        </a:rPr>
                        <a:t>Règlement n° 07/2009/CM/UEMOA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Cadre de la mutualité sociale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flagship.social-protection.org (Media.action?id=9421)</a:t>
                      </a:r>
                    </a:p>
                  </a:txBody>
                  <a:tcPr marL="43200" marR="43200" marT="14400" marB="14400" anchor="ctr">
                    <a:solidFill>
                      <a:srgbClr val="FFFFFF"/>
                    </a:solidFill>
                  </a:tcPr>
                </a:tc>
              </a:tr>
              <a:tr h="324000">
                <a:tc>
                  <a:txBody>
                    <a:bodyPr/>
                    <a:lstStyle/>
                    <a:p>
                      <a:pPr marL="0" indent="0" lvl="0">
                        <a:buNone/>
                      </a:pPr>
                      <a:r>
                        <a:rPr sz="1100" b="1">
                          <a:solidFill>
                            <a:srgbClr val="060606"/>
                          </a:solidFill>
                          <a:latin typeface="Helvetica"/>
                        </a:rPr>
                        <a:t>Ordonnance n° 2024-1043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FOMUS-CI</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civlii.laws.africa</a:t>
                      </a:r>
                    </a:p>
                  </a:txBody>
                  <a:tcPr marL="43200" marR="43200" marT="14400" marB="14400" anchor="ctr">
                    <a:solidFill>
                      <a:srgbClr val="F2F2F2"/>
                    </a:solidFill>
                  </a:tcPr>
                </a:tc>
              </a:tr>
              <a:tr h="324000">
                <a:tc>
                  <a:txBody>
                    <a:bodyPr/>
                    <a:lstStyle/>
                    <a:p>
                      <a:pPr marL="0" indent="0" lvl="0">
                        <a:buNone/>
                      </a:pPr>
                      <a:r>
                        <a:rPr sz="1100" b="1">
                          <a:solidFill>
                            <a:srgbClr val="060606"/>
                          </a:solidFill>
                          <a:latin typeface="Helvetica"/>
                        </a:rPr>
                        <a:t>Code CIMA, article 338</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Tables et taux technique de 3,5 %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cima-afrique.org</a:t>
                      </a:r>
                    </a:p>
                  </a:txBody>
                  <a:tcPr marL="43200" marR="43200" marT="14400" marB="14400" anchor="ctr">
                    <a:solidFill>
                      <a:srgbClr val="FFFFFF"/>
                    </a:solidFill>
                  </a:tcPr>
                </a:tc>
              </a:tr>
              <a:tr h="324000">
                <a:tc>
                  <a:txBody>
                    <a:bodyPr/>
                    <a:lstStyle/>
                    <a:p>
                      <a:pPr marL="0" indent="0" lvl="0">
                        <a:buNone/>
                      </a:pPr>
                      <a:r>
                        <a:rPr sz="1100" b="1">
                          <a:solidFill>
                            <a:srgbClr val="060606"/>
                          </a:solidFill>
                          <a:latin typeface="Helvetica"/>
                        </a:rPr>
                        <a:t>Tables CIMA H, CIMA F, TD, TV</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Mortalité de référence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Fichiers fournis le 18/10/2026</a:t>
                      </a:r>
                    </a:p>
                  </a:txBody>
                  <a:tcPr marL="43200" marR="43200" marT="14400" marB="14400" anchor="ctr">
                    <a:solidFill>
                      <a:srgbClr val="F2F2F2"/>
                    </a:solidFill>
                  </a:tcPr>
                </a:tc>
              </a:tr>
              <a:tr h="324000">
                <a:tc>
                  <a:txBody>
                    <a:bodyPr/>
                    <a:lstStyle/>
                    <a:p>
                      <a:pPr marL="0" indent="0" lvl="0">
                        <a:buNone/>
                      </a:pPr>
                      <a:r>
                        <a:rPr sz="1100" b="1">
                          <a:solidFill>
                            <a:srgbClr val="060606"/>
                          </a:solidFill>
                          <a:latin typeface="Helvetica"/>
                        </a:rPr>
                        <a:t>Table ronde CIMA FANAF (2011)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Comparaison des tables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fanaf.org</a:t>
                      </a:r>
                    </a:p>
                  </a:txBody>
                  <a:tcPr marL="43200" marR="43200" marT="14400" marB="14400" anchor="ctr">
                    <a:solidFill>
                      <a:srgbClr val="FFFFFF"/>
                    </a:solidFill>
                  </a:tcPr>
                </a:tc>
              </a:tr>
              <a:tr h="324000">
                <a:tc>
                  <a:txBody>
                    <a:bodyPr/>
                    <a:lstStyle/>
                    <a:p>
                      <a:pPr marL="0" indent="0" lvl="0">
                        <a:buNone/>
                      </a:pPr>
                      <a:r>
                        <a:rPr sz="1100" b="1">
                          <a:solidFill>
                            <a:srgbClr val="060606"/>
                          </a:solidFill>
                          <a:latin typeface="Helvetica"/>
                        </a:rPr>
                        <a:t>BCEAO, communiqués du CPM 2020 à 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Taux directeurs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bceao.int</a:t>
                      </a:r>
                    </a:p>
                  </a:txBody>
                  <a:tcPr marL="43200" marR="43200" marT="14400" marB="14400" anchor="ctr">
                    <a:solidFill>
                      <a:srgbClr val="F2F2F2"/>
                    </a:solidFill>
                  </a:tcPr>
                </a:tc>
              </a:tr>
              <a:tr h="324000">
                <a:tc>
                  <a:txBody>
                    <a:bodyPr/>
                    <a:lstStyle/>
                    <a:p>
                      <a:pPr marL="0" indent="0" lvl="0">
                        <a:buNone/>
                      </a:pPr>
                      <a:r>
                        <a:rPr sz="1100" b="1">
                          <a:solidFill>
                            <a:srgbClr val="060606"/>
                          </a:solidFill>
                          <a:latin typeface="Helvetica"/>
                        </a:rPr>
                        <a:t>Banque mondiale, FP.CPI.TOTL.ZG</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Inflation 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donnees.banquemondiale.org</a:t>
                      </a:r>
                    </a:p>
                  </a:txBody>
                  <a:tcPr marL="43200" marR="43200" marT="14400" marB="14400" anchor="ctr">
                    <a:solidFill>
                      <a:srgbClr val="FFFFFF"/>
                    </a:solidFill>
                  </a:tcPr>
                </a:tc>
              </a:tr>
              <a:tr h="324000">
                <a:tc>
                  <a:txBody>
                    <a:bodyPr/>
                    <a:lstStyle/>
                    <a:p>
                      <a:pPr marL="0" indent="0" lvl="0">
                        <a:buNone/>
                      </a:pPr>
                      <a:r>
                        <a:rPr sz="1100" b="1">
                          <a:solidFill>
                            <a:srgbClr val="060606"/>
                          </a:solidFill>
                          <a:latin typeface="Helvetica"/>
                        </a:rPr>
                        <a:t>Classeur des calculs v2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Tous les tableaux, séries et la traçabilité</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FPPN_Calculs_rapport_20261015_v2.xlsx</a:t>
                      </a:r>
                    </a:p>
                  </a:txBody>
                  <a:tcPr marL="43200" marR="43200" marT="14400" marB="14400" anchor="ctr">
                    <a:solidFill>
                      <a:srgbClr val="F2F2F2"/>
                    </a:solidFill>
                  </a:tcPr>
                </a:tc>
              </a:tr>
            </a:tbl>
          </a:graphicData>
        </a:graphic>
      </p:graphicFrame>
    </p:spTree>
    <p:extLst>
      <p:ext uri="{BB962C8B-B14F-4D97-AF65-F5344CB8AC3E}">
        <p14:creationId xmlns:p14="http://schemas.microsoft.com/office/powerpoint/2010/main" val="2888925444"/>
      </p:ext>
    </p:extLst>
  </p:cSld>
  <p:clrMapOvr>
    <a:masterClrMapping/>
  </p:clrMapOvr>
  <p:transition>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40667" y="-1240"/>
            <a:ext cx="6858000" cy="6858000"/>
          </a:xfrm>
          <a:prstGeom prst="rect">
            <a:avLst/>
          </a:prstGeom>
        </p:spPr>
      </p:pic>
      <p:sp>
        <p:nvSpPr>
          <p:cNvPr id="15" name="Rectangle 14"/>
          <p:cNvSpPr/>
          <p:nvPr/>
        </p:nvSpPr>
        <p:spPr>
          <a:xfrm>
            <a:off x="0" y="0"/>
            <a:ext cx="6045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3" name="Google Shape;138;p25"/>
          <p:cNvSpPr txBox="1"/>
          <p:nvPr/>
        </p:nvSpPr>
        <p:spPr>
          <a:xfrm>
            <a:off x="920037" y="3088600"/>
            <a:ext cx="5800971" cy="615553"/>
          </a:xfrm>
          <a:prstGeom prst="rect">
            <a:avLst/>
          </a:prstGeom>
          <a:noFill/>
          <a:ln>
            <a:noFill/>
          </a:ln>
        </p:spPr>
        <p:txBody>
          <a:bodyPr spcFirstLastPara="1" wrap="square" lIns="0" tIns="0" rIns="0" bIns="0" anchor="t" anchorCtr="0">
            <a:spAutoFit/>
          </a:bodyPr>
          <a:lstStyle/>
          <a:p>
            <a:r>
              <a:rPr lang="fr-CI" sz="4000" noProof="0">
                <a:solidFill>
                  <a:schemeClr val="bg1"/>
                </a:solidFill>
                <a:latin typeface="Helvetica" panose="020B0604020202020204" pitchFamily="34" charset="0"/>
                <a:cs typeface="Helvetica" panose="020B0604020202020204" pitchFamily="34" charset="0"/>
              </a:rPr>
              <a:t>Merci </a:t>
            </a:r>
          </a:p>
        </p:txBody>
      </p:sp>
    </p:spTree>
    <p:extLst>
      <p:ext uri="{BB962C8B-B14F-4D97-AF65-F5344CB8AC3E}">
        <p14:creationId xmlns:p14="http://schemas.microsoft.com/office/powerpoint/2010/main" val="21165902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2509</TotalTime>
  <Words>16641</Words>
  <Application>Microsoft Office PowerPoint</Application>
  <PresentationFormat>Grand écran</PresentationFormat>
  <Paragraphs>1935</Paragraphs>
  <Slides>113</Slides>
  <Notes>2</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Adenka Consulting</dc:creator>
  <cp:lastModifiedBy>Adenka Consulting</cp:lastModifiedBy>
  <cp:revision>1</cp:revision>
  <dcterms:created xsi:type="dcterms:W3CDTF">2025-10-22T15:02:15Z</dcterms:created>
  <dcterms:modified xsi:type="dcterms:W3CDTF">2026-09-23T09:25:57Z</dcterms:modified>
  <dc:subject/>
  <cp:keywords/>
  <dc:description/>
</cp:coreProperties>
</file>