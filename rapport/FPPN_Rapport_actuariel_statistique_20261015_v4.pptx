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1.xml" ContentType="application/vnd.ms-office.chartcolorstyle+xml"/>
  <Override PartName="/ppt/charts/colors12.xml" ContentType="application/vnd.ms-office.chartcolorstyle+xml"/>
  <Override PartName="/ppt/charts/colors13.xml" ContentType="application/vnd.ms-office.chartcolorstyle+xml"/>
  <Override PartName="/ppt/charts/colors14.xml" ContentType="application/vnd.ms-office.chartcolorstyle+xml"/>
  <Override PartName="/ppt/charts/style11.xml" ContentType="application/vnd.ms-office.chartstyle+xml"/>
  <Override PartName="/ppt/charts/style12.xml" ContentType="application/vnd.ms-office.chartstyle+xml"/>
  <Override PartName="/ppt/charts/style13.xml" ContentType="application/vnd.ms-office.chartstyle+xml"/>
  <Override PartName="/ppt/charts/style14.xml" ContentType="application/vnd.ms-office.chartstyle+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5" r:id="rId2"/>
  </p:sldMasterIdLst>
  <p:notesMasterIdLst>
    <p:notesMasterId r:id="rId117"/>
  </p:notesMasterIdLst>
  <p:sldIdLst>
    <p:sldId id="256" r:id="rId3"/>
    <p:sldId id="313" r:id="rId7"/>
    <p:sldId id="260" r:id="rId4"/>
    <p:sldId id="404" r:id="rId124"/>
    <p:sldId id="335" r:id="rId51"/>
    <p:sldId id="405" r:id="rId125"/>
    <p:sldId id="325" r:id="rId25"/>
    <p:sldId id="406" r:id="rId126"/>
    <p:sldId id="407" r:id="rId127"/>
    <p:sldId id="408" r:id="rId128"/>
    <p:sldId id="369" r:id="rId109"/>
    <p:sldId id="361" r:id="rId85"/>
    <p:sldId id="409" r:id="rId129"/>
    <p:sldId id="330" r:id="rId41"/>
    <p:sldId id="410" r:id="rId130"/>
    <p:sldId id="411" r:id="rId131"/>
    <p:sldId id="412" r:id="rId132"/>
    <p:sldId id="413" r:id="rId133"/>
    <p:sldId id="414" r:id="rId134"/>
    <p:sldId id="415" r:id="rId135"/>
    <p:sldId id="416" r:id="rId136"/>
    <p:sldId id="417" r:id="rId137"/>
    <p:sldId id="418" r:id="rId138"/>
    <p:sldId id="419" r:id="rId139"/>
    <p:sldId id="420" r:id="rId140"/>
    <p:sldId id="312" r:id="rId11"/>
    <p:sldId id="421" r:id="rId141"/>
    <p:sldId id="422" r:id="rId142"/>
    <p:sldId id="423" r:id="rId143"/>
    <p:sldId id="424" r:id="rId144"/>
    <p:sldId id="425" r:id="rId145"/>
    <p:sldId id="426" r:id="rId146"/>
    <p:sldId id="316" r:id="rId15"/>
    <p:sldId id="427" r:id="rId147"/>
    <p:sldId id="428" r:id="rId148"/>
    <p:sldId id="429" r:id="rId149"/>
    <p:sldId id="430" r:id="rId150"/>
    <p:sldId id="431" r:id="rId151"/>
    <p:sldId id="432" r:id="rId152"/>
    <p:sldId id="433" r:id="rId153"/>
    <p:sldId id="434" r:id="rId154"/>
    <p:sldId id="435" r:id="rId155"/>
    <p:sldId id="436" r:id="rId156"/>
    <p:sldId id="437" r:id="rId157"/>
    <p:sldId id="438" r:id="rId158"/>
    <p:sldId id="439" r:id="rId159"/>
    <p:sldId id="440" r:id="rId160"/>
    <p:sldId id="441" r:id="rId161"/>
    <p:sldId id="442" r:id="rId162"/>
    <p:sldId id="443" r:id="rId163"/>
    <p:sldId id="444" r:id="rId164"/>
    <p:sldId id="445" r:id="rId165"/>
    <p:sldId id="446" r:id="rId166"/>
    <p:sldId id="447" r:id="rId167"/>
    <p:sldId id="448" r:id="rId168"/>
    <p:sldId id="449" r:id="rId169"/>
    <p:sldId id="450" r:id="rId170"/>
    <p:sldId id="451" r:id="rId171"/>
    <p:sldId id="452" r:id="rId172"/>
    <p:sldId id="453" r:id="rId173"/>
    <p:sldId id="454" r:id="rId174"/>
    <p:sldId id="455" r:id="rId175"/>
    <p:sldId id="456" r:id="rId176"/>
    <p:sldId id="457" r:id="rId177"/>
    <p:sldId id="458" r:id="rId178"/>
    <p:sldId id="459" r:id="rId179"/>
    <p:sldId id="460" r:id="rId180"/>
    <p:sldId id="461" r:id="rId181"/>
    <p:sldId id="462" r:id="rId182"/>
    <p:sldId id="463" r:id="rId183"/>
    <p:sldId id="464" r:id="rId184"/>
    <p:sldId id="465" r:id="rId185"/>
    <p:sldId id="466" r:id="rId186"/>
    <p:sldId id="467" r:id="rId187"/>
    <p:sldId id="468" r:id="rId188"/>
    <p:sldId id="469" r:id="rId189"/>
    <p:sldId id="470" r:id="rId190"/>
    <p:sldId id="471" r:id="rId191"/>
    <p:sldId id="472" r:id="rId192"/>
    <p:sldId id="473" r:id="rId193"/>
    <p:sldId id="474" r:id="rId194"/>
    <p:sldId id="475" r:id="rId195"/>
    <p:sldId id="476" r:id="rId196"/>
    <p:sldId id="477" r:id="rId197"/>
    <p:sldId id="478" r:id="rId198"/>
    <p:sldId id="479" r:id="rId199"/>
    <p:sldId id="480" r:id="rId200"/>
    <p:sldId id="399" r:id="rId33"/>
    <p:sldId id="481" r:id="rId201"/>
    <p:sldId id="482" r:id="rId202"/>
    <p:sldId id="329" r:id="rId31"/>
    <p:sldId id="483" r:id="rId203"/>
    <p:sldId id="484" r:id="rId204"/>
    <p:sldId id="485" r:id="rId205"/>
    <p:sldId id="486" r:id="rId206"/>
    <p:sldId id="487" r:id="rId207"/>
    <p:sldId id="488" r:id="rId208"/>
    <p:sldId id="489" r:id="rId209"/>
    <p:sldId id="490" r:id="rId210"/>
    <p:sldId id="491" r:id="rId211"/>
    <p:sldId id="492" r:id="rId212"/>
    <p:sldId id="493" r:id="rId213"/>
    <p:sldId id="494" r:id="rId214"/>
    <p:sldId id="495" r:id="rId215"/>
    <p:sldId id="496" r:id="rId216"/>
    <p:sldId id="497" r:id="rId217"/>
    <p:sldId id="498" r:id="rId218"/>
    <p:sldId id="499" r:id="rId219"/>
    <p:sldId id="500" r:id="rId220"/>
    <p:sldId id="501" r:id="rId221"/>
    <p:sldId id="502" r:id="rId222"/>
    <p:sldId id="503" r:id="rId223"/>
    <p:sldId id="504" r:id="rId224"/>
    <p:sldId id="505" r:id="rId225"/>
    <p:sldId id="506" r:id="rId226"/>
    <p:sldId id="507" r:id="rId227"/>
    <p:sldId id="508" r:id="rId228"/>
    <p:sldId id="509" r:id="rId229"/>
    <p:sldId id="510" r:id="rId230"/>
    <p:sldId id="511" r:id="rId231"/>
    <p:sldId id="512" r:id="rId232"/>
    <p:sldId id="513" r:id="rId233"/>
    <p:sldId id="514" r:id="rId234"/>
    <p:sldId id="515" r:id="rId235"/>
    <p:sldId id="516" r:id="rId236"/>
    <p:sldId id="332" r:id="rId43"/>
    <p:sldId id="517" r:id="rId237"/>
    <p:sldId id="518" r:id="rId238"/>
    <p:sldId id="519" r:id="rId239"/>
    <p:sldId id="520" r:id="rId240"/>
    <p:sldId id="521" r:id="rId241"/>
    <p:sldId id="522" r:id="rId242"/>
    <p:sldId id="523" r:id="rId243"/>
    <p:sldId id="524" r:id="rId244"/>
    <p:sldId id="525" r:id="rId245"/>
    <p:sldId id="526" r:id="rId246"/>
    <p:sldId id="527" r:id="rId247"/>
    <p:sldId id="528" r:id="rId248"/>
    <p:sldId id="529" r:id="rId249"/>
    <p:sldId id="530" r:id="rId250"/>
    <p:sldId id="531" r:id="rId251"/>
    <p:sldId id="532" r:id="rId252"/>
    <p:sldId id="533" r:id="rId253"/>
    <p:sldId id="534" r:id="rId254"/>
    <p:sldId id="535" r:id="rId255"/>
    <p:sldId id="536" r:id="rId256"/>
    <p:sldId id="537" r:id="rId257"/>
    <p:sldId id="538" r:id="rId258"/>
    <p:sldId id="539" r:id="rId259"/>
    <p:sldId id="328" r:id="rId11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uverture" id="{9C8FC9B7-AD45-409C-8017-02DEBDF9C938}">
          <p14:sldIdLst>
            <p14:sldId id="256"/>
          </p14:sldIdLst>
        </p14:section>
        <p14:section name="Contenu" id="{41430ABC-712C-4A41-8691-5284113E2CD9}">
          <p14:sldIdLst>
            <p14:sldId id="260"/>
            <p14:sldId id="261"/>
            <p14:sldId id="310"/>
            <p14:sldId id="313"/>
            <p14:sldId id="403"/>
            <p14:sldId id="402"/>
            <p14:sldId id="291"/>
            <p14:sldId id="312"/>
            <p14:sldId id="314"/>
            <p14:sldId id="317"/>
            <p14:sldId id="315"/>
            <p14:sldId id="316"/>
            <p14:sldId id="323"/>
            <p14:sldId id="324"/>
            <p14:sldId id="321"/>
            <p14:sldId id="322"/>
            <p14:sldId id="264"/>
            <p14:sldId id="318"/>
            <p14:sldId id="319"/>
            <p14:sldId id="320"/>
            <p14:sldId id="326"/>
            <p14:sldId id="325"/>
            <p14:sldId id="266"/>
            <p14:sldId id="327"/>
            <p14:sldId id="268"/>
            <p14:sldId id="271"/>
            <p14:sldId id="287"/>
            <p14:sldId id="329"/>
            <p14:sldId id="398"/>
            <p14:sldId id="399"/>
            <p14:sldId id="391"/>
            <p14:sldId id="397"/>
            <p14:sldId id="395"/>
            <p14:sldId id="396"/>
            <p14:sldId id="393"/>
            <p14:sldId id="392"/>
            <p14:sldId id="270"/>
            <p14:sldId id="330"/>
            <p14:sldId id="331"/>
            <p14:sldId id="332"/>
            <p14:sldId id="272"/>
            <p14:sldId id="333"/>
            <p14:sldId id="289"/>
            <p14:sldId id="334"/>
            <p14:sldId id="277"/>
            <p14:sldId id="278"/>
            <p14:sldId id="274"/>
            <p14:sldId id="335"/>
            <p14:sldId id="336"/>
            <p14:sldId id="348"/>
            <p14:sldId id="341"/>
            <p14:sldId id="349"/>
            <p14:sldId id="342"/>
            <p14:sldId id="350"/>
            <p14:sldId id="343"/>
            <p14:sldId id="351"/>
            <p14:sldId id="344"/>
            <p14:sldId id="352"/>
            <p14:sldId id="345"/>
            <p14:sldId id="353"/>
            <p14:sldId id="346"/>
            <p14:sldId id="354"/>
            <p14:sldId id="347"/>
            <p14:sldId id="355"/>
            <p14:sldId id="338"/>
            <p14:sldId id="356"/>
            <p14:sldId id="337"/>
            <p14:sldId id="357"/>
            <p14:sldId id="276"/>
            <p14:sldId id="358"/>
            <p14:sldId id="339"/>
            <p14:sldId id="359"/>
            <p14:sldId id="381"/>
            <p14:sldId id="385"/>
            <p14:sldId id="382"/>
            <p14:sldId id="400"/>
            <p14:sldId id="294"/>
            <p14:sldId id="360"/>
            <p14:sldId id="285"/>
            <p14:sldId id="286"/>
            <p14:sldId id="299"/>
            <p14:sldId id="361"/>
            <p14:sldId id="362"/>
            <p14:sldId id="283"/>
            <p14:sldId id="297"/>
            <p14:sldId id="365"/>
            <p14:sldId id="364"/>
            <p14:sldId id="363"/>
            <p14:sldId id="366"/>
            <p14:sldId id="367"/>
            <p14:sldId id="368"/>
            <p14:sldId id="370"/>
            <p14:sldId id="374"/>
            <p14:sldId id="375"/>
          </p14:sldIdLst>
        </p14:section>
        <p14:section name="Graphs" id="{551B27DB-FB3B-4066-9154-1B46F0A65216}">
          <p14:sldIdLst>
            <p14:sldId id="301"/>
            <p14:sldId id="304"/>
            <p14:sldId id="303"/>
            <p14:sldId id="302"/>
            <p14:sldId id="305"/>
            <p14:sldId id="306"/>
            <p14:sldId id="378"/>
            <p14:sldId id="376"/>
            <p14:sldId id="379"/>
            <p14:sldId id="388"/>
            <p14:sldId id="307"/>
            <p14:sldId id="369"/>
            <p14:sldId id="389"/>
            <p14:sldId id="390"/>
          </p14:sldIdLst>
        </p14:section>
        <p14:section name="Merci" id="{DE1A67E5-D1FE-41AF-88BB-A85595BA690B}">
          <p14:sldIdLst>
            <p14:sldId id="328"/>
          </p14:sldIdLst>
        </p14:section>
        <p14:section name="Symboles" id="{49175908-295D-4406-8512-BB62EA88444D}">
          <p14:sldIdLst>
            <p14:sldId id="371"/>
            <p14:sldId id="373"/>
            <p14:sldId id="401"/>
            <p14:sldId id="3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AC62"/>
    <a:srgbClr val="060606"/>
    <a:srgbClr val="112A4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4BD68B-DEB5-4C72-B758-AA0E2A02C403}" v="4" dt="2026-09-23T09:25:47.7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3.xml"/><Relationship Id="rId7" Type="http://schemas.openxmlformats.org/officeDocument/2006/relationships/slide" Target="slides/slide2.xml"/><Relationship Id="rId11" Type="http://schemas.openxmlformats.org/officeDocument/2006/relationships/slide" Target="slides/slide26.xml"/><Relationship Id="rId15" Type="http://schemas.openxmlformats.org/officeDocument/2006/relationships/slide" Target="slides/slide33.xml"/><Relationship Id="rId25" Type="http://schemas.openxmlformats.org/officeDocument/2006/relationships/slide" Target="slides/slide7.xml"/><Relationship Id="rId31" Type="http://schemas.openxmlformats.org/officeDocument/2006/relationships/slide" Target="slides/slide91.xml"/><Relationship Id="rId33" Type="http://schemas.openxmlformats.org/officeDocument/2006/relationships/slide" Target="slides/slide88.xml"/><Relationship Id="rId41" Type="http://schemas.openxmlformats.org/officeDocument/2006/relationships/slide" Target="slides/slide14.xml"/><Relationship Id="rId43" Type="http://schemas.openxmlformats.org/officeDocument/2006/relationships/slide" Target="slides/slide126.xml"/><Relationship Id="rId51" Type="http://schemas.openxmlformats.org/officeDocument/2006/relationships/slide" Target="slides/slide5.xml"/><Relationship Id="rId85" Type="http://schemas.openxmlformats.org/officeDocument/2006/relationships/slide" Target="slides/slide12.xml"/><Relationship Id="rId109" Type="http://schemas.openxmlformats.org/officeDocument/2006/relationships/slide" Target="slides/slide11.xml"/><Relationship Id="rId112" Type="http://schemas.openxmlformats.org/officeDocument/2006/relationships/slide" Target="slides/slide150.xml"/><Relationship Id="rId117" Type="http://schemas.openxmlformats.org/officeDocument/2006/relationships/notesMaster" Target="notesMasters/notesMaster1.xml"/><Relationship Id="rId118" Type="http://schemas.openxmlformats.org/officeDocument/2006/relationships/presProps" Target="presProps.xml"/><Relationship Id="rId119" Type="http://schemas.openxmlformats.org/officeDocument/2006/relationships/viewProps" Target="viewProps.xml"/><Relationship Id="rId120" Type="http://schemas.openxmlformats.org/officeDocument/2006/relationships/theme" Target="theme/theme1.xml"/><Relationship Id="rId121" Type="http://schemas.openxmlformats.org/officeDocument/2006/relationships/tableStyles" Target="tableStyles.xml"/><Relationship Id="rId122" Type="http://schemas.microsoft.com/office/2016/11/relationships/changesInfo" Target="changesInfos/changesInfo1.xml"/><Relationship Id="rId123" Type="http://schemas.microsoft.com/office/2015/10/relationships/revisionInfo" Target="revisionInfo.xml"/><Relationship Id="rId124" Type="http://schemas.openxmlformats.org/officeDocument/2006/relationships/slide" Target="slides/slide4.xml"/><Relationship Id="rId125" Type="http://schemas.openxmlformats.org/officeDocument/2006/relationships/slide" Target="slides/slide6.xml"/><Relationship Id="rId126" Type="http://schemas.openxmlformats.org/officeDocument/2006/relationships/slide" Target="slides/slide8.xml"/><Relationship Id="rId127" Type="http://schemas.openxmlformats.org/officeDocument/2006/relationships/slide" Target="slides/slide9.xml"/><Relationship Id="rId128" Type="http://schemas.openxmlformats.org/officeDocument/2006/relationships/slide" Target="slides/slide10.xml"/><Relationship Id="rId129" Type="http://schemas.openxmlformats.org/officeDocument/2006/relationships/slide" Target="slides/slide13.xml"/><Relationship Id="rId130" Type="http://schemas.openxmlformats.org/officeDocument/2006/relationships/slide" Target="slides/slide15.xml"/><Relationship Id="rId131" Type="http://schemas.openxmlformats.org/officeDocument/2006/relationships/slide" Target="slides/slide16.xml"/><Relationship Id="rId132" Type="http://schemas.openxmlformats.org/officeDocument/2006/relationships/slide" Target="slides/slide17.xml"/><Relationship Id="rId133" Type="http://schemas.openxmlformats.org/officeDocument/2006/relationships/slide" Target="slides/slide18.xml"/><Relationship Id="rId134" Type="http://schemas.openxmlformats.org/officeDocument/2006/relationships/slide" Target="slides/slide19.xml"/><Relationship Id="rId135" Type="http://schemas.openxmlformats.org/officeDocument/2006/relationships/slide" Target="slides/slide20.xml"/><Relationship Id="rId136" Type="http://schemas.openxmlformats.org/officeDocument/2006/relationships/slide" Target="slides/slide21.xml"/><Relationship Id="rId137" Type="http://schemas.openxmlformats.org/officeDocument/2006/relationships/slide" Target="slides/slide22.xml"/><Relationship Id="rId138" Type="http://schemas.openxmlformats.org/officeDocument/2006/relationships/slide" Target="slides/slide23.xml"/><Relationship Id="rId139" Type="http://schemas.openxmlformats.org/officeDocument/2006/relationships/slide" Target="slides/slide24.xml"/><Relationship Id="rId140" Type="http://schemas.openxmlformats.org/officeDocument/2006/relationships/slide" Target="slides/slide25.xml"/><Relationship Id="rId141" Type="http://schemas.openxmlformats.org/officeDocument/2006/relationships/slide" Target="slides/slide27.xml"/><Relationship Id="rId142" Type="http://schemas.openxmlformats.org/officeDocument/2006/relationships/slide" Target="slides/slide28.xml"/><Relationship Id="rId143" Type="http://schemas.openxmlformats.org/officeDocument/2006/relationships/slide" Target="slides/slide29.xml"/><Relationship Id="rId144" Type="http://schemas.openxmlformats.org/officeDocument/2006/relationships/slide" Target="slides/slide30.xml"/><Relationship Id="rId145" Type="http://schemas.openxmlformats.org/officeDocument/2006/relationships/slide" Target="slides/slide31.xml"/><Relationship Id="rId146" Type="http://schemas.openxmlformats.org/officeDocument/2006/relationships/slide" Target="slides/slide32.xml"/><Relationship Id="rId147" Type="http://schemas.openxmlformats.org/officeDocument/2006/relationships/slide" Target="slides/slide34.xml"/><Relationship Id="rId148" Type="http://schemas.openxmlformats.org/officeDocument/2006/relationships/slide" Target="slides/slide35.xml"/><Relationship Id="rId149" Type="http://schemas.openxmlformats.org/officeDocument/2006/relationships/slide" Target="slides/slide36.xml"/><Relationship Id="rId150" Type="http://schemas.openxmlformats.org/officeDocument/2006/relationships/slide" Target="slides/slide37.xml"/><Relationship Id="rId151" Type="http://schemas.openxmlformats.org/officeDocument/2006/relationships/slide" Target="slides/slide38.xml"/><Relationship Id="rId152" Type="http://schemas.openxmlformats.org/officeDocument/2006/relationships/slide" Target="slides/slide39.xml"/><Relationship Id="rId153" Type="http://schemas.openxmlformats.org/officeDocument/2006/relationships/slide" Target="slides/slide40.xml"/><Relationship Id="rId154" Type="http://schemas.openxmlformats.org/officeDocument/2006/relationships/slide" Target="slides/slide41.xml"/><Relationship Id="rId155" Type="http://schemas.openxmlformats.org/officeDocument/2006/relationships/slide" Target="slides/slide42.xml"/><Relationship Id="rId156" Type="http://schemas.openxmlformats.org/officeDocument/2006/relationships/slide" Target="slides/slide43.xml"/><Relationship Id="rId157" Type="http://schemas.openxmlformats.org/officeDocument/2006/relationships/slide" Target="slides/slide44.xml"/><Relationship Id="rId158" Type="http://schemas.openxmlformats.org/officeDocument/2006/relationships/slide" Target="slides/slide45.xml"/><Relationship Id="rId159" Type="http://schemas.openxmlformats.org/officeDocument/2006/relationships/slide" Target="slides/slide46.xml"/><Relationship Id="rId160" Type="http://schemas.openxmlformats.org/officeDocument/2006/relationships/slide" Target="slides/slide47.xml"/><Relationship Id="rId161" Type="http://schemas.openxmlformats.org/officeDocument/2006/relationships/slide" Target="slides/slide48.xml"/><Relationship Id="rId162" Type="http://schemas.openxmlformats.org/officeDocument/2006/relationships/slide" Target="slides/slide49.xml"/><Relationship Id="rId163" Type="http://schemas.openxmlformats.org/officeDocument/2006/relationships/slide" Target="slides/slide50.xml"/><Relationship Id="rId164" Type="http://schemas.openxmlformats.org/officeDocument/2006/relationships/slide" Target="slides/slide51.xml"/><Relationship Id="rId165" Type="http://schemas.openxmlformats.org/officeDocument/2006/relationships/slide" Target="slides/slide52.xml"/><Relationship Id="rId166" Type="http://schemas.openxmlformats.org/officeDocument/2006/relationships/slide" Target="slides/slide53.xml"/><Relationship Id="rId167" Type="http://schemas.openxmlformats.org/officeDocument/2006/relationships/slide" Target="slides/slide54.xml"/><Relationship Id="rId168" Type="http://schemas.openxmlformats.org/officeDocument/2006/relationships/slide" Target="slides/slide55.xml"/><Relationship Id="rId169" Type="http://schemas.openxmlformats.org/officeDocument/2006/relationships/slide" Target="slides/slide56.xml"/><Relationship Id="rId170" Type="http://schemas.openxmlformats.org/officeDocument/2006/relationships/slide" Target="slides/slide57.xml"/><Relationship Id="rId171" Type="http://schemas.openxmlformats.org/officeDocument/2006/relationships/slide" Target="slides/slide58.xml"/><Relationship Id="rId172" Type="http://schemas.openxmlformats.org/officeDocument/2006/relationships/slide" Target="slides/slide59.xml"/><Relationship Id="rId173" Type="http://schemas.openxmlformats.org/officeDocument/2006/relationships/slide" Target="slides/slide60.xml"/><Relationship Id="rId174" Type="http://schemas.openxmlformats.org/officeDocument/2006/relationships/slide" Target="slides/slide61.xml"/><Relationship Id="rId175" Type="http://schemas.openxmlformats.org/officeDocument/2006/relationships/slide" Target="slides/slide62.xml"/><Relationship Id="rId176" Type="http://schemas.openxmlformats.org/officeDocument/2006/relationships/slide" Target="slides/slide63.xml"/><Relationship Id="rId177" Type="http://schemas.openxmlformats.org/officeDocument/2006/relationships/slide" Target="slides/slide64.xml"/><Relationship Id="rId178" Type="http://schemas.openxmlformats.org/officeDocument/2006/relationships/slide" Target="slides/slide65.xml"/><Relationship Id="rId179" Type="http://schemas.openxmlformats.org/officeDocument/2006/relationships/slide" Target="slides/slide66.xml"/><Relationship Id="rId180" Type="http://schemas.openxmlformats.org/officeDocument/2006/relationships/slide" Target="slides/slide67.xml"/><Relationship Id="rId181" Type="http://schemas.openxmlformats.org/officeDocument/2006/relationships/slide" Target="slides/slide68.xml"/><Relationship Id="rId182" Type="http://schemas.openxmlformats.org/officeDocument/2006/relationships/slide" Target="slides/slide69.xml"/><Relationship Id="rId183" Type="http://schemas.openxmlformats.org/officeDocument/2006/relationships/slide" Target="slides/slide70.xml"/><Relationship Id="rId184" Type="http://schemas.openxmlformats.org/officeDocument/2006/relationships/slide" Target="slides/slide71.xml"/><Relationship Id="rId185" Type="http://schemas.openxmlformats.org/officeDocument/2006/relationships/slide" Target="slides/slide72.xml"/><Relationship Id="rId186" Type="http://schemas.openxmlformats.org/officeDocument/2006/relationships/slide" Target="slides/slide73.xml"/><Relationship Id="rId187" Type="http://schemas.openxmlformats.org/officeDocument/2006/relationships/slide" Target="slides/slide74.xml"/><Relationship Id="rId188" Type="http://schemas.openxmlformats.org/officeDocument/2006/relationships/slide" Target="slides/slide75.xml"/><Relationship Id="rId189" Type="http://schemas.openxmlformats.org/officeDocument/2006/relationships/slide" Target="slides/slide76.xml"/><Relationship Id="rId190" Type="http://schemas.openxmlformats.org/officeDocument/2006/relationships/slide" Target="slides/slide77.xml"/><Relationship Id="rId191" Type="http://schemas.openxmlformats.org/officeDocument/2006/relationships/slide" Target="slides/slide78.xml"/><Relationship Id="rId192" Type="http://schemas.openxmlformats.org/officeDocument/2006/relationships/slide" Target="slides/slide79.xml"/><Relationship Id="rId193" Type="http://schemas.openxmlformats.org/officeDocument/2006/relationships/slide" Target="slides/slide80.xml"/><Relationship Id="rId194" Type="http://schemas.openxmlformats.org/officeDocument/2006/relationships/slide" Target="slides/slide81.xml"/><Relationship Id="rId195" Type="http://schemas.openxmlformats.org/officeDocument/2006/relationships/slide" Target="slides/slide82.xml"/><Relationship Id="rId196" Type="http://schemas.openxmlformats.org/officeDocument/2006/relationships/slide" Target="slides/slide83.xml"/><Relationship Id="rId197" Type="http://schemas.openxmlformats.org/officeDocument/2006/relationships/slide" Target="slides/slide84.xml"/><Relationship Id="rId198" Type="http://schemas.openxmlformats.org/officeDocument/2006/relationships/slide" Target="slides/slide85.xml"/><Relationship Id="rId199" Type="http://schemas.openxmlformats.org/officeDocument/2006/relationships/slide" Target="slides/slide86.xml"/><Relationship Id="rId200" Type="http://schemas.openxmlformats.org/officeDocument/2006/relationships/slide" Target="slides/slide87.xml"/><Relationship Id="rId201" Type="http://schemas.openxmlformats.org/officeDocument/2006/relationships/slide" Target="slides/slide89.xml"/><Relationship Id="rId202" Type="http://schemas.openxmlformats.org/officeDocument/2006/relationships/slide" Target="slides/slide90.xml"/><Relationship Id="rId203" Type="http://schemas.openxmlformats.org/officeDocument/2006/relationships/slide" Target="slides/slide92.xml"/><Relationship Id="rId204" Type="http://schemas.openxmlformats.org/officeDocument/2006/relationships/slide" Target="slides/slide93.xml"/><Relationship Id="rId205" Type="http://schemas.openxmlformats.org/officeDocument/2006/relationships/slide" Target="slides/slide94.xml"/><Relationship Id="rId206" Type="http://schemas.openxmlformats.org/officeDocument/2006/relationships/slide" Target="slides/slide95.xml"/><Relationship Id="rId207" Type="http://schemas.openxmlformats.org/officeDocument/2006/relationships/slide" Target="slides/slide96.xml"/><Relationship Id="rId208" Type="http://schemas.openxmlformats.org/officeDocument/2006/relationships/slide" Target="slides/slide97.xml"/><Relationship Id="rId209" Type="http://schemas.openxmlformats.org/officeDocument/2006/relationships/slide" Target="slides/slide98.xml"/><Relationship Id="rId210" Type="http://schemas.openxmlformats.org/officeDocument/2006/relationships/slide" Target="slides/slide99.xml"/><Relationship Id="rId211" Type="http://schemas.openxmlformats.org/officeDocument/2006/relationships/slide" Target="slides/slide100.xml"/><Relationship Id="rId212" Type="http://schemas.openxmlformats.org/officeDocument/2006/relationships/slide" Target="slides/slide101.xml"/><Relationship Id="rId213" Type="http://schemas.openxmlformats.org/officeDocument/2006/relationships/slide" Target="slides/slide102.xml"/><Relationship Id="rId214" Type="http://schemas.openxmlformats.org/officeDocument/2006/relationships/slide" Target="slides/slide103.xml"/><Relationship Id="rId215" Type="http://schemas.openxmlformats.org/officeDocument/2006/relationships/slide" Target="slides/slide104.xml"/><Relationship Id="rId216" Type="http://schemas.openxmlformats.org/officeDocument/2006/relationships/slide" Target="slides/slide105.xml"/><Relationship Id="rId217" Type="http://schemas.openxmlformats.org/officeDocument/2006/relationships/slide" Target="slides/slide106.xml"/><Relationship Id="rId218" Type="http://schemas.openxmlformats.org/officeDocument/2006/relationships/slide" Target="slides/slide107.xml"/><Relationship Id="rId219" Type="http://schemas.openxmlformats.org/officeDocument/2006/relationships/slide" Target="slides/slide108.xml"/><Relationship Id="rId220" Type="http://schemas.openxmlformats.org/officeDocument/2006/relationships/slide" Target="slides/slide109.xml"/><Relationship Id="rId221" Type="http://schemas.openxmlformats.org/officeDocument/2006/relationships/slide" Target="slides/slide110.xml"/><Relationship Id="rId222" Type="http://schemas.openxmlformats.org/officeDocument/2006/relationships/slide" Target="slides/slide111.xml"/><Relationship Id="rId223" Type="http://schemas.openxmlformats.org/officeDocument/2006/relationships/slide" Target="slides/slide112.xml"/><Relationship Id="rId224" Type="http://schemas.openxmlformats.org/officeDocument/2006/relationships/slide" Target="slides/slide113.xml"/><Relationship Id="rId225" Type="http://schemas.openxmlformats.org/officeDocument/2006/relationships/slide" Target="slides/slide114.xml"/><Relationship Id="rId226" Type="http://schemas.openxmlformats.org/officeDocument/2006/relationships/slide" Target="slides/slide115.xml"/><Relationship Id="rId227" Type="http://schemas.openxmlformats.org/officeDocument/2006/relationships/slide" Target="slides/slide116.xml"/><Relationship Id="rId228" Type="http://schemas.openxmlformats.org/officeDocument/2006/relationships/slide" Target="slides/slide117.xml"/><Relationship Id="rId229" Type="http://schemas.openxmlformats.org/officeDocument/2006/relationships/slide" Target="slides/slide118.xml"/><Relationship Id="rId230" Type="http://schemas.openxmlformats.org/officeDocument/2006/relationships/slide" Target="slides/slide119.xml"/><Relationship Id="rId231" Type="http://schemas.openxmlformats.org/officeDocument/2006/relationships/slide" Target="slides/slide120.xml"/><Relationship Id="rId232" Type="http://schemas.openxmlformats.org/officeDocument/2006/relationships/slide" Target="slides/slide121.xml"/><Relationship Id="rId233" Type="http://schemas.openxmlformats.org/officeDocument/2006/relationships/slide" Target="slides/slide122.xml"/><Relationship Id="rId234" Type="http://schemas.openxmlformats.org/officeDocument/2006/relationships/slide" Target="slides/slide123.xml"/><Relationship Id="rId235" Type="http://schemas.openxmlformats.org/officeDocument/2006/relationships/slide" Target="slides/slide124.xml"/><Relationship Id="rId236" Type="http://schemas.openxmlformats.org/officeDocument/2006/relationships/slide" Target="slides/slide125.xml"/><Relationship Id="rId237" Type="http://schemas.openxmlformats.org/officeDocument/2006/relationships/slide" Target="slides/slide127.xml"/><Relationship Id="rId238" Type="http://schemas.openxmlformats.org/officeDocument/2006/relationships/slide" Target="slides/slide128.xml"/><Relationship Id="rId239" Type="http://schemas.openxmlformats.org/officeDocument/2006/relationships/slide" Target="slides/slide129.xml"/><Relationship Id="rId240" Type="http://schemas.openxmlformats.org/officeDocument/2006/relationships/slide" Target="slides/slide130.xml"/><Relationship Id="rId241" Type="http://schemas.openxmlformats.org/officeDocument/2006/relationships/slide" Target="slides/slide131.xml"/><Relationship Id="rId242" Type="http://schemas.openxmlformats.org/officeDocument/2006/relationships/slide" Target="slides/slide132.xml"/><Relationship Id="rId243" Type="http://schemas.openxmlformats.org/officeDocument/2006/relationships/slide" Target="slides/slide133.xml"/><Relationship Id="rId244" Type="http://schemas.openxmlformats.org/officeDocument/2006/relationships/slide" Target="slides/slide134.xml"/><Relationship Id="rId245" Type="http://schemas.openxmlformats.org/officeDocument/2006/relationships/slide" Target="slides/slide135.xml"/><Relationship Id="rId246" Type="http://schemas.openxmlformats.org/officeDocument/2006/relationships/slide" Target="slides/slide136.xml"/><Relationship Id="rId247" Type="http://schemas.openxmlformats.org/officeDocument/2006/relationships/slide" Target="slides/slide137.xml"/><Relationship Id="rId248" Type="http://schemas.openxmlformats.org/officeDocument/2006/relationships/slide" Target="slides/slide138.xml"/><Relationship Id="rId249" Type="http://schemas.openxmlformats.org/officeDocument/2006/relationships/slide" Target="slides/slide139.xml"/><Relationship Id="rId250" Type="http://schemas.openxmlformats.org/officeDocument/2006/relationships/slide" Target="slides/slide140.xml"/><Relationship Id="rId251" Type="http://schemas.openxmlformats.org/officeDocument/2006/relationships/slide" Target="slides/slide141.xml"/><Relationship Id="rId252" Type="http://schemas.openxmlformats.org/officeDocument/2006/relationships/slide" Target="slides/slide142.xml"/><Relationship Id="rId253" Type="http://schemas.openxmlformats.org/officeDocument/2006/relationships/slide" Target="slides/slide143.xml"/><Relationship Id="rId254" Type="http://schemas.openxmlformats.org/officeDocument/2006/relationships/slide" Target="slides/slide144.xml"/><Relationship Id="rId255" Type="http://schemas.openxmlformats.org/officeDocument/2006/relationships/slide" Target="slides/slide145.xml"/><Relationship Id="rId256" Type="http://schemas.openxmlformats.org/officeDocument/2006/relationships/slide" Target="slides/slide146.xml"/><Relationship Id="rId257" Type="http://schemas.openxmlformats.org/officeDocument/2006/relationships/slide" Target="slides/slide147.xml"/><Relationship Id="rId258" Type="http://schemas.openxmlformats.org/officeDocument/2006/relationships/slide" Target="slides/slide148.xml"/><Relationship Id="rId259" Type="http://schemas.openxmlformats.org/officeDocument/2006/relationships/slide" Target="slides/slide14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an-Noel Sialou" userId="08acc5d2-3819-4be4-97e6-d593a92e8e16" providerId="ADAL" clId="{DC5A2AD4-2AC1-4F5C-A6BF-541681F7EFA2}"/>
    <pc:docChg chg="undo custSel modSld">
      <pc:chgData name="Jean-Noel Sialou" userId="08acc5d2-3819-4be4-97e6-d593a92e8e16" providerId="ADAL" clId="{DC5A2AD4-2AC1-4F5C-A6BF-541681F7EFA2}" dt="2026-09-07T10:18:25.187" v="38" actId="571"/>
      <pc:docMkLst>
        <pc:docMk/>
      </pc:docMkLst>
      <pc:sldChg chg="addSp delSp modSp mod">
        <pc:chgData name="Jean-Noel Sialou" userId="08acc5d2-3819-4be4-97e6-d593a92e8e16" providerId="ADAL" clId="{DC5A2AD4-2AC1-4F5C-A6BF-541681F7EFA2}" dt="2026-09-07T10:18:25.187" v="38" actId="571"/>
        <pc:sldMkLst>
          <pc:docMk/>
          <pc:sldMk cId="2102837376" sldId="358"/>
        </pc:sldMkLst>
        <pc:spChg chg="mod">
          <ac:chgData name="Jean-Noel Sialou" userId="08acc5d2-3819-4be4-97e6-d593a92e8e16" providerId="ADAL" clId="{DC5A2AD4-2AC1-4F5C-A6BF-541681F7EFA2}" dt="2026-09-07T10:18:15.089" v="35" actId="164"/>
          <ac:spMkLst>
            <pc:docMk/>
            <pc:sldMk cId="2102837376" sldId="358"/>
            <ac:spMk id="48"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49"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61"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64" creationId="{00000000-0000-0000-0000-000000000000}"/>
          </ac:spMkLst>
        </pc:spChg>
        <pc:grpChg chg="add mod">
          <ac:chgData name="Jean-Noel Sialou" userId="08acc5d2-3819-4be4-97e6-d593a92e8e16" providerId="ADAL" clId="{DC5A2AD4-2AC1-4F5C-A6BF-541681F7EFA2}" dt="2026-09-07T10:18:17.535" v="36" actId="164"/>
          <ac:grpSpMkLst>
            <pc:docMk/>
            <pc:sldMk cId="2102837376" sldId="358"/>
            <ac:grpSpMk id="3" creationId="{C9290073-F4B9-4E89-EC47-0D4815D405F9}"/>
          </ac:grpSpMkLst>
        </pc:grpChg>
        <pc:grpChg chg="add mod">
          <ac:chgData name="Jean-Noel Sialou" userId="08acc5d2-3819-4be4-97e6-d593a92e8e16" providerId="ADAL" clId="{DC5A2AD4-2AC1-4F5C-A6BF-541681F7EFA2}" dt="2026-09-07T10:18:17.535" v="36" actId="164"/>
          <ac:grpSpMkLst>
            <pc:docMk/>
            <pc:sldMk cId="2102837376" sldId="358"/>
            <ac:grpSpMk id="7" creationId="{D520CB44-6CB8-26BA-C481-1E6C90DCE023}"/>
          </ac:grpSpMkLst>
        </pc:grpChg>
        <pc:picChg chg="add mod">
          <ac:chgData name="Jean-Noel Sialou" userId="08acc5d2-3819-4be4-97e6-d593a92e8e16" providerId="ADAL" clId="{DC5A2AD4-2AC1-4F5C-A6BF-541681F7EFA2}" dt="2026-09-07T10:18:17.535" v="36" actId="164"/>
          <ac:picMkLst>
            <pc:docMk/>
            <pc:sldMk cId="2102837376" sldId="358"/>
            <ac:picMk id="5" creationId="{A59C829E-ED12-0019-96D2-4C72AF995693}"/>
          </ac:picMkLst>
        </pc:picChg>
        <pc:picChg chg="mod">
          <ac:chgData name="Jean-Noel Sialou" userId="08acc5d2-3819-4be4-97e6-d593a92e8e16" providerId="ADAL" clId="{DC5A2AD4-2AC1-4F5C-A6BF-541681F7EFA2}" dt="2026-09-07T10:18:15.089" v="35" actId="164"/>
          <ac:picMkLst>
            <pc:docMk/>
            <pc:sldMk cId="2102837376" sldId="358"/>
            <ac:picMk id="31" creationId="{00000000-0000-0000-0000-000000000000}"/>
          </ac:picMkLst>
        </pc:picChg>
        <pc:picChg chg="mod">
          <ac:chgData name="Jean-Noel Sialou" userId="08acc5d2-3819-4be4-97e6-d593a92e8e16" providerId="ADAL" clId="{DC5A2AD4-2AC1-4F5C-A6BF-541681F7EFA2}" dt="2026-09-07T10:18:17.535" v="36" actId="164"/>
          <ac:picMkLst>
            <pc:docMk/>
            <pc:sldMk cId="2102837376" sldId="358"/>
            <ac:picMk id="47"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50"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54"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65" creationId="{00000000-0000-0000-0000-000000000000}"/>
          </ac:picMkLst>
        </pc:picChg>
      </pc:sldChg>
    </pc:docChg>
  </pc:docChgLst>
  <pc:docChgLst>
    <pc:chgData name="Jean-Noel Sialou" userId="08acc5d2-3819-4be4-97e6-d593a92e8e16" providerId="ADAL" clId="{3E2E487B-B21A-43C3-A4E4-C31B8823D31F}"/>
    <pc:docChg chg="modSld">
      <pc:chgData name="Jean-Noel Sialou" userId="08acc5d2-3819-4be4-97e6-d593a92e8e16" providerId="ADAL" clId="{3E2E487B-B21A-43C3-A4E4-C31B8823D31F}" dt="2026-09-23T09:25:47.775" v="6" actId="164"/>
      <pc:docMkLst>
        <pc:docMk/>
      </pc:docMkLst>
      <pc:sldChg chg="modSp mod modAnim">
        <pc:chgData name="Jean-Noel Sialou" userId="08acc5d2-3819-4be4-97e6-d593a92e8e16" providerId="ADAL" clId="{3E2E487B-B21A-43C3-A4E4-C31B8823D31F}" dt="2026-09-15T10:14:35.637" v="5" actId="208"/>
        <pc:sldMkLst>
          <pc:docMk/>
          <pc:sldMk cId="2102837376" sldId="358"/>
        </pc:sldMkLst>
        <pc:spChg chg="mod">
          <ac:chgData name="Jean-Noel Sialou" userId="08acc5d2-3819-4be4-97e6-d593a92e8e16" providerId="ADAL" clId="{3E2E487B-B21A-43C3-A4E4-C31B8823D31F}" dt="2026-09-15T10:14:31.481" v="4" actId="207"/>
          <ac:spMkLst>
            <pc:docMk/>
            <pc:sldMk cId="2102837376" sldId="358"/>
            <ac:spMk id="40" creationId="{00000000-0000-0000-0000-000000000000}"/>
          </ac:spMkLst>
        </pc:spChg>
        <pc:spChg chg="mod">
          <ac:chgData name="Jean-Noel Sialou" userId="08acc5d2-3819-4be4-97e6-d593a92e8e16" providerId="ADAL" clId="{3E2E487B-B21A-43C3-A4E4-C31B8823D31F}" dt="2026-09-15T10:14:31.481" v="4" actId="207"/>
          <ac:spMkLst>
            <pc:docMk/>
            <pc:sldMk cId="2102837376" sldId="358"/>
            <ac:spMk id="41" creationId="{00000000-0000-0000-0000-000000000000}"/>
          </ac:spMkLst>
        </pc:spChg>
        <pc:grpChg chg="mod">
          <ac:chgData name="Jean-Noel Sialou" userId="08acc5d2-3819-4be4-97e6-d593a92e8e16" providerId="ADAL" clId="{3E2E487B-B21A-43C3-A4E4-C31B8823D31F}" dt="2026-09-15T10:14:06.017" v="1" actId="1076"/>
          <ac:grpSpMkLst>
            <pc:docMk/>
            <pc:sldMk cId="2102837376" sldId="358"/>
            <ac:grpSpMk id="7" creationId="{D520CB44-6CB8-26BA-C481-1E6C90DCE023}"/>
          </ac:grpSpMkLst>
        </pc:grpChg>
        <pc:cxnChg chg="mod">
          <ac:chgData name="Jean-Noel Sialou" userId="08acc5d2-3819-4be4-97e6-d593a92e8e16" providerId="ADAL" clId="{3E2E487B-B21A-43C3-A4E4-C31B8823D31F}" dt="2026-09-15T10:14:35.637" v="5" actId="208"/>
          <ac:cxnSpMkLst>
            <pc:docMk/>
            <pc:sldMk cId="2102837376" sldId="358"/>
            <ac:cxnSpMk id="77" creationId="{00000000-0000-0000-0000-000000000000}"/>
          </ac:cxnSpMkLst>
        </pc:cxnChg>
      </pc:sldChg>
      <pc:sldChg chg="addSp modSp modAnim">
        <pc:chgData name="Jean-Noel Sialou" userId="08acc5d2-3819-4be4-97e6-d593a92e8e16" providerId="ADAL" clId="{3E2E487B-B21A-43C3-A4E4-C31B8823D31F}" dt="2026-09-23T09:25:47.775" v="6" actId="164"/>
        <pc:sldMkLst>
          <pc:docMk/>
          <pc:sldMk cId="135173498" sldId="359"/>
        </pc:sldMkLst>
        <pc:spChg chg="mod">
          <ac:chgData name="Jean-Noel Sialou" userId="08acc5d2-3819-4be4-97e6-d593a92e8e16" providerId="ADAL" clId="{3E2E487B-B21A-43C3-A4E4-C31B8823D31F}" dt="2026-09-23T09:25:47.775" v="6" actId="164"/>
          <ac:spMkLst>
            <pc:docMk/>
            <pc:sldMk cId="135173498" sldId="359"/>
            <ac:spMk id="34"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36"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37"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0"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1"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4"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9"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51"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52"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66"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7.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microsoft.com/office/2011/relationships/chartStyle" Target="style13.xml"/><Relationship Id="rId2" Type="http://schemas.microsoft.com/office/2011/relationships/chartColorStyle" Target="colors13.xml"/><Relationship Id="rId3"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microsoft.com/office/2011/relationships/chartStyle" Target="style14.xml"/><Relationship Id="rId2" Type="http://schemas.microsoft.com/office/2011/relationships/chartColorStyle" Target="colors14.xml"/><Relationship Id="rId3"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Sheet23.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Sheet24.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Sheet25.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Sheet26.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Sheet27.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Sheet28.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Sheet29.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Sheet30.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Sheet31.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Sheet32.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Sheet33.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Sheet34.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Sheet3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Pharmacie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26107586</c:v>
                </c:pt>
                <c:pt idx="1">
                  <c:v>25313112</c:v>
                </c:pt>
                <c:pt idx="2">
                  <c:v>13055215</c:v>
                </c:pt>
                <c:pt idx="3">
                  <c:v>22869440</c:v>
                </c:pt>
                <c:pt idx="4">
                  <c:v>32549138</c:v>
                </c:pt>
                <c:pt idx="5">
                  <c:v>38076031</c:v>
                </c:pt>
                <c:pt idx="6">
                  <c:v>85750869</c:v>
                </c:pt>
              </c:numCache>
            </c:numRef>
          </c:val>
        </c:ser>
        <c:ser>
          <c:idx val="1"/>
          <c:order val="1"/>
          <c:tx>
            <c:strRef>
              <c:f>Sheet1!$C$1</c:f>
              <c:strCache>
                <c:ptCount val="1"/>
                <c:pt idx="0">
                  <c:v>Consultations</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9838300</c:v>
                </c:pt>
                <c:pt idx="1">
                  <c:v>9569200</c:v>
                </c:pt>
                <c:pt idx="2">
                  <c:v>4288328</c:v>
                </c:pt>
                <c:pt idx="3">
                  <c:v>53402204</c:v>
                </c:pt>
                <c:pt idx="4">
                  <c:v>154053302</c:v>
                </c:pt>
                <c:pt idx="5">
                  <c:v>173759919</c:v>
                </c:pt>
                <c:pt idx="6">
                  <c:v>223956736</c:v>
                </c:pt>
              </c:numCache>
            </c:numRef>
          </c:val>
        </c:ser>
        <c:ser>
          <c:idx val="2"/>
          <c:order val="2"/>
          <c:tx>
            <c:strRef>
              <c:f>Sheet1!$D$1</c:f>
              <c:strCache>
                <c:ptCount val="1"/>
                <c:pt idx="0">
                  <c:v>Hospitalisations</c:v>
                </c:pt>
              </c:strCache>
            </c:strRef>
          </c:tx>
          <c:spPr>
            <a:solidFill>
              <a:srgbClr val="BBBCBC"/>
            </a:solidFill>
          </c:spPr>
          <c:cat>
            <c:strRef>
              <c:f>Sheet1!$A$2:$A$8</c:f>
              <c:strCache>
                <c:ptCount val="7"/>
                <c:pt idx="0">
                  <c:v>2020</c:v>
                </c:pt>
                <c:pt idx="1">
                  <c:v>2021</c:v>
                </c:pt>
                <c:pt idx="2">
                  <c:v>2022</c:v>
                </c:pt>
                <c:pt idx="3">
                  <c:v>2023</c:v>
                </c:pt>
                <c:pt idx="4">
                  <c:v>2024</c:v>
                </c:pt>
                <c:pt idx="5">
                  <c:v>2025</c:v>
                </c:pt>
                <c:pt idx="6">
                  <c:v>2026 (8 mois)</c:v>
                </c:pt>
              </c:strCache>
            </c:strRef>
          </c:cat>
          <c:val>
            <c:numRef>
              <c:f>Sheet1!$D$2:$D$8</c:f>
              <c:numCache>
                <c:formatCode># ##0,,</c:formatCode>
                <c:ptCount val="7"/>
                <c:pt idx="0">
                  <c:v>11748500</c:v>
                </c:pt>
                <c:pt idx="1">
                  <c:v>12702282</c:v>
                </c:pt>
                <c:pt idx="2">
                  <c:v>6383100</c:v>
                </c:pt>
                <c:pt idx="3">
                  <c:v>32598428</c:v>
                </c:pt>
                <c:pt idx="4">
                  <c:v>10815234</c:v>
                </c:pt>
                <c:pt idx="5">
                  <c:v>23247618</c:v>
                </c:pt>
                <c:pt idx="6">
                  <c:v>36938840</c:v>
                </c:pt>
              </c:numCache>
            </c:numRef>
          </c:val>
        </c:ser>
        <c:ser>
          <c:idx val="3"/>
          <c:order val="3"/>
          <c:tx>
            <c:strRef>
              <c:f>Sheet1!$E$1</c:f>
              <c:strCache>
                <c:ptCount val="1"/>
                <c:pt idx="0">
                  <c:v>Analyses médicales</c:v>
                </c:pt>
              </c:strCache>
            </c:strRef>
          </c:tx>
          <c:spPr>
            <a:solidFill>
              <a:srgbClr val="060606"/>
            </a:solidFill>
          </c:spPr>
          <c:cat>
            <c:strRef>
              <c:f>Sheet1!$A$2:$A$8</c:f>
              <c:strCache>
                <c:ptCount val="7"/>
                <c:pt idx="0">
                  <c:v>2020</c:v>
                </c:pt>
                <c:pt idx="1">
                  <c:v>2021</c:v>
                </c:pt>
                <c:pt idx="2">
                  <c:v>2022</c:v>
                </c:pt>
                <c:pt idx="3">
                  <c:v>2023</c:v>
                </c:pt>
                <c:pt idx="4">
                  <c:v>2024</c:v>
                </c:pt>
                <c:pt idx="5">
                  <c:v>2025</c:v>
                </c:pt>
                <c:pt idx="6">
                  <c:v>2026 (8 mois)</c:v>
                </c:pt>
              </c:strCache>
            </c:strRef>
          </c:cat>
          <c:val>
            <c:numRef>
              <c:f>Sheet1!$E$2:$E$8</c:f>
              <c:numCache>
                <c:formatCode># ##0,,</c:formatCode>
                <c:ptCount val="7"/>
                <c:pt idx="0">
                  <c:v>23155760</c:v>
                </c:pt>
                <c:pt idx="1">
                  <c:v>15394010</c:v>
                </c:pt>
                <c:pt idx="2">
                  <c:v>10313251</c:v>
                </c:pt>
                <c:pt idx="3">
                  <c:v>73194458</c:v>
                </c:pt>
                <c:pt idx="4">
                  <c:v>142781059</c:v>
                </c:pt>
                <c:pt idx="5">
                  <c:v>234266144</c:v>
                </c:pt>
                <c:pt idx="6">
                  <c:v>214752158</c:v>
                </c:pt>
              </c:numCache>
            </c:numRef>
          </c:val>
        </c:ser>
        <c:ser>
          <c:idx val="4"/>
          <c:order val="4"/>
          <c:tx>
            <c:strRef>
              <c:f>Sheet1!$F$1</c:f>
              <c:strCache>
                <c:ptCount val="1"/>
                <c:pt idx="0">
                  <c:v>Radio et imagerie</c:v>
                </c:pt>
              </c:strCache>
            </c:strRef>
          </c:tx>
          <c:spPr>
            <a:solidFill>
              <a:srgbClr val="53565A"/>
            </a:solidFill>
          </c:spPr>
          <c:cat>
            <c:strRef>
              <c:f>Sheet1!$A$2:$A$8</c:f>
              <c:strCache>
                <c:ptCount val="7"/>
                <c:pt idx="0">
                  <c:v>2020</c:v>
                </c:pt>
                <c:pt idx="1">
                  <c:v>2021</c:v>
                </c:pt>
                <c:pt idx="2">
                  <c:v>2022</c:v>
                </c:pt>
                <c:pt idx="3">
                  <c:v>2023</c:v>
                </c:pt>
                <c:pt idx="4">
                  <c:v>2024</c:v>
                </c:pt>
                <c:pt idx="5">
                  <c:v>2025</c:v>
                </c:pt>
                <c:pt idx="6">
                  <c:v>2026 (8 mois)</c:v>
                </c:pt>
              </c:strCache>
            </c:strRef>
          </c:cat>
          <c:val>
            <c:numRef>
              <c:f>Sheet1!$F$2:$F$8</c:f>
              <c:numCache>
                <c:formatCode># ##0,,</c:formatCode>
                <c:ptCount val="7"/>
                <c:pt idx="0">
                  <c:v>11304893</c:v>
                </c:pt>
                <c:pt idx="1">
                  <c:v>6463050</c:v>
                </c:pt>
                <c:pt idx="2">
                  <c:v>15365475</c:v>
                </c:pt>
                <c:pt idx="3">
                  <c:v>65166228</c:v>
                </c:pt>
                <c:pt idx="4">
                  <c:v>147686479</c:v>
                </c:pt>
                <c:pt idx="5">
                  <c:v>249812169</c:v>
                </c:pt>
                <c:pt idx="6">
                  <c:v>391563218</c:v>
                </c:pt>
              </c:numCache>
            </c:numRef>
          </c:val>
        </c:ser>
        <c:ser>
          <c:idx val="5"/>
          <c:order val="5"/>
          <c:tx>
            <c:strRef>
              <c:f>Sheet1!$G$1</c:f>
              <c:strCache>
                <c:ptCount val="1"/>
                <c:pt idx="0">
                  <c:v>Autres prestations maladie</c:v>
                </c:pt>
              </c:strCache>
            </c:strRef>
          </c:tx>
          <c:spPr>
            <a:solidFill>
              <a:srgbClr val="F6D3A8"/>
            </a:solidFill>
          </c:spPr>
          <c:cat>
            <c:strRef>
              <c:f>Sheet1!$A$2:$A$8</c:f>
              <c:strCache>
                <c:ptCount val="7"/>
                <c:pt idx="0">
                  <c:v>2020</c:v>
                </c:pt>
                <c:pt idx="1">
                  <c:v>2021</c:v>
                </c:pt>
                <c:pt idx="2">
                  <c:v>2022</c:v>
                </c:pt>
                <c:pt idx="3">
                  <c:v>2023</c:v>
                </c:pt>
                <c:pt idx="4">
                  <c:v>2024</c:v>
                </c:pt>
                <c:pt idx="5">
                  <c:v>2025</c:v>
                </c:pt>
                <c:pt idx="6">
                  <c:v>2026 (8 mois)</c:v>
                </c:pt>
              </c:strCache>
            </c:strRef>
          </c:cat>
          <c:val>
            <c:numRef>
              <c:f>Sheet1!$G$2:$G$8</c:f>
              <c:numCache>
                <c:formatCode># ##0,,</c:formatCode>
                <c:ptCount val="7"/>
                <c:pt idx="0">
                  <c:v>110679822</c:v>
                </c:pt>
                <c:pt idx="1">
                  <c:v>23379217</c:v>
                </c:pt>
                <c:pt idx="2">
                  <c:v>50185972</c:v>
                </c:pt>
                <c:pt idx="3">
                  <c:v>241125951</c:v>
                </c:pt>
                <c:pt idx="4">
                  <c:v>508863835</c:v>
                </c:pt>
                <c:pt idx="5">
                  <c:v>995311355</c:v>
                </c:pt>
                <c:pt idx="6">
                  <c:v>584656222</c:v>
                </c:pt>
              </c:numCache>
            </c:numRef>
          </c:val>
        </c:ser>
        <c:ser>
          <c:idx val="6"/>
          <c:order val="6"/>
          <c:tx>
            <c:strRef>
              <c:f>Sheet1!$H$1</c:f>
              <c:strCache>
                <c:ptCount val="1"/>
                <c:pt idx="0">
                  <c:v>Autres (transport, rééducation, bons)</c:v>
                </c:pt>
              </c:strCache>
            </c:strRef>
          </c:tx>
          <c:spPr>
            <a:solidFill>
              <a:srgbClr val="5B7A99"/>
            </a:solidFill>
          </c:spPr>
          <c:cat>
            <c:strRef>
              <c:f>Sheet1!$A$2:$A$8</c:f>
              <c:strCache>
                <c:ptCount val="7"/>
                <c:pt idx="0">
                  <c:v>2020</c:v>
                </c:pt>
                <c:pt idx="1">
                  <c:v>2021</c:v>
                </c:pt>
                <c:pt idx="2">
                  <c:v>2022</c:v>
                </c:pt>
                <c:pt idx="3">
                  <c:v>2023</c:v>
                </c:pt>
                <c:pt idx="4">
                  <c:v>2024</c:v>
                </c:pt>
                <c:pt idx="5">
                  <c:v>2025</c:v>
                </c:pt>
                <c:pt idx="6">
                  <c:v>2026 (8 mois)</c:v>
                </c:pt>
              </c:strCache>
            </c:strRef>
          </c:cat>
          <c:val>
            <c:numRef>
              <c:f>Sheet1!$H$2:$H$8</c:f>
              <c:numCache>
                <c:formatCode># ##0,,</c:formatCode>
                <c:ptCount val="7"/>
                <c:pt idx="0">
                  <c:v>12977195</c:v>
                </c:pt>
                <c:pt idx="1">
                  <c:v>8632300</c:v>
                </c:pt>
                <c:pt idx="2">
                  <c:v>15646432</c:v>
                </c:pt>
                <c:pt idx="3">
                  <c:v>32647653</c:v>
                </c:pt>
                <c:pt idx="4">
                  <c:v>63670580</c:v>
                </c:pt>
                <c:pt idx="5">
                  <c:v>57162125</c:v>
                </c:pt>
                <c:pt idx="6">
                  <c:v>108421074</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Maladie</c:v>
                </c:pt>
              </c:strCache>
            </c:strRef>
          </c:tx>
          <c:spPr>
            <a:ln w="28575">
              <a:solidFill>
                <a:srgbClr val="112A40"/>
              </a:solidFill>
            </a:ln>
          </c:spPr>
          <c:marker>
            <c:spPr>
              <a:solidFill>
                <a:srgbClr val="112A40"/>
              </a:solidFill>
              <a:ln>
                <a:solidFill>
                  <a:srgbClr val="112A40"/>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12.54</c:v>
                </c:pt>
                <c:pt idx="1">
                  <c:v>6.0</c:v>
                </c:pt>
                <c:pt idx="2">
                  <c:v>6.47</c:v>
                </c:pt>
                <c:pt idx="3">
                  <c:v>26.91</c:v>
                </c:pt>
                <c:pt idx="4">
                  <c:v>48.13</c:v>
                </c:pt>
                <c:pt idx="5">
                  <c:v>73.53</c:v>
                </c:pt>
                <c:pt idx="6">
                  <c:v>97.4</c:v>
                </c:pt>
              </c:numCache>
            </c:numRef>
          </c:val>
          <c:smooth val="0"/>
        </c:ser>
        <c:ser>
          <c:idx val="1"/>
          <c:order val="1"/>
          <c:tx>
            <c:strRef>
              <c:f>Sheet1!$C$1</c:f>
              <c:strCache>
                <c:ptCount val="1"/>
                <c:pt idx="0">
                  <c:v>Décès (prime d'assurance incluse en 2020)</c:v>
                </c:pt>
              </c:strCache>
            </c:strRef>
          </c:tx>
          <c:spPr>
            <a:ln w="28575">
              <a:solidFill>
                <a:srgbClr val="EFAC62"/>
              </a:solidFill>
            </a:ln>
          </c:spPr>
          <c:marker>
            <c:spPr>
              <a:solidFill>
                <a:srgbClr val="EFAC62"/>
              </a:solidFill>
              <a:ln>
                <a:solidFill>
                  <a:srgbClr val="EFAC62"/>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0.00</c:formatCode>
                <c:ptCount val="7"/>
                <c:pt idx="0">
                  <c:v>82.23</c:v>
                </c:pt>
                <c:pt idx="1">
                  <c:v>55.42</c:v>
                </c:pt>
                <c:pt idx="2">
                  <c:v>15.21</c:v>
                </c:pt>
                <c:pt idx="3">
                  <c:v>17.05</c:v>
                </c:pt>
                <c:pt idx="4">
                  <c:v>21.81</c:v>
                </c:pt>
                <c:pt idx="5">
                  <c:v>19.16</c:v>
                </c:pt>
                <c:pt idx="6">
                  <c:v>21.76</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Maladie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1641320172</c:v>
                </c:pt>
                <c:pt idx="1">
                  <c:v>1691332910</c:v>
                </c:pt>
                <c:pt idx="2">
                  <c:v>1781124043</c:v>
                </c:pt>
                <c:pt idx="3">
                  <c:v>1935844374</c:v>
                </c:pt>
                <c:pt idx="4">
                  <c:v>2203312180</c:v>
                </c:pt>
                <c:pt idx="5">
                  <c:v>2409281030</c:v>
                </c:pt>
                <c:pt idx="6">
                  <c:v>1690007290</c:v>
                </c:pt>
              </c:numCache>
            </c:numRef>
          </c:val>
        </c:ser>
        <c:ser>
          <c:idx val="1"/>
          <c:order val="1"/>
          <c:tx>
            <c:strRef>
              <c:f>Sheet1!$C$1</c:f>
              <c:strCache>
                <c:ptCount val="1"/>
                <c:pt idx="0">
                  <c:v>Décès</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703298329</c:v>
                </c:pt>
                <c:pt idx="1">
                  <c:v>725124908</c:v>
                </c:pt>
                <c:pt idx="2">
                  <c:v>763338861</c:v>
                </c:pt>
                <c:pt idx="3">
                  <c:v>829647591</c:v>
                </c:pt>
                <c:pt idx="4">
                  <c:v>934555069</c:v>
                </c:pt>
                <c:pt idx="5">
                  <c:v>1008270692</c:v>
                </c:pt>
                <c:pt idx="6">
                  <c:v>702190056</c:v>
                </c:pt>
              </c:numCache>
            </c:numRef>
          </c:val>
        </c:ser>
        <c:dLbls>
          <c:numFmt formatCode="# ##0,," sourceLinked="0"/>
          <c:txPr>
            <a:bodyPr/>
            <a:lstStyle/>
            <a:p>
              <a:pPr>
                <a:defRPr sz="1000">
                  <a:solidFill>
                    <a:srgbClr val="FFFFFF"/>
                  </a:solidFill>
                </a:defRPr>
              </a:pPr>
            </a:p>
          </c:txP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Nominales</c:v>
                </c:pt>
              </c:strCache>
            </c:strRef>
          </c:tx>
          <c:spPr>
            <a:ln w="28575">
              <a:solidFill>
                <a:srgbClr val="112A40"/>
              </a:solidFill>
            </a:ln>
          </c:spPr>
          <c:marker>
            <c:spPr>
              <a:solidFill>
                <a:srgbClr val="112A40"/>
              </a:solidFill>
              <a:ln>
                <a:solidFill>
                  <a:srgbClr val="112A40"/>
                </a:solidFill>
              </a:ln>
            </c:spPr>
          </c:marker>
          <c:cat>
            <c:strRef>
              <c:f>Sheet1!$A$2:$A$7</c:f>
              <c:strCache>
                <c:ptCount val="6"/>
                <c:pt idx="0">
                  <c:v>2020</c:v>
                </c:pt>
                <c:pt idx="1">
                  <c:v>2021</c:v>
                </c:pt>
                <c:pt idx="2">
                  <c:v>2022</c:v>
                </c:pt>
                <c:pt idx="3">
                  <c:v>2023</c:v>
                </c:pt>
                <c:pt idx="4">
                  <c:v>2024</c:v>
                </c:pt>
                <c:pt idx="5">
                  <c:v>2025</c:v>
                </c:pt>
              </c:strCache>
            </c:strRef>
          </c:cat>
          <c:val>
            <c:numRef>
              <c:f>Sheet1!$B$2:$B$7</c:f>
              <c:numCache>
                <c:formatCode># ##0,,</c:formatCode>
                <c:ptCount val="6"/>
                <c:pt idx="0">
                  <c:v>2344618501</c:v>
                </c:pt>
                <c:pt idx="1">
                  <c:v>2416457818</c:v>
                </c:pt>
                <c:pt idx="2">
                  <c:v>2544462904</c:v>
                </c:pt>
                <c:pt idx="3">
                  <c:v>2765491965</c:v>
                </c:pt>
                <c:pt idx="4">
                  <c:v>3137867249</c:v>
                </c:pt>
                <c:pt idx="5">
                  <c:v>3417551722</c:v>
                </c:pt>
              </c:numCache>
            </c:numRef>
          </c:val>
          <c:smooth val="0"/>
        </c:ser>
        <c:ser>
          <c:idx val="1"/>
          <c:order val="1"/>
          <c:tx>
            <c:strRef>
              <c:f>Sheet1!$C$1</c:f>
              <c:strCache>
                <c:ptCount val="1"/>
                <c:pt idx="0">
                  <c:v>Réelles (francs de 2020)</c:v>
                </c:pt>
              </c:strCache>
            </c:strRef>
          </c:tx>
          <c:spPr>
            <a:ln w="28575">
              <a:solidFill>
                <a:srgbClr val="EFAC62"/>
              </a:solidFill>
            </a:ln>
          </c:spPr>
          <c:marker>
            <c:spPr>
              <a:solidFill>
                <a:srgbClr val="EFAC62"/>
              </a:solidFill>
              <a:ln>
                <a:solidFill>
                  <a:srgbClr val="EFAC62"/>
                </a:solidFill>
              </a:ln>
            </c:spPr>
          </c:marker>
          <c:cat>
            <c:strRef>
              <c:f>Sheet1!$A$2:$A$7</c:f>
              <c:strCache>
                <c:ptCount val="6"/>
                <c:pt idx="0">
                  <c:v>2020</c:v>
                </c:pt>
                <c:pt idx="1">
                  <c:v>2021</c:v>
                </c:pt>
                <c:pt idx="2">
                  <c:v>2022</c:v>
                </c:pt>
                <c:pt idx="3">
                  <c:v>2023</c:v>
                </c:pt>
                <c:pt idx="4">
                  <c:v>2024</c:v>
                </c:pt>
                <c:pt idx="5">
                  <c:v>2025</c:v>
                </c:pt>
              </c:strCache>
            </c:strRef>
          </c:cat>
          <c:val>
            <c:numRef>
              <c:f>Sheet1!$C$2:$C$7</c:f>
              <c:numCache>
                <c:formatCode># ##0,,</c:formatCode>
                <c:ptCount val="6"/>
                <c:pt idx="0">
                  <c:v>2344618501</c:v>
                </c:pt>
                <c:pt idx="1">
                  <c:v>2319965877</c:v>
                </c:pt>
                <c:pt idx="2">
                  <c:v>2321370010</c:v>
                </c:pt>
                <c:pt idx="3">
                  <c:v>2417386641</c:v>
                </c:pt>
                <c:pt idx="4">
                  <c:v>2651401893</c:v>
                </c:pt>
                <c:pt idx="5">
                  <c:v>2884120453</c:v>
                </c:pt>
              </c:numCache>
            </c:numRef>
          </c:val>
          <c:smooth val="0"/>
        </c:ser>
        <c:dLbls>
          <c:numFmt formatCode="# ##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 ##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S/C maladie</c:v>
                </c:pt>
              </c:strCache>
            </c:strRef>
          </c:tx>
          <c:spPr>
            <a:ln w="28575">
              <a:solidFill>
                <a:srgbClr val="112A40"/>
              </a:solidFill>
            </a:ln>
          </c:spPr>
          <c:marker>
            <c:spPr>
              <a:solidFill>
                <a:srgbClr val="112A40"/>
              </a:solidFill>
              <a:ln>
                <a:solidFill>
                  <a:srgbClr val="112A40"/>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12.54</c:v>
                </c:pt>
                <c:pt idx="1">
                  <c:v>6.0</c:v>
                </c:pt>
                <c:pt idx="2">
                  <c:v>6.47</c:v>
                </c:pt>
                <c:pt idx="3">
                  <c:v>26.91</c:v>
                </c:pt>
                <c:pt idx="4">
                  <c:v>48.13</c:v>
                </c:pt>
                <c:pt idx="5">
                  <c:v>73.53</c:v>
                </c:pt>
                <c:pt idx="6">
                  <c:v>97.4</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Épargne PEP et EFC</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10828205640</c:v>
                </c:pt>
                <c:pt idx="1">
                  <c:v>10147421276</c:v>
                </c:pt>
                <c:pt idx="2">
                  <c:v>9364845293</c:v>
                </c:pt>
                <c:pt idx="3">
                  <c:v>9121576576</c:v>
                </c:pt>
                <c:pt idx="4">
                  <c:v>10785064432</c:v>
                </c:pt>
                <c:pt idx="5">
                  <c:v>13814066964</c:v>
                </c:pt>
                <c:pt idx="6">
                  <c:v>15743516391</c:v>
                </c:pt>
              </c:numCache>
            </c:numRef>
          </c:val>
        </c:ser>
        <c:ser>
          <c:idx val="1"/>
          <c:order val="1"/>
          <c:tx>
            <c:strRef>
              <c:f>Sheet1!$C$1</c:f>
              <c:strCache>
                <c:ptCount val="1"/>
                <c:pt idx="0">
                  <c:v>Actifs réservés</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714042784</c:v>
                </c:pt>
                <c:pt idx="1">
                  <c:v>1957211038</c:v>
                </c:pt>
                <c:pt idx="2">
                  <c:v>888844233</c:v>
                </c:pt>
                <c:pt idx="3">
                  <c:v>839212069</c:v>
                </c:pt>
                <c:pt idx="4">
                  <c:v>699925787</c:v>
                </c:pt>
                <c:pt idx="5">
                  <c:v>1608155525</c:v>
                </c:pt>
                <c:pt idx="6">
                  <c:v>2562885661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Fonds propres</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-6743081733</c:v>
                </c:pt>
                <c:pt idx="1">
                  <c:v>-4659173531</c:v>
                </c:pt>
                <c:pt idx="2">
                  <c:v>-2598840854</c:v>
                </c:pt>
                <c:pt idx="3">
                  <c:v>-1668211752</c:v>
                </c:pt>
                <c:pt idx="4">
                  <c:v>-876142111</c:v>
                </c:pt>
                <c:pt idx="5">
                  <c:v>-438242200</c:v>
                </c:pt>
                <c:pt idx="6">
                  <c:v>-879498700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Encours</c:v>
                </c:pt>
              </c:strCache>
            </c:strRef>
          </c:tx>
          <c:spPr>
            <a:solidFill>
              <a:srgbClr val="EFAC62"/>
            </a:solidFill>
          </c:spPr>
          <c:cat>
            <c:strRef>
              <c:f>Sheet1!$A$2:$A$7</c:f>
              <c:strCache>
                <c:ptCount val="6"/>
                <c:pt idx="0">
                  <c:v>31/12/2021</c:v>
                </c:pt>
                <c:pt idx="1">
                  <c:v>31/12/2022</c:v>
                </c:pt>
                <c:pt idx="2">
                  <c:v>31/12/2023</c:v>
                </c:pt>
                <c:pt idx="3">
                  <c:v>31/12/2024</c:v>
                </c:pt>
                <c:pt idx="4">
                  <c:v>31/12/2025</c:v>
                </c:pt>
                <c:pt idx="5">
                  <c:v>31/08/2026</c:v>
                </c:pt>
              </c:strCache>
            </c:strRef>
          </c:cat>
          <c:val>
            <c:numRef>
              <c:f>Sheet1!$B$2:$B$7</c:f>
              <c:numCache>
                <c:formatCode># ##0,,</c:formatCode>
                <c:ptCount val="6"/>
                <c:pt idx="0">
                  <c:v>7900000</c:v>
                </c:pt>
                <c:pt idx="1">
                  <c:v>182555907</c:v>
                </c:pt>
                <c:pt idx="2">
                  <c:v>375172174</c:v>
                </c:pt>
                <c:pt idx="3">
                  <c:v>566643134</c:v>
                </c:pt>
                <c:pt idx="4">
                  <c:v>829623319</c:v>
                </c:pt>
                <c:pt idx="5">
                  <c:v>1044302107</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2025</c:v>
                </c:pt>
              </c:strCache>
            </c:strRef>
          </c:tx>
          <c:spPr>
            <a:solidFill>
              <a:srgbClr val="112A40"/>
            </a:solidFill>
          </c:spPr>
          <c:cat>
            <c:strRef>
              <c:f>Sheet1!$A$2:$A$7</c:f>
              <c:strCache>
                <c:ptCount val="6"/>
                <c:pt idx="0">
                  <c:v>Cotisations maladie</c:v>
                </c:pt>
                <c:pt idx="1">
                  <c:v>Cotisations décès</c:v>
                </c:pt>
                <c:pt idx="2">
                  <c:v>Prestations maladie</c:v>
                </c:pt>
                <c:pt idx="3">
                  <c:v>Prestations décès</c:v>
                </c:pt>
                <c:pt idx="4">
                  <c:v>Frais de gestion</c:v>
                </c:pt>
                <c:pt idx="5">
                  <c:v>Résultat</c:v>
                </c:pt>
              </c:strCache>
            </c:strRef>
          </c:cat>
          <c:val>
            <c:numRef>
              <c:f>Sheet1!$B$2:$B$7</c:f>
              <c:numCache>
                <c:formatCode># ##0,,</c:formatCode>
                <c:ptCount val="6"/>
                <c:pt idx="0">
                  <c:v>2409281030</c:v>
                </c:pt>
                <c:pt idx="1">
                  <c:v>1008270692</c:v>
                </c:pt>
                <c:pt idx="2">
                  <c:v>1771635361</c:v>
                </c:pt>
                <c:pt idx="3">
                  <c:v>193136666</c:v>
                </c:pt>
                <c:pt idx="4">
                  <c:v>1101350021</c:v>
                </c:pt>
                <c:pt idx="5">
                  <c:v>437899911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Mois reçus</c:v>
                </c:pt>
              </c:strCache>
            </c:strRef>
          </c:tx>
          <c:spPr>
            <a:solidFill>
              <a:srgbClr val="112A40"/>
            </a:solidFill>
          </c:spPr>
          <c:cat>
            <c:strRef>
              <c:f>Sheet1!$A$2:$A$11</c:f>
              <c:strCache>
                <c:ptCount val="10"/>
                <c:pt idx="0">
                  <c:v>Prestations décès et santé</c:v>
                </c:pt>
                <c:pt idx="1">
                  <c:v>MEDOC 8Z7 retour</c:v>
                </c:pt>
                <c:pt idx="2">
                  <c:v>Décès 8Z6</c:v>
                </c:pt>
                <c:pt idx="3">
                  <c:v>Retraités CGRAE retour</c:v>
                </c:pt>
                <c:pt idx="4">
                  <c:v>Maladie 936</c:v>
                </c:pt>
                <c:pt idx="5">
                  <c:v>Flotte 9W3 retour</c:v>
                </c:pt>
                <c:pt idx="6">
                  <c:v>Grenier 9X4 retour</c:v>
                </c:pt>
                <c:pt idx="7">
                  <c:v>EFC 870 retour</c:v>
                </c:pt>
                <c:pt idx="8">
                  <c:v>PEP 998 retour</c:v>
                </c:pt>
                <c:pt idx="9">
                  <c:v>Comptabilité (balances)</c:v>
                </c:pt>
              </c:strCache>
            </c:strRef>
          </c:cat>
          <c:val>
            <c:numRef>
              <c:f>Sheet1!$B$2:$B$11</c:f>
              <c:numCache>
                <c:formatCode>0</c:formatCode>
                <c:ptCount val="10"/>
                <c:pt idx="0">
                  <c:v>0</c:v>
                </c:pt>
                <c:pt idx="1">
                  <c:v>6</c:v>
                </c:pt>
                <c:pt idx="2">
                  <c:v>24</c:v>
                </c:pt>
                <c:pt idx="3">
                  <c:v>30</c:v>
                </c:pt>
                <c:pt idx="4">
                  <c:v>31</c:v>
                </c:pt>
                <c:pt idx="5">
                  <c:v>37</c:v>
                </c:pt>
                <c:pt idx="6">
                  <c:v>43</c:v>
                </c:pt>
                <c:pt idx="7">
                  <c:v>43</c:v>
                </c:pt>
                <c:pt idx="8">
                  <c:v>80</c:v>
                </c:pt>
                <c:pt idx="9">
                  <c:v>80</c:v>
                </c:pt>
              </c:numCache>
            </c:numRef>
          </c:val>
        </c:ser>
        <c:dLbls>
          <c:numFmt formatCode="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b"/>
        <c:numFmt formatCode="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Taux moyen</c:v>
                </c:pt>
              </c:strCache>
            </c:strRef>
          </c:tx>
          <c:spPr>
            <a:solidFill>
              <a:srgbClr val="112A40"/>
            </a:solidFill>
          </c:spPr>
          <c:cat>
            <c:strRef>
              <c:f>Sheet1!$A$2:$A$7</c:f>
              <c:strCache>
                <c:ptCount val="6"/>
                <c:pt idx="0">
                  <c:v>EFC 870</c:v>
                </c:pt>
                <c:pt idx="1">
                  <c:v>PEP 998</c:v>
                </c:pt>
                <c:pt idx="2">
                  <c:v>Grenier 9X4</c:v>
                </c:pt>
                <c:pt idx="3">
                  <c:v>Flotte 9W3</c:v>
                </c:pt>
                <c:pt idx="4">
                  <c:v>Retraités CGRAE</c:v>
                </c:pt>
                <c:pt idx="5">
                  <c:v>MEDOC 8Z7</c:v>
                </c:pt>
              </c:strCache>
            </c:strRef>
          </c:cat>
          <c:val>
            <c:numRef>
              <c:f>Sheet1!$B$2:$B$7</c:f>
              <c:numCache>
                <c:formatCode>0.00</c:formatCode>
                <c:ptCount val="6"/>
                <c:pt idx="0">
                  <c:v>97.58</c:v>
                </c:pt>
                <c:pt idx="1">
                  <c:v>97.73</c:v>
                </c:pt>
                <c:pt idx="2">
                  <c:v>98.15</c:v>
                </c:pt>
                <c:pt idx="3">
                  <c:v>98.86</c:v>
                </c:pt>
                <c:pt idx="4">
                  <c:v>100.19</c:v>
                </c:pt>
                <c:pt idx="5">
                  <c:v>97.41</c:v>
                </c:pt>
              </c:numCache>
            </c:numRef>
          </c:val>
        </c:ser>
        <c:ser>
          <c:idx val="1"/>
          <c:order val="1"/>
          <c:tx>
            <c:strRef>
              <c:f>Sheet1!$C$1</c:f>
              <c:strCache>
                <c:ptCount val="1"/>
                <c:pt idx="0">
                  <c:v>Mois le plus bas</c:v>
                </c:pt>
              </c:strCache>
            </c:strRef>
          </c:tx>
          <c:spPr>
            <a:solidFill>
              <a:srgbClr val="EFAC62"/>
            </a:solidFill>
          </c:spPr>
          <c:cat>
            <c:strRef>
              <c:f>Sheet1!$A$2:$A$7</c:f>
              <c:strCache>
                <c:ptCount val="6"/>
                <c:pt idx="0">
                  <c:v>EFC 870</c:v>
                </c:pt>
                <c:pt idx="1">
                  <c:v>PEP 998</c:v>
                </c:pt>
                <c:pt idx="2">
                  <c:v>Grenier 9X4</c:v>
                </c:pt>
                <c:pt idx="3">
                  <c:v>Flotte 9W3</c:v>
                </c:pt>
                <c:pt idx="4">
                  <c:v>Retraités CGRAE</c:v>
                </c:pt>
                <c:pt idx="5">
                  <c:v>MEDOC 8Z7</c:v>
                </c:pt>
              </c:strCache>
            </c:strRef>
          </c:cat>
          <c:val>
            <c:numRef>
              <c:f>Sheet1!$C$2:$C$7</c:f>
              <c:numCache>
                <c:formatCode>0.00</c:formatCode>
                <c:ptCount val="6"/>
                <c:pt idx="0">
                  <c:v>95.97</c:v>
                </c:pt>
                <c:pt idx="1">
                  <c:v>76.96</c:v>
                </c:pt>
                <c:pt idx="2">
                  <c:v>69.19</c:v>
                </c:pt>
                <c:pt idx="3">
                  <c:v>82.2</c:v>
                </c:pt>
                <c:pt idx="4">
                  <c:v>96.62</c:v>
                </c:pt>
                <c:pt idx="5">
                  <c:v>96.64</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Cotisants</c:v>
                </c:pt>
              </c:strCache>
            </c:strRef>
          </c:tx>
          <c:spPr>
            <a:ln w="28575">
              <a:solidFill>
                <a:srgbClr val="112A40"/>
              </a:solidFill>
            </a:ln>
          </c:spPr>
          <c:marker>
            <c:spPr>
              <a:solidFill>
                <a:srgbClr val="112A40"/>
              </a:solidFill>
              <a:ln>
                <a:solidFill>
                  <a:srgbClr val="112A40"/>
                </a:solidFill>
              </a:ln>
            </c:spPr>
          </c:marker>
          <c:cat>
            <c:strRef>
              <c:f>Sheet1!$A$2:$A$33</c:f>
              <c:strCache>
                <c:ptCount val="32"/>
                <c:pt idx="0">
                  <c:v>janv. 24</c:v>
                </c:pt>
                <c:pt idx="1">
                  <c:v>févr. 24</c:v>
                </c:pt>
                <c:pt idx="2">
                  <c:v>mars 24</c:v>
                </c:pt>
                <c:pt idx="3">
                  <c:v>avr. 24</c:v>
                </c:pt>
                <c:pt idx="4">
                  <c:v>mai 24</c:v>
                </c:pt>
                <c:pt idx="5">
                  <c:v>juin 24</c:v>
                </c:pt>
                <c:pt idx="6">
                  <c:v>juil. 24</c:v>
                </c:pt>
                <c:pt idx="7">
                  <c:v>août 24</c:v>
                </c:pt>
                <c:pt idx="8">
                  <c:v>sept. 24</c:v>
                </c:pt>
                <c:pt idx="9">
                  <c:v>oct. 24</c:v>
                </c:pt>
                <c:pt idx="10">
                  <c:v>nov. 24</c:v>
                </c:pt>
                <c:pt idx="11">
                  <c:v>déc. 24</c:v>
                </c:pt>
                <c:pt idx="12">
                  <c:v>janv. 25</c:v>
                </c:pt>
                <c:pt idx="13">
                  <c:v>févr. 25</c:v>
                </c:pt>
                <c:pt idx="14">
                  <c:v>mars 25</c:v>
                </c:pt>
                <c:pt idx="15">
                  <c:v>avr. 25</c:v>
                </c:pt>
                <c:pt idx="16">
                  <c:v>mai 25</c:v>
                </c:pt>
                <c:pt idx="17">
                  <c:v>juin 25</c:v>
                </c:pt>
                <c:pt idx="18">
                  <c:v>juil. 25</c:v>
                </c:pt>
                <c:pt idx="19">
                  <c:v>août 25</c:v>
                </c:pt>
                <c:pt idx="20">
                  <c:v>sept. 25</c:v>
                </c:pt>
                <c:pt idx="21">
                  <c:v>oct. 25</c:v>
                </c:pt>
                <c:pt idx="22">
                  <c:v>nov. 25</c:v>
                </c:pt>
                <c:pt idx="23">
                  <c:v>déc. 25</c:v>
                </c:pt>
                <c:pt idx="24">
                  <c:v>janv. 26</c:v>
                </c:pt>
                <c:pt idx="25">
                  <c:v>févr. 26</c:v>
                </c:pt>
                <c:pt idx="26">
                  <c:v>mars 26</c:v>
                </c:pt>
                <c:pt idx="27">
                  <c:v>avr. 26</c:v>
                </c:pt>
                <c:pt idx="28">
                  <c:v>mai 26</c:v>
                </c:pt>
                <c:pt idx="29">
                  <c:v>juin 26</c:v>
                </c:pt>
                <c:pt idx="30">
                  <c:v>juil. 26</c:v>
                </c:pt>
                <c:pt idx="31">
                  <c:v>août 26</c:v>
                </c:pt>
              </c:strCache>
            </c:strRef>
          </c:cat>
          <c:val>
            <c:numRef>
              <c:f>Sheet1!$B$2:$B$33</c:f>
              <c:numCache>
                <c:formatCode># ##0</c:formatCode>
                <c:ptCount val="32"/>
                <c:pt idx="0">
                  <c:v>23119.0</c:v>
                </c:pt>
                <c:pt idx="1">
                  <c:v>23129.0</c:v>
                </c:pt>
                <c:pt idx="2">
                  <c:v>23123.0</c:v>
                </c:pt>
                <c:pt idx="3">
                  <c:v>23126.0</c:v>
                </c:pt>
                <c:pt idx="4">
                  <c:v>23416.0</c:v>
                </c:pt>
                <c:pt idx="5">
                  <c:v>23411.0</c:v>
                </c:pt>
                <c:pt idx="6">
                  <c:v>27698.0</c:v>
                </c:pt>
                <c:pt idx="7">
                  <c:v>27682.0</c:v>
                </c:pt>
                <c:pt idx="8">
                  <c:v>27670.0</c:v>
                </c:pt>
                <c:pt idx="9">
                  <c:v>28168.0</c:v>
                </c:pt>
                <c:pt idx="10">
                  <c:v>27606.0</c:v>
                </c:pt>
                <c:pt idx="12">
                  <c:v>27866.0</c:v>
                </c:pt>
                <c:pt idx="13">
                  <c:v>27858.0</c:v>
                </c:pt>
                <c:pt idx="14">
                  <c:v>27851.0</c:v>
                </c:pt>
                <c:pt idx="15">
                  <c:v>27758.0</c:v>
                </c:pt>
                <c:pt idx="16">
                  <c:v>27702.0</c:v>
                </c:pt>
                <c:pt idx="17">
                  <c:v>27642.0</c:v>
                </c:pt>
                <c:pt idx="18">
                  <c:v>31724.0</c:v>
                </c:pt>
                <c:pt idx="19">
                  <c:v>31716.0</c:v>
                </c:pt>
                <c:pt idx="20">
                  <c:v>31683.0</c:v>
                </c:pt>
                <c:pt idx="21">
                  <c:v>31683.0</c:v>
                </c:pt>
                <c:pt idx="22">
                  <c:v>31647.0</c:v>
                </c:pt>
                <c:pt idx="23">
                  <c:v>31676.0</c:v>
                </c:pt>
                <c:pt idx="24">
                  <c:v>31269.0</c:v>
                </c:pt>
                <c:pt idx="25">
                  <c:v>31260.0</c:v>
                </c:pt>
                <c:pt idx="26">
                  <c:v>31248.0</c:v>
                </c:pt>
                <c:pt idx="27">
                  <c:v>31238.0</c:v>
                </c:pt>
                <c:pt idx="28">
                  <c:v>31242.0</c:v>
                </c:pt>
                <c:pt idx="29">
                  <c:v>31232.0</c:v>
                </c:pt>
                <c:pt idx="30">
                  <c:v>31221.0</c:v>
                </c:pt>
                <c:pt idx="31">
                  <c:v>31198.0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min val="20000.0"/>
        </c:scaling>
        <c:delete val="0"/>
        <c:axPos val="l"/>
        <c:numFmt formatCode="# ##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Entrées</c:v>
                </c:pt>
              </c:strCache>
            </c:strRef>
          </c:tx>
          <c:spPr>
            <a:solidFill>
              <a:srgbClr val="112A40"/>
            </a:solidFill>
          </c:spPr>
          <c:cat>
            <c:strRef>
              <c:f>Sheet1!$A$2:$A$30</c:f>
              <c:strCache>
                <c:ptCount val="29"/>
                <c:pt idx="0">
                  <c:v>févr. 24</c:v>
                </c:pt>
                <c:pt idx="1">
                  <c:v>mars 24</c:v>
                </c:pt>
                <c:pt idx="2">
                  <c:v>avr. 24</c:v>
                </c:pt>
                <c:pt idx="3">
                  <c:v>mai 24</c:v>
                </c:pt>
                <c:pt idx="4">
                  <c:v>juin 24</c:v>
                </c:pt>
                <c:pt idx="5">
                  <c:v>juil. 24</c:v>
                </c:pt>
                <c:pt idx="6">
                  <c:v>août 24</c:v>
                </c:pt>
                <c:pt idx="7">
                  <c:v>sept. 24</c:v>
                </c:pt>
                <c:pt idx="8">
                  <c:v>oct. 24</c:v>
                </c:pt>
                <c:pt idx="9">
                  <c:v>nov. 24</c:v>
                </c:pt>
                <c:pt idx="10">
                  <c:v>févr. 25</c:v>
                </c:pt>
                <c:pt idx="11">
                  <c:v>mars 25</c:v>
                </c:pt>
                <c:pt idx="12">
                  <c:v>avr. 25</c:v>
                </c:pt>
                <c:pt idx="13">
                  <c:v>mai 25</c:v>
                </c:pt>
                <c:pt idx="14">
                  <c:v>juin 25</c:v>
                </c:pt>
                <c:pt idx="15">
                  <c:v>juil. 25</c:v>
                </c:pt>
                <c:pt idx="16">
                  <c:v>août 25</c:v>
                </c:pt>
                <c:pt idx="17">
                  <c:v>sept. 25</c:v>
                </c:pt>
                <c:pt idx="18">
                  <c:v>oct. 25</c:v>
                </c:pt>
                <c:pt idx="19">
                  <c:v>nov. 25</c:v>
                </c:pt>
                <c:pt idx="20">
                  <c:v>déc. 25</c:v>
                </c:pt>
                <c:pt idx="21">
                  <c:v>janv. 26</c:v>
                </c:pt>
                <c:pt idx="22">
                  <c:v>févr. 26</c:v>
                </c:pt>
                <c:pt idx="23">
                  <c:v>mars 26</c:v>
                </c:pt>
                <c:pt idx="24">
                  <c:v>avr. 26</c:v>
                </c:pt>
                <c:pt idx="25">
                  <c:v>mai 26</c:v>
                </c:pt>
                <c:pt idx="26">
                  <c:v>juin 26</c:v>
                </c:pt>
                <c:pt idx="27">
                  <c:v>juil. 26</c:v>
                </c:pt>
                <c:pt idx="28">
                  <c:v>août 26</c:v>
                </c:pt>
              </c:strCache>
            </c:strRef>
          </c:cat>
          <c:val>
            <c:numRef>
              <c:f>Sheet1!$B$2:$B$30</c:f>
              <c:numCache>
                <c:formatCode># ##0</c:formatCode>
                <c:ptCount val="29"/>
                <c:pt idx="0">
                  <c:v>26</c:v>
                </c:pt>
                <c:pt idx="1">
                  <c:v>4</c:v>
                </c:pt>
                <c:pt idx="2">
                  <c:v>17</c:v>
                </c:pt>
                <c:pt idx="3">
                  <c:v>640</c:v>
                </c:pt>
                <c:pt idx="4">
                  <c:v>3</c:v>
                </c:pt>
                <c:pt idx="5">
                  <c:v>4926</c:v>
                </c:pt>
                <c:pt idx="6">
                  <c:v>4</c:v>
                </c:pt>
                <c:pt idx="7">
                  <c:v>3</c:v>
                </c:pt>
                <c:pt idx="8">
                  <c:v>583</c:v>
                </c:pt>
                <c:pt idx="9">
                  <c:v>34</c:v>
                </c:pt>
                <c:pt idx="10">
                  <c:v>4</c:v>
                </c:pt>
                <c:pt idx="11">
                  <c:v>5</c:v>
                </c:pt>
                <c:pt idx="12">
                  <c:v>8</c:v>
                </c:pt>
                <c:pt idx="13">
                  <c:v>2</c:v>
                </c:pt>
                <c:pt idx="14">
                  <c:v>4</c:v>
                </c:pt>
                <c:pt idx="15">
                  <c:v>4127</c:v>
                </c:pt>
                <c:pt idx="16">
                  <c:v>13</c:v>
                </c:pt>
                <c:pt idx="17">
                  <c:v>9</c:v>
                </c:pt>
                <c:pt idx="18">
                  <c:v>33</c:v>
                </c:pt>
                <c:pt idx="19">
                  <c:v>19</c:v>
                </c:pt>
                <c:pt idx="20">
                  <c:v>50</c:v>
                </c:pt>
                <c:pt idx="21">
                  <c:v>35</c:v>
                </c:pt>
                <c:pt idx="22">
                  <c:v>9</c:v>
                </c:pt>
                <c:pt idx="23">
                  <c:v>1</c:v>
                </c:pt>
                <c:pt idx="24">
                  <c:v>14</c:v>
                </c:pt>
                <c:pt idx="25">
                  <c:v>22</c:v>
                </c:pt>
                <c:pt idx="26">
                  <c:v>10</c:v>
                </c:pt>
                <c:pt idx="27">
                  <c:v>7</c:v>
                </c:pt>
                <c:pt idx="28">
                  <c:v>1</c:v>
                </c:pt>
              </c:numCache>
            </c:numRef>
          </c:val>
        </c:ser>
        <c:ser>
          <c:idx val="1"/>
          <c:order val="1"/>
          <c:tx>
            <c:strRef>
              <c:f>Sheet1!$C$1</c:f>
              <c:strCache>
                <c:ptCount val="1"/>
                <c:pt idx="0">
                  <c:v>Sorties</c:v>
                </c:pt>
              </c:strCache>
            </c:strRef>
          </c:tx>
          <c:spPr>
            <a:solidFill>
              <a:srgbClr val="EFAC62"/>
            </a:solidFill>
          </c:spPr>
          <c:cat>
            <c:strRef>
              <c:f>Sheet1!$A$2:$A$30</c:f>
              <c:strCache>
                <c:ptCount val="29"/>
                <c:pt idx="0">
                  <c:v>févr. 24</c:v>
                </c:pt>
                <c:pt idx="1">
                  <c:v>mars 24</c:v>
                </c:pt>
                <c:pt idx="2">
                  <c:v>avr. 24</c:v>
                </c:pt>
                <c:pt idx="3">
                  <c:v>mai 24</c:v>
                </c:pt>
                <c:pt idx="4">
                  <c:v>juin 24</c:v>
                </c:pt>
                <c:pt idx="5">
                  <c:v>juil. 24</c:v>
                </c:pt>
                <c:pt idx="6">
                  <c:v>août 24</c:v>
                </c:pt>
                <c:pt idx="7">
                  <c:v>sept. 24</c:v>
                </c:pt>
                <c:pt idx="8">
                  <c:v>oct. 24</c:v>
                </c:pt>
                <c:pt idx="9">
                  <c:v>nov. 24</c:v>
                </c:pt>
                <c:pt idx="10">
                  <c:v>févr. 25</c:v>
                </c:pt>
                <c:pt idx="11">
                  <c:v>mars 25</c:v>
                </c:pt>
                <c:pt idx="12">
                  <c:v>avr. 25</c:v>
                </c:pt>
                <c:pt idx="13">
                  <c:v>mai 25</c:v>
                </c:pt>
                <c:pt idx="14">
                  <c:v>juin 25</c:v>
                </c:pt>
                <c:pt idx="15">
                  <c:v>juil. 25</c:v>
                </c:pt>
                <c:pt idx="16">
                  <c:v>août 25</c:v>
                </c:pt>
                <c:pt idx="17">
                  <c:v>sept. 25</c:v>
                </c:pt>
                <c:pt idx="18">
                  <c:v>oct. 25</c:v>
                </c:pt>
                <c:pt idx="19">
                  <c:v>nov. 25</c:v>
                </c:pt>
                <c:pt idx="20">
                  <c:v>déc. 25</c:v>
                </c:pt>
                <c:pt idx="21">
                  <c:v>janv. 26</c:v>
                </c:pt>
                <c:pt idx="22">
                  <c:v>févr. 26</c:v>
                </c:pt>
                <c:pt idx="23">
                  <c:v>mars 26</c:v>
                </c:pt>
                <c:pt idx="24">
                  <c:v>avr. 26</c:v>
                </c:pt>
                <c:pt idx="25">
                  <c:v>mai 26</c:v>
                </c:pt>
                <c:pt idx="26">
                  <c:v>juin 26</c:v>
                </c:pt>
                <c:pt idx="27">
                  <c:v>juil. 26</c:v>
                </c:pt>
                <c:pt idx="28">
                  <c:v>août 26</c:v>
                </c:pt>
              </c:strCache>
            </c:strRef>
          </c:cat>
          <c:val>
            <c:numRef>
              <c:f>Sheet1!$C$2:$C$30</c:f>
              <c:numCache>
                <c:formatCode># ##0</c:formatCode>
                <c:ptCount val="29"/>
                <c:pt idx="0">
                  <c:v>16</c:v>
                </c:pt>
                <c:pt idx="1">
                  <c:v>10</c:v>
                </c:pt>
                <c:pt idx="2">
                  <c:v>14</c:v>
                </c:pt>
                <c:pt idx="3">
                  <c:v>350</c:v>
                </c:pt>
                <c:pt idx="4">
                  <c:v>8</c:v>
                </c:pt>
                <c:pt idx="5">
                  <c:v>639</c:v>
                </c:pt>
                <c:pt idx="6">
                  <c:v>20</c:v>
                </c:pt>
                <c:pt idx="7">
                  <c:v>15</c:v>
                </c:pt>
                <c:pt idx="8">
                  <c:v>85</c:v>
                </c:pt>
                <c:pt idx="9">
                  <c:v>596</c:v>
                </c:pt>
                <c:pt idx="10">
                  <c:v>12</c:v>
                </c:pt>
                <c:pt idx="11">
                  <c:v>12</c:v>
                </c:pt>
                <c:pt idx="12">
                  <c:v>101</c:v>
                </c:pt>
                <c:pt idx="13">
                  <c:v>58</c:v>
                </c:pt>
                <c:pt idx="14">
                  <c:v>64</c:v>
                </c:pt>
                <c:pt idx="15">
                  <c:v>45</c:v>
                </c:pt>
                <c:pt idx="16">
                  <c:v>21</c:v>
                </c:pt>
                <c:pt idx="17">
                  <c:v>42</c:v>
                </c:pt>
                <c:pt idx="18">
                  <c:v>33</c:v>
                </c:pt>
                <c:pt idx="19">
                  <c:v>55</c:v>
                </c:pt>
                <c:pt idx="20">
                  <c:v>21</c:v>
                </c:pt>
                <c:pt idx="21">
                  <c:v>442</c:v>
                </c:pt>
                <c:pt idx="22">
                  <c:v>18</c:v>
                </c:pt>
                <c:pt idx="23">
                  <c:v>13</c:v>
                </c:pt>
                <c:pt idx="24">
                  <c:v>24</c:v>
                </c:pt>
                <c:pt idx="25">
                  <c:v>18</c:v>
                </c:pt>
                <c:pt idx="26">
                  <c:v>20</c:v>
                </c:pt>
                <c:pt idx="27">
                  <c:v>18</c:v>
                </c:pt>
                <c:pt idx="28">
                  <c:v>24</c:v>
                </c:pt>
              </c:numCache>
            </c:numRef>
          </c:val>
        </c:ser>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Agents</c:v>
                </c:pt>
              </c:strCache>
            </c:strRef>
          </c:tx>
          <c:spPr>
            <a:solidFill>
              <a:srgbClr val="112A40"/>
            </a:solidFill>
          </c:spPr>
          <c:cat>
            <c:strRef>
              <c:f>Sheet1!$A$2:$A$9</c:f>
              <c:strCache>
                <c:ptCount val="8"/>
                <c:pt idx="0">
                  <c:v>0-5 ans</c:v>
                </c:pt>
                <c:pt idx="1">
                  <c:v>5-10</c:v>
                </c:pt>
                <c:pt idx="2">
                  <c:v>10-15</c:v>
                </c:pt>
                <c:pt idx="3">
                  <c:v>15-20</c:v>
                </c:pt>
                <c:pt idx="4">
                  <c:v>20-25</c:v>
                </c:pt>
                <c:pt idx="5">
                  <c:v>25-30</c:v>
                </c:pt>
                <c:pt idx="6">
                  <c:v>30-35</c:v>
                </c:pt>
                <c:pt idx="7">
                  <c:v>35 ans et +</c:v>
                </c:pt>
              </c:strCache>
            </c:strRef>
          </c:cat>
          <c:val>
            <c:numRef>
              <c:f>Sheet1!$B$2:$B$9</c:f>
              <c:numCache>
                <c:formatCode># ##0</c:formatCode>
                <c:ptCount val="8"/>
                <c:pt idx="0">
                  <c:v>11103</c:v>
                </c:pt>
                <c:pt idx="1">
                  <c:v>4735</c:v>
                </c:pt>
                <c:pt idx="2">
                  <c:v>1496</c:v>
                </c:pt>
                <c:pt idx="3">
                  <c:v>4585</c:v>
                </c:pt>
                <c:pt idx="4">
                  <c:v>3998</c:v>
                </c:pt>
                <c:pt idx="5">
                  <c:v>1817</c:v>
                </c:pt>
                <c:pt idx="6">
                  <c:v>139</c:v>
                </c:pt>
                <c:pt idx="7">
                  <c:v>2</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Maladie</c:v>
                </c:pt>
              </c:strCache>
            </c:strRef>
          </c:tx>
          <c:spPr>
            <a:solidFill>
              <a:srgbClr val="112A40"/>
            </a:solidFill>
          </c:spPr>
          <c:cat>
            <c:strRef>
              <c:f>Sheet1!$A$2:$A$4</c:f>
              <c:strCache>
                <c:ptCount val="3"/>
                <c:pt idx="0">
                  <c:v>Barème indiqué en entretien</c:v>
                </c:pt>
                <c:pt idx="1">
                  <c:v>Précompte Solde</c:v>
                </c:pt>
                <c:pt idx="2">
                  <c:v>Comptabilité 2025</c:v>
                </c:pt>
              </c:strCache>
            </c:strRef>
          </c:cat>
          <c:val>
            <c:numRef>
              <c:f>Sheet1!$B$2:$B$4</c:f>
              <c:numCache>
                <c:formatCode>0.00</c:formatCode>
                <c:ptCount val="3"/>
                <c:pt idx="0">
                  <c:v>3.5</c:v>
                </c:pt>
                <c:pt idx="1">
                  <c:v>3.77</c:v>
                </c:pt>
                <c:pt idx="2">
                  <c:v>3.52</c:v>
                </c:pt>
              </c:numCache>
            </c:numRef>
          </c:val>
        </c:ser>
        <c:ser>
          <c:idx val="1"/>
          <c:order val="1"/>
          <c:tx>
            <c:strRef>
              <c:f>Sheet1!$C$1</c:f>
              <c:strCache>
                <c:ptCount val="1"/>
                <c:pt idx="0">
                  <c:v>Décès</c:v>
                </c:pt>
              </c:strCache>
            </c:strRef>
          </c:tx>
          <c:spPr>
            <a:solidFill>
              <a:srgbClr val="EFAC62"/>
            </a:solidFill>
          </c:spPr>
          <c:cat>
            <c:strRef>
              <c:f>Sheet1!$A$2:$A$4</c:f>
              <c:strCache>
                <c:ptCount val="3"/>
                <c:pt idx="0">
                  <c:v>Barème indiqué en entretien</c:v>
                </c:pt>
                <c:pt idx="1">
                  <c:v>Précompte Solde</c:v>
                </c:pt>
                <c:pt idx="2">
                  <c:v>Comptabilité 2025</c:v>
                </c:pt>
              </c:strCache>
            </c:strRef>
          </c:cat>
          <c:val>
            <c:numRef>
              <c:f>Sheet1!$C$2:$C$4</c:f>
              <c:numCache>
                <c:formatCode>0.00</c:formatCode>
                <c:ptCount val="3"/>
                <c:pt idx="0">
                  <c:v>1.5</c:v>
                </c:pt>
                <c:pt idx="1">
                  <c:v>1.23</c:v>
                </c:pt>
                <c:pt idx="2">
                  <c:v>1.48</c:v>
                </c:pt>
              </c:numCache>
            </c:numRef>
          </c:val>
        </c:ser>
        <c:dLbls>
          <c:numFmt formatCode="0.00" sourceLinked="0"/>
          <c:txPr>
            <a:bodyPr/>
            <a:lstStyle/>
            <a:p>
              <a:pPr>
                <a:defRPr sz="1000">
                  <a:solidFill>
                    <a:srgbClr val="FFFFFF"/>
                  </a:solidFill>
                </a:defRPr>
              </a:pPr>
            </a:p>
          </c:txP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 maladie</c:v>
                </c:pt>
              </c:strCache>
            </c:strRef>
          </c:tx>
          <c:spPr>
            <a:solidFill>
              <a:srgbClr val="112A40"/>
            </a:solidFill>
          </c:spPr>
          <c:cat>
            <c:strRef>
              <c:f>Sheet1!$A$2:$A$4</c:f>
              <c:strCache>
                <c:ptCount val="3"/>
                <c:pt idx="0">
                  <c:v>Clé comptable</c:v>
                </c:pt>
                <c:pt idx="1">
                  <c:v>Clé de la Solde (3,77 / 1,23)</c:v>
                </c:pt>
                <c:pt idx="2">
                  <c:v>Barème indiqué (3,5 / 1,5)</c:v>
                </c:pt>
              </c:strCache>
            </c:strRef>
          </c:cat>
          <c:val>
            <c:numRef>
              <c:f>Sheet1!$B$2:$B$4</c:f>
              <c:numCache>
                <c:formatCode>0.00</c:formatCode>
                <c:ptCount val="3"/>
                <c:pt idx="0">
                  <c:v>73.53</c:v>
                </c:pt>
                <c:pt idx="1">
                  <c:v>68.75</c:v>
                </c:pt>
                <c:pt idx="2">
                  <c:v>74.06</c:v>
                </c:pt>
              </c:numCache>
            </c:numRef>
          </c:val>
        </c:ser>
        <c:ser>
          <c:idx val="1"/>
          <c:order val="1"/>
          <c:tx>
            <c:strRef>
              <c:f>Sheet1!$C$1</c:f>
              <c:strCache>
                <c:ptCount val="1"/>
                <c:pt idx="0">
                  <c:v>S/C décès</c:v>
                </c:pt>
              </c:strCache>
            </c:strRef>
          </c:tx>
          <c:spPr>
            <a:solidFill>
              <a:srgbClr val="EFAC62"/>
            </a:solidFill>
          </c:spPr>
          <c:cat>
            <c:strRef>
              <c:f>Sheet1!$A$2:$A$4</c:f>
              <c:strCache>
                <c:ptCount val="3"/>
                <c:pt idx="0">
                  <c:v>Clé comptable</c:v>
                </c:pt>
                <c:pt idx="1">
                  <c:v>Clé de la Solde (3,77 / 1,23)</c:v>
                </c:pt>
                <c:pt idx="2">
                  <c:v>Barème indiqué (3,5 / 1,5)</c:v>
                </c:pt>
              </c:strCache>
            </c:strRef>
          </c:cat>
          <c:val>
            <c:numRef>
              <c:f>Sheet1!$C$2:$C$4</c:f>
              <c:numCache>
                <c:formatCode>0.00</c:formatCode>
                <c:ptCount val="3"/>
                <c:pt idx="0">
                  <c:v>19.16</c:v>
                </c:pt>
                <c:pt idx="1">
                  <c:v>22.97</c:v>
                </c:pt>
                <c:pt idx="2">
                  <c:v>18.84</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021A-48FF-9FB3-982F078F5DD6}"/>
              </c:ext>
            </c:extLst>
          </c:dPt>
          <c:dPt>
            <c:idx val="1"/>
            <c:bubble3D val="0"/>
            <c:spPr>
              <a:solidFill>
                <a:srgbClr val="112A40"/>
              </a:solidFill>
              <a:ln w="19050">
                <a:noFill/>
              </a:ln>
              <a:effectLst/>
            </c:spPr>
            <c:extLst>
              <c:ext xmlns:c16="http://schemas.microsoft.com/office/drawing/2014/chart" uri="{C3380CC4-5D6E-409C-BE32-E72D297353CC}">
                <c16:uniqueId val="{00000003-021A-48FF-9FB3-982F078F5DD6}"/>
              </c:ext>
            </c:extLst>
          </c:dPt>
          <c:cat>
            <c:strRef>
              <c:f>Sheet1!$A$2:$A$3</c:f>
              <c:strCache>
                <c:ptCount val="2"/>
                <c:pt idx="0">
                  <c:v>Valeur</c:v>
                </c:pt>
                <c:pt idx="1">
                  <c:v>Reste</c:v>
                </c:pt>
              </c:strCache>
            </c:strRef>
          </c:cat>
          <c:val>
            <c:numRef>
              <c:f>Sheet1!$B$2:$B$3</c:f>
              <c:numCache>
                <c:formatCode>General</c:formatCode>
                <c:ptCount val="2"/>
                <c:pt idx="0">
                  <c:v>73.53</c:v>
                </c:pt>
                <c:pt idx="1">
                  <c:v>26.47</c:v>
                </c:pt>
              </c:numCache>
            </c:numRef>
          </c:val>
          <c:extLst>
            <c:ext xmlns:c16="http://schemas.microsoft.com/office/drawing/2014/chart" uri="{C3380CC4-5D6E-409C-BE32-E72D297353CC}">
              <c16:uniqueId val="{00000004-021A-48FF-9FB3-982F078F5D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706D-4F64-BD6B-61C00E14F388}"/>
              </c:ext>
            </c:extLst>
          </c:dPt>
          <c:dPt>
            <c:idx val="1"/>
            <c:bubble3D val="0"/>
            <c:spPr>
              <a:solidFill>
                <a:srgbClr val="112A40"/>
              </a:solidFill>
              <a:ln w="19050">
                <a:noFill/>
              </a:ln>
              <a:effectLst/>
            </c:spPr>
            <c:extLst>
              <c:ext xmlns:c16="http://schemas.microsoft.com/office/drawing/2014/chart" uri="{C3380CC4-5D6E-409C-BE32-E72D297353CC}">
                <c16:uniqueId val="{00000003-706D-4F64-BD6B-61C00E14F388}"/>
              </c:ext>
            </c:extLst>
          </c:dPt>
          <c:cat>
            <c:strRef>
              <c:f>Sheet1!$A$2:$A$3</c:f>
              <c:strCache>
                <c:ptCount val="2"/>
                <c:pt idx="0">
                  <c:v>Valeur</c:v>
                </c:pt>
                <c:pt idx="1">
                  <c:v>Reste</c:v>
                </c:pt>
              </c:strCache>
            </c:strRef>
          </c:cat>
          <c:val>
            <c:numRef>
              <c:f>Sheet1!$B$2:$B$3</c:f>
              <c:numCache>
                <c:formatCode>General</c:formatCode>
                <c:ptCount val="2"/>
                <c:pt idx="0">
                  <c:v>16.28</c:v>
                </c:pt>
                <c:pt idx="1">
                  <c:v>83.72</c:v>
                </c:pt>
              </c:numCache>
            </c:numRef>
          </c:val>
          <c:extLst>
            <c:ext xmlns:c16="http://schemas.microsoft.com/office/drawing/2014/chart" uri="{C3380CC4-5D6E-409C-BE32-E72D297353CC}">
              <c16:uniqueId val="{00000004-706D-4F64-BD6B-61C00E14F38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750D-4441-85D1-EEC67D758551}"/>
              </c:ext>
            </c:extLst>
          </c:dPt>
          <c:dPt>
            <c:idx val="1"/>
            <c:bubble3D val="0"/>
            <c:spPr>
              <a:solidFill>
                <a:srgbClr val="112A40"/>
              </a:solidFill>
              <a:ln w="19050">
                <a:noFill/>
              </a:ln>
              <a:effectLst/>
            </c:spPr>
            <c:extLst>
              <c:ext xmlns:c16="http://schemas.microsoft.com/office/drawing/2014/chart" uri="{C3380CC4-5D6E-409C-BE32-E72D297353CC}">
                <c16:uniqueId val="{00000003-750D-4441-85D1-EEC67D758551}"/>
              </c:ext>
            </c:extLst>
          </c:dPt>
          <c:cat>
            <c:strRef>
              <c:f>Sheet1!$A$2:$A$3</c:f>
              <c:strCache>
                <c:ptCount val="2"/>
                <c:pt idx="0">
                  <c:v>Valeur</c:v>
                </c:pt>
                <c:pt idx="1">
                  <c:v>Reste</c:v>
                </c:pt>
              </c:strCache>
            </c:strRef>
          </c:cat>
          <c:val>
            <c:numRef>
              <c:f>Sheet1!$B$2:$B$3</c:f>
              <c:numCache>
                <c:formatCode>General</c:formatCode>
                <c:ptCount val="2"/>
                <c:pt idx="0">
                  <c:v>5.07</c:v>
                </c:pt>
                <c:pt idx="1">
                  <c:v>94.93</c:v>
                </c:pt>
              </c:numCache>
            </c:numRef>
          </c:val>
          <c:extLst>
            <c:ext xmlns:c16="http://schemas.microsoft.com/office/drawing/2014/chart" uri="{C3380CC4-5D6E-409C-BE32-E72D297353CC}">
              <c16:uniqueId val="{00000004-750D-4441-85D1-EEC67D75855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82E9-4DDD-8BC6-295B0F874A85}"/>
              </c:ext>
            </c:extLst>
          </c:dPt>
          <c:dPt>
            <c:idx val="1"/>
            <c:bubble3D val="0"/>
            <c:spPr>
              <a:solidFill>
                <a:srgbClr val="112A40"/>
              </a:solidFill>
              <a:ln w="19050">
                <a:noFill/>
              </a:ln>
              <a:effectLst/>
            </c:spPr>
            <c:extLst>
              <c:ext xmlns:c16="http://schemas.microsoft.com/office/drawing/2014/chart" uri="{C3380CC4-5D6E-409C-BE32-E72D297353CC}">
                <c16:uniqueId val="{00000003-82E9-4DDD-8BC6-295B0F874A85}"/>
              </c:ext>
            </c:extLst>
          </c:dPt>
          <c:cat>
            <c:strRef>
              <c:f>Sheet1!$A$2:$A$3</c:f>
              <c:strCache>
                <c:ptCount val="2"/>
                <c:pt idx="0">
                  <c:v>Valeur</c:v>
                </c:pt>
                <c:pt idx="1">
                  <c:v>Reste</c:v>
                </c:pt>
              </c:strCache>
            </c:strRef>
          </c:cat>
          <c:val>
            <c:numRef>
              <c:f>Sheet1!$B$2:$B$3</c:f>
              <c:numCache>
                <c:formatCode>General</c:formatCode>
                <c:ptCount val="2"/>
                <c:pt idx="0">
                  <c:v>21.34</c:v>
                </c:pt>
                <c:pt idx="1">
                  <c:v>78.66</c:v>
                </c:pt>
              </c:numCache>
            </c:numRef>
          </c:val>
          <c:extLst>
            <c:ext xmlns:c16="http://schemas.microsoft.com/office/drawing/2014/chart" uri="{C3380CC4-5D6E-409C-BE32-E72D297353CC}">
              <c16:uniqueId val="{00000004-82E9-4DDD-8BC6-295B0F874A85}"/>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Frais de gestion</c:v>
                </c:pt>
              </c:strCache>
            </c:strRef>
          </c:tx>
          <c:spPr>
            <a:solidFill>
              <a:srgbClr val="BBBCBC"/>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1210624559</c:v>
                </c:pt>
                <c:pt idx="1">
                  <c:v>961975477</c:v>
                </c:pt>
                <c:pt idx="2">
                  <c:v>1020461388</c:v>
                </c:pt>
                <c:pt idx="3">
                  <c:v>1039977199</c:v>
                </c:pt>
                <c:pt idx="4">
                  <c:v>987308865</c:v>
                </c:pt>
                <c:pt idx="5">
                  <c:v>1101350021</c:v>
                </c:pt>
                <c:pt idx="6">
                  <c:v>1055460837</c:v>
                </c:pt>
              </c:numCache>
            </c:numRef>
          </c:val>
        </c:ser>
        <c:ser>
          <c:idx val="1"/>
          <c:order val="1"/>
          <c:tx>
            <c:strRef>
              <c:f>Sheet1!$C$1</c:f>
              <c:strCache>
                <c:ptCount val="1"/>
                <c:pt idx="0">
                  <c:v>Résultat net</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1018579699</c:v>
                </c:pt>
                <c:pt idx="1">
                  <c:v>2083908202</c:v>
                </c:pt>
                <c:pt idx="2">
                  <c:v>2060332677</c:v>
                </c:pt>
                <c:pt idx="3">
                  <c:v>930629102</c:v>
                </c:pt>
                <c:pt idx="4">
                  <c:v>792069641</c:v>
                </c:pt>
                <c:pt idx="5">
                  <c:v>437899911</c:v>
                </c:pt>
                <c:pt idx="6">
                  <c:v>-441256500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Épargne PEP et EFC</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10828205640</c:v>
                </c:pt>
                <c:pt idx="1">
                  <c:v>10147421276</c:v>
                </c:pt>
                <c:pt idx="2">
                  <c:v>9364845293</c:v>
                </c:pt>
                <c:pt idx="3">
                  <c:v>9121576576</c:v>
                </c:pt>
                <c:pt idx="4">
                  <c:v>10785064432</c:v>
                </c:pt>
                <c:pt idx="5">
                  <c:v>13814066964</c:v>
                </c:pt>
                <c:pt idx="6">
                  <c:v>15743516391</c:v>
                </c:pt>
              </c:numCache>
            </c:numRef>
          </c:val>
        </c:ser>
        <c:ser>
          <c:idx val="1"/>
          <c:order val="1"/>
          <c:tx>
            <c:strRef>
              <c:f>Sheet1!$C$1</c:f>
              <c:strCache>
                <c:ptCount val="1"/>
                <c:pt idx="0">
                  <c:v>Actifs réservés</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714042784</c:v>
                </c:pt>
                <c:pt idx="1">
                  <c:v>1957211038</c:v>
                </c:pt>
                <c:pt idx="2">
                  <c:v>888844233</c:v>
                </c:pt>
                <c:pt idx="3">
                  <c:v>839212069</c:v>
                </c:pt>
                <c:pt idx="4">
                  <c:v>699925787</c:v>
                </c:pt>
                <c:pt idx="5">
                  <c:v>1608155525</c:v>
                </c:pt>
                <c:pt idx="6">
                  <c:v>2562885661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PEP 998</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293756537</c:v>
                </c:pt>
                <c:pt idx="1">
                  <c:v>322774529</c:v>
                </c:pt>
                <c:pt idx="2">
                  <c:v>509643904</c:v>
                </c:pt>
                <c:pt idx="3">
                  <c:v>927826515</c:v>
                </c:pt>
                <c:pt idx="4">
                  <c:v>1456063820</c:v>
                </c:pt>
                <c:pt idx="5">
                  <c:v>2029929725</c:v>
                </c:pt>
                <c:pt idx="6">
                  <c:v>1606835144</c:v>
                </c:pt>
              </c:numCache>
            </c:numRef>
          </c:val>
        </c:ser>
        <c:ser>
          <c:idx val="1"/>
          <c:order val="1"/>
          <c:tx>
            <c:strRef>
              <c:f>Sheet1!$C$1</c:f>
              <c:strCache>
                <c:ptCount val="1"/>
                <c:pt idx="0">
                  <c:v>EFC 870</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3">
                  <c:v>1414649440</c:v>
                </c:pt>
                <c:pt idx="4">
                  <c:v>1833953120</c:v>
                </c:pt>
                <c:pt idx="5">
                  <c:v>2160317640</c:v>
                </c:pt>
                <c:pt idx="6">
                  <c:v>1786620720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Montant à rembourser</c:v>
                </c:pt>
              </c:strCache>
            </c:strRef>
          </c:tx>
          <c:spPr>
            <a:solidFill>
              <a:srgbClr val="112A40"/>
            </a:solidFill>
          </c:spPr>
          <c:cat>
            <c:strRef>
              <c:f>Sheet1!$A$2:$A$5</c:f>
              <c:strCache>
                <c:ptCount val="4"/>
                <c:pt idx="0">
                  <c:v>5,00 %</c:v>
                </c:pt>
                <c:pt idx="1">
                  <c:v>10,00 %</c:v>
                </c:pt>
                <c:pt idx="2">
                  <c:v>20,00 %</c:v>
                </c:pt>
                <c:pt idx="3">
                  <c:v>30,00 %</c:v>
                </c:pt>
              </c:strCache>
            </c:strRef>
          </c:cat>
          <c:val>
            <c:numRef>
              <c:f>Sheet1!$B$2:$B$5</c:f>
              <c:numCache>
                <c:formatCode># ##0,,</c:formatCode>
                <c:ptCount val="4"/>
                <c:pt idx="0">
                  <c:v>787175820</c:v>
                </c:pt>
                <c:pt idx="1">
                  <c:v>1574351639</c:v>
                </c:pt>
                <c:pt idx="2">
                  <c:v>3148703278</c:v>
                </c:pt>
                <c:pt idx="3">
                  <c:v>4723054917</c:v>
                </c:pt>
              </c:numCache>
            </c:numRef>
          </c:val>
        </c:ser>
        <c:ser>
          <c:idx val="1"/>
          <c:order val="1"/>
          <c:tx>
            <c:strRef>
              <c:f>Sheet1!$C$1</c:f>
              <c:strCache>
                <c:ptCount val="1"/>
                <c:pt idx="0">
                  <c:v>Actifs réservés</c:v>
                </c:pt>
              </c:strCache>
            </c:strRef>
          </c:tx>
          <c:spPr>
            <a:solidFill>
              <a:srgbClr val="EFAC62"/>
            </a:solidFill>
          </c:spPr>
          <c:cat>
            <c:strRef>
              <c:f>Sheet1!$A$2:$A$5</c:f>
              <c:strCache>
                <c:ptCount val="4"/>
                <c:pt idx="0">
                  <c:v>5,00 %</c:v>
                </c:pt>
                <c:pt idx="1">
                  <c:v>10,00 %</c:v>
                </c:pt>
                <c:pt idx="2">
                  <c:v>20,00 %</c:v>
                </c:pt>
                <c:pt idx="3">
                  <c:v>30,00 %</c:v>
                </c:pt>
              </c:strCache>
            </c:strRef>
          </c:cat>
          <c:val>
            <c:numRef>
              <c:f>Sheet1!$C$2:$C$5</c:f>
              <c:numCache>
                <c:formatCode># ##0,,</c:formatCode>
                <c:ptCount val="4"/>
                <c:pt idx="0">
                  <c:v>2562885661</c:v>
                </c:pt>
                <c:pt idx="1">
                  <c:v>2562885661</c:v>
                </c:pt>
                <c:pt idx="2">
                  <c:v>2562885661</c:v>
                </c:pt>
                <c:pt idx="3">
                  <c:v>2562885661</c:v>
                </c:pt>
              </c:numCache>
            </c:numRef>
          </c:val>
        </c:ser>
        <c:ser>
          <c:idx val="2"/>
          <c:order val="2"/>
          <c:tx>
            <c:strRef>
              <c:f>Sheet1!$D$1</c:f>
              <c:strCache>
                <c:ptCount val="1"/>
                <c:pt idx="0">
                  <c:v>Trésorerie totale</c:v>
                </c:pt>
              </c:strCache>
            </c:strRef>
          </c:tx>
          <c:spPr>
            <a:solidFill>
              <a:srgbClr val="BBBCBC"/>
            </a:solidFill>
          </c:spPr>
          <c:cat>
            <c:strRef>
              <c:f>Sheet1!$A$2:$A$5</c:f>
              <c:strCache>
                <c:ptCount val="4"/>
                <c:pt idx="0">
                  <c:v>5,00 %</c:v>
                </c:pt>
                <c:pt idx="1">
                  <c:v>10,00 %</c:v>
                </c:pt>
                <c:pt idx="2">
                  <c:v>20,00 %</c:v>
                </c:pt>
                <c:pt idx="3">
                  <c:v>30,00 %</c:v>
                </c:pt>
              </c:strCache>
            </c:strRef>
          </c:cat>
          <c:val>
            <c:numRef>
              <c:f>Sheet1!$D$2:$D$5</c:f>
              <c:numCache>
                <c:formatCode># ##0,,</c:formatCode>
                <c:ptCount val="4"/>
                <c:pt idx="0">
                  <c:v>3359100618</c:v>
                </c:pt>
                <c:pt idx="1">
                  <c:v>3359100618</c:v>
                </c:pt>
                <c:pt idx="2">
                  <c:v>3359100618</c:v>
                </c:pt>
                <c:pt idx="3">
                  <c:v>3359100618</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Encours</c:v>
                </c:pt>
              </c:strCache>
            </c:strRef>
          </c:tx>
          <c:spPr>
            <a:solidFill>
              <a:srgbClr val="112A40"/>
            </a:solidFill>
          </c:spPr>
          <c:cat>
            <c:strRef>
              <c:f>Sheet1!$A$2:$A$7</c:f>
              <c:strCache>
                <c:ptCount val="6"/>
                <c:pt idx="0">
                  <c:v>31/12/2021</c:v>
                </c:pt>
                <c:pt idx="1">
                  <c:v>31/12/2022</c:v>
                </c:pt>
                <c:pt idx="2">
                  <c:v>31/12/2023</c:v>
                </c:pt>
                <c:pt idx="3">
                  <c:v>31/12/2024</c:v>
                </c:pt>
                <c:pt idx="4">
                  <c:v>31/12/2025</c:v>
                </c:pt>
                <c:pt idx="5">
                  <c:v>31/08/2026</c:v>
                </c:pt>
              </c:strCache>
            </c:strRef>
          </c:cat>
          <c:val>
            <c:numRef>
              <c:f>Sheet1!$B$2:$B$7</c:f>
              <c:numCache>
                <c:formatCode># ##0,,</c:formatCode>
                <c:ptCount val="6"/>
                <c:pt idx="0">
                  <c:v>7900000</c:v>
                </c:pt>
                <c:pt idx="1">
                  <c:v>182555907</c:v>
                </c:pt>
                <c:pt idx="2">
                  <c:v>375172174</c:v>
                </c:pt>
                <c:pt idx="3">
                  <c:v>566643134</c:v>
                </c:pt>
                <c:pt idx="4">
                  <c:v>829623319</c:v>
                </c:pt>
                <c:pt idx="5">
                  <c:v>1044302107</c:v>
                </c:pt>
              </c:numCache>
            </c:numRef>
          </c:val>
        </c:ser>
        <c:ser>
          <c:idx val="1"/>
          <c:order val="1"/>
          <c:tx>
            <c:strRef>
              <c:f>Sheet1!$C$1</c:f>
              <c:strCache>
                <c:ptCount val="1"/>
                <c:pt idx="0">
                  <c:v>Financement FPPN</c:v>
                </c:pt>
              </c:strCache>
            </c:strRef>
          </c:tx>
          <c:spPr>
            <a:solidFill>
              <a:srgbClr val="EFAC62"/>
            </a:solidFill>
          </c:spPr>
          <c:cat>
            <c:strRef>
              <c:f>Sheet1!$A$2:$A$7</c:f>
              <c:strCache>
                <c:ptCount val="6"/>
                <c:pt idx="0">
                  <c:v>31/12/2021</c:v>
                </c:pt>
                <c:pt idx="1">
                  <c:v>31/12/2022</c:v>
                </c:pt>
                <c:pt idx="2">
                  <c:v>31/12/2023</c:v>
                </c:pt>
                <c:pt idx="3">
                  <c:v>31/12/2024</c:v>
                </c:pt>
                <c:pt idx="4">
                  <c:v>31/12/2025</c:v>
                </c:pt>
                <c:pt idx="5">
                  <c:v>31/08/2026</c:v>
                </c:pt>
              </c:strCache>
            </c:strRef>
          </c:cat>
          <c:val>
            <c:numRef>
              <c:f>Sheet1!$C$2:$C$7</c:f>
              <c:numCache>
                <c:formatCode># ##0,,</c:formatCode>
                <c:ptCount val="6"/>
                <c:pt idx="0">
                  <c:v>27030000</c:v>
                </c:pt>
                <c:pt idx="1">
                  <c:v>458483900</c:v>
                </c:pt>
                <c:pt idx="2">
                  <c:v>504192100</c:v>
                </c:pt>
                <c:pt idx="3">
                  <c:v>650882600</c:v>
                </c:pt>
                <c:pt idx="4">
                  <c:v>817121335</c:v>
                </c:pt>
                <c:pt idx="5">
                  <c:v>915477260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Activites generatrice de revenus</c:v>
                </c:pt>
              </c:strCache>
            </c:strRef>
          </c:tx>
          <c:spPr>
            <a:solidFill>
              <a:srgbClr val="112A40"/>
            </a:solidFill>
          </c:spPr>
          <c:cat>
            <c:strRef>
              <c:f>Sheet1!$A$2:$A$7</c:f>
              <c:strCache>
                <c:ptCount val="6"/>
                <c:pt idx="0">
                  <c:v>2021</c:v>
                </c:pt>
                <c:pt idx="1">
                  <c:v>2022</c:v>
                </c:pt>
                <c:pt idx="2">
                  <c:v>2023</c:v>
                </c:pt>
                <c:pt idx="3">
                  <c:v>2024</c:v>
                </c:pt>
                <c:pt idx="4">
                  <c:v>2025</c:v>
                </c:pt>
                <c:pt idx="5">
                  <c:v>2026 (8 mois)</c:v>
                </c:pt>
              </c:strCache>
            </c:strRef>
          </c:cat>
          <c:val>
            <c:numRef>
              <c:f>Sheet1!$B$2:$B$7</c:f>
              <c:numCache>
                <c:formatCode># ##0,,</c:formatCode>
                <c:ptCount val="6"/>
                <c:pt idx="0">
                  <c:v>0</c:v>
                </c:pt>
                <c:pt idx="1">
                  <c:v>42260000</c:v>
                </c:pt>
                <c:pt idx="2">
                  <c:v>44235000</c:v>
                </c:pt>
                <c:pt idx="3">
                  <c:v>50835000</c:v>
                </c:pt>
                <c:pt idx="4">
                  <c:v>66625000</c:v>
                </c:pt>
                <c:pt idx="5">
                  <c:v>79280000</c:v>
                </c:pt>
              </c:numCache>
            </c:numRef>
          </c:val>
        </c:ser>
        <c:ser>
          <c:idx val="1"/>
          <c:order val="1"/>
          <c:tx>
            <c:strRef>
              <c:f>Sheet1!$C$1</c:f>
              <c:strCache>
                <c:ptCount val="1"/>
                <c:pt idx="0">
                  <c:v>Credit de sante</c:v>
                </c:pt>
              </c:strCache>
            </c:strRef>
          </c:tx>
          <c:spPr>
            <a:solidFill>
              <a:srgbClr val="EFAC62"/>
            </a:solidFill>
          </c:spPr>
          <c:cat>
            <c:strRef>
              <c:f>Sheet1!$A$2:$A$7</c:f>
              <c:strCache>
                <c:ptCount val="6"/>
                <c:pt idx="0">
                  <c:v>2021</c:v>
                </c:pt>
                <c:pt idx="1">
                  <c:v>2022</c:v>
                </c:pt>
                <c:pt idx="2">
                  <c:v>2023</c:v>
                </c:pt>
                <c:pt idx="3">
                  <c:v>2024</c:v>
                </c:pt>
                <c:pt idx="4">
                  <c:v>2025</c:v>
                </c:pt>
                <c:pt idx="5">
                  <c:v>2026 (8 mois)</c:v>
                </c:pt>
              </c:strCache>
            </c:strRef>
          </c:cat>
          <c:val>
            <c:numRef>
              <c:f>Sheet1!$C$2:$C$7</c:f>
              <c:numCache>
                <c:formatCode># ##0,,</c:formatCode>
                <c:ptCount val="6"/>
                <c:pt idx="0">
                  <c:v>500000</c:v>
                </c:pt>
                <c:pt idx="1">
                  <c:v>20500000</c:v>
                </c:pt>
                <c:pt idx="2">
                  <c:v>55265000</c:v>
                </c:pt>
                <c:pt idx="3">
                  <c:v>111885000</c:v>
                </c:pt>
                <c:pt idx="4">
                  <c:v>170425000</c:v>
                </c:pt>
                <c:pt idx="5">
                  <c:v>199205000</c:v>
                </c:pt>
              </c:numCache>
            </c:numRef>
          </c:val>
        </c:ser>
        <c:ser>
          <c:idx val="2"/>
          <c:order val="2"/>
          <c:tx>
            <c:strRef>
              <c:f>Sheet1!$D$1</c:f>
              <c:strCache>
                <c:ptCount val="1"/>
                <c:pt idx="0">
                  <c:v>Credit grenier shop</c:v>
                </c:pt>
              </c:strCache>
            </c:strRef>
          </c:tx>
          <c:spPr>
            <a:solidFill>
              <a:srgbClr val="BBBCBC"/>
            </a:solidFill>
          </c:spPr>
          <c:cat>
            <c:strRef>
              <c:f>Sheet1!$A$2:$A$7</c:f>
              <c:strCache>
                <c:ptCount val="6"/>
                <c:pt idx="0">
                  <c:v>2021</c:v>
                </c:pt>
                <c:pt idx="1">
                  <c:v>2022</c:v>
                </c:pt>
                <c:pt idx="2">
                  <c:v>2023</c:v>
                </c:pt>
                <c:pt idx="3">
                  <c:v>2024</c:v>
                </c:pt>
                <c:pt idx="4">
                  <c:v>2025</c:v>
                </c:pt>
                <c:pt idx="5">
                  <c:v>2026 (8 mois)</c:v>
                </c:pt>
              </c:strCache>
            </c:strRef>
          </c:cat>
          <c:val>
            <c:numRef>
              <c:f>Sheet1!$D$2:$D$7</c:f>
              <c:numCache>
                <c:formatCode># ##0,,</c:formatCode>
                <c:ptCount val="6"/>
                <c:pt idx="0">
                  <c:v>0</c:v>
                </c:pt>
                <c:pt idx="1">
                  <c:v>0</c:v>
                </c:pt>
                <c:pt idx="2">
                  <c:v>0</c:v>
                </c:pt>
                <c:pt idx="3">
                  <c:v>2217888</c:v>
                </c:pt>
                <c:pt idx="4">
                  <c:v>5009675</c:v>
                </c:pt>
                <c:pt idx="5">
                  <c:v>892175</c:v>
                </c:pt>
              </c:numCache>
            </c:numRef>
          </c:val>
        </c:ser>
        <c:ser>
          <c:idx val="3"/>
          <c:order val="3"/>
          <c:tx>
            <c:strRef>
              <c:f>Sheet1!$E$1</c:f>
              <c:strCache>
                <c:ptCount val="1"/>
                <c:pt idx="0">
                  <c:v>Credit habitat</c:v>
                </c:pt>
              </c:strCache>
            </c:strRef>
          </c:tx>
          <c:spPr>
            <a:solidFill>
              <a:srgbClr val="060606"/>
            </a:solidFill>
          </c:spPr>
          <c:cat>
            <c:strRef>
              <c:f>Sheet1!$A$2:$A$7</c:f>
              <c:strCache>
                <c:ptCount val="6"/>
                <c:pt idx="0">
                  <c:v>2021</c:v>
                </c:pt>
                <c:pt idx="1">
                  <c:v>2022</c:v>
                </c:pt>
                <c:pt idx="2">
                  <c:v>2023</c:v>
                </c:pt>
                <c:pt idx="3">
                  <c:v>2024</c:v>
                </c:pt>
                <c:pt idx="4">
                  <c:v>2025</c:v>
                </c:pt>
                <c:pt idx="5">
                  <c:v>2026 (8 mois)</c:v>
                </c:pt>
              </c:strCache>
            </c:strRef>
          </c:cat>
          <c:val>
            <c:numRef>
              <c:f>Sheet1!$E$2:$E$7</c:f>
              <c:numCache>
                <c:formatCode># ##0,,</c:formatCode>
                <c:ptCount val="6"/>
                <c:pt idx="0">
                  <c:v>0</c:v>
                </c:pt>
                <c:pt idx="1">
                  <c:v>55820000</c:v>
                </c:pt>
                <c:pt idx="2">
                  <c:v>150605000</c:v>
                </c:pt>
                <c:pt idx="3">
                  <c:v>252625000</c:v>
                </c:pt>
                <c:pt idx="4">
                  <c:v>508842669</c:v>
                </c:pt>
                <c:pt idx="5">
                  <c:v>540495000</c:v>
                </c:pt>
              </c:numCache>
            </c:numRef>
          </c:val>
        </c:ser>
        <c:ser>
          <c:idx val="4"/>
          <c:order val="4"/>
          <c:tx>
            <c:strRef>
              <c:f>Sheet1!$F$1</c:f>
              <c:strCache>
                <c:ptCount val="1"/>
                <c:pt idx="0">
                  <c:v>Credit mariage</c:v>
                </c:pt>
              </c:strCache>
            </c:strRef>
          </c:tx>
          <c:spPr>
            <a:solidFill>
              <a:srgbClr val="53565A"/>
            </a:solidFill>
          </c:spPr>
          <c:cat>
            <c:strRef>
              <c:f>Sheet1!$A$2:$A$7</c:f>
              <c:strCache>
                <c:ptCount val="6"/>
                <c:pt idx="0">
                  <c:v>2021</c:v>
                </c:pt>
                <c:pt idx="1">
                  <c:v>2022</c:v>
                </c:pt>
                <c:pt idx="2">
                  <c:v>2023</c:v>
                </c:pt>
                <c:pt idx="3">
                  <c:v>2024</c:v>
                </c:pt>
                <c:pt idx="4">
                  <c:v>2025</c:v>
                </c:pt>
                <c:pt idx="5">
                  <c:v>2026 (8 mois)</c:v>
                </c:pt>
              </c:strCache>
            </c:strRef>
          </c:cat>
          <c:val>
            <c:numRef>
              <c:f>Sheet1!$F$2:$F$7</c:f>
              <c:numCache>
                <c:formatCode># ##0,,</c:formatCode>
                <c:ptCount val="6"/>
                <c:pt idx="0">
                  <c:v>0</c:v>
                </c:pt>
                <c:pt idx="1">
                  <c:v>3690000</c:v>
                </c:pt>
                <c:pt idx="2">
                  <c:v>7825000</c:v>
                </c:pt>
                <c:pt idx="3">
                  <c:v>15480000</c:v>
                </c:pt>
                <c:pt idx="4">
                  <c:v>21750000</c:v>
                </c:pt>
                <c:pt idx="5">
                  <c:v>19450000</c:v>
                </c:pt>
              </c:numCache>
            </c:numRef>
          </c:val>
        </c:ser>
        <c:ser>
          <c:idx val="5"/>
          <c:order val="5"/>
          <c:tx>
            <c:strRef>
              <c:f>Sheet1!$G$1</c:f>
              <c:strCache>
                <c:ptCount val="1"/>
                <c:pt idx="0">
                  <c:v>Crédit flash</c:v>
                </c:pt>
              </c:strCache>
            </c:strRef>
          </c:tx>
          <c:spPr>
            <a:solidFill>
              <a:srgbClr val="F6D3A8"/>
            </a:solidFill>
          </c:spPr>
          <c:cat>
            <c:strRef>
              <c:f>Sheet1!$A$2:$A$7</c:f>
              <c:strCache>
                <c:ptCount val="6"/>
                <c:pt idx="0">
                  <c:v>2021</c:v>
                </c:pt>
                <c:pt idx="1">
                  <c:v>2022</c:v>
                </c:pt>
                <c:pt idx="2">
                  <c:v>2023</c:v>
                </c:pt>
                <c:pt idx="3">
                  <c:v>2024</c:v>
                </c:pt>
                <c:pt idx="4">
                  <c:v>2025</c:v>
                </c:pt>
                <c:pt idx="5">
                  <c:v>2026 (8 mois)</c:v>
                </c:pt>
              </c:strCache>
            </c:strRef>
          </c:cat>
          <c:val>
            <c:numRef>
              <c:f>Sheet1!$G$2:$G$7</c:f>
              <c:numCache>
                <c:formatCode># ##0,,</c:formatCode>
                <c:ptCount val="6"/>
                <c:pt idx="0">
                  <c:v>0</c:v>
                </c:pt>
                <c:pt idx="1">
                  <c:v>22440100</c:v>
                </c:pt>
                <c:pt idx="2">
                  <c:v>143012090</c:v>
                </c:pt>
                <c:pt idx="3">
                  <c:v>209941000</c:v>
                </c:pt>
                <c:pt idx="4">
                  <c:v>268242800</c:v>
                </c:pt>
                <c:pt idx="5">
                  <c:v>151510000</c:v>
                </c:pt>
              </c:numCache>
            </c:numRef>
          </c:val>
        </c:ser>
        <c:ser>
          <c:idx val="6"/>
          <c:order val="6"/>
          <c:tx>
            <c:strRef>
              <c:f>Sheet1!$H$1</c:f>
              <c:strCache>
                <c:ptCount val="1"/>
                <c:pt idx="0">
                  <c:v>Crédit scolaire</c:v>
                </c:pt>
              </c:strCache>
            </c:strRef>
          </c:tx>
          <c:spPr>
            <a:solidFill>
              <a:srgbClr val="5B7A99"/>
            </a:solidFill>
          </c:spPr>
          <c:cat>
            <c:strRef>
              <c:f>Sheet1!$A$2:$A$7</c:f>
              <c:strCache>
                <c:ptCount val="6"/>
                <c:pt idx="0">
                  <c:v>2021</c:v>
                </c:pt>
                <c:pt idx="1">
                  <c:v>2022</c:v>
                </c:pt>
                <c:pt idx="2">
                  <c:v>2023</c:v>
                </c:pt>
                <c:pt idx="3">
                  <c:v>2024</c:v>
                </c:pt>
                <c:pt idx="4">
                  <c:v>2025</c:v>
                </c:pt>
                <c:pt idx="5">
                  <c:v>2026 (8 mois)</c:v>
                </c:pt>
              </c:strCache>
            </c:strRef>
          </c:cat>
          <c:val>
            <c:numRef>
              <c:f>Sheet1!$H$2:$H$7</c:f>
              <c:numCache>
                <c:formatCode># ##0,,</c:formatCode>
                <c:ptCount val="6"/>
                <c:pt idx="0">
                  <c:v>3700000</c:v>
                </c:pt>
                <c:pt idx="1">
                  <c:v>106550000</c:v>
                </c:pt>
                <c:pt idx="2">
                  <c:v>236870000</c:v>
                </c:pt>
                <c:pt idx="3">
                  <c:v>509425010</c:v>
                </c:pt>
                <c:pt idx="4">
                  <c:v>555305000</c:v>
                </c:pt>
                <c:pt idx="5">
                  <c:v>370515000</c:v>
                </c:pt>
              </c:numCache>
            </c:numRef>
          </c:val>
        </c:ser>
        <c:ser>
          <c:idx val="7"/>
          <c:order val="7"/>
          <c:tx>
            <c:strRef>
              <c:f>Sheet1!$I$1</c:f>
              <c:strCache>
                <c:ptCount val="1"/>
                <c:pt idx="0">
                  <c:v>Equipement domestique</c:v>
                </c:pt>
              </c:strCache>
            </c:strRef>
          </c:tx>
          <c:spPr>
            <a:solidFill>
              <a:srgbClr val="112A40"/>
            </a:solidFill>
          </c:spPr>
          <c:cat>
            <c:strRef>
              <c:f>Sheet1!$A$2:$A$7</c:f>
              <c:strCache>
                <c:ptCount val="6"/>
                <c:pt idx="0">
                  <c:v>2021</c:v>
                </c:pt>
                <c:pt idx="1">
                  <c:v>2022</c:v>
                </c:pt>
                <c:pt idx="2">
                  <c:v>2023</c:v>
                </c:pt>
                <c:pt idx="3">
                  <c:v>2024</c:v>
                </c:pt>
                <c:pt idx="4">
                  <c:v>2025</c:v>
                </c:pt>
                <c:pt idx="5">
                  <c:v>2026 (8 mois)</c:v>
                </c:pt>
              </c:strCache>
            </c:strRef>
          </c:cat>
          <c:val>
            <c:numRef>
              <c:f>Sheet1!$I$2:$I$7</c:f>
              <c:numCache>
                <c:formatCode># ##0,,</c:formatCode>
                <c:ptCount val="6"/>
                <c:pt idx="0">
                  <c:v>3700000</c:v>
                </c:pt>
                <c:pt idx="1">
                  <c:v>18515000</c:v>
                </c:pt>
                <c:pt idx="2">
                  <c:v>28080000</c:v>
                </c:pt>
                <c:pt idx="3">
                  <c:v>32665000</c:v>
                </c:pt>
                <c:pt idx="4">
                  <c:v>13200000</c:v>
                </c:pt>
                <c:pt idx="5">
                  <c:v>22455000</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Plus de 30 jours</c:v>
                </c:pt>
              </c:strCache>
            </c:strRef>
          </c:tx>
          <c:spPr>
            <a:ln w="28575">
              <a:solidFill>
                <a:srgbClr val="112A40"/>
              </a:solidFill>
            </a:ln>
          </c:spPr>
          <c:marker>
            <c:spPr>
              <a:solidFill>
                <a:srgbClr val="112A40"/>
              </a:solidFill>
              <a:ln>
                <a:solidFill>
                  <a:srgbClr val="112A40"/>
                </a:solidFill>
              </a:ln>
            </c:spPr>
          </c:marker>
          <c:cat>
            <c:strRef>
              <c:f>Sheet1!$A$2:$A$13</c:f>
              <c:strCache>
                <c:ptCount val="12"/>
                <c:pt idx="0">
                  <c:v>31/12/2021</c:v>
                </c:pt>
                <c:pt idx="1">
                  <c:v>31/12/2022</c:v>
                </c:pt>
                <c:pt idx="2">
                  <c:v>31/12/2023</c:v>
                </c:pt>
                <c:pt idx="3">
                  <c:v>31/12/2024</c:v>
                </c:pt>
                <c:pt idx="4">
                  <c:v>31/12/2025</c:v>
                </c:pt>
                <c:pt idx="5">
                  <c:v>31/01/2026</c:v>
                </c:pt>
                <c:pt idx="6">
                  <c:v>31/03/2026</c:v>
                </c:pt>
                <c:pt idx="7">
                  <c:v>30/04/2026</c:v>
                </c:pt>
                <c:pt idx="8">
                  <c:v>31/05/2026</c:v>
                </c:pt>
                <c:pt idx="9">
                  <c:v>30/06/2026</c:v>
                </c:pt>
                <c:pt idx="10">
                  <c:v>31/07/2026</c:v>
                </c:pt>
                <c:pt idx="11">
                  <c:v>31/08/2026</c:v>
                </c:pt>
              </c:strCache>
            </c:strRef>
          </c:cat>
          <c:val>
            <c:numRef>
              <c:f>Sheet1!$B$2:$B$13</c:f>
              <c:numCache>
                <c:formatCode>0.00</c:formatCode>
                <c:ptCount val="12"/>
                <c:pt idx="0">
                  <c:v>0.0</c:v>
                </c:pt>
                <c:pt idx="1">
                  <c:v>8.74</c:v>
                </c:pt>
                <c:pt idx="2">
                  <c:v>0.24</c:v>
                </c:pt>
                <c:pt idx="3">
                  <c:v>1.72</c:v>
                </c:pt>
                <c:pt idx="4">
                  <c:v>3.8</c:v>
                </c:pt>
                <c:pt idx="5">
                  <c:v>61.96</c:v>
                </c:pt>
                <c:pt idx="6">
                  <c:v>35.37</c:v>
                </c:pt>
                <c:pt idx="7">
                  <c:v>21.99</c:v>
                </c:pt>
                <c:pt idx="8">
                  <c:v>13.99</c:v>
                </c:pt>
                <c:pt idx="9">
                  <c:v>8.52</c:v>
                </c:pt>
                <c:pt idx="10">
                  <c:v>3.96</c:v>
                </c:pt>
                <c:pt idx="11">
                  <c:v>1.83</c:v>
                </c:pt>
              </c:numCache>
            </c:numRef>
          </c:val>
          <c:smooth val="0"/>
        </c:ser>
        <c:ser>
          <c:idx val="1"/>
          <c:order val="1"/>
          <c:tx>
            <c:strRef>
              <c:f>Sheet1!$C$1</c:f>
              <c:strCache>
                <c:ptCount val="1"/>
                <c:pt idx="0">
                  <c:v>Plus de 90 jours</c:v>
                </c:pt>
              </c:strCache>
            </c:strRef>
          </c:tx>
          <c:spPr>
            <a:ln w="28575">
              <a:solidFill>
                <a:srgbClr val="EFAC62"/>
              </a:solidFill>
            </a:ln>
          </c:spPr>
          <c:marker>
            <c:spPr>
              <a:solidFill>
                <a:srgbClr val="EFAC62"/>
              </a:solidFill>
              <a:ln>
                <a:solidFill>
                  <a:srgbClr val="EFAC62"/>
                </a:solidFill>
              </a:ln>
            </c:spPr>
          </c:marker>
          <c:cat>
            <c:strRef>
              <c:f>Sheet1!$A$2:$A$13</c:f>
              <c:strCache>
                <c:ptCount val="12"/>
                <c:pt idx="0">
                  <c:v>31/12/2021</c:v>
                </c:pt>
                <c:pt idx="1">
                  <c:v>31/12/2022</c:v>
                </c:pt>
                <c:pt idx="2">
                  <c:v>31/12/2023</c:v>
                </c:pt>
                <c:pt idx="3">
                  <c:v>31/12/2024</c:v>
                </c:pt>
                <c:pt idx="4">
                  <c:v>31/12/2025</c:v>
                </c:pt>
                <c:pt idx="5">
                  <c:v>31/01/2026</c:v>
                </c:pt>
                <c:pt idx="6">
                  <c:v>31/03/2026</c:v>
                </c:pt>
                <c:pt idx="7">
                  <c:v>30/04/2026</c:v>
                </c:pt>
                <c:pt idx="8">
                  <c:v>31/05/2026</c:v>
                </c:pt>
                <c:pt idx="9">
                  <c:v>30/06/2026</c:v>
                </c:pt>
                <c:pt idx="10">
                  <c:v>31/07/2026</c:v>
                </c:pt>
                <c:pt idx="11">
                  <c:v>31/08/2026</c:v>
                </c:pt>
              </c:strCache>
            </c:strRef>
          </c:cat>
          <c:val>
            <c:numRef>
              <c:f>Sheet1!$C$2:$C$13</c:f>
              <c:numCache>
                <c:formatCode>0.00</c:formatCode>
                <c:ptCount val="12"/>
                <c:pt idx="0">
                  <c:v>0.0</c:v>
                </c:pt>
                <c:pt idx="1">
                  <c:v>8.74</c:v>
                </c:pt>
                <c:pt idx="2">
                  <c:v>0.24</c:v>
                </c:pt>
                <c:pt idx="3">
                  <c:v>1.32</c:v>
                </c:pt>
                <c:pt idx="4">
                  <c:v>0.85</c:v>
                </c:pt>
                <c:pt idx="5">
                  <c:v>0.93</c:v>
                </c:pt>
                <c:pt idx="6">
                  <c:v>35.23</c:v>
                </c:pt>
                <c:pt idx="7">
                  <c:v>21.93</c:v>
                </c:pt>
                <c:pt idx="8">
                  <c:v>13.78</c:v>
                </c:pt>
                <c:pt idx="9">
                  <c:v>8.17</c:v>
                </c:pt>
                <c:pt idx="10">
                  <c:v>3.79</c:v>
                </c:pt>
                <c:pt idx="11">
                  <c:v>1.71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Échéances</c:v>
                </c:pt>
              </c:strCache>
            </c:strRef>
          </c:tx>
          <c:spPr>
            <a:solidFill>
              <a:srgbClr val="112A40"/>
            </a:solidFill>
          </c:spPr>
          <c:cat>
            <c:strRef>
              <c:f>Sheet1!$A$2:$A$8</c:f>
              <c:strCache>
                <c:ptCount val="7"/>
                <c:pt idx="0">
                  <c:v>janv. 26</c:v>
                </c:pt>
                <c:pt idx="1">
                  <c:v>mars 26</c:v>
                </c:pt>
                <c:pt idx="2">
                  <c:v>avr. 26</c:v>
                </c:pt>
                <c:pt idx="3">
                  <c:v>mai 26</c:v>
                </c:pt>
                <c:pt idx="4">
                  <c:v>juin 26</c:v>
                </c:pt>
                <c:pt idx="5">
                  <c:v>juil. 26</c:v>
                </c:pt>
                <c:pt idx="6">
                  <c:v>août 26</c:v>
                </c:pt>
              </c:strCache>
            </c:strRef>
          </c:cat>
          <c:val>
            <c:numRef>
              <c:f>Sheet1!$B$2:$B$8</c:f>
              <c:numCache>
                <c:formatCode># ##0,,</c:formatCode>
                <c:ptCount val="7"/>
                <c:pt idx="0">
                  <c:v>167784430</c:v>
                </c:pt>
                <c:pt idx="1">
                  <c:v>184076769</c:v>
                </c:pt>
                <c:pt idx="2">
                  <c:v>168474822</c:v>
                </c:pt>
                <c:pt idx="3">
                  <c:v>169652320</c:v>
                </c:pt>
                <c:pt idx="4">
                  <c:v>172760779</c:v>
                </c:pt>
                <c:pt idx="5">
                  <c:v>182530820</c:v>
                </c:pt>
                <c:pt idx="6">
                  <c:v>184892374</c:v>
                </c:pt>
              </c:numCache>
            </c:numRef>
          </c:val>
        </c:ser>
        <c:ser>
          <c:idx val="1"/>
          <c:order val="1"/>
          <c:tx>
            <c:strRef>
              <c:f>Sheet1!$C$1</c:f>
              <c:strCache>
                <c:ptCount val="1"/>
                <c:pt idx="0">
                  <c:v>Précomptes 9X4</c:v>
                </c:pt>
              </c:strCache>
            </c:strRef>
          </c:tx>
          <c:spPr>
            <a:solidFill>
              <a:srgbClr val="EFAC62"/>
            </a:solidFill>
          </c:spPr>
          <c:cat>
            <c:strRef>
              <c:f>Sheet1!$A$2:$A$8</c:f>
              <c:strCache>
                <c:ptCount val="7"/>
                <c:pt idx="0">
                  <c:v>janv. 26</c:v>
                </c:pt>
                <c:pt idx="1">
                  <c:v>mars 26</c:v>
                </c:pt>
                <c:pt idx="2">
                  <c:v>avr. 26</c:v>
                </c:pt>
                <c:pt idx="3">
                  <c:v>mai 26</c:v>
                </c:pt>
                <c:pt idx="4">
                  <c:v>juin 26</c:v>
                </c:pt>
                <c:pt idx="5">
                  <c:v>juil. 26</c:v>
                </c:pt>
                <c:pt idx="6">
                  <c:v>août 26</c:v>
                </c:pt>
              </c:strCache>
            </c:strRef>
          </c:cat>
          <c:val>
            <c:numRef>
              <c:f>Sheet1!$C$2:$C$8</c:f>
              <c:numCache>
                <c:formatCode># ##0,,</c:formatCode>
                <c:ptCount val="7"/>
                <c:pt idx="0">
                  <c:v>142557746</c:v>
                </c:pt>
                <c:pt idx="1">
                  <c:v>139420845</c:v>
                </c:pt>
                <c:pt idx="2">
                  <c:v>138410953</c:v>
                </c:pt>
                <c:pt idx="3">
                  <c:v>143081813</c:v>
                </c:pt>
                <c:pt idx="4">
                  <c:v>147496219</c:v>
                </c:pt>
                <c:pt idx="5">
                  <c:v>150817238</c:v>
                </c:pt>
                <c:pt idx="6">
                  <c:v>156330374</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Retraités</c:v>
                </c:pt>
              </c:strCache>
            </c:strRef>
          </c:tx>
          <c:spPr>
            <a:ln w="28575">
              <a:solidFill>
                <a:srgbClr val="112A40"/>
              </a:solidFill>
            </a:ln>
          </c:spPr>
          <c:marker>
            <c:spPr>
              <a:solidFill>
                <a:srgbClr val="112A40"/>
              </a:solidFill>
              <a:ln>
                <a:solidFill>
                  <a:srgbClr val="112A40"/>
                </a:solidFill>
              </a:ln>
            </c:spPr>
          </c:marker>
          <c:cat>
            <c:strRef>
              <c:f>Sheet1!$A$2:$A$31</c:f>
              <c:strCache>
                <c:ptCount val="30"/>
                <c:pt idx="0">
                  <c:v>févr. 24</c:v>
                </c:pt>
                <c:pt idx="1">
                  <c:v>mars 24</c:v>
                </c:pt>
                <c:pt idx="2">
                  <c:v>avr. 24</c:v>
                </c:pt>
                <c:pt idx="3">
                  <c:v>mai 24</c:v>
                </c:pt>
                <c:pt idx="4">
                  <c:v>juil. 24</c:v>
                </c:pt>
                <c:pt idx="5">
                  <c:v>août 24</c:v>
                </c:pt>
                <c:pt idx="6">
                  <c:v>sept. 24</c:v>
                </c:pt>
                <c:pt idx="7">
                  <c:v>oct. 24</c:v>
                </c:pt>
                <c:pt idx="8">
                  <c:v>nov. 24</c:v>
                </c:pt>
                <c:pt idx="9">
                  <c:v>déc. 24</c:v>
                </c:pt>
                <c:pt idx="10">
                  <c:v>janv. 25</c:v>
                </c:pt>
                <c:pt idx="11">
                  <c:v>févr. 25</c:v>
                </c:pt>
                <c:pt idx="12">
                  <c:v>mars 25</c:v>
                </c:pt>
                <c:pt idx="13">
                  <c:v>avr. 25</c:v>
                </c:pt>
                <c:pt idx="14">
                  <c:v>mai 25</c:v>
                </c:pt>
                <c:pt idx="15">
                  <c:v>juin 25</c:v>
                </c:pt>
                <c:pt idx="16">
                  <c:v>juil. 25</c:v>
                </c:pt>
                <c:pt idx="17">
                  <c:v>août 25</c:v>
                </c:pt>
                <c:pt idx="18">
                  <c:v>sept. 25</c:v>
                </c:pt>
                <c:pt idx="19">
                  <c:v>oct. 25</c:v>
                </c:pt>
                <c:pt idx="20">
                  <c:v>nov. 25</c:v>
                </c:pt>
                <c:pt idx="21">
                  <c:v>déc. 25</c:v>
                </c:pt>
                <c:pt idx="22">
                  <c:v>janv. 26</c:v>
                </c:pt>
                <c:pt idx="23">
                  <c:v>févr. 26</c:v>
                </c:pt>
                <c:pt idx="24">
                  <c:v>mars 26</c:v>
                </c:pt>
                <c:pt idx="25">
                  <c:v>avr. 26</c:v>
                </c:pt>
                <c:pt idx="26">
                  <c:v>mai 26</c:v>
                </c:pt>
                <c:pt idx="27">
                  <c:v>juin 26</c:v>
                </c:pt>
                <c:pt idx="28">
                  <c:v>juil. 26</c:v>
                </c:pt>
                <c:pt idx="29">
                  <c:v>août 26</c:v>
                </c:pt>
              </c:strCache>
            </c:strRef>
          </c:cat>
          <c:val>
            <c:numRef>
              <c:f>Sheet1!$B$2:$B$31</c:f>
              <c:numCache>
                <c:formatCode>0</c:formatCode>
                <c:ptCount val="30"/>
                <c:pt idx="0">
                  <c:v>16</c:v>
                </c:pt>
                <c:pt idx="1">
                  <c:v>84</c:v>
                </c:pt>
                <c:pt idx="2">
                  <c:v>105</c:v>
                </c:pt>
                <c:pt idx="3">
                  <c:v>134</c:v>
                </c:pt>
                <c:pt idx="4">
                  <c:v>176</c:v>
                </c:pt>
                <c:pt idx="5">
                  <c:v>196</c:v>
                </c:pt>
                <c:pt idx="6">
                  <c:v>237</c:v>
                </c:pt>
                <c:pt idx="7">
                  <c:v>255</c:v>
                </c:pt>
                <c:pt idx="8">
                  <c:v>280</c:v>
                </c:pt>
                <c:pt idx="9">
                  <c:v>291</c:v>
                </c:pt>
                <c:pt idx="10">
                  <c:v>306</c:v>
                </c:pt>
                <c:pt idx="11">
                  <c:v>314</c:v>
                </c:pt>
                <c:pt idx="12">
                  <c:v>322</c:v>
                </c:pt>
                <c:pt idx="13">
                  <c:v>336</c:v>
                </c:pt>
                <c:pt idx="14">
                  <c:v>358</c:v>
                </c:pt>
                <c:pt idx="15">
                  <c:v>368</c:v>
                </c:pt>
                <c:pt idx="16">
                  <c:v>386</c:v>
                </c:pt>
                <c:pt idx="17">
                  <c:v>409</c:v>
                </c:pt>
                <c:pt idx="18">
                  <c:v>468</c:v>
                </c:pt>
                <c:pt idx="19">
                  <c:v>495</c:v>
                </c:pt>
                <c:pt idx="20">
                  <c:v>506</c:v>
                </c:pt>
                <c:pt idx="21">
                  <c:v>532</c:v>
                </c:pt>
                <c:pt idx="22">
                  <c:v>592</c:v>
                </c:pt>
                <c:pt idx="23">
                  <c:v>587</c:v>
                </c:pt>
                <c:pt idx="24">
                  <c:v>584</c:v>
                </c:pt>
                <c:pt idx="25">
                  <c:v>580</c:v>
                </c:pt>
                <c:pt idx="26">
                  <c:v>584</c:v>
                </c:pt>
                <c:pt idx="27">
                  <c:v>591</c:v>
                </c:pt>
                <c:pt idx="28">
                  <c:v>600</c:v>
                </c:pt>
                <c:pt idx="29">
                  <c:v>610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Mois couverts</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276.29</c:v>
                </c:pt>
                <c:pt idx="1">
                  <c:v>115.14</c:v>
                </c:pt>
                <c:pt idx="2">
                  <c:v>250.52</c:v>
                </c:pt>
                <c:pt idx="3">
                  <c:v>87.47</c:v>
                </c:pt>
                <c:pt idx="4">
                  <c:v>45.84</c:v>
                </c:pt>
                <c:pt idx="5">
                  <c:v>29.5</c:v>
                </c:pt>
                <c:pt idx="6">
                  <c:v>21.48</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Investissements CMP</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2984680712</c:v>
                </c:pt>
                <c:pt idx="1">
                  <c:v>3521598249</c:v>
                </c:pt>
                <c:pt idx="2">
                  <c:v>3785598221</c:v>
                </c:pt>
                <c:pt idx="3">
                  <c:v>4069396329</c:v>
                </c:pt>
                <c:pt idx="4">
                  <c:v>4944656429</c:v>
                </c:pt>
                <c:pt idx="5">
                  <c:v>6002976947</c:v>
                </c:pt>
                <c:pt idx="6">
                  <c:v>7083534565</c:v>
                </c:pt>
              </c:numCache>
            </c:numRef>
          </c:val>
        </c:ser>
        <c:ser>
          <c:idx val="1"/>
          <c:order val="1"/>
          <c:tx>
            <c:strRef>
              <c:f>Sheet1!$C$1</c:f>
              <c:strCache>
                <c:ptCount val="1"/>
                <c:pt idx="0">
                  <c:v>Terrains</c:v>
                </c:pt>
              </c:strCache>
            </c:strRef>
          </c:tx>
          <c:spPr>
            <a:solidFill>
              <a:srgbClr val="53565A"/>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3931156624</c:v>
                </c:pt>
                <c:pt idx="1">
                  <c:v>3443682500</c:v>
                </c:pt>
                <c:pt idx="2">
                  <c:v>3443682500</c:v>
                </c:pt>
                <c:pt idx="3">
                  <c:v>3443682500</c:v>
                </c:pt>
                <c:pt idx="4">
                  <c:v>3443682500</c:v>
                </c:pt>
                <c:pt idx="5">
                  <c:v>5245896750</c:v>
                </c:pt>
                <c:pt idx="6">
                  <c:v>5245896750</c:v>
                </c:pt>
              </c:numCache>
            </c:numRef>
          </c:val>
        </c:ser>
        <c:ser>
          <c:idx val="2"/>
          <c:order val="2"/>
          <c:tx>
            <c:strRef>
              <c:f>Sheet1!$D$1</c:f>
              <c:strCache>
                <c:ptCount val="1"/>
                <c:pt idx="0">
                  <c:v>Créance Hôpital de la Police</c:v>
                </c:pt>
              </c:strCache>
            </c:strRef>
          </c:tx>
          <c:spPr>
            <a:solidFill>
              <a:srgbClr val="BBBCBC"/>
            </a:solidFill>
          </c:spPr>
          <c:cat>
            <c:strRef>
              <c:f>Sheet1!$A$2:$A$8</c:f>
              <c:strCache>
                <c:ptCount val="7"/>
                <c:pt idx="0">
                  <c:v>2020</c:v>
                </c:pt>
                <c:pt idx="1">
                  <c:v>2021</c:v>
                </c:pt>
                <c:pt idx="2">
                  <c:v>2022</c:v>
                </c:pt>
                <c:pt idx="3">
                  <c:v>2023</c:v>
                </c:pt>
                <c:pt idx="4">
                  <c:v>2024</c:v>
                </c:pt>
                <c:pt idx="5">
                  <c:v>2025</c:v>
                </c:pt>
                <c:pt idx="6">
                  <c:v>31/08/2026</c:v>
                </c:pt>
              </c:strCache>
            </c:strRef>
          </c:cat>
          <c:val>
            <c:numRef>
              <c:f>Sheet1!$D$2:$D$8</c:f>
              <c:numCache>
                <c:formatCode># ##0,,</c:formatCode>
                <c:ptCount val="7"/>
                <c:pt idx="0">
                  <c:v>3407519850</c:v>
                </c:pt>
                <c:pt idx="1">
                  <c:v>3407519850</c:v>
                </c:pt>
                <c:pt idx="2">
                  <c:v>3407519850</c:v>
                </c:pt>
                <c:pt idx="3">
                  <c:v>3407519850</c:v>
                </c:pt>
                <c:pt idx="4">
                  <c:v>3407519850</c:v>
                </c:pt>
                <c:pt idx="5">
                  <c:v>3407519850</c:v>
                </c:pt>
                <c:pt idx="6">
                  <c:v>3407519850</c:v>
                </c:pt>
              </c:numCache>
            </c:numRef>
          </c:val>
        </c:ser>
        <c:ser>
          <c:idx val="3"/>
          <c:order val="3"/>
          <c:tx>
            <c:strRef>
              <c:f>Sheet1!$E$1</c:f>
              <c:strCache>
                <c:ptCount val="1"/>
                <c:pt idx="0">
                  <c:v>Financement du Grenier</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Sheet1!$E$2:$E$8</c:f>
              <c:numCache>
                <c:formatCode># ##0,,</c:formatCode>
                <c:ptCount val="7"/>
                <c:pt idx="0">
                  <c:v>0</c:v>
                </c:pt>
                <c:pt idx="1">
                  <c:v>27030000</c:v>
                </c:pt>
                <c:pt idx="2">
                  <c:v>458483900</c:v>
                </c:pt>
                <c:pt idx="3">
                  <c:v>504192100</c:v>
                </c:pt>
                <c:pt idx="4">
                  <c:v>650882600</c:v>
                </c:pt>
                <c:pt idx="5">
                  <c:v>817121335</c:v>
                </c:pt>
                <c:pt idx="6">
                  <c:v>915477260</c:v>
                </c:pt>
              </c:numCache>
            </c:numRef>
          </c:val>
        </c:ser>
        <c:ser>
          <c:idx val="4"/>
          <c:order val="4"/>
          <c:tx>
            <c:strRef>
              <c:f>Sheet1!$F$1</c:f>
              <c:strCache>
                <c:ptCount val="1"/>
                <c:pt idx="0">
                  <c:v>Trésorerie</c:v>
                </c:pt>
              </c:strCache>
            </c:strRef>
          </c:tx>
          <c:spPr>
            <a:solidFill>
              <a:srgbClr val="060606"/>
            </a:solidFill>
          </c:spPr>
          <c:cat>
            <c:strRef>
              <c:f>Sheet1!$A$2:$A$8</c:f>
              <c:strCache>
                <c:ptCount val="7"/>
                <c:pt idx="0">
                  <c:v>2020</c:v>
                </c:pt>
                <c:pt idx="1">
                  <c:v>2021</c:v>
                </c:pt>
                <c:pt idx="2">
                  <c:v>2022</c:v>
                </c:pt>
                <c:pt idx="3">
                  <c:v>2023</c:v>
                </c:pt>
                <c:pt idx="4">
                  <c:v>2024</c:v>
                </c:pt>
                <c:pt idx="5">
                  <c:v>2025</c:v>
                </c:pt>
                <c:pt idx="6">
                  <c:v>31/08/2026</c:v>
                </c:pt>
              </c:strCache>
            </c:strRef>
          </c:cat>
          <c:val>
            <c:numRef>
              <c:f>Sheet1!$F$2:$F$8</c:f>
              <c:numCache>
                <c:formatCode># ##0,,</c:formatCode>
                <c:ptCount val="7"/>
                <c:pt idx="0">
                  <c:v>630462899</c:v>
                </c:pt>
                <c:pt idx="1">
                  <c:v>2300331943</c:v>
                </c:pt>
                <c:pt idx="2">
                  <c:v>1233051977</c:v>
                </c:pt>
                <c:pt idx="3">
                  <c:v>1116267103</c:v>
                </c:pt>
                <c:pt idx="4">
                  <c:v>979838445</c:v>
                </c:pt>
                <c:pt idx="5">
                  <c:v>1964171543</c:v>
                </c:pt>
                <c:pt idx="6">
                  <c:v>3359100618</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Actif immédiat</c:v>
                </c:pt>
              </c:strCache>
            </c:strRef>
          </c:tx>
          <c:spPr>
            <a:solidFill>
              <a:srgbClr val="060606"/>
            </a:solidFill>
          </c:spPr>
          <c:cat>
            <c:strRef>
              <c:f>Sheet1!$A$2:$A$5</c:f>
              <c:strCache>
                <c:ptCount val="4"/>
                <c:pt idx="0">
                  <c:v>Actif 31/12/2025</c:v>
                </c:pt>
                <c:pt idx="1">
                  <c:v>Passif 31/12/2025</c:v>
                </c:pt>
                <c:pt idx="2">
                  <c:v>Actif 31/08/2026</c:v>
                </c:pt>
                <c:pt idx="3">
                  <c:v>Passif 31/08/2026</c:v>
                </c:pt>
              </c:strCache>
            </c:strRef>
          </c:cat>
          <c:val>
            <c:numRef>
              <c:f>Sheet1!$B$2:$B$5</c:f>
              <c:numCache>
                <c:formatCode># ##0,,</c:formatCode>
                <c:ptCount val="4"/>
                <c:pt idx="0">
                  <c:v>1464171543</c:v>
                </c:pt>
                <c:pt idx="2">
                  <c:v>2373558814</c:v>
                </c:pt>
              </c:numCache>
            </c:numRef>
          </c:val>
        </c:ser>
        <c:ser>
          <c:idx val="1"/>
          <c:order val="1"/>
          <c:tx>
            <c:strRef>
              <c:f>Sheet1!$C$1</c:f>
              <c:strCache>
                <c:ptCount val="1"/>
                <c:pt idx="0">
                  <c:v>Actif à moins d'un an</c:v>
                </c:pt>
              </c:strCache>
            </c:strRef>
          </c:tx>
          <c:spPr>
            <a:solidFill>
              <a:srgbClr val="53565A"/>
            </a:solidFill>
          </c:spPr>
          <c:cat>
            <c:strRef>
              <c:f>Sheet1!$A$2:$A$5</c:f>
              <c:strCache>
                <c:ptCount val="4"/>
                <c:pt idx="0">
                  <c:v>Actif 31/12/2025</c:v>
                </c:pt>
                <c:pt idx="1">
                  <c:v>Passif 31/12/2025</c:v>
                </c:pt>
                <c:pt idx="2">
                  <c:v>Actif 31/08/2026</c:v>
                </c:pt>
                <c:pt idx="3">
                  <c:v>Passif 31/08/2026</c:v>
                </c:pt>
              </c:strCache>
            </c:strRef>
          </c:cat>
          <c:val>
            <c:numRef>
              <c:f>Sheet1!$C$2:$C$5</c:f>
              <c:numCache>
                <c:formatCode># ##0,,</c:formatCode>
                <c:ptCount val="4"/>
                <c:pt idx="0">
                  <c:v>1250837284</c:v>
                </c:pt>
                <c:pt idx="2">
                  <c:v>1084308137</c:v>
                </c:pt>
              </c:numCache>
            </c:numRef>
          </c:val>
        </c:ser>
        <c:ser>
          <c:idx val="2"/>
          <c:order val="2"/>
          <c:tx>
            <c:strRef>
              <c:f>Sheet1!$D$1</c:f>
              <c:strCache>
                <c:ptCount val="1"/>
                <c:pt idx="0">
                  <c:v>Actif à 1 à 5 ans</c:v>
                </c:pt>
              </c:strCache>
            </c:strRef>
          </c:tx>
          <c:spPr>
            <a:solidFill>
              <a:srgbClr val="EFAC62"/>
            </a:solidFill>
          </c:spPr>
          <c:cat>
            <c:strRef>
              <c:f>Sheet1!$A$2:$A$5</c:f>
              <c:strCache>
                <c:ptCount val="4"/>
                <c:pt idx="0">
                  <c:v>Actif 31/12/2025</c:v>
                </c:pt>
                <c:pt idx="1">
                  <c:v>Passif 31/12/2025</c:v>
                </c:pt>
                <c:pt idx="2">
                  <c:v>Actif 31/08/2026</c:v>
                </c:pt>
                <c:pt idx="3">
                  <c:v>Passif 31/08/2026</c:v>
                </c:pt>
              </c:strCache>
            </c:strRef>
          </c:cat>
          <c:val>
            <c:numRef>
              <c:f>Sheet1!$D$2:$D$5</c:f>
              <c:numCache>
                <c:formatCode># ##0,,</c:formatCode>
                <c:ptCount val="4"/>
                <c:pt idx="0">
                  <c:v>1198959085</c:v>
                </c:pt>
                <c:pt idx="2">
                  <c:v>1297315010</c:v>
                </c:pt>
              </c:numCache>
            </c:numRef>
          </c:val>
        </c:ser>
        <c:ser>
          <c:idx val="3"/>
          <c:order val="3"/>
          <c:tx>
            <c:strRef>
              <c:f>Sheet1!$E$1</c:f>
              <c:strCache>
                <c:ptCount val="1"/>
                <c:pt idx="0">
                  <c:v>Actif à plus de 5 ans ou incertain</c:v>
                </c:pt>
              </c:strCache>
            </c:strRef>
          </c:tx>
          <c:spPr>
            <a:solidFill>
              <a:srgbClr val="BBBCBC"/>
            </a:solidFill>
          </c:spPr>
          <c:cat>
            <c:strRef>
              <c:f>Sheet1!$A$2:$A$5</c:f>
              <c:strCache>
                <c:ptCount val="4"/>
                <c:pt idx="0">
                  <c:v>Actif 31/12/2025</c:v>
                </c:pt>
                <c:pt idx="1">
                  <c:v>Passif 31/12/2025</c:v>
                </c:pt>
                <c:pt idx="2">
                  <c:v>Actif 31/08/2026</c:v>
                </c:pt>
                <c:pt idx="3">
                  <c:v>Passif 31/08/2026</c:v>
                </c:pt>
              </c:strCache>
            </c:strRef>
          </c:cat>
          <c:val>
            <c:numRef>
              <c:f>Sheet1!$E$2:$E$5</c:f>
              <c:numCache>
                <c:formatCode># ##0,,</c:formatCode>
                <c:ptCount val="4"/>
                <c:pt idx="0">
                  <c:v>16040901123</c:v>
                </c:pt>
                <c:pt idx="2">
                  <c:v>17170238905</c:v>
                </c:pt>
              </c:numCache>
            </c:numRef>
          </c:val>
        </c:ser>
        <c:ser>
          <c:idx val="4"/>
          <c:order val="4"/>
          <c:tx>
            <c:strRef>
              <c:f>Sheet1!$F$1</c:f>
              <c:strCache>
                <c:ptCount val="1"/>
                <c:pt idx="0">
                  <c:v>Passif à moins d'un an</c:v>
                </c:pt>
              </c:strCache>
            </c:strRef>
          </c:tx>
          <c:spPr>
            <a:solidFill>
              <a:srgbClr val="112A40"/>
            </a:solidFill>
          </c:spPr>
          <c:cat>
            <c:strRef>
              <c:f>Sheet1!$A$2:$A$5</c:f>
              <c:strCache>
                <c:ptCount val="4"/>
                <c:pt idx="0">
                  <c:v>Actif 31/12/2025</c:v>
                </c:pt>
                <c:pt idx="1">
                  <c:v>Passif 31/12/2025</c:v>
                </c:pt>
                <c:pt idx="2">
                  <c:v>Actif 31/08/2026</c:v>
                </c:pt>
                <c:pt idx="3">
                  <c:v>Passif 31/08/2026</c:v>
                </c:pt>
              </c:strCache>
            </c:strRef>
          </c:cat>
          <c:val>
            <c:numRef>
              <c:f>Sheet1!$F$2:$F$5</c:f>
              <c:numCache>
                <c:formatCode># ##0,,</c:formatCode>
                <c:ptCount val="4"/>
                <c:pt idx="1">
                  <c:v>6535377593</c:v>
                </c:pt>
                <c:pt idx="3">
                  <c:v>7017736497</c:v>
                </c:pt>
              </c:numCache>
            </c:numRef>
          </c:val>
        </c:ser>
        <c:ser>
          <c:idx val="5"/>
          <c:order val="5"/>
          <c:tx>
            <c:strRef>
              <c:f>Sheet1!$G$1</c:f>
              <c:strCache>
                <c:ptCount val="1"/>
                <c:pt idx="0">
                  <c:v>Épargne, échéance à établir</c:v>
                </c:pt>
              </c:strCache>
            </c:strRef>
          </c:tx>
          <c:spPr>
            <a:solidFill>
              <a:srgbClr val="C00000"/>
            </a:solidFill>
          </c:spPr>
          <c:cat>
            <c:strRef>
              <c:f>Sheet1!$A$2:$A$5</c:f>
              <c:strCache>
                <c:ptCount val="4"/>
                <c:pt idx="0">
                  <c:v>Actif 31/12/2025</c:v>
                </c:pt>
                <c:pt idx="1">
                  <c:v>Passif 31/12/2025</c:v>
                </c:pt>
                <c:pt idx="2">
                  <c:v>Actif 31/08/2026</c:v>
                </c:pt>
                <c:pt idx="3">
                  <c:v>Passif 31/08/2026</c:v>
                </c:pt>
              </c:strCache>
            </c:strRef>
          </c:cat>
          <c:val>
            <c:numRef>
              <c:f>Sheet1!$G$2:$G$5</c:f>
              <c:numCache>
                <c:formatCode># ##0,,</c:formatCode>
                <c:ptCount val="4"/>
                <c:pt idx="1">
                  <c:v>13814066964</c:v>
                </c:pt>
                <c:pt idx="3">
                  <c:v>15743516391</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Fonds propres</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-6743081733</c:v>
                </c:pt>
                <c:pt idx="1">
                  <c:v>-4659173531</c:v>
                </c:pt>
                <c:pt idx="2">
                  <c:v>-2598840854</c:v>
                </c:pt>
                <c:pt idx="3">
                  <c:v>-1668211752</c:v>
                </c:pt>
                <c:pt idx="4">
                  <c:v>-876142111</c:v>
                </c:pt>
                <c:pt idx="5">
                  <c:v>-438242200</c:v>
                </c:pt>
                <c:pt idx="6">
                  <c:v>-879498700</c:v>
                </c:pt>
              </c:numCache>
            </c:numRef>
          </c:val>
        </c:ser>
        <c:ser>
          <c:idx val="1"/>
          <c:order val="1"/>
          <c:tx>
            <c:strRef>
              <c:f>Sheet1!$C$1</c:f>
              <c:strCache>
                <c:ptCount val="1"/>
                <c:pt idx="0">
                  <c:v>Résultat de l'exercice</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1018579699</c:v>
                </c:pt>
                <c:pt idx="1">
                  <c:v>2083908202</c:v>
                </c:pt>
                <c:pt idx="2">
                  <c:v>2060332677</c:v>
                </c:pt>
                <c:pt idx="3">
                  <c:v>930629102</c:v>
                </c:pt>
                <c:pt idx="4">
                  <c:v>792069641</c:v>
                </c:pt>
                <c:pt idx="5">
                  <c:v>437899911</c:v>
                </c:pt>
                <c:pt idx="6">
                  <c:v>-441256500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Taux directeur</c:v>
                </c:pt>
              </c:strCache>
            </c:strRef>
          </c:tx>
          <c:spPr>
            <a:ln w="28575">
              <a:solidFill>
                <a:srgbClr val="112A40"/>
              </a:solidFill>
            </a:ln>
          </c:spPr>
          <c:marker>
            <c:spPr>
              <a:solidFill>
                <a:srgbClr val="112A40"/>
              </a:solidFill>
              <a:ln>
                <a:solidFill>
                  <a:srgbClr val="112A40"/>
                </a:solidFill>
              </a:ln>
            </c:spPr>
          </c:marker>
          <c:cat>
            <c:strRef>
              <c:f>Sheet1!$A$2:$A$10</c:f>
              <c:strCache>
                <c:ptCount val="9"/>
                <c:pt idx="0">
                  <c:v>01/01/2020</c:v>
                </c:pt>
                <c:pt idx="1">
                  <c:v>24/06/2020</c:v>
                </c:pt>
                <c:pt idx="2">
                  <c:v>16/06/2022</c:v>
                </c:pt>
                <c:pt idx="3">
                  <c:v>16/09/2022</c:v>
                </c:pt>
                <c:pt idx="4">
                  <c:v>16/12/2022</c:v>
                </c:pt>
                <c:pt idx="5">
                  <c:v>16/03/2023</c:v>
                </c:pt>
                <c:pt idx="6">
                  <c:v>16/09/2023</c:v>
                </c:pt>
                <c:pt idx="7">
                  <c:v>16/12/2023</c:v>
                </c:pt>
                <c:pt idx="8">
                  <c:v>16/06/2025</c:v>
                </c:pt>
              </c:strCache>
            </c:strRef>
          </c:cat>
          <c:val>
            <c:numRef>
              <c:f>Sheet1!$B$2:$B$10</c:f>
              <c:numCache>
                <c:formatCode>0.00</c:formatCode>
                <c:ptCount val="9"/>
                <c:pt idx="0">
                  <c:v>2.5</c:v>
                </c:pt>
                <c:pt idx="1">
                  <c:v>2.0</c:v>
                </c:pt>
                <c:pt idx="2">
                  <c:v>2.25</c:v>
                </c:pt>
                <c:pt idx="3">
                  <c:v>2.5</c:v>
                </c:pt>
                <c:pt idx="4">
                  <c:v>2.75</c:v>
                </c:pt>
                <c:pt idx="5">
                  <c:v>3.0</c:v>
                </c:pt>
                <c:pt idx="6">
                  <c:v>3.25</c:v>
                </c:pt>
                <c:pt idx="7">
                  <c:v>3.5</c:v>
                </c:pt>
                <c:pt idx="8">
                  <c:v>3.25</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Liquidité comme le FPPN</c:v>
                </c:pt>
              </c:strCache>
            </c:strRef>
          </c:tx>
          <c:spPr>
            <a:ln w="28575">
              <a:solidFill>
                <a:srgbClr val="112A40"/>
              </a:solidFill>
            </a:ln>
          </c:spPr>
          <c:marker>
            <c:spPr>
              <a:solidFill>
                <a:srgbClr val="112A40"/>
              </a:solidFill>
              <a:ln>
                <a:solidFill>
                  <a:srgbClr val="112A40"/>
                </a:solidFill>
              </a:ln>
            </c:spPr>
          </c:marker>
          <c:cat>
            <c:strRef>
              <c:f>Sheet1!$A$2:$A$7</c:f>
              <c:strCache>
                <c:ptCount val="6"/>
                <c:pt idx="0">
                  <c:v>2021</c:v>
                </c:pt>
                <c:pt idx="1">
                  <c:v>2022</c:v>
                </c:pt>
                <c:pt idx="2">
                  <c:v>2023</c:v>
                </c:pt>
                <c:pt idx="3">
                  <c:v>2024</c:v>
                </c:pt>
                <c:pt idx="4">
                  <c:v>2025</c:v>
                </c:pt>
                <c:pt idx="5">
                  <c:v>2026</c:v>
                </c:pt>
              </c:strCache>
            </c:strRef>
          </c:cat>
          <c:val>
            <c:numRef>
              <c:f>Sheet1!$B$2:$B$7</c:f>
              <c:numCache>
                <c:formatCode>0.00</c:formatCode>
                <c:ptCount val="6"/>
                <c:pt idx="0">
                  <c:v>0.19</c:v>
                </c:pt>
                <c:pt idx="1">
                  <c:v>0.1</c:v>
                </c:pt>
                <c:pt idx="2">
                  <c:v>0.11</c:v>
                </c:pt>
                <c:pt idx="3">
                  <c:v>0.07</c:v>
                </c:pt>
                <c:pt idx="4">
                  <c:v>0.13</c:v>
                </c:pt>
                <c:pt idx="5">
                  <c:v>0.19</c:v>
                </c:pt>
              </c:numCache>
            </c:numRef>
          </c:val>
          <c:smooth val="0"/>
        </c:ser>
        <c:ser>
          <c:idx val="1"/>
          <c:order val="1"/>
          <c:tx>
            <c:strRef>
              <c:f>Sheet1!$C$1</c:f>
              <c:strCache>
                <c:ptCount val="1"/>
                <c:pt idx="0">
                  <c:v>Liquidité retraitée</c:v>
                </c:pt>
              </c:strCache>
            </c:strRef>
          </c:tx>
          <c:spPr>
            <a:ln w="28575">
              <a:solidFill>
                <a:srgbClr val="EFAC62"/>
              </a:solidFill>
            </a:ln>
          </c:spPr>
          <c:marker>
            <c:spPr>
              <a:solidFill>
                <a:srgbClr val="EFAC62"/>
              </a:solidFill>
              <a:ln>
                <a:solidFill>
                  <a:srgbClr val="EFAC62"/>
                </a:solidFill>
              </a:ln>
            </c:spPr>
          </c:marker>
          <c:cat>
            <c:strRef>
              <c:f>Sheet1!$A$2:$A$7</c:f>
              <c:strCache>
                <c:ptCount val="6"/>
                <c:pt idx="0">
                  <c:v>2021</c:v>
                </c:pt>
                <c:pt idx="1">
                  <c:v>2022</c:v>
                </c:pt>
                <c:pt idx="2">
                  <c:v>2023</c:v>
                </c:pt>
                <c:pt idx="3">
                  <c:v>2024</c:v>
                </c:pt>
                <c:pt idx="4">
                  <c:v>2025</c:v>
                </c:pt>
                <c:pt idx="5">
                  <c:v>2026</c:v>
                </c:pt>
              </c:strCache>
            </c:strRef>
          </c:cat>
          <c:val>
            <c:numRef>
              <c:f>Sheet1!$C$2:$C$7</c:f>
              <c:numCache>
                <c:formatCode>0.00</c:formatCode>
                <c:ptCount val="6"/>
                <c:pt idx="0">
                  <c:v>0.64</c:v>
                </c:pt>
                <c:pt idx="1">
                  <c:v>0.51</c:v>
                </c:pt>
                <c:pt idx="2">
                  <c:v>0.54</c:v>
                </c:pt>
                <c:pt idx="3">
                  <c:v>0.33</c:v>
                </c:pt>
                <c:pt idx="4">
                  <c:v>1.15</c:v>
                </c:pt>
                <c:pt idx="5">
                  <c:v>1.53</c:v>
                </c:pt>
              </c:numCache>
            </c:numRef>
          </c:val>
          <c:smooth val="0"/>
        </c:ser>
        <c:ser>
          <c:idx val="2"/>
          <c:order val="2"/>
          <c:tx>
            <c:strRef>
              <c:f>Sheet1!$D$1</c:f>
              <c:strCache>
                <c:ptCount val="1"/>
                <c:pt idx="0">
                  <c:v>Équilibre stable retraité</c:v>
                </c:pt>
              </c:strCache>
            </c:strRef>
          </c:tx>
          <c:spPr>
            <a:ln w="28575">
              <a:solidFill>
                <a:srgbClr val="53565A"/>
              </a:solidFill>
            </a:ln>
          </c:spPr>
          <c:marker>
            <c:spPr>
              <a:solidFill>
                <a:srgbClr val="53565A"/>
              </a:solidFill>
              <a:ln>
                <a:solidFill>
                  <a:srgbClr val="53565A"/>
                </a:solidFill>
              </a:ln>
            </c:spPr>
          </c:marker>
          <c:cat>
            <c:strRef>
              <c:f>Sheet1!$A$2:$A$7</c:f>
              <c:strCache>
                <c:ptCount val="6"/>
                <c:pt idx="0">
                  <c:v>2021</c:v>
                </c:pt>
                <c:pt idx="1">
                  <c:v>2022</c:v>
                </c:pt>
                <c:pt idx="2">
                  <c:v>2023</c:v>
                </c:pt>
                <c:pt idx="3">
                  <c:v>2024</c:v>
                </c:pt>
                <c:pt idx="4">
                  <c:v>2025</c:v>
                </c:pt>
                <c:pt idx="5">
                  <c:v>2026</c:v>
                </c:pt>
              </c:strCache>
            </c:strRef>
          </c:cat>
          <c:val>
            <c:numRef>
              <c:f>Sheet1!$D$2:$D$7</c:f>
              <c:numCache>
                <c:formatCode>0.00</c:formatCode>
                <c:ptCount val="6"/>
                <c:pt idx="0">
                  <c:v>1.14</c:v>
                </c:pt>
                <c:pt idx="1">
                  <c:v>1.09</c:v>
                </c:pt>
                <c:pt idx="2">
                  <c:v>1.08</c:v>
                </c:pt>
                <c:pt idx="3">
                  <c:v>1.08</c:v>
                </c:pt>
                <c:pt idx="4">
                  <c:v>0.94</c:v>
                </c:pt>
                <c:pt idx="5">
                  <c:v>0.94</c:v>
                </c:pt>
              </c:numCache>
            </c:numRef>
          </c:val>
          <c:smooth val="0"/>
        </c:ser>
        <c:ser>
          <c:idx val="3"/>
          <c:order val="3"/>
          <c:tx>
            <c:strRef>
              <c:f>Sheet1!$E$1</c:f>
              <c:strCache>
                <c:ptCount val="1"/>
                <c:pt idx="0">
                  <c:v>Norme (1)</c:v>
                </c:pt>
              </c:strCache>
            </c:strRef>
          </c:tx>
          <c:spPr>
            <a:ln w="28575">
              <a:solidFill>
                <a:srgbClr val="C00000"/>
              </a:solidFill>
            </a:ln>
          </c:spPr>
          <c:marker>
            <c:spPr>
              <a:solidFill>
                <a:srgbClr val="C00000"/>
              </a:solidFill>
              <a:ln>
                <a:solidFill>
                  <a:srgbClr val="C00000"/>
                </a:solidFill>
              </a:ln>
            </c:spPr>
          </c:marker>
          <c:cat>
            <c:strRef>
              <c:f>Sheet1!$A$2:$A$7</c:f>
              <c:strCache>
                <c:ptCount val="6"/>
                <c:pt idx="0">
                  <c:v>2021</c:v>
                </c:pt>
                <c:pt idx="1">
                  <c:v>2022</c:v>
                </c:pt>
                <c:pt idx="2">
                  <c:v>2023</c:v>
                </c:pt>
                <c:pt idx="3">
                  <c:v>2024</c:v>
                </c:pt>
                <c:pt idx="4">
                  <c:v>2025</c:v>
                </c:pt>
                <c:pt idx="5">
                  <c:v>2026</c:v>
                </c:pt>
              </c:strCache>
            </c:strRef>
          </c:cat>
          <c:val>
            <c:numRef>
              <c:f>Sheet1!$E$2:$E$7</c:f>
              <c:numCache>
                <c:formatCode>0.00</c:formatCode>
                <c:ptCount val="6"/>
                <c:pt idx="0">
                  <c:v>1.0</c:v>
                </c:pt>
                <c:pt idx="1">
                  <c:v>1.0</c:v>
                </c:pt>
                <c:pt idx="2">
                  <c:v>1.0</c:v>
                </c:pt>
                <c:pt idx="3">
                  <c:v>1.0</c:v>
                </c:pt>
                <c:pt idx="4">
                  <c:v>1.0</c:v>
                </c:pt>
                <c:pt idx="5">
                  <c:v>1.0</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Maladie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450556166</c:v>
                </c:pt>
                <c:pt idx="1">
                  <c:v>775696432</c:v>
                </c:pt>
                <c:pt idx="2">
                  <c:v>818990532</c:v>
                </c:pt>
                <c:pt idx="3">
                  <c:v>544608847</c:v>
                </c:pt>
                <c:pt idx="4">
                  <c:v>346250445</c:v>
                </c:pt>
                <c:pt idx="5">
                  <c:v>-237774567</c:v>
                </c:pt>
                <c:pt idx="6">
                  <c:v>-701679552</c:v>
                </c:pt>
              </c:numCache>
            </c:numRef>
          </c:val>
        </c:ser>
        <c:ser>
          <c:idx val="1"/>
          <c:order val="1"/>
          <c:tx>
            <c:strRef>
              <c:f>Sheet1!$C$1</c:f>
              <c:strCache>
                <c:ptCount val="1"/>
                <c:pt idx="0">
                  <c:v>Décès</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-297076358</c:v>
                </c:pt>
                <c:pt idx="1">
                  <c:v>-25796447</c:v>
                </c:pt>
                <c:pt idx="2">
                  <c:v>284293552</c:v>
                </c:pt>
                <c:pt idx="3">
                  <c:v>315201377</c:v>
                </c:pt>
                <c:pt idx="4">
                  <c:v>392850349</c:v>
                </c:pt>
                <c:pt idx="5">
                  <c:v>449151155</c:v>
                </c:pt>
                <c:pt idx="6">
                  <c:v>239560278</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Marge exigée</c:v>
                </c:pt>
              </c:strCache>
            </c:strRef>
          </c:tx>
          <c:spPr>
            <a:solidFill>
              <a:srgbClr val="BBBCBC"/>
            </a:solidFill>
          </c:spPr>
          <c:cat>
            <c:strRef>
              <c:f>Sheet1!$A$2:$A$7</c:f>
              <c:strCache>
                <c:ptCount val="6"/>
                <c:pt idx="0">
                  <c:v>2021</c:v>
                </c:pt>
                <c:pt idx="1">
                  <c:v>2022</c:v>
                </c:pt>
                <c:pt idx="2">
                  <c:v>2023</c:v>
                </c:pt>
                <c:pt idx="3">
                  <c:v>2024</c:v>
                </c:pt>
                <c:pt idx="4">
                  <c:v>2025</c:v>
                </c:pt>
                <c:pt idx="5">
                  <c:v>31/08/2026</c:v>
                </c:pt>
              </c:strCache>
            </c:strRef>
          </c:cat>
          <c:val>
            <c:numRef>
              <c:f>Sheet1!$B$2:$B$7</c:f>
              <c:numCache>
                <c:formatCode># ##0,,</c:formatCode>
                <c:ptCount val="6"/>
                <c:pt idx="0">
                  <c:v>423039138</c:v>
                </c:pt>
                <c:pt idx="1">
                  <c:v>436176762</c:v>
                </c:pt>
                <c:pt idx="2">
                  <c:v>459907226</c:v>
                </c:pt>
                <c:pt idx="3">
                  <c:v>499226913</c:v>
                </c:pt>
                <c:pt idx="4">
                  <c:v>566209845</c:v>
                </c:pt>
                <c:pt idx="5">
                  <c:v>615265510</c:v>
                </c:pt>
              </c:numCache>
            </c:numRef>
          </c:val>
        </c:ser>
        <c:ser>
          <c:idx val="1"/>
          <c:order val="1"/>
          <c:tx>
            <c:strRef>
              <c:f>Sheet1!$C$1</c:f>
              <c:strCache>
                <c:ptCount val="1"/>
                <c:pt idx="0">
                  <c:v>Disponible comme le FPPN</c:v>
                </c:pt>
              </c:strCache>
            </c:strRef>
          </c:tx>
          <c:spPr>
            <a:solidFill>
              <a:srgbClr val="112A40"/>
            </a:solidFill>
          </c:spPr>
          <c:cat>
            <c:strRef>
              <c:f>Sheet1!$A$2:$A$7</c:f>
              <c:strCache>
                <c:ptCount val="6"/>
                <c:pt idx="0">
                  <c:v>2021</c:v>
                </c:pt>
                <c:pt idx="1">
                  <c:v>2022</c:v>
                </c:pt>
                <c:pt idx="2">
                  <c:v>2023</c:v>
                </c:pt>
                <c:pt idx="3">
                  <c:v>2024</c:v>
                </c:pt>
                <c:pt idx="4">
                  <c:v>2025</c:v>
                </c:pt>
                <c:pt idx="5">
                  <c:v>31/08/2026</c:v>
                </c:pt>
              </c:strCache>
            </c:strRef>
          </c:cat>
          <c:val>
            <c:numRef>
              <c:f>Sheet1!$C$2:$C$7</c:f>
              <c:numCache>
                <c:formatCode># ##0,,</c:formatCode>
                <c:ptCount val="6"/>
                <c:pt idx="0">
                  <c:v>2899400000</c:v>
                </c:pt>
                <c:pt idx="1">
                  <c:v>2899400000</c:v>
                </c:pt>
                <c:pt idx="2">
                  <c:v>3083619879</c:v>
                </c:pt>
                <c:pt idx="3">
                  <c:v>3604772176</c:v>
                </c:pt>
                <c:pt idx="4">
                  <c:v>4396841817</c:v>
                </c:pt>
                <c:pt idx="5">
                  <c:v>4396841817</c:v>
                </c:pt>
              </c:numCache>
            </c:numRef>
          </c:val>
        </c:ser>
        <c:ser>
          <c:idx val="2"/>
          <c:order val="2"/>
          <c:tx>
            <c:strRef>
              <c:f>Sheet1!$D$1</c:f>
              <c:strCache>
                <c:ptCount val="1"/>
                <c:pt idx="0">
                  <c:v>Disponible nette des pertes</c:v>
                </c:pt>
              </c:strCache>
            </c:strRef>
          </c:tx>
          <c:spPr>
            <a:solidFill>
              <a:srgbClr val="EFAC62"/>
            </a:solidFill>
          </c:spPr>
          <c:cat>
            <c:strRef>
              <c:f>Sheet1!$A$2:$A$7</c:f>
              <c:strCache>
                <c:ptCount val="6"/>
                <c:pt idx="0">
                  <c:v>2021</c:v>
                </c:pt>
                <c:pt idx="1">
                  <c:v>2022</c:v>
                </c:pt>
                <c:pt idx="2">
                  <c:v>2023</c:v>
                </c:pt>
                <c:pt idx="3">
                  <c:v>2024</c:v>
                </c:pt>
                <c:pt idx="4">
                  <c:v>2025</c:v>
                </c:pt>
                <c:pt idx="5">
                  <c:v>31/08/2026</c:v>
                </c:pt>
              </c:strCache>
            </c:strRef>
          </c:cat>
          <c:val>
            <c:numRef>
              <c:f>Sheet1!$D$2:$D$7</c:f>
              <c:numCache>
                <c:formatCode># ##0,,</c:formatCode>
                <c:ptCount val="6"/>
                <c:pt idx="0">
                  <c:v>-4659173531</c:v>
                </c:pt>
                <c:pt idx="1">
                  <c:v>-2598840854</c:v>
                </c:pt>
                <c:pt idx="2">
                  <c:v>-1668211752</c:v>
                </c:pt>
                <c:pt idx="3">
                  <c:v>-876142111</c:v>
                </c:pt>
                <c:pt idx="4">
                  <c:v>-438242200</c:v>
                </c:pt>
                <c:pt idx="5">
                  <c:v>-879498700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CIMA H</c:v>
                </c:pt>
              </c:strCache>
            </c:strRef>
          </c:tx>
          <c:spPr>
            <a:ln w="28575">
              <a:solidFill>
                <a:srgbClr val="112A40"/>
              </a:solidFill>
            </a:ln>
          </c:spPr>
          <c:marker>
            <c:spPr>
              <a:solidFill>
                <a:srgbClr val="112A40"/>
              </a:solidFill>
              <a:ln>
                <a:solidFill>
                  <a:srgbClr val="112A40"/>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Sheet1!$B$2:$B$24</c:f>
              <c:numCache>
                <c:formatCode>0.00</c:formatCode>
                <c:ptCount val="23"/>
                <c:pt idx="0">
                  <c:v>100.0</c:v>
                </c:pt>
                <c:pt idx="1">
                  <c:v>99.25</c:v>
                </c:pt>
                <c:pt idx="2">
                  <c:v>99.09</c:v>
                </c:pt>
                <c:pt idx="3">
                  <c:v>98.89</c:v>
                </c:pt>
                <c:pt idx="4">
                  <c:v>98.34</c:v>
                </c:pt>
                <c:pt idx="5">
                  <c:v>97.53</c:v>
                </c:pt>
                <c:pt idx="6">
                  <c:v>96.63</c:v>
                </c:pt>
                <c:pt idx="7">
                  <c:v>95.6</c:v>
                </c:pt>
                <c:pt idx="8">
                  <c:v>94.25</c:v>
                </c:pt>
                <c:pt idx="9">
                  <c:v>92.31</c:v>
                </c:pt>
                <c:pt idx="10">
                  <c:v>89.56</c:v>
                </c:pt>
                <c:pt idx="11">
                  <c:v>86.04</c:v>
                </c:pt>
                <c:pt idx="12">
                  <c:v>81.51</c:v>
                </c:pt>
                <c:pt idx="13">
                  <c:v>75.11</c:v>
                </c:pt>
                <c:pt idx="14">
                  <c:v>66.44</c:v>
                </c:pt>
                <c:pt idx="15">
                  <c:v>55.74</c:v>
                </c:pt>
                <c:pt idx="16">
                  <c:v>43.23</c:v>
                </c:pt>
                <c:pt idx="17">
                  <c:v>29.22</c:v>
                </c:pt>
                <c:pt idx="18">
                  <c:v>15.94</c:v>
                </c:pt>
                <c:pt idx="19">
                  <c:v>5.26</c:v>
                </c:pt>
                <c:pt idx="20">
                  <c:v>0.3</c:v>
                </c:pt>
                <c:pt idx="21">
                  <c:v>0.0</c:v>
                </c:pt>
                <c:pt idx="22">
                  <c:v>0.0</c:v>
                </c:pt>
              </c:numCache>
            </c:numRef>
          </c:val>
          <c:smooth val="0"/>
        </c:ser>
        <c:ser>
          <c:idx val="1"/>
          <c:order val="1"/>
          <c:tx>
            <c:strRef>
              <c:f>Sheet1!$C$1</c:f>
              <c:strCache>
                <c:ptCount val="1"/>
                <c:pt idx="0">
                  <c:v>CIMA F</c:v>
                </c:pt>
              </c:strCache>
            </c:strRef>
          </c:tx>
          <c:spPr>
            <a:ln w="28575">
              <a:solidFill>
                <a:srgbClr val="EFAC62"/>
              </a:solidFill>
            </a:ln>
          </c:spPr>
          <c:marker>
            <c:spPr>
              <a:solidFill>
                <a:srgbClr val="EFAC62"/>
              </a:solidFill>
              <a:ln>
                <a:solidFill>
                  <a:srgbClr val="EFAC62"/>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Sheet1!$C$2:$C$24</c:f>
              <c:numCache>
                <c:formatCode>0.00</c:formatCode>
                <c:ptCount val="23"/>
                <c:pt idx="0">
                  <c:v>100.0</c:v>
                </c:pt>
                <c:pt idx="1">
                  <c:v>99.6</c:v>
                </c:pt>
                <c:pt idx="2">
                  <c:v>99.51</c:v>
                </c:pt>
                <c:pt idx="3">
                  <c:v>99.41</c:v>
                </c:pt>
                <c:pt idx="4">
                  <c:v>99.12</c:v>
                </c:pt>
                <c:pt idx="5">
                  <c:v>98.68</c:v>
                </c:pt>
                <c:pt idx="6">
                  <c:v>98.19</c:v>
                </c:pt>
                <c:pt idx="7">
                  <c:v>97.62</c:v>
                </c:pt>
                <c:pt idx="8">
                  <c:v>96.88</c:v>
                </c:pt>
                <c:pt idx="9">
                  <c:v>95.79</c:v>
                </c:pt>
                <c:pt idx="10">
                  <c:v>94.24</c:v>
                </c:pt>
                <c:pt idx="11">
                  <c:v>92.22</c:v>
                </c:pt>
                <c:pt idx="12">
                  <c:v>89.58</c:v>
                </c:pt>
                <c:pt idx="13">
                  <c:v>85.81</c:v>
                </c:pt>
                <c:pt idx="14">
                  <c:v>80.52</c:v>
                </c:pt>
                <c:pt idx="15">
                  <c:v>73.52</c:v>
                </c:pt>
                <c:pt idx="16">
                  <c:v>64.46</c:v>
                </c:pt>
                <c:pt idx="17">
                  <c:v>52.62</c:v>
                </c:pt>
                <c:pt idx="18">
                  <c:v>38.44</c:v>
                </c:pt>
                <c:pt idx="19">
                  <c:v>21.64</c:v>
                </c:pt>
                <c:pt idx="20">
                  <c:v>4.87</c:v>
                </c:pt>
                <c:pt idx="21">
                  <c:v>0.1</c:v>
                </c:pt>
                <c:pt idx="22">
                  <c:v>0.0</c:v>
                </c:pt>
              </c:numCache>
            </c:numRef>
          </c:val>
          <c:smooth val="0"/>
        </c:ser>
        <c:ser>
          <c:idx val="2"/>
          <c:order val="2"/>
          <c:tx>
            <c:strRef>
              <c:f>Sheet1!$D$1</c:f>
              <c:strCache>
                <c:ptCount val="1"/>
                <c:pt idx="0">
                  <c:v>TD CIMA</c:v>
                </c:pt>
              </c:strCache>
            </c:strRef>
          </c:tx>
          <c:spPr>
            <a:ln w="28575">
              <a:solidFill>
                <a:srgbClr val="53565A"/>
              </a:solidFill>
            </a:ln>
          </c:spPr>
          <c:marker>
            <c:spPr>
              <a:solidFill>
                <a:srgbClr val="53565A"/>
              </a:solidFill>
              <a:ln>
                <a:solidFill>
                  <a:srgbClr val="53565A"/>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Sheet1!$D$2:$D$24</c:f>
              <c:numCache>
                <c:formatCode>0.00</c:formatCode>
                <c:ptCount val="23"/>
                <c:pt idx="0">
                  <c:v>100.0</c:v>
                </c:pt>
                <c:pt idx="1">
                  <c:v>97.1</c:v>
                </c:pt>
                <c:pt idx="2">
                  <c:v>96.88</c:v>
                </c:pt>
                <c:pt idx="3">
                  <c:v>96.67</c:v>
                </c:pt>
                <c:pt idx="4">
                  <c:v>96.2</c:v>
                </c:pt>
                <c:pt idx="5">
                  <c:v>95.49</c:v>
                </c:pt>
                <c:pt idx="6">
                  <c:v>94.7</c:v>
                </c:pt>
                <c:pt idx="7">
                  <c:v>93.7</c:v>
                </c:pt>
                <c:pt idx="8">
                  <c:v>92.26</c:v>
                </c:pt>
                <c:pt idx="9">
                  <c:v>90.14</c:v>
                </c:pt>
                <c:pt idx="10">
                  <c:v>87.03</c:v>
                </c:pt>
                <c:pt idx="11">
                  <c:v>82.48</c:v>
                </c:pt>
                <c:pt idx="12">
                  <c:v>75.93</c:v>
                </c:pt>
                <c:pt idx="13">
                  <c:v>66.8</c:v>
                </c:pt>
                <c:pt idx="14">
                  <c:v>54.76</c:v>
                </c:pt>
                <c:pt idx="15">
                  <c:v>40.19</c:v>
                </c:pt>
                <c:pt idx="16">
                  <c:v>24.83</c:v>
                </c:pt>
                <c:pt idx="17">
                  <c:v>11.72</c:v>
                </c:pt>
                <c:pt idx="18">
                  <c:v>3.64</c:v>
                </c:pt>
                <c:pt idx="19">
                  <c:v>0.59</c:v>
                </c:pt>
                <c:pt idx="20">
                  <c:v>0.03</c:v>
                </c:pt>
                <c:pt idx="21">
                  <c:v>0.0</c:v>
                </c:pt>
                <c:pt idx="22">
                  <c:v>0.0</c:v>
                </c:pt>
              </c:numCache>
            </c:numRef>
          </c:val>
          <c:smooth val="0"/>
        </c:ser>
        <c:ser>
          <c:idx val="3"/>
          <c:order val="3"/>
          <c:tx>
            <c:strRef>
              <c:f>Sheet1!$E$1</c:f>
              <c:strCache>
                <c:ptCount val="1"/>
                <c:pt idx="0">
                  <c:v>TV CIMA</c:v>
                </c:pt>
              </c:strCache>
            </c:strRef>
          </c:tx>
          <c:spPr>
            <a:ln w="28575">
              <a:solidFill>
                <a:srgbClr val="BBBCBC"/>
              </a:solidFill>
            </a:ln>
          </c:spPr>
          <c:marker>
            <c:spPr>
              <a:solidFill>
                <a:srgbClr val="BBBCBC"/>
              </a:solidFill>
              <a:ln>
                <a:solidFill>
                  <a:srgbClr val="BBBCBC"/>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Sheet1!$E$2:$E$24</c:f>
              <c:numCache>
                <c:formatCode>0.00</c:formatCode>
                <c:ptCount val="23"/>
                <c:pt idx="0">
                  <c:v>100.0</c:v>
                </c:pt>
                <c:pt idx="1">
                  <c:v>97.75</c:v>
                </c:pt>
                <c:pt idx="2">
                  <c:v>97.6</c:v>
                </c:pt>
                <c:pt idx="3">
                  <c:v>97.47</c:v>
                </c:pt>
                <c:pt idx="4">
                  <c:v>97.23</c:v>
                </c:pt>
                <c:pt idx="5">
                  <c:v>96.91</c:v>
                </c:pt>
                <c:pt idx="6">
                  <c:v>96.48</c:v>
                </c:pt>
                <c:pt idx="7">
                  <c:v>95.94</c:v>
                </c:pt>
                <c:pt idx="8">
                  <c:v>95.22</c:v>
                </c:pt>
                <c:pt idx="9">
                  <c:v>94.21</c:v>
                </c:pt>
                <c:pt idx="10">
                  <c:v>92.73</c:v>
                </c:pt>
                <c:pt idx="11">
                  <c:v>90.46</c:v>
                </c:pt>
                <c:pt idx="12">
                  <c:v>86.94</c:v>
                </c:pt>
                <c:pt idx="13">
                  <c:v>81.48</c:v>
                </c:pt>
                <c:pt idx="14">
                  <c:v>73.17</c:v>
                </c:pt>
                <c:pt idx="15">
                  <c:v>61.15</c:v>
                </c:pt>
                <c:pt idx="16">
                  <c:v>45.26</c:v>
                </c:pt>
                <c:pt idx="17">
                  <c:v>27.28</c:v>
                </c:pt>
                <c:pt idx="18">
                  <c:v>11.64</c:v>
                </c:pt>
                <c:pt idx="19">
                  <c:v>2.77</c:v>
                </c:pt>
                <c:pt idx="20">
                  <c:v>0.24</c:v>
                </c:pt>
                <c:pt idx="21">
                  <c:v>0.0</c:v>
                </c:pt>
                <c:pt idx="22">
                  <c:v>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CIMA H</c:v>
                </c:pt>
              </c:strCache>
            </c:strRef>
          </c:tx>
          <c:spPr>
            <a:ln w="28575">
              <a:solidFill>
                <a:srgbClr val="112A40"/>
              </a:solidFill>
            </a:ln>
          </c:spPr>
          <c:marker>
            <c:spPr>
              <a:solidFill>
                <a:srgbClr val="112A40"/>
              </a:solidFill>
              <a:ln>
                <a:solidFill>
                  <a:srgbClr val="112A40"/>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Sheet1!$B$2:$B$14</c:f>
              <c:numCache>
                <c:formatCode>0.00</c:formatCode>
                <c:ptCount val="13"/>
                <c:pt idx="0">
                  <c:v>1.58</c:v>
                </c:pt>
                <c:pt idx="1">
                  <c:v>1.75</c:v>
                </c:pt>
                <c:pt idx="2">
                  <c:v>1.99</c:v>
                </c:pt>
                <c:pt idx="3">
                  <c:v>2.48</c:v>
                </c:pt>
                <c:pt idx="4">
                  <c:v>3.5</c:v>
                </c:pt>
                <c:pt idx="5">
                  <c:v>5.27</c:v>
                </c:pt>
                <c:pt idx="6">
                  <c:v>7.14</c:v>
                </c:pt>
                <c:pt idx="7">
                  <c:v>9.38</c:v>
                </c:pt>
                <c:pt idx="8">
                  <c:v>13.53</c:v>
                </c:pt>
                <c:pt idx="9">
                  <c:v>20.78</c:v>
                </c:pt>
                <c:pt idx="10">
                  <c:v>29.82</c:v>
                </c:pt>
                <c:pt idx="11">
                  <c:v>42.42</c:v>
                </c:pt>
                <c:pt idx="12">
                  <c:v>62.56</c:v>
                </c:pt>
              </c:numCache>
            </c:numRef>
          </c:val>
          <c:smooth val="0"/>
        </c:ser>
        <c:ser>
          <c:idx val="1"/>
          <c:order val="1"/>
          <c:tx>
            <c:strRef>
              <c:f>Sheet1!$C$1</c:f>
              <c:strCache>
                <c:ptCount val="1"/>
                <c:pt idx="0">
                  <c:v>CIMA F</c:v>
                </c:pt>
              </c:strCache>
            </c:strRef>
          </c:tx>
          <c:spPr>
            <a:ln w="28575">
              <a:solidFill>
                <a:srgbClr val="EFAC62"/>
              </a:solidFill>
            </a:ln>
          </c:spPr>
          <c:marker>
            <c:spPr>
              <a:solidFill>
                <a:srgbClr val="EFAC62"/>
              </a:solidFill>
              <a:ln>
                <a:solidFill>
                  <a:srgbClr val="EFAC62"/>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Sheet1!$C$2:$C$14</c:f>
              <c:numCache>
                <c:formatCode>0.00</c:formatCode>
                <c:ptCount val="13"/>
                <c:pt idx="0">
                  <c:v>0.84</c:v>
                </c:pt>
                <c:pt idx="1">
                  <c:v>0.94</c:v>
                </c:pt>
                <c:pt idx="2">
                  <c:v>1.08</c:v>
                </c:pt>
                <c:pt idx="3">
                  <c:v>1.34</c:v>
                </c:pt>
                <c:pt idx="4">
                  <c:v>1.89</c:v>
                </c:pt>
                <c:pt idx="5">
                  <c:v>2.85</c:v>
                </c:pt>
                <c:pt idx="6">
                  <c:v>3.87</c:v>
                </c:pt>
                <c:pt idx="7">
                  <c:v>5.09</c:v>
                </c:pt>
                <c:pt idx="8">
                  <c:v>7.2</c:v>
                </c:pt>
                <c:pt idx="9">
                  <c:v>10.86</c:v>
                </c:pt>
                <c:pt idx="10">
                  <c:v>15.56</c:v>
                </c:pt>
                <c:pt idx="11">
                  <c:v>22.2</c:v>
                </c:pt>
                <c:pt idx="12">
                  <c:v>32.91</c:v>
                </c:pt>
              </c:numCache>
            </c:numRef>
          </c:val>
          <c:smooth val="0"/>
        </c:ser>
        <c:ser>
          <c:idx val="2"/>
          <c:order val="2"/>
          <c:tx>
            <c:strRef>
              <c:f>Sheet1!$D$1</c:f>
              <c:strCache>
                <c:ptCount val="1"/>
                <c:pt idx="0">
                  <c:v>TD CIMA</c:v>
                </c:pt>
              </c:strCache>
            </c:strRef>
          </c:tx>
          <c:spPr>
            <a:ln w="28575">
              <a:solidFill>
                <a:srgbClr val="53565A"/>
              </a:solidFill>
            </a:ln>
          </c:spPr>
          <c:marker>
            <c:spPr>
              <a:solidFill>
                <a:srgbClr val="53565A"/>
              </a:solidFill>
              <a:ln>
                <a:solidFill>
                  <a:srgbClr val="53565A"/>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Sheet1!$D$2:$D$14</c:f>
              <c:numCache>
                <c:formatCode>0.00</c:formatCode>
                <c:ptCount val="13"/>
                <c:pt idx="0">
                  <c:v>1.35</c:v>
                </c:pt>
                <c:pt idx="1">
                  <c:v>1.6</c:v>
                </c:pt>
                <c:pt idx="2">
                  <c:v>1.83</c:v>
                </c:pt>
                <c:pt idx="3">
                  <c:v>2.64</c:v>
                </c:pt>
                <c:pt idx="4">
                  <c:v>3.9</c:v>
                </c:pt>
                <c:pt idx="5">
                  <c:v>5.87</c:v>
                </c:pt>
                <c:pt idx="6">
                  <c:v>8.94</c:v>
                </c:pt>
                <c:pt idx="7">
                  <c:v>13.71</c:v>
                </c:pt>
                <c:pt idx="8">
                  <c:v>21.11</c:v>
                </c:pt>
                <c:pt idx="9">
                  <c:v>32.55</c:v>
                </c:pt>
                <c:pt idx="10">
                  <c:v>50.12</c:v>
                </c:pt>
                <c:pt idx="11">
                  <c:v>76.92</c:v>
                </c:pt>
                <c:pt idx="12">
                  <c:v>117.24</c:v>
                </c:pt>
              </c:numCache>
            </c:numRef>
          </c:val>
          <c:smooth val="0"/>
        </c:ser>
        <c:ser>
          <c:idx val="3"/>
          <c:order val="3"/>
          <c:tx>
            <c:strRef>
              <c:f>Sheet1!$E$1</c:f>
              <c:strCache>
                <c:ptCount val="1"/>
                <c:pt idx="0">
                  <c:v>TV CIMA</c:v>
                </c:pt>
              </c:strCache>
            </c:strRef>
          </c:tx>
          <c:spPr>
            <a:ln w="28575">
              <a:solidFill>
                <a:srgbClr val="BBBCBC"/>
              </a:solidFill>
            </a:ln>
          </c:spPr>
          <c:marker>
            <c:spPr>
              <a:solidFill>
                <a:srgbClr val="BBBCBC"/>
              </a:solidFill>
              <a:ln>
                <a:solidFill>
                  <a:srgbClr val="BBBCBC"/>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Sheet1!$E$2:$E$14</c:f>
              <c:numCache>
                <c:formatCode>0.00</c:formatCode>
                <c:ptCount val="13"/>
                <c:pt idx="0">
                  <c:v>0.62</c:v>
                </c:pt>
                <c:pt idx="1">
                  <c:v>0.78</c:v>
                </c:pt>
                <c:pt idx="2">
                  <c:v>1.03</c:v>
                </c:pt>
                <c:pt idx="3">
                  <c:v>1.32</c:v>
                </c:pt>
                <c:pt idx="4">
                  <c:v>1.82</c:v>
                </c:pt>
                <c:pt idx="5">
                  <c:v>2.66</c:v>
                </c:pt>
                <c:pt idx="6">
                  <c:v>4.08</c:v>
                </c:pt>
                <c:pt idx="7">
                  <c:v>6.46</c:v>
                </c:pt>
                <c:pt idx="8">
                  <c:v>10.48</c:v>
                </c:pt>
                <c:pt idx="9">
                  <c:v>17.22</c:v>
                </c:pt>
                <c:pt idx="10">
                  <c:v>28.5</c:v>
                </c:pt>
                <c:pt idx="11">
                  <c:v>47.25</c:v>
                </c:pt>
                <c:pt idx="12">
                  <c:v>78.09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E2DAE2-9FC7-48A6-84A5-82A6F426499B}" type="datetimeFigureOut">
              <a:rPr lang="fr-FR" smtClean="0"/>
              <a:t>22/09/2026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B2686-849E-4084-A991-5071DA2BBBBD}" type="slidenum">
              <a:rPr lang="fr-FR" smtClean="0"/>
              <a:t>‹N°›</a:t>
            </a:fld>
            <a:endParaRPr lang="fr-FR"/>
          </a:p>
        </p:txBody>
      </p:sp>
    </p:spTree>
    <p:extLst>
      <p:ext uri="{BB962C8B-B14F-4D97-AF65-F5344CB8AC3E}">
        <p14:creationId xmlns:p14="http://schemas.microsoft.com/office/powerpoint/2010/main" val="710728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Rapprochement 2025 : cotisations maladie comptabilisées comparées aux précomptes maladie (12 mois) et retraités CGRAE (12 mois). Les cotisations à recevoir du Trésor (compte 41111000) mesurent ce que l'État doit encore au FPPN à la clôture.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mutuelle sociale n'est pas une compagnie d'assurance : elle est régie par le règlement UEMOA de 2009, pas par le Code CIMA. Le Code CIMA sert ici seulement de référence technique (tables de mortalité, taux d'actualisation), faute de règle équivalente dans les textes de la mutualité. Le répertoire de l'AIRMS mis à jour le 15/10/2026 cite le FPPN au n° 05 des mutuelles agréées et immatriculées ; le numéro et la date de son agrément restent à obtenir.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Rapport d'étape au 15/10/2026, version 4 (entretien du 19/10/2026 avec le responsable des cotisations intégré). Données arrêtées à l'envoi du FPPN reçu le 15/10/2026, complétées le 18/10/2026 (grands livres PDF, inflation Banque mondiale, tables CIMA, documentation publique de l'AIRMS).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rapport suit l'ordre : résumé exécutif, compréhension du FPPN, démarche, données, analyses par thème, conformité prudentielle, tables de mortalité, méthodes à venir, outils, analyses en attente, annexes.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partie peut être présentée seule : elle reprend les messages essentiels du rapport, avec les chiffres et les renvois aux parties détaillées.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probables. Pourquoi « fragile » malgré des excédents ? Parce que les excédents annuels ne suffisent pas encore à effacer les pertes passées (fonds propres négatifs) et que l'épargne due aux mutualistes n'est pas couverte par des actifs disponibles. Pourquoi « peu documenté » ? Aucune base de prestations, pas de date de naissance des mutualistes, pas de barème officiel transmis. Pourquoi « hors normes » ? Les ratios de la Décision n° 05/2022/COM/UEMOA, appliqués aux balances, ne sont pas respectés pour la réserve obligatoire, les fonds propres, la liquidité et les frais. Chaque ligne renvoie à une partie détaillée du rapport.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Comment lire : chaque ligne donne un indicateur, sa valeur et sa définition. Les quatre valeurs sont calculées sur les fichiers du FPPN et détaillées dans les parties 5, 6, 7 et 4. Le précompte des prêts mesure la part des échéances effectivement retenue sur salaire ; l'écart peut être payé autrement (caisse, banque), ce que le Grenier doit confirmer.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schéma résume les flux d'argent. Les mutualistes cotisent par précompte sur salaire (Solde) ou sur pension (CGRAE). Le FPPN paie les prestations maladie (cliniques, pharmacies) et décès (familles), gère l'épargne (PEP, EFC), finance les prêts du Grenier et des investissements (CMP, terrains). Les montants sont ceux de la comptabilité 2025 et du bilan au 31/08/2026.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six constats sont classés du plus général (données) au plus réglementaire (normes). Les chiffres sont exacts et proviennent des balances comptables et des précomptes. Le constat « actifs peu liquides » repose sur la nature des comptes (investissements, terrains, créances) ; leur valeur réelle n'a pas été expertisée.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Graphique de gauche : rapport entre prestations et cotisations maladie comptabilisées, par exercice. Graphique de droite : épargne due aux mutualistes (passif) et actifs qui lui sont réservés. Les deux graphiques sont détaillés dans les parties 5 et 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Gauche : fonds propres (résultat compris) à chaque clôture. Droite : encours des prêts du Grenier en fin d'année et au 31/08/2026. Détails dans les parties 9 et 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statut est jugé sur les exercices 2022 à 2025, la Décision étant entrée en vigueur le 1er juin 2022. « Comme le FPPN » : comptes pris tels qu'ils sont tenus. « Retraité » : épargne des adhérents classée en ressource longue et avances au CMP, au Grenier et à l'Hôpital de la Police classées en emplois longs. Détail dans la partie 10.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Ordre de priorité : sans les données (actions 1 à 3), les provisions et les engagements ne peuvent pas être calculés. Les actions 4 à 7 relèvent de la direction du FPPN et du conseil d'administration. Les numéros entre parenthèses renvoient à la liste des documents demandés (PBC).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feuille de route ne fixe pas de dates : elles dépendent du délai de transmission des données par le FPPN. Chaque étape produit une mise à jour de ce rapport.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partie donne au lecteur les clés pour comprendre la suite, sans connaissance préalable en actuariat.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1"/>
        <p:cNvGrpSpPr/>
        <p:nvPr/>
      </p:nvGrpSpPr>
      <p:grpSpPr>
        <a:xfrm>
          <a:off x="0" y="0"/>
          <a:ext cx="0" cy="0"/>
          <a:chOff x="0" y="0"/>
          <a:chExt cx="0" cy="0"/>
        </a:xfrm>
      </p:grpSpPr>
      <p:sp>
        <p:nvSpPr>
          <p:cNvPr id="9212" name="Google Shape;9212;g1230f352834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CI"/>
          </a:p>
        </p:txBody>
      </p:sp>
      <p:sp>
        <p:nvSpPr>
          <p:cNvPr id="9213" name="Google Shape;9213;g1230f352834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Lecture : chaque colonne relie une cause (en haut) à son effet (en bas). Les causes sont démontrées par les données ; les effets sont des risques, c'est-à-dire des conséquences possibles, à confirmer par les analyses en attente.</a:t>
            </a:r>
          </a:p>
        </p:txBody>
      </p:sp>
    </p:spTree>
    <p:extLst>
      <p:ext uri="{BB962C8B-B14F-4D97-AF65-F5344CB8AC3E}">
        <p14:creationId xmlns:p14="http://schemas.microsoft.com/office/powerpoint/2010/main" val="3069930257"/>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produit a un code de poste sur la fiche de paie (Solde) : 936 maladie, 8Z6 décès, 870 EFC, 998 PEP, 9X4 Grenier, 9W3 flotte, 8Z7 MEDOC. Les retraités sont précomptés par la CGRAE sur leur pension. Les montants moyens sont observés dans les fichiers de précomptes, pas tirés d'un barème (non reçu).</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en couloirs : chaque couloir est un acteur. Rectangle : étape ; losange : décision ; forme ondulée : fichier ; cadre rouge : point de contrôle manquant. Le circuit est celui décrit par le responsable des cotisations le 19/10/2026 ; il reste à confirmer par document. Les formes sont modifiables dans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tableau reprend les circuits décrits le 19/10/2026. Le fichier aller contient le mécano, le nom, le code du poste, une référence et le montant ; la Solde retrouve le mutualiste par son mécano.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résultat de l'exercice est la différence entre produits et charges (y compris les éléments exceptionnels, dits hors activités ordinaires). En 2025, il reste positif, mais il diminue depuis 2021 (partie 5).</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définitions sont volontairement simples. Les formules exactes figurent dans les diapositives « méthode » de chaque partie et dans l'annexe des méthodes.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quatre questions viennent du dossier de préparation de la mission ; les trois axes complémentaires (données, conformité, équilibre) en découlent. La colonne « état » dit honnêtement ce qui est fait et ce qui attend des données.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modifiable dans PowerPoint. Ovale : début ou fin ; rectangle : traitement ; losange : contrôle avec sa décision ; forme ondulée : document produit. Chaque étape correspond à un script Python conservé dans le dossier de la mission ; chaque contrôle est automatique.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Exhaustivité : rien n'est perdu entre le fichier reçu et la base. Cohérence : les totaux imprimés par les logiciels sont retrouvés. Rapprochement : deux sources qui décrivent le même flux doivent concorder. Limite : la fidélité aux fichiers n'est pas l'exactitude des fichiers.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mois est compté comme reçu quand au moins un fichier lisible le couvre. Les balances comptables couvrent l'année entière en totaux annuels ; le détail des écritures de janvier à août 2020 manque.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la colonne matricule de la dernière ligne contient un nombre de lignes, pas un matricule ; (2) le montant est la somme de toutes les lignes au-dessus ; (3) compter cette ligne aurait doublé le total du mois. Règle appliquée : une ligne dont le montant égale la somme des autres (à 1 % près) est écartée. Au total, 87 lignes de ce type ont été écartées. Noms et matricules masqués.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le montant source répète deux fois la même suite de chiffres ; (2) un précompte décès de plusieurs milliards de FCFA par agent est impossible (médiane du poste : environ 2 300 FCFA) ; (3) le montant retenu est la première moitié. Correction appliquée seulement au poste décès, au-delà d'un million de FCFA, et signalée au FPPN.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Taux de précompte = montant retour / montant aller sur les mois où les deux fichiers existent. Un taux supérieur à 100 % signifie que le fichier aller était incomplet (cas du PEP en juillet 2024).</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Janvier 2025 : le fichier retour compte moins de lignes que le fichier aller, des précomptes n'ont pas été faits. Juillet 2024 : le fichier retour compte plus de lignes que le fichier aller, le fichier aller n'incluait pas les nouveaux épargnants (le fichier aller d'août 2024 en compte nettement plus).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fichier vide (0 octet) ne contient aucune donnée ; un fichier endommagé a une partie de ses données détruite (souvent lors d'une copie ou d'un transfert). Aucun de ces défauts ne vient du traitement d'Adenka : les empreintes prouvent que les fichiers sont identiques à ceux reçus.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Message pour le client : la qualité de l'analyse dépend désormais de la transmission des données manquantes, pas du traitement.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Effectif du mois m = nombre de matricules distincts du fichier maladie 936 du mois m. Entrée = matricule présent en m et absent en m-1 ; sortie = l'inverse. Taux de cotisation = précompte du mois / salaire de base du mois.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droite de tendance estimée par moindres carrés donne une hausse de 296,28 cotisants par mois (intervalle de confiance à 95 % : 241,31 à 351,25). La probabilité d'observer une telle pente si la vraie pente était nulle est inférieure à 0,01 % (p-valeur 6.91e-12). La hausse se fait par paliers en juillet, ce qui rend la droite seulement approximative (R² = 0,81).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mois sans mois précédent disponible (janvier 2024, janvier 2025 après le fichier vide de décembre 2024) n'ont pas de flux calculé. Les sorties de novembre 2024 et janvier 2026 sont plus nombreuses : leur motif doit être demandé au FPPN (départs à la retraite de fin d'année probables, non vérifiés).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L'ancienneté est calculée à partir de la date de recrutement du fichier détaillé de janvier 2025. Elle ne donne pas l'âge : deux agents de même ancienneté peuvent avoir des âges différents. Pour cette raison, aucune hypothèse d'âge n'a été faite.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Calcul pour le premier agent : 11 354 / 301 159 = 3,77 % (maladie) ; 3 704 / 301 159 = 1,23 % (décès) ; total 5,00 %. Le barème indiqué par le responsable des sinistres et prestations lors de l'entretien du 16/10/2026 est de 3,5 % et 1,5 %. Le total est donc bon mais la répartition diffère. Matricules masqués.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clé comptable est la part des cotisations maladie (compte 70100000) dans le total des cotisations maladie et décès (comptes 70100000 et 70210000) de 2025, multipliée par 5 %. Elle est proche du barème indiqué en entretien, pas de la clé de la Solde.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Calcul : S/C maladie = prestations maladie / (cotisations totales × part maladie). Avec la clé de la Solde (75,40 %), la part des cotisations affectée à la maladie augmente, donc le ratio maladie baisse et le ratio décès monte. Les prestations ne changent pas : seule l'affectation des cotisations change.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Méthode : indice des prix base 100 en 2020, construit en cumulant l'inflation annuelle de la Banque mondiale (2021 : 4,16 % ; 2022 : 5,23 % ; 2023 : 4,37 % ; 2024 : 3,45 % ; 2025 : 0,13 %). Cotisations réelles = cotisations nominales × 100 / indice. Elles mesurent le pouvoir d'achat des cotisations en francs de 2020.</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txBody>
          <a:bodyPr/>
          <a:lstStyle/>
          <a:p>
            <a:endParaRPr lang="fr-CI"/>
          </a:p>
        </p:txBody>
      </p:sp>
      <p:sp>
        <p:nvSpPr>
          <p:cNvPr id="3" name="Notes Placeholder 2"/>
          <p:cNvSpPr>
            <a:spLocks noGrp="1"/>
          </p:cNvSpPr>
          <p:nvPr>
            <p:ph type="body" idx="1"/>
          </p:nvPr>
        </p:nvSpPr>
        <p:spPr/>
        <p:txBody>
          <a:bodyPr/>
          <a:lstStyle/>
          <a:p>
            <a:r>
              <a:t>Chaque anneau donne un pourcentage. La trésorerie totale (toutes banques et caisses) ne représente qu'une petite part de l'épargne due. Les prêts en retard sont mesurés ici en nombre de prêts ; en montant d'encours, la part est plus faible (voir partie 7).</a:t>
            </a:r>
          </a:p>
        </p:txBody>
      </p:sp>
      <p:sp>
        <p:nvSpPr>
          <p:cNvPr id="4" name="Slide Number Placeholder 3"/>
          <p:cNvSpPr>
            <a:spLocks noGrp="1"/>
          </p:cNvSpPr>
          <p:nvPr>
            <p:ph type="sldNum" sz="quarter" idx="10"/>
          </p:nvPr>
        </p:nvSpPr>
        <p:spPr/>
        <p:txBody>
          <a:bodyPr/>
          <a:lstStyle/>
          <a:p>
            <a:pPr>
              <a:defRPr/>
            </a:pPr>
            <a:fld id="{DB19E439-0A36-4389-B1D4-036D35E9F4EA}" type="slidenum">
              <a:rPr lang="en-US" smtClean="0"/>
              <a:pPr>
                <a:defRPr/>
              </a:pPr>
              <a:t>107</a:t>
            </a:fld>
            <a:endParaRPr lang="en-US"/>
          </a:p>
        </p:txBody>
      </p:sp>
    </p:spTree>
    <p:extLst>
      <p:ext uri="{BB962C8B-B14F-4D97-AF65-F5344CB8AC3E}">
        <p14:creationId xmlns:p14="http://schemas.microsoft.com/office/powerpoint/2010/main" val="1278848441"/>
      </p:ext>
    </p:extLst>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Colonne « règle déclarée » : déclaration du responsable des cotisations, entretien du 19/10/2026, à confirmer par document. Colonne « fichiers » : fichiers retour de janvier 2020 à août 2026 reçus le 15/10/2026, part des lignes de chaque montant.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du parcours d'une recrue, de l'école de police au premier précompte, tel que décrit par le responsable des cotisations le 19/10/2026 (à confirmer par document). Cadre rouge : étape à risque. Les formes sont modifiables dans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question de la clé de répartition est la plus importante de cette partie : elle change le résultat de chaque garantie.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ratio comptable mélange les soins de l'année et les factures d'années antérieures payées ou comptabilisées dans l'année. Le vrai ratio (par année de survenance des soins) demande la base des prestations avec la date des soins.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compte 60120000 « Charges de prestations maladie » porte à lui seul plus de la moitié du total : il regroupe des prestations sans détail de nature, ce qui empêche l'analyse par type de soins. Montants exacts lus dans la balance 2025.</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de tendance (moindres carrés sur 2020 à 2025) : le S/C maladie progresse de 12,91 points par an (IC 95 % : 3,85 à 21,97 ; p-valeur 0,0167). Avec six points seulement, la tendance est significative au seuil de 5 % mais son rythme est imprécis.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taux de croissance annuel moyen (TCAM) est le taux constant qui mène de la valeur de départ à la valeur d'arrivée : TCAM = (V_fin / V_début)^(1/n) - 1. Une régression du logarithme des prestations sur le temps donne une croissance annuelle moyenne de 121,21 % (IC 95 % : 56,12 % à 213,44 %), estimation plus robuste aux valeurs extrêmes que le TCAM.</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chaque couleur est une nature de soins. La catégorie « autres prestations maladie » correspond aux comptes 6012x, dont le compte global 60120000. Imagerie, analyses et consultations sont les natures détaillées qui progressent le plus.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Frais de gestion = comptes 61 à 66, hors prime d'assurance décès. Résultat = produits - charges + résultat hors activités ordinaires (classe 8). Les huit mois de 2026 n'intègrent pas les écritures de fin d'année (amortissements, provisions).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hausse rapide du ratio maladie est le principal risque technique : à ce rythme, les cotisations maladie ne couvriront plus les prestations.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L'épargne PEP et EFC appartient aux mutualistes : c'est une dette du FPPN. Un bon adossement suppose des actifs liquides et réservés d'un montant au moins égal à la part exigible.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Montants lus dans la balance au 31/08/2026 (provisoire). Les soldes créditeurs du passif sont affichés en valeur positive. Le fonds commun de placement est compté comme actif réservé bien que sa destination ne soit pas précisée : la couverture réelle est donc au plus de ce niveau.</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L'épargne non couverte finance d'autres emplois : investissements au CMP, terrains, créance sur l'Hôpital de la Police, prêts du Grenier. Ces emplois ne sont pas mobilisables rapidement.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versements sont les précomptes retour de la Solde. La différence entre versements de l'année et variation du compte d'épargne mesure les sorties de l'année (échéances, retraits, transferts), sans pouvoir les détailler faute de comptes individuels.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Scénarios théoriques, pas des prévisions : on suppose qu'une part de l'épargne est demandée en une fois et on la compare aux actifs réservés puis à toute la trésorerie (banques et caisses). Les conditions réelles de retrait (délais, pénalités, échéances) ne sont pas connues.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référence est le code qui accompagne chaque précompte (exemple : PEP0522 = PEP souscrit en mai 2022). Les références PTI ont des montants mensuels importants et peu de mutualistes : elles pourraient correspondre à des remboursements de prêts, ce que le FPPN doit confirmer.</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L'adossement de l'épargne est le principal risque financier relevé.</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L'encours est le capital restant dû. Le retard (en jours) est celui imprimé par le logiciel de prêts. On mesure la part en nombre de prêts et en montant d'encours.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Taux de croissance annuel moyen de l'encours de fin 2022 à fin 2025 : 65,64 %. La créance du FPPN sur le Grenier (compte 47111102) mesure le financement apporté.</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 montants débloqués sur la période (fichiers annuels de 2021 à 2025, mensuels par sous-portefeuille en 2026). La politique de crédit de 2021 est au format Word ancien et doit être renvoyée lisible pour vérifier taux, durées et plafonds.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 31/08/2026, 150 prêts sur 2 959 ont plus de 30 jours de retard, soit 5,07 % des prêts (IC de Wilson à 95 % : 4,34 % à 5,92 %). En montant, la part est plus faible (1,83 %) : les prêts en retard sont de petits encours.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le retard est imprimé en jours par le logiciel ; (2) trois de ces prêts ont un « mécano » de 2 ou 3 chiffres (142, 87, 166), alors qu'un mécano en compte 6 : ce sont des anomalies de saisie ; (3) ces prêts anciens ont encore un encours et doivent être provisionnés ou passés en perte. Noms masqués.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Échéances = somme des montants d'échéance des prêts ayant un encours dans la balance âgée du mois. Précomptes = précomptes 9X4 retour du même mois. L'écart peut être payé hors Solde (caisse, banque) ou correspondre à des rejets.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taux de perte théoriques (25 %, 50 %, 100 %) appliqués à l'encours en retard. Ce ne sont pas des estimations de perte, mais des ordres de grandeur pour fixer une provision. La politique de provisionnement doit être fixée par le FPPN.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risque principal n'est pas la perte sur prêts, limitée, mais la mobilisation de l'épargne des mutualistes pour financer cette croissance.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retraités cotisent sur leur pension par la CGRAE. Leur coût santé, supérieur à celui des actifs, devra être comparé à leur cotisation dès réception des factures. La convention avec la CGRAE n'a pas été reçue.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produits ne relèvent pas directement des garanties de base, mais ils transitent par le FPPN et engagent sa responsabilité vis-à-vis des adhérents. Aucun compte n'est intitulé « SCI » dans les balances ; les projets immobiliers figurent en comptes 4711120x.</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bilan n'a pas été transmis : il est reconstitué à partir des soldes des balances. Fonds propres = réserves + report à nouveau + pertes reportées + résultat de l'exercice.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même montant au franc près de 2020 à 2026 ; (2) seul le numéro de compte change en 2024 (reclassement du compte 19 vers le compte 158) ; (3) une estimation recalculée chaque année varierait avec les dossiers en attente. La provision n'est donc pas une estimation actuelle.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nombre de mois couverts n'est pas une norme : c'est un indicateur de cohérence. Une provision figée perd son sens quand les prestations changent : elle était très supérieure aux besoins en 2021 et diminue en proportion depuis. Seul un calcul fondé sur les dossiers dira si elle est suffisante.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montants « CMP » regroupent les comptes 47111101 (« Polyclinique du FPPN »), 47111104 (« Investissements au CMP ») et 47111105 (« Charges de fonctionnement au CMP ») ; la signification du sigle CMP reste à confirmer par le FPPN. La créance sur l'Hôpital de la Police (47111100) est inchangée depuis 2020.</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Étapes 1 à 3 de la méthode d'adossement du dossier de préparation : classer l'actif par délai de mobilisation, classer le passif par échéance, comparer tranche par tranche. Actif immédiat : caisse et comptes à vue. Moins d'un an : dépôts à terme, fonds commun de placement, créances à court terme. 1 à 5 ans : prêts PEP et financement du Grenier (durée médiane des prêts de 10 mois). Plus de 5 ans ou incertain : immobilisations, terrains, avances au CMP, créance sur l'Hôpital de la Police. Passif à moins d'un an : dettes à court terme hors épargne et provisions pour prestations à payer. L'épargne est présentée à part : son échéance dépend des âges et des conditions de retrait.</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comptes de capitaux propres ont un solde créditeur (positif pour le FPPN), sauf le report à nouveau débiteur (pertes passées), affiché ici en négatif. Libellés exacts de la balance 2025.</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 fonds propres négatifs signifient que les dettes dépassent les actifs comptables. Les ratios de fonds propres et de marge de solvabilité de la Décision n° 05/2022 sont calculés dans la partie 10.</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Rendement apparent = produits financiers (classe 77) / encours moyen des placements (52 à 53). Il est irrégulier : l'essentiel des intérêts est comptabilisé en 2025 à la clôture d'un dépôt à terme. Taux directeurs : communiqués du Comité de politique monétaire de la BCEAO (validés).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constats appellent une décision de gouvernance : politique de provisionnement, politique de placement, encadrement des investissements dans les structures liées.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partie applique aux comptes du FPPN les normes de la mutualité sociale UEMOA. Les textes viennent de la documentation publique de l'AIRMS fournie le 18/10/2026 et validée comme source.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Hiérarchie : le règlement de 2009 fixe les principes et renvoie au règlement d'exécution pour les règles prudentielles (art. 58) ; la Décision de 2022 chiffre les normes ; l'arrêté de 2023 fixe les sanctions en Côte d'Ivoire. Le PCMS donne les numéros de comptes que la Décision utilise dans ses formules.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Définitions de l'article 1 du règlement d'exécution : risque court quand l'écart entre l'encaissement des cotisations et le versement des prestations est d'un an au plus ; risque long au-delà. L'article 3 classe la vieillesse et le décès lié à un mécanisme de capitalisation parmi les risques longs. La qualification retenue ici doit être confirmée par l'AIRMS ou par l'agrément du FPPN, non transmis.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utilisée pour un lecteur non spécialiste : le bilan est une commode à tiroirs. Le plan comptable (PCMS) donne à chaque compte un numéro qui indique son tiroir : classe 1 pour les ressources longues, classe 2 pour les emplois longs, classe 4 pour les tiers, classe 5 pour la trésorerie. Un ratio de liquidité compare le tiroir « trésorerie » au tiroir « dettes à court terme ». Si un compte est rangé dans le mauvais tiroir, le ratio change sans que la réalité change. C'est pourquoi la suite présente chaque ratio deux fois : avec les comptes rangés comme le FPPN les tient, puis rangés selon leur nature.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classement « comme le FPPN » suit les numéros de comptes cités par la Décision n° 05/2022 dans ses formules. Le classement retraité ne modifie aucun montant : il déplace seulement des comptes d'un tiroir à un autre, pour une raison écrite. Le détail compte par compte (246 comptes) figure dans l'onglet « 10_classement_comptes »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statut ne juge pas la gestion du FPPN : il constate l'écart entre un chiffre et une norme. Le statut global d'un ratio est non conforme s'il est non conforme au moins une année de 2022 à 2025.</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familles reprennent les catégories de l'annexe de la Décision n° 05/2022 (performance, viabilité, pérennité, risques longs), réordonnées selon la priorité actuarielle demandée pour ce rapport.</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Valeurs calculées sur les balances, avec les comptes cités par la Décision n° 05/2022. La sinistralité réglementaire est globale (maladie et décès) : elle est sous la fourchette de 70 % à 80 % parce que la garantie décès consomme peu de cotisations. La marge de solvabilité est conforme dans la lecture comme le FPPN, mais pas une fois les pertes reportées déduites (diapositives suivantes).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II de l'annexe de la Décision n° 05/2022 et articles 19 et 21 du règlement d'exécution. Le ratio de solvabilité de l'épargne reprend la couverture calculée en partie 6. La réserve de trésorerie vaut zéro car aucun compte de réserve de trésorerie n'existe dans les balances.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charges de fonctionnement suivent la liste de comptes de l'annexe (612, 613, 618, 62 à 68). La fidélisation compare les matricules précomptés au poste 936 d'une année à l'autre. Le délai de paiement des prestataires est à apprécier, car les délais contractuels des conventions n'ont pas été transmis.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indicateurs de gouvernance sont placés en dernier, conformément à la priorité actuarielle du rapport. Chaque pièce manquante est ajoutée à la liste des documents demandés (PBC) et aux guides d'entretien.</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Liquidité : norme d'au moins 1. Équilibre stable : norme d'au plus 1. Lecture retraitée : épargne en ressource longue, avances durables en emplois longs (diapositive « Deux lectures »). En 2020, les ressources longues comme le FPPN sont négatives : le ratio d'équilibre stable n'a pas de sens et n'est pas représenté.</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de la Décision (§ 1.2.1.2.5) : comptes 60 + 6901 - 7901 au numérateur, comptes 70 + 7906 - 6906 au dénominateur. Le FPPN n'a pas de compte 6901, 7901, 6906 ni 7906 : les provisions techniques ne varient pas. Le compte 704 « cartes d'accès aux soins » appartient à la classe 70 et entre donc dans les cotisations acquises.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1.1.1) : marge exigée = le maximum entre 18 % des cotisations acquises de l'exercice précédent et de 26 % de la moyenne des prestations maladie des trois derniers exercices. Marge disponible = fonds de réserve obligatoire + fonds d'établissement + réserves libres + droits d'adhésion + dons et legs non affectés. Le texte ne mentionne pas les pertes reportées ; la lecture retraitée les déduit, car le PCMS définit les réserves comme des excédents laissés à la disposition de la mutuelle (fiche n° 2).</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tableau 1, ligne 10) : réserves obligatoires x 12 / charges de prestations, norme de 6 à 9 mois ; le § 1.2.2.5.4 de l'annexe indique 9 mois. La réserve obligatoire est le compte 111 « Réserves légales ». Réserve nécessaire pour 6 mois = charges de prestations x 6 / 12.</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1.2.2.5.3) : fonds propres et assimilés (comptes 10 à 14, 190 et 15) / dettes, provisions techniques comprises. Le texte place les provisions techniques à la fois au numérateur et au dénominateur ; Adenka applique la formule à la lettre. Les dettes comprennent toute la classe 4 créditrice, dont l'épargne, les emprunts et les soldes bancaires créditeurs.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Formules : liquidité = trésorerie actif / (dettes à court terme + variation des provisions techniques) (Décision, § 1.2.2.5.2) ; trésorerie à échéance = (valeurs réalisables + disponibles) / dettes à court terme (section II, § 2.2) ; trésorerie immédiate = disponibles / dettes à court terme (§ 2.3), égale ici à la liquidité car les provisions ne varient pas.</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1.2.3.1) : emplois moyens et longs / ressources moyennes et longues. Comme le FPPN : classe 2 nette / classes 10 à 19. Retraité : on ajoute aux emplois les avances durables suivies en classe 4 (CMP, Grenier, Hôpital de la Police, projets immobiliers, créance de cession) et aux ressources l'épargne PEP et EFC.</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1.2.2.5.5) : excédent net de l'exercice / cotisations acquises, norme d'au plus 5 %. Ce plafond vise à éviter qu'une mutuelle prélève sur ses membres plus que nécessaire. Il est en tension avec les normes de fonds propres quand ceux-ci sont négatifs.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Formules (Décision, § 1.2.1.2.1 à 1.2.1.2.4). Charges de fonctionnement : comptes 612, 613, 618, 62 à 68. Charges de fonctionnement brut : comptes 61 à 68, 691 et 697. Le compte 65180000 (prime d'assurance décès de 2020) entre dans la classe 65 et donc dans les charges de fonctionnement de 2020.</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Règlement d'exécution, art. 19 : une réserve de trésorerie ou fonds de roulement au moins égale à un trimestre d'engagements et de charges de fonctionnement, pour chaque risque long. Engagements : débits des comptes 41195100 et 41195200 (sorties d'épargne). Charges de fonctionnement : quote-part au prorata de l'épargne dans le total épargne + cotisations. Art. 21 : fonds propres au moins égaux aux prestations des risques longs des deux derniers exercices.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répartition au prorata des cotisations est une hypothèse : une autre clé (nombre de dossiers, temps passé) donnerait d'autres excédents. Le FPPN est invité à fournir sa propre clé, qui remplacera celle-ci.</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Excédent d'un risque = cotisations du risque - prestations du risque - frais attribués au prorata des cotisations. La prime d'assurance décès de 2020 (65180000) est rattachée au décès. Les autres éléments (produits financiers, transferts de charges, hors activités ordinaires) ne sont pas répartis et figurent dans la colonne « autres »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la colonne « dotation réelle » est l'augmentation du compte 111 entre deux clôtures ; elle traduit l'affectation décidée par l'assemblée générale. Le minimum du règlement d'exécution est de 20 % du résultat excédentaire de l'exercice précédent (art. 18), exigible dans un délai de trois ans après le 1er juin 2022. Le minimum par risque applique 30 % à l'excédent maladie et 50 % à l'excédent décès (Décision, § 1.1.1).</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Marge exigée = le maximum entre 18 % des cotisations acquises de l'exercice précédent et de 26 % de la moyenne des prestations maladie des trois derniers exercices (Décision, § 1.1.1). L'exercice 2020 n'est pas calculé, faute de balances 2018 et 2019.</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contrôle ne constitue pas une revue comptable complète : il vérifie seulement que les comptes utilisés dans ce rapport sont rangés comme le prévoit le PCMS, et mesure l'effet d'un écart sur les ratios.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exigences complètent les ratios. Elles relèvent du cadre actuariel quand elles portent sur les provisions, les risques longs, les placements et les réserves. Elles sont reprises dans les guides d'entretien.</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sanctions sont prononcées par le ministre chargé de la mutualité sociale, sur rapport ou avis motivé de l'AIRMS, après que la mutuelle a été entendue (règlement d'exécution, art. 38 et 39). Ce tableau décrit une exposition théorique : la décision appartient à l'autorité de contrôle.</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ratios sont calculés sur les balances : leur conclusion ne dépend pas des données manquantes, sauf pour la liquidité, qui dépend de l'échéancier de l'épargne.</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deux analyses demandent les dates de naissance (PBC, items 9 et 28). Le règlement d'exécution n° 004/2022 définit la table de mortalité comme un tableau qui donne les probabilités de décès ou de survie et l'espérance de vie selon l'âge et le sexe (art. 1).</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Principe de prudence : on choisit la table qui défavorise l'organisme. Pour un risque décès (le FPPN paie au décès), une table qui prévoit plus de décès est prudente : CIMA H. Pour un risque de survie (le FPPN paie tant que la personne vit), une table qui prévoit des vies plus longues est prudente : CIMA F. Les fichiers fournis portent eux-mêmes cet usage dans le nom de leur feuille. Les tables TD et TV sont les anciennes tables réglementaires remplacées en 2012 (Code CIMA, article 338 modifié).</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courbe de survie donne la part des personnes encore en vie à chaque âge. L'écart entre les courbes mesure l'écart de prudence entre une table de décès et une table de survie.</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qx en pour mille aux âges de 20 à 80 ans. Ce sont les âges de la population du FPPN (actifs puis retraités). La comparaison avec la mortalité observée se fera par le rapport décès observés / décès attendus (voir partie 12).</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Rente viagère : valeur aujourd'hui de 1 FCFA payé chaque année, au début de l'année, tant que la personne vit, actualisé au taux de 3,5 % (plafond du Code CIMA). Formule : ä_x = Σ (L_(x+k) / L_x) × v^k, avec v = 1 / 1,035. Exemple : si le FPPN prenait en charge 100 000 FCFA par an de soins pour un retraité de 60 ans, l'engagement vaudrait environ 100 000 × ä_60. Ce sont des valeurs de référence, pas des engagements du FPPN.</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indicateurs présentés sont des références techniques. Ils deviendront des engagements chiffrés du FPPN dès réception des données.</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dossiers connus non payés se comptent dossier par dossier. Les sinistres non déclarés (tardifs) s'estiment à partir des délais observés dans le passé : c'est le rôle de la méthode Chain Ladder.</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Hypothèse : le rythme de règlement passé se répète. Aucun chiffre n'est présenté : les données ne sont pas encore reçues.</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Principe : on range les paiements cumulés dans un triangle (année de survenance × délai). Le facteur de développement mesure la progression moyenne d'un délai au suivant. On complète le triangle avec ces facteurs ; la charge ultime moins les paiements déjà faits donne la provision. Hypothèse : le rythme de règlement passé se répète. Aucun chiffre n'est présenté : les données ne sont pas encore reçues.</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Exposition : nombre d'années-personnes passées à chaque âge pendant la période. Décès attendus : exposition × qx de la table CIMA H. Données : base des décès (PBC 28), mutualistes avec dates (PBC 9, 10, 11).</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Données nécessaires : âges, coût des soins par âge, barèmes, hypothèses de recrutement. Aucune projection chiffrée n'est présentée.</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Aucun chiffre n'est présenté pour ces méthodes : les appliquer sans les données conduirait à des résultats sans valeur. Chaque méthode est reliée aux numéros de la liste des documents demandés.</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images des diapositives suivantes reproduisent la fenêtre de VS Code sous Windows et y placent des extraits réels des scripts de la mission. Ce sont des reconstitutions, pas des captures d'écran ; le terminal n'est affiché que lorsque sa sortie a réellement été obtenue.</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tableau détaille les étapes du logigramme de la chaîne de traitement (partie 2). Chaque étape correspond à un script conservé dans le dossier de la mission.</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Principe : aucun chiffre n'est saisi à la main. Le contrôle garantit que le rapport affiche exactement les valeurs calculées, avec deux décimales pour les pourcentages et des montants exacts en FCFA.</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Liste détaillée et à jour dans la PBC pointée.</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questions peuvent être posées lors des prochains entretiens ; les réponses seront intégrées à la version suivante du rapport.</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points viennent de l'entretien du 19/10/2026 avec le responsable des cotisations. Les déclarations sont à confirmer par document.</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Formules exactes utilisées dans le rapport.</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sigles de chaque diapositive sont aussi définis en bas de la diapositive.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oleObject" Target="../embeddings/oleObject1.bin"/><Relationship Id="rId4"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2.xml"/><Relationship Id="rId3" Type="http://schemas.openxmlformats.org/officeDocument/2006/relationships/oleObject" Target="../embeddings/oleObject1.bin"/><Relationship Id="rId4"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788630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322439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770939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022779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6EBE14D-B461-4822-94E8-6203B1E77523}" type="datetimeFigureOut">
              <a:rPr lang="fr-FR" smtClean="0"/>
              <a:t>22/09/2026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92137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6EBE14D-B461-4822-94E8-6203B1E77523}" type="datetimeFigureOut">
              <a:rPr lang="fr-FR" smtClean="0"/>
              <a:t>22/09/2026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075739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EBE14D-B461-4822-94E8-6203B1E77523}" type="datetimeFigureOut">
              <a:rPr lang="fr-FR" smtClean="0"/>
              <a:t>22/09/2026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746722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376728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918188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897573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5641292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Placeholder 1">
            <a:extLst>
              <a:ext uri="{FF2B5EF4-FFF2-40B4-BE49-F238E27FC236}">
                <a16:creationId xmlns:a16="http://schemas.microsoft.com/office/drawing/2014/main" id="{5AA52354-AD0C-4278-A20C-E161AEB4D16F}"/>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1213497947"/>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5623"/>
        <p:cNvGrpSpPr/>
        <p:nvPr/>
      </p:nvGrpSpPr>
      <p:grpSpPr>
        <a:xfrm>
          <a:off x="0" y="0"/>
          <a:ext cx="0" cy="0"/>
          <a:chOff x="0" y="0"/>
          <a:chExt cx="0" cy="0"/>
        </a:xfrm>
      </p:grpSpPr>
      <p:pic>
        <p:nvPicPr>
          <p:cNvPr id="5624" name="Google Shape;5624;p29"/>
          <p:cNvPicPr preferRelativeResize="0"/>
          <p:nvPr/>
        </p:nvPicPr>
        <p:blipFill>
          <a:blip r:embed="rId2">
            <a:alphaModFix amt="20000"/>
          </a:blip>
          <a:stretch>
            <a:fillRect/>
          </a:stretch>
        </p:blipFill>
        <p:spPr>
          <a:xfrm flipH="1">
            <a:off x="-4949" y="1"/>
            <a:ext cx="12192004" cy="6858001"/>
          </a:xfrm>
          <a:prstGeom prst="rect">
            <a:avLst/>
          </a:prstGeom>
          <a:noFill/>
          <a:ln>
            <a:noFill/>
          </a:ln>
        </p:spPr>
      </p:pic>
      <p:sp>
        <p:nvSpPr>
          <p:cNvPr id="5625" name="Google Shape;5625;p2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2668261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2">
  <p:cSld name="Title only 12">
    <p:spTree>
      <p:nvGrpSpPr>
        <p:cNvPr id="1" name="Shape 6976"/>
        <p:cNvGrpSpPr/>
        <p:nvPr/>
      </p:nvGrpSpPr>
      <p:grpSpPr>
        <a:xfrm>
          <a:off x="0" y="0"/>
          <a:ext cx="0" cy="0"/>
          <a:chOff x="0" y="0"/>
          <a:chExt cx="0" cy="0"/>
        </a:xfrm>
      </p:grpSpPr>
      <p:sp>
        <p:nvSpPr>
          <p:cNvPr id="6978" name="Google Shape;6978;p57"/>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817001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subtitle, 1 column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66A5C41-60AA-4C25-8080-4F0DFF19B9C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966A5C41-60AA-4C25-8080-4F0DFF19B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D5544814-ED77-5424-AA44-FCF607EC724C}"/>
              </a:ext>
            </a:extLst>
          </p:cNvPr>
          <p:cNvSpPr>
            <a:spLocks noGrp="1"/>
          </p:cNvSpPr>
          <p:nvPr>
            <p:ph type="body" sz="quarter" idx="13" hasCustomPrompt="1"/>
          </p:nvPr>
        </p:nvSpPr>
        <p:spPr>
          <a:xfrm>
            <a:off x="466344" y="649224"/>
            <a:ext cx="11277599" cy="1010919"/>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ext Placeholder 18">
            <a:extLst>
              <a:ext uri="{FF2B5EF4-FFF2-40B4-BE49-F238E27FC236}">
                <a16:creationId xmlns:a16="http://schemas.microsoft.com/office/drawing/2014/main" id="{92C75D35-8730-843D-1A9B-7A3EF8BDC3E6}"/>
              </a:ext>
            </a:extLst>
          </p:cNvPr>
          <p:cNvSpPr>
            <a:spLocks noGrp="1"/>
          </p:cNvSpPr>
          <p:nvPr>
            <p:ph idx="1"/>
          </p:nvPr>
        </p:nvSpPr>
        <p:spPr>
          <a:xfrm>
            <a:off x="471983" y="1684020"/>
            <a:ext cx="11277600" cy="426974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C2764C76-8970-695F-1D5D-E85887CA625C}"/>
              </a:ext>
            </a:extLst>
          </p:cNvPr>
          <p:cNvSpPr>
            <a:spLocks noGrp="1"/>
          </p:cNvSpPr>
          <p:nvPr>
            <p:ph sz="quarter" idx="14" hasCustomPrompt="1"/>
          </p:nvPr>
        </p:nvSpPr>
        <p:spPr>
          <a:xfrm>
            <a:off x="471983" y="6070213"/>
            <a:ext cx="11274552" cy="265176"/>
          </a:xfrm>
        </p:spPr>
        <p:txBody>
          <a:bodyPr wrap="none">
            <a:noAutofit/>
          </a:bodyPr>
          <a:lstStyle>
            <a:lvl1pPr>
              <a:spcAft>
                <a:spcPts val="0"/>
              </a:spcAft>
              <a:defRPr sz="800"/>
            </a:lvl1pPr>
          </a:lstStyle>
          <a:p>
            <a:pPr lvl="0"/>
            <a:r>
              <a:rPr lang="en-US"/>
              <a:t>Click to add notes and sources</a:t>
            </a:r>
          </a:p>
        </p:txBody>
      </p:sp>
      <p:sp>
        <p:nvSpPr>
          <p:cNvPr id="13" name="Title Placeholder 1">
            <a:extLst>
              <a:ext uri="{FF2B5EF4-FFF2-40B4-BE49-F238E27FC236}">
                <a16:creationId xmlns:a16="http://schemas.microsoft.com/office/drawing/2014/main" id="{B6D0D5CA-F83B-4C19-758D-C3C6659EBE6E}"/>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041227808"/>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152980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8995068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820424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0774805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6EBE14D-B461-4822-94E8-6203B1E77523}" type="datetimeFigureOut">
              <a:rPr lang="fr-FR" smtClean="0"/>
              <a:t>22/09/2026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8696391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6EBE14D-B461-4822-94E8-6203B1E77523}" type="datetimeFigureOut">
              <a:rPr lang="fr-FR" smtClean="0"/>
              <a:t>22/09/2026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9657460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EBE14D-B461-4822-94E8-6203B1E77523}" type="datetimeFigureOut">
              <a:rPr lang="fr-FR" smtClean="0"/>
              <a:t>22/09/2026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2965436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5393278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648537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1274899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0338644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Placeholder 1">
            <a:extLst>
              <a:ext uri="{FF2B5EF4-FFF2-40B4-BE49-F238E27FC236}">
                <a16:creationId xmlns:a16="http://schemas.microsoft.com/office/drawing/2014/main" id="{5AA52354-AD0C-4278-A20C-E161AEB4D16F}"/>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55240017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1" preserve="1">
  <p:cSld name="Title only 1">
    <p:spTree>
      <p:nvGrpSpPr>
        <p:cNvPr id="1" name="Shape 5623"/>
        <p:cNvGrpSpPr/>
        <p:nvPr/>
      </p:nvGrpSpPr>
      <p:grpSpPr>
        <a:xfrm>
          <a:off x="0" y="0"/>
          <a:ext cx="0" cy="0"/>
          <a:chOff x="0" y="0"/>
          <a:chExt cx="0" cy="0"/>
        </a:xfrm>
      </p:grpSpPr>
      <p:pic>
        <p:nvPicPr>
          <p:cNvPr id="5624" name="Google Shape;5624;p29"/>
          <p:cNvPicPr preferRelativeResize="0"/>
          <p:nvPr/>
        </p:nvPicPr>
        <p:blipFill>
          <a:blip r:embed="rId2">
            <a:alphaModFix amt="20000"/>
          </a:blip>
          <a:stretch>
            <a:fillRect/>
          </a:stretch>
        </p:blipFill>
        <p:spPr>
          <a:xfrm flipH="1">
            <a:off x="-4949" y="1"/>
            <a:ext cx="12192004" cy="6858001"/>
          </a:xfrm>
          <a:prstGeom prst="rect">
            <a:avLst/>
          </a:prstGeom>
          <a:noFill/>
          <a:ln>
            <a:noFill/>
          </a:ln>
        </p:spPr>
      </p:pic>
      <p:sp>
        <p:nvSpPr>
          <p:cNvPr id="5625" name="Google Shape;5625;p2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738263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12" preserve="1">
  <p:cSld name="Title only 12">
    <p:spTree>
      <p:nvGrpSpPr>
        <p:cNvPr id="1" name="Shape 6976"/>
        <p:cNvGrpSpPr/>
        <p:nvPr/>
      </p:nvGrpSpPr>
      <p:grpSpPr>
        <a:xfrm>
          <a:off x="0" y="0"/>
          <a:ext cx="0" cy="0"/>
          <a:chOff x="0" y="0"/>
          <a:chExt cx="0" cy="0"/>
        </a:xfrm>
      </p:grpSpPr>
      <p:sp>
        <p:nvSpPr>
          <p:cNvPr id="6978" name="Google Shape;6978;p57"/>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0582835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1 column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66A5C41-60AA-4C25-8080-4F0DFF19B9C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966A5C41-60AA-4C25-8080-4F0DFF19B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D5544814-ED77-5424-AA44-FCF607EC724C}"/>
              </a:ext>
            </a:extLst>
          </p:cNvPr>
          <p:cNvSpPr>
            <a:spLocks noGrp="1"/>
          </p:cNvSpPr>
          <p:nvPr>
            <p:ph type="body" sz="quarter" idx="13" hasCustomPrompt="1"/>
          </p:nvPr>
        </p:nvSpPr>
        <p:spPr>
          <a:xfrm>
            <a:off x="466344" y="649224"/>
            <a:ext cx="11277599" cy="1010919"/>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ext Placeholder 18">
            <a:extLst>
              <a:ext uri="{FF2B5EF4-FFF2-40B4-BE49-F238E27FC236}">
                <a16:creationId xmlns:a16="http://schemas.microsoft.com/office/drawing/2014/main" id="{92C75D35-8730-843D-1A9B-7A3EF8BDC3E6}"/>
              </a:ext>
            </a:extLst>
          </p:cNvPr>
          <p:cNvSpPr>
            <a:spLocks noGrp="1"/>
          </p:cNvSpPr>
          <p:nvPr>
            <p:ph idx="1"/>
          </p:nvPr>
        </p:nvSpPr>
        <p:spPr>
          <a:xfrm>
            <a:off x="471983" y="1684020"/>
            <a:ext cx="11277600" cy="426974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C2764C76-8970-695F-1D5D-E85887CA625C}"/>
              </a:ext>
            </a:extLst>
          </p:cNvPr>
          <p:cNvSpPr>
            <a:spLocks noGrp="1"/>
          </p:cNvSpPr>
          <p:nvPr>
            <p:ph sz="quarter" idx="14" hasCustomPrompt="1"/>
          </p:nvPr>
        </p:nvSpPr>
        <p:spPr>
          <a:xfrm>
            <a:off x="471983" y="6070213"/>
            <a:ext cx="11274552" cy="265176"/>
          </a:xfrm>
        </p:spPr>
        <p:txBody>
          <a:bodyPr wrap="none">
            <a:noAutofit/>
          </a:bodyPr>
          <a:lstStyle>
            <a:lvl1pPr>
              <a:spcAft>
                <a:spcPts val="0"/>
              </a:spcAft>
              <a:defRPr sz="800"/>
            </a:lvl1pPr>
          </a:lstStyle>
          <a:p>
            <a:pPr lvl="0"/>
            <a:r>
              <a:rPr lang="en-US"/>
              <a:t>Click to add notes and sources</a:t>
            </a:r>
          </a:p>
        </p:txBody>
      </p:sp>
      <p:sp>
        <p:nvSpPr>
          <p:cNvPr id="13" name="Title Placeholder 1">
            <a:extLst>
              <a:ext uri="{FF2B5EF4-FFF2-40B4-BE49-F238E27FC236}">
                <a16:creationId xmlns:a16="http://schemas.microsoft.com/office/drawing/2014/main" id="{B6D0D5CA-F83B-4C19-758D-C3C6659EBE6E}"/>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273835987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slideLayout" Target="../slideLayouts/slideLayout28.xml"/><Relationship Id="rId14" Type="http://schemas.openxmlformats.org/officeDocument/2006/relationships/slideLayout" Target="../slideLayouts/slideLayout29.xml"/><Relationship Id="rId15" Type="http://schemas.openxmlformats.org/officeDocument/2006/relationships/slideLayout" Target="../slideLayouts/slideLayout30.xml"/><Relationship Id="rId16" Type="http://schemas.openxmlformats.org/officeDocument/2006/relationships/theme" Target="../theme/theme2.xml"/><Relationship Id="rId17"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7" name="Image 16"/>
          <p:cNvPicPr>
            <a:picLocks noChangeAspect="1"/>
          </p:cNvPicPr>
          <p:nvPr userDrawn="1"/>
        </p:nvPicPr>
        <p:blipFill rotWithShape="1">
          <a:blip r:embed="rId17" cstate="print">
            <a:extLst>
              <a:ext uri="{28A0092B-C50C-407E-A947-70E740481C1C}">
                <a14:useLocalDpi xmlns:a14="http://schemas.microsoft.com/office/drawing/2010/main" val="0"/>
              </a:ext>
            </a:extLst>
          </a:blip>
          <a:srcRect l="-1" r="1564" b="34369"/>
          <a:stretch/>
        </p:blipFill>
        <p:spPr>
          <a:xfrm>
            <a:off x="-147909" y="-58723"/>
            <a:ext cx="12339909" cy="6916723"/>
          </a:xfrm>
          <a:prstGeom prst="rect">
            <a:avLst/>
          </a:prstGeom>
        </p:spPr>
      </p:pic>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977E6-38EB-41CC-A7E1-A449CC9EA7E2}" type="slidenum">
              <a:rPr lang="fr-FR" smtClean="0"/>
              <a:t>‹N°›</a:t>
            </a:fld>
            <a:endParaRPr lang="fr-FR"/>
          </a:p>
        </p:txBody>
      </p:sp>
      <p:sp>
        <p:nvSpPr>
          <p:cNvPr id="15" name="ZoneTexte 14">
            <a:extLst>
              <a:ext uri="{FF2B5EF4-FFF2-40B4-BE49-F238E27FC236}">
                <a16:creationId xmlns:a16="http://schemas.microsoft.com/office/drawing/2014/main" id="{C6E7D94B-8E49-C846-A392-87DFA5EF4A9D}"/>
              </a:ext>
            </a:extLst>
          </p:cNvPr>
          <p:cNvSpPr txBox="1"/>
          <p:nvPr userDrawn="1"/>
        </p:nvSpPr>
        <p:spPr>
          <a:xfrm>
            <a:off x="221940" y="6394008"/>
            <a:ext cx="10929842" cy="261610"/>
          </a:xfrm>
          <a:prstGeom prst="rect">
            <a:avLst/>
          </a:prstGeom>
          <a:noFill/>
        </p:spPr>
        <p:txBody>
          <a:bodyPr wrap="square">
            <a:spAutoFit/>
          </a:bodyPr>
          <a:lstStyle/>
          <a:p>
            <a:r>
              <a:rPr lang="fr-FR" sz="1100">
                <a:solidFill>
                  <a:schemeClr val="bg1"/>
                </a:solidFill>
                <a:latin typeface="Helvetica" panose="020B0604020202020204" pitchFamily="34" charset="0"/>
                <a:cs typeface="Helvetica" panose="020B0604020202020204" pitchFamily="34" charset="0"/>
              </a:rPr>
              <a:t>Empreinte Africaine, Expertise Internationale</a:t>
            </a:r>
          </a:p>
        </p:txBody>
      </p:sp>
    </p:spTree>
    <p:extLst>
      <p:ext uri="{BB962C8B-B14F-4D97-AF65-F5344CB8AC3E}">
        <p14:creationId xmlns:p14="http://schemas.microsoft.com/office/powerpoint/2010/main" val="20634137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 id="2147483664"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Image 7"/>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504" y="283"/>
            <a:ext cx="12190992" cy="6857433"/>
          </a:xfrm>
          <a:prstGeom prst="rect">
            <a:avLst/>
          </a:prstGeom>
        </p:spPr>
      </p:pic>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977E6-38EB-41CC-A7E1-A449CC9EA7E2}" type="slidenum">
              <a:rPr lang="fr-FR" smtClean="0"/>
              <a:t>‹N°›</a:t>
            </a:fld>
            <a:endParaRPr lang="fr-FR"/>
          </a:p>
        </p:txBody>
      </p:sp>
    </p:spTree>
    <p:extLst>
      <p:ext uri="{BB962C8B-B14F-4D97-AF65-F5344CB8AC3E}">
        <p14:creationId xmlns:p14="http://schemas.microsoft.com/office/powerpoint/2010/main" val="605055638"/>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6.png"/><Relationship Id="rId11" Type="http://schemas.openxmlformats.org/officeDocument/2006/relationships/image" Target="../media/image17.png"/><Relationship Id="rId12" Type="http://schemas.openxmlformats.org/officeDocument/2006/relationships/image" Target="../media/image21.png"/><Relationship Id="rId13" Type="http://schemas.openxmlformats.org/officeDocument/2006/relationships/image" Target="../media/image23.png"/><Relationship Id="rId14" Type="http://schemas.openxmlformats.org/officeDocument/2006/relationships/image" Target="../media/image24.png"/><Relationship Id="rId15" Type="http://schemas.openxmlformats.org/officeDocument/2006/relationships/image" Target="../media/image25.png"/><Relationship Id="rId16" Type="http://schemas.openxmlformats.org/officeDocument/2006/relationships/image" Target="../media/image26.png"/><Relationship Id="rId17" Type="http://schemas.openxmlformats.org/officeDocument/2006/relationships/image" Target="../media/image27.png"/><Relationship Id="rId18" Type="http://schemas.openxmlformats.org/officeDocument/2006/relationships/image" Target="../media/image28.png"/><Relationship Id="rId19" Type="http://schemas.openxmlformats.org/officeDocument/2006/relationships/image" Target="../media/image29.png"/><Relationship Id="rId20" Type="http://schemas.openxmlformats.org/officeDocument/2006/relationships/image" Target="../media/image30.png"/><Relationship Id="rId21" Type="http://schemas.openxmlformats.org/officeDocument/2006/relationships/image" Target="../media/image31.png"/><Relationship Id="rId22"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96.png"/><Relationship Id="rId4" Type="http://schemas.openxmlformats.org/officeDocument/2006/relationships/image" Target="../media/image97.png"/><Relationship Id="rId5" Type="http://schemas.openxmlformats.org/officeDocument/2006/relationships/image" Target="../media/image46.png"/><Relationship Id="rId6" Type="http://schemas.openxmlformats.org/officeDocument/2006/relationships/image" Target="../media/image98.png"/><Relationship Id="rId7"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18.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png"/><Relationship Id="rId9"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7.xml"/><Relationship Id="rId7" Type="http://schemas.openxmlformats.org/officeDocument/2006/relationships/chart" Target="../charts/chart8.xml"/><Relationship Id="rId8"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xml"/></Relationships>
</file>

<file path=ppt/slides/_rels/slide11.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Layout" Target="../slideLayouts/slideLayout15.xml"/><Relationship Id="rId3" Type="http://schemas.openxmlformats.org/officeDocument/2006/relationships/notesSlide" Target="../notesSlides/notesSlide40.xml"/><Relationship Id="rId4" Type="http://schemas.openxmlformats.org/officeDocument/2006/relationships/image" Target="../media/image8.png"/><Relationship Id="rId5" Type="http://schemas.openxmlformats.org/officeDocument/2006/relationships/oleObject" Target="../embeddings/oleObject3.bin"/><Relationship Id="rId6" Type="http://schemas.openxmlformats.org/officeDocument/2006/relationships/image" Target="../media/image163.emf"/><Relationship Id="rId7" Type="http://schemas.openxmlformats.org/officeDocument/2006/relationships/chart" Target="../charts/chart17.xml"/><Relationship Id="rId8" Type="http://schemas.openxmlformats.org/officeDocument/2006/relationships/chart" Target="../charts/chart18.xml"/><Relationship Id="rId9" Type="http://schemas.openxmlformats.org/officeDocument/2006/relationships/image" Target="../media/image164.png"/><Relationship Id="rId10" Type="http://schemas.openxmlformats.org/officeDocument/2006/relationships/image" Target="../media/image18.png"/><Relationship Id="rId11" Type="http://schemas.openxmlformats.org/officeDocument/2006/relationships/chart" Target="../charts/chart19.xml"/><Relationship Id="rId12" Type="http://schemas.openxmlformats.org/officeDocument/2006/relationships/chart" Target="../charts/chart20.xml"/><Relationship Id="rId13" Type="http://schemas.openxmlformats.org/officeDocument/2006/relationships/image" Target="../media/image165.png"/><Relationship Id="rId14" Type="http://schemas.openxmlformats.org/officeDocument/2006/relationships/image" Target="../media/image16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128.png"/><Relationship Id="rId5" Type="http://schemas.openxmlformats.org/officeDocument/2006/relationships/image" Target="../media/image45.png"/><Relationship Id="rId6" Type="http://schemas.openxmlformats.org/officeDocument/2006/relationships/image" Target="../media/image129.png"/><Relationship Id="rId7" Type="http://schemas.openxmlformats.org/officeDocument/2006/relationships/image" Target="../media/image46.png"/><Relationship Id="rId8" Type="http://schemas.openxmlformats.org/officeDocument/2006/relationships/image" Target="../media/image1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9.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0.xml"/><Relationship Id="rId7"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1.xml"/><Relationship Id="rId7"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2.xml"/><Relationship Id="rId7"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3.xml"/><Relationship Id="rId7"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4.xml"/><Relationship Id="rId7"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5.xml"/><Relationship Id="rId7"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6.xml"/><Relationship Id="rId7"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xml"/><Relationship Id="rId7"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xml"/><Relationship Id="rId7" Type="http://schemas.openxmlformats.org/officeDocument/2006/relationships/notesSlide" Target="../notesSlides/notesSlide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4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xml"/><Relationship Id="rId7"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xml"/><Relationship Id="rId7" Type="http://schemas.openxmlformats.org/officeDocument/2006/relationships/notesSlide" Target="../notesSlides/notesSlide4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1.xml"/><Relationship Id="rId7" Type="http://schemas.openxmlformats.org/officeDocument/2006/relationships/notesSlide" Target="../notesSlides/notesSlide4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5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2.xml"/><Relationship Id="rId7" Type="http://schemas.openxmlformats.org/officeDocument/2006/relationships/notesSlide" Target="../notesSlides/notesSlide5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3.xml"/><Relationship Id="rId7" Type="http://schemas.openxmlformats.org/officeDocument/2006/relationships/notesSlide" Target="../notesSlides/notesSlide5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4.xml"/><Relationship Id="rId7" Type="http://schemas.openxmlformats.org/officeDocument/2006/relationships/notesSlide" Target="../notesSlides/notesSlide5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5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5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5.xml"/><Relationship Id="rId7" Type="http://schemas.openxmlformats.org/officeDocument/2006/relationships/notesSlide" Target="../notesSlides/notesSlide5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6.xml"/><Relationship Id="rId7" Type="http://schemas.openxmlformats.org/officeDocument/2006/relationships/notesSlide" Target="../notesSlides/notesSlide6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7.xml"/><Relationship Id="rId7" Type="http://schemas.openxmlformats.org/officeDocument/2006/relationships/notesSlide" Target="../notesSlides/notesSlide6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8.xml"/><Relationship Id="rId7" Type="http://schemas.openxmlformats.org/officeDocument/2006/relationships/notesSlide" Target="../notesSlides/notesSlide6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6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9.xml"/><Relationship Id="rId7" Type="http://schemas.openxmlformats.org/officeDocument/2006/relationships/notesSlide" Target="../notesSlides/notesSlide6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6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0.xml"/><Relationship Id="rId7" Type="http://schemas.openxmlformats.org/officeDocument/2006/relationships/notesSlide" Target="../notesSlides/notesSlide70.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1.xml"/><Relationship Id="rId7" Type="http://schemas.openxmlformats.org/officeDocument/2006/relationships/notesSlide" Target="../notesSlides/notesSlide7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2.xml"/><Relationship Id="rId7" Type="http://schemas.openxmlformats.org/officeDocument/2006/relationships/notesSlide" Target="../notesSlides/notesSlide7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3.xml"/><Relationship Id="rId7" Type="http://schemas.openxmlformats.org/officeDocument/2006/relationships/notesSlide" Target="../notesSlides/notesSlide7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4.xml"/><Relationship Id="rId7" Type="http://schemas.openxmlformats.org/officeDocument/2006/relationships/notesSlide" Target="../notesSlides/notesSlide7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7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7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8.png"/><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18.png"/><Relationship Id="rId7" Type="http://schemas.openxmlformats.org/officeDocument/2006/relationships/notesSlide" Target="../notesSlides/notesSlide80.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8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62.png"/><Relationship Id="rId4" Type="http://schemas.openxmlformats.org/officeDocument/2006/relationships/notesSlide" Target="../notesSlides/notesSlide8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5.xml"/><Relationship Id="rId7" Type="http://schemas.openxmlformats.org/officeDocument/2006/relationships/notesSlide" Target="../notesSlides/notesSlide8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0.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9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6.xml"/><Relationship Id="rId7" Type="http://schemas.openxmlformats.org/officeDocument/2006/relationships/notesSlide" Target="../notesSlides/notesSlide99.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0.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7.xml"/><Relationship Id="rId7" Type="http://schemas.openxmlformats.org/officeDocument/2006/relationships/notesSlide" Target="../notesSlides/notesSlide10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0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06.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8.xml"/><Relationship Id="rId7" Type="http://schemas.openxmlformats.org/officeDocument/2006/relationships/notesSlide" Target="../notesSlides/notesSlide108.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9.xml"/><Relationship Id="rId7" Type="http://schemas.openxmlformats.org/officeDocument/2006/relationships/notesSlide" Target="../notesSlides/notesSlide109.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0.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1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1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notesSlide" Target="../notesSlides/notesSlide11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1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notesSlide" Target="../notesSlides/notesSlide11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8.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9.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2.png"/><Relationship Id="rId7" Type="http://schemas.openxmlformats.org/officeDocument/2006/relationships/notesSlide" Target="../notesSlides/notesSlide120.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3.png"/><Relationship Id="rId7" Type="http://schemas.openxmlformats.org/officeDocument/2006/relationships/notesSlide" Target="../notesSlides/notesSlide12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4.png"/><Relationship Id="rId7" Type="http://schemas.openxmlformats.org/officeDocument/2006/relationships/notesSlide" Target="../notesSlides/notesSlide12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5.png"/><Relationship Id="rId7" Type="http://schemas.openxmlformats.org/officeDocument/2006/relationships/notesSlide" Target="../notesSlides/notesSlide12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6.png"/><Relationship Id="rId7" Type="http://schemas.openxmlformats.org/officeDocument/2006/relationships/notesSlide" Target="../notesSlides/notesSlide124.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7.png"/><Relationship Id="rId7" Type="http://schemas.openxmlformats.org/officeDocument/2006/relationships/notesSlide" Target="../notesSlides/notesSlide125.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8.png"/><Relationship Id="rId7" Type="http://schemas.openxmlformats.org/officeDocument/2006/relationships/notesSlide" Target="../notesSlides/notesSlide126.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2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8.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9.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0.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0.png"/><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a:picLocks noChangeAspect="1"/>
          </p:cNvPicPr>
          <p:nvPr/>
        </p:nvPicPr>
        <p:blipFill rotWithShape="1">
          <a:blip r:embed="rId2" cstate="print">
            <a:extLst>
              <a:ext uri="{28A0092B-C50C-407E-A947-70E740481C1C}">
                <a14:useLocalDpi xmlns:a14="http://schemas.microsoft.com/office/drawing/2010/main" val="0"/>
              </a:ext>
            </a:extLst>
          </a:blip>
          <a:srcRect l="-175" t="524" r="-2445" b="9082"/>
          <a:stretch/>
        </p:blipFill>
        <p:spPr>
          <a:xfrm>
            <a:off x="4883082" y="0"/>
            <a:ext cx="7785652" cy="6858000"/>
          </a:xfrm>
          <a:prstGeom prst="rect">
            <a:avLst/>
          </a:prstGeom>
        </p:spPr>
      </p:pic>
      <p:sp>
        <p:nvSpPr>
          <p:cNvPr id="5" name="Rectangle 4"/>
          <p:cNvSpPr/>
          <p:nvPr/>
        </p:nvSpPr>
        <p:spPr>
          <a:xfrm>
            <a:off x="13092" y="0"/>
            <a:ext cx="5740400" cy="6858000"/>
          </a:xfrm>
          <a:prstGeom prst="rect">
            <a:avLst/>
          </a:prstGeom>
          <a:solidFill>
            <a:srgbClr val="0606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pic>
        <p:nvPicPr>
          <p:cNvPr id="6" name="Image 5">
            <a:extLst>
              <a:ext uri="{FF2B5EF4-FFF2-40B4-BE49-F238E27FC236}">
                <a16:creationId xmlns:a16="http://schemas.microsoft.com/office/drawing/2014/main" id="{2C356854-0685-DCEF-E2F6-65D5E9653A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48" y="-135577"/>
            <a:ext cx="3261353" cy="1301437"/>
          </a:xfrm>
          <a:prstGeom prst="rect">
            <a:avLst/>
          </a:prstGeom>
        </p:spPr>
      </p:pic>
      <p:sp>
        <p:nvSpPr>
          <p:cNvPr id="8" name="Text Placeholder 4">
            <a:extLst>
              <a:ext uri="{FF2B5EF4-FFF2-40B4-BE49-F238E27FC236}">
                <a16:creationId xmlns:a16="http://schemas.microsoft.com/office/drawing/2014/main" id="{5B17207E-7FD3-4B75-ADFE-CC565F8DB8A1}"/>
              </a:ext>
            </a:extLst>
          </p:cNvPr>
          <p:cNvSpPr txBox="1">
            <a:spLocks/>
          </p:cNvSpPr>
          <p:nvPr/>
        </p:nvSpPr>
        <p:spPr>
          <a:xfrm>
            <a:off x="7740000" y="6388244"/>
            <a:ext cx="3960000" cy="337676"/>
          </a:xfrm>
          <a:prstGeom prst="rect">
            <a:avLst/>
          </a:prstGeom>
        </p:spPr>
        <p:txBody>
          <a:bodyPr vert="horz" lIns="91440" tIns="45720" rIns="91440" bIns="45720" rtlCol="0" anchor="ctr">
            <a:noAutofit/>
          </a:bodyPr>
          <a:lstStyle>
            <a:defPPr>
              <a:defRPr lang="fr-FR"/>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CI" sz="1000" noProof="0">
                <a:solidFill>
                  <a:srgbClr val="FFFFFF"/>
                </a:solidFill>
                <a:latin typeface=".Helvetica"/>
                <a:ea typeface=".Helvetica Neue Interface" panose="020B0604020202020204" pitchFamily="34" charset="0"/>
                <a:cs typeface="Open Sans"/>
              </a:rPr>
              <a:t>Rapport d'étape au 15 octobre 2026, version 4</a:t>
            </a:r>
          </a:p>
        </p:txBody>
      </p:sp>
      <p:sp>
        <p:nvSpPr>
          <p:cNvPr id="9" name="Google Shape;138;p25"/>
          <p:cNvSpPr txBox="1"/>
          <p:nvPr/>
        </p:nvSpPr>
        <p:spPr>
          <a:xfrm>
            <a:off x="908861" y="2534894"/>
            <a:ext cx="4608000" cy="1231106"/>
          </a:xfrm>
          <a:prstGeom prst="rect">
            <a:avLst/>
          </a:prstGeom>
          <a:noFill/>
          <a:ln>
            <a:noFill/>
          </a:ln>
        </p:spPr>
        <p:txBody>
          <a:bodyPr spcFirstLastPara="1" wrap="square" lIns="0" tIns="0" rIns="0" bIns="0" anchor="t" anchorCtr="0">
            <a:spAutoFit/>
          </a:bodyPr>
          <a:lstStyle/>
          <a:p>
            <a:r>
              <a:rPr lang="fr-CI" sz="4000" b="1" noProof="0">
                <a:solidFill>
                  <a:schemeClr val="bg1"/>
                </a:solidFill>
                <a:latin typeface="Helvetica" panose="020B0604020202020204" pitchFamily="34" charset="0"/>
                <a:cs typeface="Helvetica" panose="020B0604020202020204" pitchFamily="34" charset="0"/>
              </a:rPr>
              <a:t>Rapport actuariel</a:t>
            </a:r>
          </a:p>
          <a:p>
            <a:r>
              <a:rPr lang="fr-CI" sz="4000" b="1" noProof="0">
                <a:solidFill>
                  <a:schemeClr val="bg1"/>
                </a:solidFill>
                <a:latin typeface="Helvetica" panose="020B0604020202020204" pitchFamily="34" charset="0"/>
                <a:cs typeface="Helvetica" panose="020B0604020202020204" pitchFamily="34" charset="0"/>
              </a:rPr>
              <a:t>et statistique</a:t>
            </a:r>
          </a:p>
          <a:p>
            <a:r>
              <a:rPr lang="fr-CI" sz="4000" b="1" noProof="0">
                <a:solidFill>
                  <a:schemeClr val="bg1"/>
                </a:solidFill>
                <a:latin typeface="Helvetica" panose="020B0604020202020204" pitchFamily="34" charset="0"/>
                <a:cs typeface="Helvetica" panose="020B0604020202020204" pitchFamily="34" charset="0"/>
              </a:rPr>
              <a:t>du FPPN</a:t>
            </a:r>
          </a:p>
        </p:txBody>
      </p:sp>
      <p:sp>
        <p:nvSpPr>
          <p:cNvPr id="14" name="ZoneTexte 13">
            <a:extLst>
              <a:ext uri="{FF2B5EF4-FFF2-40B4-BE49-F238E27FC236}">
                <a16:creationId xmlns:a16="http://schemas.microsoft.com/office/drawing/2014/main" id="{C6E7D94B-8E49-C846-A392-87DFA5EF4A9D}"/>
              </a:ext>
            </a:extLst>
          </p:cNvPr>
          <p:cNvSpPr txBox="1"/>
          <p:nvPr/>
        </p:nvSpPr>
        <p:spPr>
          <a:xfrm>
            <a:off x="456025" y="6300894"/>
            <a:ext cx="4653185" cy="338554"/>
          </a:xfrm>
          <a:prstGeom prst="rect">
            <a:avLst/>
          </a:prstGeom>
          <a:noFill/>
        </p:spPr>
        <p:txBody>
          <a:bodyPr wrap="square">
            <a:spAutoFit/>
          </a:bodyPr>
          <a:lstStyle/>
          <a:p>
            <a:r>
              <a:rPr lang="fr-CI" sz="1600" noProof="0">
                <a:solidFill>
                  <a:schemeClr val="bg1"/>
                </a:solidFill>
                <a:latin typeface="Helvetica" panose="020B0604020202020204" pitchFamily="34" charset="0"/>
                <a:cs typeface="Helvetica" panose="020B0604020202020204" pitchFamily="34" charset="0"/>
              </a:rPr>
              <a:t>Empreinte Africaine, Expertise Internationale</a:t>
            </a:r>
          </a:p>
        </p:txBody>
      </p:sp>
      <p:sp>
        <p:nvSpPr>
          <p:cNvPr id="12" name="Rectangle 11"/>
          <p:cNvSpPr/>
          <p:nvPr/>
        </p:nvSpPr>
        <p:spPr>
          <a:xfrm>
            <a:off x="9487408" y="229231"/>
            <a:ext cx="2704592" cy="1323439"/>
          </a:xfrm>
          <a:prstGeom prst="rect">
            <a:avLst/>
          </a:prstGeom>
        </p:spPr>
        <p:txBody>
          <a:bodyPr wrap="square">
            <a:spAutoFit/>
          </a:bodyPr>
          <a:lstStyle/>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SA au Capital de 100 millions FCFA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Immeuble le 24, 3e étage</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Boulevard </a:t>
            </a:r>
            <a:r>
              <a:rPr lang="fr-CI" sz="1000" noProof="0" err="1">
                <a:solidFill>
                  <a:schemeClr val="bg1"/>
                </a:solidFill>
                <a:latin typeface="Helvetica" panose="020B0604020202020204" pitchFamily="34" charset="0"/>
                <a:ea typeface="Times New Roman" panose="02020603050405020304" pitchFamily="18" charset="0"/>
                <a:cs typeface="Helvetica" panose="020B0604020202020204" pitchFamily="34" charset="0"/>
              </a:rPr>
              <a:t>Clozel</a:t>
            </a: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 Plateau, Abidjan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06 BPM 459 Abidjan 06, Côte d’ivoire</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NCC : 2404702K</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RCCM : CI-ABJ-03-2024-B14-00114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Tel (225) 27 20 33 90 90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www.adenka.ci</a:t>
            </a:r>
          </a:p>
        </p:txBody>
      </p:sp>
    </p:spTree>
    <p:extLst>
      <p:ext uri="{BB962C8B-B14F-4D97-AF65-F5344CB8AC3E}">
        <p14:creationId xmlns:p14="http://schemas.microsoft.com/office/powerpoint/2010/main" val="1047328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972000" y="306000"/>
            <a:ext cx="7200000" cy="396000"/>
          </a:xfrm>
          <a:prstGeom prst="rect">
            <a:avLst/>
          </a:prstGeom>
          <a:noFill/>
        </p:spPr>
        <p:txBody>
          <a:bodyPr wrap="square" anchor="t" lIns="54000" rIns="54000"/>
          <a:lstStyle/>
          <a:p>
            <a:pPr algn="l"/>
            <a:r>
              <a:rPr sz="2400" b="1">
                <a:solidFill>
                  <a:srgbClr val="112A40"/>
                </a:solidFill>
                <a:latin typeface="Helvetica"/>
              </a:rPr>
              <a:t>SOMMAIRE</a:t>
            </a:r>
          </a:p>
        </p:txBody>
      </p:sp>
      <p:cxnSp>
        <p:nvCxnSpPr>
          <p:cNvPr id="28" name="Connector 27"/>
          <p:cNvCxnSpPr/>
          <p:nvPr/>
        </p:nvCxnSpPr>
        <p:spPr>
          <a:xfrm>
            <a:off x="932400" y="1374750"/>
            <a:ext cx="0" cy="452250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32400" y="1374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829250" y="1242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6"/>
          <a:stretch>
            <a:fillRect/>
          </a:stretch>
        </p:blipFill>
        <p:spPr>
          <a:xfrm>
            <a:off x="1882349" y="1295100"/>
            <a:ext cx="159300" cy="159300"/>
          </a:xfrm>
          <a:prstGeom prst="rect">
            <a:avLst/>
          </a:prstGeom>
        </p:spPr>
      </p:pic>
      <p:sp>
        <p:nvSpPr>
          <p:cNvPr id="32" name="Rectangle 31"/>
          <p:cNvSpPr/>
          <p:nvPr/>
        </p:nvSpPr>
        <p:spPr>
          <a:xfrm>
            <a:off x="2444400" y="1245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Résumé exécutif</a:t>
            </a:r>
          </a:p>
        </p:txBody>
      </p:sp>
      <p:sp>
        <p:nvSpPr>
          <p:cNvPr id="33" name="Rectangle 32"/>
          <p:cNvSpPr/>
          <p:nvPr/>
        </p:nvSpPr>
        <p:spPr>
          <a:xfrm>
            <a:off x="10756800" y="1245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3</a:t>
            </a:r>
          </a:p>
        </p:txBody>
      </p:sp>
      <p:cxnSp>
        <p:nvCxnSpPr>
          <p:cNvPr id="34" name="Connector 33"/>
          <p:cNvCxnSpPr/>
          <p:nvPr/>
        </p:nvCxnSpPr>
        <p:spPr>
          <a:xfrm>
            <a:off x="932400" y="1676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829250" y="1543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image.png"/>
          <p:cNvPicPr>
            <a:picLocks noChangeAspect="1"/>
          </p:cNvPicPr>
          <p:nvPr/>
        </p:nvPicPr>
        <p:blipFill>
          <a:blip r:embed="rId7"/>
          <a:stretch>
            <a:fillRect/>
          </a:stretch>
        </p:blipFill>
        <p:spPr>
          <a:xfrm>
            <a:off x="1882349" y="1596599"/>
            <a:ext cx="159300" cy="159300"/>
          </a:xfrm>
          <a:prstGeom prst="rect">
            <a:avLst/>
          </a:prstGeom>
        </p:spPr>
      </p:pic>
      <p:sp>
        <p:nvSpPr>
          <p:cNvPr id="37" name="Rectangle 36"/>
          <p:cNvSpPr/>
          <p:nvPr/>
        </p:nvSpPr>
        <p:spPr>
          <a:xfrm>
            <a:off x="2444400" y="1547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Comprendre le FPPN</a:t>
            </a:r>
          </a:p>
        </p:txBody>
      </p:sp>
      <p:sp>
        <p:nvSpPr>
          <p:cNvPr id="38" name="Rectangle 37"/>
          <p:cNvSpPr/>
          <p:nvPr/>
        </p:nvSpPr>
        <p:spPr>
          <a:xfrm>
            <a:off x="10756800" y="1547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15</a:t>
            </a:r>
          </a:p>
        </p:txBody>
      </p:sp>
      <p:cxnSp>
        <p:nvCxnSpPr>
          <p:cNvPr id="39" name="Connector 38"/>
          <p:cNvCxnSpPr/>
          <p:nvPr/>
        </p:nvCxnSpPr>
        <p:spPr>
          <a:xfrm>
            <a:off x="932400" y="1977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1829250" y="1845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8"/>
          <a:stretch>
            <a:fillRect/>
          </a:stretch>
        </p:blipFill>
        <p:spPr>
          <a:xfrm>
            <a:off x="1882349" y="1898100"/>
            <a:ext cx="159300" cy="159300"/>
          </a:xfrm>
          <a:prstGeom prst="rect">
            <a:avLst/>
          </a:prstGeom>
        </p:spPr>
      </p:pic>
      <p:sp>
        <p:nvSpPr>
          <p:cNvPr id="42" name="Rectangle 41"/>
          <p:cNvSpPr/>
          <p:nvPr/>
        </p:nvSpPr>
        <p:spPr>
          <a:xfrm>
            <a:off x="2444400" y="1848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Contexte et démarche</a:t>
            </a:r>
          </a:p>
        </p:txBody>
      </p:sp>
      <p:sp>
        <p:nvSpPr>
          <p:cNvPr id="43" name="Rectangle 42"/>
          <p:cNvSpPr/>
          <p:nvPr/>
        </p:nvSpPr>
        <p:spPr>
          <a:xfrm>
            <a:off x="10756800" y="1848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22</a:t>
            </a:r>
          </a:p>
        </p:txBody>
      </p:sp>
      <p:cxnSp>
        <p:nvCxnSpPr>
          <p:cNvPr id="44" name="Connector 43"/>
          <p:cNvCxnSpPr/>
          <p:nvPr/>
        </p:nvCxnSpPr>
        <p:spPr>
          <a:xfrm>
            <a:off x="932400" y="2279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1829250" y="2146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image.png"/>
          <p:cNvPicPr>
            <a:picLocks noChangeAspect="1"/>
          </p:cNvPicPr>
          <p:nvPr/>
        </p:nvPicPr>
        <p:blipFill>
          <a:blip r:embed="rId9"/>
          <a:stretch>
            <a:fillRect/>
          </a:stretch>
        </p:blipFill>
        <p:spPr>
          <a:xfrm>
            <a:off x="1882349" y="2199600"/>
            <a:ext cx="159300" cy="159300"/>
          </a:xfrm>
          <a:prstGeom prst="rect">
            <a:avLst/>
          </a:prstGeom>
        </p:spPr>
      </p:pic>
      <p:sp>
        <p:nvSpPr>
          <p:cNvPr id="47" name="Rectangle 46"/>
          <p:cNvSpPr/>
          <p:nvPr/>
        </p:nvSpPr>
        <p:spPr>
          <a:xfrm>
            <a:off x="2444400" y="2150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Données et qualité</a:t>
            </a:r>
          </a:p>
        </p:txBody>
      </p:sp>
      <p:sp>
        <p:nvSpPr>
          <p:cNvPr id="48" name="Rectangle 47"/>
          <p:cNvSpPr/>
          <p:nvPr/>
        </p:nvSpPr>
        <p:spPr>
          <a:xfrm>
            <a:off x="10756800" y="2150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25</a:t>
            </a:r>
          </a:p>
        </p:txBody>
      </p:sp>
      <p:cxnSp>
        <p:nvCxnSpPr>
          <p:cNvPr id="49" name="Connector 48"/>
          <p:cNvCxnSpPr/>
          <p:nvPr/>
        </p:nvCxnSpPr>
        <p:spPr>
          <a:xfrm>
            <a:off x="932400" y="2580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1829250" y="2448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image.png"/>
          <p:cNvPicPr>
            <a:picLocks noChangeAspect="1"/>
          </p:cNvPicPr>
          <p:nvPr/>
        </p:nvPicPr>
        <p:blipFill>
          <a:blip r:embed="rId10"/>
          <a:stretch>
            <a:fillRect/>
          </a:stretch>
        </p:blipFill>
        <p:spPr>
          <a:xfrm>
            <a:off x="1882349" y="2501100"/>
            <a:ext cx="159300" cy="159300"/>
          </a:xfrm>
          <a:prstGeom prst="rect">
            <a:avLst/>
          </a:prstGeom>
        </p:spPr>
      </p:pic>
      <p:sp>
        <p:nvSpPr>
          <p:cNvPr id="52" name="Rectangle 51"/>
          <p:cNvSpPr/>
          <p:nvPr/>
        </p:nvSpPr>
        <p:spPr>
          <a:xfrm>
            <a:off x="2444400" y="2451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Effectifs et cotisations</a:t>
            </a:r>
          </a:p>
        </p:txBody>
      </p:sp>
      <p:sp>
        <p:nvSpPr>
          <p:cNvPr id="53" name="Rectangle 52"/>
          <p:cNvSpPr/>
          <p:nvPr/>
        </p:nvSpPr>
        <p:spPr>
          <a:xfrm>
            <a:off x="10756800" y="2451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34</a:t>
            </a:r>
          </a:p>
        </p:txBody>
      </p:sp>
      <p:cxnSp>
        <p:nvCxnSpPr>
          <p:cNvPr id="54" name="Connector 53"/>
          <p:cNvCxnSpPr/>
          <p:nvPr/>
        </p:nvCxnSpPr>
        <p:spPr>
          <a:xfrm>
            <a:off x="932400" y="2882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1829250" y="2749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image.png"/>
          <p:cNvPicPr>
            <a:picLocks noChangeAspect="1"/>
          </p:cNvPicPr>
          <p:nvPr/>
        </p:nvPicPr>
        <p:blipFill>
          <a:blip r:embed="rId11"/>
          <a:stretch>
            <a:fillRect/>
          </a:stretch>
        </p:blipFill>
        <p:spPr>
          <a:xfrm>
            <a:off x="1882349" y="2802599"/>
            <a:ext cx="159300" cy="159300"/>
          </a:xfrm>
          <a:prstGeom prst="rect">
            <a:avLst/>
          </a:prstGeom>
        </p:spPr>
      </p:pic>
      <p:sp>
        <p:nvSpPr>
          <p:cNvPr id="57" name="Rectangle 56"/>
          <p:cNvSpPr/>
          <p:nvPr/>
        </p:nvSpPr>
        <p:spPr>
          <a:xfrm>
            <a:off x="2444400" y="2753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Sinistralité et résultat</a:t>
            </a:r>
          </a:p>
        </p:txBody>
      </p:sp>
      <p:sp>
        <p:nvSpPr>
          <p:cNvPr id="58" name="Rectangle 57"/>
          <p:cNvSpPr/>
          <p:nvPr/>
        </p:nvSpPr>
        <p:spPr>
          <a:xfrm>
            <a:off x="10756800" y="2753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47</a:t>
            </a:r>
          </a:p>
        </p:txBody>
      </p:sp>
      <p:cxnSp>
        <p:nvCxnSpPr>
          <p:cNvPr id="59" name="Connector 58"/>
          <p:cNvCxnSpPr/>
          <p:nvPr/>
        </p:nvCxnSpPr>
        <p:spPr>
          <a:xfrm>
            <a:off x="932400" y="3183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1829250" y="3051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image.png"/>
          <p:cNvPicPr>
            <a:picLocks noChangeAspect="1"/>
          </p:cNvPicPr>
          <p:nvPr/>
        </p:nvPicPr>
        <p:blipFill>
          <a:blip r:embed="rId12"/>
          <a:stretch>
            <a:fillRect/>
          </a:stretch>
        </p:blipFill>
        <p:spPr>
          <a:xfrm>
            <a:off x="1882349" y="3104100"/>
            <a:ext cx="159300" cy="159300"/>
          </a:xfrm>
          <a:prstGeom prst="rect">
            <a:avLst/>
          </a:prstGeom>
        </p:spPr>
      </p:pic>
      <p:sp>
        <p:nvSpPr>
          <p:cNvPr id="62" name="Rectangle 61"/>
          <p:cNvSpPr/>
          <p:nvPr/>
        </p:nvSpPr>
        <p:spPr>
          <a:xfrm>
            <a:off x="2444400" y="3054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Épargne des mutualistes</a:t>
            </a:r>
          </a:p>
        </p:txBody>
      </p:sp>
      <p:sp>
        <p:nvSpPr>
          <p:cNvPr id="63" name="Rectangle 62"/>
          <p:cNvSpPr/>
          <p:nvPr/>
        </p:nvSpPr>
        <p:spPr>
          <a:xfrm>
            <a:off x="10756800" y="3054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55</a:t>
            </a:r>
          </a:p>
        </p:txBody>
      </p:sp>
      <p:cxnSp>
        <p:nvCxnSpPr>
          <p:cNvPr id="64" name="Connector 63"/>
          <p:cNvCxnSpPr/>
          <p:nvPr/>
        </p:nvCxnSpPr>
        <p:spPr>
          <a:xfrm>
            <a:off x="932400" y="3485249"/>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1829250" y="3352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image.png"/>
          <p:cNvPicPr>
            <a:picLocks noChangeAspect="1"/>
          </p:cNvPicPr>
          <p:nvPr/>
        </p:nvPicPr>
        <p:blipFill>
          <a:blip r:embed="rId13"/>
          <a:stretch>
            <a:fillRect/>
          </a:stretch>
        </p:blipFill>
        <p:spPr>
          <a:xfrm>
            <a:off x="1882349" y="3405599"/>
            <a:ext cx="159300" cy="159300"/>
          </a:xfrm>
          <a:prstGeom prst="rect">
            <a:avLst/>
          </a:prstGeom>
        </p:spPr>
      </p:pic>
      <p:sp>
        <p:nvSpPr>
          <p:cNvPr id="67" name="Rectangle 66"/>
          <p:cNvSpPr/>
          <p:nvPr/>
        </p:nvSpPr>
        <p:spPr>
          <a:xfrm>
            <a:off x="2444400" y="3356099"/>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Prêts du Grenier</a:t>
            </a:r>
          </a:p>
        </p:txBody>
      </p:sp>
      <p:sp>
        <p:nvSpPr>
          <p:cNvPr id="68" name="Rectangle 67"/>
          <p:cNvSpPr/>
          <p:nvPr/>
        </p:nvSpPr>
        <p:spPr>
          <a:xfrm>
            <a:off x="10756800" y="3356099"/>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63</a:t>
            </a:r>
          </a:p>
        </p:txBody>
      </p:sp>
      <p:cxnSp>
        <p:nvCxnSpPr>
          <p:cNvPr id="69" name="Connector 68"/>
          <p:cNvCxnSpPr/>
          <p:nvPr/>
        </p:nvCxnSpPr>
        <p:spPr>
          <a:xfrm>
            <a:off x="932400" y="3786749"/>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70" name="Oval 69"/>
          <p:cNvSpPr/>
          <p:nvPr/>
        </p:nvSpPr>
        <p:spPr>
          <a:xfrm>
            <a:off x="1829250" y="36539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image.png"/>
          <p:cNvPicPr>
            <a:picLocks noChangeAspect="1"/>
          </p:cNvPicPr>
          <p:nvPr/>
        </p:nvPicPr>
        <p:blipFill>
          <a:blip r:embed="rId14"/>
          <a:stretch>
            <a:fillRect/>
          </a:stretch>
        </p:blipFill>
        <p:spPr>
          <a:xfrm>
            <a:off x="1882349" y="3707100"/>
            <a:ext cx="159300" cy="159300"/>
          </a:xfrm>
          <a:prstGeom prst="rect">
            <a:avLst/>
          </a:prstGeom>
        </p:spPr>
      </p:pic>
      <p:sp>
        <p:nvSpPr>
          <p:cNvPr id="72" name="Rectangle 71"/>
          <p:cNvSpPr/>
          <p:nvPr/>
        </p:nvSpPr>
        <p:spPr>
          <a:xfrm>
            <a:off x="2444400" y="3657599"/>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Retraités et annexes</a:t>
            </a:r>
          </a:p>
        </p:txBody>
      </p:sp>
      <p:sp>
        <p:nvSpPr>
          <p:cNvPr id="73" name="Rectangle 72"/>
          <p:cNvSpPr/>
          <p:nvPr/>
        </p:nvSpPr>
        <p:spPr>
          <a:xfrm>
            <a:off x="10756800" y="3657599"/>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72</a:t>
            </a:r>
          </a:p>
        </p:txBody>
      </p:sp>
      <p:cxnSp>
        <p:nvCxnSpPr>
          <p:cNvPr id="74" name="Connector 73"/>
          <p:cNvCxnSpPr/>
          <p:nvPr/>
        </p:nvCxnSpPr>
        <p:spPr>
          <a:xfrm>
            <a:off x="932400" y="4088249"/>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1829250" y="3955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Picture 75" descr="image.png"/>
          <p:cNvPicPr>
            <a:picLocks noChangeAspect="1"/>
          </p:cNvPicPr>
          <p:nvPr/>
        </p:nvPicPr>
        <p:blipFill>
          <a:blip r:embed="rId15"/>
          <a:stretch>
            <a:fillRect/>
          </a:stretch>
        </p:blipFill>
        <p:spPr>
          <a:xfrm>
            <a:off x="1882349" y="4008600"/>
            <a:ext cx="159300" cy="159300"/>
          </a:xfrm>
          <a:prstGeom prst="rect">
            <a:avLst/>
          </a:prstGeom>
        </p:spPr>
      </p:pic>
      <p:sp>
        <p:nvSpPr>
          <p:cNvPr id="77" name="Rectangle 76"/>
          <p:cNvSpPr/>
          <p:nvPr/>
        </p:nvSpPr>
        <p:spPr>
          <a:xfrm>
            <a:off x="2444400" y="3959099"/>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Bilan et placements</a:t>
            </a:r>
          </a:p>
        </p:txBody>
      </p:sp>
      <p:sp>
        <p:nvSpPr>
          <p:cNvPr id="78" name="Rectangle 77"/>
          <p:cNvSpPr/>
          <p:nvPr/>
        </p:nvSpPr>
        <p:spPr>
          <a:xfrm>
            <a:off x="10756800" y="3959099"/>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75</a:t>
            </a:r>
          </a:p>
        </p:txBody>
      </p:sp>
      <p:cxnSp>
        <p:nvCxnSpPr>
          <p:cNvPr id="79" name="Connector 78"/>
          <p:cNvCxnSpPr/>
          <p:nvPr/>
        </p:nvCxnSpPr>
        <p:spPr>
          <a:xfrm>
            <a:off x="932400" y="4389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1829250" y="4257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1" name="Picture 80" descr="image.png"/>
          <p:cNvPicPr>
            <a:picLocks noChangeAspect="1"/>
          </p:cNvPicPr>
          <p:nvPr/>
        </p:nvPicPr>
        <p:blipFill>
          <a:blip r:embed="rId16"/>
          <a:stretch>
            <a:fillRect/>
          </a:stretch>
        </p:blipFill>
        <p:spPr>
          <a:xfrm>
            <a:off x="1882349" y="4310100"/>
            <a:ext cx="159300" cy="159300"/>
          </a:xfrm>
          <a:prstGeom prst="rect">
            <a:avLst/>
          </a:prstGeom>
        </p:spPr>
      </p:pic>
      <p:sp>
        <p:nvSpPr>
          <p:cNvPr id="82" name="Rectangle 81"/>
          <p:cNvSpPr/>
          <p:nvPr/>
        </p:nvSpPr>
        <p:spPr>
          <a:xfrm>
            <a:off x="2444400" y="4260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Conformité prudentielle</a:t>
            </a:r>
          </a:p>
        </p:txBody>
      </p:sp>
      <p:sp>
        <p:nvSpPr>
          <p:cNvPr id="83" name="Rectangle 82"/>
          <p:cNvSpPr/>
          <p:nvPr/>
        </p:nvSpPr>
        <p:spPr>
          <a:xfrm>
            <a:off x="10756800" y="4260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85</a:t>
            </a:r>
          </a:p>
        </p:txBody>
      </p:sp>
      <p:cxnSp>
        <p:nvCxnSpPr>
          <p:cNvPr id="84" name="Connector 83"/>
          <p:cNvCxnSpPr/>
          <p:nvPr/>
        </p:nvCxnSpPr>
        <p:spPr>
          <a:xfrm>
            <a:off x="932400" y="4691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85" name="Oval 84"/>
          <p:cNvSpPr/>
          <p:nvPr/>
        </p:nvSpPr>
        <p:spPr>
          <a:xfrm>
            <a:off x="1829250" y="4558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6" name="Picture 85" descr="image.png"/>
          <p:cNvPicPr>
            <a:picLocks noChangeAspect="1"/>
          </p:cNvPicPr>
          <p:nvPr/>
        </p:nvPicPr>
        <p:blipFill>
          <a:blip r:embed="rId17"/>
          <a:stretch>
            <a:fillRect/>
          </a:stretch>
        </p:blipFill>
        <p:spPr>
          <a:xfrm>
            <a:off x="1882349" y="4611600"/>
            <a:ext cx="159300" cy="159300"/>
          </a:xfrm>
          <a:prstGeom prst="rect">
            <a:avLst/>
          </a:prstGeom>
        </p:spPr>
      </p:pic>
      <p:sp>
        <p:nvSpPr>
          <p:cNvPr id="87" name="Rectangle 86"/>
          <p:cNvSpPr/>
          <p:nvPr/>
        </p:nvSpPr>
        <p:spPr>
          <a:xfrm>
            <a:off x="2444400" y="4562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Tables de mortalité</a:t>
            </a:r>
          </a:p>
        </p:txBody>
      </p:sp>
      <p:sp>
        <p:nvSpPr>
          <p:cNvPr id="88" name="Rectangle 87"/>
          <p:cNvSpPr/>
          <p:nvPr/>
        </p:nvSpPr>
        <p:spPr>
          <a:xfrm>
            <a:off x="10756800" y="4562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114</a:t>
            </a:r>
          </a:p>
        </p:txBody>
      </p:sp>
      <p:cxnSp>
        <p:nvCxnSpPr>
          <p:cNvPr id="89" name="Connector 88"/>
          <p:cNvCxnSpPr/>
          <p:nvPr/>
        </p:nvCxnSpPr>
        <p:spPr>
          <a:xfrm>
            <a:off x="932400" y="4992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90" name="Oval 89"/>
          <p:cNvSpPr/>
          <p:nvPr/>
        </p:nvSpPr>
        <p:spPr>
          <a:xfrm>
            <a:off x="1829250" y="4860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1" name="Picture 90" descr="image.png"/>
          <p:cNvPicPr>
            <a:picLocks noChangeAspect="1"/>
          </p:cNvPicPr>
          <p:nvPr/>
        </p:nvPicPr>
        <p:blipFill>
          <a:blip r:embed="rId18"/>
          <a:stretch>
            <a:fillRect/>
          </a:stretch>
        </p:blipFill>
        <p:spPr>
          <a:xfrm>
            <a:off x="1882349" y="4913100"/>
            <a:ext cx="159300" cy="159300"/>
          </a:xfrm>
          <a:prstGeom prst="rect">
            <a:avLst/>
          </a:prstGeom>
        </p:spPr>
      </p:pic>
      <p:sp>
        <p:nvSpPr>
          <p:cNvPr id="92" name="Rectangle 91"/>
          <p:cNvSpPr/>
          <p:nvPr/>
        </p:nvSpPr>
        <p:spPr>
          <a:xfrm>
            <a:off x="2444400" y="4863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Méthodes actuarielles</a:t>
            </a:r>
          </a:p>
        </p:txBody>
      </p:sp>
      <p:sp>
        <p:nvSpPr>
          <p:cNvPr id="93" name="Rectangle 92"/>
          <p:cNvSpPr/>
          <p:nvPr/>
        </p:nvSpPr>
        <p:spPr>
          <a:xfrm>
            <a:off x="10756800" y="4863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121</a:t>
            </a:r>
          </a:p>
        </p:txBody>
      </p:sp>
      <p:cxnSp>
        <p:nvCxnSpPr>
          <p:cNvPr id="94" name="Connector 93"/>
          <p:cNvCxnSpPr/>
          <p:nvPr/>
        </p:nvCxnSpPr>
        <p:spPr>
          <a:xfrm>
            <a:off x="932400" y="5294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95" name="Oval 94"/>
          <p:cNvSpPr/>
          <p:nvPr/>
        </p:nvSpPr>
        <p:spPr>
          <a:xfrm>
            <a:off x="1829250" y="5161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6" name="Picture 95" descr="image.png"/>
          <p:cNvPicPr>
            <a:picLocks noChangeAspect="1"/>
          </p:cNvPicPr>
          <p:nvPr/>
        </p:nvPicPr>
        <p:blipFill>
          <a:blip r:embed="rId19"/>
          <a:stretch>
            <a:fillRect/>
          </a:stretch>
        </p:blipFill>
        <p:spPr>
          <a:xfrm>
            <a:off x="1882349" y="5214600"/>
            <a:ext cx="159300" cy="159300"/>
          </a:xfrm>
          <a:prstGeom prst="rect">
            <a:avLst/>
          </a:prstGeom>
        </p:spPr>
      </p:pic>
      <p:sp>
        <p:nvSpPr>
          <p:cNvPr id="97" name="Rectangle 96"/>
          <p:cNvSpPr/>
          <p:nvPr/>
        </p:nvSpPr>
        <p:spPr>
          <a:xfrm>
            <a:off x="2444400" y="5165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Outils et traçabilité</a:t>
            </a:r>
          </a:p>
        </p:txBody>
      </p:sp>
      <p:sp>
        <p:nvSpPr>
          <p:cNvPr id="98" name="Rectangle 97"/>
          <p:cNvSpPr/>
          <p:nvPr/>
        </p:nvSpPr>
        <p:spPr>
          <a:xfrm>
            <a:off x="10756800" y="5165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128</a:t>
            </a:r>
          </a:p>
        </p:txBody>
      </p:sp>
      <p:cxnSp>
        <p:nvCxnSpPr>
          <p:cNvPr id="99" name="Connector 98"/>
          <p:cNvCxnSpPr/>
          <p:nvPr/>
        </p:nvCxnSpPr>
        <p:spPr>
          <a:xfrm>
            <a:off x="932400" y="5595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100" name="Oval 99"/>
          <p:cNvSpPr/>
          <p:nvPr/>
        </p:nvSpPr>
        <p:spPr>
          <a:xfrm>
            <a:off x="1829250" y="5463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1" name="Picture 100" descr="image.png"/>
          <p:cNvPicPr>
            <a:picLocks noChangeAspect="1"/>
          </p:cNvPicPr>
          <p:nvPr/>
        </p:nvPicPr>
        <p:blipFill>
          <a:blip r:embed="rId20"/>
          <a:stretch>
            <a:fillRect/>
          </a:stretch>
        </p:blipFill>
        <p:spPr>
          <a:xfrm>
            <a:off x="1882349" y="5516100"/>
            <a:ext cx="159300" cy="159300"/>
          </a:xfrm>
          <a:prstGeom prst="rect">
            <a:avLst/>
          </a:prstGeom>
        </p:spPr>
      </p:pic>
      <p:sp>
        <p:nvSpPr>
          <p:cNvPr id="102" name="Rectangle 101"/>
          <p:cNvSpPr/>
          <p:nvPr/>
        </p:nvSpPr>
        <p:spPr>
          <a:xfrm>
            <a:off x="2444400" y="5466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Analyses en attente</a:t>
            </a:r>
          </a:p>
        </p:txBody>
      </p:sp>
      <p:sp>
        <p:nvSpPr>
          <p:cNvPr id="103" name="Rectangle 102"/>
          <p:cNvSpPr/>
          <p:nvPr/>
        </p:nvSpPr>
        <p:spPr>
          <a:xfrm>
            <a:off x="10756800" y="5466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139</a:t>
            </a:r>
          </a:p>
        </p:txBody>
      </p:sp>
      <p:cxnSp>
        <p:nvCxnSpPr>
          <p:cNvPr id="104" name="Connector 103"/>
          <p:cNvCxnSpPr/>
          <p:nvPr/>
        </p:nvCxnSpPr>
        <p:spPr>
          <a:xfrm>
            <a:off x="932400" y="5897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105" name="Oval 104"/>
          <p:cNvSpPr/>
          <p:nvPr/>
        </p:nvSpPr>
        <p:spPr>
          <a:xfrm>
            <a:off x="1829250" y="5764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6" name="Picture 105" descr="image.png"/>
          <p:cNvPicPr>
            <a:picLocks noChangeAspect="1"/>
          </p:cNvPicPr>
          <p:nvPr/>
        </p:nvPicPr>
        <p:blipFill>
          <a:blip r:embed="rId21"/>
          <a:stretch>
            <a:fillRect/>
          </a:stretch>
        </p:blipFill>
        <p:spPr>
          <a:xfrm>
            <a:off x="1882349" y="5817600"/>
            <a:ext cx="159300" cy="159300"/>
          </a:xfrm>
          <a:prstGeom prst="rect">
            <a:avLst/>
          </a:prstGeom>
        </p:spPr>
      </p:pic>
      <p:sp>
        <p:nvSpPr>
          <p:cNvPr id="107" name="Rectangle 106"/>
          <p:cNvSpPr/>
          <p:nvPr/>
        </p:nvSpPr>
        <p:spPr>
          <a:xfrm>
            <a:off x="2444400" y="5768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Annexes</a:t>
            </a:r>
          </a:p>
        </p:txBody>
      </p:sp>
      <p:sp>
        <p:nvSpPr>
          <p:cNvPr id="108" name="Rectangle 107"/>
          <p:cNvSpPr/>
          <p:nvPr/>
        </p:nvSpPr>
        <p:spPr>
          <a:xfrm>
            <a:off x="10756800" y="5768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143</a:t>
            </a:r>
          </a:p>
        </p:txBody>
      </p:sp>
    </p:spTree>
    <p:extLst>
      <p:ext uri="{BB962C8B-B14F-4D97-AF65-F5344CB8AC3E}">
        <p14:creationId xmlns:p14="http://schemas.microsoft.com/office/powerpoint/2010/main" val="77577176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R</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Résumé exécutif</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Constats, chiffres clés, risques et actions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55161340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Résumé exécutif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dégage des excédents mais reste fragile, peu documenté et hors normes prudentielles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négatifs, épargne couverte à 16,28 % par des actifs dédiés, 14 ratios prudentiels non conformes sur 36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sur les documents reçus le 15/10/2026 et la documentation publique de l'AIRMS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 : Principaux constats au 15/10/2026</a:t>
            </a:r>
          </a:p>
        </p:txBody>
      </p:sp>
      <p:graphicFrame>
        <p:nvGraphicFramePr>
          <p:cNvPr id="32" name="Table 31"/>
          <p:cNvGraphicFramePr>
            <a:graphicFrameLocks noGrp="1"/>
          </p:cNvGraphicFramePr>
          <p:nvPr/>
        </p:nvGraphicFramePr>
        <p:xfrm>
          <a:off x="503999" y="1655999"/>
          <a:ext cx="11232000" cy="3109360"/>
        </p:xfrm>
        <a:graphic>
          <a:graphicData uri="http://schemas.openxmlformats.org/drawingml/2006/table">
            <a:tbl>
              <a:tblPr firstRow="0" bandRow="0">
                <a:tableStyleId>{5940675A-B579-460E-94D1-54222C63F5DA}</a:tableStyleId>
              </a:tblPr>
              <a:tblGrid>
                <a:gridCol w="1512000"/>
                <a:gridCol w="6192000"/>
                <a:gridCol w="3528000"/>
              </a:tblGrid>
              <a:tr h="210009">
                <a:tc>
                  <a:txBody>
                    <a:bodyPr/>
                    <a:lstStyle/>
                    <a:p>
                      <a:pPr marL="0" indent="0" lvl="0">
                        <a:buNone/>
                      </a:pPr>
                      <a:r>
                        <a:rPr sz="1000" b="1">
                          <a:solidFill>
                            <a:srgbClr val="FFFFFF"/>
                          </a:solidFill>
                          <a:latin typeface="Helvetica"/>
                        </a:rPr>
                        <a:t>Domaine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Constat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Chiffre clé</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Données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Les précomptes mensuels ne commencent qu'en 2023 ou 2024 selon le poste, et aucune base de prestations n'a été reçue.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4 454 416 lignes de précomptes contrôlées</a:t>
                      </a:r>
                    </a:p>
                  </a:txBody>
                  <a:tcPr marL="43200" marR="43200" marT="14400" marB="14400" anchor="ctr">
                    <a:solidFill>
                      <a:srgbClr val="FFFFFF"/>
                    </a:solidFill>
                  </a:tcPr>
                </a:tc>
              </a:tr>
              <a:tr h="514828">
                <a:tc>
                  <a:txBody>
                    <a:bodyPr/>
                    <a:lstStyle/>
                    <a:p>
                      <a:pPr marL="0" indent="0" lvl="0">
                        <a:buNone/>
                      </a:pPr>
                      <a:r>
                        <a:rPr sz="1000" b="1">
                          <a:solidFill>
                            <a:srgbClr val="060606"/>
                          </a:solidFill>
                          <a:latin typeface="Helvetica"/>
                        </a:rPr>
                        <a:t>Cotisations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 précompte total vaut 5 % du salaire de base, mais la Solde le répartit en 3,77 % maladie et 1,23 % décès, au lieu du barème indiqué par le responsable des sinistres et prestations lors de l'entretien du 16/10/2026 (3,5 % et 1,5 %).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5,00 % = 3,77 % + 1,23 %</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Les prestations maladie comptabilisées augmentent bien plus vite que les cotisations 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S/C 6,00 % (2021), 73,53 % (2025)</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Provisions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Les provisions pour prestations à payer gardent le même montant de 2020 à 2026, alors que les prestations ont fortement augmenté.</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4 829 298 290 FCFA</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L'épargne due aux mutualistes (PEP, EFC) dépasse largement les actifs qui lui sont réservés.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15 743 516 391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Fonds propres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Les fonds propres restent négatifs à chaque clôture, même si les excédents réduisent l'écart.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-438 242 200 FCFA (2025)</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Conformité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Les ratios de la Décision n° 05/2022 ne sont pas respectés pour la réserve obligatoire, les fonds propres, la liquidité et les frais de fonctionnement.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14 non conformes, 7 conformes, 15 en attente</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Grenier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 portefeuille de prêts croît très vite, et le FPPN le finance en grande partie.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1 044 302 107 FCFA d'encours</a:t>
                      </a:r>
                    </a:p>
                  </a:txBody>
                  <a:tcPr marL="43200" marR="43200" marT="14400" marB="14400" anchor="ctr">
                    <a:solidFill>
                      <a:srgbClr val="F2F2F2"/>
                    </a:solidFill>
                  </a:tcPr>
                </a:tc>
              </a:tr>
            </a:tbl>
          </a:graphicData>
        </a:graphic>
      </p:graphicFrame>
      <p:sp>
        <p:nvSpPr>
          <p:cNvPr id="33" name="TextBox 32"/>
          <p:cNvSpPr txBox="1"/>
          <p:nvPr/>
        </p:nvSpPr>
        <p:spPr>
          <a:xfrm>
            <a:off x="503999" y="4873363"/>
            <a:ext cx="11232000" cy="994636"/>
          </a:xfrm>
          <a:prstGeom prst="rect">
            <a:avLst/>
          </a:prstGeom>
          <a:noFill/>
        </p:spPr>
        <p:txBody>
          <a:bodyPr wrap="square" lIns="54000" rIns="54000"/>
          <a:lstStyle/>
          <a:p>
            <a:pPr algn="just">
              <a:spcAft>
                <a:spcPts val="600"/>
              </a:spcAft>
            </a:pPr>
            <a:r>
              <a:rPr sz="1300" b="1">
                <a:solidFill>
                  <a:srgbClr val="060606"/>
                </a:solidFill>
                <a:latin typeface="Helvetica"/>
              </a:rPr>
              <a:t>Les fragilités sont surtout financières et documentaires, pas d'exploitation.</a:t>
            </a:r>
            <a:r>
              <a:rPr sz="1300" b="0">
                <a:solidFill>
                  <a:srgbClr val="060606"/>
                </a:solidFill>
                <a:latin typeface="Helvetica"/>
              </a:rPr>
              <a:t> Le FPPN encaisse plus qu'il ne dépense chaque année depuis 2020, sauf sur les huit premiers mois de 2026.</a:t>
            </a:r>
          </a:p>
          <a:p>
            <a:pPr algn="just">
              <a:spcAft>
                <a:spcPts val="600"/>
              </a:spcAft>
            </a:pPr>
            <a:r>
              <a:rPr sz="1300" b="1">
                <a:solidFill>
                  <a:srgbClr val="060606"/>
                </a:solidFill>
                <a:latin typeface="Helvetica"/>
              </a:rPr>
              <a:t>Implication pour le FPPN.</a:t>
            </a:r>
            <a:r>
              <a:rPr sz="1300" b="0">
                <a:solidFill>
                  <a:srgbClr val="060606"/>
                </a:solidFill>
                <a:latin typeface="Helvetica"/>
              </a:rPr>
              <a:t> Les trois chantiers prioritaires sont la transmission des données manquantes, le recalcul des provisions et un plan de mise en conformité prudentielle à présenter à l'AIRMS.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PEP : Plan Épargne Plus | EFC : entraide fin de carrière | S/C : prestations / cotisations</a:t>
            </a:r>
          </a:p>
        </p:txBody>
      </p:sp>
    </p:spTree>
    <p:extLst>
      <p:ext uri="{BB962C8B-B14F-4D97-AF65-F5344CB8AC3E}">
        <p14:creationId xmlns:p14="http://schemas.microsoft.com/office/powerpoint/2010/main" val="265716806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Image 4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43" name="ZoneTexte 42">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17" name="Freeform 6"/>
          <p:cNvSpPr>
            <a:spLocks/>
          </p:cNvSpPr>
          <p:nvPr/>
        </p:nvSpPr>
        <p:spPr bwMode="auto">
          <a:xfrm>
            <a:off x="3056825" y="1419474"/>
            <a:ext cx="502110" cy="654841"/>
          </a:xfrm>
          <a:custGeom>
            <a:avLst/>
            <a:gdLst>
              <a:gd name="T0" fmla="*/ 56 w 69"/>
              <a:gd name="T1" fmla="*/ 0 h 90"/>
              <a:gd name="T2" fmla="*/ 0 w 69"/>
              <a:gd name="T3" fmla="*/ 0 h 90"/>
              <a:gd name="T4" fmla="*/ 0 w 69"/>
              <a:gd name="T5" fmla="*/ 90 h 90"/>
              <a:gd name="T6" fmla="*/ 56 w 69"/>
              <a:gd name="T7" fmla="*/ 90 h 90"/>
              <a:gd name="T8" fmla="*/ 69 w 69"/>
              <a:gd name="T9" fmla="*/ 77 h 90"/>
              <a:gd name="T10" fmla="*/ 69 w 69"/>
              <a:gd name="T11" fmla="*/ 13 h 90"/>
              <a:gd name="T12" fmla="*/ 56 w 69"/>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9" h="90">
                <a:moveTo>
                  <a:pt x="56" y="0"/>
                </a:moveTo>
                <a:cubicBezTo>
                  <a:pt x="0" y="0"/>
                  <a:pt x="0" y="0"/>
                  <a:pt x="0" y="0"/>
                </a:cubicBezTo>
                <a:cubicBezTo>
                  <a:pt x="0" y="90"/>
                  <a:pt x="0" y="90"/>
                  <a:pt x="0" y="90"/>
                </a:cubicBezTo>
                <a:cubicBezTo>
                  <a:pt x="56" y="90"/>
                  <a:pt x="56" y="90"/>
                  <a:pt x="56" y="90"/>
                </a:cubicBezTo>
                <a:cubicBezTo>
                  <a:pt x="63" y="90"/>
                  <a:pt x="69" y="84"/>
                  <a:pt x="69" y="77"/>
                </a:cubicBezTo>
                <a:cubicBezTo>
                  <a:pt x="69" y="13"/>
                  <a:pt x="69" y="13"/>
                  <a:pt x="69" y="13"/>
                </a:cubicBezTo>
                <a:cubicBezTo>
                  <a:pt x="69" y="6"/>
                  <a:pt x="63" y="0"/>
                  <a:pt x="56" y="0"/>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A</a:t>
            </a:r>
          </a:p>
        </p:txBody>
      </p:sp>
      <p:sp>
        <p:nvSpPr>
          <p:cNvPr id="18" name="Freeform 7"/>
          <p:cNvSpPr>
            <a:spLocks/>
          </p:cNvSpPr>
          <p:nvPr/>
        </p:nvSpPr>
        <p:spPr bwMode="auto">
          <a:xfrm>
            <a:off x="1361056" y="1419474"/>
            <a:ext cx="1652505" cy="654841"/>
          </a:xfrm>
          <a:custGeom>
            <a:avLst/>
            <a:gdLst>
              <a:gd name="T0" fmla="*/ 0 w 227"/>
              <a:gd name="T1" fmla="*/ 13 h 90"/>
              <a:gd name="T2" fmla="*/ 0 w 227"/>
              <a:gd name="T3" fmla="*/ 77 h 90"/>
              <a:gd name="T4" fmla="*/ 13 w 227"/>
              <a:gd name="T5" fmla="*/ 90 h 90"/>
              <a:gd name="T6" fmla="*/ 227 w 227"/>
              <a:gd name="T7" fmla="*/ 90 h 90"/>
              <a:gd name="T8" fmla="*/ 227 w 227"/>
              <a:gd name="T9" fmla="*/ 0 h 90"/>
              <a:gd name="T10" fmla="*/ 13 w 227"/>
              <a:gd name="T11" fmla="*/ 0 h 90"/>
              <a:gd name="T12" fmla="*/ 0 w 227"/>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7" h="90">
                <a:moveTo>
                  <a:pt x="0" y="13"/>
                </a:moveTo>
                <a:cubicBezTo>
                  <a:pt x="0" y="77"/>
                  <a:pt x="0" y="77"/>
                  <a:pt x="0" y="77"/>
                </a:cubicBezTo>
                <a:cubicBezTo>
                  <a:pt x="0" y="84"/>
                  <a:pt x="6" y="90"/>
                  <a:pt x="13" y="90"/>
                </a:cubicBezTo>
                <a:cubicBezTo>
                  <a:pt x="227" y="90"/>
                  <a:pt x="227" y="90"/>
                  <a:pt x="227" y="90"/>
                </a:cubicBezTo>
                <a:cubicBezTo>
                  <a:pt x="227" y="0"/>
                  <a:pt x="227" y="0"/>
                  <a:pt x="227" y="0"/>
                </a:cubicBezTo>
                <a:cubicBezTo>
                  <a:pt x="13" y="0"/>
                  <a:pt x="13" y="0"/>
                  <a:pt x="13" y="0"/>
                </a:cubicBezTo>
                <a:cubicBezTo>
                  <a:pt x="6" y="0"/>
                  <a:pt x="0" y="6"/>
                  <a:pt x="0" y="13"/>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Sinistralité maladie 2025</a:t>
            </a:r>
          </a:p>
        </p:txBody>
      </p:sp>
      <p:sp>
        <p:nvSpPr>
          <p:cNvPr id="19" name="Freeform 8"/>
          <p:cNvSpPr>
            <a:spLocks/>
          </p:cNvSpPr>
          <p:nvPr/>
        </p:nvSpPr>
        <p:spPr bwMode="auto">
          <a:xfrm>
            <a:off x="1383343" y="2766552"/>
            <a:ext cx="494899" cy="654841"/>
          </a:xfrm>
          <a:custGeom>
            <a:avLst/>
            <a:gdLst>
              <a:gd name="T0" fmla="*/ 12 w 68"/>
              <a:gd name="T1" fmla="*/ 0 h 90"/>
              <a:gd name="T2" fmla="*/ 68 w 68"/>
              <a:gd name="T3" fmla="*/ 0 h 90"/>
              <a:gd name="T4" fmla="*/ 68 w 68"/>
              <a:gd name="T5" fmla="*/ 90 h 90"/>
              <a:gd name="T6" fmla="*/ 12 w 68"/>
              <a:gd name="T7" fmla="*/ 90 h 90"/>
              <a:gd name="T8" fmla="*/ 0 w 68"/>
              <a:gd name="T9" fmla="*/ 77 h 90"/>
              <a:gd name="T10" fmla="*/ 0 w 68"/>
              <a:gd name="T11" fmla="*/ 13 h 90"/>
              <a:gd name="T12" fmla="*/ 12 w 68"/>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8" h="90">
                <a:moveTo>
                  <a:pt x="12" y="0"/>
                </a:moveTo>
                <a:cubicBezTo>
                  <a:pt x="68" y="0"/>
                  <a:pt x="68" y="0"/>
                  <a:pt x="68" y="0"/>
                </a:cubicBezTo>
                <a:cubicBezTo>
                  <a:pt x="68" y="90"/>
                  <a:pt x="68" y="90"/>
                  <a:pt x="68" y="90"/>
                </a:cubicBezTo>
                <a:cubicBezTo>
                  <a:pt x="12" y="90"/>
                  <a:pt x="12" y="90"/>
                  <a:pt x="12" y="90"/>
                </a:cubicBezTo>
                <a:cubicBezTo>
                  <a:pt x="5" y="90"/>
                  <a:pt x="0" y="84"/>
                  <a:pt x="0" y="77"/>
                </a:cubicBezTo>
                <a:cubicBezTo>
                  <a:pt x="0" y="13"/>
                  <a:pt x="0" y="13"/>
                  <a:pt x="0" y="13"/>
                </a:cubicBezTo>
                <a:cubicBezTo>
                  <a:pt x="0" y="6"/>
                  <a:pt x="5" y="0"/>
                  <a:pt x="12" y="0"/>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B</a:t>
            </a:r>
          </a:p>
        </p:txBody>
      </p:sp>
      <p:sp>
        <p:nvSpPr>
          <p:cNvPr id="28" name="Freeform 9"/>
          <p:cNvSpPr>
            <a:spLocks/>
          </p:cNvSpPr>
          <p:nvPr/>
        </p:nvSpPr>
        <p:spPr bwMode="auto">
          <a:xfrm>
            <a:off x="1928716" y="2766552"/>
            <a:ext cx="1645295" cy="654841"/>
          </a:xfrm>
          <a:custGeom>
            <a:avLst/>
            <a:gdLst>
              <a:gd name="T0" fmla="*/ 226 w 226"/>
              <a:gd name="T1" fmla="*/ 13 h 90"/>
              <a:gd name="T2" fmla="*/ 226 w 226"/>
              <a:gd name="T3" fmla="*/ 77 h 90"/>
              <a:gd name="T4" fmla="*/ 213 w 226"/>
              <a:gd name="T5" fmla="*/ 90 h 90"/>
              <a:gd name="T6" fmla="*/ 0 w 226"/>
              <a:gd name="T7" fmla="*/ 90 h 90"/>
              <a:gd name="T8" fmla="*/ 0 w 226"/>
              <a:gd name="T9" fmla="*/ 0 h 90"/>
              <a:gd name="T10" fmla="*/ 213 w 226"/>
              <a:gd name="T11" fmla="*/ 0 h 90"/>
              <a:gd name="T12" fmla="*/ 226 w 226"/>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6" h="90">
                <a:moveTo>
                  <a:pt x="226" y="13"/>
                </a:moveTo>
                <a:cubicBezTo>
                  <a:pt x="226" y="77"/>
                  <a:pt x="226" y="77"/>
                  <a:pt x="226" y="77"/>
                </a:cubicBezTo>
                <a:cubicBezTo>
                  <a:pt x="226" y="84"/>
                  <a:pt x="220" y="90"/>
                  <a:pt x="213" y="90"/>
                </a:cubicBezTo>
                <a:cubicBezTo>
                  <a:pt x="0" y="90"/>
                  <a:pt x="0" y="90"/>
                  <a:pt x="0" y="90"/>
                </a:cubicBezTo>
                <a:cubicBezTo>
                  <a:pt x="0" y="0"/>
                  <a:pt x="0" y="0"/>
                  <a:pt x="0" y="0"/>
                </a:cubicBezTo>
                <a:cubicBezTo>
                  <a:pt x="213" y="0"/>
                  <a:pt x="213" y="0"/>
                  <a:pt x="213" y="0"/>
                </a:cubicBezTo>
                <a:cubicBezTo>
                  <a:pt x="220" y="0"/>
                  <a:pt x="226" y="6"/>
                  <a:pt x="226" y="13"/>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Couverture de l'épargne</a:t>
            </a:r>
          </a:p>
        </p:txBody>
      </p:sp>
      <p:sp>
        <p:nvSpPr>
          <p:cNvPr id="30" name="Freeform 10"/>
          <p:cNvSpPr>
            <a:spLocks/>
          </p:cNvSpPr>
          <p:nvPr/>
        </p:nvSpPr>
        <p:spPr bwMode="auto">
          <a:xfrm>
            <a:off x="3093533" y="3988769"/>
            <a:ext cx="494899" cy="654841"/>
          </a:xfrm>
          <a:custGeom>
            <a:avLst/>
            <a:gdLst>
              <a:gd name="T0" fmla="*/ 55 w 68"/>
              <a:gd name="T1" fmla="*/ 0 h 90"/>
              <a:gd name="T2" fmla="*/ 0 w 68"/>
              <a:gd name="T3" fmla="*/ 0 h 90"/>
              <a:gd name="T4" fmla="*/ 0 w 68"/>
              <a:gd name="T5" fmla="*/ 90 h 90"/>
              <a:gd name="T6" fmla="*/ 55 w 68"/>
              <a:gd name="T7" fmla="*/ 90 h 90"/>
              <a:gd name="T8" fmla="*/ 68 w 68"/>
              <a:gd name="T9" fmla="*/ 77 h 90"/>
              <a:gd name="T10" fmla="*/ 68 w 68"/>
              <a:gd name="T11" fmla="*/ 13 h 90"/>
              <a:gd name="T12" fmla="*/ 55 w 68"/>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8" h="90">
                <a:moveTo>
                  <a:pt x="55" y="0"/>
                </a:moveTo>
                <a:cubicBezTo>
                  <a:pt x="0" y="0"/>
                  <a:pt x="0" y="0"/>
                  <a:pt x="0" y="0"/>
                </a:cubicBezTo>
                <a:cubicBezTo>
                  <a:pt x="0" y="90"/>
                  <a:pt x="0" y="90"/>
                  <a:pt x="0" y="90"/>
                </a:cubicBezTo>
                <a:cubicBezTo>
                  <a:pt x="55" y="90"/>
                  <a:pt x="55" y="90"/>
                  <a:pt x="55" y="90"/>
                </a:cubicBezTo>
                <a:cubicBezTo>
                  <a:pt x="63" y="90"/>
                  <a:pt x="68" y="84"/>
                  <a:pt x="68" y="77"/>
                </a:cubicBezTo>
                <a:cubicBezTo>
                  <a:pt x="68" y="13"/>
                  <a:pt x="68" y="13"/>
                  <a:pt x="68" y="13"/>
                </a:cubicBezTo>
                <a:cubicBezTo>
                  <a:pt x="68" y="5"/>
                  <a:pt x="63" y="0"/>
                  <a:pt x="55" y="0"/>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C</a:t>
            </a:r>
          </a:p>
        </p:txBody>
      </p:sp>
      <p:sp>
        <p:nvSpPr>
          <p:cNvPr id="31" name="Freeform 11"/>
          <p:cNvSpPr>
            <a:spLocks/>
          </p:cNvSpPr>
          <p:nvPr/>
        </p:nvSpPr>
        <p:spPr bwMode="auto">
          <a:xfrm>
            <a:off x="1397764" y="3988769"/>
            <a:ext cx="1644639" cy="654841"/>
          </a:xfrm>
          <a:custGeom>
            <a:avLst/>
            <a:gdLst>
              <a:gd name="T0" fmla="*/ 0 w 226"/>
              <a:gd name="T1" fmla="*/ 13 h 90"/>
              <a:gd name="T2" fmla="*/ 0 w 226"/>
              <a:gd name="T3" fmla="*/ 77 h 90"/>
              <a:gd name="T4" fmla="*/ 13 w 226"/>
              <a:gd name="T5" fmla="*/ 90 h 90"/>
              <a:gd name="T6" fmla="*/ 226 w 226"/>
              <a:gd name="T7" fmla="*/ 90 h 90"/>
              <a:gd name="T8" fmla="*/ 226 w 226"/>
              <a:gd name="T9" fmla="*/ 0 h 90"/>
              <a:gd name="T10" fmla="*/ 13 w 226"/>
              <a:gd name="T11" fmla="*/ 0 h 90"/>
              <a:gd name="T12" fmla="*/ 0 w 226"/>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6" h="90">
                <a:moveTo>
                  <a:pt x="0" y="13"/>
                </a:moveTo>
                <a:cubicBezTo>
                  <a:pt x="0" y="77"/>
                  <a:pt x="0" y="77"/>
                  <a:pt x="0" y="77"/>
                </a:cubicBezTo>
                <a:cubicBezTo>
                  <a:pt x="0" y="84"/>
                  <a:pt x="5" y="90"/>
                  <a:pt x="13" y="90"/>
                </a:cubicBezTo>
                <a:cubicBezTo>
                  <a:pt x="226" y="90"/>
                  <a:pt x="226" y="90"/>
                  <a:pt x="226" y="90"/>
                </a:cubicBezTo>
                <a:cubicBezTo>
                  <a:pt x="226" y="0"/>
                  <a:pt x="226" y="0"/>
                  <a:pt x="226" y="0"/>
                </a:cubicBezTo>
                <a:cubicBezTo>
                  <a:pt x="13" y="0"/>
                  <a:pt x="13" y="0"/>
                  <a:pt x="13" y="0"/>
                </a:cubicBezTo>
                <a:cubicBezTo>
                  <a:pt x="5" y="0"/>
                  <a:pt x="0" y="5"/>
                  <a:pt x="0" y="13"/>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Précompte des prêts</a:t>
            </a:r>
          </a:p>
        </p:txBody>
      </p:sp>
      <p:sp>
        <p:nvSpPr>
          <p:cNvPr id="32" name="Freeform 12"/>
          <p:cNvSpPr>
            <a:spLocks/>
          </p:cNvSpPr>
          <p:nvPr/>
        </p:nvSpPr>
        <p:spPr bwMode="auto">
          <a:xfrm>
            <a:off x="1412185" y="5316630"/>
            <a:ext cx="502110" cy="654841"/>
          </a:xfrm>
          <a:custGeom>
            <a:avLst/>
            <a:gdLst>
              <a:gd name="T0" fmla="*/ 13 w 69"/>
              <a:gd name="T1" fmla="*/ 0 h 90"/>
              <a:gd name="T2" fmla="*/ 69 w 69"/>
              <a:gd name="T3" fmla="*/ 0 h 90"/>
              <a:gd name="T4" fmla="*/ 69 w 69"/>
              <a:gd name="T5" fmla="*/ 90 h 90"/>
              <a:gd name="T6" fmla="*/ 13 w 69"/>
              <a:gd name="T7" fmla="*/ 90 h 90"/>
              <a:gd name="T8" fmla="*/ 0 w 69"/>
              <a:gd name="T9" fmla="*/ 77 h 90"/>
              <a:gd name="T10" fmla="*/ 0 w 69"/>
              <a:gd name="T11" fmla="*/ 13 h 90"/>
              <a:gd name="T12" fmla="*/ 13 w 69"/>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9" h="90">
                <a:moveTo>
                  <a:pt x="13" y="0"/>
                </a:moveTo>
                <a:cubicBezTo>
                  <a:pt x="69" y="0"/>
                  <a:pt x="69" y="0"/>
                  <a:pt x="69" y="0"/>
                </a:cubicBezTo>
                <a:cubicBezTo>
                  <a:pt x="69" y="90"/>
                  <a:pt x="69" y="90"/>
                  <a:pt x="69" y="90"/>
                </a:cubicBezTo>
                <a:cubicBezTo>
                  <a:pt x="13" y="90"/>
                  <a:pt x="13" y="90"/>
                  <a:pt x="13" y="90"/>
                </a:cubicBezTo>
                <a:cubicBezTo>
                  <a:pt x="6" y="90"/>
                  <a:pt x="0" y="84"/>
                  <a:pt x="0" y="77"/>
                </a:cubicBezTo>
                <a:cubicBezTo>
                  <a:pt x="0" y="13"/>
                  <a:pt x="0" y="13"/>
                  <a:pt x="0" y="13"/>
                </a:cubicBezTo>
                <a:cubicBezTo>
                  <a:pt x="0" y="5"/>
                  <a:pt x="6" y="0"/>
                  <a:pt x="13" y="0"/>
                </a:cubicBezTo>
                <a:close/>
              </a:path>
            </a:pathLst>
          </a:custGeom>
          <a:noFill/>
          <a:ln>
            <a:solidFill>
              <a:schemeClr val="accent2">
                <a:lumMod val="60000"/>
                <a:lumOff val="40000"/>
              </a:schemeClr>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D</a:t>
            </a:r>
          </a:p>
        </p:txBody>
      </p:sp>
      <p:sp>
        <p:nvSpPr>
          <p:cNvPr id="33" name="Freeform 13"/>
          <p:cNvSpPr>
            <a:spLocks/>
          </p:cNvSpPr>
          <p:nvPr/>
        </p:nvSpPr>
        <p:spPr bwMode="auto">
          <a:xfrm>
            <a:off x="1958213" y="5316630"/>
            <a:ext cx="1644639" cy="654841"/>
          </a:xfrm>
          <a:custGeom>
            <a:avLst/>
            <a:gdLst>
              <a:gd name="T0" fmla="*/ 226 w 226"/>
              <a:gd name="T1" fmla="*/ 13 h 90"/>
              <a:gd name="T2" fmla="*/ 226 w 226"/>
              <a:gd name="T3" fmla="*/ 77 h 90"/>
              <a:gd name="T4" fmla="*/ 214 w 226"/>
              <a:gd name="T5" fmla="*/ 90 h 90"/>
              <a:gd name="T6" fmla="*/ 0 w 226"/>
              <a:gd name="T7" fmla="*/ 90 h 90"/>
              <a:gd name="T8" fmla="*/ 0 w 226"/>
              <a:gd name="T9" fmla="*/ 0 h 90"/>
              <a:gd name="T10" fmla="*/ 214 w 226"/>
              <a:gd name="T11" fmla="*/ 0 h 90"/>
              <a:gd name="T12" fmla="*/ 226 w 226"/>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6" h="90">
                <a:moveTo>
                  <a:pt x="226" y="13"/>
                </a:moveTo>
                <a:cubicBezTo>
                  <a:pt x="226" y="77"/>
                  <a:pt x="226" y="77"/>
                  <a:pt x="226" y="77"/>
                </a:cubicBezTo>
                <a:cubicBezTo>
                  <a:pt x="226" y="84"/>
                  <a:pt x="221" y="90"/>
                  <a:pt x="214" y="90"/>
                </a:cubicBezTo>
                <a:cubicBezTo>
                  <a:pt x="0" y="90"/>
                  <a:pt x="0" y="90"/>
                  <a:pt x="0" y="90"/>
                </a:cubicBezTo>
                <a:cubicBezTo>
                  <a:pt x="0" y="0"/>
                  <a:pt x="0" y="0"/>
                  <a:pt x="0" y="0"/>
                </a:cubicBezTo>
                <a:cubicBezTo>
                  <a:pt x="214" y="0"/>
                  <a:pt x="214" y="0"/>
                  <a:pt x="214" y="0"/>
                </a:cubicBezTo>
                <a:cubicBezTo>
                  <a:pt x="221" y="0"/>
                  <a:pt x="226" y="5"/>
                  <a:pt x="226" y="13"/>
                </a:cubicBezTo>
                <a:close/>
              </a:path>
            </a:pathLst>
          </a:custGeom>
          <a:noFill/>
          <a:ln>
            <a:solidFill>
              <a:schemeClr val="accent2">
                <a:lumMod val="60000"/>
                <a:lumOff val="40000"/>
              </a:schemeClr>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Taux de cotisation</a:t>
            </a:r>
          </a:p>
        </p:txBody>
      </p:sp>
      <p:sp>
        <p:nvSpPr>
          <p:cNvPr id="38" name="TextBox 31"/>
          <p:cNvSpPr txBox="1">
            <a:spLocks noChangeArrowheads="1"/>
          </p:cNvSpPr>
          <p:nvPr/>
        </p:nvSpPr>
        <p:spPr bwMode="auto">
          <a:xfrm>
            <a:off x="4139775" y="1427111"/>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73,53 %</a:t>
            </a:r>
          </a:p>
        </p:txBody>
      </p:sp>
      <p:sp>
        <p:nvSpPr>
          <p:cNvPr id="39" name="TextBox 96"/>
          <p:cNvSpPr txBox="1"/>
          <p:nvPr/>
        </p:nvSpPr>
        <p:spPr>
          <a:xfrm>
            <a:off x="5621262" y="1350000"/>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Les prestations maladie comptabilisées représentent cette part des cotisations maladie de 2025. Ce ratio était de 6,00 % en 2021.</a:t>
            </a:r>
          </a:p>
        </p:txBody>
      </p:sp>
      <p:sp>
        <p:nvSpPr>
          <p:cNvPr id="42" name="TextBox 31"/>
          <p:cNvSpPr txBox="1">
            <a:spLocks noChangeArrowheads="1"/>
          </p:cNvSpPr>
          <p:nvPr/>
        </p:nvSpPr>
        <p:spPr bwMode="auto">
          <a:xfrm>
            <a:off x="4132468" y="2803714"/>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16,28 %</a:t>
            </a:r>
          </a:p>
        </p:txBody>
      </p:sp>
      <p:sp>
        <p:nvSpPr>
          <p:cNvPr id="46" name="TextBox 31"/>
          <p:cNvSpPr txBox="1">
            <a:spLocks noChangeArrowheads="1"/>
          </p:cNvSpPr>
          <p:nvPr/>
        </p:nvSpPr>
        <p:spPr bwMode="auto">
          <a:xfrm>
            <a:off x="4135359" y="4021323"/>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84,55 %</a:t>
            </a:r>
          </a:p>
        </p:txBody>
      </p:sp>
      <p:sp>
        <p:nvSpPr>
          <p:cNvPr id="50" name="TextBox 31"/>
          <p:cNvSpPr txBox="1">
            <a:spLocks noChangeArrowheads="1"/>
          </p:cNvSpPr>
          <p:nvPr/>
        </p:nvSpPr>
        <p:spPr bwMode="auto">
          <a:xfrm>
            <a:off x="4135359" y="5389553"/>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5,00 %</a:t>
            </a:r>
          </a:p>
        </p:txBody>
      </p:sp>
      <p:pic>
        <p:nvPicPr>
          <p:cNvPr id="5" name="Imag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3942" y="1459698"/>
            <a:ext cx="491517" cy="491517"/>
          </a:xfrm>
          <a:prstGeom prst="rect">
            <a:avLst/>
          </a:prstGeom>
        </p:spPr>
      </p:pic>
      <p:pic>
        <p:nvPicPr>
          <p:cNvPr id="6" name="Imag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85442" y="2848158"/>
            <a:ext cx="514311" cy="514311"/>
          </a:xfrm>
          <a:prstGeom prst="rect">
            <a:avLst/>
          </a:prstGeom>
        </p:spPr>
      </p:pic>
      <p:pic>
        <p:nvPicPr>
          <p:cNvPr id="7" name="Imag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24788" y="4050954"/>
            <a:ext cx="538212" cy="544470"/>
          </a:xfrm>
          <a:prstGeom prst="rect">
            <a:avLst/>
          </a:prstGeom>
        </p:spPr>
      </p:pic>
      <p:pic>
        <p:nvPicPr>
          <p:cNvPr id="8" name="Image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695657" y="5362112"/>
            <a:ext cx="529802" cy="541319"/>
          </a:xfrm>
          <a:prstGeom prst="rect">
            <a:avLst/>
          </a:prstGeom>
        </p:spPr>
      </p:pic>
      <p:sp>
        <p:nvSpPr>
          <p:cNvPr id="36" name="TextBox 96"/>
          <p:cNvSpPr txBox="1"/>
          <p:nvPr/>
        </p:nvSpPr>
        <p:spPr>
          <a:xfrm>
            <a:off x="5621262" y="2728901"/>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Les banques, dépôts à terme et fonds réservés à l'épargne couvrent cette part de l'épargne due au 31/08/2026.</a:t>
            </a:r>
          </a:p>
        </p:txBody>
      </p:sp>
      <p:cxnSp>
        <p:nvCxnSpPr>
          <p:cNvPr id="53" name="Straight Connector 2"/>
          <p:cNvCxnSpPr/>
          <p:nvPr/>
        </p:nvCxnSpPr>
        <p:spPr>
          <a:xfrm>
            <a:off x="5419816" y="1350000"/>
            <a:ext cx="0" cy="896210"/>
          </a:xfrm>
          <a:prstGeom prst="line">
            <a:avLst/>
          </a:prstGeom>
          <a:ln>
            <a:solidFill>
              <a:srgbClr val="EFAC62"/>
            </a:solidFill>
          </a:ln>
        </p:spPr>
        <p:style>
          <a:lnRef idx="1">
            <a:schemeClr val="accent2"/>
          </a:lnRef>
          <a:fillRef idx="0">
            <a:schemeClr val="accent2"/>
          </a:fillRef>
          <a:effectRef idx="0">
            <a:schemeClr val="accent2"/>
          </a:effectRef>
          <a:fontRef idx="minor">
            <a:schemeClr val="tx1"/>
          </a:fontRef>
        </p:style>
      </p:cxnSp>
      <p:cxnSp>
        <p:nvCxnSpPr>
          <p:cNvPr id="59" name="Straight Connector 41"/>
          <p:cNvCxnSpPr/>
          <p:nvPr/>
        </p:nvCxnSpPr>
        <p:spPr>
          <a:xfrm>
            <a:off x="10756527" y="1350000"/>
            <a:ext cx="0" cy="896210"/>
          </a:xfrm>
          <a:prstGeom prst="line">
            <a:avLst/>
          </a:prstGeom>
          <a:ln>
            <a:solidFill>
              <a:srgbClr val="EFAC62"/>
            </a:solidFill>
          </a:ln>
        </p:spPr>
        <p:style>
          <a:lnRef idx="1">
            <a:schemeClr val="accent2"/>
          </a:lnRef>
          <a:fillRef idx="0">
            <a:schemeClr val="accent2"/>
          </a:fillRef>
          <a:effectRef idx="0">
            <a:schemeClr val="accent2"/>
          </a:effectRef>
          <a:fontRef idx="minor">
            <a:schemeClr val="tx1"/>
          </a:fontRef>
        </p:style>
      </p:cxnSp>
      <p:cxnSp>
        <p:nvCxnSpPr>
          <p:cNvPr id="37" name="Straight Connector 2"/>
          <p:cNvCxnSpPr/>
          <p:nvPr/>
        </p:nvCxnSpPr>
        <p:spPr>
          <a:xfrm>
            <a:off x="5419816" y="2638944"/>
            <a:ext cx="0" cy="896210"/>
          </a:xfrm>
          <a:prstGeom prst="line">
            <a:avLst/>
          </a:prstGeom>
          <a:ln>
            <a:solidFill>
              <a:srgbClr val="EFAC62"/>
            </a:solidFill>
          </a:ln>
        </p:spPr>
        <p:style>
          <a:lnRef idx="1">
            <a:schemeClr val="accent2"/>
          </a:lnRef>
          <a:fillRef idx="0">
            <a:schemeClr val="accent2"/>
          </a:fillRef>
          <a:effectRef idx="0">
            <a:schemeClr val="accent2"/>
          </a:effectRef>
          <a:fontRef idx="minor">
            <a:schemeClr val="tx1"/>
          </a:fontRef>
        </p:style>
      </p:cxnSp>
      <p:cxnSp>
        <p:nvCxnSpPr>
          <p:cNvPr id="40" name="Straight Connector 41"/>
          <p:cNvCxnSpPr/>
          <p:nvPr/>
        </p:nvCxnSpPr>
        <p:spPr>
          <a:xfrm>
            <a:off x="10756527" y="2638944"/>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sp>
        <p:nvSpPr>
          <p:cNvPr id="41" name="TextBox 96"/>
          <p:cNvSpPr txBox="1"/>
          <p:nvPr/>
        </p:nvSpPr>
        <p:spPr>
          <a:xfrm>
            <a:off x="5621262" y="4021323"/>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Les précomptes du Grenier (poste 9X4) couvrent cette part des échéances des prêts en cours en août 2026.</a:t>
            </a:r>
          </a:p>
        </p:txBody>
      </p:sp>
      <p:cxnSp>
        <p:nvCxnSpPr>
          <p:cNvPr id="44" name="Straight Connector 2"/>
          <p:cNvCxnSpPr/>
          <p:nvPr/>
        </p:nvCxnSpPr>
        <p:spPr>
          <a:xfrm>
            <a:off x="5419816" y="3931367"/>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cxnSp>
        <p:nvCxnSpPr>
          <p:cNvPr id="45" name="Straight Connector 41"/>
          <p:cNvCxnSpPr/>
          <p:nvPr/>
        </p:nvCxnSpPr>
        <p:spPr>
          <a:xfrm>
            <a:off x="10756527" y="3931367"/>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sp>
        <p:nvSpPr>
          <p:cNvPr id="48" name="TextBox 96"/>
          <p:cNvSpPr txBox="1"/>
          <p:nvPr/>
        </p:nvSpPr>
        <p:spPr>
          <a:xfrm>
            <a:off x="5621262" y="5313746"/>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 précompte total sur le salaire de base se répartit en 3,77 % maladie et 1,23 % décès, sur 209 670 lignes.</a:t>
            </a:r>
          </a:p>
        </p:txBody>
      </p:sp>
      <p:cxnSp>
        <p:nvCxnSpPr>
          <p:cNvPr id="49" name="Straight Connector 2"/>
          <p:cNvCxnSpPr/>
          <p:nvPr/>
        </p:nvCxnSpPr>
        <p:spPr>
          <a:xfrm>
            <a:off x="5419816" y="5223789"/>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cxnSp>
        <p:nvCxnSpPr>
          <p:cNvPr id="63" name="Straight Connector 41"/>
          <p:cNvCxnSpPr/>
          <p:nvPr/>
        </p:nvCxnSpPr>
        <p:spPr>
          <a:xfrm>
            <a:off x="10756527" y="5223789"/>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sp>
        <p:nvSpPr>
          <p:cNvPr id="64"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Quatre indicateurs clés</a:t>
            </a:r>
          </a:p>
        </p:txBody>
      </p:sp>
      <p:sp>
        <p:nvSpPr>
          <p:cNvPr id="65"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ratios résument la situation technique et financière du FPPN</a:t>
            </a:r>
          </a:p>
        </p:txBody>
      </p:sp>
      <p:sp>
        <p:nvSpPr>
          <p:cNvPr id="66"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Sinistralité maladie, couverture de l'épargne, précompte des prêts et taux de cotisation, mesurés sur les données reçues</a:t>
            </a:r>
          </a:p>
        </p:txBody>
      </p:sp>
      <p:sp>
        <p:nvSpPr>
          <p:cNvPr id="67"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68" name="TextBox 6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9X4 : poste Grenier</a:t>
            </a:r>
          </a:p>
        </p:txBody>
      </p:sp>
    </p:spTree>
    <p:extLst>
      <p:ext uri="{BB962C8B-B14F-4D97-AF65-F5344CB8AC3E}">
        <p14:creationId xmlns:p14="http://schemas.microsoft.com/office/powerpoint/2010/main" val="166854283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Fonctionnement du FPPN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et l'épargne financent prestations, prêts et investissements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2025 : 3 417 551 722 FCFA de cotisations, 1 964 772 027 FCFA de prestations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1" name="Rounded Rectangle 30"/>
          <p:cNvSpPr/>
          <p:nvPr/>
        </p:nvSpPr>
        <p:spPr>
          <a:xfrm>
            <a:off x="503999" y="2484000"/>
            <a:ext cx="2160000" cy="1152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Mutualistes</a:t>
            </a:r>
          </a:p>
          <a:p>
            <a:pPr algn="ctr"/>
            <a:r>
              <a:rPr sz="1400" b="0">
                <a:solidFill>
                  <a:srgbClr val="FFFFFF"/>
                </a:solidFill>
                <a:latin typeface="Helvetica"/>
              </a:rPr>
              <a:t>actifs et retraités</a:t>
            </a:r>
          </a:p>
        </p:txBody>
      </p:sp>
      <p:sp>
        <p:nvSpPr>
          <p:cNvPr id="32" name="Rounded Rectangle 31"/>
          <p:cNvSpPr/>
          <p:nvPr/>
        </p:nvSpPr>
        <p:spPr>
          <a:xfrm>
            <a:off x="3240000" y="1584000"/>
            <a:ext cx="2232000" cy="864000"/>
          </a:xfrm>
          <a:prstGeom prst="roundRect">
            <a:avLst/>
          </a:prstGeom>
          <a:solidFill>
            <a:srgbClr val="F2F2F2"/>
          </a:solid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400" b="1">
                <a:solidFill>
                  <a:srgbClr val="060606"/>
                </a:solidFill>
                <a:latin typeface="Helvetica"/>
              </a:rPr>
              <a:t>Solde (actifs)</a:t>
            </a:r>
          </a:p>
        </p:txBody>
      </p:sp>
      <p:sp>
        <p:nvSpPr>
          <p:cNvPr id="33" name="Rounded Rectangle 32"/>
          <p:cNvSpPr/>
          <p:nvPr/>
        </p:nvSpPr>
        <p:spPr>
          <a:xfrm>
            <a:off x="3240000" y="3671999"/>
            <a:ext cx="2232000" cy="864000"/>
          </a:xfrm>
          <a:prstGeom prst="roundRect">
            <a:avLst/>
          </a:prstGeom>
          <a:solidFill>
            <a:srgbClr val="F2F2F2"/>
          </a:solid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400" b="1">
                <a:solidFill>
                  <a:srgbClr val="060606"/>
                </a:solidFill>
                <a:latin typeface="Helvetica"/>
              </a:rPr>
              <a:t>CGRAE (retraités)</a:t>
            </a:r>
          </a:p>
        </p:txBody>
      </p:sp>
      <p:sp>
        <p:nvSpPr>
          <p:cNvPr id="34" name="Rounded Rectangle 33"/>
          <p:cNvSpPr/>
          <p:nvPr/>
        </p:nvSpPr>
        <p:spPr>
          <a:xfrm>
            <a:off x="6048000" y="2340000"/>
            <a:ext cx="2376000" cy="1440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060606"/>
                </a:solidFill>
                <a:latin typeface="Helvetica"/>
              </a:rPr>
              <a:t>FPPN</a:t>
            </a:r>
          </a:p>
          <a:p>
            <a:pPr algn="ctr"/>
            <a:r>
              <a:rPr sz="1400" b="0">
                <a:solidFill>
                  <a:srgbClr val="060606"/>
                </a:solidFill>
                <a:latin typeface="Helvetica"/>
              </a:rPr>
              <a:t>Cotisations 3 417 551 722 FCFA</a:t>
            </a:r>
          </a:p>
        </p:txBody>
      </p:sp>
      <p:sp>
        <p:nvSpPr>
          <p:cNvPr id="35" name="Rounded Rectangle 34"/>
          <p:cNvSpPr/>
          <p:nvPr/>
        </p:nvSpPr>
        <p:spPr>
          <a:xfrm>
            <a:off x="9072000" y="1422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Prestations maladie</a:t>
            </a:r>
          </a:p>
          <a:p>
            <a:pPr algn="ctr"/>
            <a:r>
              <a:rPr sz="1000" b="0">
                <a:solidFill>
                  <a:srgbClr val="FFFFFF"/>
                </a:solidFill>
                <a:latin typeface="Helvetica"/>
              </a:rPr>
              <a:t>1 771 635 361 FCFA</a:t>
            </a:r>
          </a:p>
        </p:txBody>
      </p:sp>
      <p:cxnSp>
        <p:nvCxnSpPr>
          <p:cNvPr id="36" name="Connector 35"/>
          <p:cNvCxnSpPr/>
          <p:nvPr/>
        </p:nvCxnSpPr>
        <p:spPr>
          <a:xfrm flipV="1">
            <a:off x="8424000" y="1800000"/>
            <a:ext cx="648000" cy="1260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072000" y="2358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Prestations décès</a:t>
            </a:r>
          </a:p>
          <a:p>
            <a:pPr algn="ctr"/>
            <a:r>
              <a:rPr sz="1000" b="0">
                <a:solidFill>
                  <a:srgbClr val="FFFFFF"/>
                </a:solidFill>
                <a:latin typeface="Helvetica"/>
              </a:rPr>
              <a:t>193 136 666 FCFA</a:t>
            </a:r>
          </a:p>
        </p:txBody>
      </p:sp>
      <p:cxnSp>
        <p:nvCxnSpPr>
          <p:cNvPr id="38" name="Connector 37"/>
          <p:cNvCxnSpPr/>
          <p:nvPr/>
        </p:nvCxnSpPr>
        <p:spPr>
          <a:xfrm flipV="1">
            <a:off x="8424000" y="2736000"/>
            <a:ext cx="648000" cy="324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9072000" y="3293999"/>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Épargne PEP et EFC</a:t>
            </a:r>
          </a:p>
          <a:p>
            <a:pPr algn="ctr"/>
            <a:r>
              <a:rPr sz="1000" b="0">
                <a:solidFill>
                  <a:srgbClr val="FFFFFF"/>
                </a:solidFill>
                <a:latin typeface="Helvetica"/>
              </a:rPr>
              <a:t>15 743 516 391 FCFA</a:t>
            </a:r>
          </a:p>
        </p:txBody>
      </p:sp>
      <p:cxnSp>
        <p:nvCxnSpPr>
          <p:cNvPr id="40" name="Connector 39"/>
          <p:cNvCxnSpPr/>
          <p:nvPr/>
        </p:nvCxnSpPr>
        <p:spPr>
          <a:xfrm>
            <a:off x="8424000" y="3060000"/>
            <a:ext cx="648000" cy="611999"/>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9072000" y="4230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Prêts du Grenier</a:t>
            </a:r>
          </a:p>
          <a:p>
            <a:pPr algn="ctr"/>
            <a:r>
              <a:rPr sz="1000" b="0">
                <a:solidFill>
                  <a:srgbClr val="FFFFFF"/>
                </a:solidFill>
                <a:latin typeface="Helvetica"/>
              </a:rPr>
              <a:t>915 477 260 FCFA</a:t>
            </a:r>
          </a:p>
        </p:txBody>
      </p:sp>
      <p:cxnSp>
        <p:nvCxnSpPr>
          <p:cNvPr id="42" name="Connector 41"/>
          <p:cNvCxnSpPr/>
          <p:nvPr/>
        </p:nvCxnSpPr>
        <p:spPr>
          <a:xfrm>
            <a:off x="8424000" y="3060000"/>
            <a:ext cx="648000" cy="1548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072000" y="5058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CMP et terrains</a:t>
            </a:r>
          </a:p>
          <a:p>
            <a:pPr algn="ctr"/>
            <a:r>
              <a:rPr sz="1000" b="0">
                <a:solidFill>
                  <a:srgbClr val="FFFFFF"/>
                </a:solidFill>
                <a:latin typeface="Helvetica"/>
              </a:rPr>
              <a:t>12 329 431 315 FCFA</a:t>
            </a:r>
          </a:p>
        </p:txBody>
      </p:sp>
      <p:cxnSp>
        <p:nvCxnSpPr>
          <p:cNvPr id="44" name="Connector 43"/>
          <p:cNvCxnSpPr/>
          <p:nvPr/>
        </p:nvCxnSpPr>
        <p:spPr>
          <a:xfrm>
            <a:off x="8424000" y="3060000"/>
            <a:ext cx="648000" cy="2376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2664000" y="2015999"/>
            <a:ext cx="576000" cy="828001"/>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2664000" y="3276000"/>
            <a:ext cx="576000" cy="828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472000" y="2015999"/>
            <a:ext cx="576000" cy="756001"/>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5472000" y="3348000"/>
            <a:ext cx="576000" cy="756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03999" y="4752000"/>
            <a:ext cx="8136000" cy="1116000"/>
          </a:xfrm>
          <a:prstGeom prst="rect">
            <a:avLst/>
          </a:prstGeom>
          <a:noFill/>
        </p:spPr>
        <p:txBody>
          <a:bodyPr wrap="square" lIns="54000" rIns="54000"/>
          <a:lstStyle/>
          <a:p>
            <a:pPr algn="just">
              <a:spcAft>
                <a:spcPts val="600"/>
              </a:spcAft>
            </a:pPr>
            <a:r>
              <a:rPr sz="1200" b="1">
                <a:solidFill>
                  <a:srgbClr val="060606"/>
                </a:solidFill>
                <a:latin typeface="Helvetica"/>
              </a:rPr>
              <a:t>L'épargne des mutualistes est la ressource la plus importante du FPPN, devant les cotisations.</a:t>
            </a:r>
            <a:r>
              <a:rPr sz="1200" b="0">
                <a:solidFill>
                  <a:srgbClr val="060606"/>
                </a:solidFill>
                <a:latin typeface="Helvetica"/>
              </a:rPr>
              <a:t> Elle atteint 15 743 516 391 FCFA au 31/08/2026, soit plus de quatre fois les cotisations de 2025.</a:t>
            </a:r>
          </a:p>
          <a:p>
            <a:pPr algn="just">
              <a:spcAft>
                <a:spcPts val="600"/>
              </a:spcAft>
            </a:pPr>
            <a:r>
              <a:rPr sz="1200" b="1">
                <a:solidFill>
                  <a:srgbClr val="060606"/>
                </a:solidFill>
                <a:latin typeface="Helvetica"/>
              </a:rPr>
              <a:t>Implication pour le FPPN.</a:t>
            </a:r>
            <a:r>
              <a:rPr sz="1200" b="0">
                <a:solidFill>
                  <a:srgbClr val="060606"/>
                </a:solidFill>
                <a:latin typeface="Helvetica"/>
              </a:rPr>
              <a:t> Le FPPN emploie cette épargne en partie dans des actifs peu liquides (CMP, terrains, prêts) : sa capacité à rembourser les épargnants est le premier enjeu de la mission.</a:t>
            </a:r>
          </a:p>
        </p:txBody>
      </p:sp>
      <p:sp>
        <p:nvSpPr>
          <p:cNvPr id="50" name="TextBox 4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CMP : sigle des comptes du FPPN, signification à confirmer</a:t>
            </a:r>
          </a:p>
        </p:txBody>
      </p:sp>
    </p:spTree>
    <p:extLst>
      <p:ext uri="{BB962C8B-B14F-4D97-AF65-F5344CB8AC3E}">
        <p14:creationId xmlns:p14="http://schemas.microsoft.com/office/powerpoint/2010/main" val="59394195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7"/>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9" name="ZoneTexte 28">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33" name="Image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5360" y="1696495"/>
            <a:ext cx="561464" cy="561464"/>
          </a:xfrm>
          <a:prstGeom prst="rect">
            <a:avLst/>
          </a:prstGeom>
        </p:spPr>
      </p:pic>
      <p:pic>
        <p:nvPicPr>
          <p:cNvPr id="34" name="Image 3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28579" y="1762812"/>
            <a:ext cx="542282" cy="542282"/>
          </a:xfrm>
          <a:prstGeom prst="rect">
            <a:avLst/>
          </a:prstGeom>
        </p:spPr>
      </p:pic>
      <p:pic>
        <p:nvPicPr>
          <p:cNvPr id="35" name="Image 3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5360" y="3093364"/>
            <a:ext cx="698701" cy="706825"/>
          </a:xfrm>
          <a:prstGeom prst="rect">
            <a:avLst/>
          </a:prstGeom>
        </p:spPr>
      </p:pic>
      <p:pic>
        <p:nvPicPr>
          <p:cNvPr id="36" name="Image 3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59430" y="3093364"/>
            <a:ext cx="611431" cy="624722"/>
          </a:xfrm>
          <a:prstGeom prst="rect">
            <a:avLst/>
          </a:prstGeom>
        </p:spPr>
      </p:pic>
      <p:pic>
        <p:nvPicPr>
          <p:cNvPr id="44" name="Image 4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35360" y="4454973"/>
            <a:ext cx="678177" cy="678177"/>
          </a:xfrm>
          <a:prstGeom prst="rect">
            <a:avLst/>
          </a:prstGeom>
        </p:spPr>
      </p:pic>
      <p:pic>
        <p:nvPicPr>
          <p:cNvPr id="45" name="Image 4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272615" y="4594783"/>
            <a:ext cx="598246" cy="598246"/>
          </a:xfrm>
          <a:prstGeom prst="rect">
            <a:avLst/>
          </a:prstGeom>
        </p:spPr>
      </p:pic>
      <p:sp>
        <p:nvSpPr>
          <p:cNvPr id="17" name="TextBox 49"/>
          <p:cNvSpPr txBox="1"/>
          <p:nvPr/>
        </p:nvSpPr>
        <p:spPr>
          <a:xfrm>
            <a:off x="7085829" y="1404489"/>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Sinistralité en hausse</a:t>
            </a:r>
          </a:p>
          <a:p>
            <a:r>
              <a:rPr lang="fr-CI" sz="1200" noProof="0">
                <a:latin typeface="Helvetica" panose="020B0604020202020204" pitchFamily="34" charset="0"/>
                <a:ea typeface="Open Sans Light" panose="020B0306030504020204" pitchFamily="34" charset="0"/>
                <a:cs typeface="Helvetica" panose="020B0604020202020204" pitchFamily="34" charset="0"/>
              </a:rPr>
              <a:t>Le S/C maladie passe de 6,00 % en 2021 à 73,53 % en 2025 (partie 5).</a:t>
            </a:r>
            <a:endParaRPr lang="fr-CI" sz="1200" noProof="0">
              <a:latin typeface="Helvetica" panose="020B0604020202020204" pitchFamily="34" charset="0"/>
              <a:cs typeface="Helvetica" panose="020B0604020202020204" pitchFamily="34" charset="0"/>
            </a:endParaRPr>
          </a:p>
        </p:txBody>
      </p:sp>
      <p:sp>
        <p:nvSpPr>
          <p:cNvPr id="20" name="TextBox 49"/>
          <p:cNvSpPr txBox="1"/>
          <p:nvPr/>
        </p:nvSpPr>
        <p:spPr>
          <a:xfrm>
            <a:off x="1932614" y="2848076"/>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Provisions figées</a:t>
            </a:r>
          </a:p>
          <a:p>
            <a:r>
              <a:rPr lang="fr-CI" sz="1200" noProof="0">
                <a:latin typeface="Helvetica" panose="020B0604020202020204" pitchFamily="34" charset="0"/>
                <a:ea typeface="Open Sans Light" panose="020B0306030504020204" pitchFamily="34" charset="0"/>
                <a:cs typeface="Helvetica" panose="020B0604020202020204" pitchFamily="34" charset="0"/>
              </a:rPr>
              <a:t>Les provisions gardent le même montant depuis 2020, alors que les prestations ont été multipliées par 3,90 (partie 9).</a:t>
            </a:r>
            <a:endParaRPr lang="fr-CI" sz="1200" noProof="0">
              <a:latin typeface="Helvetica" panose="020B0604020202020204" pitchFamily="34" charset="0"/>
              <a:cs typeface="Helvetica" panose="020B0604020202020204" pitchFamily="34" charset="0"/>
            </a:endParaRPr>
          </a:p>
        </p:txBody>
      </p:sp>
      <p:sp>
        <p:nvSpPr>
          <p:cNvPr id="21" name="TextBox 49"/>
          <p:cNvSpPr txBox="1"/>
          <p:nvPr/>
        </p:nvSpPr>
        <p:spPr>
          <a:xfrm>
            <a:off x="7085829" y="2818934"/>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Épargne non adossée</a:t>
            </a:r>
          </a:p>
          <a:p>
            <a:r>
              <a:rPr lang="fr-CI" sz="1200" noProof="0">
                <a:latin typeface="Helvetica" panose="020B0604020202020204" pitchFamily="34" charset="0"/>
                <a:ea typeface="Open Sans Light" panose="020B0306030504020204" pitchFamily="34" charset="0"/>
                <a:cs typeface="Helvetica" panose="020B0604020202020204" pitchFamily="34" charset="0"/>
              </a:rPr>
              <a:t>Des actifs réservés couvrent seulement 16,28 % de l'épargne due (partie 6).</a:t>
            </a:r>
            <a:endParaRPr lang="fr-CI" sz="1200" noProof="0">
              <a:latin typeface="Helvetica" panose="020B0604020202020204" pitchFamily="34" charset="0"/>
              <a:cs typeface="Helvetica" panose="020B0604020202020204" pitchFamily="34" charset="0"/>
            </a:endParaRPr>
          </a:p>
        </p:txBody>
      </p:sp>
      <p:sp>
        <p:nvSpPr>
          <p:cNvPr id="24" name="TextBox 49"/>
          <p:cNvSpPr txBox="1"/>
          <p:nvPr/>
        </p:nvSpPr>
        <p:spPr>
          <a:xfrm>
            <a:off x="1932614" y="4227172"/>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Fonds propres négatifs</a:t>
            </a:r>
          </a:p>
          <a:p>
            <a:r>
              <a:rPr lang="fr-CI" sz="1200" noProof="0">
                <a:latin typeface="Helvetica" panose="020B0604020202020204" pitchFamily="34" charset="0"/>
                <a:ea typeface="Open Sans Light" panose="020B0306030504020204" pitchFamily="34" charset="0"/>
                <a:cs typeface="Helvetica" panose="020B0604020202020204" pitchFamily="34" charset="0"/>
              </a:rPr>
              <a:t>Les fonds propres valent -438 242 200 FCFA fin 2025, et l'actif repose sur des emplois peu liquides (partie 9).</a:t>
            </a:r>
            <a:endParaRPr lang="fr-CI" sz="1200" noProof="0">
              <a:latin typeface="Helvetica" panose="020B0604020202020204" pitchFamily="34" charset="0"/>
              <a:cs typeface="Helvetica" panose="020B0604020202020204" pitchFamily="34" charset="0"/>
            </a:endParaRPr>
          </a:p>
        </p:txBody>
      </p:sp>
      <p:sp>
        <p:nvSpPr>
          <p:cNvPr id="25" name="TextBox 49"/>
          <p:cNvSpPr txBox="1"/>
          <p:nvPr/>
        </p:nvSpPr>
        <p:spPr>
          <a:xfrm>
            <a:off x="7085829" y="4198030"/>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Normes non respectées</a:t>
            </a:r>
          </a:p>
          <a:p>
            <a:r>
              <a:rPr lang="fr-CI" sz="1200" noProof="0">
                <a:latin typeface="Helvetica" panose="020B0604020202020204" pitchFamily="34" charset="0"/>
                <a:ea typeface="Open Sans Light" panose="020B0306030504020204" pitchFamily="34" charset="0"/>
                <a:cs typeface="Helvetica" panose="020B0604020202020204" pitchFamily="34" charset="0"/>
              </a:rPr>
              <a:t>14 ratios de la Décision n° 05/2022 sur 36 ne sont pas respectés, dont la réserve obligatoire et la liquidité (partie 10).</a:t>
            </a:r>
            <a:endParaRPr lang="fr-CI" sz="1200" noProof="0">
              <a:latin typeface="Helvetica" panose="020B0604020202020204" pitchFamily="34" charset="0"/>
              <a:cs typeface="Helvetica" panose="020B0604020202020204" pitchFamily="34" charset="0"/>
            </a:endParaRPr>
          </a:p>
        </p:txBody>
      </p:sp>
      <p:sp>
        <p:nvSpPr>
          <p:cNvPr id="30" name="TextBox 49"/>
          <p:cNvSpPr txBox="1"/>
          <p:nvPr/>
        </p:nvSpPr>
        <p:spPr>
          <a:xfrm>
            <a:off x="1932614" y="1433631"/>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Données incomplètes</a:t>
            </a:r>
          </a:p>
          <a:p>
            <a:r>
              <a:rPr lang="fr-CI" sz="1200" noProof="0">
                <a:latin typeface="Helvetica" panose="020B0604020202020204" pitchFamily="34" charset="0"/>
                <a:ea typeface="Open Sans Light" panose="020B0306030504020204" pitchFamily="34" charset="0"/>
                <a:cs typeface="Helvetica" panose="020B0604020202020204" pitchFamily="34" charset="0"/>
              </a:rPr>
              <a:t>Le FPPN n'a transmis ni base de prestations, ni dates de naissance. Les analyses actuarielles centrales restent en attente (parties 3 et 14).</a:t>
            </a:r>
            <a:endParaRPr lang="fr-CI" sz="1200" noProof="0">
              <a:latin typeface="Helvetica" panose="020B0604020202020204" pitchFamily="34" charset="0"/>
              <a:cs typeface="Helvetica" panose="020B0604020202020204" pitchFamily="34" charset="0"/>
            </a:endParaRPr>
          </a:p>
        </p:txBody>
      </p:sp>
      <p:sp>
        <p:nvSpPr>
          <p:cNvPr id="46"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Six constats majeurs</a:t>
            </a:r>
          </a:p>
        </p:txBody>
      </p:sp>
      <p:sp>
        <p:nvSpPr>
          <p:cNvPr id="47"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fragilités portent sur les données, les provisions, l'épargne et les normes</a:t>
            </a:r>
          </a:p>
        </p:txBody>
      </p:sp>
      <p:sp>
        <p:nvSpPr>
          <p:cNvPr id="48"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constat est démontré dans la partie indiquée, à partir des fichiers du FPPN et des textes de l'UEMOA</a:t>
            </a:r>
          </a:p>
        </p:txBody>
      </p:sp>
      <p:sp>
        <p:nvSpPr>
          <p:cNvPr id="49"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0" name="TextBox 4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S/C : prestations / cotisations</a:t>
            </a:r>
          </a:p>
        </p:txBody>
      </p:sp>
    </p:spTree>
    <p:extLst>
      <p:ext uri="{BB962C8B-B14F-4D97-AF65-F5344CB8AC3E}">
        <p14:creationId xmlns:p14="http://schemas.microsoft.com/office/powerpoint/2010/main" val="33558344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Graphiques clés (1/2)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maladie monte pendant que l'épargne reste peu couverte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maladie 2025 : 73,53 %. Couverture de l'épargne au 31/08/2026 : 16,28 %</a:t>
            </a:r>
          </a:p>
        </p:txBody>
      </p:sp>
      <p:sp>
        <p:nvSpPr>
          <p:cNvPr id="30" name="TextBox 29"/>
          <p:cNvSpPr txBox="1"/>
          <p:nvPr/>
        </p:nvSpPr>
        <p:spPr>
          <a:xfrm>
            <a:off x="50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1 : Ratio S/C maladie (prestations / cotisations)</a:t>
            </a:r>
          </a:p>
        </p:txBody>
      </p:sp>
      <p:sp>
        <p:nvSpPr>
          <p:cNvPr id="31" name="TextBox 30"/>
          <p:cNvSpPr txBox="1"/>
          <p:nvPr/>
        </p:nvSpPr>
        <p:spPr>
          <a:xfrm>
            <a:off x="50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a:t>
            </a:r>
          </a:p>
        </p:txBody>
      </p:sp>
      <p:graphicFrame>
        <p:nvGraphicFramePr>
          <p:cNvPr id="32" name="Chart 31"/>
          <p:cNvGraphicFramePr>
            <a:graphicFrameLocks noGrp="1"/>
          </p:cNvGraphicFramePr>
          <p:nvPr/>
        </p:nvGraphicFramePr>
        <p:xfrm>
          <a:off x="503999" y="1782000"/>
          <a:ext cx="5472000" cy="3041999"/>
        </p:xfrm>
        <a:graphic>
          <a:graphicData uri="http://schemas.openxmlformats.org/drawingml/2006/chart">
            <c:chart xmlns:c="http://schemas.openxmlformats.org/drawingml/2006/chart" r:id="rId6"/>
          </a:graphicData>
        </a:graphic>
      </p:graphicFrame>
      <p:sp>
        <p:nvSpPr>
          <p:cNvPr id="33" name="TextBox 32"/>
          <p:cNvSpPr txBox="1"/>
          <p:nvPr/>
        </p:nvSpPr>
        <p:spPr>
          <a:xfrm>
            <a:off x="626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2 : Épargne due et actifs réservés</a:t>
            </a:r>
          </a:p>
        </p:txBody>
      </p:sp>
      <p:sp>
        <p:nvSpPr>
          <p:cNvPr id="34" name="TextBox 33"/>
          <p:cNvSpPr txBox="1"/>
          <p:nvPr/>
        </p:nvSpPr>
        <p:spPr>
          <a:xfrm>
            <a:off x="626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5" name="Chart 34"/>
          <p:cNvGraphicFramePr>
            <a:graphicFrameLocks noGrp="1"/>
          </p:cNvGraphicFramePr>
          <p:nvPr/>
        </p:nvGraphicFramePr>
        <p:xfrm>
          <a:off x="6263999" y="1782000"/>
          <a:ext cx="5472000" cy="3041999"/>
        </p:xfrm>
        <a:graphic>
          <a:graphicData uri="http://schemas.openxmlformats.org/drawingml/2006/chart">
            <c:chart xmlns:c="http://schemas.openxmlformats.org/drawingml/2006/chart" r:id="rId7"/>
          </a:graphicData>
        </a:graphic>
      </p:graphicFrame>
      <p:sp>
        <p:nvSpPr>
          <p:cNvPr id="36"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7" name="TextBox 36"/>
          <p:cNvSpPr txBox="1"/>
          <p:nvPr/>
        </p:nvSpPr>
        <p:spPr>
          <a:xfrm>
            <a:off x="503999" y="4950000"/>
            <a:ext cx="11232000" cy="918000"/>
          </a:xfrm>
          <a:prstGeom prst="rect">
            <a:avLst/>
          </a:prstGeom>
          <a:noFill/>
        </p:spPr>
        <p:txBody>
          <a:bodyPr wrap="square" lIns="54000" rIns="54000"/>
          <a:lstStyle/>
          <a:p>
            <a:pPr algn="just">
              <a:spcAft>
                <a:spcPts val="600"/>
              </a:spcAft>
            </a:pPr>
            <a:r>
              <a:rPr sz="1300" b="1">
                <a:solidFill>
                  <a:srgbClr val="060606"/>
                </a:solidFill>
                <a:latin typeface="Helvetica"/>
              </a:rPr>
              <a:t>Les deux courbes vont dans le mauvais sens pour la solvabilité.</a:t>
            </a:r>
            <a:r>
              <a:rPr sz="1300" b="0">
                <a:solidFill>
                  <a:srgbClr val="060606"/>
                </a:solidFill>
                <a:latin typeface="Helvetica"/>
              </a:rPr>
              <a:t> Les prestations consomment une part croissante des cotisations, et l'épargne grossit plus vite que les actifs qui la garantissent. Implication : le FPPN dispose de moins en moins de marge pour faire face à un choc de prestations ou de retraits.</a:t>
            </a:r>
          </a:p>
        </p:txBody>
      </p:sp>
      <p:sp>
        <p:nvSpPr>
          <p:cNvPr id="38" name="TextBox 3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S/C : prestations / cotisations</a:t>
            </a:r>
          </a:p>
        </p:txBody>
      </p:sp>
    </p:spTree>
    <p:extLst>
      <p:ext uri="{BB962C8B-B14F-4D97-AF65-F5344CB8AC3E}">
        <p14:creationId xmlns:p14="http://schemas.microsoft.com/office/powerpoint/2010/main" val="245304038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Graphiques clés (2/2)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fonds propres restent négatifs et l'encours de prêts explose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2025 : -438 242 200 FCFA. Encours du Grenier au 31/08/2026 : 1 044 302 107 FCFA</a:t>
            </a:r>
          </a:p>
        </p:txBody>
      </p:sp>
      <p:sp>
        <p:nvSpPr>
          <p:cNvPr id="30" name="TextBox 29"/>
          <p:cNvSpPr txBox="1"/>
          <p:nvPr/>
        </p:nvSpPr>
        <p:spPr>
          <a:xfrm>
            <a:off x="50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3 : Fonds propres</a:t>
            </a:r>
          </a:p>
        </p:txBody>
      </p:sp>
      <p:sp>
        <p:nvSpPr>
          <p:cNvPr id="31" name="TextBox 30"/>
          <p:cNvSpPr txBox="1"/>
          <p:nvPr/>
        </p:nvSpPr>
        <p:spPr>
          <a:xfrm>
            <a:off x="50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472000" cy="3041999"/>
        </p:xfrm>
        <a:graphic>
          <a:graphicData uri="http://schemas.openxmlformats.org/drawingml/2006/chart">
            <c:chart xmlns:c="http://schemas.openxmlformats.org/drawingml/2006/chart" r:id="rId6"/>
          </a:graphicData>
        </a:graphic>
      </p:graphicFrame>
      <p:sp>
        <p:nvSpPr>
          <p:cNvPr id="33" name="TextBox 32"/>
          <p:cNvSpPr txBox="1"/>
          <p:nvPr/>
        </p:nvSpPr>
        <p:spPr>
          <a:xfrm>
            <a:off x="626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4 : Encours des prêts du Grenier</a:t>
            </a:r>
          </a:p>
        </p:txBody>
      </p:sp>
      <p:sp>
        <p:nvSpPr>
          <p:cNvPr id="34" name="TextBox 33"/>
          <p:cNvSpPr txBox="1"/>
          <p:nvPr/>
        </p:nvSpPr>
        <p:spPr>
          <a:xfrm>
            <a:off x="626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5" name="Chart 34"/>
          <p:cNvGraphicFramePr>
            <a:graphicFrameLocks noGrp="1"/>
          </p:cNvGraphicFramePr>
          <p:nvPr/>
        </p:nvGraphicFramePr>
        <p:xfrm>
          <a:off x="6263999" y="1782000"/>
          <a:ext cx="5472000" cy="3041999"/>
        </p:xfrm>
        <a:graphic>
          <a:graphicData uri="http://schemas.openxmlformats.org/drawingml/2006/chart">
            <c:chart xmlns:c="http://schemas.openxmlformats.org/drawingml/2006/chart" r:id="rId7"/>
          </a:graphicData>
        </a:graphic>
      </p:graphicFrame>
      <p:sp>
        <p:nvSpPr>
          <p:cNvPr id="36"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Exports du logiciel de prêts du Grenier du Policier (balances âgées, production) reçus le 15/10/2026. Traitements Adenka</a:t>
            </a:r>
          </a:p>
        </p:txBody>
      </p:sp>
      <p:sp>
        <p:nvSpPr>
          <p:cNvPr id="37" name="TextBox 36"/>
          <p:cNvSpPr txBox="1"/>
          <p:nvPr/>
        </p:nvSpPr>
        <p:spPr>
          <a:xfrm>
            <a:off x="503999" y="4950000"/>
            <a:ext cx="11232000" cy="918000"/>
          </a:xfrm>
          <a:prstGeom prst="rect">
            <a:avLst/>
          </a:prstGeom>
          <a:noFill/>
        </p:spPr>
        <p:txBody>
          <a:bodyPr wrap="square" lIns="54000" rIns="54000"/>
          <a:lstStyle/>
          <a:p>
            <a:pPr algn="just">
              <a:spcAft>
                <a:spcPts val="600"/>
              </a:spcAft>
            </a:pPr>
            <a:r>
              <a:rPr sz="1300" b="1">
                <a:solidFill>
                  <a:srgbClr val="060606"/>
                </a:solidFill>
                <a:latin typeface="Helvetica"/>
              </a:rPr>
              <a:t>Le redressement des fonds propres s'interrompt en 2026, au moment où l'encours des prêts atteint son plus haut niveau.</a:t>
            </a:r>
            <a:r>
              <a:rPr sz="1300" b="0">
                <a:solidFill>
                  <a:srgbClr val="060606"/>
                </a:solidFill>
                <a:latin typeface="Helvetica"/>
              </a:rPr>
              <a:t> Implication : le FPPN finance une activité de crédit en croissance rapide sans coussin de fonds propres pour absorber d'éventuelles pertes.</a:t>
            </a:r>
          </a:p>
        </p:txBody>
      </p:sp>
      <p:sp>
        <p:nvSpPr>
          <p:cNvPr id="38" name="TextBox 3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65697514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Conformité prudentielle en bref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ratios de solvabilité et de liquidité de l'UEMOA ne sont pas respectés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 36 indicateurs de la Décision n° 05/2022 : 14 non conformes, 7 conformes, 15 en attente de données ou à apprécier</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2 : Huit ratios prudentiels clés, exercice 2025</a:t>
            </a:r>
          </a:p>
        </p:txBody>
      </p:sp>
      <p:graphicFrame>
        <p:nvGraphicFramePr>
          <p:cNvPr id="32" name="Table 31"/>
          <p:cNvGraphicFramePr>
            <a:graphicFrameLocks noGrp="1"/>
          </p:cNvGraphicFramePr>
          <p:nvPr/>
        </p:nvGraphicFramePr>
        <p:xfrm>
          <a:off x="503999" y="1655999"/>
          <a:ext cx="7056000" cy="3033156"/>
        </p:xfrm>
        <a:graphic>
          <a:graphicData uri="http://schemas.openxmlformats.org/drawingml/2006/table">
            <a:tbl>
              <a:tblPr firstRow="0" bandRow="0">
                <a:tableStyleId>{5940675A-B579-460E-94D1-54222C63F5DA}</a:tableStyleId>
              </a:tblPr>
              <a:tblGrid>
                <a:gridCol w="2610000"/>
                <a:gridCol w="1270800"/>
                <a:gridCol w="1058400"/>
                <a:gridCol w="986400"/>
                <a:gridCol w="1130400"/>
              </a:tblGrid>
              <a:tr h="392901">
                <a:tc>
                  <a:txBody>
                    <a:bodyPr/>
                    <a:lstStyle/>
                    <a:p>
                      <a:pPr marL="0" indent="0" lvl="0">
                        <a:buNone/>
                      </a:pPr>
                      <a:r>
                        <a:rPr sz="11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Comme le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Retraité</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Statut 2022 à 2025</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Taux de sinistralité</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Entre 70 % et 80 %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57,48 %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392901">
                <a:tc>
                  <a:txBody>
                    <a:bodyPr/>
                    <a:lstStyle/>
                    <a:p>
                      <a:pPr marL="0" indent="0" lvl="0">
                        <a:buNone/>
                      </a:pPr>
                      <a:r>
                        <a:rPr sz="1100" b="1">
                          <a:solidFill>
                            <a:srgbClr val="060606"/>
                          </a:solidFill>
                          <a:latin typeface="Helvetica"/>
                        </a:rPr>
                        <a:t>Marge de solvabilité disponible / exigée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7,77</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-0,77</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Conforme</a:t>
                      </a:r>
                    </a:p>
                  </a:txBody>
                  <a:tcPr marL="43200" marR="43200" marT="14400" marB="14400" anchor="ctr">
                    <a:solidFill>
                      <a:srgbClr val="112A40"/>
                    </a:solidFill>
                  </a:tcPr>
                </a:tc>
              </a:tr>
              <a:tr h="392901">
                <a:tc>
                  <a:txBody>
                    <a:bodyPr/>
                    <a:lstStyle/>
                    <a:p>
                      <a:pPr marL="0" indent="0" lvl="0">
                        <a:buNone/>
                      </a:pPr>
                      <a:r>
                        <a:rPr sz="1100" b="1">
                          <a:solidFill>
                            <a:srgbClr val="060606"/>
                          </a:solidFill>
                          <a:latin typeface="Helvetica"/>
                        </a:rPr>
                        <a:t>Ratio de réserve obligatoire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Entre 6 et 9 mois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5,01 mois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392901">
                <a:tc>
                  <a:txBody>
                    <a:bodyPr/>
                    <a:lstStyle/>
                    <a:p>
                      <a:pPr marL="0" indent="0" lvl="0">
                        <a:buNone/>
                      </a:pPr>
                      <a:r>
                        <a:rPr sz="1100" b="1">
                          <a:solidFill>
                            <a:srgbClr val="060606"/>
                          </a:solidFill>
                          <a:latin typeface="Helvetica"/>
                        </a:rPr>
                        <a:t>Ratio des fonds propres et assimilés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0,22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225250">
                <a:tc>
                  <a:txBody>
                    <a:bodyPr/>
                    <a:lstStyle/>
                    <a:p>
                      <a:pPr marL="0" indent="0" lvl="0">
                        <a:buNone/>
                      </a:pPr>
                      <a:r>
                        <a:rPr sz="1100" b="1">
                          <a:solidFill>
                            <a:srgbClr val="060606"/>
                          </a:solidFill>
                          <a:latin typeface="Helvetica"/>
                        </a:rPr>
                        <a:t>Ratio de liquidité</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0,13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1,15</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225250">
                <a:tc>
                  <a:txBody>
                    <a:bodyPr/>
                    <a:lstStyle/>
                    <a:p>
                      <a:pPr marL="0" indent="0" lvl="0">
                        <a:buNone/>
                      </a:pPr>
                      <a:r>
                        <a:rPr sz="1100" b="1">
                          <a:solidFill>
                            <a:srgbClr val="060606"/>
                          </a:solidFill>
                          <a:latin typeface="Helvetica"/>
                        </a:rPr>
                        <a:t>Ratio d'équilibre stable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plus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1,54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0,94</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392901">
                <a:tc>
                  <a:txBody>
                    <a:bodyPr/>
                    <a:lstStyle/>
                    <a:p>
                      <a:pPr marL="0" indent="0" lvl="0">
                        <a:buNone/>
                      </a:pPr>
                      <a:r>
                        <a:rPr sz="1100" b="1">
                          <a:solidFill>
                            <a:srgbClr val="060606"/>
                          </a:solidFill>
                          <a:latin typeface="Helvetica"/>
                        </a:rPr>
                        <a:t>Taux des charges de fonctionnement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Au plus 20 %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36,34 %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225250">
                <a:tc>
                  <a:txBody>
                    <a:bodyPr/>
                    <a:lstStyle/>
                    <a:p>
                      <a:pPr marL="0" indent="0" lvl="0">
                        <a:buNone/>
                      </a:pPr>
                      <a:r>
                        <a:rPr sz="1100" b="1">
                          <a:solidFill>
                            <a:srgbClr val="060606"/>
                          </a:solidFill>
                          <a:latin typeface="Helvetica"/>
                        </a:rPr>
                        <a:t>Solvabilité de l'épargne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0,12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bl>
          </a:graphicData>
        </a:graphic>
      </p:graphicFrame>
      <p:sp>
        <p:nvSpPr>
          <p:cNvPr id="33" name="TextBox 32"/>
          <p:cNvSpPr txBox="1"/>
          <p:nvPr/>
        </p:nvSpPr>
        <p:spPr>
          <a:xfrm>
            <a:off x="7776000" y="1386000"/>
            <a:ext cx="3960000" cy="4482000"/>
          </a:xfrm>
          <a:prstGeom prst="rect">
            <a:avLst/>
          </a:prstGeom>
          <a:noFill/>
        </p:spPr>
        <p:txBody>
          <a:bodyPr wrap="square" lIns="54000" rIns="54000"/>
          <a:lstStyle/>
          <a:p>
            <a:pPr algn="just">
              <a:spcAft>
                <a:spcPts val="600"/>
              </a:spcAft>
            </a:pPr>
            <a:r>
              <a:rPr sz="1400" b="1">
                <a:solidFill>
                  <a:srgbClr val="060606"/>
                </a:solidFill>
                <a:latin typeface="Helvetica"/>
              </a:rPr>
              <a:t>Les ratios qui mesurent la solidité financière sont non conformes, ceux qui mesurent l'activité courante le sont souvent.</a:t>
            </a:r>
            <a:r>
              <a:rPr sz="1400" b="0">
                <a:solidFill>
                  <a:srgbClr val="060606"/>
                </a:solidFill>
                <a:latin typeface="Helvetica"/>
              </a:rPr>
              <a:t> L'autonomie financière et le financement propre sont respectés, car les cotisations couvrent les charges de l'année.</a:t>
            </a:r>
          </a:p>
          <a:p>
            <a:pPr algn="just">
              <a:spcAft>
                <a:spcPts val="600"/>
              </a:spcAft>
            </a:pPr>
            <a:r>
              <a:rPr sz="1400" b="1">
                <a:solidFill>
                  <a:srgbClr val="060606"/>
                </a:solidFill>
                <a:latin typeface="Helvetica"/>
              </a:rPr>
              <a:t>Le classement de l'épargne change le verdict sur la liquidité.</a:t>
            </a:r>
            <a:r>
              <a:rPr sz="1400" b="0">
                <a:solidFill>
                  <a:srgbClr val="060606"/>
                </a:solidFill>
                <a:latin typeface="Helvetica"/>
              </a:rPr>
              <a:t> En dette à court terme, comme dans le plan comptable, la liquidité 2025 vaut 0,13. En ressource longue, elle vaut 1,15.</a:t>
            </a:r>
          </a:p>
          <a:p>
            <a:pPr algn="just">
              <a:spcAft>
                <a:spcPts val="600"/>
              </a:spcAft>
            </a:pPr>
            <a:r>
              <a:rPr sz="1400" b="1">
                <a:solidFill>
                  <a:srgbClr val="060606"/>
                </a:solidFill>
                <a:latin typeface="Helvetica"/>
              </a:rPr>
              <a:t>Implication pour le FPPN.</a:t>
            </a:r>
            <a:r>
              <a:rPr sz="1400" b="0">
                <a:solidFill>
                  <a:srgbClr val="060606"/>
                </a:solidFill>
                <a:latin typeface="Helvetica"/>
              </a:rPr>
              <a:t> Le règlement n° 07/2009 prévoit le retrait d'agrément après deux exercices de non-respect des règles prudentielles (art. 84). Plusieurs ratios sont non conformes plusieurs années de suite : un plan de mise en conformité doit être préparé.</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76943010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4">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19" name="ZoneTexte 18">
            <a:extLst>
              <a:ext uri="{FF2B5EF4-FFF2-40B4-BE49-F238E27FC236}">
                <a16:creationId xmlns:a16="http://schemas.microsoft.com/office/drawing/2014/main" id="{C6E7D94B-8E49-C846-A392-87DFA5EF4A9D}"/>
              </a:ext>
            </a:extLst>
          </p:cNvPr>
          <p:cNvSpPr txBox="1"/>
          <p:nvPr/>
        </p:nvSpPr>
        <p:spPr>
          <a:xfrm>
            <a:off x="222607" y="6396590"/>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graphicFrame>
        <p:nvGraphicFramePr>
          <p:cNvPr id="3" name="Object 2" hidden="1"/>
          <p:cNvGraphicFramePr>
            <a:graphicFrameLocks noChangeAspect="1"/>
          </p:cNvGraphicFramePr>
          <p:nvPr>
            <p:custDataLst>
              <p:tags r:id="rId1"/>
            </p:custDataLst>
          </p:nvPr>
        </p:nvGraphicFramePr>
        <p:xfrm>
          <a:off x="2258716" y="1350000"/>
          <a:ext cx="1325" cy="1325"/>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7" name="Object 2" hidden="1"/>
                      <p:cNvPicPr/>
                      <p:nvPr/>
                    </p:nvPicPr>
                    <p:blipFill>
                      <a:blip r:embed="rId6"/>
                      <a:stretch>
                        <a:fillRect/>
                      </a:stretch>
                    </p:blipFill>
                    <p:spPr>
                      <a:xfrm>
                        <a:off x="1525589" y="1589"/>
                        <a:ext cx="1587" cy="1587"/>
                      </a:xfrm>
                      <a:prstGeom prst="rect">
                        <a:avLst/>
                      </a:prstGeom>
                    </p:spPr>
                  </p:pic>
                </p:oleObj>
              </mc:Fallback>
            </mc:AlternateContent>
          </a:graphicData>
        </a:graphic>
      </p:graphicFrame>
      <p:graphicFrame>
        <p:nvGraphicFramePr>
          <p:cNvPr id="13" name="Chart Placeholder 15"/>
          <p:cNvGraphicFramePr>
            <a:graphicFrameLocks/>
          </p:cNvGraphicFramePr>
          <p:nvPr>
            <p:extLst>
              <p:ext uri="{D42A27DB-BD31-4B8C-83A1-F6EECF244321}">
                <p14:modId xmlns:p14="http://schemas.microsoft.com/office/powerpoint/2010/main" val="2929624729"/>
              </p:ext>
            </p:extLst>
          </p:nvPr>
        </p:nvGraphicFramePr>
        <p:xfrm>
          <a:off x="3743620" y="1584000"/>
          <a:ext cx="2231044" cy="26640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4" name="Chart Placeholder 15"/>
          <p:cNvGraphicFramePr>
            <a:graphicFrameLocks/>
          </p:cNvGraphicFramePr>
          <p:nvPr>
            <p:extLst>
              <p:ext uri="{D42A27DB-BD31-4B8C-83A1-F6EECF244321}">
                <p14:modId xmlns:p14="http://schemas.microsoft.com/office/powerpoint/2010/main" val="153666400"/>
              </p:ext>
            </p:extLst>
          </p:nvPr>
        </p:nvGraphicFramePr>
        <p:xfrm>
          <a:off x="1260936" y="1584000"/>
          <a:ext cx="2232370" cy="2664000"/>
        </p:xfrm>
        <a:graphic>
          <a:graphicData uri="http://schemas.openxmlformats.org/drawingml/2006/chart">
            <c:chart xmlns:c="http://schemas.openxmlformats.org/drawingml/2006/chart" xmlns:r="http://schemas.openxmlformats.org/officeDocument/2006/relationships" r:id="rId8"/>
          </a:graphicData>
        </a:graphic>
      </p:graphicFrame>
      <p:pic>
        <p:nvPicPr>
          <p:cNvPr id="16" name="Image 15"/>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068918" y="2277791"/>
            <a:ext cx="616405" cy="616405"/>
          </a:xfrm>
          <a:prstGeom prst="rect">
            <a:avLst/>
          </a:prstGeom>
        </p:spPr>
      </p:pic>
      <p:pic>
        <p:nvPicPr>
          <p:cNvPr id="17" name="Image 16"/>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462040" y="2195176"/>
            <a:ext cx="794203" cy="803437"/>
          </a:xfrm>
          <a:prstGeom prst="rect">
            <a:avLst/>
          </a:prstGeom>
        </p:spPr>
      </p:pic>
      <p:graphicFrame>
        <p:nvGraphicFramePr>
          <p:cNvPr id="18" name="Chart Placeholder 15"/>
          <p:cNvGraphicFramePr>
            <a:graphicFrameLocks/>
          </p:cNvGraphicFramePr>
          <p:nvPr>
            <p:extLst>
              <p:ext uri="{D42A27DB-BD31-4B8C-83A1-F6EECF244321}">
                <p14:modId xmlns:p14="http://schemas.microsoft.com/office/powerpoint/2010/main" val="4022307174"/>
              </p:ext>
            </p:extLst>
          </p:nvPr>
        </p:nvGraphicFramePr>
        <p:xfrm>
          <a:off x="8456022" y="1584000"/>
          <a:ext cx="2223091" cy="2664000"/>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21" name="Chart Placeholder 15"/>
          <p:cNvGraphicFramePr>
            <a:graphicFrameLocks/>
          </p:cNvGraphicFramePr>
          <p:nvPr>
            <p:extLst>
              <p:ext uri="{D42A27DB-BD31-4B8C-83A1-F6EECF244321}">
                <p14:modId xmlns:p14="http://schemas.microsoft.com/office/powerpoint/2010/main" val="3635906843"/>
              </p:ext>
            </p:extLst>
          </p:nvPr>
        </p:nvGraphicFramePr>
        <p:xfrm>
          <a:off x="6103797" y="1584000"/>
          <a:ext cx="2223091" cy="2664000"/>
        </p:xfrm>
        <a:graphic>
          <a:graphicData uri="http://schemas.openxmlformats.org/drawingml/2006/chart">
            <c:chart xmlns:c="http://schemas.openxmlformats.org/drawingml/2006/chart" xmlns:r="http://schemas.openxmlformats.org/officeDocument/2006/relationships" r:id="rId12"/>
          </a:graphicData>
        </a:graphic>
      </p:graphicFrame>
      <p:pic>
        <p:nvPicPr>
          <p:cNvPr id="24" name="Image 23"/>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896238" y="2277791"/>
            <a:ext cx="638209" cy="638209"/>
          </a:xfrm>
          <a:prstGeom prst="rect">
            <a:avLst/>
          </a:prstGeom>
        </p:spPr>
      </p:pic>
      <p:pic>
        <p:nvPicPr>
          <p:cNvPr id="26" name="Image 25"/>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192169" y="2195176"/>
            <a:ext cx="703522" cy="718817"/>
          </a:xfrm>
          <a:prstGeom prst="rect">
            <a:avLst/>
          </a:prstGeom>
        </p:spPr>
      </p:pic>
      <p:sp>
        <p:nvSpPr>
          <p:cNvPr id="28"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Quatre taux à surveiller</a:t>
            </a:r>
          </a:p>
        </p:txBody>
      </p:sp>
      <p:sp>
        <p:nvSpPr>
          <p:cNvPr id="29"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faible part des engagements est couverte par des ressources disponibles</a:t>
            </a:r>
          </a:p>
        </p:txBody>
      </p:sp>
      <p:sp>
        <p:nvSpPr>
          <p:cNvPr id="30"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de l'épargne, sinistralité, trésorerie rapportée à l'épargne et prêts en retard de plus de 30 jours</a:t>
            </a:r>
          </a:p>
        </p:txBody>
      </p:sp>
      <p:sp>
        <p:nvSpPr>
          <p:cNvPr id="31"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Exports du logiciel de prêts du Grenier du Policier (balances âgées, production) reçus le 15/10/2026. Traitements Adenka</a:t>
            </a:r>
          </a:p>
        </p:txBody>
      </p:sp>
      <p:sp>
        <p:nvSpPr>
          <p:cNvPr id="32" name="TextBox 31"/>
          <p:cNvSpPr txBox="1"/>
          <p:nvPr/>
        </p:nvSpPr>
        <p:spPr>
          <a:xfrm>
            <a:off x="1152936" y="4266000"/>
            <a:ext cx="2448370" cy="324000"/>
          </a:xfrm>
          <a:prstGeom prst="rect">
            <a:avLst/>
          </a:prstGeom>
          <a:noFill/>
        </p:spPr>
        <p:txBody>
          <a:bodyPr wrap="square" anchor="t" lIns="54000" rIns="54000"/>
          <a:lstStyle/>
          <a:p>
            <a:pPr algn="ctr"/>
            <a:r>
              <a:rPr sz="2000" b="1">
                <a:solidFill>
                  <a:srgbClr val="112A40"/>
                </a:solidFill>
                <a:latin typeface="Helvetica"/>
              </a:rPr>
              <a:t>16,28 %</a:t>
            </a:r>
          </a:p>
        </p:txBody>
      </p:sp>
      <p:sp>
        <p:nvSpPr>
          <p:cNvPr id="33" name="TextBox 32"/>
          <p:cNvSpPr txBox="1"/>
          <p:nvPr/>
        </p:nvSpPr>
        <p:spPr>
          <a:xfrm>
            <a:off x="1152936" y="4572000"/>
            <a:ext cx="2448370" cy="576000"/>
          </a:xfrm>
          <a:prstGeom prst="rect">
            <a:avLst/>
          </a:prstGeom>
          <a:noFill/>
        </p:spPr>
        <p:txBody>
          <a:bodyPr wrap="square" anchor="t" lIns="54000" rIns="54000"/>
          <a:lstStyle/>
          <a:p>
            <a:pPr algn="ctr"/>
            <a:r>
              <a:rPr sz="1100" b="0">
                <a:solidFill>
                  <a:srgbClr val="060606"/>
                </a:solidFill>
                <a:latin typeface="Helvetica"/>
              </a:rPr>
              <a:t>Épargne couverte par des actifs réservés (31/08/2026)</a:t>
            </a:r>
          </a:p>
        </p:txBody>
      </p:sp>
      <p:sp>
        <p:nvSpPr>
          <p:cNvPr id="34" name="TextBox 33"/>
          <p:cNvSpPr txBox="1"/>
          <p:nvPr/>
        </p:nvSpPr>
        <p:spPr>
          <a:xfrm>
            <a:off x="3635619" y="4266000"/>
            <a:ext cx="2447043" cy="324000"/>
          </a:xfrm>
          <a:prstGeom prst="rect">
            <a:avLst/>
          </a:prstGeom>
          <a:noFill/>
        </p:spPr>
        <p:txBody>
          <a:bodyPr wrap="square" anchor="t" lIns="54000" rIns="54000"/>
          <a:lstStyle/>
          <a:p>
            <a:pPr algn="ctr"/>
            <a:r>
              <a:rPr sz="2000" b="1">
                <a:solidFill>
                  <a:srgbClr val="112A40"/>
                </a:solidFill>
                <a:latin typeface="Helvetica"/>
              </a:rPr>
              <a:t>73,53 %</a:t>
            </a:r>
          </a:p>
        </p:txBody>
      </p:sp>
      <p:sp>
        <p:nvSpPr>
          <p:cNvPr id="35" name="TextBox 34"/>
          <p:cNvSpPr txBox="1"/>
          <p:nvPr/>
        </p:nvSpPr>
        <p:spPr>
          <a:xfrm>
            <a:off x="3635619" y="4572000"/>
            <a:ext cx="2447043" cy="576000"/>
          </a:xfrm>
          <a:prstGeom prst="rect">
            <a:avLst/>
          </a:prstGeom>
          <a:noFill/>
        </p:spPr>
        <p:txBody>
          <a:bodyPr wrap="square" anchor="t" lIns="54000" rIns="54000"/>
          <a:lstStyle/>
          <a:p>
            <a:pPr algn="ctr"/>
            <a:r>
              <a:rPr sz="1100" b="0">
                <a:solidFill>
                  <a:srgbClr val="060606"/>
                </a:solidFill>
                <a:latin typeface="Helvetica"/>
              </a:rPr>
              <a:t>Sinistralité maladie (S/C 2025)</a:t>
            </a:r>
          </a:p>
        </p:txBody>
      </p:sp>
      <p:sp>
        <p:nvSpPr>
          <p:cNvPr id="36" name="TextBox 35"/>
          <p:cNvSpPr txBox="1"/>
          <p:nvPr/>
        </p:nvSpPr>
        <p:spPr>
          <a:xfrm>
            <a:off x="5995797" y="4266000"/>
            <a:ext cx="2439091" cy="324000"/>
          </a:xfrm>
          <a:prstGeom prst="rect">
            <a:avLst/>
          </a:prstGeom>
          <a:noFill/>
        </p:spPr>
        <p:txBody>
          <a:bodyPr wrap="square" anchor="t" lIns="54000" rIns="54000"/>
          <a:lstStyle/>
          <a:p>
            <a:pPr algn="ctr"/>
            <a:r>
              <a:rPr sz="2000" b="1">
                <a:solidFill>
                  <a:srgbClr val="112A40"/>
                </a:solidFill>
                <a:latin typeface="Helvetica"/>
              </a:rPr>
              <a:t>21,34 %</a:t>
            </a:r>
          </a:p>
        </p:txBody>
      </p:sp>
      <p:sp>
        <p:nvSpPr>
          <p:cNvPr id="37" name="TextBox 36"/>
          <p:cNvSpPr txBox="1"/>
          <p:nvPr/>
        </p:nvSpPr>
        <p:spPr>
          <a:xfrm>
            <a:off x="5995797" y="4572000"/>
            <a:ext cx="2439091" cy="576000"/>
          </a:xfrm>
          <a:prstGeom prst="rect">
            <a:avLst/>
          </a:prstGeom>
          <a:noFill/>
        </p:spPr>
        <p:txBody>
          <a:bodyPr wrap="square" anchor="t" lIns="54000" rIns="54000"/>
          <a:lstStyle/>
          <a:p>
            <a:pPr algn="ctr"/>
            <a:r>
              <a:rPr sz="1100" b="0">
                <a:solidFill>
                  <a:srgbClr val="060606"/>
                </a:solidFill>
                <a:latin typeface="Helvetica"/>
              </a:rPr>
              <a:t>Trésorerie totale / épargne due (31/08/2026)</a:t>
            </a:r>
          </a:p>
        </p:txBody>
      </p:sp>
      <p:sp>
        <p:nvSpPr>
          <p:cNvPr id="38" name="TextBox 37"/>
          <p:cNvSpPr txBox="1"/>
          <p:nvPr/>
        </p:nvSpPr>
        <p:spPr>
          <a:xfrm>
            <a:off x="8348021" y="4266000"/>
            <a:ext cx="2439091" cy="324000"/>
          </a:xfrm>
          <a:prstGeom prst="rect">
            <a:avLst/>
          </a:prstGeom>
          <a:noFill/>
        </p:spPr>
        <p:txBody>
          <a:bodyPr wrap="square" anchor="t" lIns="54000" rIns="54000"/>
          <a:lstStyle/>
          <a:p>
            <a:pPr algn="ctr"/>
            <a:r>
              <a:rPr sz="2000" b="1">
                <a:solidFill>
                  <a:srgbClr val="112A40"/>
                </a:solidFill>
                <a:latin typeface="Helvetica"/>
              </a:rPr>
              <a:t>5,07 %</a:t>
            </a:r>
          </a:p>
        </p:txBody>
      </p:sp>
      <p:sp>
        <p:nvSpPr>
          <p:cNvPr id="39" name="TextBox 38"/>
          <p:cNvSpPr txBox="1"/>
          <p:nvPr/>
        </p:nvSpPr>
        <p:spPr>
          <a:xfrm>
            <a:off x="8348021" y="4572000"/>
            <a:ext cx="2439091" cy="576000"/>
          </a:xfrm>
          <a:prstGeom prst="rect">
            <a:avLst/>
          </a:prstGeom>
          <a:noFill/>
        </p:spPr>
        <p:txBody>
          <a:bodyPr wrap="square" anchor="t" lIns="54000" rIns="54000"/>
          <a:lstStyle/>
          <a:p>
            <a:pPr algn="ctr"/>
            <a:r>
              <a:rPr sz="1100" b="0">
                <a:solidFill>
                  <a:srgbClr val="060606"/>
                </a:solidFill>
                <a:latin typeface="Helvetica"/>
              </a:rPr>
              <a:t>Prêts en retard de plus de 30 jours (en nombre, 31/08/2026)</a:t>
            </a:r>
          </a:p>
        </p:txBody>
      </p:sp>
      <p:sp>
        <p:nvSpPr>
          <p:cNvPr id="40" name="TextBox 39"/>
          <p:cNvSpPr txBox="1"/>
          <p:nvPr/>
        </p:nvSpPr>
        <p:spPr>
          <a:xfrm>
            <a:off x="503999" y="5166000"/>
            <a:ext cx="11232000" cy="702000"/>
          </a:xfrm>
          <a:prstGeom prst="rect">
            <a:avLst/>
          </a:prstGeom>
          <a:noFill/>
        </p:spPr>
        <p:txBody>
          <a:bodyPr wrap="square" lIns="54000" rIns="54000"/>
          <a:lstStyle/>
          <a:p>
            <a:pPr algn="just">
              <a:spcAft>
                <a:spcPts val="600"/>
              </a:spcAft>
            </a:pPr>
            <a:r>
              <a:rPr sz="1300" b="1">
                <a:solidFill>
                  <a:srgbClr val="060606"/>
                </a:solidFill>
                <a:latin typeface="Helvetica"/>
              </a:rPr>
              <a:t>Trois anneaux sur quatre montrent une couverture faible des engagements.</a:t>
            </a:r>
            <a:r>
              <a:rPr sz="1300" b="0">
                <a:solidFill>
                  <a:srgbClr val="060606"/>
                </a:solidFill>
                <a:latin typeface="Helvetica"/>
              </a:rPr>
              <a:t> La trésorerie de toutes les banques ne rembourserait qu'environ un cinquième de l'épargne due. Implication : en cas de retraits importants, le FPPN doit céder ou mobiliser des actifs peu liquides.</a:t>
            </a:r>
          </a:p>
        </p:txBody>
      </p:sp>
      <p:sp>
        <p:nvSpPr>
          <p:cNvPr id="41" name="TextBox 4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184065309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14"/>
        <p:cNvGrpSpPr/>
        <p:nvPr/>
      </p:nvGrpSpPr>
      <p:grpSpPr>
        <a:xfrm>
          <a:off x="0" y="0"/>
          <a:ext cx="0" cy="0"/>
          <a:chOff x="0" y="0"/>
          <a:chExt cx="0" cy="0"/>
        </a:xfrm>
      </p:grpSpPr>
      <p:pic>
        <p:nvPicPr>
          <p:cNvPr id="34" name="Image 33"/>
          <p:cNvPicPr>
            <a:picLocks noChangeAspect="1"/>
          </p:cNvPicPr>
          <p:nvPr/>
        </p:nvPicPr>
        <p:blipFill rotWithShape="1">
          <a:blip r:embed="rId3">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2" name="ZoneTexte 31">
            <a:extLst>
              <a:ext uri="{FF2B5EF4-FFF2-40B4-BE49-F238E27FC236}">
                <a16:creationId xmlns:a16="http://schemas.microsoft.com/office/drawing/2014/main" id="{C6E7D94B-8E49-C846-A392-87DFA5EF4A9D}"/>
              </a:ext>
            </a:extLst>
          </p:cNvPr>
          <p:cNvSpPr txBox="1"/>
          <p:nvPr/>
        </p:nvSpPr>
        <p:spPr>
          <a:xfrm>
            <a:off x="222607" y="6396590"/>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217" name="Google Shape;9217;p112"/>
          <p:cNvSpPr txBox="1"/>
          <p:nvPr/>
        </p:nvSpPr>
        <p:spPr>
          <a:xfrm>
            <a:off x="894942"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1</a:t>
            </a:r>
          </a:p>
        </p:txBody>
      </p:sp>
      <p:sp>
        <p:nvSpPr>
          <p:cNvPr id="9218" name="Google Shape;9218;p112"/>
          <p:cNvSpPr txBox="1"/>
          <p:nvPr/>
        </p:nvSpPr>
        <p:spPr>
          <a:xfrm>
            <a:off x="805834" y="1978279"/>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Pas de base de prestations ni de dates de naissance</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9220" name="Google Shape;9220;p112"/>
          <p:cNvSpPr txBox="1"/>
          <p:nvPr/>
        </p:nvSpPr>
        <p:spPr>
          <a:xfrm>
            <a:off x="2914550"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2</a:t>
            </a:r>
          </a:p>
        </p:txBody>
      </p:sp>
      <p:sp>
        <p:nvSpPr>
          <p:cNvPr id="9222" name="Google Shape;9222;p112"/>
          <p:cNvSpPr txBox="1"/>
          <p:nvPr/>
        </p:nvSpPr>
        <p:spPr>
          <a:xfrm>
            <a:off x="805734" y="47230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1</a:t>
            </a:r>
          </a:p>
        </p:txBody>
      </p:sp>
      <p:sp>
        <p:nvSpPr>
          <p:cNvPr id="9224" name="Google Shape;9224;p112"/>
          <p:cNvSpPr txBox="1"/>
          <p:nvPr/>
        </p:nvSpPr>
        <p:spPr>
          <a:xfrm>
            <a:off x="2758434" y="47230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2</a:t>
            </a:r>
          </a:p>
        </p:txBody>
      </p:sp>
      <p:sp>
        <p:nvSpPr>
          <p:cNvPr id="9226" name="Google Shape;9226;p112"/>
          <p:cNvSpPr txBox="1"/>
          <p:nvPr/>
        </p:nvSpPr>
        <p:spPr>
          <a:xfrm>
            <a:off x="7440342"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3</a:t>
            </a:r>
          </a:p>
        </p:txBody>
      </p:sp>
      <p:sp>
        <p:nvSpPr>
          <p:cNvPr id="9228" name="Google Shape;9228;p112"/>
          <p:cNvSpPr txBox="1"/>
          <p:nvPr/>
        </p:nvSpPr>
        <p:spPr>
          <a:xfrm>
            <a:off x="9359589"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4</a:t>
            </a:r>
          </a:p>
        </p:txBody>
      </p:sp>
      <p:sp>
        <p:nvSpPr>
          <p:cNvPr id="9230" name="Google Shape;9230;p112"/>
          <p:cNvSpPr txBox="1"/>
          <p:nvPr/>
        </p:nvSpPr>
        <p:spPr>
          <a:xfrm>
            <a:off x="7351134" y="47230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3</a:t>
            </a:r>
          </a:p>
        </p:txBody>
      </p:sp>
      <p:sp>
        <p:nvSpPr>
          <p:cNvPr id="9232" name="Google Shape;9232;p112"/>
          <p:cNvSpPr txBox="1"/>
          <p:nvPr/>
        </p:nvSpPr>
        <p:spPr>
          <a:xfrm>
            <a:off x="9303834" y="47230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4</a:t>
            </a:r>
          </a:p>
        </p:txBody>
      </p:sp>
      <p:sp>
        <p:nvSpPr>
          <p:cNvPr id="97" name="Google Shape;9218;p112"/>
          <p:cNvSpPr txBox="1"/>
          <p:nvPr/>
        </p:nvSpPr>
        <p:spPr>
          <a:xfrm>
            <a:off x="2862877" y="1998709"/>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Provisions jamais recalculées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98" name="Google Shape;9218;p112"/>
          <p:cNvSpPr txBox="1"/>
          <p:nvPr/>
        </p:nvSpPr>
        <p:spPr>
          <a:xfrm>
            <a:off x="7408766" y="2018006"/>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Épargne utilisée pour d'autres emplois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99" name="Google Shape;9218;p112"/>
          <p:cNvSpPr txBox="1"/>
          <p:nvPr/>
        </p:nvSpPr>
        <p:spPr>
          <a:xfrm>
            <a:off x="9465809" y="2038436"/>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Écart entre échéances et précomptes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0" name="Google Shape;9218;p112"/>
          <p:cNvSpPr txBox="1"/>
          <p:nvPr/>
        </p:nvSpPr>
        <p:spPr>
          <a:xfrm>
            <a:off x="907230" y="3725703"/>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Coût réel des sinistres inconnu</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1" name="Google Shape;9218;p112"/>
          <p:cNvSpPr txBox="1"/>
          <p:nvPr/>
        </p:nvSpPr>
        <p:spPr>
          <a:xfrm>
            <a:off x="2964273" y="3746133"/>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Engagements mal mesurés au bilan</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2" name="Google Shape;9218;p112"/>
          <p:cNvSpPr txBox="1"/>
          <p:nvPr/>
        </p:nvSpPr>
        <p:spPr>
          <a:xfrm>
            <a:off x="7510162" y="3765430"/>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Manque de liquidités en cas de retraits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3" name="Google Shape;9218;p112"/>
          <p:cNvSpPr txBox="1"/>
          <p:nvPr/>
        </p:nvSpPr>
        <p:spPr>
          <a:xfrm>
            <a:off x="9567205" y="3785860"/>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Retards et pertes sur les prêts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pic>
        <p:nvPicPr>
          <p:cNvPr id="27" name="Image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76588" y="3164965"/>
            <a:ext cx="389251" cy="389251"/>
          </a:xfrm>
          <a:prstGeom prst="rect">
            <a:avLst/>
          </a:prstGeom>
        </p:spPr>
      </p:pic>
      <p:pic>
        <p:nvPicPr>
          <p:cNvPr id="28" name="Image 2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03377" y="3160836"/>
            <a:ext cx="375952" cy="375953"/>
          </a:xfrm>
          <a:prstGeom prst="rect">
            <a:avLst/>
          </a:prstGeom>
        </p:spPr>
      </p:pic>
      <p:pic>
        <p:nvPicPr>
          <p:cNvPr id="29" name="Image 2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428049" y="3121109"/>
            <a:ext cx="423892" cy="433107"/>
          </a:xfrm>
          <a:prstGeom prst="rect">
            <a:avLst/>
          </a:prstGeom>
        </p:spPr>
      </p:pic>
      <p:pic>
        <p:nvPicPr>
          <p:cNvPr id="30" name="Image 2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60990" y="3121109"/>
            <a:ext cx="484396" cy="490027"/>
          </a:xfrm>
          <a:prstGeom prst="rect">
            <a:avLst/>
          </a:prstGeom>
        </p:spPr>
      </p:pic>
      <p:pic>
        <p:nvPicPr>
          <p:cNvPr id="2" name="Image 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400000">
            <a:off x="5451325" y="2716425"/>
            <a:ext cx="1112757" cy="1112757"/>
          </a:xfrm>
          <a:prstGeom prst="rect">
            <a:avLst/>
          </a:prstGeom>
        </p:spPr>
      </p:pic>
      <p:sp>
        <p:nvSpPr>
          <p:cNvPr id="9233"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Carte des risques</a:t>
            </a:r>
          </a:p>
        </p:txBody>
      </p:sp>
      <p:sp>
        <p:nvSpPr>
          <p:cNvPr id="9234"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causes identifiées produisent quatre risques pour le FPPN</a:t>
            </a:r>
          </a:p>
        </p:txBody>
      </p:sp>
      <p:sp>
        <p:nvSpPr>
          <p:cNvPr id="9235"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causes relèvent de la gestion des données et des choix d'emploi des ressources. Les effets restent à chiffrer</a:t>
            </a:r>
          </a:p>
        </p:txBody>
      </p:sp>
      <p:sp>
        <p:nvSpPr>
          <p:cNvPr id="9236"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9237" name="TextBox 923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9310092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Recommandations prioritaires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Sept actions conditionnent la fiabilité des engagements et la conformité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trois premières actions relèvent de la transmission de données, les quatre suivantes des décisions de gestion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Numéros de la liste des documents demandés (PBC)</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 : Actions recommandées</a:t>
            </a:r>
          </a:p>
        </p:txBody>
      </p:sp>
      <p:graphicFrame>
        <p:nvGraphicFramePr>
          <p:cNvPr id="32" name="Table 31"/>
          <p:cNvGraphicFramePr>
            <a:graphicFrameLocks noGrp="1"/>
          </p:cNvGraphicFramePr>
          <p:nvPr/>
        </p:nvGraphicFramePr>
        <p:xfrm>
          <a:off x="503999" y="1655999"/>
          <a:ext cx="11232000" cy="2975557"/>
        </p:xfrm>
        <a:graphic>
          <a:graphicData uri="http://schemas.openxmlformats.org/drawingml/2006/table">
            <a:tbl>
              <a:tblPr firstRow="0" bandRow="0">
                <a:tableStyleId>{5940675A-B579-460E-94D1-54222C63F5DA}</a:tableStyleId>
              </a:tblPr>
              <a:tblGrid>
                <a:gridCol w="360000"/>
                <a:gridCol w="4464000"/>
                <a:gridCol w="5184000"/>
                <a:gridCol w="1224000"/>
              </a:tblGrid>
              <a:tr h="225250">
                <a:tc>
                  <a:txBody>
                    <a:bodyPr/>
                    <a:lstStyle/>
                    <a:p>
                      <a:pPr marL="0" indent="0" lvl="0">
                        <a:buNone/>
                      </a:pPr>
                      <a:r>
                        <a:rPr sz="11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Action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Objet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Priorité</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Transmettre les bases de prestations décès et santé 2020 à 2026 (13, 28, 40).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Calculer les provisions, la sinistralité par année de survenance et les délais.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Urgente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Transmettre le fichier des mutualistes avec date de naissance et sexe (9).</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Mesurer la mortalité, projeter l'équilibre technique et calculer les engagements.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Urgente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Transmettre les comptes individuels PEP et EFC et leurs règlements (16, 17).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Évaluer la dette envers chaque épargnant et ses échéances.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Urgente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Recalculer les provisions techniques à chaque clôture et les reclasser en compte 190.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Respecter l'article 7 du règlement d'exécution et le plan comptable.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Haute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Présenter à l'AIRMS un plan de mise en conformité des ratios prudentiels.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Réserve obligatoire, fonds propres, liquidité, frais de fonctionnement.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Haute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Adosser l'épargne à des placements liquides et séparer ses comptes (cantonnement).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Couvrir l'épargne exigible, encadrer le financement du Grenier et du CMP.</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Haute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Faire réaliser l'étude actuarielle quinquennale des risques longs.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Article 14 du règlement d'exécution n° 004/2022.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Moyenne</a:t>
                      </a:r>
                    </a:p>
                  </a:txBody>
                  <a:tcPr marL="43200" marR="43200" marT="14400" marB="14400" anchor="ctr">
                    <a:solidFill>
                      <a:srgbClr val="FFFFFF"/>
                    </a:solidFill>
                  </a:tcPr>
                </a:tc>
              </a:tr>
            </a:tbl>
          </a:graphicData>
        </a:graphic>
      </p:graphicFrame>
      <p:sp>
        <p:nvSpPr>
          <p:cNvPr id="33" name="TextBox 32"/>
          <p:cNvSpPr txBox="1"/>
          <p:nvPr/>
        </p:nvSpPr>
        <p:spPr>
          <a:xfrm>
            <a:off x="503999" y="4739558"/>
            <a:ext cx="11232000" cy="1128441"/>
          </a:xfrm>
          <a:prstGeom prst="rect">
            <a:avLst/>
          </a:prstGeom>
          <a:noFill/>
        </p:spPr>
        <p:txBody>
          <a:bodyPr wrap="square" lIns="54000" rIns="54000"/>
          <a:lstStyle/>
          <a:p>
            <a:pPr algn="just">
              <a:spcAft>
                <a:spcPts val="600"/>
              </a:spcAft>
            </a:pPr>
            <a:r>
              <a:rPr sz="1300" b="1">
                <a:solidFill>
                  <a:srgbClr val="060606"/>
                </a:solidFill>
                <a:latin typeface="Helvetica"/>
              </a:rPr>
              <a:t>Les actions 1 à 3 lèvent les limites de ce rapport. Les actions 4 à 7 corrigent les écarts déjà démontrés.</a:t>
            </a:r>
          </a:p>
          <a:p>
            <a:pPr algn="just">
              <a:spcAft>
                <a:spcPts val="600"/>
              </a:spcAft>
            </a:pPr>
            <a:r>
              <a:rPr sz="1300" b="1">
                <a:solidFill>
                  <a:srgbClr val="060606"/>
                </a:solidFill>
                <a:latin typeface="Helvetica"/>
              </a:rPr>
              <a:t>Implication pour le FPPN.</a:t>
            </a:r>
            <a:r>
              <a:rPr sz="1300" b="0">
                <a:solidFill>
                  <a:srgbClr val="060606"/>
                </a:solidFill>
                <a:latin typeface="Helvetica"/>
              </a:rPr>
              <a:t> Le plan de mise en conformité (action 5) dépend des données des actions 1 à 3 : les deux chantiers doivent être menés ensemble.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PEP : Plan Épargne Plus | EFC : entraide fin de carrière | CMP : sigle des comptes du FPPN, signification à confirmer | PBC : liste des documents demandés au client</a:t>
            </a:r>
          </a:p>
        </p:txBody>
      </p:sp>
    </p:spTree>
    <p:extLst>
      <p:ext uri="{BB962C8B-B14F-4D97-AF65-F5344CB8AC3E}">
        <p14:creationId xmlns:p14="http://schemas.microsoft.com/office/powerpoint/2010/main" val="357964367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 1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5" name="Google Shape;7418;p41"/>
          <p:cNvSpPr/>
          <p:nvPr/>
        </p:nvSpPr>
        <p:spPr>
          <a:xfrm rot="21013821">
            <a:off x="6297998" y="4058425"/>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38" name="Google Shape;7421;p41"/>
          <p:cNvSpPr/>
          <p:nvPr/>
        </p:nvSpPr>
        <p:spPr>
          <a:xfrm rot="356255">
            <a:off x="6295963" y="1897141"/>
            <a:ext cx="1054365" cy="808304"/>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1" name="Google Shape;7424;p41"/>
          <p:cNvSpPr/>
          <p:nvPr/>
        </p:nvSpPr>
        <p:spPr>
          <a:xfrm rot="282502">
            <a:off x="1008889" y="4058237"/>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4" name="Google Shape;7427;p41"/>
          <p:cNvSpPr/>
          <p:nvPr/>
        </p:nvSpPr>
        <p:spPr>
          <a:xfrm rot="21275242">
            <a:off x="1044421" y="1901356"/>
            <a:ext cx="1054398" cy="808329"/>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7" name="Google Shape;7431;p41"/>
          <p:cNvSpPr txBox="1">
            <a:spLocks/>
          </p:cNvSpPr>
          <p:nvPr/>
        </p:nvSpPr>
        <p:spPr>
          <a:xfrm rot="21238167">
            <a:off x="1055515" y="2057346"/>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01</a:t>
            </a:r>
          </a:p>
        </p:txBody>
      </p:sp>
      <p:sp>
        <p:nvSpPr>
          <p:cNvPr id="48" name="Google Shape;7432;p41"/>
          <p:cNvSpPr txBox="1">
            <a:spLocks/>
          </p:cNvSpPr>
          <p:nvPr/>
        </p:nvSpPr>
        <p:spPr>
          <a:xfrm rot="395864">
            <a:off x="1055515" y="4196382"/>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02</a:t>
            </a:r>
          </a:p>
        </p:txBody>
      </p:sp>
      <p:sp>
        <p:nvSpPr>
          <p:cNvPr id="53" name="Google Shape;7437;p41"/>
          <p:cNvSpPr txBox="1">
            <a:spLocks/>
          </p:cNvSpPr>
          <p:nvPr/>
        </p:nvSpPr>
        <p:spPr>
          <a:xfrm rot="354388">
            <a:off x="6338696" y="2057346"/>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03</a:t>
            </a:r>
          </a:p>
        </p:txBody>
      </p:sp>
      <p:sp>
        <p:nvSpPr>
          <p:cNvPr id="54" name="Google Shape;7438;p41"/>
          <p:cNvSpPr txBox="1">
            <a:spLocks/>
          </p:cNvSpPr>
          <p:nvPr/>
        </p:nvSpPr>
        <p:spPr>
          <a:xfrm rot="21176429">
            <a:off x="6338696" y="4196382"/>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04</a:t>
            </a:r>
          </a:p>
        </p:txBody>
      </p:sp>
      <p:sp>
        <p:nvSpPr>
          <p:cNvPr id="19" name="Rectangle 18"/>
          <p:cNvSpPr/>
          <p:nvPr/>
        </p:nvSpPr>
        <p:spPr>
          <a:xfrm>
            <a:off x="2312337" y="1521177"/>
            <a:ext cx="3277758" cy="1753551"/>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Collecter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Le FPPN transmet les bases de prestations, les mutualistes avec date de naissance, les comptes d'épargne et les barèmes.</a:t>
            </a:r>
            <a:endParaRPr lang="fr-CI" sz="1600" noProof="0"/>
          </a:p>
        </p:txBody>
      </p:sp>
      <p:sp>
        <p:nvSpPr>
          <p:cNvPr id="20" name="Rectangle 19"/>
          <p:cNvSpPr/>
          <p:nvPr/>
        </p:nvSpPr>
        <p:spPr>
          <a:xfrm>
            <a:off x="2312337" y="3826704"/>
            <a:ext cx="3277758" cy="1753551"/>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Calculer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calcule les provisions (PSAP, Chain Ladder), la mortalité observée et les engagements d'épargne.</a:t>
            </a:r>
            <a:endParaRPr lang="fr-CI" sz="1600" noProof="0"/>
          </a:p>
        </p:txBody>
      </p:sp>
      <p:sp>
        <p:nvSpPr>
          <p:cNvPr id="22" name="Rectangle 21"/>
          <p:cNvSpPr/>
          <p:nvPr/>
        </p:nvSpPr>
        <p:spPr>
          <a:xfrm>
            <a:off x="7611772" y="1525274"/>
            <a:ext cx="3277758" cy="1753551"/>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Vérifier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rapproche les résultats de la comptabilité et des ratios de l'UEMOA, puis les discute avec le FPPN.</a:t>
            </a:r>
            <a:endParaRPr lang="fr-CI" sz="1600" noProof="0"/>
          </a:p>
        </p:txBody>
      </p:sp>
      <p:sp>
        <p:nvSpPr>
          <p:cNvPr id="23" name="Rectangle 22"/>
          <p:cNvSpPr/>
          <p:nvPr/>
        </p:nvSpPr>
        <p:spPr>
          <a:xfrm>
            <a:off x="7611772" y="3830800"/>
            <a:ext cx="3277758" cy="1753551"/>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Projeter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projette l'équilibre technique sur 5 à 10 ans et chiffre les recommandations.</a:t>
            </a:r>
            <a:endParaRPr lang="fr-CI" sz="1600" noProof="0"/>
          </a:p>
        </p:txBody>
      </p:sp>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55"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Feuille de route proposée</a:t>
            </a:r>
          </a:p>
        </p:txBody>
      </p:sp>
      <p:sp>
        <p:nvSpPr>
          <p:cNvPr id="56"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étapes pour passer du constat à l'évaluation des engagements</a:t>
            </a:r>
          </a:p>
        </p:txBody>
      </p:sp>
      <p:sp>
        <p:nvSpPr>
          <p:cNvPr id="57"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étape dépend de la précédente. La première est la transmission des données manquantes</a:t>
            </a:r>
          </a:p>
        </p:txBody>
      </p:sp>
      <p:sp>
        <p:nvSpPr>
          <p:cNvPr id="58"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9" name="TextBox 58"/>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PSAP : provision pour sinistres à payer</a:t>
            </a:r>
          </a:p>
        </p:txBody>
      </p:sp>
    </p:spTree>
    <p:extLst>
      <p:ext uri="{BB962C8B-B14F-4D97-AF65-F5344CB8AC3E}">
        <p14:creationId xmlns:p14="http://schemas.microsoft.com/office/powerpoint/2010/main" val="213771860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Comprendre le FPPN</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Cadre, garanties, circuits et notions de base</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51126784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Cadre juridique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est une mutuelle sociale agréée, régie par le droit de l'UEMOA</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règlement n° 07/2009/CM/UEMOA fixe les règles, l'AIRMS contrôle, le Code CIMA sert de référence technique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textes cités (documentation publique de l'AIRMS fournie le 18/10/2026). Répertoire AIRMS des mutuelles agréées, mise à jour du 15/10/2026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 : Textes et organismes de référence</a:t>
            </a:r>
          </a:p>
        </p:txBody>
      </p:sp>
      <p:graphicFrame>
        <p:nvGraphicFramePr>
          <p:cNvPr id="32" name="Table 31"/>
          <p:cNvGraphicFramePr>
            <a:graphicFrameLocks noGrp="1"/>
          </p:cNvGraphicFramePr>
          <p:nvPr/>
        </p:nvGraphicFramePr>
        <p:xfrm>
          <a:off x="503999" y="1655999"/>
          <a:ext cx="11232000" cy="2582656"/>
        </p:xfrm>
        <a:graphic>
          <a:graphicData uri="http://schemas.openxmlformats.org/drawingml/2006/table">
            <a:tbl>
              <a:tblPr firstRow="0" bandRow="0">
                <a:tableStyleId>{5940675A-B579-460E-94D1-54222C63F5DA}</a:tableStyleId>
              </a:tblPr>
              <a:tblGrid>
                <a:gridCol w="2880000"/>
                <a:gridCol w="4104000"/>
                <a:gridCol w="4248000"/>
              </a:tblGrid>
              <a:tr h="225250">
                <a:tc>
                  <a:txBody>
                    <a:bodyPr/>
                    <a:lstStyle/>
                    <a:p>
                      <a:pPr marL="0" indent="0" lvl="0">
                        <a:buNone/>
                      </a:pPr>
                      <a:r>
                        <a:rPr sz="1100" b="1">
                          <a:solidFill>
                            <a:srgbClr val="FFFFFF"/>
                          </a:solidFill>
                          <a:latin typeface="Helvetica"/>
                        </a:rPr>
                        <a:t>Texte ou organisme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Rôle pour le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Usage dans ce rapport</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Règlement n° 07/2009/CM/UEMOA du 26/06/2009</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Il fixe l'agrément, les obligations, les sanctions et le contrôle des mutuelles sociales.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Cadre général (partie 10)</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d'exécution n° 004/2022/COM/UEMOA du 01/06/2022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 fixe les règles prudentielles : provisions, réserves, risques longs, placements.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Exigences prudentielles (partie 10)</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Décision n° 05/2022/COM/UEMOA du 01/06/2022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Elle fixe les indicateurs et ratios prudentiels et leurs normes.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Tableau de bord des ratios (partie 10)</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n° 03/2012/CM/UEMOA et PCMS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Ils imposent le plan comptable des mutuelles sociales depuis l'exercice 2014.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Lecture et contrôle des comptes</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AIRMS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L'Agence ivoirienne de régulation de la mutualité sociale agrée et contrôle les mutuelles.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Destinataire des états et des ratios</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Code CIMA, article 338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 fixe les tables de mortalité et le taux d'intérêt maximal (3,5 %) des assureurs vie.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Référence technique (partie 11)</a:t>
                      </a:r>
                    </a:p>
                  </a:txBody>
                  <a:tcPr marL="43200" marR="43200" marT="14400" marB="14400" anchor="ctr">
                    <a:solidFill>
                      <a:srgbClr val="F2F2F2"/>
                    </a:solidFill>
                  </a:tcPr>
                </a:tc>
              </a:tr>
            </a:tbl>
          </a:graphicData>
        </a:graphic>
      </p:graphicFrame>
      <p:sp>
        <p:nvSpPr>
          <p:cNvPr id="33" name="TextBox 32"/>
          <p:cNvSpPr txBox="1"/>
          <p:nvPr/>
        </p:nvSpPr>
        <p:spPr>
          <a:xfrm>
            <a:off x="503999" y="4346657"/>
            <a:ext cx="11232000" cy="1521342"/>
          </a:xfrm>
          <a:prstGeom prst="rect">
            <a:avLst/>
          </a:prstGeom>
          <a:noFill/>
        </p:spPr>
        <p:txBody>
          <a:bodyPr wrap="square" lIns="54000" rIns="54000"/>
          <a:lstStyle/>
          <a:p>
            <a:pPr algn="just">
              <a:spcAft>
                <a:spcPts val="600"/>
              </a:spcAft>
            </a:pPr>
            <a:r>
              <a:rPr sz="1300" b="1">
                <a:solidFill>
                  <a:srgbClr val="060606"/>
                </a:solidFill>
                <a:latin typeface="Helvetica"/>
              </a:rPr>
              <a:t>Le FPPN doit respecter des normes chiffrées depuis le 1er juin 2022.</a:t>
            </a:r>
            <a:r>
              <a:rPr sz="1300" b="0">
                <a:solidFill>
                  <a:srgbClr val="060606"/>
                </a:solidFill>
                <a:latin typeface="Helvetica"/>
              </a:rPr>
              <a:t> Avant cette date, les textes ne fixaient pas de ratios prudentiels précis pour les mutuelles.</a:t>
            </a:r>
          </a:p>
          <a:p>
            <a:pPr algn="just">
              <a:spcAft>
                <a:spcPts val="600"/>
              </a:spcAft>
            </a:pPr>
            <a:r>
              <a:rPr sz="1300" b="1">
                <a:solidFill>
                  <a:srgbClr val="060606"/>
                </a:solidFill>
                <a:latin typeface="Helvetica"/>
              </a:rPr>
              <a:t>Implication pour le FPPN.</a:t>
            </a:r>
            <a:r>
              <a:rPr sz="1300" b="0">
                <a:solidFill>
                  <a:srgbClr val="060606"/>
                </a:solidFill>
                <a:latin typeface="Helvetica"/>
              </a:rPr>
              <a:t> Les ratios de la Décision n° 05/2022 s'appliquent pleinement aux exercices 2022 à 2025 de la période d'analyse : la partie 10 les calcule un par un.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 | PCMS : plan comptable des mutuelles sociales | CIMA : Conférence interafricaine des marchés d'assurances</a:t>
            </a:r>
          </a:p>
        </p:txBody>
      </p:sp>
    </p:spTree>
    <p:extLst>
      <p:ext uri="{BB962C8B-B14F-4D97-AF65-F5344CB8AC3E}">
        <p14:creationId xmlns:p14="http://schemas.microsoft.com/office/powerpoint/2010/main" val="15908465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Garanties et produits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Huit postes de précompte portent l'ensemble des produits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Maladie et décès sont les garanties de base. Épargne, prêts, flotte et MEDOC sont des produits complémentaires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5 : Produits du FPPN et montants observés</a:t>
            </a:r>
          </a:p>
        </p:txBody>
      </p:sp>
      <p:graphicFrame>
        <p:nvGraphicFramePr>
          <p:cNvPr id="32" name="Table 31"/>
          <p:cNvGraphicFramePr>
            <a:graphicFrameLocks noGrp="1"/>
          </p:cNvGraphicFramePr>
          <p:nvPr/>
        </p:nvGraphicFramePr>
        <p:xfrm>
          <a:off x="503999" y="1655999"/>
          <a:ext cx="7056000" cy="3368456"/>
        </p:xfrm>
        <a:graphic>
          <a:graphicData uri="http://schemas.openxmlformats.org/drawingml/2006/table">
            <a:tbl>
              <a:tblPr firstRow="0" bandRow="0">
                <a:tableStyleId>{5940675A-B579-460E-94D1-54222C63F5DA}</a:tableStyleId>
              </a:tblPr>
              <a:tblGrid>
                <a:gridCol w="752400"/>
                <a:gridCol w="1850400"/>
                <a:gridCol w="2671200"/>
                <a:gridCol w="1782000"/>
              </a:tblGrid>
              <a:tr h="225250">
                <a:tc>
                  <a:txBody>
                    <a:bodyPr/>
                    <a:lstStyle/>
                    <a:p>
                      <a:pPr marL="0" indent="0" lvl="0">
                        <a:buNone/>
                      </a:pPr>
                      <a:r>
                        <a:rPr sz="1100" b="1">
                          <a:solidFill>
                            <a:srgbClr val="FFFFFF"/>
                          </a:solidFill>
                          <a:latin typeface="Helvetica"/>
                        </a:rPr>
                        <a:t>Poste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Nature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Montant moyen observé</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936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Garantie santé des actifs, 3,77 % du salaire de base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7 195 FCFA par mois (août 2026)</a:t>
                      </a:r>
                    </a:p>
                  </a:txBody>
                  <a:tcPr marL="43200" marR="43200" marT="14400" marB="14400" anchor="ctr">
                    <a:solidFill>
                      <a:srgbClr val="FFFFFF"/>
                    </a:solidFill>
                  </a:tcPr>
                </a:tc>
              </a:tr>
              <a:tr h="560551">
                <a:tc>
                  <a:txBody>
                    <a:bodyPr/>
                    <a:lstStyle/>
                    <a:p>
                      <a:pPr marL="0" indent="0" lvl="0">
                        <a:buNone/>
                      </a:pPr>
                      <a:r>
                        <a:rPr sz="1100" b="1">
                          <a:solidFill>
                            <a:srgbClr val="060606"/>
                          </a:solidFill>
                          <a:latin typeface="Helvetica"/>
                        </a:rPr>
                        <a:t>8Z6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Décès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Capital décès, frais funéraires, allocations, 1,23 % du salaire de base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voir partie 4</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870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EFC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Épargne versée en fin de carrière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8 132 FCFA par mois (2025)</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998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PEP</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Épargne volontaire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voir partie 6</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9X4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Grenier du Policier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Remboursement de prêts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voir partie 7</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9W3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Flotte automobile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Assurance des véhicules, assureur GNA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environ 10 000 FCFA</a:t>
                      </a:r>
                    </a:p>
                  </a:txBody>
                  <a:tcPr marL="43200" marR="43200" marT="14400" marB="14400" anchor="ctr">
                    <a:solidFill>
                      <a:srgbClr val="F2F2F2"/>
                    </a:solidFill>
                  </a:tcPr>
                </a:tc>
              </a:tr>
              <a:tr h="560551">
                <a:tc>
                  <a:txBody>
                    <a:bodyPr/>
                    <a:lstStyle/>
                    <a:p>
                      <a:pPr marL="0" indent="0" lvl="0">
                        <a:buNone/>
                      </a:pPr>
                      <a:r>
                        <a:rPr sz="1100" b="1">
                          <a:solidFill>
                            <a:srgbClr val="060606"/>
                          </a:solidFill>
                          <a:latin typeface="Helvetica"/>
                        </a:rPr>
                        <a:t>8Z7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MEDOC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Complément pharmacie, le policier paie 20 % (déclaration du 19/10/2026)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5 000 FCFA</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CGRAE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Retraités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Garantie santé, précompte sur pension</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11 940 FCFA</a:t>
                      </a:r>
                    </a:p>
                  </a:txBody>
                  <a:tcPr marL="43200" marR="43200" marT="14400" marB="14400" anchor="ctr">
                    <a:solidFill>
                      <a:srgbClr val="F2F2F2"/>
                    </a:solidFill>
                  </a:tcPr>
                </a:tc>
              </a:tr>
            </a:tbl>
          </a:graphicData>
        </a:graphic>
      </p:graphicFrame>
      <p:sp>
        <p:nvSpPr>
          <p:cNvPr id="33" name="TextBox 32"/>
          <p:cNvSpPr txBox="1"/>
          <p:nvPr/>
        </p:nvSpPr>
        <p:spPr>
          <a:xfrm>
            <a:off x="7776000" y="1386000"/>
            <a:ext cx="3960000" cy="4482000"/>
          </a:xfrm>
          <a:prstGeom prst="rect">
            <a:avLst/>
          </a:prstGeom>
          <a:noFill/>
        </p:spPr>
        <p:txBody>
          <a:bodyPr wrap="square" lIns="54000" rIns="54000"/>
          <a:lstStyle/>
          <a:p>
            <a:pPr algn="just">
              <a:spcAft>
                <a:spcPts val="600"/>
              </a:spcAft>
            </a:pPr>
            <a:r>
              <a:rPr sz="1400" b="1">
                <a:solidFill>
                  <a:srgbClr val="060606"/>
                </a:solidFill>
                <a:latin typeface="Helvetica"/>
              </a:rPr>
              <a:t>Le FPPN couvre à la fois des risques courts et des risques longs.</a:t>
            </a:r>
            <a:r>
              <a:rPr sz="1400" b="0">
                <a:solidFill>
                  <a:srgbClr val="060606"/>
                </a:solidFill>
                <a:latin typeface="Helvetica"/>
              </a:rPr>
              <a:t> La maladie se règle dans l'année. L'EFC et le PEP sont versés des années après les cotisations.</a:t>
            </a:r>
          </a:p>
          <a:p>
            <a:pPr algn="just">
              <a:spcAft>
                <a:spcPts val="600"/>
              </a:spcAft>
            </a:pPr>
            <a:r>
              <a:rPr sz="1400" b="1">
                <a:solidFill>
                  <a:srgbClr val="060606"/>
                </a:solidFill>
                <a:latin typeface="Helvetica"/>
              </a:rPr>
              <a:t>Plusieurs produits n'ont pas de document qui fixe leurs règles.</a:t>
            </a:r>
            <a:r>
              <a:rPr sz="1400" b="0">
                <a:solidFill>
                  <a:srgbClr val="060606"/>
                </a:solidFill>
                <a:latin typeface="Helvetica"/>
              </a:rPr>
              <a:t> Le barème, le règlement de l'EFC et du PEP, et la documentation de MEDOC n'ont pas été transmis.</a:t>
            </a:r>
          </a:p>
          <a:p>
            <a:pPr algn="just">
              <a:spcAft>
                <a:spcPts val="600"/>
              </a:spcAft>
            </a:pPr>
            <a:r>
              <a:rPr sz="1400" b="1">
                <a:solidFill>
                  <a:srgbClr val="060606"/>
                </a:solidFill>
                <a:latin typeface="Helvetica"/>
              </a:rPr>
              <a:t>Implication pour le FPPN.</a:t>
            </a:r>
            <a:r>
              <a:rPr sz="1400" b="0">
                <a:solidFill>
                  <a:srgbClr val="060606"/>
                </a:solidFill>
                <a:latin typeface="Helvetica"/>
              </a:rPr>
              <a:t> Les risques longs (EFC, PEP) relèvent de règles prudentielles plus strictes : étude actuarielle tous les cinq ans, certification des comptes, réserve de trésorerie (partie 10).</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GNA : assureur de la flotte automobile (compte 47111106) | MEDOC : produit santé complémentaire du poste 8Z7 | 936 : poste maladie | 8Z6 : poste décès | 870 : poste EFC | 998 : poste PEP | 9X4 : poste Grenier | 9W3 : poste flotte automobile | 8Z7 : poste MEDOC</a:t>
            </a:r>
          </a:p>
        </p:txBody>
      </p:sp>
    </p:spTree>
    <p:extLst>
      <p:ext uri="{BB962C8B-B14F-4D97-AF65-F5344CB8AC3E}">
        <p14:creationId xmlns:p14="http://schemas.microsoft.com/office/powerpoint/2010/main" val="3194958169"/>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Circuit des précomptes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maladie et le décès suivent un circuit direct que le FPPN ne maîtrise pas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produits complémentaires, les retraités et la flotte passent par une plateforme de partage, la maladie et le décès non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 Fichiers aller et retour reçus le 15/10/2026</a:t>
            </a:r>
          </a:p>
        </p:txBody>
      </p:sp>
      <p:sp>
        <p:nvSpPr>
          <p:cNvPr id="31" name="Rectangle 30"/>
          <p:cNvSpPr/>
          <p:nvPr/>
        </p:nvSpPr>
        <p:spPr>
          <a:xfrm>
            <a:off x="503999" y="1404000"/>
            <a:ext cx="11232000" cy="846000"/>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3999" y="1404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Direction du personnel de la Police</a:t>
            </a:r>
          </a:p>
        </p:txBody>
      </p:sp>
      <p:sp>
        <p:nvSpPr>
          <p:cNvPr id="33" name="Rectangle 32"/>
          <p:cNvSpPr/>
          <p:nvPr/>
        </p:nvSpPr>
        <p:spPr>
          <a:xfrm>
            <a:off x="503999" y="2250000"/>
            <a:ext cx="11232000" cy="8460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3999" y="2250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Solde, CGRAE, GNA</a:t>
            </a:r>
          </a:p>
        </p:txBody>
      </p:sp>
      <p:sp>
        <p:nvSpPr>
          <p:cNvPr id="35" name="Rectangle 34"/>
          <p:cNvSpPr/>
          <p:nvPr/>
        </p:nvSpPr>
        <p:spPr>
          <a:xfrm>
            <a:off x="503999" y="3096000"/>
            <a:ext cx="11232000" cy="846000"/>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3999" y="3096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Plateforme de partage</a:t>
            </a:r>
          </a:p>
        </p:txBody>
      </p:sp>
      <p:sp>
        <p:nvSpPr>
          <p:cNvPr id="37" name="Rectangle 36"/>
          <p:cNvSpPr/>
          <p:nvPr/>
        </p:nvSpPr>
        <p:spPr>
          <a:xfrm>
            <a:off x="503999" y="3942000"/>
            <a:ext cx="11232000" cy="8460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3999" y="3942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FPPN : responsable des cotisations</a:t>
            </a:r>
          </a:p>
        </p:txBody>
      </p:sp>
      <p:sp>
        <p:nvSpPr>
          <p:cNvPr id="39" name="Logigramme a1"/>
          <p:cNvSpPr/>
          <p:nvPr/>
        </p:nvSpPr>
        <p:spPr>
          <a:xfrm>
            <a:off x="2015999" y="1520999"/>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aller</a:t>
            </a:r>
          </a:p>
          <a:p>
            <a:pPr algn="ctr"/>
            <a:r>
              <a:rPr sz="850" b="0">
                <a:solidFill>
                  <a:srgbClr val="060606"/>
                </a:solidFill>
                <a:latin typeface="Helvetica"/>
              </a:rPr>
              <a:t>936 et 8Z6</a:t>
            </a:r>
          </a:p>
        </p:txBody>
      </p:sp>
      <p:sp>
        <p:nvSpPr>
          <p:cNvPr id="40" name="Logigramme a2"/>
          <p:cNvSpPr/>
          <p:nvPr/>
        </p:nvSpPr>
        <p:spPr>
          <a:xfrm>
            <a:off x="2015999" y="2367000"/>
            <a:ext cx="1224000" cy="61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Précompte</a:t>
            </a:r>
          </a:p>
          <a:p>
            <a:pPr algn="ctr"/>
            <a:r>
              <a:rPr sz="850" b="0">
                <a:solidFill>
                  <a:srgbClr val="060606"/>
                </a:solidFill>
                <a:latin typeface="Helvetica"/>
              </a:rPr>
              <a:t>sur salaire (Solde)</a:t>
            </a:r>
          </a:p>
        </p:txBody>
      </p:sp>
      <p:sp>
        <p:nvSpPr>
          <p:cNvPr id="41" name="Logigramme a3"/>
          <p:cNvSpPr/>
          <p:nvPr/>
        </p:nvSpPr>
        <p:spPr>
          <a:xfrm>
            <a:off x="3401999" y="4059000"/>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retour reçu</a:t>
            </a:r>
          </a:p>
          <a:p>
            <a:pPr algn="ctr"/>
            <a:r>
              <a:rPr sz="850" b="0">
                <a:solidFill>
                  <a:srgbClr val="060606"/>
                </a:solidFill>
                <a:latin typeface="Helvetica"/>
              </a:rPr>
              <a:t>en direct, canal à préciser</a:t>
            </a:r>
          </a:p>
        </p:txBody>
      </p:sp>
      <p:sp>
        <p:nvSpPr>
          <p:cNvPr id="42" name="Logigramme a4"/>
          <p:cNvSpPr/>
          <p:nvPr/>
        </p:nvSpPr>
        <p:spPr>
          <a:xfrm>
            <a:off x="4788000" y="4023000"/>
            <a:ext cx="1224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 aller</a:t>
            </a:r>
          </a:p>
          <a:p>
            <a:pPr algn="ctr"/>
            <a:r>
              <a:rPr sz="800" b="0">
                <a:solidFill>
                  <a:srgbClr val="060606"/>
                </a:solidFill>
                <a:latin typeface="Helvetica"/>
              </a:rPr>
              <a:t>au FPPN ?</a:t>
            </a:r>
          </a:p>
        </p:txBody>
      </p:sp>
      <p:sp>
        <p:nvSpPr>
          <p:cNvPr id="43" name="Logigramme a5"/>
          <p:cNvSpPr/>
          <p:nvPr/>
        </p:nvSpPr>
        <p:spPr>
          <a:xfrm>
            <a:off x="6173999" y="4051800"/>
            <a:ext cx="1224000" cy="61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C00000"/>
                </a:solidFill>
                <a:latin typeface="Helvetica"/>
              </a:rPr>
              <a:t>Rapprochement</a:t>
            </a:r>
          </a:p>
          <a:p>
            <a:pPr algn="ctr"/>
            <a:r>
              <a:rPr sz="850" b="1">
                <a:solidFill>
                  <a:srgbClr val="C00000"/>
                </a:solidFill>
                <a:latin typeface="Helvetica"/>
              </a:rPr>
              <a:t>impossible</a:t>
            </a:r>
          </a:p>
        </p:txBody>
      </p:sp>
      <p:cxnSp>
        <p:nvCxnSpPr>
          <p:cNvPr id="44" name="Flèche a1 vers a2"/>
          <p:cNvCxnSpPr>
            <a:stCxn id="39" idx="2"/>
            <a:endCxn id="40" idx="0"/>
          </p:cNvCxnSpPr>
          <p:nvPr/>
        </p:nvCxnSpPr>
        <p:spPr>
          <a:xfrm flipH="1">
            <a:off x="2627999" y="2132999"/>
            <a:ext cx="0" cy="234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2681999" y="2150999"/>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transmission directe</a:t>
            </a:r>
          </a:p>
        </p:txBody>
      </p:sp>
      <p:cxnSp>
        <p:nvCxnSpPr>
          <p:cNvPr id="46" name="Flèche a2 vers a3"/>
          <p:cNvCxnSpPr>
            <a:stCxn id="40" idx="3"/>
            <a:endCxn id="41" idx="0"/>
          </p:cNvCxnSpPr>
          <p:nvPr/>
        </p:nvCxnSpPr>
        <p:spPr>
          <a:xfrm>
            <a:off x="3239999" y="2673000"/>
            <a:ext cx="774000" cy="1386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3283198" y="2493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sans partage</a:t>
            </a:r>
          </a:p>
        </p:txBody>
      </p:sp>
      <p:cxnSp>
        <p:nvCxnSpPr>
          <p:cNvPr id="48" name="Flèche a3 vers a4"/>
          <p:cNvCxnSpPr>
            <a:stCxn id="41" idx="3"/>
            <a:endCxn id="42" idx="1"/>
          </p:cNvCxnSpPr>
          <p:nvPr/>
        </p:nvCxnSpPr>
        <p:spPr>
          <a:xfrm flipV="1">
            <a:off x="4625999" y="4365000"/>
            <a:ext cx="162001"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Flèche a4 vers a5"/>
          <p:cNvCxnSpPr>
            <a:stCxn id="42" idx="3"/>
            <a:endCxn id="43" idx="1"/>
          </p:cNvCxnSpPr>
          <p:nvPr/>
        </p:nvCxnSpPr>
        <p:spPr>
          <a:xfrm flipV="1">
            <a:off x="6012000" y="4357800"/>
            <a:ext cx="161999" cy="7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055200" y="4185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a:t>
            </a:r>
          </a:p>
        </p:txBody>
      </p:sp>
      <p:sp>
        <p:nvSpPr>
          <p:cNvPr id="51" name="Logigramme b1"/>
          <p:cNvSpPr/>
          <p:nvPr/>
        </p:nvSpPr>
        <p:spPr>
          <a:xfrm>
            <a:off x="7560000" y="4059000"/>
            <a:ext cx="1224000" cy="612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Souscriptions</a:t>
            </a:r>
          </a:p>
          <a:p>
            <a:pPr algn="ctr"/>
            <a:r>
              <a:rPr sz="850" b="1">
                <a:solidFill>
                  <a:srgbClr val="FFFFFF"/>
                </a:solidFill>
                <a:latin typeface="Helvetica"/>
              </a:rPr>
              <a:t>EFC, PEP, prêts, GNA, MEDOC</a:t>
            </a:r>
          </a:p>
        </p:txBody>
      </p:sp>
      <p:sp>
        <p:nvSpPr>
          <p:cNvPr id="52" name="Logigramme b2"/>
          <p:cNvSpPr/>
          <p:nvPr/>
        </p:nvSpPr>
        <p:spPr>
          <a:xfrm>
            <a:off x="8946000" y="4059000"/>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aller mensuel</a:t>
            </a:r>
          </a:p>
          <a:p>
            <a:pPr algn="ctr"/>
            <a:r>
              <a:rPr sz="850" b="0">
                <a:solidFill>
                  <a:srgbClr val="060606"/>
                </a:solidFill>
                <a:latin typeface="Helvetica"/>
              </a:rPr>
              <a:t>mécano, code, montant</a:t>
            </a:r>
          </a:p>
        </p:txBody>
      </p:sp>
      <p:sp>
        <p:nvSpPr>
          <p:cNvPr id="53" name="Logigramme b3"/>
          <p:cNvSpPr/>
          <p:nvPr/>
        </p:nvSpPr>
        <p:spPr>
          <a:xfrm>
            <a:off x="8946000" y="3212999"/>
            <a:ext cx="1224000" cy="61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Dépôt du</a:t>
            </a:r>
          </a:p>
          <a:p>
            <a:pPr algn="ctr"/>
            <a:r>
              <a:rPr sz="850" b="0">
                <a:solidFill>
                  <a:srgbClr val="060606"/>
                </a:solidFill>
                <a:latin typeface="Helvetica"/>
              </a:rPr>
              <a:t>fichier aller</a:t>
            </a:r>
          </a:p>
        </p:txBody>
      </p:sp>
      <p:sp>
        <p:nvSpPr>
          <p:cNvPr id="54" name="Logigramme b4"/>
          <p:cNvSpPr/>
          <p:nvPr/>
        </p:nvSpPr>
        <p:spPr>
          <a:xfrm>
            <a:off x="8946000" y="2367000"/>
            <a:ext cx="1224000" cy="61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Précompte</a:t>
            </a:r>
          </a:p>
          <a:p>
            <a:pPr algn="ctr"/>
            <a:r>
              <a:rPr sz="850" b="0">
                <a:solidFill>
                  <a:srgbClr val="060606"/>
                </a:solidFill>
                <a:latin typeface="Helvetica"/>
              </a:rPr>
              <a:t>sur salaire ou pension</a:t>
            </a:r>
          </a:p>
        </p:txBody>
      </p:sp>
      <p:sp>
        <p:nvSpPr>
          <p:cNvPr id="55" name="Logigramme b5"/>
          <p:cNvSpPr/>
          <p:nvPr/>
        </p:nvSpPr>
        <p:spPr>
          <a:xfrm>
            <a:off x="10332000" y="3212999"/>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retour</a:t>
            </a:r>
          </a:p>
          <a:p>
            <a:pPr algn="ctr"/>
            <a:r>
              <a:rPr sz="850" b="0">
                <a:solidFill>
                  <a:srgbClr val="060606"/>
                </a:solidFill>
                <a:latin typeface="Helvetica"/>
              </a:rPr>
              <a:t>et état des rejets récent</a:t>
            </a:r>
          </a:p>
        </p:txBody>
      </p:sp>
      <p:sp>
        <p:nvSpPr>
          <p:cNvPr id="56" name="Logigramme b6"/>
          <p:cNvSpPr/>
          <p:nvPr/>
        </p:nvSpPr>
        <p:spPr>
          <a:xfrm>
            <a:off x="10332000" y="4059000"/>
            <a:ext cx="1224000" cy="61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C00000"/>
                </a:solidFill>
                <a:latin typeface="Helvetica"/>
              </a:rPr>
              <a:t>Retour conservé,</a:t>
            </a:r>
          </a:p>
          <a:p>
            <a:pPr algn="ctr"/>
            <a:r>
              <a:rPr sz="850" b="1">
                <a:solidFill>
                  <a:srgbClr val="C00000"/>
                </a:solidFill>
                <a:latin typeface="Helvetica"/>
              </a:rPr>
              <a:t>sans rapprochement</a:t>
            </a:r>
          </a:p>
        </p:txBody>
      </p:sp>
      <p:cxnSp>
        <p:nvCxnSpPr>
          <p:cNvPr id="57" name="Flèche b1 vers b2"/>
          <p:cNvCxnSpPr>
            <a:stCxn id="51" idx="3"/>
            <a:endCxn id="52" idx="1"/>
          </p:cNvCxnSpPr>
          <p:nvPr/>
        </p:nvCxnSpPr>
        <p:spPr>
          <a:xfrm flipV="1">
            <a:off x="8784000" y="4365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Flèche b2 vers b3"/>
          <p:cNvCxnSpPr>
            <a:stCxn id="52" idx="0"/>
            <a:endCxn id="53" idx="2"/>
          </p:cNvCxnSpPr>
          <p:nvPr/>
        </p:nvCxnSpPr>
        <p:spPr>
          <a:xfrm flipH="1" flipV="1">
            <a:off x="9558000" y="3824999"/>
            <a:ext cx="0" cy="234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Flèche b3 vers b4"/>
          <p:cNvCxnSpPr>
            <a:stCxn id="53" idx="0"/>
            <a:endCxn id="54" idx="2"/>
          </p:cNvCxnSpPr>
          <p:nvPr/>
        </p:nvCxnSpPr>
        <p:spPr>
          <a:xfrm flipH="1" flipV="1">
            <a:off x="9558000" y="2979000"/>
            <a:ext cx="0" cy="233999"/>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Flèche b4 vers b5"/>
          <p:cNvCxnSpPr>
            <a:stCxn id="54" idx="3"/>
            <a:endCxn id="55" idx="0"/>
          </p:cNvCxnSpPr>
          <p:nvPr/>
        </p:nvCxnSpPr>
        <p:spPr>
          <a:xfrm>
            <a:off x="10170000" y="2673000"/>
            <a:ext cx="774000" cy="539999"/>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Flèche b5 vers b6"/>
          <p:cNvCxnSpPr>
            <a:stCxn id="55" idx="2"/>
            <a:endCxn id="56" idx="0"/>
          </p:cNvCxnSpPr>
          <p:nvPr/>
        </p:nvCxnSpPr>
        <p:spPr>
          <a:xfrm flipH="1">
            <a:off x="10944000" y="3824999"/>
            <a:ext cx="0" cy="234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2015999" y="1396800"/>
            <a:ext cx="2736000" cy="162000"/>
          </a:xfrm>
          <a:prstGeom prst="rect">
            <a:avLst/>
          </a:prstGeom>
          <a:noFill/>
        </p:spPr>
        <p:txBody>
          <a:bodyPr wrap="square" anchor="ctr" lIns="28800" rIns="28800" tIns="10800" bIns="10800">
            <a:spAutoFit/>
          </a:bodyPr>
          <a:lstStyle/>
          <a:p>
            <a:pPr algn="l"/>
            <a:r>
              <a:rPr sz="800" b="0">
                <a:solidFill>
                  <a:srgbClr val="C00000"/>
                </a:solidFill>
                <a:latin typeface="Helvetica"/>
              </a:rPr>
              <a:t>Produits obligatoires</a:t>
            </a:r>
          </a:p>
        </p:txBody>
      </p:sp>
      <p:sp>
        <p:nvSpPr>
          <p:cNvPr id="63" name="TextBox 62"/>
          <p:cNvSpPr txBox="1"/>
          <p:nvPr/>
        </p:nvSpPr>
        <p:spPr>
          <a:xfrm>
            <a:off x="7560000" y="1396800"/>
            <a:ext cx="4104000" cy="162000"/>
          </a:xfrm>
          <a:prstGeom prst="rect">
            <a:avLst/>
          </a:prstGeom>
          <a:noFill/>
        </p:spPr>
        <p:txBody>
          <a:bodyPr wrap="square" anchor="ctr" lIns="28800" rIns="28800" tIns="10800" bIns="10800">
            <a:spAutoFit/>
          </a:bodyPr>
          <a:lstStyle/>
          <a:p>
            <a:pPr algn="l"/>
            <a:r>
              <a:rPr sz="800" b="0">
                <a:solidFill>
                  <a:srgbClr val="C00000"/>
                </a:solidFill>
                <a:latin typeface="Helvetica"/>
              </a:rPr>
              <a:t>Produits complémentaires, retraités et flotte automobile</a:t>
            </a:r>
          </a:p>
        </p:txBody>
      </p:sp>
      <p:sp>
        <p:nvSpPr>
          <p:cNvPr id="64" name="TextBox 63"/>
          <p:cNvSpPr txBox="1"/>
          <p:nvPr/>
        </p:nvSpPr>
        <p:spPr>
          <a:xfrm>
            <a:off x="503999" y="4878000"/>
            <a:ext cx="11232000" cy="990000"/>
          </a:xfrm>
          <a:prstGeom prst="rect">
            <a:avLst/>
          </a:prstGeom>
          <a:noFill/>
        </p:spPr>
        <p:txBody>
          <a:bodyPr wrap="square" lIns="54000" rIns="54000"/>
          <a:lstStyle/>
          <a:p>
            <a:pPr algn="just">
              <a:spcAft>
                <a:spcPts val="600"/>
              </a:spcAft>
            </a:pPr>
            <a:r>
              <a:rPr sz="950" b="1">
                <a:solidFill>
                  <a:srgbClr val="060606"/>
                </a:solidFill>
                <a:latin typeface="Helvetica"/>
              </a:rPr>
              <a:t>Deux circuits coexistent.</a:t>
            </a:r>
            <a:r>
              <a:rPr sz="950" b="0">
                <a:solidFill>
                  <a:srgbClr val="060606"/>
                </a:solidFill>
                <a:latin typeface="Helvetica"/>
              </a:rPr>
              <a:t> Pour la maladie et le décès, la direction du personnel de la Police transmet directement le fichier aller à la Solde, sans plateforme de partage, et le FPPN ne reçoit que le retour. Pour les autres produits, le responsable des cotisations dépose le fichier aller sur la plateforme et l'entité concernée dépose le retour (déclaration du responsable des cotisations, entretien du 19/10/2026, à confirmer par document).</a:t>
            </a:r>
          </a:p>
          <a:p>
            <a:pPr algn="just">
              <a:spcAft>
                <a:spcPts val="600"/>
              </a:spcAft>
            </a:pPr>
            <a:r>
              <a:rPr sz="950" b="1">
                <a:solidFill>
                  <a:srgbClr val="060606"/>
                </a:solidFill>
                <a:latin typeface="Helvetica"/>
              </a:rPr>
              <a:t>Implication pour le FPPN.</a:t>
            </a:r>
            <a:r>
              <a:rPr sz="950" b="0">
                <a:solidFill>
                  <a:srgbClr val="060606"/>
                </a:solidFill>
                <a:latin typeface="Helvetica"/>
              </a:rPr>
              <a:t> Pour la maladie et le décès, le FPPN ne dispose pas de ce qui aurait dû être précompté : le taux de recouvrement exigé par la Décision n° 05/2022 (au moins 90 %) ne peut pas être calculé sans les fichiers de la direction du personnel. Pour les autres produits, le FPPN détient les deux fichiers mais ne les rapproche pas.</a:t>
            </a:r>
          </a:p>
        </p:txBody>
      </p:sp>
      <p:sp>
        <p:nvSpPr>
          <p:cNvPr id="65" name="TextBox 6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GNA : assureur de la flotte automobile (compte 47111106) | MEDOC : produit santé complémentaire du poste 8Z7 | 936 : poste maladie | 8Z6 : poste décès</a:t>
            </a:r>
          </a:p>
        </p:txBody>
      </p:sp>
    </p:spTree>
    <p:extLst>
      <p:ext uri="{BB962C8B-B14F-4D97-AF65-F5344CB8AC3E}">
        <p14:creationId xmlns:p14="http://schemas.microsoft.com/office/powerpoint/2010/main" val="1325373861"/>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Circuit des fichiers par produit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ne produit pas les fichiers aller de la maladie et du décès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Quatre circuits, dont trois passent par la plateforme de partage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 : Circuit des fichiers de précomptes par produit</a:t>
            </a:r>
          </a:p>
        </p:txBody>
      </p:sp>
      <p:graphicFrame>
        <p:nvGraphicFramePr>
          <p:cNvPr id="32" name="Table 31"/>
          <p:cNvGraphicFramePr>
            <a:graphicFrameLocks noGrp="1"/>
          </p:cNvGraphicFramePr>
          <p:nvPr/>
        </p:nvGraphicFramePr>
        <p:xfrm>
          <a:off x="503999" y="1655999"/>
          <a:ext cx="11232000" cy="1964505"/>
        </p:xfrm>
        <a:graphic>
          <a:graphicData uri="http://schemas.openxmlformats.org/drawingml/2006/table">
            <a:tbl>
              <a:tblPr firstRow="0" bandRow="0">
                <a:tableStyleId>{5940675A-B579-460E-94D1-54222C63F5DA}</a:tableStyleId>
              </a:tblPr>
              <a:tblGrid>
                <a:gridCol w="2520000"/>
                <a:gridCol w="3096000"/>
                <a:gridCol w="1224000"/>
                <a:gridCol w="2880000"/>
                <a:gridCol w="1512000"/>
              </a:tblGrid>
              <a:tr h="392901">
                <a:tc>
                  <a:txBody>
                    <a:bodyPr/>
                    <a:lstStyle/>
                    <a:p>
                      <a:pPr marL="0" indent="0" lvl="0">
                        <a:buNone/>
                      </a:pPr>
                      <a:r>
                        <a:rPr sz="1100" b="1">
                          <a:solidFill>
                            <a:srgbClr val="FFFFFF"/>
                          </a:solidFill>
                          <a:latin typeface="Helvetica"/>
                        </a:rPr>
                        <a:t>Produits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Fichier aller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Destinataire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Fichier retour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Plateforme de partage</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Maladie (936) et décès (8Z6)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Transmis directement par la direction du personnel de la Police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Solde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Reçu directement par le FPPN, canal à préciser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Non</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EFC (870), PEP (998), Grenier (9X4), MEDOC (8Z7)</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Produit et déposé par le responsable des cotisations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Solde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Déposé par la Solde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Oui</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Retraités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Produit et déposé par le responsable des cotisations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CGRAE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Déposé par la CGRAE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Oui</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Flotte automobile (9W3)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Produit et déposé par le responsable des cotisations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GNA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Déposé par GNA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Oui</a:t>
                      </a:r>
                    </a:p>
                  </a:txBody>
                  <a:tcPr marL="43200" marR="43200" marT="14400" marB="14400" anchor="ctr">
                    <a:solidFill>
                      <a:srgbClr val="F2F2F2"/>
                    </a:solidFill>
                  </a:tcPr>
                </a:tc>
              </a:tr>
            </a:tbl>
          </a:graphicData>
        </a:graphic>
      </p:graphicFrame>
      <p:sp>
        <p:nvSpPr>
          <p:cNvPr id="33" name="TextBox 32"/>
          <p:cNvSpPr txBox="1"/>
          <p:nvPr/>
        </p:nvSpPr>
        <p:spPr>
          <a:xfrm>
            <a:off x="503999" y="3728505"/>
            <a:ext cx="11232000" cy="2139494"/>
          </a:xfrm>
          <a:prstGeom prst="rect">
            <a:avLst/>
          </a:prstGeom>
          <a:noFill/>
        </p:spPr>
        <p:txBody>
          <a:bodyPr wrap="square" lIns="54000" rIns="54000"/>
          <a:lstStyle/>
          <a:p>
            <a:pPr algn="just">
              <a:spcAft>
                <a:spcPts val="600"/>
              </a:spcAft>
            </a:pPr>
            <a:r>
              <a:rPr sz="1300" b="1">
                <a:solidFill>
                  <a:srgbClr val="060606"/>
                </a:solidFill>
                <a:latin typeface="Helvetica"/>
              </a:rPr>
              <a:t>Ce circuit explique l'absence totale des fichiers aller maladie et décès dans l'envoi du 15/10/2026.</a:t>
            </a:r>
            <a:r>
              <a:rPr sz="1300" b="0">
                <a:solidFill>
                  <a:srgbClr val="060606"/>
                </a:solidFill>
                <a:latin typeface="Helvetica"/>
              </a:rPr>
              <a:t> Le FPPN ne les produit pas (déclaration du responsable des cotisations, entretien du 19/10/2026, à confirmer par document).</a:t>
            </a:r>
          </a:p>
          <a:p>
            <a:pPr algn="just">
              <a:spcAft>
                <a:spcPts val="600"/>
              </a:spcAft>
            </a:pPr>
            <a:r>
              <a:rPr sz="1300" b="1">
                <a:solidFill>
                  <a:srgbClr val="060606"/>
                </a:solidFill>
                <a:latin typeface="Helvetica"/>
              </a:rPr>
              <a:t>Implication pour le FPPN.</a:t>
            </a:r>
            <a:r>
              <a:rPr sz="1300" b="0">
                <a:solidFill>
                  <a:srgbClr val="060606"/>
                </a:solidFill>
                <a:latin typeface="Helvetica"/>
              </a:rPr>
              <a:t> Les fichiers aller maladie et décès sont à demander à la direction du personnel de la Police ou à la Solde (PBC, item 61). Le canal de réception des retours doit être précisé (PBC, item 62).</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PBC : liste des documents demandés au client | GNA : assureur de la flotte automobile (compte 47111106) | MEDOC : produit santé complémentaire du poste 8Z7 | 936 : poste maladie | 8Z6 : poste décès | 870 : poste EFC | 998 : poste PEP | 9X4 : poste Grenier | 9W3 : poste flotte automobile | 8Z7 : poste MEDOC</a:t>
            </a:r>
          </a:p>
        </p:txBody>
      </p:sp>
    </p:spTree>
    <p:extLst>
      <p:ext uri="{BB962C8B-B14F-4D97-AF65-F5344CB8AC3E}">
        <p14:creationId xmlns:p14="http://schemas.microsoft.com/office/powerpoint/2010/main" val="209299286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Flux financiers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ressources de l'année couvrent les prestations, les frais et dégagent un excédent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Produits 3 671 499 865 FCFA, charges 3 250 431 812 FCFA, résultat 437 899 911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5 : Produits, charges et résultat 2025</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cotisations sont la ressource principale du FPPN.</a:t>
            </a:r>
            <a:r>
              <a:rPr sz="1400" b="0">
                <a:solidFill>
                  <a:srgbClr val="060606"/>
                </a:solidFill>
                <a:latin typeface="Helvetica"/>
              </a:rPr>
              <a:t> Elles atteignent 2 409 281 030 FCFA en maladie et 1 008 270 692 FCFA en décès.</a:t>
            </a:r>
          </a:p>
          <a:p>
            <a:pPr algn="just">
              <a:spcAft>
                <a:spcPts val="600"/>
              </a:spcAft>
            </a:pPr>
            <a:r>
              <a:rPr sz="1400" b="1">
                <a:solidFill>
                  <a:srgbClr val="060606"/>
                </a:solidFill>
                <a:latin typeface="Helvetica"/>
              </a:rPr>
              <a:t>Les prestations maladie absorbent la plus grande part des ressources.</a:t>
            </a:r>
            <a:r>
              <a:rPr sz="1400" b="0">
                <a:solidFill>
                  <a:srgbClr val="060606"/>
                </a:solidFill>
                <a:latin typeface="Helvetica"/>
              </a:rPr>
              <a:t> Elles valent 1 771 635 361 FCFA, contre 193 136 666 FCFA en décès.</a:t>
            </a:r>
          </a:p>
          <a:p>
            <a:pPr algn="just">
              <a:spcAft>
                <a:spcPts val="600"/>
              </a:spcAft>
            </a:pPr>
            <a:r>
              <a:rPr sz="1400" b="1">
                <a:solidFill>
                  <a:srgbClr val="060606"/>
                </a:solidFill>
                <a:latin typeface="Helvetica"/>
              </a:rPr>
              <a:t>Les frais de gestion pèsent 32,23 % des cotisations.</a:t>
            </a:r>
            <a:r>
              <a:rPr sz="1400" b="0">
                <a:solidFill>
                  <a:srgbClr val="060606"/>
                </a:solidFill>
                <a:latin typeface="Helvetica"/>
              </a:rPr>
              <a:t> Ils couvrent le personnel, les indemnités des organes, le fonctionnement et les amortissements.</a:t>
            </a:r>
          </a:p>
          <a:p>
            <a:pPr algn="just">
              <a:spcAft>
                <a:spcPts val="600"/>
              </a:spcAft>
            </a:pPr>
            <a:r>
              <a:rPr sz="1400" b="1">
                <a:solidFill>
                  <a:srgbClr val="060606"/>
                </a:solidFill>
                <a:latin typeface="Helvetica"/>
              </a:rPr>
              <a:t>Implication pour le FPPN.</a:t>
            </a:r>
            <a:r>
              <a:rPr sz="1400" b="0">
                <a:solidFill>
                  <a:srgbClr val="060606"/>
                </a:solidFill>
                <a:latin typeface="Helvetica"/>
              </a:rPr>
              <a:t> La garantie décès dégage un excédent qui compense en partie la garantie maladie : le résultat global masque un déséquilibre de la maladie, analysé par risque dans la partie 10.</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217519324"/>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Notions de base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Huit notions suffisent pour lire l'ensemble du rapport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notion est définie ici une fois, puis utilisée avec le même sens dans tout le rapport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Décision n° 05/2022/COM/UEMOA du 1er juin 2022, annexe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7 : Notions utilisées dans le rapport</a:t>
            </a:r>
          </a:p>
        </p:txBody>
      </p:sp>
      <p:graphicFrame>
        <p:nvGraphicFramePr>
          <p:cNvPr id="32" name="Table 31"/>
          <p:cNvGraphicFramePr>
            <a:graphicFrameLocks noGrp="1"/>
          </p:cNvGraphicFramePr>
          <p:nvPr/>
        </p:nvGraphicFramePr>
        <p:xfrm>
          <a:off x="503999" y="1655999"/>
          <a:ext cx="11231999" cy="2194901"/>
        </p:xfrm>
        <a:graphic>
          <a:graphicData uri="http://schemas.openxmlformats.org/drawingml/2006/table">
            <a:tbl>
              <a:tblPr firstRow="0" bandRow="0">
                <a:tableStyleId>{5940675A-B579-460E-94D1-54222C63F5DA}</a:tableStyleId>
              </a:tblPr>
              <a:tblGrid>
                <a:gridCol w="1728000"/>
                <a:gridCol w="5832000"/>
                <a:gridCol w="3671999"/>
              </a:tblGrid>
              <a:tr h="225250">
                <a:tc>
                  <a:txBody>
                    <a:bodyPr/>
                    <a:lstStyle/>
                    <a:p>
                      <a:pPr marL="0" indent="0" lvl="0">
                        <a:buNone/>
                      </a:pPr>
                      <a:r>
                        <a:rPr sz="1100" b="1">
                          <a:solidFill>
                            <a:srgbClr val="FFFFFF"/>
                          </a:solidFill>
                          <a:latin typeface="Helvetica"/>
                        </a:rPr>
                        <a:t>Notion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Définition simple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Exemple dans le rapport</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Cotisation</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Somme que le mutualiste verse pour être couvert.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5 % du salaire de base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Prestation</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Somme que le FPPN paie quand le risque survient (soins, décès).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Factures des cliniques, capital décès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Sinistralité (S/C)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Part des cotisations consommée par les prestations.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S/C maladie 2025</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Provision technique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Somme mise de côté au bilan pour payer des prestations déjà nées mais pas encore payées.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Provision pour prestations à payer</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Engagement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Ce que le FPPN devra payer plus tard à ses mutualistes.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Épargne PEP et EFC à restituer</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Adossement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Correspondance entre les dettes et les actifs disponibles pour les payer.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Épargne et placements réservés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Ce qui reste quand on retire toutes les dettes de tous les actifs.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Négatifs de 2020 à 2026</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Ratio prudentiel</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Rapport chiffré qu'une norme impose de respecter pour protéger les adhérents.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Réserve obligatoire de 6 à 9 mois</a:t>
                      </a:r>
                    </a:p>
                  </a:txBody>
                  <a:tcPr marL="43200" marR="43200" marT="14400" marB="14400" anchor="ctr">
                    <a:solidFill>
                      <a:srgbClr val="F2F2F2"/>
                    </a:solidFill>
                  </a:tcPr>
                </a:tc>
              </a:tr>
            </a:tbl>
          </a:graphicData>
        </a:graphic>
      </p:graphicFrame>
      <p:sp>
        <p:nvSpPr>
          <p:cNvPr id="33" name="TextBox 32"/>
          <p:cNvSpPr txBox="1"/>
          <p:nvPr/>
        </p:nvSpPr>
        <p:spPr>
          <a:xfrm>
            <a:off x="503999" y="3958905"/>
            <a:ext cx="11232000" cy="1909094"/>
          </a:xfrm>
          <a:prstGeom prst="rect">
            <a:avLst/>
          </a:prstGeom>
          <a:noFill/>
        </p:spPr>
        <p:txBody>
          <a:bodyPr wrap="square" lIns="54000" rIns="54000"/>
          <a:lstStyle/>
          <a:p>
            <a:pPr algn="just">
              <a:spcAft>
                <a:spcPts val="600"/>
              </a:spcAft>
            </a:pPr>
            <a:r>
              <a:rPr sz="1300" b="1">
                <a:solidFill>
                  <a:srgbClr val="060606"/>
                </a:solidFill>
                <a:latin typeface="Helvetica"/>
              </a:rPr>
              <a:t>Ces huit notions portent toute l'analyse.</a:t>
            </a:r>
            <a:r>
              <a:rPr sz="1300" b="0">
                <a:solidFill>
                  <a:srgbClr val="060606"/>
                </a:solidFill>
                <a:latin typeface="Helvetica"/>
              </a:rPr>
              <a:t> Les quatre premières décrivent l'activité de l'année. Les quatre dernières décrivent la capacité du FPPN à tenir ses promesses dans la durée.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 | S/C : prestations / cotisations</a:t>
            </a:r>
          </a:p>
        </p:txBody>
      </p:sp>
    </p:spTree>
    <p:extLst>
      <p:ext uri="{BB962C8B-B14F-4D97-AF65-F5344CB8AC3E}">
        <p14:creationId xmlns:p14="http://schemas.microsoft.com/office/powerpoint/2010/main" val="356563777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2</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Contexte et démarche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Mission, périmètre, chaîne de traitement</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95035267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Mission et périmètre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volet actuariel répond à quatre questions sur les engagements et les placements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Période d'analyse du 1er janvier 2020 au 31 août 2026. Données arrêtées à l'envoi du FPPN reçu le 15/10/2026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dossier de préparation de la mission (13/10/2026) et liste des documents demandés (PBC)</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 : Périmètre de la mission actuarielle et statistique</a:t>
            </a:r>
          </a:p>
        </p:txBody>
      </p:sp>
      <p:graphicFrame>
        <p:nvGraphicFramePr>
          <p:cNvPr id="32" name="Table 31"/>
          <p:cNvGraphicFramePr>
            <a:graphicFrameLocks noGrp="1"/>
          </p:cNvGraphicFramePr>
          <p:nvPr/>
        </p:nvGraphicFramePr>
        <p:xfrm>
          <a:off x="503999" y="1655999"/>
          <a:ext cx="11232000" cy="1802000"/>
        </p:xfrm>
        <a:graphic>
          <a:graphicData uri="http://schemas.openxmlformats.org/drawingml/2006/table">
            <a:tbl>
              <a:tblPr firstRow="0" bandRow="0">
                <a:tableStyleId>{5940675A-B579-460E-94D1-54222C63F5DA}</a:tableStyleId>
              </a:tblPr>
              <a:tblGrid>
                <a:gridCol w="2232000"/>
                <a:gridCol w="5400000"/>
                <a:gridCol w="3600000"/>
              </a:tblGrid>
              <a:tr h="225250">
                <a:tc>
                  <a:txBody>
                    <a:bodyPr/>
                    <a:lstStyle/>
                    <a:p>
                      <a:pPr marL="0" indent="0" lvl="0">
                        <a:buNone/>
                      </a:pPr>
                      <a:r>
                        <a:rPr sz="1100" b="1">
                          <a:solidFill>
                            <a:srgbClr val="FFFFFF"/>
                          </a:solidFill>
                          <a:latin typeface="Helvetica"/>
                        </a:rPr>
                        <a:t>Axe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Question traitée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État au 15/10/2026</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1. Engagements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Combien le FPPN doit-il à ses adhérents et ayants droit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Partiel : épargne seulement</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 Suffisance des provisions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provisions au bilan suffisent-elles à payer les prestations dues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Constat fait, recalcul en attente</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3. Adossement actif-passif</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actifs arrivent-ils en caisse au bon moment pour payer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Réalisé sur les balances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4. Adéquation des placements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placements sont-ils sûrs, liquides et rentables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Réalisé sur les balances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Contrôle des données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données sont-elles complètes et cohérentes avec la comptabilité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Réalisé sur les données reçues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Conformité prudentielle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ratios de la Décision n° 05/2022 sont-ils respectés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Réalisé : 36 indicateurs examinés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Équilibre technique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cotisations futures couvrent-elles les prestations futures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 attente des âges et des dossiers</a:t>
                      </a:r>
                    </a:p>
                  </a:txBody>
                  <a:tcPr marL="43200" marR="43200" marT="14400" marB="14400" anchor="ctr">
                    <a:solidFill>
                      <a:srgbClr val="FFFFFF"/>
                    </a:solidFill>
                  </a:tcPr>
                </a:tc>
              </a:tr>
            </a:tbl>
          </a:graphicData>
        </a:graphic>
      </p:graphicFrame>
      <p:sp>
        <p:nvSpPr>
          <p:cNvPr id="33" name="TextBox 32"/>
          <p:cNvSpPr txBox="1"/>
          <p:nvPr/>
        </p:nvSpPr>
        <p:spPr>
          <a:xfrm>
            <a:off x="503999" y="3566004"/>
            <a:ext cx="11232000" cy="2301995"/>
          </a:xfrm>
          <a:prstGeom prst="rect">
            <a:avLst/>
          </a:prstGeom>
          <a:noFill/>
        </p:spPr>
        <p:txBody>
          <a:bodyPr wrap="square" lIns="54000" rIns="54000"/>
          <a:lstStyle/>
          <a:p>
            <a:pPr algn="just">
              <a:spcAft>
                <a:spcPts val="600"/>
              </a:spcAft>
            </a:pPr>
            <a:r>
              <a:rPr sz="1300" b="1">
                <a:solidFill>
                  <a:srgbClr val="060606"/>
                </a:solidFill>
                <a:latin typeface="Helvetica"/>
              </a:rPr>
              <a:t>Trois des quatre questions de la mission peuvent recevoir une première réponse. La première attend les données individuelles.</a:t>
            </a:r>
          </a:p>
          <a:p>
            <a:pPr algn="just">
              <a:spcAft>
                <a:spcPts val="600"/>
              </a:spcAft>
            </a:pPr>
            <a:r>
              <a:rPr sz="1300" b="1">
                <a:solidFill>
                  <a:srgbClr val="060606"/>
                </a:solidFill>
                <a:latin typeface="Helvetica"/>
              </a:rPr>
              <a:t>Implication pour le FPPN.</a:t>
            </a:r>
            <a:r>
              <a:rPr sz="1300" b="0">
                <a:solidFill>
                  <a:srgbClr val="060606"/>
                </a:solidFill>
                <a:latin typeface="Helvetica"/>
              </a:rPr>
              <a:t> Le calcul des engagements (question 1) conditionne la réponse définitive aux questions 2 et 3 : il reste la priorité dès réception des fichiers.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a:t>
            </a:r>
          </a:p>
        </p:txBody>
      </p:sp>
    </p:spTree>
    <p:extLst>
      <p:ext uri="{BB962C8B-B14F-4D97-AF65-F5344CB8AC3E}">
        <p14:creationId xmlns:p14="http://schemas.microsoft.com/office/powerpoint/2010/main" val="1759261899"/>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Chaîne de traitement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chiffre est tracé du fichier du FPPN jusqu'au rapport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Quatre décisions de contrôle arrêtent ou corrigent le traitement. Le détail de chaque étape figure dans la partie 13</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Python Adenka (dossier scripts de la mission)</a:t>
            </a:r>
          </a:p>
        </p:txBody>
      </p:sp>
      <p:sp>
        <p:nvSpPr>
          <p:cNvPr id="31" name="Logigramme c1"/>
          <p:cNvSpPr/>
          <p:nvPr/>
        </p:nvSpPr>
        <p:spPr>
          <a:xfrm>
            <a:off x="540000" y="1494000"/>
            <a:ext cx="1260000" cy="540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Envoi du FPPN</a:t>
            </a:r>
          </a:p>
          <a:p>
            <a:pPr algn="ctr"/>
            <a:r>
              <a:rPr sz="850" b="1">
                <a:solidFill>
                  <a:srgbClr val="FFFFFF"/>
                </a:solidFill>
                <a:latin typeface="Helvetica"/>
              </a:rPr>
              <a:t>4 287 fichiers</a:t>
            </a:r>
          </a:p>
        </p:txBody>
      </p:sp>
      <p:sp>
        <p:nvSpPr>
          <p:cNvPr id="32" name="Logigramme c2"/>
          <p:cNvSpPr/>
          <p:nvPr/>
        </p:nvSpPr>
        <p:spPr>
          <a:xfrm>
            <a:off x="2142000" y="1494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Inventaire</a:t>
            </a:r>
          </a:p>
          <a:p>
            <a:pPr algn="ctr"/>
            <a:r>
              <a:rPr sz="850" b="0">
                <a:solidFill>
                  <a:srgbClr val="060606"/>
                </a:solidFill>
                <a:latin typeface="Helvetica"/>
              </a:rPr>
              <a:t>format réel, doublons</a:t>
            </a:r>
          </a:p>
        </p:txBody>
      </p:sp>
      <p:sp>
        <p:nvSpPr>
          <p:cNvPr id="33" name="Logigramme c3"/>
          <p:cNvSpPr/>
          <p:nvPr/>
        </p:nvSpPr>
        <p:spPr>
          <a:xfrm>
            <a:off x="3744000" y="1450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a:t>
            </a:r>
          </a:p>
          <a:p>
            <a:pPr algn="ctr"/>
            <a:r>
              <a:rPr sz="800" b="0">
                <a:solidFill>
                  <a:srgbClr val="060606"/>
                </a:solidFill>
                <a:latin typeface="Helvetica"/>
              </a:rPr>
              <a:t>lisible ?</a:t>
            </a:r>
          </a:p>
        </p:txBody>
      </p:sp>
      <p:sp>
        <p:nvSpPr>
          <p:cNvPr id="34" name="Logigramme c4"/>
          <p:cNvSpPr/>
          <p:nvPr/>
        </p:nvSpPr>
        <p:spPr>
          <a:xfrm>
            <a:off x="3744000" y="2880000"/>
            <a:ext cx="1260000" cy="540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Liste des fichiers</a:t>
            </a:r>
          </a:p>
          <a:p>
            <a:pPr algn="ctr"/>
            <a:r>
              <a:rPr sz="850" b="0">
                <a:solidFill>
                  <a:srgbClr val="060606"/>
                </a:solidFill>
                <a:latin typeface="Helvetica"/>
              </a:rPr>
              <a:t>à renvoyer (PBC)</a:t>
            </a:r>
          </a:p>
        </p:txBody>
      </p:sp>
      <p:sp>
        <p:nvSpPr>
          <p:cNvPr id="35" name="Logigramme c5"/>
          <p:cNvSpPr/>
          <p:nvPr/>
        </p:nvSpPr>
        <p:spPr>
          <a:xfrm>
            <a:off x="5346000" y="1494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Extraction sans perte</a:t>
            </a:r>
          </a:p>
          <a:p>
            <a:pPr algn="ctr"/>
            <a:r>
              <a:rPr sz="850" b="0">
                <a:solidFill>
                  <a:srgbClr val="060606"/>
                </a:solidFill>
                <a:latin typeface="Helvetica"/>
              </a:rPr>
              <a:t>CSV, empreinte SHA-256</a:t>
            </a:r>
          </a:p>
        </p:txBody>
      </p:sp>
      <p:sp>
        <p:nvSpPr>
          <p:cNvPr id="36" name="Logigramme c6"/>
          <p:cNvSpPr/>
          <p:nvPr/>
        </p:nvSpPr>
        <p:spPr>
          <a:xfrm>
            <a:off x="6948000" y="1450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Lignes</a:t>
            </a:r>
          </a:p>
          <a:p>
            <a:pPr algn="ctr"/>
            <a:r>
              <a:rPr sz="800" b="0">
                <a:solidFill>
                  <a:srgbClr val="060606"/>
                </a:solidFill>
                <a:latin typeface="Helvetica"/>
              </a:rPr>
              <a:t>identiques ?</a:t>
            </a:r>
          </a:p>
        </p:txBody>
      </p:sp>
      <p:sp>
        <p:nvSpPr>
          <p:cNvPr id="37" name="Logigramme c7"/>
          <p:cNvSpPr/>
          <p:nvPr/>
        </p:nvSpPr>
        <p:spPr>
          <a:xfrm>
            <a:off x="8550000" y="1494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Base d'analyse</a:t>
            </a:r>
          </a:p>
          <a:p>
            <a:pPr algn="ctr"/>
            <a:r>
              <a:rPr sz="850" b="0">
                <a:solidFill>
                  <a:srgbClr val="060606"/>
                </a:solidFill>
                <a:latin typeface="Helvetica"/>
              </a:rPr>
              <a:t>4,45 millions de lignes</a:t>
            </a:r>
          </a:p>
        </p:txBody>
      </p:sp>
      <p:sp>
        <p:nvSpPr>
          <p:cNvPr id="38" name="Logigramme c8"/>
          <p:cNvSpPr/>
          <p:nvPr/>
        </p:nvSpPr>
        <p:spPr>
          <a:xfrm>
            <a:off x="10152000" y="1450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Total ou</a:t>
            </a:r>
          </a:p>
          <a:p>
            <a:pPr algn="ctr"/>
            <a:r>
              <a:rPr sz="800" b="0">
                <a:solidFill>
                  <a:srgbClr val="060606"/>
                </a:solidFill>
                <a:latin typeface="Helvetica"/>
              </a:rPr>
              <a:t>montant doublé ?</a:t>
            </a:r>
          </a:p>
        </p:txBody>
      </p:sp>
      <p:sp>
        <p:nvSpPr>
          <p:cNvPr id="39" name="Logigramme c9"/>
          <p:cNvSpPr/>
          <p:nvPr/>
        </p:nvSpPr>
        <p:spPr>
          <a:xfrm>
            <a:off x="10152000" y="2880000"/>
            <a:ext cx="1260000" cy="540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Journal des rejets</a:t>
            </a:r>
          </a:p>
          <a:p>
            <a:pPr algn="ctr"/>
            <a:r>
              <a:rPr sz="850" b="0">
                <a:solidFill>
                  <a:srgbClr val="060606"/>
                </a:solidFill>
                <a:latin typeface="Helvetica"/>
              </a:rPr>
              <a:t>et corrections</a:t>
            </a:r>
          </a:p>
        </p:txBody>
      </p:sp>
      <p:sp>
        <p:nvSpPr>
          <p:cNvPr id="40" name="Logigramme c10"/>
          <p:cNvSpPr/>
          <p:nvPr/>
        </p:nvSpPr>
        <p:spPr>
          <a:xfrm>
            <a:off x="8550000" y="2880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Contrôles</a:t>
            </a:r>
          </a:p>
          <a:p>
            <a:pPr algn="ctr"/>
            <a:r>
              <a:rPr sz="850" b="0">
                <a:solidFill>
                  <a:srgbClr val="060606"/>
                </a:solidFill>
                <a:latin typeface="Helvetica"/>
              </a:rPr>
              <a:t>totaux, aller et retour</a:t>
            </a:r>
          </a:p>
        </p:txBody>
      </p:sp>
      <p:sp>
        <p:nvSpPr>
          <p:cNvPr id="41" name="Logigramme c11"/>
          <p:cNvSpPr/>
          <p:nvPr/>
        </p:nvSpPr>
        <p:spPr>
          <a:xfrm>
            <a:off x="6948000" y="2880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Analyses</a:t>
            </a:r>
          </a:p>
          <a:p>
            <a:pPr algn="ctr"/>
            <a:r>
              <a:rPr sz="850" b="0">
                <a:solidFill>
                  <a:srgbClr val="060606"/>
                </a:solidFill>
                <a:latin typeface="Helvetica"/>
              </a:rPr>
              <a:t>indicateurs, tests, ratios</a:t>
            </a:r>
          </a:p>
        </p:txBody>
      </p:sp>
      <p:sp>
        <p:nvSpPr>
          <p:cNvPr id="42" name="Logigramme c12"/>
          <p:cNvSpPr/>
          <p:nvPr/>
        </p:nvSpPr>
        <p:spPr>
          <a:xfrm>
            <a:off x="5346000" y="2880000"/>
            <a:ext cx="1260000" cy="540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Classeur</a:t>
            </a:r>
          </a:p>
          <a:p>
            <a:pPr algn="ctr"/>
            <a:r>
              <a:rPr sz="850" b="0">
                <a:solidFill>
                  <a:srgbClr val="060606"/>
                </a:solidFill>
                <a:latin typeface="Helvetica"/>
              </a:rPr>
              <a:t>des calculs</a:t>
            </a:r>
          </a:p>
        </p:txBody>
      </p:sp>
      <p:sp>
        <p:nvSpPr>
          <p:cNvPr id="43" name="Logigramme c13"/>
          <p:cNvSpPr/>
          <p:nvPr/>
        </p:nvSpPr>
        <p:spPr>
          <a:xfrm>
            <a:off x="5346000" y="4248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Rapport</a:t>
            </a:r>
          </a:p>
          <a:p>
            <a:pPr algn="ctr"/>
            <a:r>
              <a:rPr sz="850" b="0">
                <a:solidFill>
                  <a:srgbClr val="060606"/>
                </a:solidFill>
                <a:latin typeface="Helvetica"/>
              </a:rPr>
              <a:t>graphiques natifs</a:t>
            </a:r>
          </a:p>
        </p:txBody>
      </p:sp>
      <p:sp>
        <p:nvSpPr>
          <p:cNvPr id="44" name="Logigramme c14"/>
          <p:cNvSpPr/>
          <p:nvPr/>
        </p:nvSpPr>
        <p:spPr>
          <a:xfrm>
            <a:off x="6948000" y="4204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Chiffre</a:t>
            </a:r>
          </a:p>
          <a:p>
            <a:pPr algn="ctr"/>
            <a:r>
              <a:rPr sz="800" b="0">
                <a:solidFill>
                  <a:srgbClr val="060606"/>
                </a:solidFill>
                <a:latin typeface="Helvetica"/>
              </a:rPr>
              <a:t>exact ?</a:t>
            </a:r>
          </a:p>
        </p:txBody>
      </p:sp>
      <p:sp>
        <p:nvSpPr>
          <p:cNvPr id="45" name="Logigramme c15"/>
          <p:cNvSpPr/>
          <p:nvPr/>
        </p:nvSpPr>
        <p:spPr>
          <a:xfrm>
            <a:off x="8550000" y="4248000"/>
            <a:ext cx="1260000" cy="540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Livraison</a:t>
            </a:r>
          </a:p>
          <a:p>
            <a:pPr algn="ctr"/>
            <a:r>
              <a:rPr sz="850" b="1">
                <a:solidFill>
                  <a:srgbClr val="FFFFFF"/>
                </a:solidFill>
                <a:latin typeface="Helvetica"/>
              </a:rPr>
              <a:t>et traçabilité</a:t>
            </a:r>
          </a:p>
        </p:txBody>
      </p:sp>
      <p:cxnSp>
        <p:nvCxnSpPr>
          <p:cNvPr id="46" name="Flèche c1 vers c2"/>
          <p:cNvCxnSpPr>
            <a:stCxn id="31" idx="3"/>
            <a:endCxn id="32" idx="1"/>
          </p:cNvCxnSpPr>
          <p:nvPr/>
        </p:nvCxnSpPr>
        <p:spPr>
          <a:xfrm flipV="1">
            <a:off x="1800000" y="1764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Flèche c2 vers c3"/>
          <p:cNvCxnSpPr>
            <a:stCxn id="32" idx="3"/>
            <a:endCxn id="33" idx="1"/>
          </p:cNvCxnSpPr>
          <p:nvPr/>
        </p:nvCxnSpPr>
        <p:spPr>
          <a:xfrm>
            <a:off x="3402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Flèche c3 vers c4"/>
          <p:cNvCxnSpPr>
            <a:stCxn id="33" idx="2"/>
            <a:endCxn id="34" idx="0"/>
          </p:cNvCxnSpPr>
          <p:nvPr/>
        </p:nvCxnSpPr>
        <p:spPr>
          <a:xfrm flipH="1">
            <a:off x="4374000" y="2134800"/>
            <a:ext cx="0" cy="74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4428000" y="215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a:t>
            </a:r>
          </a:p>
        </p:txBody>
      </p:sp>
      <p:cxnSp>
        <p:nvCxnSpPr>
          <p:cNvPr id="50" name="Flèche c3 vers c5"/>
          <p:cNvCxnSpPr>
            <a:stCxn id="33" idx="3"/>
            <a:endCxn id="35" idx="1"/>
          </p:cNvCxnSpPr>
          <p:nvPr/>
        </p:nvCxnSpPr>
        <p:spPr>
          <a:xfrm flipV="1">
            <a:off x="5004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047200" y="161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52" name="Flèche c5 vers c6"/>
          <p:cNvCxnSpPr>
            <a:stCxn id="35" idx="3"/>
            <a:endCxn id="36" idx="1"/>
          </p:cNvCxnSpPr>
          <p:nvPr/>
        </p:nvCxnSpPr>
        <p:spPr>
          <a:xfrm>
            <a:off x="6606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Flèche c6 vers c5"/>
          <p:cNvCxnSpPr>
            <a:stCxn id="36" idx="0"/>
            <a:endCxn id="35" idx="0"/>
          </p:cNvCxnSpPr>
          <p:nvPr/>
        </p:nvCxnSpPr>
        <p:spPr>
          <a:xfrm flipH="1">
            <a:off x="5976000" y="1450800"/>
            <a:ext cx="1602000" cy="43200"/>
          </a:xfrm>
          <a:prstGeom prst="bentConnector3">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632000" y="1270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 : refaire</a:t>
            </a:r>
          </a:p>
        </p:txBody>
      </p:sp>
      <p:cxnSp>
        <p:nvCxnSpPr>
          <p:cNvPr id="55" name="Flèche c6 vers c7"/>
          <p:cNvCxnSpPr>
            <a:stCxn id="36" idx="3"/>
            <a:endCxn id="37" idx="1"/>
          </p:cNvCxnSpPr>
          <p:nvPr/>
        </p:nvCxnSpPr>
        <p:spPr>
          <a:xfrm flipV="1">
            <a:off x="8208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251200" y="161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57" name="Flèche c7 vers c8"/>
          <p:cNvCxnSpPr>
            <a:stCxn id="37" idx="3"/>
            <a:endCxn id="38" idx="1"/>
          </p:cNvCxnSpPr>
          <p:nvPr/>
        </p:nvCxnSpPr>
        <p:spPr>
          <a:xfrm>
            <a:off x="9810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Flèche c8 vers c9"/>
          <p:cNvCxnSpPr>
            <a:stCxn id="38" idx="3"/>
            <a:endCxn id="39" idx="3"/>
          </p:cNvCxnSpPr>
          <p:nvPr/>
        </p:nvCxnSpPr>
        <p:spPr>
          <a:xfrm flipH="1">
            <a:off x="11412000" y="1792800"/>
            <a:ext cx="0" cy="13572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1455200" y="161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60" name="Flèche c8 vers c10"/>
          <p:cNvCxnSpPr>
            <a:stCxn id="38" idx="2"/>
            <a:endCxn id="40" idx="0"/>
          </p:cNvCxnSpPr>
          <p:nvPr/>
        </p:nvCxnSpPr>
        <p:spPr>
          <a:xfrm flipH="1">
            <a:off x="9180000" y="2134800"/>
            <a:ext cx="1602000" cy="7452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836000" y="215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a:t>
            </a:r>
          </a:p>
        </p:txBody>
      </p:sp>
      <p:cxnSp>
        <p:nvCxnSpPr>
          <p:cNvPr id="62" name="Flèche c9 vers c10"/>
          <p:cNvCxnSpPr>
            <a:stCxn id="39" idx="1"/>
            <a:endCxn id="40" idx="3"/>
          </p:cNvCxnSpPr>
          <p:nvPr/>
        </p:nvCxnSpPr>
        <p:spPr>
          <a:xfrm flipH="1" flipV="1">
            <a:off x="9810000" y="3150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Flèche c10 vers c11"/>
          <p:cNvCxnSpPr>
            <a:stCxn id="40" idx="1"/>
            <a:endCxn id="41" idx="3"/>
          </p:cNvCxnSpPr>
          <p:nvPr/>
        </p:nvCxnSpPr>
        <p:spPr>
          <a:xfrm flipH="1" flipV="1">
            <a:off x="8208000" y="3150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4" name="Flèche c11 vers c12"/>
          <p:cNvCxnSpPr>
            <a:stCxn id="41" idx="1"/>
            <a:endCxn id="42" idx="3"/>
          </p:cNvCxnSpPr>
          <p:nvPr/>
        </p:nvCxnSpPr>
        <p:spPr>
          <a:xfrm flipH="1" flipV="1">
            <a:off x="6606000" y="3150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 name="Flèche c12 vers c13"/>
          <p:cNvCxnSpPr>
            <a:stCxn id="42" idx="2"/>
            <a:endCxn id="43" idx="0"/>
          </p:cNvCxnSpPr>
          <p:nvPr/>
        </p:nvCxnSpPr>
        <p:spPr>
          <a:xfrm flipH="1">
            <a:off x="5976000" y="3420000"/>
            <a:ext cx="0" cy="828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6" name="Flèche c13 vers c14"/>
          <p:cNvCxnSpPr>
            <a:stCxn id="43" idx="3"/>
            <a:endCxn id="44" idx="1"/>
          </p:cNvCxnSpPr>
          <p:nvPr/>
        </p:nvCxnSpPr>
        <p:spPr>
          <a:xfrm>
            <a:off x="6606000" y="4518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7" name="Flèche c14 vers c15"/>
          <p:cNvCxnSpPr>
            <a:stCxn id="44" idx="3"/>
            <a:endCxn id="45" idx="1"/>
          </p:cNvCxnSpPr>
          <p:nvPr/>
        </p:nvCxnSpPr>
        <p:spPr>
          <a:xfrm flipV="1">
            <a:off x="8208000" y="4518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8251200" y="4366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69" name="Flèche c14 vers c13"/>
          <p:cNvCxnSpPr>
            <a:stCxn id="44" idx="0"/>
            <a:endCxn id="43" idx="0"/>
          </p:cNvCxnSpPr>
          <p:nvPr/>
        </p:nvCxnSpPr>
        <p:spPr>
          <a:xfrm flipH="1">
            <a:off x="5976000" y="4204800"/>
            <a:ext cx="1602000" cy="43200"/>
          </a:xfrm>
          <a:prstGeom prst="bentConnector3">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632000" y="4024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 : corriger</a:t>
            </a:r>
          </a:p>
        </p:txBody>
      </p:sp>
      <p:sp>
        <p:nvSpPr>
          <p:cNvPr id="71" name="TextBox 70"/>
          <p:cNvSpPr txBox="1"/>
          <p:nvPr/>
        </p:nvSpPr>
        <p:spPr>
          <a:xfrm>
            <a:off x="503999" y="4878000"/>
            <a:ext cx="11232000" cy="990000"/>
          </a:xfrm>
          <a:prstGeom prst="rect">
            <a:avLst/>
          </a:prstGeom>
          <a:noFill/>
        </p:spPr>
        <p:txBody>
          <a:bodyPr wrap="square" lIns="54000" rIns="54000"/>
          <a:lstStyle/>
          <a:p>
            <a:pPr algn="just">
              <a:spcAft>
                <a:spcPts val="600"/>
              </a:spcAft>
            </a:pPr>
            <a:r>
              <a:rPr sz="1050" b="1">
                <a:solidFill>
                  <a:srgbClr val="060606"/>
                </a:solidFill>
                <a:latin typeface="Helvetica"/>
              </a:rPr>
              <a:t>Aucun chiffre n'entre dans le rapport sans avoir passé quatre contrôles.</a:t>
            </a:r>
            <a:r>
              <a:rPr sz="1050" b="0">
                <a:solidFill>
                  <a:srgbClr val="060606"/>
                </a:solidFill>
                <a:latin typeface="Helvetica"/>
              </a:rPr>
              <a:t> Un fichier illisible part dans la liste des fichiers à renvoyer, une conversion inexacte est refaite, une ligne de total ou un montant doublé est écarté et journalisé, et un chiffre affiché qui ne correspond pas à sa valeur exacte est corrigé.</a:t>
            </a:r>
          </a:p>
          <a:p>
            <a:pPr algn="just">
              <a:spcAft>
                <a:spcPts val="600"/>
              </a:spcAft>
            </a:pPr>
            <a:r>
              <a:rPr sz="1050" b="1">
                <a:solidFill>
                  <a:srgbClr val="060606"/>
                </a:solidFill>
                <a:latin typeface="Helvetica"/>
              </a:rPr>
              <a:t>Implication pour le FPPN.</a:t>
            </a:r>
            <a:r>
              <a:rPr sz="1050" b="0">
                <a:solidFill>
                  <a:srgbClr val="060606"/>
                </a:solidFill>
                <a:latin typeface="Helvetica"/>
              </a:rPr>
              <a:t> Le FPPN peut retrouver, pour chaque chiffre du rapport, le fichier d'origine, les lignes écartées et le calcul : les écarts relevés peuvent être discutés sur pièces.</a:t>
            </a:r>
          </a:p>
        </p:txBody>
      </p:sp>
      <p:sp>
        <p:nvSpPr>
          <p:cNvPr id="72" name="TextBox 7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 | SHA-256 : algorithme d'empreinte numérique | CSV : fichier texte de tableau</a:t>
            </a:r>
          </a:p>
        </p:txBody>
      </p:sp>
    </p:spTree>
    <p:extLst>
      <p:ext uri="{BB962C8B-B14F-4D97-AF65-F5344CB8AC3E}">
        <p14:creationId xmlns:p14="http://schemas.microsoft.com/office/powerpoint/2010/main" val="664721213"/>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3</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Données et qualité</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Couverture, contrôles, anomalies détectées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914004999"/>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Exhaustivité</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calcule l'empreinte SHA-256 de chaque fichier et compte lignes et cellules avant et après conversion : 218 fichiers copiés et 491 feuilles converties sont identiques.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Cohérence interne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totaux imprimés par les logiciels sont retrouvés dans les 37 balances âgées du Grenier, et les débits égalent les crédits dans les 7 exercices comptables.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Rapprochement</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Deux sources qui décrivent le même flux doivent concorder : le taux de précompte rapporte le montant retour au montant aller, poste par poste et mois par mois.</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Ces contrôles prouvent que la base est fidèle aux fichiers reçus. Ils ne prouvent pas que les fichiers du FPPN sont eux-mêmes exacts.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contrôle des données</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contrôles garantissent que la base reproduit fidèlement les fichiers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Exhaustivité, cohérence interne et rapprochement entre sources indépendantes, puis une limite assumée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SHA-256 : algorithme d'empreinte numérique</a:t>
            </a:r>
          </a:p>
        </p:txBody>
      </p:sp>
    </p:spTree>
    <p:extLst>
      <p:ext uri="{BB962C8B-B14F-4D97-AF65-F5344CB8AC3E}">
        <p14:creationId xmlns:p14="http://schemas.microsoft.com/office/powerpoint/2010/main" val="3923676554"/>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Couverture de la période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données mensuelles ne couvrent pas les années 2020 à 2022</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 80 mois, seuls la comptabilité et le PEP sont complets. Aucune donnée de prestations n'a été reçue</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6 : Mois reçus par flux de données, sur 80 mois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nombre de mois (janvier 2020 à août 2026)</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Seules la comptabilité et l'épargne PEP couvrent toute la période d'analyse.</a:t>
            </a:r>
            <a:r>
              <a:rPr sz="1400" b="0">
                <a:solidFill>
                  <a:srgbClr val="060606"/>
                </a:solidFill>
                <a:latin typeface="Helvetica"/>
              </a:rPr>
              <a:t> La comptabilité donne des totaux annuels. Les fichiers texte de la Solde donnent le PEP par mutualiste et par mois de 2020 à 2022.</a:t>
            </a:r>
          </a:p>
          <a:p>
            <a:pPr algn="just">
              <a:spcAft>
                <a:spcPts val="600"/>
              </a:spcAft>
            </a:pPr>
            <a:r>
              <a:rPr sz="1400" b="1">
                <a:solidFill>
                  <a:srgbClr val="060606"/>
                </a:solidFill>
                <a:latin typeface="Helvetica"/>
              </a:rPr>
              <a:t>Les précomptes mensuels commencent en 2023 ou en 2024.</a:t>
            </a:r>
            <a:r>
              <a:rPr sz="1400" b="0">
                <a:solidFill>
                  <a:srgbClr val="060606"/>
                </a:solidFill>
                <a:latin typeface="Helvetica"/>
              </a:rPr>
              <a:t> Les fichiers maladie et décès débutent en janvier 2024, ceux des retraités en février 2024 et ceux de l'EFC en janvier 2023.</a:t>
            </a:r>
          </a:p>
          <a:p>
            <a:pPr algn="just">
              <a:spcAft>
                <a:spcPts val="600"/>
              </a:spcAft>
            </a:pPr>
            <a:r>
              <a:rPr sz="1400" b="1">
                <a:solidFill>
                  <a:srgbClr val="060606"/>
                </a:solidFill>
                <a:latin typeface="Helvetica"/>
              </a:rPr>
              <a:t>Aucune base de prestations n'a été transmise.</a:t>
            </a:r>
            <a:r>
              <a:rPr sz="1400" b="0">
                <a:solidFill>
                  <a:srgbClr val="060606"/>
                </a:solidFill>
                <a:latin typeface="Helvetica"/>
              </a:rPr>
              <a:t> Le coût des soins et des décès n'est connu que par les comptes, sans date de survenance ni bénéficiaire.</a:t>
            </a:r>
          </a:p>
          <a:p>
            <a:pPr algn="just">
              <a:spcAft>
                <a:spcPts val="600"/>
              </a:spcAft>
            </a:pPr>
            <a:r>
              <a:rPr sz="1400" b="1">
                <a:solidFill>
                  <a:srgbClr val="060606"/>
                </a:solidFill>
                <a:latin typeface="Helvetica"/>
              </a:rPr>
              <a:t>Implication pour le FPPN.</a:t>
            </a:r>
            <a:r>
              <a:rPr sz="1400" b="0">
                <a:solidFill>
                  <a:srgbClr val="060606"/>
                </a:solidFill>
                <a:latin typeface="Helvetica"/>
              </a:rPr>
              <a:t> Les analyses mensuelles portent sur 2024 à 2026, et les années 2020 à 2023 ne peuvent être analysées qu'en totaux comptables. Les conclusions sur l'évolution de la sinistralité restent donc fragiles tant que les bases de prestations ne sont pas reçues.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MEDOC : produit santé complémentaire du poste 8Z7 | 936 : poste maladie | 8Z6 : poste décès | 870 : poste EFC | 998 : poste PEP | 9X4 : poste Grenier | 9W3 : poste flotte automobile | 8Z7 : poste MEDOC</a:t>
            </a:r>
          </a:p>
        </p:txBody>
      </p:sp>
    </p:spTree>
    <p:extLst>
      <p:ext uri="{BB962C8B-B14F-4D97-AF65-F5344CB8AC3E}">
        <p14:creationId xmlns:p14="http://schemas.microsoft.com/office/powerpoint/2010/main" val="3282415709"/>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lignes de total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ligne de total cachée aurait doublé les cotisations maladie du mois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Fichier de février 2025 : la dernière ligne porte 202 597 314 FCFA, soit la somme des 27 861 lignes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FPPN-SOLDE\EFFECTIF POLICE (MALADIE)\2025\FEVRIER 2025_effectif_police_936.xlsx (identifiant d'extraction F03875). Noms et matricules masqués</a:t>
            </a:r>
          </a:p>
        </p:txBody>
      </p:sp>
      <p:sp>
        <p:nvSpPr>
          <p:cNvPr id="31" name="TextBox 30"/>
          <p:cNvSpPr txBox="1"/>
          <p:nvPr/>
        </p:nvSpPr>
        <p:spPr>
          <a:xfrm>
            <a:off x="503999" y="1350000"/>
            <a:ext cx="8136000" cy="180000"/>
          </a:xfrm>
          <a:prstGeom prst="rect">
            <a:avLst/>
          </a:prstGeom>
          <a:noFill/>
        </p:spPr>
        <p:txBody>
          <a:bodyPr wrap="square" anchor="t" lIns="54000" rIns="54000"/>
          <a:lstStyle/>
          <a:p>
            <a:pPr algn="l"/>
            <a:r>
              <a:rPr sz="900" b="0">
                <a:solidFill>
                  <a:srgbClr val="53565A"/>
                </a:solidFill>
                <a:latin typeface="Helvetica"/>
              </a:rPr>
              <a:t>Extrait : FPPN-SOLDE\EFFECTIF POLICE (MALADIE)\2025\FEVRIER 2025_effectif_police_936.xlsx</a:t>
            </a:r>
          </a:p>
        </p:txBody>
      </p:sp>
      <p:graphicFrame>
        <p:nvGraphicFramePr>
          <p:cNvPr id="32" name="Table 31"/>
          <p:cNvGraphicFramePr>
            <a:graphicFrameLocks noGrp="1"/>
          </p:cNvGraphicFramePr>
          <p:nvPr/>
        </p:nvGraphicFramePr>
        <p:xfrm>
          <a:off x="503999" y="1548000"/>
          <a:ext cx="8136000" cy="1050045"/>
        </p:xfrm>
        <a:graphic>
          <a:graphicData uri="http://schemas.openxmlformats.org/drawingml/2006/table">
            <a:tbl>
              <a:tblPr firstRow="0" bandRow="0">
                <a:tableStyleId>{5940675A-B579-460E-94D1-54222C63F5DA}</a:tableStyleId>
              </a:tblPr>
              <a:tblGrid>
                <a:gridCol w="720000"/>
                <a:gridCol w="936000"/>
                <a:gridCol w="576000"/>
                <a:gridCol w="1224000"/>
                <a:gridCol w="1296000"/>
                <a:gridCol w="1296000"/>
                <a:gridCol w="1224000"/>
                <a:gridCol w="864000"/>
              </a:tblGrid>
              <a:tr h="210009">
                <a:tc>
                  <a:txBody>
                    <a:bodyPr/>
                    <a:lstStyle/>
                    <a:p>
                      <a:pPr marL="0" indent="0" lvl="0">
                        <a:buNone/>
                      </a:pPr>
                      <a:r>
                        <a:rPr sz="1000" b="1">
                          <a:solidFill>
                            <a:srgbClr val="FFFFFF"/>
                          </a:solidFill>
                          <a:latin typeface="Helvetica"/>
                        </a:rPr>
                        <a:t>Poste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Référence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Org</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Matricule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Nom</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Début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Fin</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936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175***Z</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 Z.</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22883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2011-04-01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936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59</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175***S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 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22003</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2011-04-01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936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175***P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K. T. I.</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22003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2000-08-01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27 861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202597314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r>
            </a:tbl>
          </a:graphicData>
        </a:graphic>
      </p:graphicFrame>
      <p:sp>
        <p:nvSpPr>
          <p:cNvPr id="33" name="Rounded Rectangle 32"/>
          <p:cNvSpPr/>
          <p:nvPr/>
        </p:nvSpPr>
        <p:spPr>
          <a:xfrm>
            <a:off x="2718000" y="2377238"/>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780000"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238000" y="2377238"/>
            <a:ext cx="1332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372000"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85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9216000" y="1530000"/>
            <a:ext cx="2519999" cy="670023"/>
          </a:xfrm>
          <a:prstGeom prst="rect">
            <a:avLst/>
          </a:prstGeom>
          <a:noFill/>
        </p:spPr>
        <p:txBody>
          <a:bodyPr wrap="square" anchor="t" lIns="54000" rIns="54000"/>
          <a:lstStyle/>
          <a:p>
            <a:pPr algn="l"/>
            <a:r>
              <a:rPr sz="1200" b="0">
                <a:solidFill>
                  <a:srgbClr val="060606"/>
                </a:solidFill>
                <a:latin typeface="Helvetica"/>
              </a:rPr>
              <a:t>La colonne « matricule » de la dernière ligne contient le nombre de lignes du fichier.</a:t>
            </a:r>
          </a:p>
        </p:txBody>
      </p:sp>
      <p:sp>
        <p:nvSpPr>
          <p:cNvPr id="39" name="Oval 38"/>
          <p:cNvSpPr/>
          <p:nvPr/>
        </p:nvSpPr>
        <p:spPr>
          <a:xfrm>
            <a:off x="8856000"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9216000" y="2290023"/>
            <a:ext cx="2519999" cy="670023"/>
          </a:xfrm>
          <a:prstGeom prst="rect">
            <a:avLst/>
          </a:prstGeom>
          <a:noFill/>
        </p:spPr>
        <p:txBody>
          <a:bodyPr wrap="square" anchor="t" lIns="54000" rIns="54000"/>
          <a:lstStyle/>
          <a:p>
            <a:pPr algn="l"/>
            <a:r>
              <a:rPr sz="1200" b="0">
                <a:solidFill>
                  <a:srgbClr val="060606"/>
                </a:solidFill>
                <a:latin typeface="Helvetica"/>
              </a:rPr>
              <a:t>Le montant de 202 597 314 FCFA est la somme de toutes les lignes au-dessus.</a:t>
            </a:r>
          </a:p>
        </p:txBody>
      </p:sp>
      <p:sp>
        <p:nvSpPr>
          <p:cNvPr id="41" name="Oval 40"/>
          <p:cNvSpPr/>
          <p:nvPr/>
        </p:nvSpPr>
        <p:spPr>
          <a:xfrm>
            <a:off x="8856000" y="3068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9216000" y="3050047"/>
            <a:ext cx="2519999" cy="855963"/>
          </a:xfrm>
          <a:prstGeom prst="rect">
            <a:avLst/>
          </a:prstGeom>
          <a:noFill/>
        </p:spPr>
        <p:txBody>
          <a:bodyPr wrap="square" anchor="t" lIns="54000" rIns="54000"/>
          <a:lstStyle/>
          <a:p>
            <a:pPr algn="l"/>
            <a:r>
              <a:rPr sz="1200" b="0">
                <a:solidFill>
                  <a:srgbClr val="060606"/>
                </a:solidFill>
                <a:latin typeface="Helvetica"/>
              </a:rPr>
              <a:t>Adenka écarte cette ligne et les 87 lignes du même type, ce qui évite 10 340 860 286 FCFA de double compte.</a:t>
            </a:r>
          </a:p>
        </p:txBody>
      </p:sp>
      <p:sp>
        <p:nvSpPr>
          <p:cNvPr id="43" name="TextBox 42"/>
          <p:cNvSpPr txBox="1"/>
          <p:nvPr/>
        </p:nvSpPr>
        <p:spPr>
          <a:xfrm>
            <a:off x="8856000" y="4086011"/>
            <a:ext cx="2879999" cy="1781988"/>
          </a:xfrm>
          <a:prstGeom prst="rect">
            <a:avLst/>
          </a:prstGeom>
          <a:noFill/>
        </p:spPr>
        <p:txBody>
          <a:bodyPr wrap="square" lIns="54000" rIns="54000"/>
          <a:lstStyle/>
          <a:p>
            <a:pPr algn="just">
              <a:spcAft>
                <a:spcPts val="600"/>
              </a:spcAft>
            </a:pPr>
            <a:r>
              <a:rPr sz="1150" b="1">
                <a:solidFill>
                  <a:srgbClr val="060606"/>
                </a:solidFill>
                <a:latin typeface="Helvetica"/>
              </a:rPr>
              <a:t>Une simple somme des fichiers aurait gonflé les cotisations.</a:t>
            </a:r>
            <a:r>
              <a:rPr sz="1150" b="0">
                <a:solidFill>
                  <a:srgbClr val="060606"/>
                </a:solidFill>
                <a:latin typeface="Helvetica"/>
              </a:rPr>
              <a:t> Les lignes de total ont la même forme que les lignes des mutualistes et ne se repèrent que par le calcul.</a:t>
            </a:r>
          </a:p>
          <a:p>
            <a:pPr algn="just">
              <a:spcAft>
                <a:spcPts val="600"/>
              </a:spcAft>
            </a:pPr>
            <a:r>
              <a:rPr sz="1150" b="1">
                <a:solidFill>
                  <a:srgbClr val="060606"/>
                </a:solidFill>
                <a:latin typeface="Helvetica"/>
              </a:rPr>
              <a:t>Implication pour le FPPN.</a:t>
            </a:r>
            <a:r>
              <a:rPr sz="1150" b="0">
                <a:solidFill>
                  <a:srgbClr val="060606"/>
                </a:solidFill>
                <a:latin typeface="Helvetica"/>
              </a:rPr>
              <a:t> Le FPPN doit retirer ces lignes de total de ses fichiers, ou les isoler, avant tout traitement automatique.</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936 : poste maladie</a:t>
            </a:r>
          </a:p>
        </p:txBody>
      </p:sp>
    </p:spTree>
    <p:extLst>
      <p:ext uri="{BB962C8B-B14F-4D97-AF65-F5344CB8AC3E}">
        <p14:creationId xmlns:p14="http://schemas.microsoft.com/office/powerpoint/2010/main" val="972060616"/>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montants doublés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Des montants saisis deux fois à la suite gonflaient les précomptes décès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Avril 2024 : 17 montants de plus d'un million de FCFA sont des montants écrits deux fois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FPPN-SOLDE\ALLOCATION DECES\2024\FPPN_ALLOC_DECES_8Z6_AVRIL_2024.xlsx. Noms et matricules masqués</a:t>
            </a:r>
          </a:p>
        </p:txBody>
      </p:sp>
      <p:sp>
        <p:nvSpPr>
          <p:cNvPr id="31" name="TextBox 30"/>
          <p:cNvSpPr txBox="1"/>
          <p:nvPr/>
        </p:nvSpPr>
        <p:spPr>
          <a:xfrm>
            <a:off x="503999" y="1350000"/>
            <a:ext cx="7920000" cy="180000"/>
          </a:xfrm>
          <a:prstGeom prst="rect">
            <a:avLst/>
          </a:prstGeom>
          <a:noFill/>
        </p:spPr>
        <p:txBody>
          <a:bodyPr wrap="square" anchor="t" lIns="54000" rIns="54000"/>
          <a:lstStyle/>
          <a:p>
            <a:pPr algn="l"/>
            <a:r>
              <a:rPr sz="900" b="0">
                <a:solidFill>
                  <a:srgbClr val="53565A"/>
                </a:solidFill>
                <a:latin typeface="Helvetica"/>
              </a:rPr>
              <a:t>Extrait : FPPN-SOLDE\ALLOCATION DECES\2024\FPPN_ALLOC_DECES_8Z6_AVRIL_2024.xlsx</a:t>
            </a:r>
          </a:p>
        </p:txBody>
      </p:sp>
      <p:graphicFrame>
        <p:nvGraphicFramePr>
          <p:cNvPr id="32" name="Table 31"/>
          <p:cNvGraphicFramePr>
            <a:graphicFrameLocks noGrp="1"/>
          </p:cNvGraphicFramePr>
          <p:nvPr/>
        </p:nvGraphicFramePr>
        <p:xfrm>
          <a:off x="503999" y="1548000"/>
          <a:ext cx="7920000" cy="1050045"/>
        </p:xfrm>
        <a:graphic>
          <a:graphicData uri="http://schemas.openxmlformats.org/drawingml/2006/table">
            <a:tbl>
              <a:tblPr firstRow="0" bandRow="0">
                <a:tableStyleId>{5940675A-B579-460E-94D1-54222C63F5DA}</a:tableStyleId>
              </a:tblPr>
              <a:tblGrid>
                <a:gridCol w="1440000"/>
                <a:gridCol w="1440000"/>
                <a:gridCol w="2880000"/>
                <a:gridCol w="2160000"/>
              </a:tblGrid>
              <a:tr h="210009">
                <a:tc>
                  <a:txBody>
                    <a:bodyPr/>
                    <a:lstStyle/>
                    <a:p>
                      <a:pPr marL="0" indent="0" lvl="0">
                        <a:buNone/>
                      </a:pPr>
                      <a:r>
                        <a:rPr sz="1000" b="1">
                          <a:solidFill>
                            <a:srgbClr val="FFFFFF"/>
                          </a:solidFill>
                          <a:latin typeface="Helvetica"/>
                        </a:rPr>
                        <a:t>Matricule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Nom</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dans le fichier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corrigé</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260***E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K. N. K.</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4792447924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47924</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463***P</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 G. 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3506635066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35066</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498***P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 E. D.</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3379533795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33795</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300***Y</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O. B. F.</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3328733287</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33287</a:t>
                      </a:r>
                    </a:p>
                  </a:txBody>
                  <a:tcPr marL="43200" marR="43200" marT="14400" marB="14400" anchor="ctr">
                    <a:solidFill>
                      <a:srgbClr val="F2F2F2"/>
                    </a:solidFill>
                  </a:tcPr>
                </a:tc>
              </a:tr>
            </a:tbl>
          </a:graphicData>
        </a:graphic>
      </p:graphicFrame>
      <p:sp>
        <p:nvSpPr>
          <p:cNvPr id="33" name="Rounded Rectangle 32"/>
          <p:cNvSpPr/>
          <p:nvPr/>
        </p:nvSpPr>
        <p:spPr>
          <a:xfrm>
            <a:off x="3366000" y="1747209"/>
            <a:ext cx="2916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083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6245999" y="1747209"/>
            <a:ext cx="2196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243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640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9000000" y="1530000"/>
            <a:ext cx="2736000" cy="484084"/>
          </a:xfrm>
          <a:prstGeom prst="rect">
            <a:avLst/>
          </a:prstGeom>
          <a:noFill/>
        </p:spPr>
        <p:txBody>
          <a:bodyPr wrap="square" anchor="t" lIns="54000" rIns="54000"/>
          <a:lstStyle/>
          <a:p>
            <a:pPr algn="l"/>
            <a:r>
              <a:rPr sz="1200" b="0">
                <a:solidFill>
                  <a:srgbClr val="060606"/>
                </a:solidFill>
                <a:latin typeface="Helvetica"/>
              </a:rPr>
              <a:t>Le montant du fichier répète deux fois la suite « 47924 ».</a:t>
            </a:r>
          </a:p>
        </p:txBody>
      </p:sp>
      <p:sp>
        <p:nvSpPr>
          <p:cNvPr id="39" name="Oval 38"/>
          <p:cNvSpPr/>
          <p:nvPr/>
        </p:nvSpPr>
        <p:spPr>
          <a:xfrm>
            <a:off x="8640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9000000" y="2104084"/>
            <a:ext cx="2736000" cy="670023"/>
          </a:xfrm>
          <a:prstGeom prst="rect">
            <a:avLst/>
          </a:prstGeom>
          <a:noFill/>
        </p:spPr>
        <p:txBody>
          <a:bodyPr wrap="square" anchor="t" lIns="54000" rIns="54000"/>
          <a:lstStyle/>
          <a:p>
            <a:pPr algn="l"/>
            <a:r>
              <a:rPr sz="1200" b="0">
                <a:solidFill>
                  <a:srgbClr val="060606"/>
                </a:solidFill>
                <a:latin typeface="Helvetica"/>
              </a:rPr>
              <a:t>Un précompte décès de plus d'un million de FCFA par agent est impossible.</a:t>
            </a:r>
          </a:p>
        </p:txBody>
      </p:sp>
      <p:sp>
        <p:nvSpPr>
          <p:cNvPr id="41" name="Oval 40"/>
          <p:cNvSpPr/>
          <p:nvPr/>
        </p:nvSpPr>
        <p:spPr>
          <a:xfrm>
            <a:off x="8640000" y="288210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9000000" y="2864108"/>
            <a:ext cx="2736000" cy="670023"/>
          </a:xfrm>
          <a:prstGeom prst="rect">
            <a:avLst/>
          </a:prstGeom>
          <a:noFill/>
        </p:spPr>
        <p:txBody>
          <a:bodyPr wrap="square" anchor="t" lIns="54000" rIns="54000"/>
          <a:lstStyle/>
          <a:p>
            <a:pPr algn="l"/>
            <a:r>
              <a:rPr sz="1200" b="0">
                <a:solidFill>
                  <a:srgbClr val="060606"/>
                </a:solidFill>
                <a:latin typeface="Helvetica"/>
              </a:rPr>
              <a:t>Adenka retient la première moitié du montant et signale la ligne au FPPN.</a:t>
            </a:r>
          </a:p>
        </p:txBody>
      </p:sp>
      <p:sp>
        <p:nvSpPr>
          <p:cNvPr id="43" name="TextBox 42"/>
          <p:cNvSpPr txBox="1"/>
          <p:nvPr/>
        </p:nvSpPr>
        <p:spPr>
          <a:xfrm>
            <a:off x="8640000" y="3714132"/>
            <a:ext cx="3096000" cy="2153867"/>
          </a:xfrm>
          <a:prstGeom prst="rect">
            <a:avLst/>
          </a:prstGeom>
          <a:noFill/>
        </p:spPr>
        <p:txBody>
          <a:bodyPr wrap="square" lIns="54000" rIns="54000"/>
          <a:lstStyle/>
          <a:p>
            <a:pPr algn="just">
              <a:spcAft>
                <a:spcPts val="600"/>
              </a:spcAft>
            </a:pPr>
            <a:r>
              <a:rPr sz="1200" b="1">
                <a:solidFill>
                  <a:srgbClr val="060606"/>
                </a:solidFill>
                <a:latin typeface="Helvetica"/>
              </a:rPr>
              <a:t>L'erreur vient de la saisie du fichier source, pas d'un calcul.</a:t>
            </a:r>
            <a:r>
              <a:rPr sz="1200" b="0">
                <a:solidFill>
                  <a:srgbClr val="060606"/>
                </a:solidFill>
                <a:latin typeface="Helvetica"/>
              </a:rPr>
              <a:t> Les deux moitiés du montant sont identiques, ce qui signe une double frappe.</a:t>
            </a:r>
          </a:p>
          <a:p>
            <a:pPr algn="just">
              <a:spcAft>
                <a:spcPts val="600"/>
              </a:spcAft>
            </a:pPr>
            <a:r>
              <a:rPr sz="1200" b="1">
                <a:solidFill>
                  <a:srgbClr val="060606"/>
                </a:solidFill>
                <a:latin typeface="Helvetica"/>
              </a:rPr>
              <a:t>Implication pour le FPPN.</a:t>
            </a:r>
            <a:r>
              <a:rPr sz="1200" b="0">
                <a:solidFill>
                  <a:srgbClr val="060606"/>
                </a:solidFill>
                <a:latin typeface="Helvetica"/>
              </a:rPr>
              <a:t> La correction est limitée au poste décès et à un seuil d'un million de FCFA pour ne pas modifier de montants réels. Le FPPN doit confirmer chaque ligne signalée.</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726798519"/>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Rapprochement aller et retour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Solde précompte en moyenne 97 à 100 % des montants demandés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 les mois communs, l'écart moyen est faible, mais certains mois s'écartent fortement</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7 : Montant précompté rapporté au montant demandé, mois communs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du montant demandé</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La Solde et la CGRAE retiennent presque tout ce que le FPPN demande.</a:t>
            </a:r>
            <a:r>
              <a:rPr sz="1400" b="0">
                <a:solidFill>
                  <a:srgbClr val="060606"/>
                </a:solidFill>
                <a:latin typeface="Helvetica"/>
              </a:rPr>
              <a:t> Le taux moyen va de 97,41 % à 100,19 % selon le poste.</a:t>
            </a:r>
          </a:p>
          <a:p>
            <a:pPr algn="just">
              <a:spcAft>
                <a:spcPts val="600"/>
              </a:spcAft>
            </a:pPr>
            <a:r>
              <a:rPr sz="1400" b="1">
                <a:solidFill>
                  <a:srgbClr val="060606"/>
                </a:solidFill>
                <a:latin typeface="Helvetica"/>
              </a:rPr>
              <a:t>Certains mois s'écartent nettement de la moyenne.</a:t>
            </a:r>
            <a:r>
              <a:rPr sz="1400" b="0">
                <a:solidFill>
                  <a:srgbClr val="060606"/>
                </a:solidFill>
                <a:latin typeface="Helvetica"/>
              </a:rPr>
              <a:t> Le mois le plus bas atteint 69,19 % pour le Grenier et 76,96 % pour le PEP.</a:t>
            </a:r>
          </a:p>
          <a:p>
            <a:pPr algn="just">
              <a:spcAft>
                <a:spcPts val="600"/>
              </a:spcAft>
            </a:pPr>
            <a:r>
              <a:rPr sz="1400" b="1">
                <a:solidFill>
                  <a:srgbClr val="060606"/>
                </a:solidFill>
                <a:latin typeface="Helvetica"/>
              </a:rPr>
              <a:t>Ces écarts traduisent des rejets ou des fichiers incomplets.</a:t>
            </a:r>
            <a:r>
              <a:rPr sz="1400" b="0">
                <a:solidFill>
                  <a:srgbClr val="060606"/>
                </a:solidFill>
                <a:latin typeface="Helvetica"/>
              </a:rPr>
              <a:t> Le FPPN ne rapproche pas les fichiers aller et retour et ne reçoit les motifs de rejet que depuis environ deux mois (déclaration du responsable des cotisations, entretien du 19/10/2026, à confirmer par document).</a:t>
            </a:r>
          </a:p>
          <a:p>
            <a:pPr algn="just">
              <a:spcAft>
                <a:spcPts val="600"/>
              </a:spcAft>
            </a:pPr>
            <a:r>
              <a:rPr sz="1400" b="1">
                <a:solidFill>
                  <a:srgbClr val="060606"/>
                </a:solidFill>
                <a:latin typeface="Helvetica"/>
              </a:rPr>
              <a:t>Implication pour le FPPN.</a:t>
            </a:r>
            <a:r>
              <a:rPr sz="1400" b="0">
                <a:solidFill>
                  <a:srgbClr val="060606"/>
                </a:solidFill>
                <a:latin typeface="Helvetica"/>
              </a:rPr>
              <a:t> Pour les retraités, le taux mesuré sert d'indicateur de recouvrement des cotisations : il respecte la norme d'au moins 90 % de la Décision n° 05/2022. Pour les cotisations maladie et décès des actifs, le calcul attend les fichiers aller, que la direction du personnel de la Police transmet directement à la Solde.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MEDOC : produit santé complémentaire du poste 8Z7 | 870 : poste EFC | 998 : poste PEP | 9X4 : poste Grenier | 9W3 : poste flotte automobile | 8Z7 : poste MEDOC</a:t>
            </a:r>
          </a:p>
        </p:txBody>
      </p:sp>
    </p:spTree>
    <p:extLst>
      <p:ext uri="{BB962C8B-B14F-4D97-AF65-F5344CB8AC3E}">
        <p14:creationId xmlns:p14="http://schemas.microsoft.com/office/powerpoint/2010/main" val="3060939351"/>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écarts du PEP</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deux mois extrêmes du PEP s'expliquent par le contenu des fichiers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Janvier 2025 : 76,96 %. Juillet 2024 : 150,62 %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1" name="TextBox 30"/>
          <p:cNvSpPr txBox="1"/>
          <p:nvPr/>
        </p:nvSpPr>
        <p:spPr>
          <a:xfrm>
            <a:off x="503999" y="1350000"/>
            <a:ext cx="10080000" cy="180000"/>
          </a:xfrm>
          <a:prstGeom prst="rect">
            <a:avLst/>
          </a:prstGeom>
          <a:noFill/>
        </p:spPr>
        <p:txBody>
          <a:bodyPr wrap="square" anchor="t" lIns="54000" rIns="54000"/>
          <a:lstStyle/>
          <a:p>
            <a:pPr algn="l"/>
            <a:r>
              <a:rPr sz="900" b="0">
                <a:solidFill>
                  <a:srgbClr val="53565A"/>
                </a:solidFill>
                <a:latin typeface="Helvetica"/>
              </a:rPr>
              <a:t>Extrait : FPPN-SOLDE\PEP\FICHIER ALLER et FICHIER RETOUR</a:t>
            </a:r>
          </a:p>
        </p:txBody>
      </p:sp>
      <p:graphicFrame>
        <p:nvGraphicFramePr>
          <p:cNvPr id="32" name="Table 31"/>
          <p:cNvGraphicFramePr>
            <a:graphicFrameLocks noGrp="1"/>
          </p:cNvGraphicFramePr>
          <p:nvPr/>
        </p:nvGraphicFramePr>
        <p:xfrm>
          <a:off x="503999" y="1548000"/>
          <a:ext cx="10080000" cy="782437"/>
        </p:xfrm>
        <a:graphic>
          <a:graphicData uri="http://schemas.openxmlformats.org/drawingml/2006/table">
            <a:tbl>
              <a:tblPr firstRow="0" bandRow="0">
                <a:tableStyleId>{5940675A-B579-460E-94D1-54222C63F5DA}</a:tableStyleId>
              </a:tblPr>
              <a:tblGrid>
                <a:gridCol w="864000"/>
                <a:gridCol w="2376000"/>
                <a:gridCol w="936000"/>
                <a:gridCol w="1944000"/>
                <a:gridCol w="936000"/>
                <a:gridCol w="1944000"/>
                <a:gridCol w="1080000"/>
              </a:tblGrid>
              <a:tr h="362419">
                <a:tc>
                  <a:txBody>
                    <a:bodyPr/>
                    <a:lstStyle/>
                    <a:p>
                      <a:pPr marL="0" indent="0" lvl="0">
                        <a:buNone/>
                      </a:pPr>
                      <a:r>
                        <a:rPr sz="1000" b="1">
                          <a:solidFill>
                            <a:srgbClr val="FFFFFF"/>
                          </a:solidFill>
                          <a:latin typeface="Helvetica"/>
                        </a:rPr>
                        <a:t>Mois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Fichier aller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Lignes aller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aller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Lignes retour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retour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Taux</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janv. 2025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FICHIER ALLER JANVIER 2025.xlsx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12 256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156 130 575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9 679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120 164 075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76,96 %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juil. 2024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FICHIER ALLER JUILLET 2024.xlsx</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7 180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97 910 325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11 654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147 477 325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150,62 %</a:t>
                      </a:r>
                    </a:p>
                  </a:txBody>
                  <a:tcPr marL="43200" marR="43200" marT="14400" marB="14400" anchor="ctr">
                    <a:solidFill>
                      <a:srgbClr val="F2F2F2"/>
                    </a:solidFill>
                  </a:tcPr>
                </a:tc>
              </a:tr>
            </a:tbl>
          </a:graphicData>
        </a:graphic>
      </p:graphicFrame>
      <p:sp>
        <p:nvSpPr>
          <p:cNvPr id="33" name="Rounded Rectangle 32"/>
          <p:cNvSpPr/>
          <p:nvPr/>
        </p:nvSpPr>
        <p:spPr>
          <a:xfrm>
            <a:off x="6605999" y="1899619"/>
            <a:ext cx="972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380000" y="174841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6605999" y="2109628"/>
            <a:ext cx="972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380000" y="19584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503999" y="24564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864000" y="2438438"/>
            <a:ext cx="9720000" cy="298144"/>
          </a:xfrm>
          <a:prstGeom prst="rect">
            <a:avLst/>
          </a:prstGeom>
          <a:noFill/>
        </p:spPr>
        <p:txBody>
          <a:bodyPr wrap="square" anchor="t" lIns="54000" rIns="54000"/>
          <a:lstStyle/>
          <a:p>
            <a:pPr algn="l"/>
            <a:r>
              <a:rPr sz="1200" b="0">
                <a:solidFill>
                  <a:srgbClr val="060606"/>
                </a:solidFill>
                <a:latin typeface="Helvetica"/>
              </a:rPr>
              <a:t>En janvier 2025, 2 577 épargnants demandés n'ont pas été précomptés.</a:t>
            </a:r>
          </a:p>
        </p:txBody>
      </p:sp>
      <p:sp>
        <p:nvSpPr>
          <p:cNvPr id="39" name="Oval 38"/>
          <p:cNvSpPr/>
          <p:nvPr/>
        </p:nvSpPr>
        <p:spPr>
          <a:xfrm>
            <a:off x="503999" y="2844582"/>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864000" y="2826582"/>
            <a:ext cx="9720000" cy="298144"/>
          </a:xfrm>
          <a:prstGeom prst="rect">
            <a:avLst/>
          </a:prstGeom>
          <a:noFill/>
        </p:spPr>
        <p:txBody>
          <a:bodyPr wrap="square" anchor="t" lIns="54000" rIns="54000"/>
          <a:lstStyle/>
          <a:p>
            <a:pPr algn="l"/>
            <a:r>
              <a:rPr sz="1200" b="0">
                <a:solidFill>
                  <a:srgbClr val="060606"/>
                </a:solidFill>
                <a:latin typeface="Helvetica"/>
              </a:rPr>
              <a:t>En juillet 2024, le fichier retour compte 4 474 lignes de plus que le fichier aller.</a:t>
            </a:r>
          </a:p>
        </p:txBody>
      </p:sp>
      <p:sp>
        <p:nvSpPr>
          <p:cNvPr id="41" name="Oval 40"/>
          <p:cNvSpPr/>
          <p:nvPr/>
        </p:nvSpPr>
        <p:spPr>
          <a:xfrm>
            <a:off x="503999" y="323272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864000" y="3214727"/>
            <a:ext cx="9720000" cy="298144"/>
          </a:xfrm>
          <a:prstGeom prst="rect">
            <a:avLst/>
          </a:prstGeom>
          <a:noFill/>
        </p:spPr>
        <p:txBody>
          <a:bodyPr wrap="square" anchor="t" lIns="54000" rIns="54000"/>
          <a:lstStyle/>
          <a:p>
            <a:pPr algn="l"/>
            <a:r>
              <a:rPr sz="1200" b="0">
                <a:solidFill>
                  <a:srgbClr val="060606"/>
                </a:solidFill>
                <a:latin typeface="Helvetica"/>
              </a:rPr>
              <a:t>Le taux mensuel dépend donc de la qualité des deux fichiers, et le FPPN doit tenir un état des rejets.</a:t>
            </a:r>
          </a:p>
        </p:txBody>
      </p:sp>
      <p:sp>
        <p:nvSpPr>
          <p:cNvPr id="43" name="TextBox 42"/>
          <p:cNvSpPr txBox="1"/>
          <p:nvPr/>
        </p:nvSpPr>
        <p:spPr>
          <a:xfrm>
            <a:off x="503999" y="3656871"/>
            <a:ext cx="11232000" cy="2211128"/>
          </a:xfrm>
          <a:prstGeom prst="rect">
            <a:avLst/>
          </a:prstGeom>
          <a:noFill/>
        </p:spPr>
        <p:txBody>
          <a:bodyPr wrap="square" lIns="54000" rIns="54000"/>
          <a:lstStyle/>
          <a:p>
            <a:pPr algn="just">
              <a:spcAft>
                <a:spcPts val="600"/>
              </a:spcAft>
            </a:pPr>
            <a:r>
              <a:rPr sz="1200" b="1">
                <a:solidFill>
                  <a:srgbClr val="060606"/>
                </a:solidFill>
                <a:latin typeface="Helvetica"/>
              </a:rPr>
              <a:t>Un taux supérieur à 100 % ne signifie pas un trop-perçu.</a:t>
            </a:r>
            <a:r>
              <a:rPr sz="1200" b="0">
                <a:solidFill>
                  <a:srgbClr val="060606"/>
                </a:solidFill>
                <a:latin typeface="Helvetica"/>
              </a:rPr>
              <a:t> Il révèle un fichier aller incomplet, qui n'inclut pas les nouveaux épargnants.</a:t>
            </a:r>
          </a:p>
          <a:p>
            <a:pPr algn="just">
              <a:spcAft>
                <a:spcPts val="600"/>
              </a:spcAft>
            </a:pPr>
            <a:r>
              <a:rPr sz="1200" b="1">
                <a:solidFill>
                  <a:srgbClr val="060606"/>
                </a:solidFill>
                <a:latin typeface="Helvetica"/>
              </a:rPr>
              <a:t>Implication pour le FPPN.</a:t>
            </a:r>
            <a:r>
              <a:rPr sz="1200" b="0">
                <a:solidFill>
                  <a:srgbClr val="060606"/>
                </a:solidFill>
                <a:latin typeface="Helvetica"/>
              </a:rPr>
              <a:t> Sans état des rejets, le FPPN ne peut pas prouver que chaque épargnant a été précompté du bon montant : c'est une condition pour reconstituer les comptes individuels.</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a:t>
            </a:r>
          </a:p>
        </p:txBody>
      </p:sp>
    </p:spTree>
    <p:extLst>
      <p:ext uri="{BB962C8B-B14F-4D97-AF65-F5344CB8AC3E}">
        <p14:creationId xmlns:p14="http://schemas.microsoft.com/office/powerpoint/2010/main" val="1894304777"/>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Fichiers vides ou endommagés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Onze fichiers sont vides, illisibles ou mal classés et doivent être renvoyés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fichiers comptables endommagés ont tous un double lisible, sauf le grand livre des comptes 2022</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journal de contrôle de l'extraction. Note interne des anomalies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9 : Fichiers à renvoyer ou à corriger</a:t>
            </a:r>
          </a:p>
        </p:txBody>
      </p:sp>
      <p:graphicFrame>
        <p:nvGraphicFramePr>
          <p:cNvPr id="32" name="Table 31"/>
          <p:cNvGraphicFramePr>
            <a:graphicFrameLocks noGrp="1"/>
          </p:cNvGraphicFramePr>
          <p:nvPr/>
        </p:nvGraphicFramePr>
        <p:xfrm>
          <a:off x="503999" y="1655999"/>
          <a:ext cx="11232000" cy="1969651"/>
        </p:xfrm>
        <a:graphic>
          <a:graphicData uri="http://schemas.openxmlformats.org/drawingml/2006/table">
            <a:tbl>
              <a:tblPr firstRow="0" bandRow="0">
                <a:tableStyleId>{5940675A-B579-460E-94D1-54222C63F5DA}</a:tableStyleId>
              </a:tblPr>
              <a:tblGrid>
                <a:gridCol w="4104000"/>
                <a:gridCol w="2232000"/>
                <a:gridCol w="4896000"/>
              </a:tblGrid>
              <a:tr h="225250">
                <a:tc>
                  <a:txBody>
                    <a:bodyPr/>
                    <a:lstStyle/>
                    <a:p>
                      <a:pPr marL="0" indent="0" lvl="0">
                        <a:buNone/>
                      </a:pPr>
                      <a:r>
                        <a:rPr sz="1100" b="1">
                          <a:solidFill>
                            <a:srgbClr val="FFFFFF"/>
                          </a:solidFill>
                          <a:latin typeface="Helvetica"/>
                        </a:rPr>
                        <a:t>Fichier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Défaut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Conséquence</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Décès 8Z6 et maladie 936, décembre 2024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Vides (0 octet)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 mois de décembre 2024 n'a aucune donnée.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MEDOC 8Z7, retours de février et avril 2026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Aucune ligne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précomptes MEDOC de ces deux mois sont inconnus.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Balances des tiers 2021 et 2025 (Excel)</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Endommagées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Adenka a utilisé les PDF lisibles.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Grands livres des comptes 2021 et 2024 (Excel)</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Endommagés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Adenka a utilisé les PDF lisibles.</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Grand livre des comptes 2022 (Excel et PDF)</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Endommagés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Adenka a récupéré 417 pages sur 657. La balance 2022 est intacte.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Grands livres des tiers 2023 et 2025 (Excel)</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Endommagés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Adenka a utilisé les PDF lisibles.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Fichiers aller rangés dans les dossiers retour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Mal classés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retours de CGRAE juin 2024 et GNA janvier 2026 manquent.</a:t>
                      </a:r>
                    </a:p>
                  </a:txBody>
                  <a:tcPr marL="43200" marR="43200" marT="14400" marB="14400" anchor="ctr">
                    <a:solidFill>
                      <a:srgbClr val="FFFFFF"/>
                    </a:solidFill>
                  </a:tcPr>
                </a:tc>
              </a:tr>
            </a:tbl>
          </a:graphicData>
        </a:graphic>
      </p:graphicFrame>
      <p:sp>
        <p:nvSpPr>
          <p:cNvPr id="33" name="TextBox 32"/>
          <p:cNvSpPr txBox="1"/>
          <p:nvPr/>
        </p:nvSpPr>
        <p:spPr>
          <a:xfrm>
            <a:off x="503999" y="3733655"/>
            <a:ext cx="11232000" cy="2134344"/>
          </a:xfrm>
          <a:prstGeom prst="rect">
            <a:avLst/>
          </a:prstGeom>
          <a:noFill/>
        </p:spPr>
        <p:txBody>
          <a:bodyPr wrap="square" lIns="54000" rIns="54000"/>
          <a:lstStyle/>
          <a:p>
            <a:pPr algn="just">
              <a:spcAft>
                <a:spcPts val="600"/>
              </a:spcAft>
            </a:pPr>
            <a:r>
              <a:rPr sz="1300" b="1">
                <a:solidFill>
                  <a:srgbClr val="060606"/>
                </a:solidFill>
                <a:latin typeface="Helvetica"/>
              </a:rPr>
              <a:t>Les défauts portent sur les fichiers reçus et non sur leur traitement.</a:t>
            </a:r>
            <a:r>
              <a:rPr sz="1300" b="0">
                <a:solidFill>
                  <a:srgbClr val="060606"/>
                </a:solidFill>
                <a:latin typeface="Helvetica"/>
              </a:rPr>
              <a:t> Les empreintes SHA-256 prouvent que les fichiers analysés sont identiques à ceux transmis.</a:t>
            </a:r>
          </a:p>
          <a:p>
            <a:pPr algn="just">
              <a:spcAft>
                <a:spcPts val="600"/>
              </a:spcAft>
            </a:pPr>
            <a:r>
              <a:rPr sz="1300" b="1">
                <a:solidFill>
                  <a:srgbClr val="060606"/>
                </a:solidFill>
                <a:latin typeface="Helvetica"/>
              </a:rPr>
              <a:t>Implication pour le FPPN.</a:t>
            </a:r>
            <a:r>
              <a:rPr sz="1300" b="0">
                <a:solidFill>
                  <a:srgbClr val="060606"/>
                </a:solidFill>
                <a:latin typeface="Helvetica"/>
              </a:rPr>
              <a:t> Le renvoi de ces fichiers complètera décembre 2024 et le détail comptable 2022, sans changer les totaux annuels déjà utilisés.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GNA : assureur de la flotte automobile (compte 47111106) | MEDOC : produit santé complémentaire du poste 8Z7 | SHA-256 : algorithme d'empreinte numérique | 936 : poste maladie | 8Z6 : poste décès | 8Z7 : poste MEDOC</a:t>
            </a:r>
          </a:p>
        </p:txBody>
      </p:sp>
    </p:spTree>
    <p:extLst>
      <p:ext uri="{BB962C8B-B14F-4D97-AF65-F5344CB8AC3E}">
        <p14:creationId xmlns:p14="http://schemas.microsoft.com/office/powerpoint/2010/main" val="339957719"/>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base reproduit les fichiers du FPPN sans perte, mais il manque les données nécessaires aux calculs actuariels.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empreintes, les lignes et les totaux des logiciels sont identiques. Adenka a écarté 87 lignes de total et corrigé 17 montants doublés.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qualité des analyses dépend désormais de la transmission des données manquantes, et non plus du traitement des fichiers.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les bases de prestations, les dates de naissance et les fichiers vides de décembre 2024.</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données</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données reçues sont fidèlement reprises, mais incomplètes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Base contrôlée à 100 %, sans prestations, sans âges et sans précomptes mensuels de 2020 à 2022</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843182805"/>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4</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Effectifs et cotisations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Cotisants, retraités, taux, cotisations en termes réels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671058300"/>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Effectif</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L'effectif du mois est le nombre de matricules distincts du fichier maladie 936 de ce mois. Trente et un mois sont disponibles.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Flux</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Une entrée est un matricule présent un mois et absent le mois précédent. Une sortie est l'inverse. Seuls les mois consécutifs sont comparés.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Taux de cotisation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taux rapporte le précompte du mois au salaire de base du mois, pour chaque agent : 209 670 lignes sont calculées.</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fichiers ne donnent pas le motif de sortie (retraite, décès, radiation), ni l'âge, ni le sexe des agents.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effectifs et taux</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Effectifs, flux et taux sont mesurés agent par agent, chaque mois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Un cotisant est un matricule précompté au poste maladie 936 dans le mois</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936 : poste maladie</a:t>
            </a:r>
          </a:p>
        </p:txBody>
      </p:sp>
    </p:spTree>
    <p:extLst>
      <p:ext uri="{BB962C8B-B14F-4D97-AF65-F5344CB8AC3E}">
        <p14:creationId xmlns:p14="http://schemas.microsoft.com/office/powerpoint/2010/main" val="356543027"/>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Effectifs cotisants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cotisants actifs augmentent d'un tiers en trente et un mois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23 119 cotisants en janvier 2024, 31 198 en août 2026</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8 : Cotisants actifs précomptés (poste 936), par mois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nombre de mutualistes</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(décembre 2024 : fichier vide)</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Les cotisants actifs augmentent de 34,95 % en 31 mois.</a:t>
            </a:r>
            <a:r>
              <a:rPr sz="1400" b="0">
                <a:solidFill>
                  <a:srgbClr val="060606"/>
                </a:solidFill>
                <a:latin typeface="Helvetica"/>
              </a:rPr>
              <a:t> Le taux de croissance annuel moyen vaut 12,30 %.</a:t>
            </a:r>
          </a:p>
          <a:p>
            <a:pPr algn="just">
              <a:spcAft>
                <a:spcPts val="600"/>
              </a:spcAft>
            </a:pPr>
            <a:r>
              <a:rPr sz="1400" b="1">
                <a:solidFill>
                  <a:srgbClr val="060606"/>
                </a:solidFill>
                <a:latin typeface="Helvetica"/>
              </a:rPr>
              <a:t>La hausse se fait par paliers en juillet, mois d'intégration des promotions de recrues.</a:t>
            </a:r>
            <a:r>
              <a:rPr sz="1400" b="0">
                <a:solidFill>
                  <a:srgbClr val="060606"/>
                </a:solidFill>
                <a:latin typeface="Helvetica"/>
              </a:rPr>
              <a:t> Les fichiers comptent 4 926 entrées en juillet 2024 et 4 127 en juillet 2025.</a:t>
            </a:r>
          </a:p>
          <a:p>
            <a:pPr algn="just">
              <a:spcAft>
                <a:spcPts val="600"/>
              </a:spcAft>
            </a:pPr>
            <a:r>
              <a:rPr sz="1400" b="1">
                <a:solidFill>
                  <a:srgbClr val="060606"/>
                </a:solidFill>
                <a:latin typeface="Helvetica"/>
              </a:rPr>
              <a:t>La tendance est statistiquement significative.</a:t>
            </a:r>
            <a:r>
              <a:rPr sz="1400" b="0">
                <a:solidFill>
                  <a:srgbClr val="060606"/>
                </a:solidFill>
                <a:latin typeface="Helvetica"/>
              </a:rPr>
              <a:t> Elle correspond à 296,28 cotisants de plus par mois en moyenne.</a:t>
            </a:r>
          </a:p>
          <a:p>
            <a:pPr algn="just">
              <a:spcAft>
                <a:spcPts val="600"/>
              </a:spcAft>
            </a:pPr>
            <a:r>
              <a:rPr sz="1400" b="1">
                <a:solidFill>
                  <a:srgbClr val="060606"/>
                </a:solidFill>
                <a:latin typeface="Helvetica"/>
              </a:rPr>
              <a:t>Implication pour le FPPN.</a:t>
            </a:r>
            <a:r>
              <a:rPr sz="1400" b="0">
                <a:solidFill>
                  <a:srgbClr val="060606"/>
                </a:solidFill>
                <a:latin typeface="Helvetica"/>
              </a:rPr>
              <a:t> Les recrues cotisent dès leur entrée, alors que leurs besoins de soins et d'épargne viendront plus tard : la croissance actuelle améliore les comptes de l'année, mais elle prépare des engagements plus importants à long terme, que seule une projection par âge permettra de chiffrer.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936 : poste maladie</a:t>
            </a:r>
          </a:p>
        </p:txBody>
      </p:sp>
    </p:spTree>
    <p:extLst>
      <p:ext uri="{BB962C8B-B14F-4D97-AF65-F5344CB8AC3E}">
        <p14:creationId xmlns:p14="http://schemas.microsoft.com/office/powerpoint/2010/main" val="727693017"/>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Entrées et sorties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entrées massives de juillet s'opposent à des sorties faibles et régulières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Entrées : 6 240 en 2024, 4 274 en 2025. Sorties : 1 753 et 464</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9 : Entrées et sorties de cotisants, par mois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mutualistes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entrées sont concentrées en juillet, mois d'intégration des recrues.</a:t>
            </a:r>
            <a:r>
              <a:rPr sz="1400" b="0">
                <a:solidFill>
                  <a:srgbClr val="060606"/>
                </a:solidFill>
                <a:latin typeface="Helvetica"/>
              </a:rPr>
              <a:t> Les autres mois, les entrées et les sorties restent faibles.</a:t>
            </a:r>
          </a:p>
          <a:p>
            <a:pPr algn="just">
              <a:spcAft>
                <a:spcPts val="600"/>
              </a:spcAft>
            </a:pPr>
            <a:r>
              <a:rPr sz="1400" b="1">
                <a:solidFill>
                  <a:srgbClr val="060606"/>
                </a:solidFill>
                <a:latin typeface="Helvetica"/>
              </a:rPr>
              <a:t>Les sorties ne dépassent la moyenne qu'en novembre 2024 et en janvier 2026.</a:t>
            </a:r>
            <a:r>
              <a:rPr sz="1400" b="0">
                <a:solidFill>
                  <a:srgbClr val="060606"/>
                </a:solidFill>
                <a:latin typeface="Helvetica"/>
              </a:rPr>
              <a:t> Leur motif n'est pas indiqué dans les fichiers.</a:t>
            </a:r>
          </a:p>
          <a:p>
            <a:pPr algn="just">
              <a:spcAft>
                <a:spcPts val="600"/>
              </a:spcAft>
            </a:pPr>
            <a:r>
              <a:rPr sz="1400" b="1">
                <a:solidFill>
                  <a:srgbClr val="060606"/>
                </a:solidFill>
                <a:latin typeface="Helvetica"/>
              </a:rPr>
              <a:t>La fidélisation des adhérents est forte.</a:t>
            </a:r>
            <a:r>
              <a:rPr sz="1400" b="0">
                <a:solidFill>
                  <a:srgbClr val="060606"/>
                </a:solidFill>
                <a:latin typeface="Helvetica"/>
              </a:rPr>
              <a:t> Parmi les matricules précomptés en 2024, 96,49 % le sont encore en 2025, au-dessus de la norme d'au moins 80 % de la Décision n° 05/2022.</a:t>
            </a:r>
          </a:p>
          <a:p>
            <a:pPr algn="just">
              <a:spcAft>
                <a:spcPts val="600"/>
              </a:spcAft>
            </a:pPr>
            <a:r>
              <a:rPr sz="1400" b="1">
                <a:solidFill>
                  <a:srgbClr val="060606"/>
                </a:solidFill>
                <a:latin typeface="Helvetica"/>
              </a:rPr>
              <a:t>Implication pour le FPPN.</a:t>
            </a:r>
            <a:r>
              <a:rPr sz="1400" b="0">
                <a:solidFill>
                  <a:srgbClr val="060606"/>
                </a:solidFill>
                <a:latin typeface="Helvetica"/>
              </a:rPr>
              <a:t> Le motif de chaque sortie est indispensable pour séparer retraites, décès et radiations, et donc pour mesurer la mortalité des policiers et projeter les départs.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a:t>
            </a:r>
          </a:p>
        </p:txBody>
      </p:sp>
    </p:spTree>
    <p:extLst>
      <p:ext uri="{BB962C8B-B14F-4D97-AF65-F5344CB8AC3E}">
        <p14:creationId xmlns:p14="http://schemas.microsoft.com/office/powerpoint/2010/main" val="1599827574"/>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Structure des effectifs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population jeune en service, recrutée en majorité depuis moins de dix ans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janv. 25, ancienneté médiane de 7,50 ans, salaire de base médian de 186 765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10 : Agents par ancienneté de service, janv. 25</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d'agents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(fichiers maladie 936 détaillés)</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56,82 % des agents ont moins de dix ans de service.</a:t>
            </a:r>
            <a:r>
              <a:rPr sz="1400" b="0">
                <a:solidFill>
                  <a:srgbClr val="060606"/>
                </a:solidFill>
                <a:latin typeface="Helvetica"/>
              </a:rPr>
              <a:t> Les recrutements récents dominent la population cotisante.</a:t>
            </a:r>
          </a:p>
          <a:p>
            <a:pPr algn="just">
              <a:spcAft>
                <a:spcPts val="600"/>
              </a:spcAft>
            </a:pPr>
            <a:r>
              <a:rPr sz="1400" b="1">
                <a:solidFill>
                  <a:srgbClr val="060606"/>
                </a:solidFill>
                <a:latin typeface="Helvetica"/>
              </a:rPr>
              <a:t>Une seconde vague a 15 à 25 ans de service.</a:t>
            </a:r>
            <a:r>
              <a:rPr sz="1400" b="0">
                <a:solidFill>
                  <a:srgbClr val="060606"/>
                </a:solidFill>
                <a:latin typeface="Helvetica"/>
              </a:rPr>
              <a:t> Elle regroupe 30,79 % des agents.</a:t>
            </a:r>
          </a:p>
          <a:p>
            <a:pPr algn="just">
              <a:spcAft>
                <a:spcPts val="600"/>
              </a:spcAft>
            </a:pPr>
            <a:r>
              <a:rPr sz="1400" b="1">
                <a:solidFill>
                  <a:srgbClr val="060606"/>
                </a:solidFill>
                <a:latin typeface="Helvetica"/>
              </a:rPr>
              <a:t>Cette seconde vague partira à la retraite dans les années à venir.</a:t>
            </a:r>
            <a:r>
              <a:rPr sz="1400" b="0">
                <a:solidFill>
                  <a:srgbClr val="060606"/>
                </a:solidFill>
                <a:latin typeface="Helvetica"/>
              </a:rPr>
              <a:t> Elle deviendra une population de retraités précomptés par la CGRAE, qui consomme davantage de soins.</a:t>
            </a:r>
          </a:p>
          <a:p>
            <a:pPr algn="just">
              <a:spcAft>
                <a:spcPts val="600"/>
              </a:spcAft>
            </a:pPr>
            <a:r>
              <a:rPr sz="1400" b="1">
                <a:solidFill>
                  <a:srgbClr val="060606"/>
                </a:solidFill>
                <a:latin typeface="Helvetica"/>
              </a:rPr>
              <a:t>Implication pour le FPPN.</a:t>
            </a:r>
            <a:r>
              <a:rPr sz="1400" b="0">
                <a:solidFill>
                  <a:srgbClr val="060606"/>
                </a:solidFill>
                <a:latin typeface="Helvetica"/>
              </a:rPr>
              <a:t> Les départs de cette vague déclencheront le versement de l'EFC et une hausse de la sinistralité des retraités : c'est le premier effet que la projection de l'équilibre devra chiffrer dès réception des âges.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EFC : entraide fin de carrière | 936 : poste maladie</a:t>
            </a:r>
          </a:p>
        </p:txBody>
      </p:sp>
    </p:spTree>
    <p:extLst>
      <p:ext uri="{BB962C8B-B14F-4D97-AF65-F5344CB8AC3E}">
        <p14:creationId xmlns:p14="http://schemas.microsoft.com/office/powerpoint/2010/main" val="2002083523"/>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taux de cotisation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Pour chaque agent, maladie et décès font 5,00 % du salaire de base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La même répartition, 3,77 % et 1,23 %, se retrouve sur 209 670 lignes des mois détaillés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Matricules masqués</a:t>
            </a:r>
          </a:p>
        </p:txBody>
      </p:sp>
      <p:sp>
        <p:nvSpPr>
          <p:cNvPr id="31" name="TextBox 30"/>
          <p:cNvSpPr txBox="1"/>
          <p:nvPr/>
        </p:nvSpPr>
        <p:spPr>
          <a:xfrm>
            <a:off x="503999" y="1350000"/>
            <a:ext cx="9648000" cy="180000"/>
          </a:xfrm>
          <a:prstGeom prst="rect">
            <a:avLst/>
          </a:prstGeom>
          <a:noFill/>
        </p:spPr>
        <p:txBody>
          <a:bodyPr wrap="square" anchor="t" lIns="54000" rIns="54000"/>
          <a:lstStyle/>
          <a:p>
            <a:pPr algn="l"/>
            <a:r>
              <a:rPr sz="900" b="0">
                <a:solidFill>
                  <a:srgbClr val="53565A"/>
                </a:solidFill>
                <a:latin typeface="Helvetica"/>
              </a:rPr>
              <a:t>Extrait : FPPN-SOLDE\EFFECTIF POLICE (MALADIE)\2024\042024_effectif_police_936_AVRIL 2024.xlsx et FPPN_ALLOC_DECES_8Z6_AVRIL_2024.xlsx</a:t>
            </a:r>
          </a:p>
        </p:txBody>
      </p:sp>
      <p:graphicFrame>
        <p:nvGraphicFramePr>
          <p:cNvPr id="32" name="Table 31"/>
          <p:cNvGraphicFramePr>
            <a:graphicFrameLocks noGrp="1"/>
          </p:cNvGraphicFramePr>
          <p:nvPr/>
        </p:nvGraphicFramePr>
        <p:xfrm>
          <a:off x="503999" y="1548000"/>
          <a:ext cx="9648000" cy="840036"/>
        </p:xfrm>
        <a:graphic>
          <a:graphicData uri="http://schemas.openxmlformats.org/drawingml/2006/table">
            <a:tbl>
              <a:tblPr firstRow="0" bandRow="0">
                <a:tableStyleId>{5940675A-B579-460E-94D1-54222C63F5DA}</a:tableStyleId>
              </a:tblPr>
              <a:tblGrid>
                <a:gridCol w="1152000"/>
                <a:gridCol w="792000"/>
                <a:gridCol w="1512000"/>
                <a:gridCol w="1368000"/>
                <a:gridCol w="1296000"/>
                <a:gridCol w="1224000"/>
                <a:gridCol w="1152000"/>
                <a:gridCol w="1152000"/>
              </a:tblGrid>
              <a:tr h="210009">
                <a:tc>
                  <a:txBody>
                    <a:bodyPr/>
                    <a:lstStyle/>
                    <a:p>
                      <a:pPr marL="0" indent="0" lvl="0">
                        <a:buNone/>
                      </a:pPr>
                      <a:r>
                        <a:rPr sz="1000" b="1">
                          <a:solidFill>
                            <a:srgbClr val="FFFFFF"/>
                          </a:solidFill>
                          <a:latin typeface="Helvetica"/>
                        </a:rPr>
                        <a:t>Matricule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Grade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Salaire de base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Maladie 936</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Décès 8Z6</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Maladie %</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Décès %</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Total %</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163***W</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MH</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301159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11354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3704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3,77 %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1,23 %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171***W</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MQ</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438898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16546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5398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3,77 %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1,23 %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5,00 %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172***N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I1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817097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30805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10050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3,77 %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1,23 %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a:t>
                      </a:r>
                    </a:p>
                  </a:txBody>
                  <a:tcPr marL="43200" marR="43200" marT="14400" marB="14400" anchor="ctr">
                    <a:solidFill>
                      <a:srgbClr val="FFFFFF"/>
                    </a:solidFill>
                  </a:tcPr>
                </a:tc>
              </a:tr>
            </a:tbl>
          </a:graphicData>
        </a:graphic>
      </p:graphicFrame>
      <p:sp>
        <p:nvSpPr>
          <p:cNvPr id="33" name="Rounded Rectangle 32"/>
          <p:cNvSpPr/>
          <p:nvPr/>
        </p:nvSpPr>
        <p:spPr>
          <a:xfrm>
            <a:off x="6605999" y="1747209"/>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67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7829999" y="1747209"/>
            <a:ext cx="118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819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8982000" y="1747209"/>
            <a:ext cx="118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972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503999" y="2514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864000" y="2496038"/>
            <a:ext cx="9288000" cy="298144"/>
          </a:xfrm>
          <a:prstGeom prst="rect">
            <a:avLst/>
          </a:prstGeom>
          <a:noFill/>
        </p:spPr>
        <p:txBody>
          <a:bodyPr wrap="square" anchor="t" lIns="54000" rIns="54000"/>
          <a:lstStyle/>
          <a:p>
            <a:pPr algn="l"/>
            <a:r>
              <a:rPr sz="1200" b="0">
                <a:solidFill>
                  <a:srgbClr val="060606"/>
                </a:solidFill>
                <a:latin typeface="Helvetica"/>
              </a:rPr>
              <a:t>Le précompte maladie vaut 11 354 / 301 159 = 3,77 % du salaire de base, au lieu de 3,5 %.</a:t>
            </a:r>
          </a:p>
        </p:txBody>
      </p:sp>
      <p:sp>
        <p:nvSpPr>
          <p:cNvPr id="41" name="Oval 40"/>
          <p:cNvSpPr/>
          <p:nvPr/>
        </p:nvSpPr>
        <p:spPr>
          <a:xfrm>
            <a:off x="503999" y="2902182"/>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864000" y="2884182"/>
            <a:ext cx="9288000" cy="298144"/>
          </a:xfrm>
          <a:prstGeom prst="rect">
            <a:avLst/>
          </a:prstGeom>
          <a:noFill/>
        </p:spPr>
        <p:txBody>
          <a:bodyPr wrap="square" anchor="t" lIns="54000" rIns="54000"/>
          <a:lstStyle/>
          <a:p>
            <a:pPr algn="l"/>
            <a:r>
              <a:rPr sz="1200" b="0">
                <a:solidFill>
                  <a:srgbClr val="060606"/>
                </a:solidFill>
                <a:latin typeface="Helvetica"/>
              </a:rPr>
              <a:t>Le précompte décès vaut 3 704 / 301 159 = 1,23 % du salaire de base, au lieu de 1,5 %.</a:t>
            </a:r>
          </a:p>
        </p:txBody>
      </p:sp>
      <p:sp>
        <p:nvSpPr>
          <p:cNvPr id="43" name="Oval 42"/>
          <p:cNvSpPr/>
          <p:nvPr/>
        </p:nvSpPr>
        <p:spPr>
          <a:xfrm>
            <a:off x="503999" y="329032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864000" y="3272327"/>
            <a:ext cx="9288000" cy="298144"/>
          </a:xfrm>
          <a:prstGeom prst="rect">
            <a:avLst/>
          </a:prstGeom>
          <a:noFill/>
        </p:spPr>
        <p:txBody>
          <a:bodyPr wrap="square" anchor="t" lIns="54000" rIns="54000"/>
          <a:lstStyle/>
          <a:p>
            <a:pPr algn="l"/>
            <a:r>
              <a:rPr sz="1200" b="0">
                <a:solidFill>
                  <a:srgbClr val="060606"/>
                </a:solidFill>
                <a:latin typeface="Helvetica"/>
              </a:rPr>
              <a:t>Le total de 5,00 % est respecté, mais la répartition entre maladie et décès diffère du barème indiqué.</a:t>
            </a:r>
          </a:p>
        </p:txBody>
      </p:sp>
      <p:sp>
        <p:nvSpPr>
          <p:cNvPr id="45" name="TextBox 44"/>
          <p:cNvSpPr txBox="1"/>
          <p:nvPr/>
        </p:nvSpPr>
        <p:spPr>
          <a:xfrm>
            <a:off x="503999" y="3714471"/>
            <a:ext cx="11232000" cy="2153528"/>
          </a:xfrm>
          <a:prstGeom prst="rect">
            <a:avLst/>
          </a:prstGeom>
          <a:noFill/>
        </p:spPr>
        <p:txBody>
          <a:bodyPr wrap="square" lIns="54000" rIns="54000"/>
          <a:lstStyle/>
          <a:p>
            <a:pPr algn="just">
              <a:spcAft>
                <a:spcPts val="600"/>
              </a:spcAft>
            </a:pPr>
            <a:r>
              <a:rPr sz="1200" b="1">
                <a:solidFill>
                  <a:srgbClr val="060606"/>
                </a:solidFill>
                <a:latin typeface="Helvetica"/>
              </a:rPr>
              <a:t>La Solde applique la même clé à tous les agents.</a:t>
            </a:r>
            <a:r>
              <a:rPr sz="1200" b="0">
                <a:solidFill>
                  <a:srgbClr val="060606"/>
                </a:solidFill>
                <a:latin typeface="Helvetica"/>
              </a:rPr>
              <a:t> L'écart avec le barème n'est donc pas une erreur ponctuelle, mais une règle de calcul.</a:t>
            </a:r>
          </a:p>
          <a:p>
            <a:pPr algn="just">
              <a:spcAft>
                <a:spcPts val="600"/>
              </a:spcAft>
            </a:pPr>
            <a:r>
              <a:rPr sz="1200" b="1">
                <a:solidFill>
                  <a:srgbClr val="060606"/>
                </a:solidFill>
                <a:latin typeface="Helvetica"/>
              </a:rPr>
              <a:t>Implication pour le FPPN.</a:t>
            </a:r>
            <a:r>
              <a:rPr sz="1200" b="0">
                <a:solidFill>
                  <a:srgbClr val="060606"/>
                </a:solidFill>
                <a:latin typeface="Helvetica"/>
              </a:rPr>
              <a:t> Le barème officiel (décision, statuts ou règlement intérieur) doit être transmis : sans lui, le résultat de chaque garantie dépend de la source retenue.</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936 : poste maladie | 8Z6 : poste décès</a:t>
            </a:r>
          </a:p>
        </p:txBody>
      </p:sp>
    </p:spTree>
    <p:extLst>
      <p:ext uri="{BB962C8B-B14F-4D97-AF65-F5344CB8AC3E}">
        <p14:creationId xmlns:p14="http://schemas.microsoft.com/office/powerpoint/2010/main" val="3883223761"/>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Taux de cotisation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clés de répartition coexistent pour le même taux de 5 %</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Barème indiqué en entretien 3,5 / 1,5. Solde 3,77 / 1,23. Comptabilité 2025 3,52 / 1,48</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11 : Répartition du taux de 5 % selon la source</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du salaire de base</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Balances des comptes du FPPN (Sage 100), exercices 2020 à 2025 et du 01/01 au 31/08/2026 (provisoire).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 total de 5 % est respecté dans les trois sources.</a:t>
            </a:r>
            <a:r>
              <a:rPr sz="1400" b="0">
                <a:solidFill>
                  <a:srgbClr val="060606"/>
                </a:solidFill>
                <a:latin typeface="Helvetica"/>
              </a:rPr>
              <a:t> Seule la répartition entre maladie et décès change.</a:t>
            </a:r>
          </a:p>
          <a:p>
            <a:pPr algn="just">
              <a:spcAft>
                <a:spcPts val="600"/>
              </a:spcAft>
            </a:pPr>
            <a:r>
              <a:rPr sz="1400" b="1">
                <a:solidFill>
                  <a:srgbClr val="060606"/>
                </a:solidFill>
                <a:latin typeface="Helvetica"/>
              </a:rPr>
              <a:t>La Solde retient 3,77 % au poste maladie et 1,23 % au poste décès.</a:t>
            </a:r>
            <a:r>
              <a:rPr sz="1400" b="0">
                <a:solidFill>
                  <a:srgbClr val="060606"/>
                </a:solidFill>
                <a:latin typeface="Helvetica"/>
              </a:rPr>
              <a:t> Le responsable des sinistres et prestations a indiqué 3,5 % et 1,5 % lors de l'entretien du 16/10/2026. Le responsable des cotisations renvoie la répartition à la comptabilité (entretien du 19/10/2026).</a:t>
            </a:r>
          </a:p>
          <a:p>
            <a:pPr algn="just">
              <a:spcAft>
                <a:spcPts val="600"/>
              </a:spcAft>
            </a:pPr>
            <a:r>
              <a:rPr sz="1400" b="1">
                <a:solidFill>
                  <a:srgbClr val="060606"/>
                </a:solidFill>
                <a:latin typeface="Helvetica"/>
              </a:rPr>
              <a:t>La comptabilité affecte 70,50 % des cotisations à la maladie</a:t>
            </a:r>
            <a:r>
              <a:rPr sz="1400" b="0">
                <a:solidFill>
                  <a:srgbClr val="060606"/>
                </a:solidFill>
                <a:latin typeface="Helvetica"/>
              </a:rPr>
              <a:t>, proche des 70 % du barème indiqué en entretien. Elle ne suit donc pas la Solde.</a:t>
            </a:r>
          </a:p>
          <a:p>
            <a:pPr algn="just">
              <a:spcAft>
                <a:spcPts val="600"/>
              </a:spcAft>
            </a:pPr>
            <a:r>
              <a:rPr sz="1400" b="1">
                <a:solidFill>
                  <a:srgbClr val="060606"/>
                </a:solidFill>
                <a:latin typeface="Helvetica"/>
              </a:rPr>
              <a:t>Implication pour le FPPN.</a:t>
            </a:r>
            <a:r>
              <a:rPr sz="1400" b="0">
                <a:solidFill>
                  <a:srgbClr val="060606"/>
                </a:solidFill>
                <a:latin typeface="Helvetica"/>
              </a:rPr>
              <a:t> La Décision n° 05/2022 impose de suivre l'excédent par risque : sans clé unique, le FPPN ne peut pas calculer la réserve obligatoire exigée pour chaque risque (au moins 30 % de l'excédent maladie, 50 % des autres).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a:t>
            </a:r>
          </a:p>
        </p:txBody>
      </p:sp>
    </p:spTree>
    <p:extLst>
      <p:ext uri="{BB962C8B-B14F-4D97-AF65-F5344CB8AC3E}">
        <p14:creationId xmlns:p14="http://schemas.microsoft.com/office/powerpoint/2010/main" val="2270939807"/>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clé de répartition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clé retenue change la sinistralité de chaque garantie de plusieurs points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maladie 2025 : 73,53 % avec la clé comptable, 68,75 % avec la clé de la Solde</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12 : Ratio S/C 2025 selon la clé de répartition</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Avec la clé de la Solde, le S/C maladie 2025 passe à 68,75 %</a:t>
            </a:r>
            <a:r>
              <a:rPr sz="1400" b="0">
                <a:solidFill>
                  <a:srgbClr val="060606"/>
                </a:solidFill>
                <a:latin typeface="Helvetica"/>
              </a:rPr>
              <a:t> et le S/C décès monte à 22,97 %.</a:t>
            </a:r>
          </a:p>
          <a:p>
            <a:pPr algn="just">
              <a:spcAft>
                <a:spcPts val="600"/>
              </a:spcAft>
            </a:pPr>
            <a:r>
              <a:rPr sz="1400" b="1">
                <a:solidFill>
                  <a:srgbClr val="060606"/>
                </a:solidFill>
                <a:latin typeface="Helvetica"/>
              </a:rPr>
              <a:t>Avec le barème indiqué en entretien, le S/C maladie vaut 74,06 %.</a:t>
            </a:r>
            <a:r>
              <a:rPr sz="1400" b="0">
                <a:solidFill>
                  <a:srgbClr val="060606"/>
                </a:solidFill>
                <a:latin typeface="Helvetica"/>
              </a:rPr>
              <a:t> Les prestations restent les mêmes : seule l'affectation des cotisations change.</a:t>
            </a:r>
          </a:p>
          <a:p>
            <a:pPr algn="just">
              <a:spcAft>
                <a:spcPts val="600"/>
              </a:spcAft>
            </a:pPr>
            <a:r>
              <a:rPr sz="1400" b="1">
                <a:solidFill>
                  <a:srgbClr val="060606"/>
                </a:solidFill>
                <a:latin typeface="Helvetica"/>
              </a:rPr>
              <a:t>Le résultat par garantie dépend donc d'une décision de gestion.</a:t>
            </a:r>
            <a:r>
              <a:rPr sz="1400" b="0">
                <a:solidFill>
                  <a:srgbClr val="060606"/>
                </a:solidFill>
                <a:latin typeface="Helvetica"/>
              </a:rPr>
              <a:t> Cette décision doit être écrite dans le barème et appliquée de la même façon par la Solde et par la comptabilité.</a:t>
            </a:r>
          </a:p>
          <a:p>
            <a:pPr algn="just">
              <a:spcAft>
                <a:spcPts val="600"/>
              </a:spcAft>
            </a:pPr>
            <a:r>
              <a:rPr sz="1400" b="1">
                <a:solidFill>
                  <a:srgbClr val="060606"/>
                </a:solidFill>
                <a:latin typeface="Helvetica"/>
              </a:rPr>
              <a:t>Implication pour le FPPN.</a:t>
            </a:r>
            <a:r>
              <a:rPr sz="1400" b="0">
                <a:solidFill>
                  <a:srgbClr val="060606"/>
                </a:solidFill>
                <a:latin typeface="Helvetica"/>
              </a:rPr>
              <a:t> Selon la clé, la maladie se situe dans la fourchette réglementaire de 70 % à 80 % ou en dessous : la conclusion sur l'équilibre de la garantie maladie ne sera ferme qu'avec le barème officiel.</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1774102993"/>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Cotisations en termes réels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Hors inflation, les cotisations progressent de 23 % entre 2020 et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Hausse nominale 45,76 %, hausse des prix 18,50 %, hausse réelle 23,01 %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13 : Cotisations nominales et réelles (francs de 2020)</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Banque mondiale, FP.CPI.TOTL.ZG, mise à jour du 08/10/2026.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L'inflation explique une partie de la hausse des cotisations.</a:t>
            </a:r>
            <a:r>
              <a:rPr sz="1400" b="0">
                <a:solidFill>
                  <a:srgbClr val="060606"/>
                </a:solidFill>
                <a:latin typeface="Helvetica"/>
              </a:rPr>
              <a:t> Les prix ont augmenté de 18,50 % entre 2020 et 2025.</a:t>
            </a:r>
          </a:p>
          <a:p>
            <a:pPr algn="just">
              <a:spcAft>
                <a:spcPts val="600"/>
              </a:spcAft>
            </a:pPr>
            <a:r>
              <a:rPr sz="1400" b="1">
                <a:solidFill>
                  <a:srgbClr val="060606"/>
                </a:solidFill>
                <a:latin typeface="Helvetica"/>
              </a:rPr>
              <a:t>La hausse réelle reste nette : 23,01 %.</a:t>
            </a:r>
            <a:r>
              <a:rPr sz="1400" b="0">
                <a:solidFill>
                  <a:srgbClr val="060606"/>
                </a:solidFill>
                <a:latin typeface="Helvetica"/>
              </a:rPr>
              <a:t> Elle vient surtout de la hausse des effectifs, le taux de 5 % étant resté le même.</a:t>
            </a:r>
          </a:p>
          <a:p>
            <a:pPr algn="just">
              <a:spcAft>
                <a:spcPts val="600"/>
              </a:spcAft>
            </a:pPr>
            <a:r>
              <a:rPr sz="1400" b="1">
                <a:solidFill>
                  <a:srgbClr val="060606"/>
                </a:solidFill>
                <a:latin typeface="Helvetica"/>
              </a:rPr>
              <a:t>L'inflation de 2025 est très faible (0,13 %)</a:t>
            </a:r>
            <a:r>
              <a:rPr sz="1400" b="0">
                <a:solidFill>
                  <a:srgbClr val="060606"/>
                </a:solidFill>
                <a:latin typeface="Helvetica"/>
              </a:rPr>
              <a:t>, après 5,23 % en 2022.</a:t>
            </a:r>
          </a:p>
          <a:p>
            <a:pPr algn="just">
              <a:spcAft>
                <a:spcPts val="600"/>
              </a:spcAft>
            </a:pPr>
            <a:r>
              <a:rPr sz="1400" b="1">
                <a:solidFill>
                  <a:srgbClr val="060606"/>
                </a:solidFill>
                <a:latin typeface="Helvetica"/>
              </a:rPr>
              <a:t>Implication pour le FPPN.</a:t>
            </a:r>
            <a:r>
              <a:rPr sz="1400" b="0">
                <a:solidFill>
                  <a:srgbClr val="060606"/>
                </a:solidFill>
                <a:latin typeface="Helvetica"/>
              </a:rPr>
              <a:t> Le coût des soins suit les prix de la santé : une cotisation fixée en pourcentage du salaire ne protège le FPPN que si les salaires suivent ces prix. La projection devra tester cette hypothèse.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261312808"/>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Cotisations comptabilisées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comptabilisées progressent de 45,76 % entre 2020 et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2 344 618 501 FCFA en 2020, 3 417 551 722 FCFA en 2025. Taux de croissance annuel moyen 7,83 %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14 : Cotisations comptabilisées par garantie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En 2025, comptabilité et précomptes maladie diffèrent de 6,89 %.</a:t>
            </a:r>
            <a:r>
              <a:rPr sz="1400" b="0">
                <a:solidFill>
                  <a:srgbClr val="060606"/>
                </a:solidFill>
                <a:latin typeface="Helvetica"/>
              </a:rPr>
              <a:t> La comptabilité enregistre 2 409 281 030 FCFA, contre 2 587 432 980 FCFA de précomptes.</a:t>
            </a:r>
          </a:p>
          <a:p>
            <a:pPr algn="just">
              <a:spcAft>
                <a:spcPts val="600"/>
              </a:spcAft>
            </a:pPr>
            <a:r>
              <a:rPr sz="1400" b="1">
                <a:solidFill>
                  <a:srgbClr val="060606"/>
                </a:solidFill>
                <a:latin typeface="Helvetica"/>
              </a:rPr>
              <a:t>L'écart vient de la clé de répartition.</a:t>
            </a:r>
            <a:r>
              <a:rPr sz="1400" b="0">
                <a:solidFill>
                  <a:srgbClr val="060606"/>
                </a:solidFill>
                <a:latin typeface="Helvetica"/>
              </a:rPr>
              <a:t> La comptabilité affecte au décès une part des cotisations plus grande que la Solde.</a:t>
            </a:r>
          </a:p>
          <a:p>
            <a:pPr algn="just">
              <a:spcAft>
                <a:spcPts val="600"/>
              </a:spcAft>
            </a:pPr>
            <a:r>
              <a:rPr sz="1400" b="1">
                <a:solidFill>
                  <a:srgbClr val="060606"/>
                </a:solidFill>
                <a:latin typeface="Helvetica"/>
              </a:rPr>
              <a:t>Fin 2025, l'État devait 704 189 157 FCFA de cotisations.</a:t>
            </a:r>
            <a:r>
              <a:rPr sz="1400" b="0">
                <a:solidFill>
                  <a:srgbClr val="060606"/>
                </a:solidFill>
                <a:latin typeface="Helvetica"/>
              </a:rPr>
              <a:t> Le compte est soldé au 31/08/2026.</a:t>
            </a:r>
          </a:p>
          <a:p>
            <a:pPr algn="just">
              <a:spcAft>
                <a:spcPts val="600"/>
              </a:spcAft>
            </a:pPr>
            <a:r>
              <a:rPr sz="1400" b="1">
                <a:solidFill>
                  <a:srgbClr val="060606"/>
                </a:solidFill>
                <a:latin typeface="Helvetica"/>
              </a:rPr>
              <a:t>Implication pour le FPPN.</a:t>
            </a:r>
            <a:r>
              <a:rPr sz="1400" b="0">
                <a:solidFill>
                  <a:srgbClr val="060606"/>
                </a:solidFill>
                <a:latin typeface="Helvetica"/>
              </a:rPr>
              <a:t> Les cotisations totales concordent, mais leur partage entre maladie et décès diffère selon la source. Tant que cet écart n'est pas réglé, la sinistralité et l'excédent de chaque risque restent incertains.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37531632"/>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Règles des produits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fichiers confirment les montants de l'EFC et du PEP, sans texte qui les fonde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Maladie et décès en pourcentage du salaire de base, EFC et PEP en montants fixes, sans règle écrite transmise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 Fichiers de précomptes de la Solde, de la CGRAE et du FPPN reçus le 15/10/2026.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10 : Règles des produits déclarées et confrontées aux fichiers de précomptes</a:t>
            </a:r>
          </a:p>
        </p:txBody>
      </p:sp>
      <p:graphicFrame>
        <p:nvGraphicFramePr>
          <p:cNvPr id="32" name="Table 31"/>
          <p:cNvGraphicFramePr>
            <a:graphicFrameLocks noGrp="1"/>
          </p:cNvGraphicFramePr>
          <p:nvPr/>
        </p:nvGraphicFramePr>
        <p:xfrm>
          <a:off x="503999" y="1655999"/>
          <a:ext cx="11232000" cy="2265957"/>
        </p:xfrm>
        <a:graphic>
          <a:graphicData uri="http://schemas.openxmlformats.org/drawingml/2006/table">
            <a:tbl>
              <a:tblPr firstRow="0" bandRow="0">
                <a:tableStyleId>{5940675A-B579-460E-94D1-54222C63F5DA}</a:tableStyleId>
              </a:tblPr>
              <a:tblGrid>
                <a:gridCol w="1296000"/>
                <a:gridCol w="3600000"/>
                <a:gridCol w="3600000"/>
                <a:gridCol w="2736000"/>
              </a:tblGrid>
              <a:tr h="194768">
                <a:tc>
                  <a:txBody>
                    <a:bodyPr/>
                    <a:lstStyle/>
                    <a:p>
                      <a:pPr marL="0" indent="0" lvl="0">
                        <a:buNone/>
                      </a:pPr>
                      <a:r>
                        <a:rPr sz="9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Règle déclarée (19/10/2026)</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Ce que montrent les fichiers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À confirmer</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Maladie (936) et décès (8Z6)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Pourcentage du salaire de base. La répartition entre maladie et décès relève de la comptabilité.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La Solde retient 3,77 % et 1,23 % du salaire de base, soit 5,00 % au total.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Barème officiel et document de notification à la Solde (PBC, item 56).</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EFC (870)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6 000 FCFA par mois avant 2021, 10 000 FCFA pour les souscriptions depuis 2021. Les anciens souscripteurs restent à 6 000 FCFA et peuvent passer à 10 000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10 000 FCFA : 62,52 % des lignes en 2023 et 84,98 % en 2026. 6 000 FCFA : 37,38 % puis 14,99 %.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document formel selon l'interlocuteur (PBC, item 58).</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PEP (998)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À partir de 10 000 FCFA, par paliers de 5 000 FCFA. Durée à vérifier.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99,80 % des montants sont des multiples de 5 000 FCFA et 0,11 % sont inférieurs à 10 000 FCFA. Montant maximal : 300 000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Durée des plans et conditions de retrait (PBC, item 57).</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EFC et PEP</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Présentés aux élèves policiers comme obligatoires dès l'école, sans texte.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 mesurable dans les fichiers.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texte selon l'interlocuteur.</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Prestations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trois mois de cotisation avant de pouvoir bénéficier des prestations.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 mesurable sans base des prestations.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Texte et produits concernés (PBC, item 59). L'entretien du 16/10/2026 indiquait l'absence de délai de carence.</a:t>
                      </a:r>
                    </a:p>
                  </a:txBody>
                  <a:tcPr marL="43200" marR="43200" marT="14400" marB="14400" anchor="ctr">
                    <a:solidFill>
                      <a:srgbClr val="FFFFFF"/>
                    </a:solidFill>
                  </a:tcPr>
                </a:tc>
              </a:tr>
            </a:tbl>
          </a:graphicData>
        </a:graphic>
      </p:graphicFrame>
      <p:sp>
        <p:nvSpPr>
          <p:cNvPr id="33" name="TextBox 32"/>
          <p:cNvSpPr txBox="1"/>
          <p:nvPr/>
        </p:nvSpPr>
        <p:spPr>
          <a:xfrm>
            <a:off x="503999" y="4029960"/>
            <a:ext cx="11232000" cy="1838039"/>
          </a:xfrm>
          <a:prstGeom prst="rect">
            <a:avLst/>
          </a:prstGeom>
          <a:noFill/>
        </p:spPr>
        <p:txBody>
          <a:bodyPr wrap="square" lIns="54000" rIns="54000"/>
          <a:lstStyle/>
          <a:p>
            <a:pPr algn="just">
              <a:spcAft>
                <a:spcPts val="600"/>
              </a:spcAft>
            </a:pPr>
            <a:r>
              <a:rPr sz="1300" b="1">
                <a:solidFill>
                  <a:srgbClr val="060606"/>
                </a:solidFill>
                <a:latin typeface="Helvetica"/>
              </a:rPr>
              <a:t>Les fichiers confirment les déclarations sur l'EFC et le PEP, mais aucune règle n'est appuyée par un texte transmis.</a:t>
            </a:r>
            <a:r>
              <a:rPr sz="1300" b="0">
                <a:solidFill>
                  <a:srgbClr val="060606"/>
                </a:solidFill>
                <a:latin typeface="Helvetica"/>
              </a:rPr>
              <a:t> La part de l'EFC à 10 000 FCFA augmente chaque année, ce qui correspond à l'arrivée de nouveaux souscripteurs depuis 2021.</a:t>
            </a:r>
          </a:p>
          <a:p>
            <a:pPr algn="just">
              <a:spcAft>
                <a:spcPts val="600"/>
              </a:spcAft>
            </a:pPr>
            <a:r>
              <a:rPr sz="1300" b="1">
                <a:solidFill>
                  <a:srgbClr val="060606"/>
                </a:solidFill>
                <a:latin typeface="Helvetica"/>
              </a:rPr>
              <a:t>Implication pour le FPPN.</a:t>
            </a:r>
            <a:r>
              <a:rPr sz="1300" b="0">
                <a:solidFill>
                  <a:srgbClr val="060606"/>
                </a:solidFill>
                <a:latin typeface="Helvetica"/>
              </a:rPr>
              <a:t> Les engagements d'épargne se calculeront sur les montants réellement précomptés. Le règlement de chaque produit reste indispensable pour connaître les échéances et les conditions de retrait.</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PBC : liste des documents demandés au client | 936 : poste maladie | 8Z6 : poste décès | 870 : poste EFC | 998 : poste PEP</a:t>
            </a:r>
          </a:p>
        </p:txBody>
      </p:sp>
    </p:spTree>
    <p:extLst>
      <p:ext uri="{BB962C8B-B14F-4D97-AF65-F5344CB8AC3E}">
        <p14:creationId xmlns:p14="http://schemas.microsoft.com/office/powerpoint/2010/main" val="1011919955"/>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Nouvelles recrues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recrues souscrivent avant d'avoir un mécano, ce qui retarde le premier précompte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mécano est reporté sur les fiches de souscription en masse, après son attribution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a:t>
            </a:r>
          </a:p>
        </p:txBody>
      </p:sp>
      <p:sp>
        <p:nvSpPr>
          <p:cNvPr id="31" name="Logigramme r1"/>
          <p:cNvSpPr/>
          <p:nvPr/>
        </p:nvSpPr>
        <p:spPr>
          <a:xfrm>
            <a:off x="576000" y="1655999"/>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Élève policier</a:t>
            </a:r>
          </a:p>
          <a:p>
            <a:pPr algn="ctr"/>
            <a:r>
              <a:rPr sz="900" b="1">
                <a:solidFill>
                  <a:srgbClr val="FFFFFF"/>
                </a:solidFill>
                <a:latin typeface="Helvetica"/>
              </a:rPr>
              <a:t>matricule sans mécano</a:t>
            </a:r>
          </a:p>
        </p:txBody>
      </p:sp>
      <p:sp>
        <p:nvSpPr>
          <p:cNvPr id="32" name="Logigramme r2"/>
          <p:cNvSpPr/>
          <p:nvPr/>
        </p:nvSpPr>
        <p:spPr>
          <a:xfrm>
            <a:off x="2178000" y="1655999"/>
            <a:ext cx="1296000" cy="576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Fiches de souscription</a:t>
            </a:r>
          </a:p>
          <a:p>
            <a:pPr algn="ctr"/>
            <a:r>
              <a:rPr sz="900" b="0">
                <a:solidFill>
                  <a:srgbClr val="060606"/>
                </a:solidFill>
                <a:latin typeface="Helvetica"/>
              </a:rPr>
              <a:t>EFC et PEP</a:t>
            </a:r>
          </a:p>
        </p:txBody>
      </p:sp>
      <p:sp>
        <p:nvSpPr>
          <p:cNvPr id="33" name="Logigramme r3"/>
          <p:cNvSpPr/>
          <p:nvPr/>
        </p:nvSpPr>
        <p:spPr>
          <a:xfrm>
            <a:off x="3780000" y="1655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Attente</a:t>
            </a:r>
          </a:p>
          <a:p>
            <a:pPr algn="ctr"/>
            <a:r>
              <a:rPr sz="900" b="0">
                <a:solidFill>
                  <a:srgbClr val="060606"/>
                </a:solidFill>
                <a:latin typeface="Helvetica"/>
              </a:rPr>
              <a:t>du mécano</a:t>
            </a:r>
          </a:p>
        </p:txBody>
      </p:sp>
      <p:sp>
        <p:nvSpPr>
          <p:cNvPr id="34" name="Logigramme r4"/>
          <p:cNvSpPr/>
          <p:nvPr/>
        </p:nvSpPr>
        <p:spPr>
          <a:xfrm>
            <a:off x="5382000" y="1627199"/>
            <a:ext cx="1296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Mécano</a:t>
            </a:r>
          </a:p>
          <a:p>
            <a:pPr algn="ctr"/>
            <a:r>
              <a:rPr sz="850" b="0">
                <a:solidFill>
                  <a:srgbClr val="060606"/>
                </a:solidFill>
                <a:latin typeface="Helvetica"/>
              </a:rPr>
              <a:t>attribué ?</a:t>
            </a:r>
          </a:p>
        </p:txBody>
      </p:sp>
      <p:sp>
        <p:nvSpPr>
          <p:cNvPr id="35" name="Logigramme r5"/>
          <p:cNvSpPr/>
          <p:nvPr/>
        </p:nvSpPr>
        <p:spPr>
          <a:xfrm>
            <a:off x="6984000" y="1655999"/>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Report du mécano</a:t>
            </a:r>
          </a:p>
          <a:p>
            <a:pPr algn="ctr"/>
            <a:r>
              <a:rPr sz="900" b="1">
                <a:solidFill>
                  <a:srgbClr val="C00000"/>
                </a:solidFill>
                <a:latin typeface="Helvetica"/>
              </a:rPr>
              <a:t>sur chaque fiche, en masse</a:t>
            </a:r>
          </a:p>
        </p:txBody>
      </p:sp>
      <p:sp>
        <p:nvSpPr>
          <p:cNvPr id="36" name="Logigramme r6"/>
          <p:cNvSpPr/>
          <p:nvPr/>
        </p:nvSpPr>
        <p:spPr>
          <a:xfrm>
            <a:off x="8586000" y="1655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Ajout au fichier</a:t>
            </a:r>
          </a:p>
          <a:p>
            <a:pPr algn="ctr"/>
            <a:r>
              <a:rPr sz="900" b="0">
                <a:solidFill>
                  <a:srgbClr val="060606"/>
                </a:solidFill>
                <a:latin typeface="Helvetica"/>
              </a:rPr>
              <a:t>aller du mois</a:t>
            </a:r>
          </a:p>
        </p:txBody>
      </p:sp>
      <p:sp>
        <p:nvSpPr>
          <p:cNvPr id="37" name="Logigramme r7"/>
          <p:cNvSpPr/>
          <p:nvPr/>
        </p:nvSpPr>
        <p:spPr>
          <a:xfrm>
            <a:off x="10188000" y="1627199"/>
            <a:ext cx="1296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Précompte</a:t>
            </a:r>
          </a:p>
          <a:p>
            <a:pPr algn="ctr"/>
            <a:r>
              <a:rPr sz="850" b="0">
                <a:solidFill>
                  <a:srgbClr val="060606"/>
                </a:solidFill>
                <a:latin typeface="Helvetica"/>
              </a:rPr>
              <a:t>au 1er mois ?</a:t>
            </a:r>
          </a:p>
        </p:txBody>
      </p:sp>
      <p:sp>
        <p:nvSpPr>
          <p:cNvPr id="38" name="Logigramme r10"/>
          <p:cNvSpPr/>
          <p:nvPr/>
        </p:nvSpPr>
        <p:spPr>
          <a:xfrm>
            <a:off x="10188000" y="3024000"/>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Précompte effectif</a:t>
            </a:r>
          </a:p>
          <a:p>
            <a:pPr algn="ctr"/>
            <a:r>
              <a:rPr sz="900" b="1">
                <a:solidFill>
                  <a:srgbClr val="FFFFFF"/>
                </a:solidFill>
                <a:latin typeface="Helvetica"/>
              </a:rPr>
              <a:t>épargne en cours</a:t>
            </a:r>
          </a:p>
        </p:txBody>
      </p:sp>
      <p:sp>
        <p:nvSpPr>
          <p:cNvPr id="39" name="Logigramme r8"/>
          <p:cNvSpPr/>
          <p:nvPr/>
        </p:nvSpPr>
        <p:spPr>
          <a:xfrm>
            <a:off x="8586000" y="3024000"/>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Précompte décalé</a:t>
            </a:r>
          </a:p>
          <a:p>
            <a:pPr algn="ctr"/>
            <a:r>
              <a:rPr sz="900" b="1">
                <a:solidFill>
                  <a:srgbClr val="C00000"/>
                </a:solidFill>
                <a:latin typeface="Helvetica"/>
              </a:rPr>
              <a:t>au mois suivant</a:t>
            </a:r>
          </a:p>
        </p:txBody>
      </p:sp>
      <p:sp>
        <p:nvSpPr>
          <p:cNvPr id="40" name="Logigramme r9"/>
          <p:cNvSpPr/>
          <p:nvPr/>
        </p:nvSpPr>
        <p:spPr>
          <a:xfrm>
            <a:off x="6984000" y="3024000"/>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Paiement manuel</a:t>
            </a:r>
          </a:p>
          <a:p>
            <a:pPr algn="ctr"/>
            <a:r>
              <a:rPr sz="900" b="0">
                <a:solidFill>
                  <a:srgbClr val="060606"/>
                </a:solidFill>
                <a:latin typeface="Helvetica"/>
              </a:rPr>
              <a:t>possible, avec date</a:t>
            </a:r>
          </a:p>
        </p:txBody>
      </p:sp>
      <p:cxnSp>
        <p:nvCxnSpPr>
          <p:cNvPr id="41" name="Flèche r1 vers r2"/>
          <p:cNvCxnSpPr>
            <a:stCxn id="31" idx="3"/>
            <a:endCxn id="32" idx="1"/>
          </p:cNvCxnSpPr>
          <p:nvPr/>
        </p:nvCxnSpPr>
        <p:spPr>
          <a:xfrm flipV="1">
            <a:off x="1872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Flèche r2 vers r3"/>
          <p:cNvCxnSpPr>
            <a:stCxn id="32" idx="3"/>
            <a:endCxn id="33" idx="1"/>
          </p:cNvCxnSpPr>
          <p:nvPr/>
        </p:nvCxnSpPr>
        <p:spPr>
          <a:xfrm flipV="1">
            <a:off x="3474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Flèche r3 vers r4"/>
          <p:cNvCxnSpPr>
            <a:stCxn id="33" idx="3"/>
            <a:endCxn id="34" idx="1"/>
          </p:cNvCxnSpPr>
          <p:nvPr/>
        </p:nvCxnSpPr>
        <p:spPr>
          <a:xfrm>
            <a:off x="5076000" y="1943999"/>
            <a:ext cx="306000" cy="2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Flèche r4 vers r5"/>
          <p:cNvCxnSpPr>
            <a:stCxn id="34" idx="3"/>
            <a:endCxn id="35" idx="1"/>
          </p:cNvCxnSpPr>
          <p:nvPr/>
        </p:nvCxnSpPr>
        <p:spPr>
          <a:xfrm flipV="1">
            <a:off x="6678000" y="1943999"/>
            <a:ext cx="306000" cy="2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721200" y="1789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oui</a:t>
            </a:r>
          </a:p>
        </p:txBody>
      </p:sp>
      <p:cxnSp>
        <p:nvCxnSpPr>
          <p:cNvPr id="46" name="Flèche r4 vers r3"/>
          <p:cNvCxnSpPr>
            <a:stCxn id="34" idx="0"/>
            <a:endCxn id="33" idx="0"/>
          </p:cNvCxnSpPr>
          <p:nvPr/>
        </p:nvCxnSpPr>
        <p:spPr>
          <a:xfrm flipH="1">
            <a:off x="4428000" y="1627199"/>
            <a:ext cx="1602000" cy="28800"/>
          </a:xfrm>
          <a:prstGeom prst="bentConnector3">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083999" y="1447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non</a:t>
            </a:r>
          </a:p>
        </p:txBody>
      </p:sp>
      <p:cxnSp>
        <p:nvCxnSpPr>
          <p:cNvPr id="48" name="Flèche r5 vers r6"/>
          <p:cNvCxnSpPr>
            <a:stCxn id="35" idx="3"/>
            <a:endCxn id="36" idx="1"/>
          </p:cNvCxnSpPr>
          <p:nvPr/>
        </p:nvCxnSpPr>
        <p:spPr>
          <a:xfrm flipV="1">
            <a:off x="8280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Flèche r6 vers r7"/>
          <p:cNvCxnSpPr>
            <a:stCxn id="36" idx="3"/>
            <a:endCxn id="37" idx="1"/>
          </p:cNvCxnSpPr>
          <p:nvPr/>
        </p:nvCxnSpPr>
        <p:spPr>
          <a:xfrm>
            <a:off x="9882000" y="1943999"/>
            <a:ext cx="306000" cy="2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Flèche r7 vers r8"/>
          <p:cNvCxnSpPr>
            <a:stCxn id="37" idx="2"/>
            <a:endCxn id="39" idx="0"/>
          </p:cNvCxnSpPr>
          <p:nvPr/>
        </p:nvCxnSpPr>
        <p:spPr>
          <a:xfrm flipH="1">
            <a:off x="9234000" y="2311199"/>
            <a:ext cx="1602000" cy="712801"/>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10890000" y="2329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non</a:t>
            </a:r>
          </a:p>
        </p:txBody>
      </p:sp>
      <p:cxnSp>
        <p:nvCxnSpPr>
          <p:cNvPr id="52" name="Flèche r8 vers r9"/>
          <p:cNvCxnSpPr>
            <a:stCxn id="39" idx="1"/>
            <a:endCxn id="40" idx="3"/>
          </p:cNvCxnSpPr>
          <p:nvPr/>
        </p:nvCxnSpPr>
        <p:spPr>
          <a:xfrm flipH="1" flipV="1">
            <a:off x="8280000" y="3312000"/>
            <a:ext cx="306000" cy="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7678800" y="3131999"/>
            <a:ext cx="864000" cy="162000"/>
          </a:xfrm>
          <a:prstGeom prst="rect">
            <a:avLst/>
          </a:prstGeom>
          <a:noFill/>
        </p:spPr>
        <p:txBody>
          <a:bodyPr wrap="square" anchor="t" lIns="28800" rIns="28800" tIns="10800" bIns="10800">
            <a:spAutoFit/>
          </a:bodyPr>
          <a:lstStyle/>
          <a:p>
            <a:pPr algn="r"/>
            <a:r>
              <a:rPr sz="750" b="1">
                <a:solidFill>
                  <a:srgbClr val="53565A"/>
                </a:solidFill>
                <a:latin typeface="Helvetica"/>
              </a:rPr>
              <a:t>ou</a:t>
            </a:r>
          </a:p>
        </p:txBody>
      </p:sp>
      <p:cxnSp>
        <p:nvCxnSpPr>
          <p:cNvPr id="54" name="Flèche r7 vers r10"/>
          <p:cNvCxnSpPr>
            <a:stCxn id="37" idx="3"/>
            <a:endCxn id="38" idx="3"/>
          </p:cNvCxnSpPr>
          <p:nvPr/>
        </p:nvCxnSpPr>
        <p:spPr>
          <a:xfrm flipH="1">
            <a:off x="11484000" y="1969199"/>
            <a:ext cx="0" cy="1342801"/>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11527199" y="1789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oui</a:t>
            </a:r>
          </a:p>
        </p:txBody>
      </p:sp>
      <p:sp>
        <p:nvSpPr>
          <p:cNvPr id="56" name="TextBox 55"/>
          <p:cNvSpPr txBox="1"/>
          <p:nvPr/>
        </p:nvSpPr>
        <p:spPr>
          <a:xfrm>
            <a:off x="503999" y="3816000"/>
            <a:ext cx="11232000" cy="2052000"/>
          </a:xfrm>
          <a:prstGeom prst="rect">
            <a:avLst/>
          </a:prstGeom>
          <a:noFill/>
        </p:spPr>
        <p:txBody>
          <a:bodyPr wrap="square" lIns="54000" rIns="54000"/>
          <a:lstStyle/>
          <a:p>
            <a:pPr algn="just">
              <a:spcAft>
                <a:spcPts val="600"/>
              </a:spcAft>
            </a:pPr>
            <a:r>
              <a:rPr sz="1200" b="1">
                <a:solidFill>
                  <a:srgbClr val="060606"/>
                </a:solidFill>
                <a:latin typeface="Helvetica"/>
              </a:rPr>
              <a:t>Les nouvelles recrues souscrivent avant d'avoir un mécano.</a:t>
            </a:r>
            <a:r>
              <a:rPr sz="1200" b="0">
                <a:solidFill>
                  <a:srgbClr val="060606"/>
                </a:solidFill>
                <a:latin typeface="Helvetica"/>
              </a:rPr>
              <a:t> Les élèves policiers n'ont qu'un matricule. Le FPPN attend l'attribution des mécanos, puis reporte chaque mécano sur les fiches de souscription avant de les inscrire au fichier aller. Le premier précompte peut être décalé d'un mois (déclaration du responsable des cotisations, entretien du 19/10/2026, à confirmer par document).</a:t>
            </a:r>
          </a:p>
          <a:p>
            <a:pPr algn="just">
              <a:spcAft>
                <a:spcPts val="600"/>
              </a:spcAft>
            </a:pPr>
            <a:r>
              <a:rPr sz="1200" b="1">
                <a:solidFill>
                  <a:srgbClr val="060606"/>
                </a:solidFill>
                <a:latin typeface="Helvetica"/>
              </a:rPr>
              <a:t>Le report en masse des mécanos est une étape à risque.</a:t>
            </a:r>
            <a:r>
              <a:rPr sz="1200" b="0">
                <a:solidFill>
                  <a:srgbClr val="060606"/>
                </a:solidFill>
                <a:latin typeface="Helvetica"/>
              </a:rPr>
              <a:t> Il peut produire des erreurs d'appariement, et donc des précomptes sur la mauvaise personne. Il crée un retard entre la souscription et le premier versement.</a:t>
            </a:r>
          </a:p>
          <a:p>
            <a:pPr algn="just">
              <a:spcAft>
                <a:spcPts val="600"/>
              </a:spcAft>
            </a:pPr>
            <a:r>
              <a:rPr sz="1200" b="1">
                <a:solidFill>
                  <a:srgbClr val="060606"/>
                </a:solidFill>
                <a:latin typeface="Helvetica"/>
              </a:rPr>
              <a:t>Implication pour le FPPN.</a:t>
            </a:r>
            <a:r>
              <a:rPr sz="1200" b="0">
                <a:solidFill>
                  <a:srgbClr val="060606"/>
                </a:solidFill>
                <a:latin typeface="Helvetica"/>
              </a:rPr>
              <a:t> Une table de correspondance entre matricule et mécano, fournie par la direction du personnel de la Police, éviterait le report manuel et sécuriserait le premier précompte (PBC, item 67).</a:t>
            </a:r>
          </a:p>
        </p:txBody>
      </p:sp>
      <p:sp>
        <p:nvSpPr>
          <p:cNvPr id="57" name="TextBox 5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PBC : liste des documents demandés au client</a:t>
            </a:r>
          </a:p>
        </p:txBody>
      </p:sp>
    </p:spTree>
    <p:extLst>
      <p:ext uri="{BB962C8B-B14F-4D97-AF65-F5344CB8AC3E}">
        <p14:creationId xmlns:p14="http://schemas.microsoft.com/office/powerpoint/2010/main" val="841396720"/>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encaisse davantage chaque année grâce aux recrues, mais il applique trois clés différentes pour partager les cotisations entre maladie et décès.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compte 31 198 cotisants en août 2026. La Solde retient 3,77 % et 1,23 %, alors que le barème indiqué en entretien prévoit 3,5 % et 1,5 %.</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résultat de chaque garantie et la réserve obligatoire par risque dépendent d'une clé qui n'est fixée par aucun document transmis.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 barème officiel, les dates de naissance et les motifs de sortie des agents.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effectifs et cotisations</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augmentent avec les effectifs, mais leur répartition doit être clarifiée</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Effectifs en hausse d'un tiers, taux total de 5 % respecté, trois clés de répartition différentes</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558705866"/>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5</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Sinistralité et résultat</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Prestations, frais de gestion, résultat</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695910787"/>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Formule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S/C d'une garantie rapporte ses prestations comptabilisées de l'année à ses cotisations comptabilisées de la même année, de 2020 à 2026.</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Prestations maladie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retient les comptes 601, 6013, 6018 et 60800007, soit douze comptes de prestations maladie en 2025.</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Prestations décès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retient les comptes 6021 et 6024. En 2020, la prime d'assurance décès (65180000) s'y ajoute, car un assureur portait alors la garantie.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Norme et 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Décision n° 05/2022 fixe une sinistralité entre 70 % et 80 %. Le ratio comptable mélange les soins de l'année et des factures d'années antérieures.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sinistralité comptable</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ratio S/C rapporte les prestations de l'année aux cotisations de l'année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 prestations comptabilisées / cotisations comptabilisées, par garantie et par exercice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S/C : prestations / cotisations</a:t>
            </a:r>
          </a:p>
        </p:txBody>
      </p:sp>
    </p:spTree>
    <p:extLst>
      <p:ext uri="{BB962C8B-B14F-4D97-AF65-F5344CB8AC3E}">
        <p14:creationId xmlns:p14="http://schemas.microsoft.com/office/powerpoint/2010/main" val="1530553860"/>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S/C maladie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Douze comptes de prestations divisés par un compte de cotisations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1 771 635 361 FCFA / 2 409 281 030 FCFA = 73,53 %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 des comptes 2025 (Sage 100). Traitements Adenka</a:t>
            </a:r>
          </a:p>
        </p:txBody>
      </p:sp>
      <p:sp>
        <p:nvSpPr>
          <p:cNvPr id="31" name="TextBox 30"/>
          <p:cNvSpPr txBox="1"/>
          <p:nvPr/>
        </p:nvSpPr>
        <p:spPr>
          <a:xfrm>
            <a:off x="503999" y="1350000"/>
            <a:ext cx="7343999"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7344000" cy="2970000"/>
        </p:xfrm>
        <a:graphic>
          <a:graphicData uri="http://schemas.openxmlformats.org/drawingml/2006/table">
            <a:tbl>
              <a:tblPr firstRow="0" bandRow="0">
                <a:tableStyleId>{5940675A-B579-460E-94D1-54222C63F5DA}</a:tableStyleId>
              </a:tblPr>
              <a:tblGrid>
                <a:gridCol w="1224000"/>
                <a:gridCol w="3960000"/>
                <a:gridCol w="2160000"/>
              </a:tblGrid>
              <a:tr h="198000">
                <a:tc>
                  <a:txBody>
                    <a:bodyPr/>
                    <a:lstStyle/>
                    <a:p>
                      <a:pPr marL="0" indent="0" lvl="0">
                        <a:buNone/>
                      </a:pPr>
                      <a:r>
                        <a:rPr sz="9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Intitulé</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Montant 2025</a:t>
                      </a:r>
                    </a:p>
                  </a:txBody>
                  <a:tcPr marL="43200" marR="43200" marT="14400" marB="14400" anchor="ctr">
                    <a:solidFill>
                      <a:srgbClr val="060606"/>
                    </a:solidFill>
                  </a:tcPr>
                </a:tc>
              </a:tr>
              <a:tr h="198000">
                <a:tc>
                  <a:txBody>
                    <a:bodyPr/>
                    <a:lstStyle/>
                    <a:p>
                      <a:pPr marL="0" indent="0" lvl="0">
                        <a:buNone/>
                      </a:pPr>
                      <a:r>
                        <a:rPr sz="900" b="1">
                          <a:solidFill>
                            <a:srgbClr val="060606"/>
                          </a:solidFill>
                          <a:latin typeface="Helvetica"/>
                        </a:rPr>
                        <a:t>60111000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Pharmacie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38 076 031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60112000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Consultations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173 759 919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60113000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Hospitalisations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23 247 618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60114000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Analyses Médicales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234 266 144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60115000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Radio Imagérie &amp; Echographie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249 812 169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60118000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Transport Médicalisé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1 265 340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60119000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Traitements médicaux</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14 461 585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60120000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Charges de Prestations Maladie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989 729 545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60121000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Remboursement de soins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4 881 810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60122000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Allocation naissance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700 000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60130000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Charges de prestat°séance réducat°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9 485 200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60800007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Bons de prise en charge médicale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31 950 000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Total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Prestations maladie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1 771 635 361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70100000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COTISATIONS MALADIES ACQUISES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2 409 281 030 FCFA</a:t>
                      </a:r>
                    </a:p>
                  </a:txBody>
                  <a:tcPr marL="43200" marR="43200" marT="14400" marB="14400" anchor="ctr">
                    <a:solidFill>
                      <a:srgbClr val="F2F2F2"/>
                    </a:solidFill>
                  </a:tcPr>
                </a:tc>
              </a:tr>
            </a:tbl>
          </a:graphicData>
        </a:graphic>
      </p:graphicFrame>
      <p:sp>
        <p:nvSpPr>
          <p:cNvPr id="33" name="Rounded Rectangle 32"/>
          <p:cNvSpPr/>
          <p:nvPr/>
        </p:nvSpPr>
        <p:spPr>
          <a:xfrm>
            <a:off x="5670000" y="3121200"/>
            <a:ext cx="2196000" cy="21960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68000" y="2970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670000" y="4111200"/>
            <a:ext cx="2196000" cy="21960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668000" y="3960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670000" y="4309200"/>
            <a:ext cx="2196000" cy="21960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668000" y="415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8063999"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8424000" y="1530000"/>
            <a:ext cx="3312000" cy="670023"/>
          </a:xfrm>
          <a:prstGeom prst="rect">
            <a:avLst/>
          </a:prstGeom>
          <a:noFill/>
        </p:spPr>
        <p:txBody>
          <a:bodyPr wrap="square" anchor="t" lIns="54000" rIns="54000"/>
          <a:lstStyle/>
          <a:p>
            <a:pPr algn="l"/>
            <a:r>
              <a:rPr sz="1200" b="0">
                <a:solidFill>
                  <a:srgbClr val="060606"/>
                </a:solidFill>
                <a:latin typeface="Helvetica"/>
              </a:rPr>
              <a:t>Le compte global 60120000 porte plus de la moitié des prestations, sans détail de nature.</a:t>
            </a:r>
          </a:p>
        </p:txBody>
      </p:sp>
      <p:sp>
        <p:nvSpPr>
          <p:cNvPr id="41" name="Oval 40"/>
          <p:cNvSpPr/>
          <p:nvPr/>
        </p:nvSpPr>
        <p:spPr>
          <a:xfrm>
            <a:off x="8063999"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8424000" y="2290023"/>
            <a:ext cx="3312000" cy="484084"/>
          </a:xfrm>
          <a:prstGeom prst="rect">
            <a:avLst/>
          </a:prstGeom>
          <a:noFill/>
        </p:spPr>
        <p:txBody>
          <a:bodyPr wrap="square" anchor="t" lIns="54000" rIns="54000"/>
          <a:lstStyle/>
          <a:p>
            <a:pPr algn="l"/>
            <a:r>
              <a:rPr sz="1200" b="0">
                <a:solidFill>
                  <a:srgbClr val="060606"/>
                </a:solidFill>
                <a:latin typeface="Helvetica"/>
              </a:rPr>
              <a:t>Les douze comptes de prestations maladie totalisent ce montant.</a:t>
            </a:r>
          </a:p>
        </p:txBody>
      </p:sp>
      <p:sp>
        <p:nvSpPr>
          <p:cNvPr id="43" name="Oval 42"/>
          <p:cNvSpPr/>
          <p:nvPr/>
        </p:nvSpPr>
        <p:spPr>
          <a:xfrm>
            <a:off x="8063999" y="288210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8424000" y="2864108"/>
            <a:ext cx="3312000" cy="484084"/>
          </a:xfrm>
          <a:prstGeom prst="rect">
            <a:avLst/>
          </a:prstGeom>
          <a:noFill/>
        </p:spPr>
        <p:txBody>
          <a:bodyPr wrap="square" anchor="t" lIns="54000" rIns="54000"/>
          <a:lstStyle/>
          <a:p>
            <a:pPr algn="l"/>
            <a:r>
              <a:rPr sz="1200" b="0">
                <a:solidFill>
                  <a:srgbClr val="060606"/>
                </a:solidFill>
                <a:latin typeface="Helvetica"/>
              </a:rPr>
              <a:t>Les cotisations maladie acquises forment le dénominateur du ratio.</a:t>
            </a:r>
          </a:p>
        </p:txBody>
      </p:sp>
      <p:sp>
        <p:nvSpPr>
          <p:cNvPr id="45" name="TextBox 44"/>
          <p:cNvSpPr txBox="1"/>
          <p:nvPr/>
        </p:nvSpPr>
        <p:spPr>
          <a:xfrm>
            <a:off x="8063999" y="3528192"/>
            <a:ext cx="3672000" cy="2339807"/>
          </a:xfrm>
          <a:prstGeom prst="rect">
            <a:avLst/>
          </a:prstGeom>
          <a:noFill/>
        </p:spPr>
        <p:txBody>
          <a:bodyPr wrap="square" lIns="54000" rIns="54000"/>
          <a:lstStyle/>
          <a:p>
            <a:pPr algn="just">
              <a:spcAft>
                <a:spcPts val="600"/>
              </a:spcAft>
            </a:pPr>
            <a:r>
              <a:rPr sz="1200" b="1">
                <a:solidFill>
                  <a:srgbClr val="060606"/>
                </a:solidFill>
                <a:latin typeface="Helvetica"/>
              </a:rPr>
              <a:t>Appliquée à la seule maladie, la fourchette réglementaire de 70 % à 80 % est respectée en 2025.</a:t>
            </a:r>
            <a:r>
              <a:rPr sz="1200" b="0">
                <a:solidFill>
                  <a:srgbClr val="060606"/>
                </a:solidFill>
                <a:latin typeface="Helvetica"/>
              </a:rPr>
              <a:t> Le compte global empêche pourtant de savoir quels soins font monter le ratio.</a:t>
            </a:r>
          </a:p>
          <a:p>
            <a:pPr algn="just">
              <a:spcAft>
                <a:spcPts val="600"/>
              </a:spcAft>
            </a:pPr>
            <a:r>
              <a:rPr sz="1200" b="1">
                <a:solidFill>
                  <a:srgbClr val="060606"/>
                </a:solidFill>
                <a:latin typeface="Helvetica"/>
              </a:rPr>
              <a:t>Implication pour le FPPN.</a:t>
            </a:r>
            <a:r>
              <a:rPr sz="1200" b="0">
                <a:solidFill>
                  <a:srgbClr val="060606"/>
                </a:solidFill>
                <a:latin typeface="Helvetica"/>
              </a:rPr>
              <a:t> Le FPPN doit ventiler le compte 60120000 par nature de soins et par prestataire, ce qui permettra de cibler les mesures de maîtrise des dépenses.</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1002427423"/>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Sinistralité comptable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prestations maladie absorbent presque toutes les cotisations maladie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maladie : 6,00 % en 2021, 73,53 % en 2025, 97,40 % sur huit mois de 2026</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15 : Prestations comptabilisées / cotisations (S/C)</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des cotisations de la garantie</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 ratio maladie a été multiplié par 12,26 entre 2021 et 2025.</a:t>
            </a:r>
            <a:r>
              <a:rPr sz="1400" b="0">
                <a:solidFill>
                  <a:srgbClr val="060606"/>
                </a:solidFill>
                <a:latin typeface="Helvetica"/>
              </a:rPr>
              <a:t> Il dépasse la fourchette réglementaire sur les huit premiers mois de 2026.</a:t>
            </a:r>
          </a:p>
          <a:p>
            <a:pPr algn="just">
              <a:spcAft>
                <a:spcPts val="600"/>
              </a:spcAft>
            </a:pPr>
            <a:r>
              <a:rPr sz="1400" b="1">
                <a:solidFill>
                  <a:srgbClr val="060606"/>
                </a:solidFill>
                <a:latin typeface="Helvetica"/>
              </a:rPr>
              <a:t>Les ratios très bas de 2020 à 2022 sont suspects.</a:t>
            </a:r>
            <a:r>
              <a:rPr sz="1400" b="0">
                <a:solidFill>
                  <a:srgbClr val="060606"/>
                </a:solidFill>
                <a:latin typeface="Helvetica"/>
              </a:rPr>
              <a:t> Des factures de ces années ont probablement été comptabilisées plus tard, ce que seule la base des prestations permettra de vérifier.</a:t>
            </a:r>
          </a:p>
          <a:p>
            <a:pPr algn="just">
              <a:spcAft>
                <a:spcPts val="600"/>
              </a:spcAft>
            </a:pPr>
            <a:r>
              <a:rPr sz="1400" b="1">
                <a:solidFill>
                  <a:srgbClr val="060606"/>
                </a:solidFill>
                <a:latin typeface="Helvetica"/>
              </a:rPr>
              <a:t>En décès, le ratio oscille entre 15,21 % et 21,81 % depuis 2022.</a:t>
            </a:r>
            <a:r>
              <a:rPr sz="1400" b="0">
                <a:solidFill>
                  <a:srgbClr val="060606"/>
                </a:solidFill>
                <a:latin typeface="Helvetica"/>
              </a:rPr>
              <a:t> La garantie décès reste largement excédentaire.</a:t>
            </a:r>
          </a:p>
          <a:p>
            <a:pPr algn="just">
              <a:spcAft>
                <a:spcPts val="600"/>
              </a:spcAft>
            </a:pPr>
            <a:r>
              <a:rPr sz="1400" b="1">
                <a:solidFill>
                  <a:srgbClr val="060606"/>
                </a:solidFill>
                <a:latin typeface="Helvetica"/>
              </a:rPr>
              <a:t>Implication pour le FPPN.</a:t>
            </a:r>
            <a:r>
              <a:rPr sz="1400" b="0">
                <a:solidFill>
                  <a:srgbClr val="060606"/>
                </a:solidFill>
                <a:latin typeface="Helvetica"/>
              </a:rPr>
              <a:t> À ce rythme, les prestations maladie dépasseront les cotisations maladie : sans mesure de maîtrise ou révision du barème, la garantie maladie deviendra déficitaire et pèsera sur la réserve obligatoire.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3310670246"/>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Croissance des prestations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prestations maladie croissent beaucoup plus vite que les cotisations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Taux de croissance annuel moyen 2021 à 2025 : prestations maladie 104,42 %, cotisations 7,83 %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Fichiers de précomptes de la Solde, de la CGRAE et du FPPN reçus le 15/10/2026. Traitements Adenka. Exports du logiciel de prêts du Grenier du Policier (balances âgées, production) reçus le 15/10/2026.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11 : Taux de croissance annuels moyens</a:t>
            </a:r>
          </a:p>
        </p:txBody>
      </p:sp>
      <p:graphicFrame>
        <p:nvGraphicFramePr>
          <p:cNvPr id="32" name="Table 31"/>
          <p:cNvGraphicFramePr>
            <a:graphicFrameLocks noGrp="1"/>
          </p:cNvGraphicFramePr>
          <p:nvPr/>
        </p:nvGraphicFramePr>
        <p:xfrm>
          <a:off x="503999" y="1655999"/>
          <a:ext cx="11231997" cy="2137302"/>
        </p:xfrm>
        <a:graphic>
          <a:graphicData uri="http://schemas.openxmlformats.org/drawingml/2006/table">
            <a:tbl>
              <a:tblPr firstRow="0" bandRow="0">
                <a:tableStyleId>{5940675A-B579-460E-94D1-54222C63F5DA}</a:tableStyleId>
              </a:tblPr>
              <a:tblGrid>
                <a:gridCol w="2736000"/>
                <a:gridCol w="1655999"/>
                <a:gridCol w="2015999"/>
                <a:gridCol w="2015999"/>
                <a:gridCol w="1296000"/>
                <a:gridCol w="1512000"/>
              </a:tblGrid>
              <a:tr h="225250">
                <a:tc>
                  <a:txBody>
                    <a:bodyPr/>
                    <a:lstStyle/>
                    <a:p>
                      <a:pPr marL="0" indent="0" lvl="0">
                        <a:buNone/>
                      </a:pPr>
                      <a:r>
                        <a:rPr sz="11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Période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Valeur de départ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Valeur d'arrivée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Multiplié par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TCAM</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Cotisations maladie et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2020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2 344 618 501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3 417 551 722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1,46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7,83 %</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Prestations maladie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2021 à 2025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101 453 171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1 771 635 361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17,46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104,42 %</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Épargne PEP et EFC (passif)</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2020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10 828 205 640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13 814 066 964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1,28</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4,99 %</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Encours des prêts du Grenier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31/12/2022 à 31/12/2025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182 555 907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829 623 319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4,54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65,64 %</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Production de prêts du Grenier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2022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269 775 100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1 609 400 144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5,97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81,37 %</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Cotisants actifs (maladie 936)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janv. 2024 à août 2026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23 119</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31 198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1,35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12,30 %</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Investissements au CMP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2020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2 984 680 712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6 002 976 947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2,01</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15,00 %</a:t>
                      </a:r>
                    </a:p>
                  </a:txBody>
                  <a:tcPr marL="43200" marR="43200" marT="14400" marB="14400" anchor="ctr">
                    <a:solidFill>
                      <a:srgbClr val="FFFFFF"/>
                    </a:solidFill>
                  </a:tcPr>
                </a:tc>
              </a:tr>
            </a:tbl>
          </a:graphicData>
        </a:graphic>
      </p:graphicFrame>
      <p:sp>
        <p:nvSpPr>
          <p:cNvPr id="33" name="TextBox 32"/>
          <p:cNvSpPr txBox="1"/>
          <p:nvPr/>
        </p:nvSpPr>
        <p:spPr>
          <a:xfrm>
            <a:off x="503999" y="3901305"/>
            <a:ext cx="11232000" cy="1966694"/>
          </a:xfrm>
          <a:prstGeom prst="rect">
            <a:avLst/>
          </a:prstGeom>
          <a:noFill/>
        </p:spPr>
        <p:txBody>
          <a:bodyPr wrap="square" lIns="54000" rIns="54000"/>
          <a:lstStyle/>
          <a:p>
            <a:pPr algn="just">
              <a:spcAft>
                <a:spcPts val="600"/>
              </a:spcAft>
            </a:pPr>
            <a:r>
              <a:rPr sz="1300" b="1">
                <a:solidFill>
                  <a:srgbClr val="060606"/>
                </a:solidFill>
                <a:latin typeface="Helvetica"/>
              </a:rPr>
              <a:t>Les prestations maladie et l'encours du Grenier croissent bien plus vite que les cotisations et les effectifs.</a:t>
            </a:r>
            <a:r>
              <a:rPr sz="1300" b="0">
                <a:solidFill>
                  <a:srgbClr val="060606"/>
                </a:solidFill>
                <a:latin typeface="Helvetica"/>
              </a:rPr>
              <a:t> Les ressources ne suivent pas le rythme des emplois.</a:t>
            </a:r>
          </a:p>
          <a:p>
            <a:pPr algn="just">
              <a:spcAft>
                <a:spcPts val="600"/>
              </a:spcAft>
            </a:pPr>
            <a:r>
              <a:rPr sz="1300" b="1">
                <a:solidFill>
                  <a:srgbClr val="060606"/>
                </a:solidFill>
                <a:latin typeface="Helvetica"/>
              </a:rPr>
              <a:t>Implication pour le FPPN.</a:t>
            </a:r>
            <a:r>
              <a:rPr sz="1300" b="0">
                <a:solidFill>
                  <a:srgbClr val="060606"/>
                </a:solidFill>
                <a:latin typeface="Helvetica"/>
              </a:rPr>
              <a:t> Un écart durable entre la croissance des prestations et celle des cotisations conduit mécaniquement à un déficit technique : la projection devra en fixer l'horizon.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CMP : sigle des comptes du FPPN, signification à confirmer | TCAM : taux de croissance annuel moyen | 936 : poste maladie</a:t>
            </a:r>
          </a:p>
        </p:txBody>
      </p:sp>
    </p:spTree>
    <p:extLst>
      <p:ext uri="{BB962C8B-B14F-4D97-AF65-F5344CB8AC3E}">
        <p14:creationId xmlns:p14="http://schemas.microsoft.com/office/powerpoint/2010/main" val="3863607232"/>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Prestations maladie par nature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Plus de la moitié des prestations maladie est enregistrée sans détail de nature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2025, le compte global porte 995 311 355 FCFA sur 1 771 635 361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16 : Prestations maladie comptabilisées par nature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prestations maladie passent de 101 453 171 FCFA en 2021 à 1 771 635 361 FCFA en 2025.</a:t>
            </a:r>
          </a:p>
          <a:p>
            <a:pPr algn="just">
              <a:spcAft>
                <a:spcPts val="600"/>
              </a:spcAft>
            </a:pPr>
            <a:r>
              <a:rPr sz="1400" b="1">
                <a:solidFill>
                  <a:srgbClr val="060606"/>
                </a:solidFill>
                <a:latin typeface="Helvetica"/>
              </a:rPr>
              <a:t>Imagerie, analyses et consultations représentent 37,13 % des prestations de 2025.</a:t>
            </a:r>
            <a:r>
              <a:rPr sz="1400" b="0">
                <a:solidFill>
                  <a:srgbClr val="060606"/>
                </a:solidFill>
                <a:latin typeface="Helvetica"/>
              </a:rPr>
              <a:t> Ce sont les natures détaillées qui progressent le plus.</a:t>
            </a:r>
          </a:p>
          <a:p>
            <a:pPr algn="just">
              <a:spcAft>
                <a:spcPts val="600"/>
              </a:spcAft>
            </a:pPr>
            <a:r>
              <a:rPr sz="1400" b="1">
                <a:solidFill>
                  <a:srgbClr val="060606"/>
                </a:solidFill>
                <a:latin typeface="Helvetica"/>
              </a:rPr>
              <a:t>Le compte global empêche le suivi par type de soins et par prestataire.</a:t>
            </a:r>
          </a:p>
          <a:p>
            <a:pPr algn="just">
              <a:spcAft>
                <a:spcPts val="600"/>
              </a:spcAft>
            </a:pPr>
            <a:r>
              <a:rPr sz="1400" b="1">
                <a:solidFill>
                  <a:srgbClr val="060606"/>
                </a:solidFill>
                <a:latin typeface="Helvetica"/>
              </a:rPr>
              <a:t>Implication pour le FPPN.</a:t>
            </a:r>
            <a:r>
              <a:rPr sz="1400" b="0">
                <a:solidFill>
                  <a:srgbClr val="060606"/>
                </a:solidFill>
                <a:latin typeface="Helvetica"/>
              </a:rPr>
              <a:t> Sans détail par nature et par prestataire, le FPPN ne peut ni négocier ses tarifs, ni repérer les abus, ni calculer le taux de prestations indues exigé par la Décision n° 05/2022.</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246387660"/>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Frais de gestion et résultat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excédents se réduisent et deviennent un déficit en 2026</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Résultat net : 1 018 579 699 FCFA en 2020, 437 899 911 FCFA en 2025, -441 256 500 FCFA sur huit mois de 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17 : Frais de gestion et résultat net</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frais de gestion pèsent entre 31,46 % et 40,11 % des cotisations depuis 2021.</a:t>
            </a:r>
            <a:r>
              <a:rPr sz="1400" b="0">
                <a:solidFill>
                  <a:srgbClr val="060606"/>
                </a:solidFill>
                <a:latin typeface="Helvetica"/>
              </a:rPr>
              <a:t> La Décision n° 05/2022 limite les charges de fonctionnement à 20 % des cotisations.</a:t>
            </a:r>
          </a:p>
          <a:p>
            <a:pPr algn="just">
              <a:spcAft>
                <a:spcPts val="600"/>
              </a:spcAft>
            </a:pPr>
            <a:r>
              <a:rPr sz="1400" b="1">
                <a:solidFill>
                  <a:srgbClr val="060606"/>
                </a:solidFill>
                <a:latin typeface="Helvetica"/>
              </a:rPr>
              <a:t>Le résultat baisse depuis 2021.</a:t>
            </a:r>
            <a:r>
              <a:rPr sz="1400" b="0">
                <a:solidFill>
                  <a:srgbClr val="060606"/>
                </a:solidFill>
                <a:latin typeface="Helvetica"/>
              </a:rPr>
              <a:t> Il passe de 2 083 908 202 FCFA à 437 899 911 FCFA en 2025.</a:t>
            </a:r>
          </a:p>
          <a:p>
            <a:pPr algn="just">
              <a:spcAft>
                <a:spcPts val="600"/>
              </a:spcAft>
            </a:pPr>
            <a:r>
              <a:rPr sz="1400" b="1">
                <a:solidFill>
                  <a:srgbClr val="060606"/>
                </a:solidFill>
                <a:latin typeface="Helvetica"/>
              </a:rPr>
              <a:t>Les huit premiers mois de 2026 sont déficitaires</a:t>
            </a:r>
            <a:r>
              <a:rPr sz="1400" b="0">
                <a:solidFill>
                  <a:srgbClr val="060606"/>
                </a:solidFill>
                <a:latin typeface="Helvetica"/>
              </a:rPr>
              <a:t>, avant même les écritures de fin d'année.</a:t>
            </a:r>
          </a:p>
          <a:p>
            <a:pPr algn="just">
              <a:spcAft>
                <a:spcPts val="600"/>
              </a:spcAft>
            </a:pPr>
            <a:r>
              <a:rPr sz="1400" b="1">
                <a:solidFill>
                  <a:srgbClr val="060606"/>
                </a:solidFill>
                <a:latin typeface="Helvetica"/>
              </a:rPr>
              <a:t>Implication pour le FPPN.</a:t>
            </a:r>
            <a:r>
              <a:rPr sz="1400" b="0">
                <a:solidFill>
                  <a:srgbClr val="060606"/>
                </a:solidFill>
                <a:latin typeface="Helvetica"/>
              </a:rPr>
              <a:t> Les frais pèsent presque deux fois la norme réglementaire. Leur réduction est le levier le plus direct pour restaurer l'excédent pendant que la sinistralité monte.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392680027"/>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prestations maladie absorbent une part croissante des cotisations, et le résultat du FPPN baisse depuis 2021.</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hausse du S/C maladie est statistiquement significative, d'environ 12,91 points par an de 2020 à 2025. Les frais dépassent la norme de 20 % des cotisations.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Sans maîtrise des prestations et des frais, le FPPN deviendra déficitaire et ne pourra plus doter sa réserve obligatoire.</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détailler le compte global de prestations par nature et par prestataire, et transmettre la base des prestations.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sinistralité</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maladie approche le niveau des cotisations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 S/C maladie multiplié par plus de douze depuis 2021, résultat en baisse, déficit sur 2026</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1514033624"/>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6</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Épargne des mutualistes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Dette d'épargne, actifs réservés, sensibilité aux retraits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822406903"/>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Passif d'épargne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L'épargne due correspond aux soldes créditeurs des comptes 41195100 (PEP) et 41195200 (EFC). C'est une dette du FPPN envers les mutualistes.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Actifs réservés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retient les comptes bancaires et dépôts à terme dont l'intitulé désigne l'EFC ou le PEP (5211020x, 5221020x, 5211030x, 5221030x, 526120) et le fonds commun de placement (5330).</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Couverture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couverture rapporte les actifs réservés à l'épargne due, à chaque clôture de 2020 au 31/08/2026.</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règlement des produits n'a pas été transmis : la part de l'épargne exigible à court terme et l'affectation du fonds commun de placement restent à confirmer.</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adossement de l'épargne</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couverture compare l'épargne due aux actifs qui lui sont réservés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 (banques, dépôts à terme et fonds réservés) / (comptes PEP et EFC)</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a:t>
            </a:r>
          </a:p>
        </p:txBody>
      </p:sp>
    </p:spTree>
    <p:extLst>
      <p:ext uri="{BB962C8B-B14F-4D97-AF65-F5344CB8AC3E}">
        <p14:creationId xmlns:p14="http://schemas.microsoft.com/office/powerpoint/2010/main" val="322295072"/>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couverture de l'épargne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comptes de dette face à quatre comptes d'actifs réservés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2 562 885 661 FCFA / 15 743 516 391 FCFA = 16,28 % au 31/08/2026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 au 31/08/2026 (impression provisoire)</a:t>
            </a:r>
          </a:p>
        </p:txBody>
      </p:sp>
      <p:sp>
        <p:nvSpPr>
          <p:cNvPr id="31" name="TextBox 30"/>
          <p:cNvSpPr txBox="1"/>
          <p:nvPr/>
        </p:nvSpPr>
        <p:spPr>
          <a:xfrm>
            <a:off x="503999" y="1350000"/>
            <a:ext cx="7703999" cy="180000"/>
          </a:xfrm>
          <a:prstGeom prst="rect">
            <a:avLst/>
          </a:prstGeom>
          <a:noFill/>
        </p:spPr>
        <p:txBody>
          <a:bodyPr wrap="square" anchor="t" lIns="54000" rIns="54000"/>
          <a:lstStyle/>
          <a:p>
            <a:pPr algn="l"/>
            <a:r>
              <a:rPr sz="900" b="0">
                <a:solidFill>
                  <a:srgbClr val="53565A"/>
                </a:solidFill>
                <a:latin typeface="Helvetica"/>
              </a:rPr>
              <a:t>Extrait : AUDIT ADENKA\DAFC\2026\BALANCE FPPN DU 01-01-2026 AU 31-08-2026.xlsx</a:t>
            </a:r>
          </a:p>
        </p:txBody>
      </p:sp>
      <p:graphicFrame>
        <p:nvGraphicFramePr>
          <p:cNvPr id="32" name="Table 31"/>
          <p:cNvGraphicFramePr>
            <a:graphicFrameLocks noGrp="1"/>
          </p:cNvGraphicFramePr>
          <p:nvPr/>
        </p:nvGraphicFramePr>
        <p:xfrm>
          <a:off x="503999" y="1548000"/>
          <a:ext cx="7704000" cy="1890081"/>
        </p:xfrm>
        <a:graphic>
          <a:graphicData uri="http://schemas.openxmlformats.org/drawingml/2006/table">
            <a:tbl>
              <a:tblPr firstRow="0" bandRow="0">
                <a:tableStyleId>{5940675A-B579-460E-94D1-54222C63F5DA}</a:tableStyleId>
              </a:tblPr>
              <a:tblGrid>
                <a:gridCol w="1224000"/>
                <a:gridCol w="4104000"/>
                <a:gridCol w="2376000"/>
              </a:tblGrid>
              <a:tr h="210009">
                <a:tc>
                  <a:txBody>
                    <a:bodyPr/>
                    <a:lstStyle/>
                    <a:p>
                      <a:pPr marL="0" indent="0" lvl="0">
                        <a:buNone/>
                      </a:pPr>
                      <a:r>
                        <a:rPr sz="10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Intitulé</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Solde au 31/08/2026</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41195100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COTISATION PEP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5 229 245 425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41195200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COTISATION EFC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10 514 270 966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Total épargne due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15 743 516 391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52110200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Banque BOA-Entraide fin de carrière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1 540 006 941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52110300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Banque BOA PEP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37 336 916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52210200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DAT BOA ENTRAIDE  FIN DE CARRIERE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485 541 804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53300001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FONDS COMMUN DE PLACEMENT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500 000 000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Total actifs réservés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2 562 885 661 FCFA</a:t>
                      </a:r>
                    </a:p>
                  </a:txBody>
                  <a:tcPr marL="43200" marR="43200" marT="14400" marB="14400" anchor="ctr">
                    <a:solidFill>
                      <a:srgbClr val="F2F2F2"/>
                    </a:solidFill>
                  </a:tcPr>
                </a:tc>
              </a:tr>
            </a:tbl>
          </a:graphicData>
        </a:graphic>
      </p:graphicFrame>
      <p:sp>
        <p:nvSpPr>
          <p:cNvPr id="33" name="Rounded Rectangle 32"/>
          <p:cNvSpPr/>
          <p:nvPr/>
        </p:nvSpPr>
        <p:spPr>
          <a:xfrm>
            <a:off x="5813999" y="2167228"/>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27999" y="20160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813999" y="3217276"/>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027999" y="3066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424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8784000" y="1530000"/>
            <a:ext cx="2952000" cy="670023"/>
          </a:xfrm>
          <a:prstGeom prst="rect">
            <a:avLst/>
          </a:prstGeom>
          <a:noFill/>
        </p:spPr>
        <p:txBody>
          <a:bodyPr wrap="square" anchor="t" lIns="54000" rIns="54000"/>
          <a:lstStyle/>
          <a:p>
            <a:pPr algn="l"/>
            <a:r>
              <a:rPr sz="1200" b="0">
                <a:solidFill>
                  <a:srgbClr val="060606"/>
                </a:solidFill>
                <a:latin typeface="Helvetica"/>
              </a:rPr>
              <a:t>Les deux comptes 41195 enregistrent la dette envers les épargnants PEP et EFC.</a:t>
            </a:r>
          </a:p>
        </p:txBody>
      </p:sp>
      <p:sp>
        <p:nvSpPr>
          <p:cNvPr id="39" name="Oval 38"/>
          <p:cNvSpPr/>
          <p:nvPr/>
        </p:nvSpPr>
        <p:spPr>
          <a:xfrm>
            <a:off x="8424000"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8784000" y="2290023"/>
            <a:ext cx="2952000" cy="670023"/>
          </a:xfrm>
          <a:prstGeom prst="rect">
            <a:avLst/>
          </a:prstGeom>
          <a:noFill/>
        </p:spPr>
        <p:txBody>
          <a:bodyPr wrap="square" anchor="t" lIns="54000" rIns="54000"/>
          <a:lstStyle/>
          <a:p>
            <a:pPr algn="l"/>
            <a:r>
              <a:rPr sz="1200" b="0">
                <a:solidFill>
                  <a:srgbClr val="060606"/>
                </a:solidFill>
                <a:latin typeface="Helvetica"/>
              </a:rPr>
              <a:t>Les banques, le dépôt à terme et le fonds commun de placement forment les actifs réservés.</a:t>
            </a:r>
          </a:p>
        </p:txBody>
      </p:sp>
      <p:sp>
        <p:nvSpPr>
          <p:cNvPr id="41" name="Oval 40"/>
          <p:cNvSpPr/>
          <p:nvPr/>
        </p:nvSpPr>
        <p:spPr>
          <a:xfrm>
            <a:off x="8424000" y="3068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8784000" y="3050047"/>
            <a:ext cx="2952000" cy="484084"/>
          </a:xfrm>
          <a:prstGeom prst="rect">
            <a:avLst/>
          </a:prstGeom>
          <a:noFill/>
        </p:spPr>
        <p:txBody>
          <a:bodyPr wrap="square" anchor="t" lIns="54000" rIns="54000"/>
          <a:lstStyle/>
          <a:p>
            <a:pPr algn="l"/>
            <a:r>
              <a:rPr sz="1200" b="0">
                <a:solidFill>
                  <a:srgbClr val="060606"/>
                </a:solidFill>
                <a:latin typeface="Helvetica"/>
              </a:rPr>
              <a:t>La couverture vaut donc 16,28 % au 31/08/2026.</a:t>
            </a:r>
          </a:p>
        </p:txBody>
      </p:sp>
      <p:sp>
        <p:nvSpPr>
          <p:cNvPr id="43" name="TextBox 42"/>
          <p:cNvSpPr txBox="1"/>
          <p:nvPr/>
        </p:nvSpPr>
        <p:spPr>
          <a:xfrm>
            <a:off x="8424000" y="3714132"/>
            <a:ext cx="3312000" cy="2153867"/>
          </a:xfrm>
          <a:prstGeom prst="rect">
            <a:avLst/>
          </a:prstGeom>
          <a:noFill/>
        </p:spPr>
        <p:txBody>
          <a:bodyPr wrap="square" lIns="54000" rIns="54000"/>
          <a:lstStyle/>
          <a:p>
            <a:pPr algn="just">
              <a:spcAft>
                <a:spcPts val="600"/>
              </a:spcAft>
            </a:pPr>
            <a:r>
              <a:rPr sz="1200" b="1">
                <a:solidFill>
                  <a:srgbClr val="060606"/>
                </a:solidFill>
                <a:latin typeface="Helvetica"/>
              </a:rPr>
              <a:t>Ce ratio est aussi le ratio de solvabilité des risques longs de la Décision n° 05/2022</a:t>
            </a:r>
            <a:r>
              <a:rPr sz="1200" b="0">
                <a:solidFill>
                  <a:srgbClr val="060606"/>
                </a:solidFill>
                <a:latin typeface="Helvetica"/>
              </a:rPr>
              <a:t> (actifs admis / engagements réglementés), dont la norme est d'au moins 1.</a:t>
            </a:r>
          </a:p>
          <a:p>
            <a:pPr algn="just">
              <a:spcAft>
                <a:spcPts val="600"/>
              </a:spcAft>
            </a:pPr>
            <a:r>
              <a:rPr sz="1200" b="1">
                <a:solidFill>
                  <a:srgbClr val="060606"/>
                </a:solidFill>
                <a:latin typeface="Helvetica"/>
              </a:rPr>
              <a:t>Implication pour le FPPN.</a:t>
            </a:r>
            <a:r>
              <a:rPr sz="1200" b="0">
                <a:solidFill>
                  <a:srgbClr val="060606"/>
                </a:solidFill>
                <a:latin typeface="Helvetica"/>
              </a:rPr>
              <a:t> Avec une couverture inférieure à un cinquième, le FPPN ne respecte pas cette norme : la partie 10 la reprend dans le tableau de bord sans refaire le calcul.</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DAT : dépôt à terme</a:t>
            </a:r>
          </a:p>
        </p:txBody>
      </p:sp>
    </p:spTree>
    <p:extLst>
      <p:ext uri="{BB962C8B-B14F-4D97-AF65-F5344CB8AC3E}">
        <p14:creationId xmlns:p14="http://schemas.microsoft.com/office/powerpoint/2010/main" val="1453276368"/>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Adossement de l'épargne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L'épargne des mutualistes n'est couverte qu'à 16,28 % par des actifs réservés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 entre 6,49 % et 19,29 % selon les années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18 : Épargne au passif et actifs réservés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dette d'épargne augmente de 45,39 % depuis 2020.</a:t>
            </a:r>
            <a:r>
              <a:rPr sz="1400" b="0">
                <a:solidFill>
                  <a:srgbClr val="060606"/>
                </a:solidFill>
                <a:latin typeface="Helvetica"/>
              </a:rPr>
              <a:t> Les actifs réservés ne suivent pas cette hausse.</a:t>
            </a:r>
          </a:p>
          <a:p>
            <a:pPr algn="just">
              <a:spcAft>
                <a:spcPts val="600"/>
              </a:spcAft>
            </a:pPr>
            <a:r>
              <a:rPr sz="1400" b="1">
                <a:solidFill>
                  <a:srgbClr val="060606"/>
                </a:solidFill>
                <a:latin typeface="Helvetica"/>
              </a:rPr>
              <a:t>L'épargne EFC triple.</a:t>
            </a:r>
            <a:r>
              <a:rPr sz="1400" b="0">
                <a:solidFill>
                  <a:srgbClr val="060606"/>
                </a:solidFill>
                <a:latin typeface="Helvetica"/>
              </a:rPr>
              <a:t> Elle passe de 3 461 975 893 FCFA en 2020 à 10 514 270 966 FCFA au 31/08/2026.</a:t>
            </a:r>
          </a:p>
          <a:p>
            <a:pPr algn="just">
              <a:spcAft>
                <a:spcPts val="600"/>
              </a:spcAft>
            </a:pPr>
            <a:r>
              <a:rPr sz="1400" b="1">
                <a:solidFill>
                  <a:srgbClr val="060606"/>
                </a:solidFill>
                <a:latin typeface="Helvetica"/>
              </a:rPr>
              <a:t>L'épargne non couverte finance des emplois peu liquides</a:t>
            </a:r>
            <a:r>
              <a:rPr sz="1400" b="0">
                <a:solidFill>
                  <a:srgbClr val="060606"/>
                </a:solidFill>
                <a:latin typeface="Helvetica"/>
              </a:rPr>
              <a:t> : investissements au CMP, terrains, créance sur l'Hôpital de la Police et prêts du Grenier.</a:t>
            </a:r>
          </a:p>
          <a:p>
            <a:pPr algn="just">
              <a:spcAft>
                <a:spcPts val="600"/>
              </a:spcAft>
            </a:pPr>
            <a:r>
              <a:rPr sz="1400" b="1">
                <a:solidFill>
                  <a:srgbClr val="060606"/>
                </a:solidFill>
                <a:latin typeface="Helvetica"/>
              </a:rPr>
              <a:t>Implication pour le FPPN.</a:t>
            </a:r>
            <a:r>
              <a:rPr sz="1400" b="0">
                <a:solidFill>
                  <a:srgbClr val="060606"/>
                </a:solidFill>
                <a:latin typeface="Helvetica"/>
              </a:rPr>
              <a:t> Le règlement d'exécution n° 004/2022 impose le cantonnement des patrimoines quand une mutuelle couvre à la fois des risques courts et longs (art. 15). L'épargne n'est séparée qu'en partie des autres ressources du FPPN.</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CMP : sigle des comptes du FPPN, signification à confirmer</a:t>
            </a:r>
          </a:p>
        </p:txBody>
      </p:sp>
    </p:spTree>
    <p:extLst>
      <p:ext uri="{BB962C8B-B14F-4D97-AF65-F5344CB8AC3E}">
        <p14:creationId xmlns:p14="http://schemas.microsoft.com/office/powerpoint/2010/main" val="201334505"/>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Versements d'épargne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versements au PEP ont été multipliés par quatre depuis 2022</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PEP 2025 : 2 029 929 725 FCFA versés par 16 932 épargnants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19 : Versements précomptés par produit d'épargne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 (EFC à partir de 2023)</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épargnants PEP passent de 1 327 en 2020 à 17 199 en 2026.</a:t>
            </a:r>
            <a:r>
              <a:rPr sz="1400" b="0">
                <a:solidFill>
                  <a:srgbClr val="060606"/>
                </a:solidFill>
                <a:latin typeface="Helvetica"/>
              </a:rPr>
              <a:t> Le produit attire un nombre croissant de policiers.</a:t>
            </a:r>
          </a:p>
          <a:p>
            <a:pPr algn="just">
              <a:spcAft>
                <a:spcPts val="600"/>
              </a:spcAft>
            </a:pPr>
            <a:r>
              <a:rPr sz="1400" b="1">
                <a:solidFill>
                  <a:srgbClr val="060606"/>
                </a:solidFill>
                <a:latin typeface="Helvetica"/>
              </a:rPr>
              <a:t>En 2025, le PEP reçoit 2 029 929 725 FCFA mais le compte n'augmente que de 1 134 898 141 FCFA.</a:t>
            </a:r>
            <a:r>
              <a:rPr sz="1400" b="0">
                <a:solidFill>
                  <a:srgbClr val="060606"/>
                </a:solidFill>
                <a:latin typeface="Helvetica"/>
              </a:rPr>
              <a:t> La différence correspond à des sorties d'épargne.</a:t>
            </a:r>
          </a:p>
          <a:p>
            <a:pPr algn="just">
              <a:spcAft>
                <a:spcPts val="600"/>
              </a:spcAft>
            </a:pPr>
            <a:r>
              <a:rPr sz="1400" b="1">
                <a:solidFill>
                  <a:srgbClr val="060606"/>
                </a:solidFill>
                <a:latin typeface="Helvetica"/>
              </a:rPr>
              <a:t>Les sorties d'épargne atteignent 1 358 821 103 FCFA en 2025</a:t>
            </a:r>
            <a:r>
              <a:rPr sz="1400" b="0">
                <a:solidFill>
                  <a:srgbClr val="060606"/>
                </a:solidFill>
                <a:latin typeface="Helvetica"/>
              </a:rPr>
              <a:t> (débits des comptes 41195100 et 41195200).</a:t>
            </a:r>
          </a:p>
          <a:p>
            <a:pPr algn="just">
              <a:spcAft>
                <a:spcPts val="600"/>
              </a:spcAft>
            </a:pPr>
            <a:r>
              <a:rPr sz="1400" b="1">
                <a:solidFill>
                  <a:srgbClr val="060606"/>
                </a:solidFill>
                <a:latin typeface="Helvetica"/>
              </a:rPr>
              <a:t>Implication pour le FPPN.</a:t>
            </a:r>
            <a:r>
              <a:rPr sz="1400" b="0">
                <a:solidFill>
                  <a:srgbClr val="060606"/>
                </a:solidFill>
                <a:latin typeface="Helvetica"/>
              </a:rPr>
              <a:t> Ces sorties sont les « engagements » d'un trimestre que la réserve de trésorerie des risques longs doit couvrir (art. 19 du règlement d'exécution) : leur suivi mensuel est nécessaire pour fixer le niveau de cette réserve.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870 : poste EFC | 998 : poste PEP</a:t>
            </a:r>
          </a:p>
        </p:txBody>
      </p:sp>
    </p:spTree>
    <p:extLst>
      <p:ext uri="{BB962C8B-B14F-4D97-AF65-F5344CB8AC3E}">
        <p14:creationId xmlns:p14="http://schemas.microsoft.com/office/powerpoint/2010/main" val="2564785603"/>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retraits d'épargne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 retrait de plus d'un cinquième de l'épargne épuiserait toute la trésorerie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actifs réservés couvrent un retrait de 16,28 % de l'épargne. La trésorerie totale, 21,34 %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20 : Besoin de liquidités selon le taux de retrait</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 au 31/08/2026</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actifs réservés couvrent un retrait de 10 % de l'épargne (1 574 351 639 FCFA).</a:t>
            </a:r>
          </a:p>
          <a:p>
            <a:pPr algn="just">
              <a:spcAft>
                <a:spcPts val="600"/>
              </a:spcAft>
            </a:pPr>
            <a:r>
              <a:rPr sz="1400" b="1">
                <a:solidFill>
                  <a:srgbClr val="060606"/>
                </a:solidFill>
                <a:latin typeface="Helvetica"/>
              </a:rPr>
              <a:t>Au-delà de 21,34 % de retraits, toute la trésorerie du FPPN ne suffit plus.</a:t>
            </a:r>
          </a:p>
          <a:p>
            <a:pPr algn="just">
              <a:spcAft>
                <a:spcPts val="600"/>
              </a:spcAft>
            </a:pPr>
            <a:r>
              <a:rPr sz="1400" b="1">
                <a:solidFill>
                  <a:srgbClr val="060606"/>
                </a:solidFill>
                <a:latin typeface="Helvetica"/>
              </a:rPr>
              <a:t>Le FPPN doit alors céder ou mobiliser des actifs peu liquides</a:t>
            </a:r>
            <a:r>
              <a:rPr sz="1400" b="0">
                <a:solidFill>
                  <a:srgbClr val="060606"/>
                </a:solidFill>
                <a:latin typeface="Helvetica"/>
              </a:rPr>
              <a:t>, comme les terrains ou les avances au CMP.</a:t>
            </a:r>
          </a:p>
          <a:p>
            <a:pPr algn="just">
              <a:spcAft>
                <a:spcPts val="600"/>
              </a:spcAft>
            </a:pPr>
            <a:r>
              <a:rPr sz="1400" b="1">
                <a:solidFill>
                  <a:srgbClr val="060606"/>
                </a:solidFill>
                <a:latin typeface="Helvetica"/>
              </a:rPr>
              <a:t>Implication pour le FPPN.</a:t>
            </a:r>
            <a:r>
              <a:rPr sz="1400" b="0">
                <a:solidFill>
                  <a:srgbClr val="060606"/>
                </a:solidFill>
                <a:latin typeface="Helvetica"/>
              </a:rPr>
              <a:t> Le risque de liquidité dépend des conditions de retrait du PEP et de l'EFC : le règlement de ces produits et les âges des épargnants permettront de passer de scénarios théoriques à un échéancier réel.</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CMP : sigle des comptes du FPPN, signification à confirmer</a:t>
            </a:r>
          </a:p>
        </p:txBody>
      </p:sp>
    </p:spTree>
    <p:extLst>
      <p:ext uri="{BB962C8B-B14F-4D97-AF65-F5344CB8AC3E}">
        <p14:creationId xmlns:p14="http://schemas.microsoft.com/office/powerpoint/2010/main" val="1642543717"/>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Poste 998 : autres références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poste de l'épargne PEP porte aussi d'autres références à expliquer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PTI, RPEP, EP et TI apparaissent à côté des références PEP sur la période 2020 à 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1" name="TextBox 30"/>
          <p:cNvSpPr txBox="1"/>
          <p:nvPr/>
        </p:nvSpPr>
        <p:spPr>
          <a:xfrm>
            <a:off x="503999" y="1386000"/>
            <a:ext cx="6983999" cy="216000"/>
          </a:xfrm>
          <a:prstGeom prst="rect">
            <a:avLst/>
          </a:prstGeom>
          <a:noFill/>
        </p:spPr>
        <p:txBody>
          <a:bodyPr wrap="square" anchor="t" lIns="54000" rIns="54000"/>
          <a:lstStyle/>
          <a:p>
            <a:pPr algn="ctr"/>
            <a:r>
              <a:rPr sz="1200" b="0">
                <a:solidFill>
                  <a:srgbClr val="EFAC62"/>
                </a:solidFill>
                <a:latin typeface="Helvetica"/>
              </a:rPr>
              <a:t>Tableau 12 : Références du poste 998, 2020 à août 2026</a:t>
            </a:r>
          </a:p>
        </p:txBody>
      </p:sp>
      <p:graphicFrame>
        <p:nvGraphicFramePr>
          <p:cNvPr id="32" name="Table 31"/>
          <p:cNvGraphicFramePr>
            <a:graphicFrameLocks noGrp="1"/>
          </p:cNvGraphicFramePr>
          <p:nvPr/>
        </p:nvGraphicFramePr>
        <p:xfrm>
          <a:off x="503999" y="1655999"/>
          <a:ext cx="6984000" cy="2027250"/>
        </p:xfrm>
        <a:graphic>
          <a:graphicData uri="http://schemas.openxmlformats.org/drawingml/2006/table">
            <a:tbl>
              <a:tblPr firstRow="0" bandRow="0">
                <a:tableStyleId>{5940675A-B579-460E-94D1-54222C63F5DA}</a:tableStyleId>
              </a:tblPr>
              <a:tblGrid>
                <a:gridCol w="1440000"/>
                <a:gridCol w="1440000"/>
                <a:gridCol w="2664000"/>
                <a:gridCol w="1440000"/>
              </a:tblGrid>
              <a:tr h="225250">
                <a:tc>
                  <a:txBody>
                    <a:bodyPr/>
                    <a:lstStyle/>
                    <a:p>
                      <a:pPr marL="0" indent="0" lvl="0">
                        <a:buNone/>
                      </a:pPr>
                      <a:r>
                        <a:rPr sz="1100" b="1">
                          <a:solidFill>
                            <a:srgbClr val="FFFFFF"/>
                          </a:solidFill>
                          <a:latin typeface="Helvetica"/>
                        </a:rPr>
                        <a:t>Référence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Lignes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Montant total</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Mutualistes</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PEP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460 252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6 270 087 894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18 495</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sans référence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55 703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702 069 750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16 603</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PTI</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1 206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108 489 526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51</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RPEP</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2 368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30 896 500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2 367</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EP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1 722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30 284 000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1 715</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TI</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2 246 770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R-PEP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90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1 290 000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88</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PTQ</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1 255 064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a:t>
                      </a:r>
                    </a:p>
                  </a:txBody>
                  <a:tcPr marL="43200" marR="43200" marT="14400" marB="14400" anchor="ctr">
                    <a:solidFill>
                      <a:srgbClr val="F2F2F2"/>
                    </a:solidFill>
                  </a:tcPr>
                </a:tc>
              </a:tr>
            </a:tbl>
          </a:graphicData>
        </a:graphic>
      </p:graphicFrame>
      <p:sp>
        <p:nvSpPr>
          <p:cNvPr id="33" name="TextBox 32"/>
          <p:cNvSpPr txBox="1"/>
          <p:nvPr/>
        </p:nvSpPr>
        <p:spPr>
          <a:xfrm>
            <a:off x="7703999" y="1386000"/>
            <a:ext cx="4032000" cy="4482000"/>
          </a:xfrm>
          <a:prstGeom prst="rect">
            <a:avLst/>
          </a:prstGeom>
          <a:noFill/>
        </p:spPr>
        <p:txBody>
          <a:bodyPr wrap="square" lIns="54000" rIns="54000"/>
          <a:lstStyle/>
          <a:p>
            <a:pPr algn="just">
              <a:spcAft>
                <a:spcPts val="600"/>
              </a:spcAft>
            </a:pPr>
            <a:r>
              <a:rPr sz="1400" b="1">
                <a:solidFill>
                  <a:srgbClr val="060606"/>
                </a:solidFill>
                <a:latin typeface="Helvetica"/>
              </a:rPr>
              <a:t>Le poste 998 ne porte pas que de l'épargne PEP.</a:t>
            </a:r>
            <a:r>
              <a:rPr sz="1400" b="0">
                <a:solidFill>
                  <a:srgbClr val="060606"/>
                </a:solidFill>
                <a:latin typeface="Helvetica"/>
              </a:rPr>
              <a:t> D'autres références, dont PTI, apparaissent avec des montants importants et peu de mutualistes.</a:t>
            </a:r>
          </a:p>
          <a:p>
            <a:pPr algn="just">
              <a:spcAft>
                <a:spcPts val="600"/>
              </a:spcAft>
            </a:pPr>
            <a:r>
              <a:rPr sz="1400" b="1">
                <a:solidFill>
                  <a:srgbClr val="060606"/>
                </a:solidFill>
                <a:latin typeface="Helvetica"/>
              </a:rPr>
              <a:t>Leur nature n'est documentée nulle part.</a:t>
            </a:r>
            <a:r>
              <a:rPr sz="1400" b="0">
                <a:solidFill>
                  <a:srgbClr val="060606"/>
                </a:solidFill>
                <a:latin typeface="Helvetica"/>
              </a:rPr>
              <a:t> Il peut s'agir de remboursements de prêts PEP (comptes 27110000 et 27120000), ce que le FPPN doit confirmer.</a:t>
            </a:r>
          </a:p>
          <a:p>
            <a:pPr algn="just">
              <a:spcAft>
                <a:spcPts val="600"/>
              </a:spcAft>
            </a:pPr>
            <a:r>
              <a:rPr sz="1400" b="1">
                <a:solidFill>
                  <a:srgbClr val="060606"/>
                </a:solidFill>
                <a:latin typeface="Helvetica"/>
              </a:rPr>
              <a:t>Implication pour le FPPN.</a:t>
            </a:r>
            <a:r>
              <a:rPr sz="1400" b="0">
                <a:solidFill>
                  <a:srgbClr val="060606"/>
                </a:solidFill>
                <a:latin typeface="Helvetica"/>
              </a:rPr>
              <a:t> Tant que ces références ne sont pas expliquées, la dette d'épargne PEP ne peut pas être reconstituée à partir des précomptes.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998 : poste PEP</a:t>
            </a:r>
          </a:p>
        </p:txBody>
      </p:sp>
    </p:spTree>
    <p:extLst>
      <p:ext uri="{BB962C8B-B14F-4D97-AF65-F5344CB8AC3E}">
        <p14:creationId xmlns:p14="http://schemas.microsoft.com/office/powerpoint/2010/main" val="3007630627"/>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dette d'épargne augmente plus vite que les actifs réservés, et l'écart finance des emplois peu liquides.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15 743 516 391 FCFA d'épargne sont dus au 31/08/2026, pour 2 562 885 661 FCFA d'actifs réservés.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ne peut pas rembourser rapidement une vague de retraits, et il ne respecte pas le ratio de solvabilité des risques longs.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 règlement des produits, les comptes individuels et les conditions de retrait, puis cantonner l'épargne.</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épargne</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L'épargne due aux mutualistes est très peu couverte par des actifs disponibles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de 16,28 % au 31/08/2026. Un retrait de 21,34 % épuiserait toute la trésorerie</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068954071"/>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7</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Prêts du Grenier</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Encours, production, retards, précomptes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116302080"/>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Part en retard (montant)</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rapporte l'encours des prêts en retard de plus de 30 jours à l'encours total, sur les 37 balances âgées reçues.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Part en retard (nombre)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rapporte le nombre de prêts en retard au nombre de prêts au 31/08/2026, avec un intervalle de confiance de Wilson à 95 %.</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Précompte des échéances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rapporte les précomptes 9X4 du mois aux échéances des prêts en cours, pour les mois de 2026.</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retard est celui que calcule le logiciel de prêts. Il dépend de la date à laquelle la Solde verse les précomptes.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risque de crédit</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risque des prêts se mesure par la part de l'encours en retard</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30 jours / encours total, à chaque date de balance âgée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9X4 : poste Grenier</a:t>
            </a:r>
          </a:p>
        </p:txBody>
      </p:sp>
    </p:spTree>
    <p:extLst>
      <p:ext uri="{BB962C8B-B14F-4D97-AF65-F5344CB8AC3E}">
        <p14:creationId xmlns:p14="http://schemas.microsoft.com/office/powerpoint/2010/main" val="3515631745"/>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Encours du Grenier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L'encours de prêts a été multiplié par 132 depuis fin 2021</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 2 959 prêts, 1 044 302 107 FCFA, dont 915 477 260 FCFA financés par le FPPN</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21 : Encours des prêts et financement du FPPN</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 Balances des comptes du FPPN (Sage 100), exercices 2020 à 2025 et du 01/01 au 31/08/2026 (provisoire).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L'encours passe de 7 900 000 FCFA fin 2021 à 1 044 302 107 FCFA au 31/08/2026</a:t>
            </a:r>
            <a:r>
              <a:rPr sz="1400" b="0">
                <a:solidFill>
                  <a:srgbClr val="060606"/>
                </a:solidFill>
                <a:latin typeface="Helvetica"/>
              </a:rPr>
              <a:t>, soit 132,19 fois plus.</a:t>
            </a:r>
          </a:p>
          <a:p>
            <a:pPr algn="just">
              <a:spcAft>
                <a:spcPts val="600"/>
              </a:spcAft>
            </a:pPr>
            <a:r>
              <a:rPr sz="1400" b="1">
                <a:solidFill>
                  <a:srgbClr val="060606"/>
                </a:solidFill>
                <a:latin typeface="Helvetica"/>
              </a:rPr>
              <a:t>Le FPPN finance 87,66 % de l'encours.</a:t>
            </a:r>
            <a:r>
              <a:rPr sz="1400" b="0">
                <a:solidFill>
                  <a:srgbClr val="060606"/>
                </a:solidFill>
                <a:latin typeface="Helvetica"/>
              </a:rPr>
              <a:t> Le Grenier repose donc presque entièrement sur les ressources du FPPN.</a:t>
            </a:r>
          </a:p>
          <a:p>
            <a:pPr algn="just">
              <a:spcAft>
                <a:spcPts val="600"/>
              </a:spcAft>
            </a:pPr>
            <a:r>
              <a:rPr sz="1400" b="1">
                <a:solidFill>
                  <a:srgbClr val="060606"/>
                </a:solidFill>
                <a:latin typeface="Helvetica"/>
              </a:rPr>
              <a:t>Les prêts sont courts et chers.</a:t>
            </a:r>
            <a:r>
              <a:rPr sz="1400" b="0">
                <a:solidFill>
                  <a:srgbClr val="060606"/>
                </a:solidFill>
                <a:latin typeface="Helvetica"/>
              </a:rPr>
              <a:t> La durée médiane est de 10 mois et le taux médian de 18,00 %.</a:t>
            </a:r>
          </a:p>
          <a:p>
            <a:pPr algn="just">
              <a:spcAft>
                <a:spcPts val="600"/>
              </a:spcAft>
            </a:pPr>
            <a:r>
              <a:rPr sz="1400" b="1">
                <a:solidFill>
                  <a:srgbClr val="060606"/>
                </a:solidFill>
                <a:latin typeface="Helvetica"/>
              </a:rPr>
              <a:t>Implication pour le FPPN.</a:t>
            </a:r>
            <a:r>
              <a:rPr sz="1400" b="0">
                <a:solidFill>
                  <a:srgbClr val="060606"/>
                </a:solidFill>
                <a:latin typeface="Helvetica"/>
              </a:rPr>
              <a:t> Si le Grenier relève des activités génératrices de revenus, le règlement d'exécution n° 004/2022 les autorise à condition qu'elles ne mettent pas en péril l'activité d'assurance et que leurs pertes ne soient pas couvertes par les cotisations ni par les réserves (art. 26) : le financement du Grenier doit être encadré par une décision formelle.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370736239"/>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Production de prêts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crédits scolaires et habitat portent la croissance de la production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Montants débloqués : 269 775 100 FCFA en 2022, 1 609 400 144 FCFA en 2025 (4 774 prêts)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22 : Montants débloqués par type de crédit</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production a été multipliée par 5,97 entre 2022 et 2025.</a:t>
            </a:r>
          </a:p>
          <a:p>
            <a:pPr algn="just">
              <a:spcAft>
                <a:spcPts val="600"/>
              </a:spcAft>
            </a:pPr>
            <a:r>
              <a:rPr sz="1400" b="1">
                <a:solidFill>
                  <a:srgbClr val="060606"/>
                </a:solidFill>
                <a:latin typeface="Helvetica"/>
              </a:rPr>
              <a:t>Les crédits scolaires et habitat font 66,12 % des montants de 2025.</a:t>
            </a:r>
          </a:p>
          <a:p>
            <a:pPr algn="just">
              <a:spcAft>
                <a:spcPts val="600"/>
              </a:spcAft>
            </a:pPr>
            <a:r>
              <a:rPr sz="1400" b="1">
                <a:solidFill>
                  <a:srgbClr val="060606"/>
                </a:solidFill>
                <a:latin typeface="Helvetica"/>
              </a:rPr>
              <a:t>Le crédit habitat, aux montants unitaires plus importants, allonge la durée du risque.</a:t>
            </a:r>
          </a:p>
          <a:p>
            <a:pPr algn="just">
              <a:spcAft>
                <a:spcPts val="600"/>
              </a:spcAft>
            </a:pPr>
            <a:r>
              <a:rPr sz="1400" b="1">
                <a:solidFill>
                  <a:srgbClr val="060606"/>
                </a:solidFill>
                <a:latin typeface="Helvetica"/>
              </a:rPr>
              <a:t>Implication pour le FPPN.</a:t>
            </a:r>
            <a:r>
              <a:rPr sz="1400" b="0">
                <a:solidFill>
                  <a:srgbClr val="060606"/>
                </a:solidFill>
                <a:latin typeface="Helvetica"/>
              </a:rPr>
              <a:t> Une production qui croît plus vite que les ressources propres du Grenier augmente le besoin de financement du FPPN : la politique de crédit doit fixer un plafond d'encours rapporté aux ressources disponibles.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542641508"/>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Retards de remboursement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retards ont culminé début 2026 avant de revenir à un niveau faible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30 jours : 61,96 % fin janvier 2026, 1,83 % au 31/08/2026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23 : Part de l'encours en retard de plus de 30 et 90 jours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 l'encours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Fin janvier 2026, la plus grande part de l'encours avait entre 31 et 90 jours de retard.</a:t>
            </a:r>
          </a:p>
          <a:p>
            <a:pPr algn="just">
              <a:spcAft>
                <a:spcPts val="600"/>
              </a:spcAft>
            </a:pPr>
            <a:r>
              <a:rPr sz="1400" b="1">
                <a:solidFill>
                  <a:srgbClr val="060606"/>
                </a:solidFill>
                <a:latin typeface="Helvetica"/>
              </a:rPr>
              <a:t>Ces retards se sont résorbés en quelques mois.</a:t>
            </a:r>
            <a:r>
              <a:rPr sz="1400" b="0">
                <a:solidFill>
                  <a:srgbClr val="060606"/>
                </a:solidFill>
                <a:latin typeface="Helvetica"/>
              </a:rPr>
              <a:t> Ce profil fait penser à des échéances non précomptées en fin d'année 2025.</a:t>
            </a:r>
          </a:p>
          <a:p>
            <a:pPr algn="just">
              <a:spcAft>
                <a:spcPts val="600"/>
              </a:spcAft>
            </a:pPr>
            <a:r>
              <a:rPr sz="1400" b="1">
                <a:solidFill>
                  <a:srgbClr val="060606"/>
                </a:solidFill>
                <a:latin typeface="Helvetica"/>
              </a:rPr>
              <a:t>126 prêts ont plus de 180 jours de retard.</a:t>
            </a:r>
            <a:r>
              <a:rPr sz="1400" b="0">
                <a:solidFill>
                  <a:srgbClr val="060606"/>
                </a:solidFill>
                <a:latin typeface="Helvetica"/>
              </a:rPr>
              <a:t> Ces prêts doivent être provisionnés.</a:t>
            </a:r>
          </a:p>
          <a:p>
            <a:pPr algn="just">
              <a:spcAft>
                <a:spcPts val="600"/>
              </a:spcAft>
            </a:pPr>
            <a:r>
              <a:rPr sz="1400" b="1">
                <a:solidFill>
                  <a:srgbClr val="060606"/>
                </a:solidFill>
                <a:latin typeface="Helvetica"/>
              </a:rPr>
              <a:t>Implication pour le FPPN.</a:t>
            </a:r>
            <a:r>
              <a:rPr sz="1400" b="0">
                <a:solidFill>
                  <a:srgbClr val="060606"/>
                </a:solidFill>
                <a:latin typeface="Helvetica"/>
              </a:rPr>
              <a:t> Les retards dépendent surtout du circuit de précompte, pas de la solvabilité des emprunteurs : le FPPN doit obtenir de la Solde un calendrier fiable et suivre chaque mois les échéances non précomptées.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818637140"/>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prêts en retard</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retards les plus anciens dépassent trois ans et révèlent des mécanos anormaux</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quatre prêts les plus en retard au 31/08/2026 ont entre 1 105 et 1 308 jours de retard</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 Noms masqués</a:t>
            </a:r>
          </a:p>
        </p:txBody>
      </p:sp>
      <p:sp>
        <p:nvSpPr>
          <p:cNvPr id="31" name="TextBox 30"/>
          <p:cNvSpPr txBox="1"/>
          <p:nvPr/>
        </p:nvSpPr>
        <p:spPr>
          <a:xfrm>
            <a:off x="503999" y="1350000"/>
            <a:ext cx="8496000" cy="180000"/>
          </a:xfrm>
          <a:prstGeom prst="rect">
            <a:avLst/>
          </a:prstGeom>
          <a:noFill/>
        </p:spPr>
        <p:txBody>
          <a:bodyPr wrap="square" anchor="t" lIns="54000" rIns="54000"/>
          <a:lstStyle/>
          <a:p>
            <a:pPr algn="l"/>
            <a:r>
              <a:rPr sz="900" b="0">
                <a:solidFill>
                  <a:srgbClr val="53565A"/>
                </a:solidFill>
                <a:latin typeface="Helvetica"/>
              </a:rPr>
              <a:t>Extrait : AUDIT ADENKA\SERVICE GRENIER DU POLICIER\FICHIER ALLER\GRENIER AOÛT 2026\BalanceAgeeDetaille AOUT 2026.xls</a:t>
            </a:r>
          </a:p>
        </p:txBody>
      </p:sp>
      <p:graphicFrame>
        <p:nvGraphicFramePr>
          <p:cNvPr id="32" name="Table 31"/>
          <p:cNvGraphicFramePr>
            <a:graphicFrameLocks noGrp="1"/>
          </p:cNvGraphicFramePr>
          <p:nvPr/>
        </p:nvGraphicFramePr>
        <p:xfrm>
          <a:off x="503999" y="1548000"/>
          <a:ext cx="8495998" cy="1050045"/>
        </p:xfrm>
        <a:graphic>
          <a:graphicData uri="http://schemas.openxmlformats.org/drawingml/2006/table">
            <a:tbl>
              <a:tblPr firstRow="0" bandRow="0">
                <a:tableStyleId>{5940675A-B579-460E-94D1-54222C63F5DA}</a:tableStyleId>
              </a:tblPr>
              <a:tblGrid>
                <a:gridCol w="1224000"/>
                <a:gridCol w="1440000"/>
                <a:gridCol w="2160000"/>
                <a:gridCol w="2015999"/>
                <a:gridCol w="1655999"/>
              </a:tblGrid>
              <a:tr h="210009">
                <a:tc>
                  <a:txBody>
                    <a:bodyPr/>
                    <a:lstStyle/>
                    <a:p>
                      <a:pPr marL="0" indent="0" lvl="0">
                        <a:buNone/>
                      </a:pPr>
                      <a:r>
                        <a:rPr sz="1000" b="1">
                          <a:solidFill>
                            <a:srgbClr val="FFFFFF"/>
                          </a:solidFill>
                          <a:latin typeface="Helvetica"/>
                        </a:rPr>
                        <a:t>Mécano</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Nom</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débloqué</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Encours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Retard (jours)</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142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 M.</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500 000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90 536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1308</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87</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 K. M.</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400 000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83 743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1279</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166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 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800 000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60 468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1189</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418***9</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K. A. F.</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100 000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100 000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1105</a:t>
                      </a:r>
                    </a:p>
                  </a:txBody>
                  <a:tcPr marL="43200" marR="43200" marT="14400" marB="14400" anchor="ctr">
                    <a:solidFill>
                      <a:srgbClr val="F2F2F2"/>
                    </a:solidFill>
                  </a:tcPr>
                </a:tc>
              </a:tr>
            </a:tbl>
          </a:graphicData>
        </a:graphic>
      </p:graphicFrame>
      <p:sp>
        <p:nvSpPr>
          <p:cNvPr id="33" name="Rounded Rectangle 32"/>
          <p:cNvSpPr/>
          <p:nvPr/>
        </p:nvSpPr>
        <p:spPr>
          <a:xfrm>
            <a:off x="485999" y="1747209"/>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548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7325999" y="1747209"/>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820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485999" y="1957219"/>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548000" y="180601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921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9576000" y="1530000"/>
            <a:ext cx="2160000" cy="670023"/>
          </a:xfrm>
          <a:prstGeom prst="rect">
            <a:avLst/>
          </a:prstGeom>
          <a:noFill/>
        </p:spPr>
        <p:txBody>
          <a:bodyPr wrap="square" anchor="t" lIns="54000" rIns="54000"/>
          <a:lstStyle/>
          <a:p>
            <a:pPr algn="l"/>
            <a:r>
              <a:rPr sz="1200" b="0">
                <a:solidFill>
                  <a:srgbClr val="060606"/>
                </a:solidFill>
                <a:latin typeface="Helvetica"/>
              </a:rPr>
              <a:t>Ces prêts ont un mécano de 2 ou 3 chiffres, ce qui révèle une saisie anormale.</a:t>
            </a:r>
          </a:p>
        </p:txBody>
      </p:sp>
      <p:sp>
        <p:nvSpPr>
          <p:cNvPr id="41" name="Oval 40"/>
          <p:cNvSpPr/>
          <p:nvPr/>
        </p:nvSpPr>
        <p:spPr>
          <a:xfrm>
            <a:off x="9216000"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9576000" y="2290023"/>
            <a:ext cx="2160000" cy="670023"/>
          </a:xfrm>
          <a:prstGeom prst="rect">
            <a:avLst/>
          </a:prstGeom>
          <a:noFill/>
        </p:spPr>
        <p:txBody>
          <a:bodyPr wrap="square" anchor="t" lIns="54000" rIns="54000"/>
          <a:lstStyle/>
          <a:p>
            <a:pPr algn="l"/>
            <a:r>
              <a:rPr sz="1200" b="0">
                <a:solidFill>
                  <a:srgbClr val="060606"/>
                </a:solidFill>
                <a:latin typeface="Helvetica"/>
              </a:rPr>
              <a:t>Le plus ancien de ces prêts a plus de trois ans de retard.</a:t>
            </a:r>
          </a:p>
        </p:txBody>
      </p:sp>
      <p:sp>
        <p:nvSpPr>
          <p:cNvPr id="43" name="Oval 42"/>
          <p:cNvSpPr/>
          <p:nvPr/>
        </p:nvSpPr>
        <p:spPr>
          <a:xfrm>
            <a:off x="9216000" y="3068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9576000" y="3050047"/>
            <a:ext cx="2160000" cy="670023"/>
          </a:xfrm>
          <a:prstGeom prst="rect">
            <a:avLst/>
          </a:prstGeom>
          <a:noFill/>
        </p:spPr>
        <p:txBody>
          <a:bodyPr wrap="square" anchor="t" lIns="54000" rIns="54000"/>
          <a:lstStyle/>
          <a:p>
            <a:pPr algn="l"/>
            <a:r>
              <a:rPr sz="1200" b="0">
                <a:solidFill>
                  <a:srgbClr val="060606"/>
                </a:solidFill>
                <a:latin typeface="Helvetica"/>
              </a:rPr>
              <a:t>Ces prêts ont encore un encours inscrit, qui doit être provisionné.</a:t>
            </a:r>
          </a:p>
        </p:txBody>
      </p:sp>
      <p:sp>
        <p:nvSpPr>
          <p:cNvPr id="45" name="TextBox 44"/>
          <p:cNvSpPr txBox="1"/>
          <p:nvPr/>
        </p:nvSpPr>
        <p:spPr>
          <a:xfrm>
            <a:off x="9216000" y="3900071"/>
            <a:ext cx="2520000" cy="1967928"/>
          </a:xfrm>
          <a:prstGeom prst="rect">
            <a:avLst/>
          </a:prstGeom>
          <a:noFill/>
        </p:spPr>
        <p:txBody>
          <a:bodyPr wrap="square" lIns="54000" rIns="54000"/>
          <a:lstStyle/>
          <a:p>
            <a:pPr algn="just">
              <a:spcAft>
                <a:spcPts val="600"/>
              </a:spcAft>
            </a:pPr>
            <a:r>
              <a:rPr sz="1100" b="1">
                <a:solidFill>
                  <a:srgbClr val="060606"/>
                </a:solidFill>
                <a:latin typeface="Helvetica"/>
              </a:rPr>
              <a:t>Les prêts les plus anciens ne peuvent plus être précomptés, car leur mécano est faux.</a:t>
            </a:r>
            <a:r>
              <a:rPr sz="1100" b="0">
                <a:solidFill>
                  <a:srgbClr val="060606"/>
                </a:solidFill>
                <a:latin typeface="Helvetica"/>
              </a:rPr>
              <a:t> Sans mécano valide, la Solde ne peut pas retenir l'échéance sur le salaire.</a:t>
            </a:r>
          </a:p>
          <a:p>
            <a:pPr algn="just">
              <a:spcAft>
                <a:spcPts val="600"/>
              </a:spcAft>
            </a:pPr>
            <a:r>
              <a:rPr sz="1100" b="1">
                <a:solidFill>
                  <a:srgbClr val="060606"/>
                </a:solidFill>
                <a:latin typeface="Helvetica"/>
              </a:rPr>
              <a:t>Implication pour le FPPN.</a:t>
            </a:r>
            <a:r>
              <a:rPr sz="1100" b="0">
                <a:solidFill>
                  <a:srgbClr val="060606"/>
                </a:solidFill>
                <a:latin typeface="Helvetica"/>
              </a:rPr>
              <a:t> Le Grenier doit corriger ces identifiants et décider, pour chaque prêt, d'une provision ou d'un passage en perte.</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506716709"/>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Échéances et précomptes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précomptes ne couvrent que 76 à 85 % des échéances des prêts en cours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De janvier à août 2026, l'écart mensuel va de 25 226 684 FCFA à 44 655 924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24 : Échéances des prêts en cours et précomptes 9X4, 2026</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 Fichiers de précomptes de la Solde, de la CGRAE et du FPPN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part précomptée va de 75,74 % à 85,38 % selon le mois.</a:t>
            </a:r>
          </a:p>
          <a:p>
            <a:pPr algn="just">
              <a:spcAft>
                <a:spcPts val="600"/>
              </a:spcAft>
            </a:pPr>
            <a:r>
              <a:rPr sz="1400" b="1">
                <a:solidFill>
                  <a:srgbClr val="060606"/>
                </a:solidFill>
                <a:latin typeface="Helvetica"/>
              </a:rPr>
              <a:t>L'export du logiciel perd la lettre-clé du mécano</a:t>
            </a:r>
            <a:r>
              <a:rPr sz="1400" b="0">
                <a:solidFill>
                  <a:srgbClr val="060606"/>
                </a:solidFill>
                <a:latin typeface="Helvetica"/>
              </a:rPr>
              <a:t> (321100C devient 321100), ce qui complique le rapprochement prêt par prêt.</a:t>
            </a:r>
          </a:p>
          <a:p>
            <a:pPr algn="just">
              <a:spcAft>
                <a:spcPts val="600"/>
              </a:spcAft>
            </a:pPr>
            <a:r>
              <a:rPr sz="1400" b="1">
                <a:solidFill>
                  <a:srgbClr val="060606"/>
                </a:solidFill>
                <a:latin typeface="Helvetica"/>
              </a:rPr>
              <a:t>Un rapprochement avec les encaissements bancaires du Grenier est nécessaire</a:t>
            </a:r>
            <a:r>
              <a:rPr sz="1400" b="0">
                <a:solidFill>
                  <a:srgbClr val="060606"/>
                </a:solidFill>
                <a:latin typeface="Helvetica"/>
              </a:rPr>
              <a:t> pour savoir si l'écart est payé autrement.</a:t>
            </a:r>
          </a:p>
          <a:p>
            <a:pPr algn="just">
              <a:spcAft>
                <a:spcPts val="600"/>
              </a:spcAft>
            </a:pPr>
            <a:r>
              <a:rPr sz="1400" b="1">
                <a:solidFill>
                  <a:srgbClr val="060606"/>
                </a:solidFill>
                <a:latin typeface="Helvetica"/>
              </a:rPr>
              <a:t>Implication pour le FPPN.</a:t>
            </a:r>
            <a:r>
              <a:rPr sz="1400" b="0">
                <a:solidFill>
                  <a:srgbClr val="060606"/>
                </a:solidFill>
                <a:latin typeface="Helvetica"/>
              </a:rPr>
              <a:t> Si l'écart n'est pas encaissé par un autre canal, il alimente chaque mois de nouveaux retards : c'est la question à poser en priorité au service du Grenier.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9X4 : poste Grenier</a:t>
            </a:r>
          </a:p>
        </p:txBody>
      </p:sp>
    </p:spTree>
    <p:extLst>
      <p:ext uri="{BB962C8B-B14F-4D97-AF65-F5344CB8AC3E}">
        <p14:creationId xmlns:p14="http://schemas.microsoft.com/office/powerpoint/2010/main" val="304702365"/>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pertes sur prêts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Même une perte totale sur les prêts très en retard reste limitée en montant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180 jours : 14 826 812 FCFA. De plus de 90 jours : 17 845 260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a:t>
            </a:r>
          </a:p>
        </p:txBody>
      </p:sp>
      <p:sp>
        <p:nvSpPr>
          <p:cNvPr id="31" name="TextBox 30"/>
          <p:cNvSpPr txBox="1"/>
          <p:nvPr/>
        </p:nvSpPr>
        <p:spPr>
          <a:xfrm>
            <a:off x="503999" y="1386000"/>
            <a:ext cx="6983999" cy="216000"/>
          </a:xfrm>
          <a:prstGeom prst="rect">
            <a:avLst/>
          </a:prstGeom>
          <a:noFill/>
        </p:spPr>
        <p:txBody>
          <a:bodyPr wrap="square" anchor="t" lIns="54000" rIns="54000"/>
          <a:lstStyle/>
          <a:p>
            <a:pPr algn="ctr"/>
            <a:r>
              <a:rPr sz="1200" b="0">
                <a:solidFill>
                  <a:srgbClr val="EFAC62"/>
                </a:solidFill>
                <a:latin typeface="Helvetica"/>
              </a:rPr>
              <a:t>Tableau 13 : Provision selon le taux de perte</a:t>
            </a:r>
          </a:p>
        </p:txBody>
      </p:sp>
      <p:graphicFrame>
        <p:nvGraphicFramePr>
          <p:cNvPr id="32" name="Table 31"/>
          <p:cNvGraphicFramePr>
            <a:graphicFrameLocks noGrp="1"/>
          </p:cNvGraphicFramePr>
          <p:nvPr/>
        </p:nvGraphicFramePr>
        <p:xfrm>
          <a:off x="503999" y="1655999"/>
          <a:ext cx="6984000" cy="901000"/>
        </p:xfrm>
        <a:graphic>
          <a:graphicData uri="http://schemas.openxmlformats.org/drawingml/2006/table">
            <a:tbl>
              <a:tblPr firstRow="0" bandRow="0">
                <a:tableStyleId>{5940675A-B579-460E-94D1-54222C63F5DA}</a:tableStyleId>
              </a:tblPr>
              <a:tblGrid>
                <a:gridCol w="1800000"/>
                <a:gridCol w="2592000"/>
                <a:gridCol w="2592000"/>
              </a:tblGrid>
              <a:tr h="225250">
                <a:tc>
                  <a:txBody>
                    <a:bodyPr/>
                    <a:lstStyle/>
                    <a:p>
                      <a:pPr marL="0" indent="0" lvl="0">
                        <a:buNone/>
                      </a:pPr>
                      <a:r>
                        <a:rPr sz="1100" b="1">
                          <a:solidFill>
                            <a:srgbClr val="FFFFFF"/>
                          </a:solidFill>
                          <a:latin typeface="Helvetica"/>
                        </a:rPr>
                        <a:t>Taux de perte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Sur l'encours &gt; 180 jours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Sur l'encours &gt; 90 jours</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25,00 %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3 706 703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4 461 315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50,00 %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7 413 406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8 922 630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100,00 %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14 826 812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17 845 260 FCFA</a:t>
                      </a:r>
                    </a:p>
                  </a:txBody>
                  <a:tcPr marL="43200" marR="43200" marT="14400" marB="14400" anchor="ctr">
                    <a:solidFill>
                      <a:srgbClr val="FFFFFF"/>
                    </a:solidFill>
                  </a:tcPr>
                </a:tc>
              </a:tr>
            </a:tbl>
          </a:graphicData>
        </a:graphic>
      </p:graphicFrame>
      <p:sp>
        <p:nvSpPr>
          <p:cNvPr id="33" name="TextBox 32"/>
          <p:cNvSpPr txBox="1"/>
          <p:nvPr/>
        </p:nvSpPr>
        <p:spPr>
          <a:xfrm>
            <a:off x="7703999" y="1386000"/>
            <a:ext cx="4032000" cy="4482000"/>
          </a:xfrm>
          <a:prstGeom prst="rect">
            <a:avLst/>
          </a:prstGeom>
          <a:noFill/>
        </p:spPr>
        <p:txBody>
          <a:bodyPr wrap="square" lIns="54000" rIns="54000"/>
          <a:lstStyle/>
          <a:p>
            <a:pPr algn="just">
              <a:spcAft>
                <a:spcPts val="600"/>
              </a:spcAft>
            </a:pPr>
            <a:r>
              <a:rPr sz="1400" b="1">
                <a:solidFill>
                  <a:srgbClr val="060606"/>
                </a:solidFill>
                <a:latin typeface="Helvetica"/>
              </a:rPr>
              <a:t>Une perte totale sur les prêts en retard de plus de 90 jours coûterait 17 845 260 FCFA.</a:t>
            </a:r>
            <a:r>
              <a:rPr sz="1400" b="0">
                <a:solidFill>
                  <a:srgbClr val="060606"/>
                </a:solidFill>
                <a:latin typeface="Helvetica"/>
              </a:rPr>
              <a:t> Ce montant reste faible au regard de l'encours.</a:t>
            </a:r>
          </a:p>
          <a:p>
            <a:pPr algn="just">
              <a:spcAft>
                <a:spcPts val="600"/>
              </a:spcAft>
            </a:pPr>
            <a:r>
              <a:rPr sz="1400" b="1">
                <a:solidFill>
                  <a:srgbClr val="060606"/>
                </a:solidFill>
                <a:latin typeface="Helvetica"/>
              </a:rPr>
              <a:t>Le risque du Grenier n'est donc pas la perte sur prêts.</a:t>
            </a:r>
            <a:r>
              <a:rPr sz="1400" b="0">
                <a:solidFill>
                  <a:srgbClr val="060606"/>
                </a:solidFill>
                <a:latin typeface="Helvetica"/>
              </a:rPr>
              <a:t> Il tient au volume de ressources du FPPN immobilisées dans les prêts.</a:t>
            </a:r>
          </a:p>
          <a:p>
            <a:pPr algn="just">
              <a:spcAft>
                <a:spcPts val="600"/>
              </a:spcAft>
            </a:pPr>
            <a:r>
              <a:rPr sz="1400" b="1">
                <a:solidFill>
                  <a:srgbClr val="060606"/>
                </a:solidFill>
                <a:latin typeface="Helvetica"/>
              </a:rPr>
              <a:t>Implication pour le FPPN.</a:t>
            </a:r>
            <a:r>
              <a:rPr sz="1400" b="0">
                <a:solidFill>
                  <a:srgbClr val="060606"/>
                </a:solidFill>
                <a:latin typeface="Helvetica"/>
              </a:rPr>
              <a:t> Une politique de provisionnement écrite (taux par tranche de retard) suffirait à couvrir ce risque, mais elle ne règle pas la question de la liquidité de l'épargne.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048913846"/>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Grenier a multiplié ses prêts en s'appuyant presque entièrement sur les ressources du FPPN.</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L'encours atteint 1 044 302 107 FCFA au 31/08/2026. Les précomptes couvrent 76 à 85 % des échéances, et 126 prêts ont plus de 180 jours de retard.</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principal risque n'est pas la perte sur prêts, limitée, mais l'immobilisation de l'épargne des mutualistes dans les prêts.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une politique de crédit lisible, les encaissements hors Solde et la décision qui encadre le financement du Grenier.</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Grenier</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Grenier croît très vite grâce au financement du FPPN</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multiplié par 132, financé à 87,67 %, retards maîtrisés mais précomptes incomplets</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862725757"/>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8</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Retraités et annexes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CGRAE, flotte automobile, MEDOC, projets immobiliers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394899893"/>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Retraités CGRAE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retraités cotisants sont passés de 16 à 610 en deux ans et demi</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Précompte moyen de 11 940 FCFA par mois sur la pension. Données depuis février 2024</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25 : Retraités précomptés par la CGRAE, par mois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retraités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610 retraités sont précomptés en août 2026.</a:t>
            </a:r>
            <a:r>
              <a:rPr sz="1400" b="0">
                <a:solidFill>
                  <a:srgbClr val="060606"/>
                </a:solidFill>
                <a:latin typeface="Helvetica"/>
              </a:rPr>
              <a:t> Leur nombre augmente chaque mois depuis février 2024.</a:t>
            </a:r>
          </a:p>
          <a:p>
            <a:pPr algn="just">
              <a:spcAft>
                <a:spcPts val="600"/>
              </a:spcAft>
            </a:pPr>
            <a:r>
              <a:rPr sz="1400" b="1">
                <a:solidFill>
                  <a:srgbClr val="060606"/>
                </a:solidFill>
                <a:latin typeface="Helvetica"/>
              </a:rPr>
              <a:t>Plusieurs anomalies de gestion apparaissent dans les fichiers</a:t>
            </a:r>
            <a:r>
              <a:rPr sz="1400" b="0">
                <a:solidFill>
                  <a:srgbClr val="060606"/>
                </a:solidFill>
                <a:latin typeface="Helvetica"/>
              </a:rPr>
              <a:t> : précomptes en double ou indus remboursés, numéros de décision erronés, précomptes non effectués.</a:t>
            </a:r>
          </a:p>
          <a:p>
            <a:pPr algn="just">
              <a:spcAft>
                <a:spcPts val="600"/>
              </a:spcAft>
            </a:pPr>
            <a:r>
              <a:rPr sz="1400" b="1">
                <a:solidFill>
                  <a:srgbClr val="060606"/>
                </a:solidFill>
                <a:latin typeface="Helvetica"/>
              </a:rPr>
              <a:t>La CGRAE précompte 100,19 % des montants demandés</a:t>
            </a:r>
            <a:r>
              <a:rPr sz="1400" b="0">
                <a:solidFill>
                  <a:srgbClr val="060606"/>
                </a:solidFill>
                <a:latin typeface="Helvetica"/>
              </a:rPr>
              <a:t> sur 30 mois communs.</a:t>
            </a:r>
          </a:p>
          <a:p>
            <a:pPr algn="just">
              <a:spcAft>
                <a:spcPts val="600"/>
              </a:spcAft>
            </a:pPr>
            <a:r>
              <a:rPr sz="1400" b="1">
                <a:solidFill>
                  <a:srgbClr val="060606"/>
                </a:solidFill>
                <a:latin typeface="Helvetica"/>
              </a:rPr>
              <a:t>Implication pour le FPPN.</a:t>
            </a:r>
            <a:r>
              <a:rPr sz="1400" b="0">
                <a:solidFill>
                  <a:srgbClr val="060606"/>
                </a:solidFill>
                <a:latin typeface="Helvetica"/>
              </a:rPr>
              <a:t> Si la garantie santé est maintenue à vie aux retraités pour une cotisation inférieure à son coût, elle devient un engagement viager : sa valeur se calculera avec la table CIMA F (partie 11) dès que les âges et les coûts de soins seront transmis.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CGRAE : Caisse générale de retraite des agents de l'État</a:t>
            </a:r>
          </a:p>
        </p:txBody>
      </p:sp>
    </p:spTree>
    <p:extLst>
      <p:ext uri="{BB962C8B-B14F-4D97-AF65-F5344CB8AC3E}">
        <p14:creationId xmlns:p14="http://schemas.microsoft.com/office/powerpoint/2010/main" val="1290355833"/>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Produits annexes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produits sont précomptés sans documentation transmise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Flotte automobile (9W3) et MEDOC (8Z7) : nature, garanties et comptabilisation à préciser. Projets immobiliers suivis en compte d'attente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Balances des comptes du FPPN (Sage 100), exercices 2020 à 2025 et du 01/01 au 31/08/2026 (provisoire).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14 : Produits annexes et points à clarifier</a:t>
            </a:r>
          </a:p>
        </p:txBody>
      </p:sp>
      <p:graphicFrame>
        <p:nvGraphicFramePr>
          <p:cNvPr id="32" name="Table 31"/>
          <p:cNvGraphicFramePr>
            <a:graphicFrameLocks noGrp="1"/>
          </p:cNvGraphicFramePr>
          <p:nvPr/>
        </p:nvGraphicFramePr>
        <p:xfrm>
          <a:off x="503999" y="1655999"/>
          <a:ext cx="11232000" cy="2132154"/>
        </p:xfrm>
        <a:graphic>
          <a:graphicData uri="http://schemas.openxmlformats.org/drawingml/2006/table">
            <a:tbl>
              <a:tblPr firstRow="0" bandRow="0">
                <a:tableStyleId>{5940675A-B579-460E-94D1-54222C63F5DA}</a:tableStyleId>
              </a:tblPr>
              <a:tblGrid>
                <a:gridCol w="1728000"/>
                <a:gridCol w="4752000"/>
                <a:gridCol w="4752000"/>
              </a:tblGrid>
              <a:tr h="225250">
                <a:tc>
                  <a:txBody>
                    <a:bodyPr/>
                    <a:lstStyle/>
                    <a:p>
                      <a:pPr marL="0" indent="0" lvl="0">
                        <a:buNone/>
                      </a:pPr>
                      <a:r>
                        <a:rPr sz="11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Ce que montrent les données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À obtenir du FPPN</a:t>
                      </a:r>
                    </a:p>
                  </a:txBody>
                  <a:tcPr marL="43200" marR="43200" marT="14400" marB="14400" anchor="ctr">
                    <a:solidFill>
                      <a:srgbClr val="060606"/>
                    </a:solidFill>
                  </a:tcPr>
                </a:tc>
              </a:tr>
              <a:tr h="560551">
                <a:tc>
                  <a:txBody>
                    <a:bodyPr/>
                    <a:lstStyle/>
                    <a:p>
                      <a:pPr marL="0" indent="0" lvl="0">
                        <a:buNone/>
                      </a:pPr>
                      <a:r>
                        <a:rPr sz="1100" b="1">
                          <a:solidFill>
                            <a:srgbClr val="060606"/>
                          </a:solidFill>
                          <a:latin typeface="Helvetica"/>
                        </a:rPr>
                        <a:t>Flotte automobile (9W3)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La Solde précompte environ 10 000 FCFA par mois et par adhérent de 2023 à 2026. Le compte 47111106 « GNA ASSURANCE » suit l'assureur.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La convention avec GNA, les primes reversées, les sinistres et les soldes par adhérent : selon le responsable des cotisations, GNA met mal à jour les soldes (entretien du 19/10/2026).</a:t>
                      </a:r>
                    </a:p>
                  </a:txBody>
                  <a:tcPr marL="43200" marR="43200" marT="14400" marB="14400" anchor="ctr">
                    <a:solidFill>
                      <a:srgbClr val="FFFFFF"/>
                    </a:solidFill>
                  </a:tcPr>
                </a:tc>
              </a:tr>
              <a:tr h="560551">
                <a:tc>
                  <a:txBody>
                    <a:bodyPr/>
                    <a:lstStyle/>
                    <a:p>
                      <a:pPr marL="0" indent="0" lvl="0">
                        <a:buNone/>
                      </a:pPr>
                      <a:r>
                        <a:rPr sz="1100" b="1">
                          <a:solidFill>
                            <a:srgbClr val="060606"/>
                          </a:solidFill>
                          <a:latin typeface="Helvetica"/>
                        </a:rPr>
                        <a:t>MEDOC (8Z7)</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 FPPN précompte 5 000 FCFA par mois depuis novembre 2025. Les retours de février et avril 2026 sont vides.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La période de fonctionnement et la décision de suspension : produit décrit comme un complément pharmacie, en pause depuis environ deux mois (entretien du 19/10/2026).</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Projets immobiliers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comptes 47111200 et 47111201 portent des projets immobiliers. Aucun compte n'est intitulé SCI.</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 statut juridique des projets et le lien éventuel avec la SCI « La Prévoyance ».</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Identifiants « 183FPPN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fichiers aller PEP et Grenier de 2025 et 2026 contiennent 34 identifiants sans mécano.</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L'identité et le mécano de ces personnes.</a:t>
                      </a:r>
                    </a:p>
                  </a:txBody>
                  <a:tcPr marL="43200" marR="43200" marT="14400" marB="14400" anchor="ctr">
                    <a:solidFill>
                      <a:srgbClr val="F2F2F2"/>
                    </a:solidFill>
                  </a:tcPr>
                </a:tc>
              </a:tr>
            </a:tbl>
          </a:graphicData>
        </a:graphic>
      </p:graphicFrame>
      <p:sp>
        <p:nvSpPr>
          <p:cNvPr id="33" name="TextBox 32"/>
          <p:cNvSpPr txBox="1"/>
          <p:nvPr/>
        </p:nvSpPr>
        <p:spPr>
          <a:xfrm>
            <a:off x="503999" y="3896156"/>
            <a:ext cx="11232000" cy="1971843"/>
          </a:xfrm>
          <a:prstGeom prst="rect">
            <a:avLst/>
          </a:prstGeom>
          <a:noFill/>
        </p:spPr>
        <p:txBody>
          <a:bodyPr wrap="square" lIns="54000" rIns="54000"/>
          <a:lstStyle/>
          <a:p>
            <a:pPr algn="just">
              <a:spcAft>
                <a:spcPts val="600"/>
              </a:spcAft>
            </a:pPr>
            <a:r>
              <a:rPr sz="1300" b="1">
                <a:solidFill>
                  <a:srgbClr val="060606"/>
                </a:solidFill>
                <a:latin typeface="Helvetica"/>
              </a:rPr>
              <a:t>Ces activités engagent le FPPN sans que leurs règles soient documentées.</a:t>
            </a:r>
            <a:r>
              <a:rPr sz="1300" b="0">
                <a:solidFill>
                  <a:srgbClr val="060606"/>
                </a:solidFill>
                <a:latin typeface="Helvetica"/>
              </a:rPr>
              <a:t> Le FPPN encaisse des précomptes pour le compte de tiers ou pour des produits dont la nature n'est pas écrite.</a:t>
            </a:r>
          </a:p>
          <a:p>
            <a:pPr algn="just">
              <a:spcAft>
                <a:spcPts val="600"/>
              </a:spcAft>
            </a:pPr>
            <a:r>
              <a:rPr sz="1300" b="1">
                <a:solidFill>
                  <a:srgbClr val="060606"/>
                </a:solidFill>
                <a:latin typeface="Helvetica"/>
              </a:rPr>
              <a:t>Implication pour le FPPN.</a:t>
            </a:r>
            <a:r>
              <a:rPr sz="1300" b="0">
                <a:solidFill>
                  <a:srgbClr val="060606"/>
                </a:solidFill>
                <a:latin typeface="Helvetica"/>
              </a:rPr>
              <a:t> Si le FPPN porte lui-même le risque de la flotte automobile, il exerce une activité d'assurance de dommages qui sort du champ des mutuelles sociales : la convention doit le préciser.</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GNA : assureur de la flotte automobile (compte 47111106) | MEDOC : produit santé complémentaire du poste 8Z7 | SCI : société civile immobilière | 9W3 : poste flotte automobile | 8Z7 : poste MEDOC</a:t>
            </a:r>
          </a:p>
        </p:txBody>
      </p:sp>
    </p:spTree>
    <p:extLst>
      <p:ext uri="{BB962C8B-B14F-4D97-AF65-F5344CB8AC3E}">
        <p14:creationId xmlns:p14="http://schemas.microsoft.com/office/powerpoint/2010/main" val="2546091159"/>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9</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Bilan et placements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Provisions, adossement par échéance, fonds propres, rendement</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610872642"/>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Provisions techniques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lit les comptes 19011000 et 19012000 jusqu'en 2023, puis 15801000 et 15802000 à partir de 2024 (prestations à payer).</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Fonds propres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fonds propres additionnent les comptes 10, 11 et 12 et le résultat de l'exercice, à chaque clôture.</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Adossement par échéance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classe l'actif selon son délai de mobilisation et le passif selon son échéance, puis compare les deux, tranche par tranche.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bilan n'a pas été transmis, et le 31/08/2026 est provisoire : il ne comprend ni amortissements ni écritures de fin d'année.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lecture du bilan</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bilan est reconstitué compte par compte à partir des balances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épargne, actifs et fonds propres sont calculés à chaque clôture, de 2020 au 31/08/2026</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Tree>
    <p:extLst>
      <p:ext uri="{BB962C8B-B14F-4D97-AF65-F5344CB8AC3E}">
        <p14:creationId xmlns:p14="http://schemas.microsoft.com/office/powerpoint/2010/main" val="3908937376"/>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provisions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deux comptes de provisions portent exactement le même montant sept ans de suite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Maladie 2 867 602 878 FCFA et obsèques 1 961 695 412 FCFA à chaque clôture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1" name="TextBox 30"/>
          <p:cNvSpPr txBox="1"/>
          <p:nvPr/>
        </p:nvSpPr>
        <p:spPr>
          <a:xfrm>
            <a:off x="503999" y="1350000"/>
            <a:ext cx="9072000" cy="180000"/>
          </a:xfrm>
          <a:prstGeom prst="rect">
            <a:avLst/>
          </a:prstGeom>
          <a:noFill/>
        </p:spPr>
        <p:txBody>
          <a:bodyPr wrap="square" anchor="t" lIns="54000" rIns="54000"/>
          <a:lstStyle/>
          <a:p>
            <a:pPr algn="l"/>
            <a:r>
              <a:rPr sz="900" b="0">
                <a:solidFill>
                  <a:srgbClr val="53565A"/>
                </a:solidFill>
                <a:latin typeface="Helvetica"/>
              </a:rPr>
              <a:t>Extrait : AUDIT ADENKA\DAFC\2020 à 2026 (balances des comptes)</a:t>
            </a:r>
          </a:p>
        </p:txBody>
      </p:sp>
      <p:graphicFrame>
        <p:nvGraphicFramePr>
          <p:cNvPr id="32" name="Table 31"/>
          <p:cNvGraphicFramePr>
            <a:graphicFrameLocks noGrp="1"/>
          </p:cNvGraphicFramePr>
          <p:nvPr/>
        </p:nvGraphicFramePr>
        <p:xfrm>
          <a:off x="503999" y="1548000"/>
          <a:ext cx="9072000" cy="1680072"/>
        </p:xfrm>
        <a:graphic>
          <a:graphicData uri="http://schemas.openxmlformats.org/drawingml/2006/table">
            <a:tbl>
              <a:tblPr firstRow="0" bandRow="0">
                <a:tableStyleId>{5940675A-B579-460E-94D1-54222C63F5DA}</a:tableStyleId>
              </a:tblPr>
              <a:tblGrid>
                <a:gridCol w="1296000"/>
                <a:gridCol w="1440000"/>
                <a:gridCol w="2448000"/>
                <a:gridCol w="1440000"/>
                <a:gridCol w="2448000"/>
              </a:tblGrid>
              <a:tr h="210009">
                <a:tc>
                  <a:txBody>
                    <a:bodyPr/>
                    <a:lstStyle/>
                    <a:p>
                      <a:pPr marL="0" indent="0" lvl="0">
                        <a:buNone/>
                      </a:pPr>
                      <a:r>
                        <a:rPr sz="1000" b="1">
                          <a:solidFill>
                            <a:srgbClr val="FFFFFF"/>
                          </a:solidFill>
                          <a:latin typeface="Helvetica"/>
                        </a:rPr>
                        <a:t>Clôture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 maladie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Provision maladie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 obsèques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Provision obsèques</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15801000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15802000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31/08/2026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bl>
          </a:graphicData>
        </a:graphic>
      </p:graphicFrame>
      <p:sp>
        <p:nvSpPr>
          <p:cNvPr id="33" name="Rounded Rectangle 32"/>
          <p:cNvSpPr/>
          <p:nvPr/>
        </p:nvSpPr>
        <p:spPr>
          <a:xfrm>
            <a:off x="3221999" y="1747209"/>
            <a:ext cx="2484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508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3221999" y="3007267"/>
            <a:ext cx="2484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508000" y="285606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1782000" y="2587247"/>
            <a:ext cx="147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060000" y="2436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503999" y="3354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864000" y="3336076"/>
            <a:ext cx="8712000" cy="298144"/>
          </a:xfrm>
          <a:prstGeom prst="rect">
            <a:avLst/>
          </a:prstGeom>
          <a:noFill/>
        </p:spPr>
        <p:txBody>
          <a:bodyPr wrap="square" anchor="t" lIns="54000" rIns="54000"/>
          <a:lstStyle/>
          <a:p>
            <a:pPr algn="l"/>
            <a:r>
              <a:rPr sz="1200" b="0">
                <a:solidFill>
                  <a:srgbClr val="060606"/>
                </a:solidFill>
                <a:latin typeface="Helvetica"/>
              </a:rPr>
              <a:t>La provision maladie vaut le même montant en 2020…</a:t>
            </a:r>
          </a:p>
        </p:txBody>
      </p:sp>
      <p:sp>
        <p:nvSpPr>
          <p:cNvPr id="41" name="Oval 40"/>
          <p:cNvSpPr/>
          <p:nvPr/>
        </p:nvSpPr>
        <p:spPr>
          <a:xfrm>
            <a:off x="503999" y="3742221"/>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864000" y="3724221"/>
            <a:ext cx="8712000" cy="298144"/>
          </a:xfrm>
          <a:prstGeom prst="rect">
            <a:avLst/>
          </a:prstGeom>
          <a:noFill/>
        </p:spPr>
        <p:txBody>
          <a:bodyPr wrap="square" anchor="t" lIns="54000" rIns="54000"/>
          <a:lstStyle/>
          <a:p>
            <a:pPr algn="l"/>
            <a:r>
              <a:rPr sz="1200" b="0">
                <a:solidFill>
                  <a:srgbClr val="060606"/>
                </a:solidFill>
                <a:latin typeface="Helvetica"/>
              </a:rPr>
              <a:t>… et au 31/08/2026, au franc près.</a:t>
            </a:r>
          </a:p>
        </p:txBody>
      </p:sp>
      <p:sp>
        <p:nvSpPr>
          <p:cNvPr id="43" name="Oval 42"/>
          <p:cNvSpPr/>
          <p:nvPr/>
        </p:nvSpPr>
        <p:spPr>
          <a:xfrm>
            <a:off x="503999" y="4130365"/>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864000" y="4112365"/>
            <a:ext cx="8712000" cy="298144"/>
          </a:xfrm>
          <a:prstGeom prst="rect">
            <a:avLst/>
          </a:prstGeom>
          <a:noFill/>
        </p:spPr>
        <p:txBody>
          <a:bodyPr wrap="square" anchor="t" lIns="54000" rIns="54000"/>
          <a:lstStyle/>
          <a:p>
            <a:pPr algn="l"/>
            <a:r>
              <a:rPr sz="1200" b="0">
                <a:solidFill>
                  <a:srgbClr val="060606"/>
                </a:solidFill>
                <a:latin typeface="Helvetica"/>
              </a:rPr>
              <a:t>Seul le numéro de compte change en 2024, du compte 19 vers le compte 158.</a:t>
            </a:r>
          </a:p>
        </p:txBody>
      </p:sp>
      <p:sp>
        <p:nvSpPr>
          <p:cNvPr id="45" name="TextBox 44"/>
          <p:cNvSpPr txBox="1"/>
          <p:nvPr/>
        </p:nvSpPr>
        <p:spPr>
          <a:xfrm>
            <a:off x="503999" y="4554510"/>
            <a:ext cx="11232000" cy="1313489"/>
          </a:xfrm>
          <a:prstGeom prst="rect">
            <a:avLst/>
          </a:prstGeom>
          <a:noFill/>
        </p:spPr>
        <p:txBody>
          <a:bodyPr wrap="square" lIns="54000" rIns="54000"/>
          <a:lstStyle/>
          <a:p>
            <a:pPr algn="just">
              <a:spcAft>
                <a:spcPts val="600"/>
              </a:spcAft>
            </a:pPr>
            <a:r>
              <a:rPr sz="1200" b="1">
                <a:solidFill>
                  <a:srgbClr val="060606"/>
                </a:solidFill>
                <a:latin typeface="Helvetica"/>
              </a:rPr>
              <a:t>La provision n'est pas recalculée.</a:t>
            </a:r>
            <a:r>
              <a:rPr sz="1200" b="0">
                <a:solidFill>
                  <a:srgbClr val="060606"/>
                </a:solidFill>
                <a:latin typeface="Helvetica"/>
              </a:rPr>
              <a:t> Un montant identique au franc près pendant sept ans ne peut pas résulter d'une évaluation des dossiers en cours.</a:t>
            </a:r>
          </a:p>
          <a:p>
            <a:pPr algn="just">
              <a:spcAft>
                <a:spcPts val="600"/>
              </a:spcAft>
            </a:pPr>
            <a:r>
              <a:rPr sz="1200" b="1">
                <a:solidFill>
                  <a:srgbClr val="060606"/>
                </a:solidFill>
                <a:latin typeface="Helvetica"/>
              </a:rPr>
              <a:t>Implication pour le FPPN.</a:t>
            </a:r>
            <a:r>
              <a:rPr sz="1200" b="0">
                <a:solidFill>
                  <a:srgbClr val="060606"/>
                </a:solidFill>
                <a:latin typeface="Helvetica"/>
              </a:rPr>
              <a:t> Le règlement d'exécution n° 004/2022 impose une provision pour prestations à payer calculée exercice par exercice, dossier par dossier, augmentée des sinistres non déclarés (art. 10). Le compte 158 est par ailleurs réservé aux provisions réglementées à caractère fiscal.</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125620057"/>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techniques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provision ne couvre plus que 21 mois de prestations, contre 115 en 2021</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 prestations mensuelles : 115,14 mois en 2021, 29,50 en 2025, 21,48 en 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26 : Mois de prestations couverts par les provisions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mois de prestations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provision vaut 4 829 298 290 FCFA chaque année.</a:t>
            </a:r>
          </a:p>
          <a:p>
            <a:pPr algn="just">
              <a:spcAft>
                <a:spcPts val="600"/>
              </a:spcAft>
            </a:pPr>
            <a:r>
              <a:rPr sz="1400" b="1">
                <a:solidFill>
                  <a:srgbClr val="060606"/>
                </a:solidFill>
                <a:latin typeface="Helvetica"/>
              </a:rPr>
              <a:t>Les prestations mensuelles passent de 41 942 486 FCFA en 2021 à 224 856 973 FCFA en 2026.</a:t>
            </a:r>
            <a:r>
              <a:rPr sz="1400" b="0">
                <a:solidFill>
                  <a:srgbClr val="060606"/>
                </a:solidFill>
                <a:latin typeface="Helvetica"/>
              </a:rPr>
              <a:t> La provision représente donc de moins en moins de mois de prestations.</a:t>
            </a:r>
          </a:p>
          <a:p>
            <a:pPr algn="just">
              <a:spcAft>
                <a:spcPts val="600"/>
              </a:spcAft>
            </a:pPr>
            <a:r>
              <a:rPr sz="1400" b="1">
                <a:solidFill>
                  <a:srgbClr val="060606"/>
                </a:solidFill>
                <a:latin typeface="Helvetica"/>
              </a:rPr>
              <a:t>Le calcul de la provision (PSAP, Chain Ladder) suppose les bases de prestations demandées</a:t>
            </a:r>
            <a:r>
              <a:rPr sz="1400" b="0">
                <a:solidFill>
                  <a:srgbClr val="060606"/>
                </a:solidFill>
                <a:latin typeface="Helvetica"/>
              </a:rPr>
              <a:t> (partie 12).</a:t>
            </a:r>
          </a:p>
          <a:p>
            <a:pPr algn="just">
              <a:spcAft>
                <a:spcPts val="600"/>
              </a:spcAft>
            </a:pPr>
            <a:r>
              <a:rPr sz="1400" b="1">
                <a:solidFill>
                  <a:srgbClr val="060606"/>
                </a:solidFill>
                <a:latin typeface="Helvetica"/>
              </a:rPr>
              <a:t>Implication pour le FPPN.</a:t>
            </a:r>
            <a:r>
              <a:rPr sz="1400" b="0">
                <a:solidFill>
                  <a:srgbClr val="060606"/>
                </a:solidFill>
                <a:latin typeface="Helvetica"/>
              </a:rPr>
              <a:t> Si les délais de paiement s'allongent pendant que les prestations augmentent, la provision deviendra insuffisante : son recalcul est la première tâche dès réception des bases de prestations.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PSAP : provision pour sinistres à payer</a:t>
            </a:r>
          </a:p>
        </p:txBody>
      </p:sp>
    </p:spTree>
    <p:extLst>
      <p:ext uri="{BB962C8B-B14F-4D97-AF65-F5344CB8AC3E}">
        <p14:creationId xmlns:p14="http://schemas.microsoft.com/office/powerpoint/2010/main" val="877578850"/>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Structure de l'actif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L'actif repose sur des créances et des investissements peu liquides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 CMP 7 083 534 565 FCFA, terrains 5 245 896 750 FCFA, trésorerie 3 359 100 618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27 : Principaux postes de l'actif</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montants « CMP » passent de 2 984 680 712 FCFA en 2020 à 7 083 534 565 FCFA au 31/08/2026.</a:t>
            </a:r>
          </a:p>
          <a:p>
            <a:pPr algn="just">
              <a:spcAft>
                <a:spcPts val="600"/>
              </a:spcAft>
            </a:pPr>
            <a:r>
              <a:rPr sz="1400" b="1">
                <a:solidFill>
                  <a:srgbClr val="060606"/>
                </a:solidFill>
                <a:latin typeface="Helvetica"/>
              </a:rPr>
              <a:t>La créance sur l'Hôpital de la Police (3 407 519 850 FCFA) n'a pas bougé depuis 2020.</a:t>
            </a:r>
            <a:r>
              <a:rPr sz="1400" b="0">
                <a:solidFill>
                  <a:srgbClr val="060606"/>
                </a:solidFill>
                <a:latin typeface="Helvetica"/>
              </a:rPr>
              <a:t> Aucun remboursement n'apparaît.</a:t>
            </a:r>
          </a:p>
          <a:p>
            <a:pPr algn="just">
              <a:spcAft>
                <a:spcPts val="600"/>
              </a:spcAft>
            </a:pPr>
            <a:r>
              <a:rPr sz="1400" b="1">
                <a:solidFill>
                  <a:srgbClr val="060606"/>
                </a:solidFill>
                <a:latin typeface="Helvetica"/>
              </a:rPr>
              <a:t>Les dettes envers les cliniques atteignent 690 234 451 FCFA au 31/08/2026.</a:t>
            </a:r>
          </a:p>
          <a:p>
            <a:pPr algn="just">
              <a:spcAft>
                <a:spcPts val="600"/>
              </a:spcAft>
            </a:pPr>
            <a:r>
              <a:rPr sz="1400" b="1">
                <a:solidFill>
                  <a:srgbClr val="060606"/>
                </a:solidFill>
                <a:latin typeface="Helvetica"/>
              </a:rPr>
              <a:t>Implication pour le FPPN.</a:t>
            </a:r>
            <a:r>
              <a:rPr sz="1400" b="0">
                <a:solidFill>
                  <a:srgbClr val="060606"/>
                </a:solidFill>
                <a:latin typeface="Helvetica"/>
              </a:rPr>
              <a:t> Le FPPN finance aussi des charges de fonctionnement « au CMP ». Le règlement d'exécution n° 004/2022 interdit de couvrir les pertes d'activités sanitaires par les cotisations ou les réserves obligatoires (art. 27) : une comptabilité séparée de ces activités doit le démontrer.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sigle des comptes du FPPN, signification à confirmer</a:t>
            </a:r>
          </a:p>
        </p:txBody>
      </p:sp>
    </p:spTree>
    <p:extLst>
      <p:ext uri="{BB962C8B-B14F-4D97-AF65-F5344CB8AC3E}">
        <p14:creationId xmlns:p14="http://schemas.microsoft.com/office/powerpoint/2010/main" val="1786200488"/>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Adossement par échéance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L'actif mobilisable en moins d'un an couvre la moitié du passif à moins d'un an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 actif mobilisable en moins d'un an 3 457 866 951 FCFA, passif à moins d'un an hors épargne 7 017 736 497 FCFA</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28 : Actif par délai de mobilisation et passif par échéance</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Dossier de préparation de la mission, § 3.1</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Plus des trois quarts de l'actif sont à plus de cinq ans ou de délai incertain.</a:t>
            </a:r>
            <a:r>
              <a:rPr sz="1400" b="0">
                <a:solidFill>
                  <a:srgbClr val="060606"/>
                </a:solidFill>
                <a:latin typeface="Helvetica"/>
              </a:rPr>
              <a:t> Cette tranche vaut 17 170 238 905 FCFA sur 21 925 420 866 FCFA au 31/08/2026.</a:t>
            </a:r>
          </a:p>
          <a:p>
            <a:pPr algn="just">
              <a:spcAft>
                <a:spcPts val="600"/>
              </a:spcAft>
            </a:pPr>
            <a:r>
              <a:rPr sz="1400" b="1">
                <a:solidFill>
                  <a:srgbClr val="060606"/>
                </a:solidFill>
                <a:latin typeface="Helvetica"/>
              </a:rPr>
              <a:t>L'actif à moins d'un an ne couvre pas le passif à moins d'un an.</a:t>
            </a:r>
            <a:r>
              <a:rPr sz="1400" b="0">
                <a:solidFill>
                  <a:srgbClr val="060606"/>
                </a:solidFill>
                <a:latin typeface="Helvetica"/>
              </a:rPr>
              <a:t> L'écart vaut 3 559 869 546 FCFA au 31/08/2026, avant même toute sortie d'épargne.</a:t>
            </a:r>
          </a:p>
          <a:p>
            <a:pPr algn="just">
              <a:spcAft>
                <a:spcPts val="600"/>
              </a:spcAft>
            </a:pPr>
            <a:r>
              <a:rPr sz="1400" b="1">
                <a:solidFill>
                  <a:srgbClr val="060606"/>
                </a:solidFill>
                <a:latin typeface="Helvetica"/>
              </a:rPr>
              <a:t>L'épargne (15 743 516 391 FCFA) n'a pas d'échéancier connu.</a:t>
            </a:r>
            <a:r>
              <a:rPr sz="1400" b="0">
                <a:solidFill>
                  <a:srgbClr val="060606"/>
                </a:solidFill>
                <a:latin typeface="Helvetica"/>
              </a:rPr>
              <a:t> Chaque départ à la retraite déclenche pourtant le versement de l'EFC.</a:t>
            </a:r>
          </a:p>
          <a:p>
            <a:pPr algn="just">
              <a:spcAft>
                <a:spcPts val="600"/>
              </a:spcAft>
            </a:pPr>
            <a:r>
              <a:rPr sz="1400" b="1">
                <a:solidFill>
                  <a:srgbClr val="060606"/>
                </a:solidFill>
                <a:latin typeface="Helvetica"/>
              </a:rPr>
              <a:t>Implication pour le FPPN.</a:t>
            </a:r>
            <a:r>
              <a:rPr sz="1400" b="0">
                <a:solidFill>
                  <a:srgbClr val="060606"/>
                </a:solidFill>
                <a:latin typeface="Helvetica"/>
              </a:rPr>
              <a:t> Le passif à moins d'un an comprend les provisions pour prestations à payer, dont le montant n'est pas recalculé. Le FPPN finance des engagements courts avec des actifs longs : c'est le risque de liquidité central, à confirmer avec l'échéancier de l'épargne.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EFC : entraide fin de carrière</a:t>
            </a:r>
          </a:p>
        </p:txBody>
      </p:sp>
    </p:spTree>
    <p:extLst>
      <p:ext uri="{BB962C8B-B14F-4D97-AF65-F5344CB8AC3E}">
        <p14:creationId xmlns:p14="http://schemas.microsoft.com/office/powerpoint/2010/main" val="2927865223"/>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fonds propres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pertes reportées dépassent les réserves, d'où des fonds propres négatifs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2025 = -876 142 111 FCFA + résultat 437 899 911 FCFA = -438 242 200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 des comptes 2025</a:t>
            </a:r>
          </a:p>
        </p:txBody>
      </p:sp>
      <p:sp>
        <p:nvSpPr>
          <p:cNvPr id="31" name="TextBox 30"/>
          <p:cNvSpPr txBox="1"/>
          <p:nvPr/>
        </p:nvSpPr>
        <p:spPr>
          <a:xfrm>
            <a:off x="503999" y="1350000"/>
            <a:ext cx="7703999"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7704000" cy="1680072"/>
        </p:xfrm>
        <a:graphic>
          <a:graphicData uri="http://schemas.openxmlformats.org/drawingml/2006/table">
            <a:tbl>
              <a:tblPr firstRow="0" bandRow="0">
                <a:tableStyleId>{5940675A-B579-460E-94D1-54222C63F5DA}</a:tableStyleId>
              </a:tblPr>
              <a:tblGrid>
                <a:gridCol w="1224000"/>
                <a:gridCol w="4104000"/>
                <a:gridCol w="2376000"/>
              </a:tblGrid>
              <a:tr h="210009">
                <a:tc>
                  <a:txBody>
                    <a:bodyPr/>
                    <a:lstStyle/>
                    <a:p>
                      <a:pPr marL="0" indent="0" lvl="0">
                        <a:buNone/>
                      </a:pPr>
                      <a:r>
                        <a:rPr sz="10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Intitulé (balance 2025)</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10620000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Réévaluation matériels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2 899 400 000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11100000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Réserves légale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820 232 819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11880000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RESERVES FACULTATIVES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677 208 998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12900000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Report à nouveau débiteur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-5 272 983 928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Sous-total capitaux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-876 142 111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Résultat de l'exercice 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437 899 911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FFFFF"/>
                    </a:solidFill>
                  </a:tcPr>
                </a:tc>
              </a:tr>
            </a:tbl>
          </a:graphicData>
        </a:graphic>
      </p:graphicFrame>
      <p:sp>
        <p:nvSpPr>
          <p:cNvPr id="33" name="Rounded Rectangle 32"/>
          <p:cNvSpPr/>
          <p:nvPr/>
        </p:nvSpPr>
        <p:spPr>
          <a:xfrm>
            <a:off x="5813999" y="2377238"/>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27999"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813999" y="3007267"/>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027999" y="285606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424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8784000" y="1530000"/>
            <a:ext cx="2952000" cy="484084"/>
          </a:xfrm>
          <a:prstGeom prst="rect">
            <a:avLst/>
          </a:prstGeom>
          <a:noFill/>
        </p:spPr>
        <p:txBody>
          <a:bodyPr wrap="square" anchor="t" lIns="54000" rIns="54000"/>
          <a:lstStyle/>
          <a:p>
            <a:pPr algn="l"/>
            <a:r>
              <a:rPr sz="1200" b="0">
                <a:solidFill>
                  <a:srgbClr val="060606"/>
                </a:solidFill>
                <a:latin typeface="Helvetica"/>
              </a:rPr>
              <a:t>Les pertes reportées (compte 129) dépassent l'ensemble des réserves.</a:t>
            </a:r>
          </a:p>
        </p:txBody>
      </p:sp>
      <p:sp>
        <p:nvSpPr>
          <p:cNvPr id="39" name="Oval 38"/>
          <p:cNvSpPr/>
          <p:nvPr/>
        </p:nvSpPr>
        <p:spPr>
          <a:xfrm>
            <a:off x="8424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8784000" y="2104084"/>
            <a:ext cx="2952000" cy="484084"/>
          </a:xfrm>
          <a:prstGeom prst="rect">
            <a:avLst/>
          </a:prstGeom>
          <a:noFill/>
        </p:spPr>
        <p:txBody>
          <a:bodyPr wrap="square" anchor="t" lIns="54000" rIns="54000"/>
          <a:lstStyle/>
          <a:p>
            <a:pPr algn="l"/>
            <a:r>
              <a:rPr sz="1200" b="0">
                <a:solidFill>
                  <a:srgbClr val="060606"/>
                </a:solidFill>
                <a:latin typeface="Helvetica"/>
              </a:rPr>
              <a:t>Les fonds propres restent négatifs malgré le résultat positif de 2025.</a:t>
            </a:r>
          </a:p>
        </p:txBody>
      </p:sp>
      <p:sp>
        <p:nvSpPr>
          <p:cNvPr id="41" name="Oval 40"/>
          <p:cNvSpPr/>
          <p:nvPr/>
        </p:nvSpPr>
        <p:spPr>
          <a:xfrm>
            <a:off x="8424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8784000" y="2678168"/>
            <a:ext cx="2952000" cy="484084"/>
          </a:xfrm>
          <a:prstGeom prst="rect">
            <a:avLst/>
          </a:prstGeom>
          <a:noFill/>
        </p:spPr>
        <p:txBody>
          <a:bodyPr wrap="square" anchor="t" lIns="54000" rIns="54000"/>
          <a:lstStyle/>
          <a:p>
            <a:pPr algn="l"/>
            <a:r>
              <a:rPr sz="1200" b="0">
                <a:solidFill>
                  <a:srgbClr val="060606"/>
                </a:solidFill>
                <a:latin typeface="Helvetica"/>
              </a:rPr>
              <a:t>Les excédents futurs devront absorber ce solde négatif.</a:t>
            </a:r>
          </a:p>
        </p:txBody>
      </p:sp>
      <p:sp>
        <p:nvSpPr>
          <p:cNvPr id="43" name="TextBox 42"/>
          <p:cNvSpPr txBox="1"/>
          <p:nvPr/>
        </p:nvSpPr>
        <p:spPr>
          <a:xfrm>
            <a:off x="8424000" y="3342252"/>
            <a:ext cx="3312000" cy="2525747"/>
          </a:xfrm>
          <a:prstGeom prst="rect">
            <a:avLst/>
          </a:prstGeom>
          <a:noFill/>
        </p:spPr>
        <p:txBody>
          <a:bodyPr wrap="square" lIns="54000" rIns="54000"/>
          <a:lstStyle/>
          <a:p>
            <a:pPr algn="just">
              <a:spcAft>
                <a:spcPts val="600"/>
              </a:spcAft>
            </a:pPr>
            <a:r>
              <a:rPr sz="1200" b="1">
                <a:solidFill>
                  <a:srgbClr val="060606"/>
                </a:solidFill>
                <a:latin typeface="Helvetica"/>
              </a:rPr>
              <a:t>Les réserves existent, mais les pertes passées les dépassent.</a:t>
            </a:r>
            <a:r>
              <a:rPr sz="1200" b="0">
                <a:solidFill>
                  <a:srgbClr val="060606"/>
                </a:solidFill>
                <a:latin typeface="Helvetica"/>
              </a:rPr>
              <a:t> Le compte 10620000 « Réserve disponible » est le plus important des comptes positifs, et sa nature reste à confirmer (partie 10).</a:t>
            </a:r>
          </a:p>
          <a:p>
            <a:pPr algn="just">
              <a:spcAft>
                <a:spcPts val="600"/>
              </a:spcAft>
            </a:pPr>
            <a:r>
              <a:rPr sz="1200" b="1">
                <a:solidFill>
                  <a:srgbClr val="060606"/>
                </a:solidFill>
                <a:latin typeface="Helvetica"/>
              </a:rPr>
              <a:t>Implication pour le FPPN.</a:t>
            </a:r>
            <a:r>
              <a:rPr sz="1200" b="0">
                <a:solidFill>
                  <a:srgbClr val="060606"/>
                </a:solidFill>
                <a:latin typeface="Helvetica"/>
              </a:rPr>
              <a:t> La marge de solvabilité de la Décision n° 05/2022 se calcule sur ces réserves : selon que les pertes reportées sont déduites ou non, le FPPN est conforme ou non (partie 10).</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738514549"/>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Fonds propres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fonds propres restent négatifs malgré six années d'excédents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-6 743 081 733 FCFA fin 2020, -438 242 200 FCFA fin 2025, -879 498 700 FCFA au 31/08/2026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29 : Fonds propres et résultat de l'exercice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excédents de 2020 à 2025 réduisent l'écart sans le combler.</a:t>
            </a:r>
            <a:r>
              <a:rPr sz="1400" b="0">
                <a:solidFill>
                  <a:srgbClr val="060606"/>
                </a:solidFill>
                <a:latin typeface="Helvetica"/>
              </a:rPr>
              <a:t> Les fonds propres passent de -6 743 081 733 FCFA à -438 242 200 FCFA.</a:t>
            </a:r>
          </a:p>
          <a:p>
            <a:pPr algn="just">
              <a:spcAft>
                <a:spcPts val="600"/>
              </a:spcAft>
            </a:pPr>
            <a:r>
              <a:rPr sz="1400" b="1">
                <a:solidFill>
                  <a:srgbClr val="060606"/>
                </a:solidFill>
                <a:latin typeface="Helvetica"/>
              </a:rPr>
              <a:t>Le déficit des huit premiers mois de 2026 inverse la tendance.</a:t>
            </a:r>
            <a:r>
              <a:rPr sz="1400" b="0">
                <a:solidFill>
                  <a:srgbClr val="060606"/>
                </a:solidFill>
                <a:latin typeface="Helvetica"/>
              </a:rPr>
              <a:t> Les fonds propres reculent à nouveau au 31/08/2026.</a:t>
            </a:r>
          </a:p>
          <a:p>
            <a:pPr algn="just">
              <a:spcAft>
                <a:spcPts val="600"/>
              </a:spcAft>
            </a:pPr>
            <a:r>
              <a:rPr sz="1400" b="1">
                <a:solidFill>
                  <a:srgbClr val="060606"/>
                </a:solidFill>
                <a:latin typeface="Helvetica"/>
              </a:rPr>
              <a:t>Le ratio des fonds propres et assimilés vaut 0,22 en 2025, pour une norme d'au moins 1.</a:t>
            </a:r>
          </a:p>
          <a:p>
            <a:pPr algn="just">
              <a:spcAft>
                <a:spcPts val="600"/>
              </a:spcAft>
            </a:pPr>
            <a:r>
              <a:rPr sz="1400" b="1">
                <a:solidFill>
                  <a:srgbClr val="060606"/>
                </a:solidFill>
                <a:latin typeface="Helvetica"/>
              </a:rPr>
              <a:t>Implication pour le FPPN.</a:t>
            </a:r>
            <a:r>
              <a:rPr sz="1400" b="0">
                <a:solidFill>
                  <a:srgbClr val="060606"/>
                </a:solidFill>
                <a:latin typeface="Helvetica"/>
              </a:rPr>
              <a:t> Au rythme des excédents de 2024 et 2025, il faudrait encore au moins un exercice excédentaire pour revenir à des fonds propres positifs. Le déficit de 2026 éloigne cette échéance : le redressement dépend de la maîtrise de la sinistralité et des frais.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051823306"/>
      </p:ext>
    </p:extLst>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Rendement des placements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problème des placements est leur faible volume, pas leur rendement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Rendement moyen apparent 2021 à 2025 : 6,48 % par an. Taux directeur BCEAO entre 2,00 % et 3,50 %</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30 : Taux directeur de la BCEAO</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date d'effet</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BCEAO, communiqués du Comité de politique monétaire. Balances des comptes du FPPN (Sage 100), exercices 2020 à 2025 et du 01/01 au 31/08/2026 (provisoire).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Les produits financiers de 2021 à 2025 atteignent 173 881 316 FCFA</a:t>
            </a:r>
            <a:r>
              <a:rPr sz="1400" b="0">
                <a:solidFill>
                  <a:srgbClr val="060606"/>
                </a:solidFill>
                <a:latin typeface="Helvetica"/>
              </a:rPr>
              <a:t>, pour un encours moyen de placements d'environ 536 763 072 FCFA.</a:t>
            </a:r>
          </a:p>
          <a:p>
            <a:pPr algn="just">
              <a:spcAft>
                <a:spcPts val="600"/>
              </a:spcAft>
            </a:pPr>
            <a:r>
              <a:rPr sz="1400" b="1">
                <a:solidFill>
                  <a:srgbClr val="060606"/>
                </a:solidFill>
                <a:latin typeface="Helvetica"/>
              </a:rPr>
              <a:t>Le rendement moyen dépasse le taux directeur, mais il est irrégulier.</a:t>
            </a:r>
            <a:r>
              <a:rPr sz="1400" b="0">
                <a:solidFill>
                  <a:srgbClr val="060606"/>
                </a:solidFill>
                <a:latin typeface="Helvetica"/>
              </a:rPr>
              <a:t> L'essentiel des intérêts est comptabilisé en 2025, à la clôture d'un dépôt à terme.</a:t>
            </a:r>
          </a:p>
          <a:p>
            <a:pPr algn="just">
              <a:spcAft>
                <a:spcPts val="600"/>
              </a:spcAft>
            </a:pPr>
            <a:r>
              <a:rPr sz="1400" b="1">
                <a:solidFill>
                  <a:srgbClr val="060606"/>
                </a:solidFill>
                <a:latin typeface="Helvetica"/>
              </a:rPr>
              <a:t>Le vrai sujet est le volume placé</a:t>
            </a:r>
            <a:r>
              <a:rPr sz="1400" b="0">
                <a:solidFill>
                  <a:srgbClr val="060606"/>
                </a:solidFill>
                <a:latin typeface="Helvetica"/>
              </a:rPr>
              <a:t>, face à 15 743 516 391 FCFA d'épargne à restituer. Le solde des comptes courants non rémunérés atteint 2 356 399 123 FCFA au 31/08/2026.</a:t>
            </a:r>
          </a:p>
          <a:p>
            <a:pPr algn="just">
              <a:spcAft>
                <a:spcPts val="600"/>
              </a:spcAft>
            </a:pPr>
            <a:r>
              <a:rPr sz="1400" b="1">
                <a:solidFill>
                  <a:srgbClr val="060606"/>
                </a:solidFill>
                <a:latin typeface="Helvetica"/>
              </a:rPr>
              <a:t>Implication pour le FPPN.</a:t>
            </a:r>
            <a:r>
              <a:rPr sz="1400" b="0">
                <a:solidFill>
                  <a:srgbClr val="060606"/>
                </a:solidFill>
                <a:latin typeface="Helvetica"/>
              </a:rPr>
              <a:t> La Décision n° 05/2022 demande aux mutuelles qui gèrent des risques longs un solde des comptes courants non rémunérés proche de zéro : une partie de cette trésorerie peut être placée à terme sans nuire à la liquidité.</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BCEAO : Banque centrale des États de l'Afrique de l'Ouest</a:t>
            </a:r>
          </a:p>
        </p:txBody>
      </p:sp>
    </p:spTree>
    <p:extLst>
      <p:ext uri="{BB962C8B-B14F-4D97-AF65-F5344CB8AC3E}">
        <p14:creationId xmlns:p14="http://schemas.microsoft.com/office/powerpoint/2010/main" val="510003632"/>
      </p:ext>
    </p:extLst>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porte des engagements courts et une épargne croissante avec des actifs longs, des provisions non recalculées et des fonds propres négatifs.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provisions gardent le même montant de 2020 à 2026, les fonds propres sont négatifs à chaque clôture, et plus des trois quarts de l'actif sont à plus de cinq ans ou de délai incertain.</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ne peut absorber ni un choc de prestations, ni une vague de retraits, sans céder des actifs peu liquides.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adopter une politique de provisionnement, une politique de placement et un encadrement écrit des investissements dans les structures liées.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bilan</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bilan combine provisions figées, fonds propres négatifs et actifs peu liquides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Trois fragilités cumulées limitent la capacité du FPPN à faire face à un choc</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150448517"/>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10</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Conformité prudentielle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Textes UEMOA, ratios, réserves, plan comptable</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440292451"/>
      </p:ext>
    </p:extLst>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Textes applicables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Cinq textes fixent les règles prudentielles que le FPPN doit respecter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articles cités sont lus dans les textes intégraux. Les pages scannées ont été lues par reconnaissance optique de caractères (OCR) et vérifiées à l'image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textes cités, documentation publique de l'AIRMS fournie le 18/10/2026 (validée)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15 : Textes de la mutualité sociale appliqués au FPPN</a:t>
            </a:r>
          </a:p>
        </p:txBody>
      </p:sp>
      <p:graphicFrame>
        <p:nvGraphicFramePr>
          <p:cNvPr id="32" name="Table 31"/>
          <p:cNvGraphicFramePr>
            <a:graphicFrameLocks noGrp="1"/>
          </p:cNvGraphicFramePr>
          <p:nvPr/>
        </p:nvGraphicFramePr>
        <p:xfrm>
          <a:off x="503999" y="1655999"/>
          <a:ext cx="11232000" cy="2189754"/>
        </p:xfrm>
        <a:graphic>
          <a:graphicData uri="http://schemas.openxmlformats.org/drawingml/2006/table">
            <a:tbl>
              <a:tblPr firstRow="0" bandRow="0">
                <a:tableStyleId>{5940675A-B579-460E-94D1-54222C63F5DA}</a:tableStyleId>
              </a:tblPr>
              <a:tblGrid>
                <a:gridCol w="3096000"/>
                <a:gridCol w="5688000"/>
                <a:gridCol w="2448000"/>
              </a:tblGrid>
              <a:tr h="225250">
                <a:tc>
                  <a:txBody>
                    <a:bodyPr/>
                    <a:lstStyle/>
                    <a:p>
                      <a:pPr marL="0" indent="0" lvl="0">
                        <a:buNone/>
                      </a:pPr>
                      <a:r>
                        <a:rPr sz="1100" b="1">
                          <a:solidFill>
                            <a:srgbClr val="FFFFFF"/>
                          </a:solidFill>
                          <a:latin typeface="Helvetica"/>
                        </a:rPr>
                        <a:t>Texte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Ce qu'il impose au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Articles utilisés</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Règlement n° 07/2009/CM/UEMOA du 26/06/2009</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Il impose l'agrément, une comptabilité selon le plan comptable, la répartition des excédents en réserves et le placement des fonds en banque.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Art. 22, 28, 60 à 63, 83, 84</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d'exécution n° 004/2022/COM/UEMOA du 01/06/2022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 impose des provisions suffisantes, une réserve légale, des règles propres aux risques longs et le cantonnement des patrimoines.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Art. 3 à 27, 35</a:t>
                      </a:r>
                    </a:p>
                  </a:txBody>
                  <a:tcPr marL="43200" marR="43200" marT="14400" marB="14400" anchor="ctr">
                    <a:solidFill>
                      <a:srgbClr val="F2F2F2"/>
                    </a:solidFill>
                  </a:tcPr>
                </a:tc>
              </a:tr>
              <a:tr h="560551">
                <a:tc>
                  <a:txBody>
                    <a:bodyPr/>
                    <a:lstStyle/>
                    <a:p>
                      <a:pPr marL="0" indent="0" lvl="0">
                        <a:buNone/>
                      </a:pPr>
                      <a:r>
                        <a:rPr sz="1100" b="1">
                          <a:solidFill>
                            <a:srgbClr val="060606"/>
                          </a:solidFill>
                          <a:latin typeface="Helvetica"/>
                        </a:rPr>
                        <a:t>Décision n° 05/2022/COM/UEMOA du 01/06/2022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Elle fixe 13 indicateurs de gouvernance, 11 indicateurs de contrôle, 9 ratios pour les risques longs, la marge de solvabilité et l'affectation des excédents.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Annexe, tableaux 1 et 2, § 1.1 à 2.9</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n° 03/2012/CM/UEMOA et PCMS de mai 2012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Ils imposent le plan comptable des mutuelles sociales à partir de l'exercice ouvert le 1er janvier 2014.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Art. 2. Liste des comptes. Fiches 1, 2, 6, 25</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Arrêté n° 00115/MEPS/CAB du 12/12/2023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Il fixe les sanctions administratives et pécuniaires en cas de manquement.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Annexe, lignes 6 et 13</a:t>
                      </a:r>
                    </a:p>
                  </a:txBody>
                  <a:tcPr marL="43200" marR="43200" marT="14400" marB="14400" anchor="ctr">
                    <a:solidFill>
                      <a:srgbClr val="FFFFFF"/>
                    </a:solidFill>
                  </a:tcPr>
                </a:tc>
              </a:tr>
            </a:tbl>
          </a:graphicData>
        </a:graphic>
      </p:graphicFrame>
      <p:sp>
        <p:nvSpPr>
          <p:cNvPr id="33" name="TextBox 32"/>
          <p:cNvSpPr txBox="1"/>
          <p:nvPr/>
        </p:nvSpPr>
        <p:spPr>
          <a:xfrm>
            <a:off x="503999" y="3953756"/>
            <a:ext cx="11232000" cy="1914243"/>
          </a:xfrm>
          <a:prstGeom prst="rect">
            <a:avLst/>
          </a:prstGeom>
          <a:noFill/>
        </p:spPr>
        <p:txBody>
          <a:bodyPr wrap="square" lIns="54000" rIns="54000"/>
          <a:lstStyle/>
          <a:p>
            <a:pPr algn="just">
              <a:spcAft>
                <a:spcPts val="600"/>
              </a:spcAft>
            </a:pPr>
            <a:r>
              <a:rPr sz="1300" b="1">
                <a:solidFill>
                  <a:srgbClr val="060606"/>
                </a:solidFill>
                <a:latin typeface="Helvetica"/>
              </a:rPr>
              <a:t>Ces textes forment un ensemble complet et chiffré depuis juin 2022.</a:t>
            </a:r>
            <a:r>
              <a:rPr sz="1300" b="0">
                <a:solidFill>
                  <a:srgbClr val="060606"/>
                </a:solidFill>
                <a:latin typeface="Helvetica"/>
              </a:rPr>
              <a:t> Ils couvrent la comptabilité, les provisions, les réserves, la liquidité et les sanctions.</a:t>
            </a:r>
          </a:p>
          <a:p>
            <a:pPr algn="just">
              <a:spcAft>
                <a:spcPts val="600"/>
              </a:spcAft>
            </a:pPr>
            <a:r>
              <a:rPr sz="1300" b="1">
                <a:solidFill>
                  <a:srgbClr val="060606"/>
                </a:solidFill>
                <a:latin typeface="Helvetica"/>
              </a:rPr>
              <a:t>Implication pour le FPPN.</a:t>
            </a:r>
            <a:r>
              <a:rPr sz="1300" b="0">
                <a:solidFill>
                  <a:srgbClr val="060606"/>
                </a:solidFill>
                <a:latin typeface="Helvetica"/>
              </a:rPr>
              <a:t> Le FPPN dépasse les seuils du système normal du plan comptable (plus de 10 millions de FCFA de cotisations ou plus de 1 000 adhérents, art. 4 du règlement d'exécution) : il doit tenir une comptabilité d'engagement et produire un TAFIRE (art. 5).</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AIRMS : Agence ivoirienne de régulation de la mutualité sociale | UEMOA : Union économique et monétaire ouest-africaine | PCMS : plan comptable des mutuelles sociales | S/C : prestations / cotisations | MEPS : ministère de l'Emploi et de la Protection sociale | TAFIRE : tableau financier des ressources et des emplois | OCR : reconnaissance optique de caractères</a:t>
            </a:r>
          </a:p>
        </p:txBody>
      </p:sp>
    </p:spTree>
    <p:extLst>
      <p:ext uri="{BB962C8B-B14F-4D97-AF65-F5344CB8AC3E}">
        <p14:creationId xmlns:p14="http://schemas.microsoft.com/office/powerpoint/2010/main" val="1525939441"/>
      </p:ext>
    </p:extLst>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Risques courts et risques longs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couvre des risques courts et, avec l'épargne, des risques longs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Un risque est long quand plus d'un an sépare la cotisation de la prestation (règlement d'exécution n° 004/2022, art. 1)</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 3, 12 à 15. Fichiers de précomptes. Balances du FPPN</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16 : Qualification des garanties du FPPN</a:t>
            </a:r>
          </a:p>
        </p:txBody>
      </p:sp>
      <p:graphicFrame>
        <p:nvGraphicFramePr>
          <p:cNvPr id="32" name="Table 31"/>
          <p:cNvGraphicFramePr>
            <a:graphicFrameLocks noGrp="1"/>
          </p:cNvGraphicFramePr>
          <p:nvPr/>
        </p:nvGraphicFramePr>
        <p:xfrm>
          <a:off x="503999" y="1655999"/>
          <a:ext cx="11232000" cy="1629203"/>
        </p:xfrm>
        <a:graphic>
          <a:graphicData uri="http://schemas.openxmlformats.org/drawingml/2006/table">
            <a:tbl>
              <a:tblPr firstRow="0" bandRow="0">
                <a:tableStyleId>{5940675A-B579-460E-94D1-54222C63F5DA}</a:tableStyleId>
              </a:tblPr>
              <a:tblGrid>
                <a:gridCol w="1584000"/>
                <a:gridCol w="3024000"/>
                <a:gridCol w="2376000"/>
                <a:gridCol w="4248000"/>
              </a:tblGrid>
              <a:tr h="225250">
                <a:tc>
                  <a:txBody>
                    <a:bodyPr/>
                    <a:lstStyle/>
                    <a:p>
                      <a:pPr marL="0" indent="0" lvl="0">
                        <a:buNone/>
                      </a:pPr>
                      <a:r>
                        <a:rPr sz="1100" b="1">
                          <a:solidFill>
                            <a:srgbClr val="FFFFFF"/>
                          </a:solidFill>
                          <a:latin typeface="Helvetica"/>
                        </a:rPr>
                        <a:t>Garantie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Délai entre cotisation et prestation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Qualification proposée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Conséquence</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Maladie (936, CGRAE)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soins sont payés dans l'année.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Risque court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Ratios du tableau 1 de la Décision n° 05/2022.</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Décès (8Z6)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 capital est payé au décès, sans capitalisation connue.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Risque court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Ratios du tableau 1. Qualification à revoir si un mécanisme de capitalisation existe.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EFC (870)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L'épargne est versée en fin de carrière, des années après les versements.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Risque long (vieillesse)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Ratios de la section II, réserve de trésorerie, étude actuarielle, certification.</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PEP (998)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L'épargne est restituée à l'échéance du plan, en général après plus d'un an.</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Risque long, à confirmer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Mêmes obligations que l'EFC si la durée du plan dépasse un an.</a:t>
                      </a:r>
                    </a:p>
                  </a:txBody>
                  <a:tcPr marL="43200" marR="43200" marT="14400" marB="14400" anchor="ctr">
                    <a:solidFill>
                      <a:srgbClr val="F2F2F2"/>
                    </a:solidFill>
                  </a:tcPr>
                </a:tc>
              </a:tr>
            </a:tbl>
          </a:graphicData>
        </a:graphic>
      </p:graphicFrame>
      <p:sp>
        <p:nvSpPr>
          <p:cNvPr id="33" name="TextBox 32"/>
          <p:cNvSpPr txBox="1"/>
          <p:nvPr/>
        </p:nvSpPr>
        <p:spPr>
          <a:xfrm>
            <a:off x="503999" y="3393204"/>
            <a:ext cx="11232000" cy="2474795"/>
          </a:xfrm>
          <a:prstGeom prst="rect">
            <a:avLst/>
          </a:prstGeom>
          <a:noFill/>
        </p:spPr>
        <p:txBody>
          <a:bodyPr wrap="square" lIns="54000" rIns="54000"/>
          <a:lstStyle/>
          <a:p>
            <a:pPr algn="just">
              <a:spcAft>
                <a:spcPts val="600"/>
              </a:spcAft>
            </a:pPr>
            <a:r>
              <a:rPr sz="1300" b="1">
                <a:solidFill>
                  <a:srgbClr val="060606"/>
                </a:solidFill>
                <a:latin typeface="Helvetica"/>
              </a:rPr>
              <a:t>Avec l'EFC et le PEP, le FPPN entre dans le champ des risques longs.</a:t>
            </a:r>
            <a:r>
              <a:rPr sz="1300" b="0">
                <a:solidFill>
                  <a:srgbClr val="060606"/>
                </a:solidFill>
                <a:latin typeface="Helvetica"/>
              </a:rPr>
              <a:t> Ces deux produits représentent 15 743 516 391 FCFA d'engagements au 31/08/2026.</a:t>
            </a:r>
          </a:p>
          <a:p>
            <a:pPr algn="just">
              <a:spcAft>
                <a:spcPts val="600"/>
              </a:spcAft>
            </a:pPr>
            <a:r>
              <a:rPr sz="1300" b="1">
                <a:solidFill>
                  <a:srgbClr val="060606"/>
                </a:solidFill>
                <a:latin typeface="Helvetica"/>
              </a:rPr>
              <a:t>Implication pour le FPPN.</a:t>
            </a:r>
            <a:r>
              <a:rPr sz="1300" b="0">
                <a:solidFill>
                  <a:srgbClr val="060606"/>
                </a:solidFill>
                <a:latin typeface="Helvetica"/>
              </a:rPr>
              <a:t> Une mutuelle qui couvre à la fois des risques courts et longs doit cantonner ses patrimoines et séparer ses opérations (art. 15), faire certifier ses comptes par un commissaire aux comptes (art. 12) et réaliser une étude actuarielle tous les cinq ans (art. 14).</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CGRAE : Caisse générale de retraite des agents de l'État | PEP : Plan Épargne Plus | EFC : entraide fin de carrière | 936 : poste maladie | 8Z6 : poste décès | 870 : poste EFC | 998 : poste PEP</a:t>
            </a:r>
          </a:p>
        </p:txBody>
      </p:sp>
    </p:spTree>
    <p:extLst>
      <p:ext uri="{BB962C8B-B14F-4D97-AF65-F5344CB8AC3E}">
        <p14:creationId xmlns:p14="http://schemas.microsoft.com/office/powerpoint/2010/main" val="3370218563"/>
      </p:ext>
    </p:extLst>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B8E3EC90-0B67-5A40-9A33-0584F45B7F83}"/>
              </a:ext>
            </a:extLst>
          </p:cNvPr>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15" name="ZoneTexte 14">
            <a:extLst>
              <a:ext uri="{FF2B5EF4-FFF2-40B4-BE49-F238E27FC236}">
                <a16:creationId xmlns:a16="http://schemas.microsoft.com/office/drawing/2014/main" id="{105C7D73-CA09-E6BB-E55A-DE5ED4264F4C}"/>
              </a:ext>
            </a:extLst>
          </p:cNvPr>
          <p:cNvSpPr txBox="1"/>
          <p:nvPr/>
        </p:nvSpPr>
        <p:spPr>
          <a:xfrm>
            <a:off x="222607" y="6396590"/>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3" name="Rounded Rectangle 5">
            <a:extLst>
              <a:ext uri="{FF2B5EF4-FFF2-40B4-BE49-F238E27FC236}">
                <a16:creationId xmlns:a16="http://schemas.microsoft.com/office/drawing/2014/main" id="{F036A678-2139-4604-A2D8-3656B956898F}"/>
              </a:ext>
            </a:extLst>
          </p:cNvPr>
          <p:cNvSpPr/>
          <p:nvPr/>
        </p:nvSpPr>
        <p:spPr>
          <a:xfrm>
            <a:off x="3129156" y="1489204"/>
            <a:ext cx="3270872" cy="1990634"/>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4" name="Rounded Rectangle 5">
            <a:extLst>
              <a:ext uri="{FF2B5EF4-FFF2-40B4-BE49-F238E27FC236}">
                <a16:creationId xmlns:a16="http://schemas.microsoft.com/office/drawing/2014/main" id="{7D09F7F3-AD70-F22F-FF80-50BF6DD57968}"/>
              </a:ext>
            </a:extLst>
          </p:cNvPr>
          <p:cNvSpPr/>
          <p:nvPr/>
        </p:nvSpPr>
        <p:spPr>
          <a:xfrm>
            <a:off x="6391951" y="3585630"/>
            <a:ext cx="3270872" cy="1990634"/>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5" name="Rounded Rectangle 5">
            <a:extLst>
              <a:ext uri="{FF2B5EF4-FFF2-40B4-BE49-F238E27FC236}">
                <a16:creationId xmlns:a16="http://schemas.microsoft.com/office/drawing/2014/main" id="{91CD7C4B-BFBA-DBCC-083F-B9F54E841171}"/>
              </a:ext>
            </a:extLst>
          </p:cNvPr>
          <p:cNvSpPr/>
          <p:nvPr/>
        </p:nvSpPr>
        <p:spPr>
          <a:xfrm flipV="1">
            <a:off x="6514797" y="1769837"/>
            <a:ext cx="2434660" cy="1710001"/>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6" name="Rectangle 5">
            <a:extLst>
              <a:ext uri="{FF2B5EF4-FFF2-40B4-BE49-F238E27FC236}">
                <a16:creationId xmlns:a16="http://schemas.microsoft.com/office/drawing/2014/main" id="{B8A5BA39-707D-4505-CF26-1E9EC5011AB5}"/>
              </a:ext>
            </a:extLst>
          </p:cNvPr>
          <p:cNvSpPr/>
          <p:nvPr/>
        </p:nvSpPr>
        <p:spPr>
          <a:xfrm>
            <a:off x="3817401" y="1634006"/>
            <a:ext cx="2426584" cy="800458"/>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Ressources longues</a:t>
            </a:r>
          </a:p>
          <a:p>
            <a:pPr>
              <a:spcBef>
                <a:spcPts val="600"/>
              </a:spcBef>
            </a:pPr>
            <a:r>
              <a:rPr lang="fr-CI" sz="1200" noProof="0" b="0">
                <a:latin typeface="Helvetica" panose="020B0604020202020204" pitchFamily="34" charset="0"/>
                <a:cs typeface="Helvetica" panose="020B0604020202020204" pitchFamily="34" charset="0"/>
              </a:rPr>
              <a:t>Argent qui reste longtemps à la disposition du FPPN : fonds propres, provisions, emprunts.</a:t>
            </a:r>
          </a:p>
        </p:txBody>
      </p:sp>
      <p:cxnSp>
        <p:nvCxnSpPr>
          <p:cNvPr id="7" name="Straight Connector 51">
            <a:extLst>
              <a:ext uri="{FF2B5EF4-FFF2-40B4-BE49-F238E27FC236}">
                <a16:creationId xmlns:a16="http://schemas.microsoft.com/office/drawing/2014/main" id="{D644D8CD-15C8-1174-426A-80C46730AB94}"/>
              </a:ext>
            </a:extLst>
          </p:cNvPr>
          <p:cNvCxnSpPr/>
          <p:nvPr/>
        </p:nvCxnSpPr>
        <p:spPr>
          <a:xfrm>
            <a:off x="3823408" y="1885769"/>
            <a:ext cx="2223818"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15BAC69A-93C6-4C68-2B4D-52264A7239C0}"/>
              </a:ext>
            </a:extLst>
          </p:cNvPr>
          <p:cNvSpPr/>
          <p:nvPr/>
        </p:nvSpPr>
        <p:spPr>
          <a:xfrm>
            <a:off x="6667705" y="2099782"/>
            <a:ext cx="1900232" cy="654919"/>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Dettes à court terme</a:t>
            </a:r>
          </a:p>
          <a:p>
            <a:pPr>
              <a:spcBef>
                <a:spcPts val="600"/>
              </a:spcBef>
            </a:pPr>
            <a:r>
              <a:rPr lang="fr-CI" sz="1200" noProof="0" b="0">
                <a:latin typeface="Helvetica" panose="020B0604020202020204" pitchFamily="34" charset="0"/>
                <a:cs typeface="Helvetica" panose="020B0604020202020204" pitchFamily="34" charset="0"/>
              </a:rPr>
              <a:t>Argent que le FPPN doit rendre dans l'année : fournisseurs, cliniques, État.</a:t>
            </a:r>
          </a:p>
        </p:txBody>
      </p:sp>
      <p:cxnSp>
        <p:nvCxnSpPr>
          <p:cNvPr id="9" name="Straight Connector 53">
            <a:extLst>
              <a:ext uri="{FF2B5EF4-FFF2-40B4-BE49-F238E27FC236}">
                <a16:creationId xmlns:a16="http://schemas.microsoft.com/office/drawing/2014/main" id="{88E2B00B-A730-792A-F766-F69869238B01}"/>
              </a:ext>
            </a:extLst>
          </p:cNvPr>
          <p:cNvCxnSpPr/>
          <p:nvPr/>
        </p:nvCxnSpPr>
        <p:spPr>
          <a:xfrm>
            <a:off x="6637478" y="2360100"/>
            <a:ext cx="1489591"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E49CF9D8-9183-05A2-006C-E37491C14CB6}"/>
              </a:ext>
            </a:extLst>
          </p:cNvPr>
          <p:cNvSpPr/>
          <p:nvPr/>
        </p:nvSpPr>
        <p:spPr>
          <a:xfrm>
            <a:off x="6725638" y="3799190"/>
            <a:ext cx="2304183" cy="654919"/>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Trésorerie</a:t>
            </a:r>
          </a:p>
          <a:p>
            <a:pPr>
              <a:spcBef>
                <a:spcPts val="600"/>
              </a:spcBef>
            </a:pPr>
            <a:r>
              <a:rPr lang="fr-CI" sz="1200" noProof="0" b="0">
                <a:latin typeface="Helvetica" panose="020B0604020202020204" pitchFamily="34" charset="0"/>
                <a:cs typeface="Helvetica" panose="020B0604020202020204" pitchFamily="34" charset="0"/>
              </a:rPr>
              <a:t>Argent disponible tout de suite ou presque : caisse, comptes en banque, dépôts à terme.</a:t>
            </a:r>
          </a:p>
        </p:txBody>
      </p:sp>
      <p:cxnSp>
        <p:nvCxnSpPr>
          <p:cNvPr id="11" name="Straight Connector 59">
            <a:extLst>
              <a:ext uri="{FF2B5EF4-FFF2-40B4-BE49-F238E27FC236}">
                <a16:creationId xmlns:a16="http://schemas.microsoft.com/office/drawing/2014/main" id="{B837FEE1-6F73-8BCD-FE32-7B970AB912B9}"/>
              </a:ext>
            </a:extLst>
          </p:cNvPr>
          <p:cNvCxnSpPr/>
          <p:nvPr/>
        </p:nvCxnSpPr>
        <p:spPr>
          <a:xfrm>
            <a:off x="6725637" y="4046526"/>
            <a:ext cx="2223818"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2" name="Rounded Rectangle 5">
            <a:extLst>
              <a:ext uri="{FF2B5EF4-FFF2-40B4-BE49-F238E27FC236}">
                <a16:creationId xmlns:a16="http://schemas.microsoft.com/office/drawing/2014/main" id="{F4681A56-7E9F-9A36-2D0F-B0DE5726AF2E}"/>
              </a:ext>
            </a:extLst>
          </p:cNvPr>
          <p:cNvSpPr/>
          <p:nvPr/>
        </p:nvSpPr>
        <p:spPr>
          <a:xfrm flipV="1">
            <a:off x="2851616" y="3585630"/>
            <a:ext cx="3540335" cy="2211916"/>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13" name="Rectangle 12">
            <a:extLst>
              <a:ext uri="{FF2B5EF4-FFF2-40B4-BE49-F238E27FC236}">
                <a16:creationId xmlns:a16="http://schemas.microsoft.com/office/drawing/2014/main" id="{1F18419A-23F6-2CD0-B648-53C2736789A0}"/>
              </a:ext>
            </a:extLst>
          </p:cNvPr>
          <p:cNvSpPr/>
          <p:nvPr/>
        </p:nvSpPr>
        <p:spPr>
          <a:xfrm>
            <a:off x="3806664" y="3779137"/>
            <a:ext cx="2395004" cy="800458"/>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Emplois longs</a:t>
            </a:r>
          </a:p>
          <a:p>
            <a:pPr>
              <a:spcBef>
                <a:spcPts val="600"/>
              </a:spcBef>
            </a:pPr>
            <a:r>
              <a:rPr lang="fr-CI" sz="1200" noProof="0" b="0">
                <a:latin typeface="Helvetica" panose="020B0604020202020204" pitchFamily="34" charset="0"/>
                <a:cs typeface="Helvetica" panose="020B0604020202020204" pitchFamily="34" charset="0"/>
              </a:rPr>
              <a:t>Argent placé pour longtemps : terrains, bâtiments, prêts, avances aux structures liées.</a:t>
            </a:r>
          </a:p>
        </p:txBody>
      </p:sp>
      <p:cxnSp>
        <p:nvCxnSpPr>
          <p:cNvPr id="14" name="Straight Connector 67">
            <a:extLst>
              <a:ext uri="{FF2B5EF4-FFF2-40B4-BE49-F238E27FC236}">
                <a16:creationId xmlns:a16="http://schemas.microsoft.com/office/drawing/2014/main" id="{1187744F-1BE7-3A28-DBC2-3AB195946082}"/>
              </a:ext>
            </a:extLst>
          </p:cNvPr>
          <p:cNvCxnSpPr/>
          <p:nvPr/>
        </p:nvCxnSpPr>
        <p:spPr>
          <a:xfrm>
            <a:off x="3806664" y="4026471"/>
            <a:ext cx="2223818"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pic>
        <p:nvPicPr>
          <p:cNvPr id="20" name="Image 19">
            <a:extLst>
              <a:ext uri="{FF2B5EF4-FFF2-40B4-BE49-F238E27FC236}">
                <a16:creationId xmlns:a16="http://schemas.microsoft.com/office/drawing/2014/main" id="{DB69389C-778C-9663-739F-408FE8EC148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rot="19997307">
            <a:off x="3353573" y="1583438"/>
            <a:ext cx="372797" cy="372797"/>
          </a:xfrm>
          <a:prstGeom prst="rect">
            <a:avLst/>
          </a:prstGeom>
        </p:spPr>
      </p:pic>
      <p:pic>
        <p:nvPicPr>
          <p:cNvPr id="21" name="Image 20">
            <a:extLst>
              <a:ext uri="{FF2B5EF4-FFF2-40B4-BE49-F238E27FC236}">
                <a16:creationId xmlns:a16="http://schemas.microsoft.com/office/drawing/2014/main" id="{DC22CFF3-27E2-3D77-5D88-C5CF6EB0530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072301" y="3639438"/>
            <a:ext cx="398425" cy="407086"/>
          </a:xfrm>
          <a:prstGeom prst="rect">
            <a:avLst/>
          </a:prstGeom>
        </p:spPr>
      </p:pic>
      <p:pic>
        <p:nvPicPr>
          <p:cNvPr id="22" name="Image 21">
            <a:extLst>
              <a:ext uri="{FF2B5EF4-FFF2-40B4-BE49-F238E27FC236}">
                <a16:creationId xmlns:a16="http://schemas.microsoft.com/office/drawing/2014/main" id="{6B846A96-4C92-37D4-AE1E-706483CE7BB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8278416" y="1993990"/>
            <a:ext cx="331566" cy="331566"/>
          </a:xfrm>
          <a:prstGeom prst="rect">
            <a:avLst/>
          </a:prstGeom>
        </p:spPr>
      </p:pic>
      <p:pic>
        <p:nvPicPr>
          <p:cNvPr id="23" name="Image 22">
            <a:extLst>
              <a:ext uri="{FF2B5EF4-FFF2-40B4-BE49-F238E27FC236}">
                <a16:creationId xmlns:a16="http://schemas.microsoft.com/office/drawing/2014/main" id="{78F0071B-D442-D38C-01FF-77DDC6787EA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3131664" y="3693061"/>
            <a:ext cx="573169" cy="579832"/>
          </a:xfrm>
          <a:prstGeom prst="rect">
            <a:avLst/>
          </a:prstGeom>
        </p:spPr>
      </p:pic>
      <p:sp>
        <p:nvSpPr>
          <p:cNvPr id="24"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Lire un ratio : les tiroirs du bilan</a:t>
            </a:r>
          </a:p>
        </p:txBody>
      </p:sp>
      <p:sp>
        <p:nvSpPr>
          <p:cNvPr id="25"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compte est rangé dans un tiroir selon le temps que met l'argent à entrer ou sortir</a:t>
            </a:r>
          </a:p>
        </p:txBody>
      </p:sp>
      <p:sp>
        <p:nvSpPr>
          <p:cNvPr id="26"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Un ratio compare le contenu de deux tiroirs. Le classement des comptes décide donc du résultat</a:t>
            </a:r>
          </a:p>
        </p:txBody>
      </p:sp>
      <p:sp>
        <p:nvSpPr>
          <p:cNvPr id="27"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PCMS (structure des classes de comptes). Adenka</a:t>
            </a:r>
          </a:p>
        </p:txBody>
      </p:sp>
      <p:sp>
        <p:nvSpPr>
          <p:cNvPr id="28" name="TextBox 2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PCMS : plan comptable des mutuelles sociales</a:t>
            </a:r>
          </a:p>
        </p:txBody>
      </p:sp>
    </p:spTree>
    <p:extLst>
      <p:ext uri="{BB962C8B-B14F-4D97-AF65-F5344CB8AC3E}">
        <p14:creationId xmlns:p14="http://schemas.microsoft.com/office/powerpoint/2010/main" val="14191687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Deux lectures : comme le FPPN, puis retraitée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groupes de comptes sont rangés dans un tiroir qui ne reflète pas leur nature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Adenka calcule d'abord chaque ratio avec les comptes tels qu'ils sont tenus, puis avec trois reclassements motivés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PCMS, fiches n° 1 et 25. Règlement d'exécution n° 004/2022/COM/UEMOA du 1er juin 2022, art. 3. Balances du FPPN. Classement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17 : Reclassements de la lecture retraitée</a:t>
            </a:r>
          </a:p>
        </p:txBody>
      </p:sp>
      <p:graphicFrame>
        <p:nvGraphicFramePr>
          <p:cNvPr id="32" name="Table 31"/>
          <p:cNvGraphicFramePr>
            <a:graphicFrameLocks noGrp="1"/>
          </p:cNvGraphicFramePr>
          <p:nvPr/>
        </p:nvGraphicFramePr>
        <p:xfrm>
          <a:off x="503999" y="1655999"/>
          <a:ext cx="11232000" cy="1571603"/>
        </p:xfrm>
        <a:graphic>
          <a:graphicData uri="http://schemas.openxmlformats.org/drawingml/2006/table">
            <a:tbl>
              <a:tblPr firstRow="0" bandRow="0">
                <a:tableStyleId>{5940675A-B579-460E-94D1-54222C63F5DA}</a:tableStyleId>
              </a:tblPr>
              <a:tblGrid>
                <a:gridCol w="2376000"/>
                <a:gridCol w="1944000"/>
                <a:gridCol w="1944000"/>
                <a:gridCol w="4968000"/>
              </a:tblGrid>
              <a:tr h="225250">
                <a:tc>
                  <a:txBody>
                    <a:bodyPr/>
                    <a:lstStyle/>
                    <a:p>
                      <a:pPr marL="0" indent="0" lvl="0">
                        <a:buNone/>
                      </a:pPr>
                      <a:r>
                        <a:rPr sz="11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Tiroir comme le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Tiroir retraité</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Raison du reclassement</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41195100, 41195200 : épargne PEP et EFC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Dette à court terme (classe 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Ressource longue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L'épargne est un risque long (art. 3 du règlement d'exécution) : elle n'est pas exigible en totalité dans l'année.</a:t>
                      </a:r>
                    </a:p>
                  </a:txBody>
                  <a:tcPr marL="43200" marR="43200" marT="14400" marB="14400" anchor="ctr">
                    <a:solidFill>
                      <a:srgbClr val="FFFFFF"/>
                    </a:solidFill>
                  </a:tcPr>
                </a:tc>
              </a:tr>
              <a:tr h="560551">
                <a:tc>
                  <a:txBody>
                    <a:bodyPr/>
                    <a:lstStyle/>
                    <a:p>
                      <a:pPr marL="0" indent="0" lvl="0">
                        <a:buNone/>
                      </a:pPr>
                      <a:r>
                        <a:rPr sz="1100" b="1">
                          <a:solidFill>
                            <a:srgbClr val="060606"/>
                          </a:solidFill>
                          <a:latin typeface="Helvetica"/>
                        </a:rPr>
                        <a:t>47111100 à 47111105, 47111201, 485 : avances et créances durables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Créance à court terme (classe 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Emploi long</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Ces montants financent le CMP, le Grenier et l'Hôpital de la Police depuis plusieurs années, sans remboursement à court terme.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10620000 : réserve disponible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Réserve libre (libellé du FPPN)</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Nature à confirmer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 PCMS réserve le compte 106 aux écarts de réévaluation des immeubles, qui ne comptent pas dans la marge de solvabilité.</a:t>
                      </a:r>
                    </a:p>
                  </a:txBody>
                  <a:tcPr marL="43200" marR="43200" marT="14400" marB="14400" anchor="ctr">
                    <a:solidFill>
                      <a:srgbClr val="FFFFFF"/>
                    </a:solidFill>
                  </a:tcPr>
                </a:tc>
              </a:tr>
            </a:tbl>
          </a:graphicData>
        </a:graphic>
      </p:graphicFrame>
      <p:sp>
        <p:nvSpPr>
          <p:cNvPr id="33" name="TextBox 32"/>
          <p:cNvSpPr txBox="1"/>
          <p:nvPr/>
        </p:nvSpPr>
        <p:spPr>
          <a:xfrm>
            <a:off x="503999" y="3335604"/>
            <a:ext cx="11232000" cy="2532395"/>
          </a:xfrm>
          <a:prstGeom prst="rect">
            <a:avLst/>
          </a:prstGeom>
          <a:noFill/>
        </p:spPr>
        <p:txBody>
          <a:bodyPr wrap="square" lIns="54000" rIns="54000"/>
          <a:lstStyle/>
          <a:p>
            <a:pPr algn="just">
              <a:spcAft>
                <a:spcPts val="600"/>
              </a:spcAft>
            </a:pPr>
            <a:r>
              <a:rPr sz="1300" b="1">
                <a:solidFill>
                  <a:srgbClr val="060606"/>
                </a:solidFill>
                <a:latin typeface="Helvetica"/>
              </a:rPr>
              <a:t>Les deux lectures encadrent la réalité.</a:t>
            </a:r>
            <a:r>
              <a:rPr sz="1300" b="0">
                <a:solidFill>
                  <a:srgbClr val="060606"/>
                </a:solidFill>
                <a:latin typeface="Helvetica"/>
              </a:rPr>
              <a:t> La lecture comme le FPPN est prudente pour l'épargne, mais optimiste pour les avances durables. La lecture retraitée corrige les deux.</a:t>
            </a:r>
          </a:p>
          <a:p>
            <a:pPr algn="just">
              <a:spcAft>
                <a:spcPts val="600"/>
              </a:spcAft>
            </a:pPr>
            <a:r>
              <a:rPr sz="1300" b="1">
                <a:solidFill>
                  <a:srgbClr val="060606"/>
                </a:solidFill>
                <a:latin typeface="Helvetica"/>
              </a:rPr>
              <a:t>Implication pour le FPPN.</a:t>
            </a:r>
            <a:r>
              <a:rPr sz="1300" b="0">
                <a:solidFill>
                  <a:srgbClr val="060606"/>
                </a:solidFill>
                <a:latin typeface="Helvetica"/>
              </a:rPr>
              <a:t> La réponse définitive dépend de l'échéancier réel de l'épargne : les conditions de retrait et les âges des épargnants trancheront entre les deux lectures.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 | CMP : sigle des comptes du FPPN, signification à confirmer</a:t>
            </a:r>
          </a:p>
        </p:txBody>
      </p:sp>
    </p:spTree>
    <p:extLst>
      <p:ext uri="{BB962C8B-B14F-4D97-AF65-F5344CB8AC3E}">
        <p14:creationId xmlns:p14="http://schemas.microsoft.com/office/powerpoint/2010/main" val="1098867050"/>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Conforme ou non conforme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ratio est conforme quand sa valeur respecte la norme chiffrée de la Décision n° 05/2022. Il est non conforme sinon. Pour une fourchette, une valeur au-dessus de la borne haute est signalée à part.</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En attente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ratio est en attente quand une donnée nécessaire n'a pas été transmise : fichiers aller des postes 936 et 8Z6 (détenus par la direction du personnel de la Police), procès-verbaux, registre des contrôles, cotisation au FNG.</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À apprécier</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ratio est à apprécier quand la norme n'est pas chiffrée : délai contractuel, objectif du plan stratégique, solde « avoisinant zéro », taux moyen du marché.</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Période jugée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Décision est entrée en vigueur le 1er juin 2022 : 2020 et 2021 sont indicatifs, comme les huit mois provisoires de 2026. Deux exercices non conformes de suite sont signalés, car l'article 84 du règlement n° 07/2009 prévoit alors le retrait d'agrément.</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Règle de statut</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statut de chaque ratio suit une règle écrite et vérifiable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statut compare la valeur calculée à la norme du texte. Il est jugé sur les exercices 2022 à 2025</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article 3. Règlement n° 07/2009/CM/UEMOA du 26 juin 2009, art. 84.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UEMOA : Union économique et monétaire ouest-africaine | FNG : fonds national de garantie | 936 : poste maladie | 8Z6 : poste décès</a:t>
            </a:r>
          </a:p>
        </p:txBody>
      </p:sp>
    </p:spTree>
    <p:extLst>
      <p:ext uri="{BB962C8B-B14F-4D97-AF65-F5344CB8AC3E}">
        <p14:creationId xmlns:p14="http://schemas.microsoft.com/office/powerpoint/2010/main" val="272144556"/>
      </p:ext>
    </p:extLst>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1" name="ZoneTexte 20">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9" name="Google Shape;8472;p64"/>
          <p:cNvSpPr/>
          <p:nvPr/>
        </p:nvSpPr>
        <p:spPr>
          <a:xfrm>
            <a:off x="6398615" y="4634460"/>
            <a:ext cx="27543" cy="15536"/>
          </a:xfrm>
          <a:custGeom>
            <a:avLst/>
            <a:gdLst/>
            <a:ahLst/>
            <a:cxnLst/>
            <a:rect l="l" t="t" r="r" b="b"/>
            <a:pathLst>
              <a:path w="718" h="405" extrusionOk="0">
                <a:moveTo>
                  <a:pt x="0" y="1"/>
                </a:moveTo>
                <a:cubicBezTo>
                  <a:pt x="157" y="92"/>
                  <a:pt x="313" y="196"/>
                  <a:pt x="469" y="300"/>
                </a:cubicBezTo>
                <a:cubicBezTo>
                  <a:pt x="535" y="327"/>
                  <a:pt x="587" y="379"/>
                  <a:pt x="665" y="392"/>
                </a:cubicBezTo>
                <a:cubicBezTo>
                  <a:pt x="678" y="405"/>
                  <a:pt x="691" y="405"/>
                  <a:pt x="717" y="405"/>
                </a:cubicBezTo>
                <a:cubicBezTo>
                  <a:pt x="482" y="261"/>
                  <a:pt x="248" y="118"/>
                  <a:pt x="0" y="1"/>
                </a:cubicBezTo>
                <a:close/>
              </a:path>
            </a:pathLst>
          </a:custGeom>
          <a:solidFill>
            <a:srgbClr val="BA6C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Google Shape;6489;p32"/>
          <p:cNvSpPr/>
          <p:nvPr/>
        </p:nvSpPr>
        <p:spPr>
          <a:xfrm rot="6194666">
            <a:off x="7534623" y="3415586"/>
            <a:ext cx="510848" cy="1956086"/>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w="0">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6" name="Google Shape;6489;p32"/>
          <p:cNvSpPr/>
          <p:nvPr/>
        </p:nvSpPr>
        <p:spPr>
          <a:xfrm rot="14662897">
            <a:off x="7323071" y="1857476"/>
            <a:ext cx="426766" cy="1747435"/>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7" name="Google Shape;8472;p64"/>
          <p:cNvSpPr/>
          <p:nvPr/>
        </p:nvSpPr>
        <p:spPr>
          <a:xfrm>
            <a:off x="6398615" y="4634460"/>
            <a:ext cx="27543" cy="15536"/>
          </a:xfrm>
          <a:custGeom>
            <a:avLst/>
            <a:gdLst/>
            <a:ahLst/>
            <a:cxnLst/>
            <a:rect l="l" t="t" r="r" b="b"/>
            <a:pathLst>
              <a:path w="718" h="405" extrusionOk="0">
                <a:moveTo>
                  <a:pt x="0" y="1"/>
                </a:moveTo>
                <a:cubicBezTo>
                  <a:pt x="157" y="92"/>
                  <a:pt x="313" y="196"/>
                  <a:pt x="469" y="300"/>
                </a:cubicBezTo>
                <a:cubicBezTo>
                  <a:pt x="535" y="327"/>
                  <a:pt x="587" y="379"/>
                  <a:pt x="665" y="392"/>
                </a:cubicBezTo>
                <a:cubicBezTo>
                  <a:pt x="678" y="405"/>
                  <a:pt x="691" y="405"/>
                  <a:pt x="717" y="405"/>
                </a:cubicBezTo>
                <a:cubicBezTo>
                  <a:pt x="482" y="261"/>
                  <a:pt x="248" y="118"/>
                  <a:pt x="0" y="1"/>
                </a:cubicBezTo>
                <a:close/>
              </a:path>
            </a:pathLst>
          </a:custGeom>
          <a:solidFill>
            <a:srgbClr val="BA6C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8" name="Google Shape;6489;p32"/>
          <p:cNvSpPr/>
          <p:nvPr/>
        </p:nvSpPr>
        <p:spPr>
          <a:xfrm rot="7166758">
            <a:off x="4528324" y="1602745"/>
            <a:ext cx="510848" cy="2185420"/>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w="0">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0" name="Google Shape;6489;p32"/>
          <p:cNvSpPr/>
          <p:nvPr/>
        </p:nvSpPr>
        <p:spPr>
          <a:xfrm rot="15357084">
            <a:off x="4507070" y="3638509"/>
            <a:ext cx="510848" cy="1998266"/>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1" name="Rectangle 30"/>
          <p:cNvSpPr/>
          <p:nvPr/>
        </p:nvSpPr>
        <p:spPr>
          <a:xfrm>
            <a:off x="8333454" y="1834006"/>
            <a:ext cx="3220254" cy="1083627"/>
          </a:xfrm>
          <a:prstGeom prst="rect">
            <a:avLst/>
          </a:prstGeom>
        </p:spPr>
        <p:txBody>
          <a:bodyPr wrap="square">
            <a:spAutoFit/>
          </a:bodyPr>
          <a:lstStyle/>
          <a:p>
            <a:pPr lvl="0">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Réserves et fonds propres</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r>
              <a:rPr lang="fr-CI" sz="1150" noProof="0" b="0">
                <a:latin typeface="Helvetica" panose="020B0604020202020204" pitchFamily="34" charset="0"/>
                <a:ea typeface="Open Sans Light" panose="020B0306030504020204" pitchFamily="34" charset="0"/>
                <a:cs typeface="Helvetica" panose="020B0604020202020204" pitchFamily="34" charset="0"/>
              </a:rPr>
              <a:t>Réserve obligatoire, fonds propres et assimilés, fonds des risques longs : ces ratios disent si le FPPN a mis de côté assez de ressources propres.</a:t>
            </a:r>
            <a:endParaRPr lang="fr-CI" sz="1600" noProof="0"/>
          </a:p>
        </p:txBody>
      </p:sp>
      <p:sp>
        <p:nvSpPr>
          <p:cNvPr id="32" name="Rectangle 31"/>
          <p:cNvSpPr/>
          <p:nvPr/>
        </p:nvSpPr>
        <p:spPr>
          <a:xfrm>
            <a:off x="327639" y="4236148"/>
            <a:ext cx="3220254" cy="1083627"/>
          </a:xfrm>
          <a:prstGeom prst="rect">
            <a:avLst/>
          </a:prstGeom>
        </p:spPr>
        <p:txBody>
          <a:bodyPr wrap="square">
            <a:spAutoFit/>
          </a:bodyPr>
          <a:lstStyle/>
          <a:p>
            <a:pPr lvl="0" algn="r">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Liquidité et équilibre</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pPr algn="r"/>
            <a:r>
              <a:rPr lang="fr-CI" sz="1150" noProof="0" b="0">
                <a:latin typeface="Helvetica" panose="020B0604020202020204" pitchFamily="34" charset="0"/>
                <a:ea typeface="Open Sans Light" panose="020B0306030504020204" pitchFamily="34" charset="0"/>
                <a:cs typeface="Helvetica" panose="020B0604020202020204" pitchFamily="34" charset="0"/>
              </a:rPr>
              <a:t>Liquidité, trésorerie à échéance et immédiate, équilibre stable, solvabilité de l'épargne : ces ratios disent si l'argent est disponible à temps.</a:t>
            </a:r>
            <a:endParaRPr lang="fr-CI" sz="1600" noProof="0"/>
          </a:p>
        </p:txBody>
      </p:sp>
      <p:sp>
        <p:nvSpPr>
          <p:cNvPr id="34" name="Rectangle 33"/>
          <p:cNvSpPr/>
          <p:nvPr/>
        </p:nvSpPr>
        <p:spPr>
          <a:xfrm>
            <a:off x="362962" y="1811347"/>
            <a:ext cx="3220254" cy="1083627"/>
          </a:xfrm>
          <a:prstGeom prst="rect">
            <a:avLst/>
          </a:prstGeom>
        </p:spPr>
        <p:txBody>
          <a:bodyPr wrap="square">
            <a:spAutoFit/>
          </a:bodyPr>
          <a:lstStyle/>
          <a:p>
            <a:pPr lvl="0" algn="r">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Sinistralité et solvabilité</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pPr algn="r"/>
            <a:r>
              <a:rPr lang="fr-CI" sz="1150" noProof="0" b="0">
                <a:latin typeface="Helvetica" panose="020B0604020202020204" pitchFamily="34" charset="0"/>
                <a:ea typeface="Open Sans Light" panose="020B0306030504020204" pitchFamily="34" charset="0"/>
                <a:cs typeface="Helvetica" panose="020B0604020202020204" pitchFamily="34" charset="0"/>
              </a:rPr>
              <a:t>Sinistralité, marge de solvabilité, autonomie financière, excédent net : ces ratios disent si les cotisations suffisent et si le FPPN peut absorber un choc.</a:t>
            </a:r>
            <a:endParaRPr lang="fr-CI" sz="1600" noProof="0">
              <a:solidFill>
                <a:schemeClr val="bg1"/>
              </a:solidFill>
            </a:endParaRPr>
          </a:p>
        </p:txBody>
      </p:sp>
      <p:sp>
        <p:nvSpPr>
          <p:cNvPr id="42" name="Rectangle 41"/>
          <p:cNvSpPr/>
          <p:nvPr/>
        </p:nvSpPr>
        <p:spPr>
          <a:xfrm>
            <a:off x="8677463" y="4236148"/>
            <a:ext cx="3220254" cy="1083627"/>
          </a:xfrm>
          <a:prstGeom prst="rect">
            <a:avLst/>
          </a:prstGeom>
        </p:spPr>
        <p:txBody>
          <a:bodyPr wrap="square">
            <a:spAutoFit/>
          </a:bodyPr>
          <a:lstStyle/>
          <a:p>
            <a:pPr lvl="0">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Gestion et gouvernance</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r>
              <a:rPr lang="fr-CI" sz="1150" noProof="0" b="0">
                <a:latin typeface="Helvetica" panose="020B0604020202020204" pitchFamily="34" charset="0"/>
                <a:ea typeface="Open Sans Light" panose="020B0306030504020204" pitchFamily="34" charset="0"/>
                <a:cs typeface="Helvetica" panose="020B0604020202020204" pitchFamily="34" charset="0"/>
              </a:rPr>
              <a:t>Frais, personnel, recouvrement, délais, contrôles, réunions des organes, FNG : ces ratios disent si l'organisation est efficace et contrôlée.</a:t>
            </a:r>
            <a:endParaRPr lang="fr-CI" sz="1600" noProof="0"/>
          </a:p>
        </p:txBody>
      </p:sp>
      <p:pic>
        <p:nvPicPr>
          <p:cNvPr id="43" name="Image 42"/>
          <p:cNvPicPr>
            <a:picLocks noChangeAspect="1"/>
          </p:cNvPicPr>
          <p:nvPr/>
        </p:nvPicPr>
        <p:blipFill rotWithShape="1">
          <a:blip r:embed="rId3">
            <a:extLst>
              <a:ext uri="{28A0092B-C50C-407E-A947-70E740481C1C}">
                <a14:useLocalDpi xmlns:a14="http://schemas.microsoft.com/office/drawing/2010/main" val="0"/>
              </a:ext>
            </a:extLst>
          </a:blip>
          <a:srcRect l="4165" t="11941" r="73679" b="13899"/>
          <a:stretch/>
        </p:blipFill>
        <p:spPr>
          <a:xfrm>
            <a:off x="5257860" y="2529185"/>
            <a:ext cx="2172929" cy="2231923"/>
          </a:xfrm>
          <a:prstGeom prst="rect">
            <a:avLst/>
          </a:prstGeom>
        </p:spPr>
      </p:pic>
      <p:sp>
        <p:nvSpPr>
          <p:cNvPr id="44"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Quatre familles de ratios</a:t>
            </a:r>
          </a:p>
        </p:txBody>
      </p:sp>
      <p:sp>
        <p:nvSpPr>
          <p:cNvPr id="45"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36 indicateurs examinés se regroupent en quatre familles, de la plus actuarielle à la gouvernance</a:t>
            </a:r>
          </a:p>
        </p:txBody>
      </p:sp>
      <p:sp>
        <p:nvSpPr>
          <p:cNvPr id="46"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L'ordre de priorité suit l'importance pour la protection des adhérents : solvabilité d'abord, gouvernance ensuite</a:t>
            </a:r>
          </a:p>
        </p:txBody>
      </p:sp>
      <p:sp>
        <p:nvSpPr>
          <p:cNvPr id="47"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Classement Adenka</a:t>
            </a:r>
          </a:p>
        </p:txBody>
      </p:sp>
      <p:sp>
        <p:nvSpPr>
          <p:cNvPr id="48" name="TextBox 4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FNG : fonds national de garantie</a:t>
            </a:r>
          </a:p>
        </p:txBody>
      </p:sp>
    </p:spTree>
    <p:extLst>
      <p:ext uri="{BB962C8B-B14F-4D97-AF65-F5344CB8AC3E}">
        <p14:creationId xmlns:p14="http://schemas.microsoft.com/office/powerpoint/2010/main" val="1762640310"/>
      </p:ext>
    </p:extLst>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(1/4) : solvabilité et réserves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globale, les réserves, les fonds propres et la liquidité sont non conformes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Ratios de priorité actuarielle 1 à 9, lecture comme le FPPN. 2026 est indicatif</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18 : Tableau de bord des ratios prudentiels, priorités 1 à 9</a:t>
            </a:r>
          </a:p>
        </p:txBody>
      </p:sp>
      <p:graphicFrame>
        <p:nvGraphicFramePr>
          <p:cNvPr id="32" name="Table 31"/>
          <p:cNvGraphicFramePr>
            <a:graphicFrameLocks noGrp="1"/>
          </p:cNvGraphicFramePr>
          <p:nvPr/>
        </p:nvGraphicFramePr>
        <p:xfrm>
          <a:off x="503999" y="1655999"/>
          <a:ext cx="11232000" cy="1947680"/>
        </p:xfrm>
        <a:graphic>
          <a:graphicData uri="http://schemas.openxmlformats.org/drawingml/2006/table">
            <a:tbl>
              <a:tblPr firstRow="0" bandRow="0">
                <a:tableStyleId>{5940675A-B579-460E-94D1-54222C63F5DA}</a:tableStyleId>
              </a:tblPr>
              <a:tblGrid>
                <a:gridCol w="324000"/>
                <a:gridCol w="3024000"/>
                <a:gridCol w="1728000"/>
                <a:gridCol w="972000"/>
                <a:gridCol w="972000"/>
                <a:gridCol w="972000"/>
                <a:gridCol w="972000"/>
                <a:gridCol w="1044000"/>
                <a:gridCol w="1224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2026 (8 mois)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Statut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sinistralité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Entre 70 % et 80 %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9,06 %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24,56 %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40,34 %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57,48 %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75,20 %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Marge de solvabilité disponible / exigée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6,65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6,70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7,77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7,15</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194768">
                <a:tc>
                  <a:txBody>
                    <a:bodyPr/>
                    <a:lstStyle/>
                    <a:p>
                      <a:pPr marL="0" indent="0" lvl="0">
                        <a:buNone/>
                      </a:pPr>
                      <a:r>
                        <a:rPr sz="9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réserve obligatoire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Entre 6 et 9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-0,00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3,25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4,91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5,01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3,65 mois</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des fonds propres et assimilés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0,17</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liquidité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d'équilibre stable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1,61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1,54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1,72</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d'autonomie financière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1,74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1,29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0,84</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194768">
                <a:tc>
                  <a:txBody>
                    <a:bodyPr/>
                    <a:lstStyle/>
                    <a:p>
                      <a:pPr marL="0" indent="0" lvl="0">
                        <a:buNone/>
                      </a:pPr>
                      <a:r>
                        <a:rPr sz="9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d'excédent net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80,64 %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33,55 %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25,18 %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12,81 %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-18,45 %</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financement propre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240,20 %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146,82 %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132,48 %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113,47 %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84,54 %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bl>
          </a:graphicData>
        </a:graphic>
      </p:graphicFrame>
      <p:sp>
        <p:nvSpPr>
          <p:cNvPr id="33" name="TextBox 32"/>
          <p:cNvSpPr txBox="1"/>
          <p:nvPr/>
        </p:nvSpPr>
        <p:spPr>
          <a:xfrm>
            <a:off x="503999" y="3711686"/>
            <a:ext cx="11232000" cy="2156313"/>
          </a:xfrm>
          <a:prstGeom prst="rect">
            <a:avLst/>
          </a:prstGeom>
          <a:noFill/>
        </p:spPr>
        <p:txBody>
          <a:bodyPr wrap="square" lIns="54000" rIns="54000"/>
          <a:lstStyle/>
          <a:p>
            <a:pPr algn="just">
              <a:spcAft>
                <a:spcPts val="600"/>
              </a:spcAft>
            </a:pPr>
            <a:r>
              <a:rPr sz="1300" b="1">
                <a:solidFill>
                  <a:srgbClr val="060606"/>
                </a:solidFill>
                <a:latin typeface="Helvetica"/>
              </a:rPr>
              <a:t>Six des neuf ratios prioritaires sont non conformes plusieurs années de suite.</a:t>
            </a:r>
            <a:r>
              <a:rPr sz="1300" b="0">
                <a:solidFill>
                  <a:srgbClr val="060606"/>
                </a:solidFill>
                <a:latin typeface="Helvetica"/>
              </a:rPr>
              <a:t> Seuls l'autonomie financière, le financement propre et la marge de solvabilité calculée comme le FPPN respectent la norme.</a:t>
            </a:r>
          </a:p>
          <a:p>
            <a:pPr algn="just">
              <a:spcAft>
                <a:spcPts val="600"/>
              </a:spcAft>
            </a:pPr>
            <a:r>
              <a:rPr sz="1300" b="1">
                <a:solidFill>
                  <a:srgbClr val="060606"/>
                </a:solidFill>
                <a:latin typeface="Helvetica"/>
              </a:rPr>
              <a:t>Implication pour le FPPN.</a:t>
            </a:r>
            <a:r>
              <a:rPr sz="1300" b="0">
                <a:solidFill>
                  <a:srgbClr val="060606"/>
                </a:solidFill>
                <a:latin typeface="Helvetica"/>
              </a:rPr>
              <a:t> La non-conformité répétée de la réserve obligatoire, des fonds propres et de la liquidité expose le FPPN aux sanctions prévues pour le non-respect des règles prudentielles sur deux exercices.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186551887"/>
      </p:ext>
    </p:extLst>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(2/4) : risques longs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 ratio propre aux risques longs n'est respecté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Ratios de priorité 10 à 16, applicables à l'épargne EFC et PEP qualifiée de risque long</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19 : Tableau de bord des ratios des risques longs, priorités 10 à 16</a:t>
            </a:r>
          </a:p>
        </p:txBody>
      </p:sp>
      <p:graphicFrame>
        <p:nvGraphicFramePr>
          <p:cNvPr id="32" name="Table 31"/>
          <p:cNvGraphicFramePr>
            <a:graphicFrameLocks noGrp="1"/>
          </p:cNvGraphicFramePr>
          <p:nvPr/>
        </p:nvGraphicFramePr>
        <p:xfrm>
          <a:off x="503999" y="1655999"/>
          <a:ext cx="11232000" cy="2106820"/>
        </p:xfrm>
        <a:graphic>
          <a:graphicData uri="http://schemas.openxmlformats.org/drawingml/2006/table">
            <a:tbl>
              <a:tblPr firstRow="0" bandRow="0">
                <a:tableStyleId>{5940675A-B579-460E-94D1-54222C63F5DA}</a:tableStyleId>
              </a:tblPr>
              <a:tblGrid>
                <a:gridCol w="324000"/>
                <a:gridCol w="3024000"/>
                <a:gridCol w="1728000"/>
                <a:gridCol w="972000"/>
                <a:gridCol w="972000"/>
                <a:gridCol w="972000"/>
                <a:gridCol w="972000"/>
                <a:gridCol w="1044000"/>
                <a:gridCol w="1224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2026 (8 mois)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Statut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solvabilité de la branche épargne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0,16</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de trésorerie à échéance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Supérieur à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trésorerie immédiate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331937">
                <a:tc>
                  <a:txBody>
                    <a:bodyPr/>
                    <a:lstStyle/>
                    <a:p>
                      <a:pPr marL="0" indent="0" lvl="0">
                        <a:buNone/>
                      </a:pPr>
                      <a:r>
                        <a:rPr sz="900" b="1">
                          <a:solidFill>
                            <a:srgbClr val="060606"/>
                          </a:solidFill>
                          <a:latin typeface="Helvetica"/>
                        </a:rPr>
                        <a:t>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Réserve de trésorerie des risques longs (un trimestre d'engagements et de frais)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1 trimestre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331937">
                <a:tc>
                  <a:txBody>
                    <a:bodyPr/>
                    <a:lstStyle/>
                    <a:p>
                      <a:pPr marL="0" indent="0" lvl="0">
                        <a:buNone/>
                      </a:pPr>
                      <a:r>
                        <a:rPr sz="900" b="1">
                          <a:solidFill>
                            <a:srgbClr val="060606"/>
                          </a:solidFill>
                          <a:latin typeface="Helvetica"/>
                        </a:rPr>
                        <a:t>14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Fonds propres / prestations des risques longs des deux derniers exercices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-0,65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-0,31</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331937">
                <a:tc>
                  <a:txBody>
                    <a:bodyPr/>
                    <a:lstStyle/>
                    <a:p>
                      <a:pPr marL="0" indent="0" lvl="0">
                        <a:buNone/>
                      </a:pPr>
                      <a:r>
                        <a:rPr sz="900" b="1">
                          <a:solidFill>
                            <a:srgbClr val="060606"/>
                          </a:solidFill>
                          <a:latin typeface="Helvetica"/>
                        </a:rPr>
                        <a:t>15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brut de rentabilité des placements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le taux moyen du marché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1,30 %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1,28 %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1,73 %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22,88 %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r h="331937">
                <a:tc>
                  <a:txBody>
                    <a:bodyPr/>
                    <a:lstStyle/>
                    <a:p>
                      <a:pPr marL="0" indent="0" lvl="0">
                        <a:buNone/>
                      </a:pPr>
                      <a:r>
                        <a:rPr sz="900" b="1">
                          <a:solidFill>
                            <a:srgbClr val="060606"/>
                          </a:solidFill>
                          <a:latin typeface="Helvetica"/>
                        </a:rPr>
                        <a:t>16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Solde moyen des comptes courants non rémunérés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Avoisinant zéro</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638 155 842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695 388 139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438 360 275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1 449 586 812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2 356 399 123 FCFA</a:t>
                      </a:r>
                    </a:p>
                  </a:txBody>
                  <a:tcPr marL="43200" marR="43200" marT="14400" marB="14400" anchor="ctr">
                    <a:solidFill>
                      <a:srgbClr val="FFFFFF"/>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bl>
          </a:graphicData>
        </a:graphic>
      </p:graphicFrame>
      <p:sp>
        <p:nvSpPr>
          <p:cNvPr id="33" name="TextBox 32"/>
          <p:cNvSpPr txBox="1"/>
          <p:nvPr/>
        </p:nvSpPr>
        <p:spPr>
          <a:xfrm>
            <a:off x="503999" y="3870823"/>
            <a:ext cx="11232000" cy="1997176"/>
          </a:xfrm>
          <a:prstGeom prst="rect">
            <a:avLst/>
          </a:prstGeom>
          <a:noFill/>
        </p:spPr>
        <p:txBody>
          <a:bodyPr wrap="square" lIns="54000" rIns="54000"/>
          <a:lstStyle/>
          <a:p>
            <a:pPr algn="just">
              <a:spcAft>
                <a:spcPts val="600"/>
              </a:spcAft>
            </a:pPr>
            <a:r>
              <a:rPr sz="1300" b="1">
                <a:solidFill>
                  <a:srgbClr val="060606"/>
                </a:solidFill>
                <a:latin typeface="Helvetica"/>
              </a:rPr>
              <a:t>Les engagements d'épargne ne sont adossés ni à des actifs réservés suffisants, ni à une réserve de trésorerie, ni à des fonds propres positifs.</a:t>
            </a:r>
            <a:r>
              <a:rPr sz="1300" b="0">
                <a:solidFill>
                  <a:srgbClr val="060606"/>
                </a:solidFill>
                <a:latin typeface="Helvetica"/>
              </a:rPr>
              <a:t> Les deux derniers indicateurs n'ont pas de seuil chiffré et sont à apprécier.</a:t>
            </a:r>
          </a:p>
          <a:p>
            <a:pPr algn="just">
              <a:spcAft>
                <a:spcPts val="600"/>
              </a:spcAft>
            </a:pPr>
            <a:r>
              <a:rPr sz="1300" b="1">
                <a:solidFill>
                  <a:srgbClr val="060606"/>
                </a:solidFill>
                <a:latin typeface="Helvetica"/>
              </a:rPr>
              <a:t>Implication pour le FPPN.</a:t>
            </a:r>
            <a:r>
              <a:rPr sz="1300" b="0">
                <a:solidFill>
                  <a:srgbClr val="060606"/>
                </a:solidFill>
                <a:latin typeface="Helvetica"/>
              </a:rPr>
              <a:t> Pour les risques longs, le règlement d'exécution exige aussi une étude actuarielle tous les cinq ans et la certification des comptes : le FPPN doit indiquer s'il les a réalisées.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2116542650"/>
      </p:ext>
    </p:extLst>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(3/4) : gestion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frais dépassent nettement les normes, alors que le personnel et la fidélisation sont conformes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Ratios de gestion de priorité 17 à 25. Le recouvrement n'est mesurable que pour les retraités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 Fichiers de précomptes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20 : Tableau de bord des ratios de gestion, priorités 17 à 25</a:t>
            </a:r>
          </a:p>
        </p:txBody>
      </p:sp>
      <p:graphicFrame>
        <p:nvGraphicFramePr>
          <p:cNvPr id="32" name="Table 31"/>
          <p:cNvGraphicFramePr>
            <a:graphicFrameLocks noGrp="1"/>
          </p:cNvGraphicFramePr>
          <p:nvPr/>
        </p:nvGraphicFramePr>
        <p:xfrm>
          <a:off x="503999" y="1655999"/>
          <a:ext cx="11232000" cy="2359187"/>
        </p:xfrm>
        <a:graphic>
          <a:graphicData uri="http://schemas.openxmlformats.org/drawingml/2006/table">
            <a:tbl>
              <a:tblPr firstRow="0" bandRow="0">
                <a:tableStyleId>{5940675A-B579-460E-94D1-54222C63F5DA}</a:tableStyleId>
              </a:tblPr>
              <a:tblGrid>
                <a:gridCol w="324000"/>
                <a:gridCol w="3024000"/>
                <a:gridCol w="1728000"/>
                <a:gridCol w="972000"/>
                <a:gridCol w="972000"/>
                <a:gridCol w="972000"/>
                <a:gridCol w="972000"/>
                <a:gridCol w="1044000"/>
                <a:gridCol w="1224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2026 (8 mois)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Statut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des charges de fonctionnement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20 %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47,35 %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44,82 %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36,07 %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36,34 %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44,12 %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des charges de fonctionnement brut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15 %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35,08 %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43,81 %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36,20 %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34,86 %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43,74 %</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Coût par unité monétaire prestée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15 %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522,78 %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182,49 %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89,40 %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63,21 %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58,67 %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20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charges de personnel</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85 %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19,26 %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23,21 %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24,83 %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26,57 %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25,83 %</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194768">
                <a:tc>
                  <a:txBody>
                    <a:bodyPr/>
                    <a:lstStyle/>
                    <a:p>
                      <a:pPr marL="0" indent="0" lvl="0">
                        <a:buNone/>
                      </a:pPr>
                      <a:r>
                        <a:rPr sz="900" b="1">
                          <a:solidFill>
                            <a:srgbClr val="060606"/>
                          </a:solidFill>
                          <a:latin typeface="Helvetica"/>
                        </a:rPr>
                        <a:t>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fidélisation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80 %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96,49 %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97,83 %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331937">
                <a:tc>
                  <a:txBody>
                    <a:bodyPr/>
                    <a:lstStyle/>
                    <a:p>
                      <a:pPr marL="0" indent="0" lvl="0">
                        <a:buNone/>
                      </a:pPr>
                      <a:r>
                        <a:rPr sz="900" b="1">
                          <a:solidFill>
                            <a:srgbClr val="060606"/>
                          </a:solidFill>
                          <a:latin typeface="Helvetica"/>
                        </a:rPr>
                        <a:t>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Délai moyen de paiement des prestataires de soins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Délai contractuel</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841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145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68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45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93 jours</a:t>
                      </a:r>
                    </a:p>
                  </a:txBody>
                  <a:tcPr marL="43200" marR="43200" marT="14400" marB="14400" anchor="ctr">
                    <a:solidFill>
                      <a:srgbClr val="F2F2F2"/>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r h="194768">
                <a:tc>
                  <a:txBody>
                    <a:bodyPr/>
                    <a:lstStyle/>
                    <a:p>
                      <a:pPr marL="0" indent="0" lvl="0">
                        <a:buNone/>
                      </a:pPr>
                      <a:r>
                        <a:rPr sz="900" b="1">
                          <a:solidFill>
                            <a:srgbClr val="060606"/>
                          </a:solidFill>
                          <a:latin typeface="Helvetica"/>
                        </a:rPr>
                        <a:t>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d'investissement brut en formation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3 %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0,01 %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0,75 %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0,04 %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331937">
                <a:tc>
                  <a:txBody>
                    <a:bodyPr/>
                    <a:lstStyle/>
                    <a:p>
                      <a:pPr marL="0" indent="0" lvl="0">
                        <a:buNone/>
                      </a:pPr>
                      <a:r>
                        <a:rPr sz="900" b="1">
                          <a:solidFill>
                            <a:srgbClr val="060606"/>
                          </a:solidFill>
                          <a:latin typeface="Helvetica"/>
                        </a:rPr>
                        <a:t>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croissance brute des bénéficiaires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Objectif du plan de développement stratégique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10,73 %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r h="331937">
                <a:tc>
                  <a:txBody>
                    <a:bodyPr/>
                    <a:lstStyle/>
                    <a:p>
                      <a:pPr marL="0" indent="0" lvl="0">
                        <a:buNone/>
                      </a:pPr>
                      <a:r>
                        <a:rPr sz="900" b="1">
                          <a:solidFill>
                            <a:srgbClr val="060606"/>
                          </a:solidFill>
                          <a:latin typeface="Helvetica"/>
                        </a:rPr>
                        <a:t>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recouvrement des cotisations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90 %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100,19 %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 (retraités)</a:t>
                      </a:r>
                    </a:p>
                  </a:txBody>
                  <a:tcPr marL="43200" marR="43200" marT="14400" marB="14400" anchor="ctr">
                    <a:solidFill>
                      <a:srgbClr val="112A40"/>
                    </a:solidFill>
                  </a:tcPr>
                </a:tc>
              </a:tr>
            </a:tbl>
          </a:graphicData>
        </a:graphic>
      </p:graphicFrame>
      <p:sp>
        <p:nvSpPr>
          <p:cNvPr id="33" name="TextBox 32"/>
          <p:cNvSpPr txBox="1"/>
          <p:nvPr/>
        </p:nvSpPr>
        <p:spPr>
          <a:xfrm>
            <a:off x="503999" y="4123192"/>
            <a:ext cx="11232000" cy="1744807"/>
          </a:xfrm>
          <a:prstGeom prst="rect">
            <a:avLst/>
          </a:prstGeom>
          <a:noFill/>
        </p:spPr>
        <p:txBody>
          <a:bodyPr wrap="square" lIns="54000" rIns="54000"/>
          <a:lstStyle/>
          <a:p>
            <a:pPr algn="just">
              <a:spcAft>
                <a:spcPts val="600"/>
              </a:spcAft>
            </a:pPr>
            <a:r>
              <a:rPr sz="1300" b="1">
                <a:solidFill>
                  <a:srgbClr val="060606"/>
                </a:solidFill>
                <a:latin typeface="Helvetica"/>
              </a:rPr>
              <a:t>Les trois ratios de frais sont non conformes chaque année.</a:t>
            </a:r>
            <a:r>
              <a:rPr sz="1300" b="0">
                <a:solidFill>
                  <a:srgbClr val="060606"/>
                </a:solidFill>
                <a:latin typeface="Helvetica"/>
              </a:rPr>
              <a:t> Les frais de fonctionnement absorbent plus d'un tiers des cotisations, contre 20 % au plus selon la norme.</a:t>
            </a:r>
          </a:p>
          <a:p>
            <a:pPr algn="just">
              <a:spcAft>
                <a:spcPts val="600"/>
              </a:spcAft>
            </a:pPr>
            <a:r>
              <a:rPr sz="1300" b="1">
                <a:solidFill>
                  <a:srgbClr val="060606"/>
                </a:solidFill>
                <a:latin typeface="Helvetica"/>
              </a:rPr>
              <a:t>Implication pour le FPPN.</a:t>
            </a:r>
            <a:r>
              <a:rPr sz="1300" b="0">
                <a:solidFill>
                  <a:srgbClr val="060606"/>
                </a:solidFill>
                <a:latin typeface="Helvetica"/>
              </a:rPr>
              <a:t> La baisse du coût par unité prestée vient surtout de la hausse des prestations, pas d'une baisse des frais : le FPPN doit présenter un plan de réduction des charges de fonctionnement.</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3499475784"/>
      </p:ext>
    </p:extLst>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(4/4) : données en attente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Onze indicateurs attendent des documents de gestion ou de gouvernance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Ces indicateurs ne sont pas exclus : ils seront calculés dès réception des pièces demandées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 Liste des documents demandés (PBC)</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21 : Indicateurs en attente de documents, priorités 26 à 36</a:t>
            </a:r>
          </a:p>
        </p:txBody>
      </p:sp>
      <p:graphicFrame>
        <p:nvGraphicFramePr>
          <p:cNvPr id="32" name="Table 31"/>
          <p:cNvGraphicFramePr>
            <a:graphicFrameLocks noGrp="1"/>
          </p:cNvGraphicFramePr>
          <p:nvPr/>
        </p:nvGraphicFramePr>
        <p:xfrm>
          <a:off x="503999" y="1655999"/>
          <a:ext cx="11232000" cy="3023061"/>
        </p:xfrm>
        <a:graphic>
          <a:graphicData uri="http://schemas.openxmlformats.org/drawingml/2006/table">
            <a:tbl>
              <a:tblPr firstRow="0" bandRow="0">
                <a:tableStyleId>{5940675A-B579-460E-94D1-54222C63F5DA}</a:tableStyleId>
              </a:tblPr>
              <a:tblGrid>
                <a:gridCol w="324000"/>
                <a:gridCol w="3960000"/>
                <a:gridCol w="2160000"/>
                <a:gridCol w="4788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Pièce à obtenir</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bénéficiaire-adhérent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Objectif du plan de développement stratégique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Fichier des ayants droit non transmis.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27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pénétration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Objectif du plan de développement stratégique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Effectif total de la Police nationale non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prestations indues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Rapports de contrôle a posteriori non transmis.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29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de contrôle a posteriori</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5 % (10 % pour les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Registre des contrôles non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Délai de liquidation des premières demandes (risques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30 jours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Dossiers de prestations avec dates non transmis.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31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Restes à traiter en fin de période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Dossiers de prestations avec statut non transmis.</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32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Délai de remise en banque des titres de paiement (risques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1 jour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Registre des encaissements non transmis.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33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règlement de la cotisation au Fonds national de garantie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compte FNG (FOMUS-CI) dans les balances : adhésion et cotisation à confirmer.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tenue des réunions des organes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Procès-verbaux non transmis.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35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Existence et tenue des outils de suivi administratif</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Existence et tenue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Contrôle sur place, hors du champ des données reçues.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Existence et tenue des outils de suivi comptable et financier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Existence et tenue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Contrôle sur place, hors du champ des données reçues.</a:t>
                      </a:r>
                    </a:p>
                  </a:txBody>
                  <a:tcPr marL="43200" marR="43200" marT="14400" marB="14400" anchor="ctr">
                    <a:solidFill>
                      <a:srgbClr val="FFFFFF"/>
                    </a:solidFill>
                  </a:tcPr>
                </a:tc>
              </a:tr>
            </a:tbl>
          </a:graphicData>
        </a:graphic>
      </p:graphicFrame>
      <p:sp>
        <p:nvSpPr>
          <p:cNvPr id="33" name="TextBox 32"/>
          <p:cNvSpPr txBox="1"/>
          <p:nvPr/>
        </p:nvSpPr>
        <p:spPr>
          <a:xfrm>
            <a:off x="503999" y="4787066"/>
            <a:ext cx="11232000" cy="1080933"/>
          </a:xfrm>
          <a:prstGeom prst="rect">
            <a:avLst/>
          </a:prstGeom>
          <a:noFill/>
        </p:spPr>
        <p:txBody>
          <a:bodyPr wrap="square" lIns="54000" rIns="54000"/>
          <a:lstStyle/>
          <a:p>
            <a:pPr algn="just">
              <a:spcAft>
                <a:spcPts val="600"/>
              </a:spcAft>
            </a:pPr>
            <a:r>
              <a:rPr sz="1300" b="1">
                <a:solidFill>
                  <a:srgbClr val="060606"/>
                </a:solidFill>
                <a:latin typeface="Helvetica"/>
              </a:rPr>
              <a:t>L'absence de compte du fonds national de garantie dans les balances est le point le plus sensible.</a:t>
            </a:r>
            <a:r>
              <a:rPr sz="1300" b="0">
                <a:solidFill>
                  <a:srgbClr val="060606"/>
                </a:solidFill>
                <a:latin typeface="Helvetica"/>
              </a:rPr>
              <a:t> L'adhésion au fonds est obligatoire (règlement n° 07/2009, art. 63), et son défaut est sanctionné (arrêté n° 00115/MEPS/CAB, ligne 8).</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S/C : prestations / cotisations | PBC : liste des documents demandés au client | FNG : fonds national de garantie | FOMUS-CI : fonds de garantie des mutuelles sociales de Côte d'Ivoire | MEPS : ministère de l'Emploi et de la Protection sociale</a:t>
            </a:r>
          </a:p>
        </p:txBody>
      </p:sp>
    </p:spTree>
    <p:extLst>
      <p:ext uri="{BB962C8B-B14F-4D97-AF65-F5344CB8AC3E}">
        <p14:creationId xmlns:p14="http://schemas.microsoft.com/office/powerpoint/2010/main" val="795247469"/>
      </p:ext>
    </p:extLst>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Liquidité et équilibre : deux lectures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classement de l'épargne décide de la conformité de la liquidité et de l'équilibre stable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Liquidité 2025 : 0,13 comme le FPPN, 1,15 retraitée. Équilibre stable 2025 : 1,54 et 0,94</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31 : Liquidité et équilibre stable, comme le FPPN et retraités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Ratio (sans unité)</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Comme le FPPN tient ses comptes, la liquidité n'atteint jamais 1.</a:t>
            </a:r>
            <a:r>
              <a:rPr sz="1400" b="0">
                <a:solidFill>
                  <a:srgbClr val="060606"/>
                </a:solidFill>
                <a:latin typeface="Helvetica"/>
              </a:rPr>
              <a:t> Elle vaut au mieux 0,19 en 2021, car l'épargne figure parmi les dettes à court terme.</a:t>
            </a:r>
          </a:p>
          <a:p>
            <a:pPr algn="just">
              <a:spcAft>
                <a:spcPts val="600"/>
              </a:spcAft>
            </a:pPr>
            <a:r>
              <a:rPr sz="1400" b="1">
                <a:solidFill>
                  <a:srgbClr val="060606"/>
                </a:solidFill>
                <a:latin typeface="Helvetica"/>
              </a:rPr>
              <a:t>Retraitée, la liquidité devient conforme en 2025 et sur les huit mois de 2026.</a:t>
            </a:r>
            <a:r>
              <a:rPr sz="1400" b="0">
                <a:solidFill>
                  <a:srgbClr val="060606"/>
                </a:solidFill>
                <a:latin typeface="Helvetica"/>
              </a:rPr>
              <a:t> La trésorerie a fortement augmenté pendant que les dettes à court terme hors épargne restaient stables.</a:t>
            </a:r>
          </a:p>
          <a:p>
            <a:pPr algn="just">
              <a:spcAft>
                <a:spcPts val="600"/>
              </a:spcAft>
            </a:pPr>
            <a:r>
              <a:rPr sz="1400" b="1">
                <a:solidFill>
                  <a:srgbClr val="060606"/>
                </a:solidFill>
                <a:latin typeface="Helvetica"/>
              </a:rPr>
              <a:t>Retraité, l'équilibre stable devient conforme en 2025</a:t>
            </a:r>
            <a:r>
              <a:rPr sz="1400" b="0">
                <a:solidFill>
                  <a:srgbClr val="060606"/>
                </a:solidFill>
                <a:latin typeface="Helvetica"/>
              </a:rPr>
              <a:t> (0,94), car l'épargne finance alors durablement les emplois longs.</a:t>
            </a:r>
          </a:p>
          <a:p>
            <a:pPr algn="just">
              <a:spcAft>
                <a:spcPts val="600"/>
              </a:spcAft>
            </a:pPr>
            <a:r>
              <a:rPr sz="1400" b="1">
                <a:solidFill>
                  <a:srgbClr val="060606"/>
                </a:solidFill>
                <a:latin typeface="Helvetica"/>
              </a:rPr>
              <a:t>Implication pour le FPPN.</a:t>
            </a:r>
            <a:r>
              <a:rPr sz="1400" b="0">
                <a:solidFill>
                  <a:srgbClr val="060606"/>
                </a:solidFill>
                <a:latin typeface="Helvetica"/>
              </a:rPr>
              <a:t> La conformité dépend de la part réellement exigible de l'épargne dans l'année : le FPPN doit établir l'échéancier de l'EFC (départs à la retraite) et du PEP (échéances des plans).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115101082"/>
      </p:ext>
    </p:extLst>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sinistralité réglementaire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globale est sous la fourchette parce que le décès consomme peu</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Charges de prestations 1 964 772 027 FCFA / cotisations acquises 3 418 141 722 FCFA = 57,48 %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1.2.1.2.5</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1999" cy="2100090"/>
        </p:xfrm>
        <a:graphic>
          <a:graphicData uri="http://schemas.openxmlformats.org/drawingml/2006/table">
            <a:tbl>
              <a:tblPr firstRow="0" bandRow="0">
                <a:tableStyleId>{5940675A-B579-460E-94D1-54222C63F5DA}</a:tableStyleId>
              </a:tblPr>
              <a:tblGrid>
                <a:gridCol w="2232000"/>
                <a:gridCol w="2304000"/>
                <a:gridCol w="2015999"/>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Cotisations 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2 409 281 030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Cotisations décès et MEDOC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702</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1 008 860 692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Autres produits techniques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704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Cotisations acquises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3 418 141 722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Prestations 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601, 6013, 6018, 60800007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1 771 635 361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Prestations décès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6021, 6024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193 136 666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Autres prestations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60800008, 60850000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 prestations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1 964 772 027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Taux de sinistralité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 / 70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57,48 %</a:t>
                      </a:r>
                    </a:p>
                  </a:txBody>
                  <a:tcPr marL="43200" marR="43200" marT="14400" marB="14400" anchor="ctr">
                    <a:solidFill>
                      <a:srgbClr val="FFFFFF"/>
                    </a:solidFill>
                  </a:tcPr>
                </a:tc>
              </a:tr>
            </a:tbl>
          </a:graphicData>
        </a:graphic>
      </p:graphicFrame>
      <p:sp>
        <p:nvSpPr>
          <p:cNvPr id="33" name="Rounded Rectangle 32"/>
          <p:cNvSpPr/>
          <p:nvPr/>
        </p:nvSpPr>
        <p:spPr>
          <a:xfrm>
            <a:off x="5022000" y="2377238"/>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022000" y="3217276"/>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3066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022000" y="3427286"/>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76000" y="327608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Les cotisations acquises additionnent toute la classe 70, y compris les autres produits techniques.</a:t>
            </a:r>
          </a:p>
        </p:txBody>
      </p:sp>
      <p:sp>
        <p:nvSpPr>
          <p:cNvPr id="41" name="Oval 40"/>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632000" y="2104084"/>
            <a:ext cx="4104000" cy="484084"/>
          </a:xfrm>
          <a:prstGeom prst="rect">
            <a:avLst/>
          </a:prstGeom>
          <a:noFill/>
        </p:spPr>
        <p:txBody>
          <a:bodyPr wrap="square" anchor="t" lIns="54000" rIns="54000"/>
          <a:lstStyle/>
          <a:p>
            <a:pPr algn="l"/>
            <a:r>
              <a:rPr sz="1200" b="0">
                <a:solidFill>
                  <a:srgbClr val="060606"/>
                </a:solidFill>
                <a:latin typeface="Helvetica"/>
              </a:rPr>
              <a:t>Les charges de prestations additionnent toute la classe 60, maladie et décès confondus.</a:t>
            </a:r>
          </a:p>
        </p:txBody>
      </p:sp>
      <p:sp>
        <p:nvSpPr>
          <p:cNvPr id="43" name="Oval 42"/>
          <p:cNvSpPr/>
          <p:nvPr/>
        </p:nvSpPr>
        <p:spPr>
          <a:xfrm>
            <a:off x="7272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632000" y="2678168"/>
            <a:ext cx="4104000" cy="484084"/>
          </a:xfrm>
          <a:prstGeom prst="rect">
            <a:avLst/>
          </a:prstGeom>
          <a:noFill/>
        </p:spPr>
        <p:txBody>
          <a:bodyPr wrap="square" anchor="t" lIns="54000" rIns="54000"/>
          <a:lstStyle/>
          <a:p>
            <a:pPr algn="l"/>
            <a:r>
              <a:rPr sz="1200" b="0">
                <a:solidFill>
                  <a:srgbClr val="060606"/>
                </a:solidFill>
                <a:latin typeface="Helvetica"/>
              </a:rPr>
              <a:t>Le taux global se situe sous la borne basse de 70 % de la norme.</a:t>
            </a:r>
          </a:p>
        </p:txBody>
      </p:sp>
      <p:sp>
        <p:nvSpPr>
          <p:cNvPr id="45" name="TextBox 44"/>
          <p:cNvSpPr txBox="1"/>
          <p:nvPr/>
        </p:nvSpPr>
        <p:spPr>
          <a:xfrm>
            <a:off x="7272000" y="3342252"/>
            <a:ext cx="4464000" cy="2525747"/>
          </a:xfrm>
          <a:prstGeom prst="rect">
            <a:avLst/>
          </a:prstGeom>
          <a:noFill/>
        </p:spPr>
        <p:txBody>
          <a:bodyPr wrap="square" lIns="54000" rIns="54000"/>
          <a:lstStyle/>
          <a:p>
            <a:pPr algn="just">
              <a:spcAft>
                <a:spcPts val="600"/>
              </a:spcAft>
            </a:pPr>
            <a:r>
              <a:rPr sz="1200" b="1">
                <a:solidFill>
                  <a:srgbClr val="060606"/>
                </a:solidFill>
                <a:latin typeface="Helvetica"/>
              </a:rPr>
              <a:t>Une sinistralité trop basse est aussi un écart à la norme.</a:t>
            </a:r>
            <a:r>
              <a:rPr sz="1200" b="0">
                <a:solidFill>
                  <a:srgbClr val="060606"/>
                </a:solidFill>
                <a:latin typeface="Helvetica"/>
              </a:rPr>
              <a:t> La fourchette de 70 % à 80 % vise à ce que les cotisations reviennent aux adhérents sous forme de prestations.</a:t>
            </a:r>
          </a:p>
          <a:p>
            <a:pPr algn="just">
              <a:spcAft>
                <a:spcPts val="600"/>
              </a:spcAft>
            </a:pPr>
            <a:r>
              <a:rPr sz="1200" b="1">
                <a:solidFill>
                  <a:srgbClr val="060606"/>
                </a:solidFill>
                <a:latin typeface="Helvetica"/>
              </a:rPr>
              <a:t>Implication pour le FPPN.</a:t>
            </a:r>
            <a:r>
              <a:rPr sz="1200" b="0">
                <a:solidFill>
                  <a:srgbClr val="060606"/>
                </a:solidFill>
                <a:latin typeface="Helvetica"/>
              </a:rPr>
              <a:t> Appliqué à la seule maladie, le taux 2025 (73,53 %) se situe dans la fourchette. L'écart global vient de la garantie décès : son niveau de cotisation mérite d'être revu au vu de la mortalité observée, dès réception des données.</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MEDOC : produit santé complémentaire du poste 8Z7</a:t>
            </a:r>
          </a:p>
        </p:txBody>
      </p:sp>
    </p:spTree>
    <p:extLst>
      <p:ext uri="{BB962C8B-B14F-4D97-AF65-F5344CB8AC3E}">
        <p14:creationId xmlns:p14="http://schemas.microsoft.com/office/powerpoint/2010/main" val="2789647078"/>
      </p:ext>
    </p:extLst>
  </p:cSld>
  <p:clrMapOvr>
    <a:masterClrMapping/>
  </p:clrMapOvr>
  <p:transition>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marge de solvabilité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marge est conforme si l'on ignore les pertes reportées, non conforme sinon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Marge exigée 566 209 845 FCFA. Marge disponible 4 396 841 817 FCFA comme le FPPN, -438 242 200 FCFA nette des pertes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1.1.1. PCMS, fiche n° 2</a:t>
            </a:r>
          </a:p>
        </p:txBody>
      </p:sp>
      <p:sp>
        <p:nvSpPr>
          <p:cNvPr id="31" name="TextBox 30"/>
          <p:cNvSpPr txBox="1"/>
          <p:nvPr/>
        </p:nvSpPr>
        <p:spPr>
          <a:xfrm>
            <a:off x="503999" y="1350000"/>
            <a:ext cx="6696000" cy="180000"/>
          </a:xfrm>
          <a:prstGeom prst="rect">
            <a:avLst/>
          </a:prstGeom>
          <a:noFill/>
        </p:spPr>
        <p:txBody>
          <a:bodyPr wrap="square" anchor="t" lIns="54000" rIns="54000"/>
          <a:lstStyle/>
          <a:p>
            <a:pPr algn="l"/>
            <a:r>
              <a:rPr sz="900" b="0">
                <a:solidFill>
                  <a:srgbClr val="53565A"/>
                </a:solidFill>
                <a:latin typeface="Helvetica"/>
              </a:rPr>
              <a:t>Extrait : AUDIT ADENKA\DAFC\2024 et 2025 (balances des comptes)</a:t>
            </a:r>
          </a:p>
        </p:txBody>
      </p:sp>
      <p:graphicFrame>
        <p:nvGraphicFramePr>
          <p:cNvPr id="32" name="Table 31"/>
          <p:cNvGraphicFramePr>
            <a:graphicFrameLocks noGrp="1"/>
          </p:cNvGraphicFramePr>
          <p:nvPr/>
        </p:nvGraphicFramePr>
        <p:xfrm>
          <a:off x="503999" y="1548000"/>
          <a:ext cx="6696000" cy="2404910"/>
        </p:xfrm>
        <a:graphic>
          <a:graphicData uri="http://schemas.openxmlformats.org/drawingml/2006/table">
            <a:tbl>
              <a:tblPr firstRow="0" bandRow="0">
                <a:tableStyleId>{5940675A-B579-460E-94D1-54222C63F5DA}</a:tableStyleId>
              </a:tblPr>
              <a:tblGrid>
                <a:gridCol w="2376000"/>
                <a:gridCol w="2520000"/>
                <a:gridCol w="1800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18 % des cotisations acquises 2024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18 % x 3 145 610 249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566 209 845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26 % des prestations maladie 2023 à 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26 % x moyenne sur 3 ans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290 598 477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Marge exigée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 maximum des deux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566 209 845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obligatoire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compte 111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820 232 819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Réserves libres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compte 1188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677 208 998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disponible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compte 106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2 899 400 000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Marge disponible comme le FPPN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111 + 1188 + 106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4 396 841 817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Pertes reportées et résultat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129, 121, résultat 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-4 835 084 017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Marge disponible nette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FFFFF"/>
                    </a:solidFill>
                  </a:tcPr>
                </a:tc>
              </a:tr>
            </a:tbl>
          </a:graphicData>
        </a:graphic>
      </p:graphicFrame>
      <p:sp>
        <p:nvSpPr>
          <p:cNvPr id="33" name="Rounded Rectangle 32"/>
          <p:cNvSpPr/>
          <p:nvPr/>
        </p:nvSpPr>
        <p:spPr>
          <a:xfrm>
            <a:off x="5382000" y="2472047"/>
            <a:ext cx="183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20000" y="23208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382000" y="3312086"/>
            <a:ext cx="183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20000" y="316088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382000" y="3732105"/>
            <a:ext cx="183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20000" y="3580905"/>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1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776000" y="1530000"/>
            <a:ext cx="3959999" cy="484084"/>
          </a:xfrm>
          <a:prstGeom prst="rect">
            <a:avLst/>
          </a:prstGeom>
          <a:noFill/>
        </p:spPr>
        <p:txBody>
          <a:bodyPr wrap="square" anchor="t" lIns="54000" rIns="54000"/>
          <a:lstStyle/>
          <a:p>
            <a:pPr algn="l"/>
            <a:r>
              <a:rPr sz="1200" b="0">
                <a:solidFill>
                  <a:srgbClr val="060606"/>
                </a:solidFill>
                <a:latin typeface="Helvetica"/>
              </a:rPr>
              <a:t>La marge exigée vient de la règle des 18 % des cotisations, supérieure à celle des prestations.</a:t>
            </a:r>
          </a:p>
        </p:txBody>
      </p:sp>
      <p:sp>
        <p:nvSpPr>
          <p:cNvPr id="41" name="Oval 40"/>
          <p:cNvSpPr/>
          <p:nvPr/>
        </p:nvSpPr>
        <p:spPr>
          <a:xfrm>
            <a:off x="7416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776000" y="2104084"/>
            <a:ext cx="3959999" cy="484084"/>
          </a:xfrm>
          <a:prstGeom prst="rect">
            <a:avLst/>
          </a:prstGeom>
          <a:noFill/>
        </p:spPr>
        <p:txBody>
          <a:bodyPr wrap="square" anchor="t" lIns="54000" rIns="54000"/>
          <a:lstStyle/>
          <a:p>
            <a:pPr algn="l"/>
            <a:r>
              <a:rPr sz="1200" b="0">
                <a:solidFill>
                  <a:srgbClr val="060606"/>
                </a:solidFill>
                <a:latin typeface="Helvetica"/>
              </a:rPr>
              <a:t>Sans déduire les pertes, la marge disponible dépasse largement la marge exigée.</a:t>
            </a:r>
          </a:p>
        </p:txBody>
      </p:sp>
      <p:sp>
        <p:nvSpPr>
          <p:cNvPr id="43" name="Oval 42"/>
          <p:cNvSpPr/>
          <p:nvPr/>
        </p:nvSpPr>
        <p:spPr>
          <a:xfrm>
            <a:off x="7416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776000" y="2678168"/>
            <a:ext cx="3959999" cy="484084"/>
          </a:xfrm>
          <a:prstGeom prst="rect">
            <a:avLst/>
          </a:prstGeom>
          <a:noFill/>
        </p:spPr>
        <p:txBody>
          <a:bodyPr wrap="square" anchor="t" lIns="54000" rIns="54000"/>
          <a:lstStyle/>
          <a:p>
            <a:pPr algn="l"/>
            <a:r>
              <a:rPr sz="1200" b="0">
                <a:solidFill>
                  <a:srgbClr val="060606"/>
                </a:solidFill>
                <a:latin typeface="Helvetica"/>
              </a:rPr>
              <a:t>Une fois les pertes reportées déduites, la marge disponible devient négative.</a:t>
            </a:r>
          </a:p>
        </p:txBody>
      </p:sp>
      <p:sp>
        <p:nvSpPr>
          <p:cNvPr id="45" name="TextBox 44"/>
          <p:cNvSpPr txBox="1"/>
          <p:nvPr/>
        </p:nvSpPr>
        <p:spPr>
          <a:xfrm>
            <a:off x="7416000" y="3342252"/>
            <a:ext cx="4319999" cy="2525747"/>
          </a:xfrm>
          <a:prstGeom prst="rect">
            <a:avLst/>
          </a:prstGeom>
          <a:noFill/>
        </p:spPr>
        <p:txBody>
          <a:bodyPr wrap="square" lIns="54000" rIns="54000"/>
          <a:lstStyle/>
          <a:p>
            <a:pPr algn="just">
              <a:spcAft>
                <a:spcPts val="600"/>
              </a:spcAft>
            </a:pPr>
            <a:r>
              <a:rPr sz="1200" b="1">
                <a:solidFill>
                  <a:srgbClr val="060606"/>
                </a:solidFill>
                <a:latin typeface="Helvetica"/>
              </a:rPr>
              <a:t>La conformité dépend de la lecture des pertes reportées.</a:t>
            </a:r>
            <a:r>
              <a:rPr sz="1200" b="0">
                <a:solidFill>
                  <a:srgbClr val="060606"/>
                </a:solidFill>
                <a:latin typeface="Helvetica"/>
              </a:rPr>
              <a:t> Le ratio vaut 7,77 comme le FPPN et -0,77 net des pertes.</a:t>
            </a:r>
          </a:p>
          <a:p>
            <a:pPr algn="just">
              <a:spcAft>
                <a:spcPts val="600"/>
              </a:spcAft>
            </a:pPr>
            <a:r>
              <a:rPr sz="1200" b="1">
                <a:solidFill>
                  <a:srgbClr val="060606"/>
                </a:solidFill>
                <a:latin typeface="Helvetica"/>
              </a:rPr>
              <a:t>Implication pour le FPPN.</a:t>
            </a:r>
            <a:r>
              <a:rPr sz="1200" b="0">
                <a:solidFill>
                  <a:srgbClr val="060606"/>
                </a:solidFill>
                <a:latin typeface="Helvetica"/>
              </a:rPr>
              <a:t> Le FPPN n'a pas de fonds d'établissement, alors que la Décision exige un niveau minimal égal au tiers de la marge exigée, soit 188 736 615 FCFA en 2025.</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a:t>
            </a:r>
          </a:p>
        </p:txBody>
      </p:sp>
    </p:spTree>
    <p:extLst>
      <p:ext uri="{BB962C8B-B14F-4D97-AF65-F5344CB8AC3E}">
        <p14:creationId xmlns:p14="http://schemas.microsoft.com/office/powerpoint/2010/main" val="2075959387"/>
      </p:ext>
    </p:extLst>
  </p:cSld>
  <p:clrMapOvr>
    <a:masterClrMapping/>
  </p:clrMapOvr>
  <p:transition>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réserve obligatoire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réserve obligatoire couvre cinq mois de prestations, contre six au minimum</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820 232 819 FCFA x 12 / 1 964 772 027 FCFA = 5,01 mois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tableau 1 et § 1.2.2.5.4</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2000" cy="1260054"/>
        </p:xfrm>
        <a:graphic>
          <a:graphicData uri="http://schemas.openxmlformats.org/drawingml/2006/table">
            <a:tbl>
              <a:tblPr firstRow="0" bandRow="0">
                <a:tableStyleId>{5940675A-B579-460E-94D1-54222C63F5DA}</a:tableStyleId>
              </a:tblPr>
              <a:tblGrid>
                <a:gridCol w="2448000"/>
                <a:gridCol w="1872000"/>
                <a:gridCol w="2232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Réserve obligatoire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compte 111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820 232 819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 prestations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 60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1 964 772 027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Ratio de réserve obligatoire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111 x 12 / 60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5,01 mois</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nécessaire pour 6 mois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60 x 6 / 12</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982 386 014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Écart à combler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besoin - réserve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162 153 194 FCFA</a:t>
                      </a:r>
                    </a:p>
                  </a:txBody>
                  <a:tcPr marL="43200" marR="43200" marT="14400" marB="14400" anchor="ctr">
                    <a:solidFill>
                      <a:srgbClr val="FFFFFF"/>
                    </a:solidFill>
                  </a:tcPr>
                </a:tc>
              </a:tr>
            </a:tbl>
          </a:graphicData>
        </a:graphic>
      </p:graphicFrame>
      <p:sp>
        <p:nvSpPr>
          <p:cNvPr id="33" name="Rounded Rectangle 32"/>
          <p:cNvSpPr/>
          <p:nvPr/>
        </p:nvSpPr>
        <p:spPr>
          <a:xfrm>
            <a:off x="4806000" y="2167228"/>
            <a:ext cx="226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20160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4806000" y="2587247"/>
            <a:ext cx="226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2436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La réserve obligatoire couvre un peu plus de cinq mois de prestations.</a:t>
            </a:r>
          </a:p>
        </p:txBody>
      </p:sp>
      <p:sp>
        <p:nvSpPr>
          <p:cNvPr id="39" name="Oval 38"/>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7632000" y="2104084"/>
            <a:ext cx="4104000" cy="484084"/>
          </a:xfrm>
          <a:prstGeom prst="rect">
            <a:avLst/>
          </a:prstGeom>
          <a:noFill/>
        </p:spPr>
        <p:txBody>
          <a:bodyPr wrap="square" anchor="t" lIns="54000" rIns="54000"/>
          <a:lstStyle/>
          <a:p>
            <a:pPr algn="l"/>
            <a:r>
              <a:rPr sz="1200" b="0">
                <a:solidFill>
                  <a:srgbClr val="060606"/>
                </a:solidFill>
                <a:latin typeface="Helvetica"/>
              </a:rPr>
              <a:t>Il manque ce montant pour atteindre la borne basse de six mois.</a:t>
            </a:r>
          </a:p>
        </p:txBody>
      </p:sp>
      <p:sp>
        <p:nvSpPr>
          <p:cNvPr id="41" name="TextBox 40"/>
          <p:cNvSpPr txBox="1"/>
          <p:nvPr/>
        </p:nvSpPr>
        <p:spPr>
          <a:xfrm>
            <a:off x="7272000" y="2768168"/>
            <a:ext cx="4464000" cy="3099831"/>
          </a:xfrm>
          <a:prstGeom prst="rect">
            <a:avLst/>
          </a:prstGeom>
          <a:noFill/>
        </p:spPr>
        <p:txBody>
          <a:bodyPr wrap="square" lIns="54000" rIns="54000"/>
          <a:lstStyle/>
          <a:p>
            <a:pPr algn="just">
              <a:spcAft>
                <a:spcPts val="600"/>
              </a:spcAft>
            </a:pPr>
            <a:r>
              <a:rPr sz="1200" b="1">
                <a:solidFill>
                  <a:srgbClr val="060606"/>
                </a:solidFill>
                <a:latin typeface="Helvetica"/>
              </a:rPr>
              <a:t>La réserve progresse, mais moins vite que les prestations.</a:t>
            </a:r>
            <a:r>
              <a:rPr sz="1200" b="0">
                <a:solidFill>
                  <a:srgbClr val="060606"/>
                </a:solidFill>
                <a:latin typeface="Helvetica"/>
              </a:rPr>
              <a:t> Elle vaut zéro jusqu'en 2022 et couvre 3,25 mois en 2023, puis 5,01 mois en 2025.</a:t>
            </a:r>
          </a:p>
          <a:p>
            <a:pPr algn="just">
              <a:spcAft>
                <a:spcPts val="600"/>
              </a:spcAft>
            </a:pPr>
            <a:r>
              <a:rPr sz="1200" b="1">
                <a:solidFill>
                  <a:srgbClr val="060606"/>
                </a:solidFill>
                <a:latin typeface="Helvetica"/>
              </a:rPr>
              <a:t>Implication pour le FPPN.</a:t>
            </a:r>
            <a:r>
              <a:rPr sz="1200" b="0">
                <a:solidFill>
                  <a:srgbClr val="060606"/>
                </a:solidFill>
                <a:latin typeface="Helvetica"/>
              </a:rPr>
              <a:t> Comme les prestations augmentent chaque année, le besoin de réserve augmente aussi : la dotation annuelle doit suivre la sinistralité et non seulement le résultat.</a:t>
            </a:r>
          </a:p>
        </p:txBody>
      </p:sp>
      <p:sp>
        <p:nvSpPr>
          <p:cNvPr id="42" name="TextBox 4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236383328"/>
      </p:ext>
    </p:extLst>
  </p:cSld>
  <p:clrMapOvr>
    <a:masterClrMapping/>
  </p:clrMapOvr>
  <p:transition>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fonds propres et assimilés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ressources propres et les provisions couvrent un cinquième des dettes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et assimilés 4 391 056 090 FCFA / dettes 20 393 111 235 FCFA = 0,22</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1.2.2.5.3</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2000" cy="2347311"/>
        </p:xfrm>
        <a:graphic>
          <a:graphicData uri="http://schemas.openxmlformats.org/drawingml/2006/table">
            <a:tbl>
              <a:tblPr firstRow="0" bandRow="0">
                <a:tableStyleId>{5940675A-B579-460E-94D1-54222C63F5DA}</a:tableStyleId>
              </a:tblPr>
              <a:tblGrid>
                <a:gridCol w="2448000"/>
                <a:gridCol w="2160000"/>
                <a:gridCol w="1944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 11, 12, résultat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Provisions techniques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15801000, 15802000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4 829 298 290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Fonds propres et assimilés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numérateur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4 391 056 090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Dettes à court terme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 4 créditrice, 5 créditeur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15 520 146 267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dont épargne PEP et EFC</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41195100, 41195200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13 814 066 964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Provisions et autres dettes longues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15, 16, 196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4 872 964 968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Dettes, provisions comprises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dénominateur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20 393 111 235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Ratio des fonds propres et assimilés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numérateur / dénominateur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0,22</a:t>
                      </a:r>
                    </a:p>
                  </a:txBody>
                  <a:tcPr marL="43200" marR="43200" marT="14400" marB="14400" anchor="ctr">
                    <a:solidFill>
                      <a:srgbClr val="F2F2F2"/>
                    </a:solidFill>
                  </a:tcPr>
                </a:tc>
              </a:tr>
            </a:tbl>
          </a:graphicData>
        </a:graphic>
      </p:graphicFrame>
      <p:sp>
        <p:nvSpPr>
          <p:cNvPr id="33" name="Rounded Rectangle 32"/>
          <p:cNvSpPr/>
          <p:nvPr/>
        </p:nvSpPr>
        <p:spPr>
          <a:xfrm>
            <a:off x="5094000" y="1747209"/>
            <a:ext cx="198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094000" y="2739657"/>
            <a:ext cx="198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25884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094000" y="3522096"/>
            <a:ext cx="1980000" cy="38401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76000" y="337089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Les fonds propres sont négatifs : seules les provisions rendent le numérateur positif.</a:t>
            </a:r>
          </a:p>
        </p:txBody>
      </p:sp>
      <p:sp>
        <p:nvSpPr>
          <p:cNvPr id="41" name="Oval 40"/>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632000" y="2104084"/>
            <a:ext cx="4104000" cy="298144"/>
          </a:xfrm>
          <a:prstGeom prst="rect">
            <a:avLst/>
          </a:prstGeom>
          <a:noFill/>
        </p:spPr>
        <p:txBody>
          <a:bodyPr wrap="square" anchor="t" lIns="54000" rIns="54000"/>
          <a:lstStyle/>
          <a:p>
            <a:pPr algn="l"/>
            <a:r>
              <a:rPr sz="1200" b="0">
                <a:solidFill>
                  <a:srgbClr val="060606"/>
                </a:solidFill>
                <a:latin typeface="Helvetica"/>
              </a:rPr>
              <a:t>L'épargne représente l'essentiel des dettes.</a:t>
            </a:r>
          </a:p>
        </p:txBody>
      </p:sp>
      <p:sp>
        <p:nvSpPr>
          <p:cNvPr id="43" name="Oval 42"/>
          <p:cNvSpPr/>
          <p:nvPr/>
        </p:nvSpPr>
        <p:spPr>
          <a:xfrm>
            <a:off x="7272000" y="25102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632000" y="2492228"/>
            <a:ext cx="4104000" cy="298144"/>
          </a:xfrm>
          <a:prstGeom prst="rect">
            <a:avLst/>
          </a:prstGeom>
          <a:noFill/>
        </p:spPr>
        <p:txBody>
          <a:bodyPr wrap="square" anchor="t" lIns="54000" rIns="54000"/>
          <a:lstStyle/>
          <a:p>
            <a:pPr algn="l"/>
            <a:r>
              <a:rPr sz="1200" b="0">
                <a:solidFill>
                  <a:srgbClr val="060606"/>
                </a:solidFill>
                <a:latin typeface="Helvetica"/>
              </a:rPr>
              <a:t>Le ratio reste très loin de la norme d'au moins 1.</a:t>
            </a:r>
          </a:p>
        </p:txBody>
      </p:sp>
      <p:sp>
        <p:nvSpPr>
          <p:cNvPr id="45" name="TextBox 44"/>
          <p:cNvSpPr txBox="1"/>
          <p:nvPr/>
        </p:nvSpPr>
        <p:spPr>
          <a:xfrm>
            <a:off x="7272000" y="2970373"/>
            <a:ext cx="4464000" cy="2897626"/>
          </a:xfrm>
          <a:prstGeom prst="rect">
            <a:avLst/>
          </a:prstGeom>
          <a:noFill/>
        </p:spPr>
        <p:txBody>
          <a:bodyPr wrap="square" lIns="54000" rIns="54000"/>
          <a:lstStyle/>
          <a:p>
            <a:pPr algn="just">
              <a:spcAft>
                <a:spcPts val="600"/>
              </a:spcAft>
            </a:pPr>
            <a:r>
              <a:rPr sz="1200" b="1">
                <a:solidFill>
                  <a:srgbClr val="060606"/>
                </a:solidFill>
                <a:latin typeface="Helvetica"/>
              </a:rPr>
              <a:t>Même en comptant les provisions comme des fonds propres, le FPPN reste loin de la norme.</a:t>
            </a:r>
            <a:r>
              <a:rPr sz="1200" b="0">
                <a:solidFill>
                  <a:srgbClr val="060606"/>
                </a:solidFill>
                <a:latin typeface="Helvetica"/>
              </a:rPr>
              <a:t> Le ratio passe de 0,13 en 2022 à 0,22 en 2025.</a:t>
            </a:r>
          </a:p>
          <a:p>
            <a:pPr algn="just">
              <a:spcAft>
                <a:spcPts val="600"/>
              </a:spcAft>
            </a:pPr>
            <a:r>
              <a:rPr sz="1200" b="1">
                <a:solidFill>
                  <a:srgbClr val="060606"/>
                </a:solidFill>
                <a:latin typeface="Helvetica"/>
              </a:rPr>
              <a:t>Implication pour le FPPN.</a:t>
            </a:r>
            <a:r>
              <a:rPr sz="1200" b="0">
                <a:solidFill>
                  <a:srgbClr val="060606"/>
                </a:solidFill>
                <a:latin typeface="Helvetica"/>
              </a:rPr>
              <a:t> Ce ratio ne peut s'améliorer que par des excédents mis en réserve pendant plusieurs années : il mesure la profondeur du retard de fonds propres, plus qu'un problème de l'année.</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3310675671"/>
      </p:ext>
    </p:extLst>
  </p:cSld>
  <p:clrMapOvr>
    <a:masterClrMapping/>
  </p:clrMapOvr>
  <p:transition>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liquidité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trésorerie couvre un huitième des dettes à court terme, épargne comprise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Liquidité 0,13 comme le FPPN, 1,15 sans l'épargne. Trésorerie à échéance 0,17 et 1,59</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1.2.2.5.2 et section II</a:t>
            </a:r>
          </a:p>
        </p:txBody>
      </p:sp>
      <p:sp>
        <p:nvSpPr>
          <p:cNvPr id="31" name="TextBox 30"/>
          <p:cNvSpPr txBox="1"/>
          <p:nvPr/>
        </p:nvSpPr>
        <p:spPr>
          <a:xfrm>
            <a:off x="503999" y="1350000"/>
            <a:ext cx="6768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768000" cy="1832482"/>
        </p:xfrm>
        <a:graphic>
          <a:graphicData uri="http://schemas.openxmlformats.org/drawingml/2006/table">
            <a:tbl>
              <a:tblPr firstRow="0" bandRow="0">
                <a:tableStyleId>{5940675A-B579-460E-94D1-54222C63F5DA}</a:tableStyleId>
              </a:tblPr>
              <a:tblGrid>
                <a:gridCol w="2376000"/>
                <a:gridCol w="2664000"/>
                <a:gridCol w="1728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Trésorerie actif</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5 débitrice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1 964 171 543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Créances à court terme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classes 3 et 4 débitrices, hors avances durables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750 837 284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Dettes à court terme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4 créditrice, 5 créditeur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15 520 146 267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dont épargne PEP et EFC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41195100, 41195200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13 814 066 964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Dettes à court terme hors 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lecture retraitée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1 706 079 303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Liquidité comme le FPPN</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trésorerie / dettes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0,13</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Liquidité retraitée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trésorerie / dettes hors 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1,15</a:t>
                      </a:r>
                    </a:p>
                  </a:txBody>
                  <a:tcPr marL="43200" marR="43200" marT="14400" marB="14400" anchor="ctr">
                    <a:solidFill>
                      <a:srgbClr val="FFFFFF"/>
                    </a:solidFill>
                  </a:tcPr>
                </a:tc>
              </a:tr>
            </a:tbl>
          </a:graphicData>
        </a:graphic>
      </p:graphicFrame>
      <p:sp>
        <p:nvSpPr>
          <p:cNvPr id="33" name="Rounded Rectangle 32"/>
          <p:cNvSpPr/>
          <p:nvPr/>
        </p:nvSpPr>
        <p:spPr>
          <a:xfrm>
            <a:off x="5526000" y="252964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92000" y="23784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526000" y="294966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92000" y="279846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526000" y="3159676"/>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92000" y="30084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88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848000" y="1530000"/>
            <a:ext cx="3887999" cy="484084"/>
          </a:xfrm>
          <a:prstGeom prst="rect">
            <a:avLst/>
          </a:prstGeom>
          <a:noFill/>
        </p:spPr>
        <p:txBody>
          <a:bodyPr wrap="square" anchor="t" lIns="54000" rIns="54000"/>
          <a:lstStyle/>
          <a:p>
            <a:pPr algn="l"/>
            <a:r>
              <a:rPr sz="1200" b="0">
                <a:solidFill>
                  <a:srgbClr val="060606"/>
                </a:solidFill>
                <a:latin typeface="Helvetica"/>
              </a:rPr>
              <a:t>L'épargne représente presque toutes les dettes à court terme du plan comptable.</a:t>
            </a:r>
          </a:p>
        </p:txBody>
      </p:sp>
      <p:sp>
        <p:nvSpPr>
          <p:cNvPr id="41" name="Oval 40"/>
          <p:cNvSpPr/>
          <p:nvPr/>
        </p:nvSpPr>
        <p:spPr>
          <a:xfrm>
            <a:off x="7488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848000" y="2104084"/>
            <a:ext cx="3887999" cy="484084"/>
          </a:xfrm>
          <a:prstGeom prst="rect">
            <a:avLst/>
          </a:prstGeom>
          <a:noFill/>
        </p:spPr>
        <p:txBody>
          <a:bodyPr wrap="square" anchor="t" lIns="54000" rIns="54000"/>
          <a:lstStyle/>
          <a:p>
            <a:pPr algn="l"/>
            <a:r>
              <a:rPr sz="1200" b="0">
                <a:solidFill>
                  <a:srgbClr val="060606"/>
                </a:solidFill>
                <a:latin typeface="Helvetica"/>
              </a:rPr>
              <a:t>Dans cette lecture, la trésorerie couvre environ un huitième des dettes.</a:t>
            </a:r>
          </a:p>
        </p:txBody>
      </p:sp>
      <p:sp>
        <p:nvSpPr>
          <p:cNvPr id="43" name="Oval 42"/>
          <p:cNvSpPr/>
          <p:nvPr/>
        </p:nvSpPr>
        <p:spPr>
          <a:xfrm>
            <a:off x="7488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848000" y="2678168"/>
            <a:ext cx="3887999" cy="484084"/>
          </a:xfrm>
          <a:prstGeom prst="rect">
            <a:avLst/>
          </a:prstGeom>
          <a:noFill/>
        </p:spPr>
        <p:txBody>
          <a:bodyPr wrap="square" anchor="t" lIns="54000" rIns="54000"/>
          <a:lstStyle/>
          <a:p>
            <a:pPr algn="l"/>
            <a:r>
              <a:rPr sz="1200" b="0">
                <a:solidFill>
                  <a:srgbClr val="060606"/>
                </a:solidFill>
                <a:latin typeface="Helvetica"/>
              </a:rPr>
              <a:t>Sans l'épargne, la trésorerie couvre toutes les dettes à court terme.</a:t>
            </a:r>
          </a:p>
        </p:txBody>
      </p:sp>
      <p:sp>
        <p:nvSpPr>
          <p:cNvPr id="45" name="TextBox 44"/>
          <p:cNvSpPr txBox="1"/>
          <p:nvPr/>
        </p:nvSpPr>
        <p:spPr>
          <a:xfrm>
            <a:off x="7488000" y="3342252"/>
            <a:ext cx="4248000" cy="2525747"/>
          </a:xfrm>
          <a:prstGeom prst="rect">
            <a:avLst/>
          </a:prstGeom>
          <a:noFill/>
        </p:spPr>
        <p:txBody>
          <a:bodyPr wrap="square" lIns="54000" rIns="54000"/>
          <a:lstStyle/>
          <a:p>
            <a:pPr algn="just">
              <a:spcAft>
                <a:spcPts val="600"/>
              </a:spcAft>
            </a:pPr>
            <a:r>
              <a:rPr sz="1200" b="1">
                <a:solidFill>
                  <a:srgbClr val="060606"/>
                </a:solidFill>
                <a:latin typeface="Helvetica"/>
              </a:rPr>
              <a:t>Toute la question de la liquidité se ramène à l'épargne.</a:t>
            </a:r>
            <a:r>
              <a:rPr sz="1200" b="0">
                <a:solidFill>
                  <a:srgbClr val="060606"/>
                </a:solidFill>
                <a:latin typeface="Helvetica"/>
              </a:rPr>
              <a:t> Les autres dettes à court terme sont couvertes par la trésorerie en 2025.</a:t>
            </a:r>
          </a:p>
          <a:p>
            <a:pPr algn="just">
              <a:spcAft>
                <a:spcPts val="600"/>
              </a:spcAft>
            </a:pPr>
            <a:r>
              <a:rPr sz="1200" b="1">
                <a:solidFill>
                  <a:srgbClr val="060606"/>
                </a:solidFill>
                <a:latin typeface="Helvetica"/>
              </a:rPr>
              <a:t>Implication pour le FPPN.</a:t>
            </a:r>
            <a:r>
              <a:rPr sz="1200" b="0">
                <a:solidFill>
                  <a:srgbClr val="060606"/>
                </a:solidFill>
                <a:latin typeface="Helvetica"/>
              </a:rPr>
              <a:t> Le FPPN doit connaître la part de l'épargne exigible dans l'année : sans cet échéancier, la lecture prudente du plan comptable s'impose et la liquidité est non conforme.</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1314260927"/>
      </p:ext>
    </p:extLst>
  </p:cSld>
  <p:clrMapOvr>
    <a:masterClrMapping/>
  </p:clrMapOvr>
  <p:transition>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équilibre stable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emplois longs dépassent les ressources longues, sauf si l'épargne est une ressource longue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Équilibre stable 1,54 comme le FPPN, 0,94 retraité. Norme d'au plus 1</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1.2.3.1</a:t>
            </a:r>
          </a:p>
        </p:txBody>
      </p:sp>
      <p:sp>
        <p:nvSpPr>
          <p:cNvPr id="31" name="TextBox 30"/>
          <p:cNvSpPr txBox="1"/>
          <p:nvPr/>
        </p:nvSpPr>
        <p:spPr>
          <a:xfrm>
            <a:off x="503999" y="1350000"/>
            <a:ext cx="6768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768000" cy="1470063"/>
        </p:xfrm>
        <a:graphic>
          <a:graphicData uri="http://schemas.openxmlformats.org/drawingml/2006/table">
            <a:tbl>
              <a:tblPr firstRow="0" bandRow="0">
                <a:tableStyleId>{5940675A-B579-460E-94D1-54222C63F5DA}</a:tableStyleId>
              </a:tblPr>
              <a:tblGrid>
                <a:gridCol w="2376000"/>
                <a:gridCol w="2664000"/>
                <a:gridCol w="1728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Actif immobilisé net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6 814 784 076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Avances et créances durables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47111100 à 47111105, 47111201, 485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10 425 076 132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Ressources longues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 à 19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4 434 722 768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Épargne PEP et EFC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41195100, 41195200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13 814 066 964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Équilibre stable comme le FPPN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2 / classe 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1,54</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Équilibre stable retraité</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 avances) / (1 + épargne)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0,94</a:t>
                      </a:r>
                    </a:p>
                  </a:txBody>
                  <a:tcPr marL="43200" marR="43200" marT="14400" marB="14400" anchor="ctr">
                    <a:solidFill>
                      <a:srgbClr val="F2F2F2"/>
                    </a:solidFill>
                  </a:tcPr>
                </a:tc>
              </a:tr>
            </a:tbl>
          </a:graphicData>
        </a:graphic>
      </p:graphicFrame>
      <p:sp>
        <p:nvSpPr>
          <p:cNvPr id="33" name="Rounded Rectangle 32"/>
          <p:cNvSpPr/>
          <p:nvPr/>
        </p:nvSpPr>
        <p:spPr>
          <a:xfrm>
            <a:off x="5526000" y="1957219"/>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92000" y="180601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526000" y="258724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92000" y="2436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526000" y="279725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92000" y="26460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88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848000" y="1530000"/>
            <a:ext cx="3887999" cy="484084"/>
          </a:xfrm>
          <a:prstGeom prst="rect">
            <a:avLst/>
          </a:prstGeom>
          <a:noFill/>
        </p:spPr>
        <p:txBody>
          <a:bodyPr wrap="square" anchor="t" lIns="54000" rIns="54000"/>
          <a:lstStyle/>
          <a:p>
            <a:pPr algn="l"/>
            <a:r>
              <a:rPr sz="1200" b="0">
                <a:solidFill>
                  <a:srgbClr val="060606"/>
                </a:solidFill>
                <a:latin typeface="Helvetica"/>
              </a:rPr>
              <a:t>Des avances durables supérieures à l'actif immobilisé sont suivies hors de la classe 2.</a:t>
            </a:r>
          </a:p>
        </p:txBody>
      </p:sp>
      <p:sp>
        <p:nvSpPr>
          <p:cNvPr id="41" name="Oval 40"/>
          <p:cNvSpPr/>
          <p:nvPr/>
        </p:nvSpPr>
        <p:spPr>
          <a:xfrm>
            <a:off x="7488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848000" y="2104084"/>
            <a:ext cx="3887999" cy="484084"/>
          </a:xfrm>
          <a:prstGeom prst="rect">
            <a:avLst/>
          </a:prstGeom>
          <a:noFill/>
        </p:spPr>
        <p:txBody>
          <a:bodyPr wrap="square" anchor="t" lIns="54000" rIns="54000"/>
          <a:lstStyle/>
          <a:p>
            <a:pPr algn="l"/>
            <a:r>
              <a:rPr sz="1200" b="0">
                <a:solidFill>
                  <a:srgbClr val="060606"/>
                </a:solidFill>
                <a:latin typeface="Helvetica"/>
              </a:rPr>
              <a:t>Comme le FPPN, les emplois longs valent plus d'une fois et demie les ressources longues.</a:t>
            </a:r>
          </a:p>
        </p:txBody>
      </p:sp>
      <p:sp>
        <p:nvSpPr>
          <p:cNvPr id="43" name="Oval 42"/>
          <p:cNvSpPr/>
          <p:nvPr/>
        </p:nvSpPr>
        <p:spPr>
          <a:xfrm>
            <a:off x="7488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848000" y="2678168"/>
            <a:ext cx="3887999" cy="484084"/>
          </a:xfrm>
          <a:prstGeom prst="rect">
            <a:avLst/>
          </a:prstGeom>
          <a:noFill/>
        </p:spPr>
        <p:txBody>
          <a:bodyPr wrap="square" anchor="t" lIns="54000" rIns="54000"/>
          <a:lstStyle/>
          <a:p>
            <a:pPr algn="l"/>
            <a:r>
              <a:rPr sz="1200" b="0">
                <a:solidFill>
                  <a:srgbClr val="060606"/>
                </a:solidFill>
                <a:latin typeface="Helvetica"/>
              </a:rPr>
              <a:t>Avec l'épargne en ressource longue, l'équilibre est respecté de peu.</a:t>
            </a:r>
          </a:p>
        </p:txBody>
      </p:sp>
      <p:sp>
        <p:nvSpPr>
          <p:cNvPr id="45" name="TextBox 44"/>
          <p:cNvSpPr txBox="1"/>
          <p:nvPr/>
        </p:nvSpPr>
        <p:spPr>
          <a:xfrm>
            <a:off x="7488000" y="3342252"/>
            <a:ext cx="4248000" cy="2525747"/>
          </a:xfrm>
          <a:prstGeom prst="rect">
            <a:avLst/>
          </a:prstGeom>
          <a:noFill/>
        </p:spPr>
        <p:txBody>
          <a:bodyPr wrap="square" lIns="54000" rIns="54000"/>
          <a:lstStyle/>
          <a:p>
            <a:pPr algn="just">
              <a:spcAft>
                <a:spcPts val="600"/>
              </a:spcAft>
            </a:pPr>
            <a:r>
              <a:rPr sz="1200" b="1">
                <a:solidFill>
                  <a:srgbClr val="060606"/>
                </a:solidFill>
                <a:latin typeface="Helvetica"/>
              </a:rPr>
              <a:t>L'épargne des adhérents finance les emplois longs du FPPN.</a:t>
            </a:r>
            <a:r>
              <a:rPr sz="1200" b="0">
                <a:solidFill>
                  <a:srgbClr val="060606"/>
                </a:solidFill>
                <a:latin typeface="Helvetica"/>
              </a:rPr>
              <a:t> Sans elle, les ressources longues ne couvrent pas les terrains, les bâtiments et les avances durables.</a:t>
            </a:r>
          </a:p>
          <a:p>
            <a:pPr algn="just">
              <a:spcAft>
                <a:spcPts val="600"/>
              </a:spcAft>
            </a:pPr>
            <a:r>
              <a:rPr sz="1200" b="1">
                <a:solidFill>
                  <a:srgbClr val="060606"/>
                </a:solidFill>
                <a:latin typeface="Helvetica"/>
              </a:rPr>
              <a:t>Implication pour le FPPN.</a:t>
            </a:r>
            <a:r>
              <a:rPr sz="1200" b="0">
                <a:solidFill>
                  <a:srgbClr val="060606"/>
                </a:solidFill>
                <a:latin typeface="Helvetica"/>
              </a:rPr>
              <a:t> Financer des emplois longs avec de l'épargne n'est soutenable que si cette épargne reste longtemps : c'est précisément ce que l'échéancier de l'EFC et du PEP doit démontrer.</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3979055920"/>
      </p:ext>
    </p:extLst>
  </p:cSld>
  <p:clrMapOvr>
    <a:masterClrMapping/>
  </p:clrMapOvr>
  <p:transition>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taux d'excédent net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L'excédent dépasse le plafond de 5 % des cotisations, ce qui sert à reconstituer les fonds propres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Excédent net 437 899 911 FCFA / cotisations acquises 3 418 141 722 FCFA = 12,81 %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1.2.2.5.5</a:t>
            </a:r>
          </a:p>
        </p:txBody>
      </p:sp>
      <p:sp>
        <p:nvSpPr>
          <p:cNvPr id="31" name="TextBox 30"/>
          <p:cNvSpPr txBox="1"/>
          <p:nvPr/>
        </p:nvSpPr>
        <p:spPr>
          <a:xfrm>
            <a:off x="503999" y="1350000"/>
            <a:ext cx="6480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479998" cy="1470063"/>
        </p:xfrm>
        <a:graphic>
          <a:graphicData uri="http://schemas.openxmlformats.org/drawingml/2006/table">
            <a:tbl>
              <a:tblPr firstRow="0" bandRow="0">
                <a:tableStyleId>{5940675A-B579-460E-94D1-54222C63F5DA}</a:tableStyleId>
              </a:tblPr>
              <a:tblGrid>
                <a:gridCol w="2448000"/>
                <a:gridCol w="2015999"/>
                <a:gridCol w="2015999"/>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Produits des activités ordinaires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3 671 499 865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des activités ordinaires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 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3 250 431 812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Résultat hors activités ordinaires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16 831 858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Excédent net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7 - 6 + 8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437 899 911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Cotisations acquises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70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3 418 141 722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Taux d'excédent net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excédent / cotisations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12,81 %</a:t>
                      </a:r>
                    </a:p>
                  </a:txBody>
                  <a:tcPr marL="43200" marR="43200" marT="14400" marB="14400" anchor="ctr">
                    <a:solidFill>
                      <a:srgbClr val="F2F2F2"/>
                    </a:solidFill>
                  </a:tcPr>
                </a:tc>
              </a:tr>
            </a:tbl>
          </a:graphicData>
        </a:graphic>
      </p:graphicFrame>
      <p:sp>
        <p:nvSpPr>
          <p:cNvPr id="33" name="Rounded Rectangle 32"/>
          <p:cNvSpPr/>
          <p:nvPr/>
        </p:nvSpPr>
        <p:spPr>
          <a:xfrm>
            <a:off x="4949999" y="2377238"/>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03999"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4949999" y="2797257"/>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03999" y="26460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7200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7560000" y="1530000"/>
            <a:ext cx="4176000" cy="484084"/>
          </a:xfrm>
          <a:prstGeom prst="rect">
            <a:avLst/>
          </a:prstGeom>
          <a:noFill/>
        </p:spPr>
        <p:txBody>
          <a:bodyPr wrap="square" anchor="t" lIns="54000" rIns="54000"/>
          <a:lstStyle/>
          <a:p>
            <a:pPr algn="l"/>
            <a:r>
              <a:rPr sz="1200" b="0">
                <a:solidFill>
                  <a:srgbClr val="060606"/>
                </a:solidFill>
                <a:latin typeface="Helvetica"/>
              </a:rPr>
              <a:t>L'excédent net 2025 est positif, mais il baisse depuis 2021.</a:t>
            </a:r>
          </a:p>
        </p:txBody>
      </p:sp>
      <p:sp>
        <p:nvSpPr>
          <p:cNvPr id="39" name="Oval 38"/>
          <p:cNvSpPr/>
          <p:nvPr/>
        </p:nvSpPr>
        <p:spPr>
          <a:xfrm>
            <a:off x="7200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7560000" y="2104084"/>
            <a:ext cx="4176000" cy="298144"/>
          </a:xfrm>
          <a:prstGeom prst="rect">
            <a:avLst/>
          </a:prstGeom>
          <a:noFill/>
        </p:spPr>
        <p:txBody>
          <a:bodyPr wrap="square" anchor="t" lIns="54000" rIns="54000"/>
          <a:lstStyle/>
          <a:p>
            <a:pPr algn="l"/>
            <a:r>
              <a:rPr sz="1200" b="0">
                <a:solidFill>
                  <a:srgbClr val="060606"/>
                </a:solidFill>
                <a:latin typeface="Helvetica"/>
              </a:rPr>
              <a:t>Le taux dépasse le plafond de 5 % fixé par la norme.</a:t>
            </a:r>
          </a:p>
        </p:txBody>
      </p:sp>
      <p:sp>
        <p:nvSpPr>
          <p:cNvPr id="41" name="TextBox 40"/>
          <p:cNvSpPr txBox="1"/>
          <p:nvPr/>
        </p:nvSpPr>
        <p:spPr>
          <a:xfrm>
            <a:off x="7200000" y="2582228"/>
            <a:ext cx="4536000" cy="3285771"/>
          </a:xfrm>
          <a:prstGeom prst="rect">
            <a:avLst/>
          </a:prstGeom>
          <a:noFill/>
        </p:spPr>
        <p:txBody>
          <a:bodyPr wrap="square" lIns="54000" rIns="54000"/>
          <a:lstStyle/>
          <a:p>
            <a:pPr algn="just">
              <a:spcAft>
                <a:spcPts val="600"/>
              </a:spcAft>
            </a:pPr>
            <a:r>
              <a:rPr sz="1200" b="1">
                <a:solidFill>
                  <a:srgbClr val="060606"/>
                </a:solidFill>
                <a:latin typeface="Helvetica"/>
              </a:rPr>
              <a:t>Ce dépassement n'est pas un défaut en soi pour le FPPN.</a:t>
            </a:r>
            <a:r>
              <a:rPr sz="1200" b="0">
                <a:solidFill>
                  <a:srgbClr val="060606"/>
                </a:solidFill>
                <a:latin typeface="Helvetica"/>
              </a:rPr>
              <a:t> Ses fonds propres sont négatifs, et les excédents sont le seul moyen de les reconstituer et de doter la réserve obligatoire.</a:t>
            </a:r>
          </a:p>
          <a:p>
            <a:pPr algn="just">
              <a:spcAft>
                <a:spcPts val="600"/>
              </a:spcAft>
            </a:pPr>
            <a:r>
              <a:rPr sz="1200" b="1">
                <a:solidFill>
                  <a:srgbClr val="060606"/>
                </a:solidFill>
                <a:latin typeface="Helvetica"/>
              </a:rPr>
              <a:t>Implication pour le FPPN.</a:t>
            </a:r>
            <a:r>
              <a:rPr sz="1200" b="0">
                <a:solidFill>
                  <a:srgbClr val="060606"/>
                </a:solidFill>
                <a:latin typeface="Helvetica"/>
              </a:rPr>
              <a:t> Un plan de mise en conformité présenté à l'AIRMS doit justifier ce dépassement temporaire par l'objectif de fonds propres, avec un calendrier de retour sous le plafond.</a:t>
            </a:r>
          </a:p>
        </p:txBody>
      </p:sp>
      <p:sp>
        <p:nvSpPr>
          <p:cNvPr id="42" name="TextBox 4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a:t>
            </a:r>
          </a:p>
        </p:txBody>
      </p:sp>
    </p:spTree>
    <p:extLst>
      <p:ext uri="{BB962C8B-B14F-4D97-AF65-F5344CB8AC3E}">
        <p14:creationId xmlns:p14="http://schemas.microsoft.com/office/powerpoint/2010/main" val="1991373948"/>
      </p:ext>
    </p:extLst>
  </p:cSld>
  <p:clrMapOvr>
    <a:masterClrMapping/>
  </p:clrMapOvr>
  <p:transition>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frais de fonctionnement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charges de fonctionnement absorbent plus d'un tiers des cotisations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Taux des charges de fonctionnement 36,34 % (norme 20 %), brut 34,86 % (norme 15 %), par unité prestée 63,21 % (norme 15 %)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1.2.1.2.1 à 1.2.1.2.4</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2000" cy="2252500"/>
        </p:xfrm>
        <a:graphic>
          <a:graphicData uri="http://schemas.openxmlformats.org/drawingml/2006/table">
            <a:tbl>
              <a:tblPr firstRow="0" bandRow="0">
                <a:tableStyleId>{5940675A-B579-460E-94D1-54222C63F5DA}</a:tableStyleId>
              </a:tblPr>
              <a:tblGrid>
                <a:gridCol w="2592000"/>
                <a:gridCol w="2232000"/>
                <a:gridCol w="1728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Charges de fonctionnement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612, 613, 618, 62 à 68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1 241 993 107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Cotisations acquises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3 418 141 722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Taux des charges de fonctionnement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norme : au plus 20 %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36,34 %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 fonctionnement brut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61 à 68, 691, 697</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1 285 659 785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Total des produits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liste de l'annexe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3 688 331 723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Taux brut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norme : au plus 15 %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34,86 %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Charges de prestations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1 964 772 027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Coût par unité prestée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norme : au plus 15 %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63,21 %</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Charges de personnel / fonctionnement brut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66, norme : moins de 85 %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26,57 %</a:t>
                      </a:r>
                    </a:p>
                  </a:txBody>
                  <a:tcPr marL="43200" marR="43200" marT="14400" marB="14400" anchor="ctr">
                    <a:solidFill>
                      <a:srgbClr val="FFFFFF"/>
                    </a:solidFill>
                  </a:tcPr>
                </a:tc>
              </a:tr>
            </a:tbl>
          </a:graphicData>
        </a:graphic>
      </p:graphicFrame>
      <p:sp>
        <p:nvSpPr>
          <p:cNvPr id="33" name="Rounded Rectangle 32"/>
          <p:cNvSpPr/>
          <p:nvPr/>
        </p:nvSpPr>
        <p:spPr>
          <a:xfrm>
            <a:off x="5310000" y="2167228"/>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20160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310000" y="279725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26460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310000" y="3217276"/>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76000" y="3066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Les charges de fonctionnement représentent plus d'un tiers des cotisations.</a:t>
            </a:r>
          </a:p>
        </p:txBody>
      </p:sp>
      <p:sp>
        <p:nvSpPr>
          <p:cNvPr id="41" name="Oval 40"/>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632000" y="2104084"/>
            <a:ext cx="4104000" cy="298144"/>
          </a:xfrm>
          <a:prstGeom prst="rect">
            <a:avLst/>
          </a:prstGeom>
          <a:noFill/>
        </p:spPr>
        <p:txBody>
          <a:bodyPr wrap="square" anchor="t" lIns="54000" rIns="54000"/>
          <a:lstStyle/>
          <a:p>
            <a:pPr algn="l"/>
            <a:r>
              <a:rPr sz="1200" b="0">
                <a:solidFill>
                  <a:srgbClr val="060606"/>
                </a:solidFill>
                <a:latin typeface="Helvetica"/>
              </a:rPr>
              <a:t>Le taux brut dépasse aussi sa norme de 15 %.</a:t>
            </a:r>
          </a:p>
        </p:txBody>
      </p:sp>
      <p:sp>
        <p:nvSpPr>
          <p:cNvPr id="43" name="Oval 42"/>
          <p:cNvSpPr/>
          <p:nvPr/>
        </p:nvSpPr>
        <p:spPr>
          <a:xfrm>
            <a:off x="7272000" y="25102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632000" y="2492228"/>
            <a:ext cx="4104000" cy="484084"/>
          </a:xfrm>
          <a:prstGeom prst="rect">
            <a:avLst/>
          </a:prstGeom>
          <a:noFill/>
        </p:spPr>
        <p:txBody>
          <a:bodyPr wrap="square" anchor="t" lIns="54000" rIns="54000"/>
          <a:lstStyle/>
          <a:p>
            <a:pPr algn="l"/>
            <a:r>
              <a:rPr sz="1200" b="0">
                <a:solidFill>
                  <a:srgbClr val="060606"/>
                </a:solidFill>
                <a:latin typeface="Helvetica"/>
              </a:rPr>
              <a:t>Le FPPN dépense 63 FCFA de fonctionnement pour 100 FCFA de prestations.</a:t>
            </a:r>
          </a:p>
        </p:txBody>
      </p:sp>
      <p:sp>
        <p:nvSpPr>
          <p:cNvPr id="45" name="TextBox 44"/>
          <p:cNvSpPr txBox="1"/>
          <p:nvPr/>
        </p:nvSpPr>
        <p:spPr>
          <a:xfrm>
            <a:off x="7272000" y="3156312"/>
            <a:ext cx="4464000" cy="2711687"/>
          </a:xfrm>
          <a:prstGeom prst="rect">
            <a:avLst/>
          </a:prstGeom>
          <a:noFill/>
        </p:spPr>
        <p:txBody>
          <a:bodyPr wrap="square" lIns="54000" rIns="54000"/>
          <a:lstStyle/>
          <a:p>
            <a:pPr algn="just">
              <a:spcAft>
                <a:spcPts val="600"/>
              </a:spcAft>
            </a:pPr>
            <a:r>
              <a:rPr sz="1200" b="1">
                <a:solidFill>
                  <a:srgbClr val="060606"/>
                </a:solidFill>
                <a:latin typeface="Helvetica"/>
              </a:rPr>
              <a:t>Le personnel n'explique pas l'écart.</a:t>
            </a:r>
            <a:r>
              <a:rPr sz="1200" b="0">
                <a:solidFill>
                  <a:srgbClr val="060606"/>
                </a:solidFill>
                <a:latin typeface="Helvetica"/>
              </a:rPr>
              <a:t> Les charges de personnel ne représentent qu'un quart des charges de fonctionnement brut. Les indemnités des organes, les services extérieurs et les amortissements pèsent ensemble davantage.</a:t>
            </a:r>
          </a:p>
          <a:p>
            <a:pPr algn="just">
              <a:spcAft>
                <a:spcPts val="600"/>
              </a:spcAft>
            </a:pPr>
            <a:r>
              <a:rPr sz="1200" b="1">
                <a:solidFill>
                  <a:srgbClr val="060606"/>
                </a:solidFill>
                <a:latin typeface="Helvetica"/>
              </a:rPr>
              <a:t>Implication pour le FPPN.</a:t>
            </a:r>
            <a:r>
              <a:rPr sz="1200" b="0">
                <a:solidFill>
                  <a:srgbClr val="060606"/>
                </a:solidFill>
                <a:latin typeface="Helvetica"/>
              </a:rPr>
              <a:t> Pour atteindre 20 % des cotisations de 2025, les charges de fonctionnement doivent baisser de 558 364 763 FCFA : l'effort doit porter sur les postes autres que le personnel.</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380680802"/>
      </p:ext>
    </p:extLst>
  </p:cSld>
  <p:clrMapOvr>
    <a:masterClrMapping/>
  </p:clrMapOvr>
  <p:transition>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réserves des risques longs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Aucune réserve de trésorerie n'est constituée pour l'épargne, et les fonds propres sont négatifs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Besoin d'un trimestre d'engagements et de frais : 588 613 821 FCFA. Réserve de trésorerie constituée : 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Règlement d'exécution n° 004/2022/COM/UEMOA du 1er juin 2022, art. 19 et 21</a:t>
            </a:r>
          </a:p>
        </p:txBody>
      </p:sp>
      <p:sp>
        <p:nvSpPr>
          <p:cNvPr id="31" name="TextBox 30"/>
          <p:cNvSpPr txBox="1"/>
          <p:nvPr/>
        </p:nvSpPr>
        <p:spPr>
          <a:xfrm>
            <a:off x="503999" y="1350000"/>
            <a:ext cx="6696000" cy="180000"/>
          </a:xfrm>
          <a:prstGeom prst="rect">
            <a:avLst/>
          </a:prstGeom>
          <a:noFill/>
        </p:spPr>
        <p:txBody>
          <a:bodyPr wrap="square" anchor="t" lIns="54000" rIns="54000"/>
          <a:lstStyle/>
          <a:p>
            <a:pPr algn="l"/>
            <a:r>
              <a:rPr sz="900" b="0">
                <a:solidFill>
                  <a:srgbClr val="53565A"/>
                </a:solidFill>
                <a:latin typeface="Helvetica"/>
              </a:rPr>
              <a:t>Extrait : AUDIT ADENKA\DAFC\2024 et 2025 (balances des comptes)</a:t>
            </a:r>
          </a:p>
        </p:txBody>
      </p:sp>
      <p:graphicFrame>
        <p:nvGraphicFramePr>
          <p:cNvPr id="32" name="Table 31"/>
          <p:cNvGraphicFramePr>
            <a:graphicFrameLocks noGrp="1"/>
          </p:cNvGraphicFramePr>
          <p:nvPr/>
        </p:nvGraphicFramePr>
        <p:xfrm>
          <a:off x="503999" y="1548000"/>
          <a:ext cx="6695999" cy="2194901"/>
        </p:xfrm>
        <a:graphic>
          <a:graphicData uri="http://schemas.openxmlformats.org/drawingml/2006/table">
            <a:tbl>
              <a:tblPr firstRow="0" bandRow="0">
                <a:tableStyleId>{5940675A-B579-460E-94D1-54222C63F5DA}</a:tableStyleId>
              </a:tblPr>
              <a:tblGrid>
                <a:gridCol w="2520000"/>
                <a:gridCol w="2520000"/>
                <a:gridCol w="1655999"/>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Sorties d'épargne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débits 41195100 et 41195200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1 358 821 103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Frais attribués à l'épargne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prorata épargne / (épargne + cotisations)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995 634 179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Besoin d'un trimestre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(sorties + frais) / 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588 613 821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de trésorerie constituée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aucun compte identifié</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 FCFA</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Actifs réservés à l'épargne (pour comparaison)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banques, DAT et FCP réservés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1 608 155 525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Fonds propres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 à 14 + résultat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Sorties d'épargne 2024 et 2025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art. 21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2 993 682 337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Fonds propres / sorties de deux ans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norme : au moins 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-0,15</a:t>
                      </a:r>
                    </a:p>
                  </a:txBody>
                  <a:tcPr marL="43200" marR="43200" marT="14400" marB="14400" anchor="ctr">
                    <a:solidFill>
                      <a:srgbClr val="F2F2F2"/>
                    </a:solidFill>
                  </a:tcPr>
                </a:tc>
              </a:tr>
            </a:tbl>
          </a:graphicData>
        </a:graphic>
      </p:graphicFrame>
      <p:sp>
        <p:nvSpPr>
          <p:cNvPr id="33" name="Rounded Rectangle 32"/>
          <p:cNvSpPr/>
          <p:nvPr/>
        </p:nvSpPr>
        <p:spPr>
          <a:xfrm>
            <a:off x="5526000" y="2319638"/>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20000" y="21684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526000" y="2529647"/>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20000" y="23784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526000" y="3522096"/>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20000" y="337089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1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776000" y="1530000"/>
            <a:ext cx="3959999" cy="484084"/>
          </a:xfrm>
          <a:prstGeom prst="rect">
            <a:avLst/>
          </a:prstGeom>
          <a:noFill/>
        </p:spPr>
        <p:txBody>
          <a:bodyPr wrap="square" anchor="t" lIns="54000" rIns="54000"/>
          <a:lstStyle/>
          <a:p>
            <a:pPr algn="l"/>
            <a:r>
              <a:rPr sz="1200" b="0">
                <a:solidFill>
                  <a:srgbClr val="060606"/>
                </a:solidFill>
                <a:latin typeface="Helvetica"/>
              </a:rPr>
              <a:t>Le besoin d'un trimestre se calcule à partir des sorties réelles d'épargne.</a:t>
            </a:r>
          </a:p>
        </p:txBody>
      </p:sp>
      <p:sp>
        <p:nvSpPr>
          <p:cNvPr id="41" name="Oval 40"/>
          <p:cNvSpPr/>
          <p:nvPr/>
        </p:nvSpPr>
        <p:spPr>
          <a:xfrm>
            <a:off x="7416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776000" y="2104084"/>
            <a:ext cx="3959999" cy="484084"/>
          </a:xfrm>
          <a:prstGeom prst="rect">
            <a:avLst/>
          </a:prstGeom>
          <a:noFill/>
        </p:spPr>
        <p:txBody>
          <a:bodyPr wrap="square" anchor="t" lIns="54000" rIns="54000"/>
          <a:lstStyle/>
          <a:p>
            <a:pPr algn="l"/>
            <a:r>
              <a:rPr sz="1200" b="0">
                <a:solidFill>
                  <a:srgbClr val="060606"/>
                </a:solidFill>
                <a:latin typeface="Helvetica"/>
              </a:rPr>
              <a:t>Aucun compte de réserve de trésorerie n'existe dans les balances.</a:t>
            </a:r>
          </a:p>
        </p:txBody>
      </p:sp>
      <p:sp>
        <p:nvSpPr>
          <p:cNvPr id="43" name="Oval 42"/>
          <p:cNvSpPr/>
          <p:nvPr/>
        </p:nvSpPr>
        <p:spPr>
          <a:xfrm>
            <a:off x="7416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776000" y="2678168"/>
            <a:ext cx="3959999" cy="484084"/>
          </a:xfrm>
          <a:prstGeom prst="rect">
            <a:avLst/>
          </a:prstGeom>
          <a:noFill/>
        </p:spPr>
        <p:txBody>
          <a:bodyPr wrap="square" anchor="t" lIns="54000" rIns="54000"/>
          <a:lstStyle/>
          <a:p>
            <a:pPr algn="l"/>
            <a:r>
              <a:rPr sz="1200" b="0">
                <a:solidFill>
                  <a:srgbClr val="060606"/>
                </a:solidFill>
                <a:latin typeface="Helvetica"/>
              </a:rPr>
              <a:t>Les fonds propres négatifs rendent le ratio de l'article 21 négatif.</a:t>
            </a:r>
          </a:p>
        </p:txBody>
      </p:sp>
      <p:sp>
        <p:nvSpPr>
          <p:cNvPr id="45" name="TextBox 44"/>
          <p:cNvSpPr txBox="1"/>
          <p:nvPr/>
        </p:nvSpPr>
        <p:spPr>
          <a:xfrm>
            <a:off x="7416000" y="3342252"/>
            <a:ext cx="4319999" cy="2525747"/>
          </a:xfrm>
          <a:prstGeom prst="rect">
            <a:avLst/>
          </a:prstGeom>
          <a:noFill/>
        </p:spPr>
        <p:txBody>
          <a:bodyPr wrap="square" lIns="54000" rIns="54000"/>
          <a:lstStyle/>
          <a:p>
            <a:pPr algn="just">
              <a:spcAft>
                <a:spcPts val="600"/>
              </a:spcAft>
            </a:pPr>
            <a:r>
              <a:rPr sz="1200" b="1">
                <a:solidFill>
                  <a:srgbClr val="060606"/>
                </a:solidFill>
                <a:latin typeface="Helvetica"/>
              </a:rPr>
              <a:t>Les actifs réservés à l'épargne dépassent le besoin d'un trimestre, mais ils ne forment pas une réserve.</a:t>
            </a:r>
            <a:r>
              <a:rPr sz="1200" b="0">
                <a:solidFill>
                  <a:srgbClr val="060606"/>
                </a:solidFill>
                <a:latin typeface="Helvetica"/>
              </a:rPr>
              <a:t> Une réserve est une part des fonds propres affectée, et les fonds propres du FPPN sont négatifs.</a:t>
            </a:r>
          </a:p>
          <a:p>
            <a:pPr algn="just">
              <a:spcAft>
                <a:spcPts val="600"/>
              </a:spcAft>
            </a:pPr>
            <a:r>
              <a:rPr sz="1200" b="1">
                <a:solidFill>
                  <a:srgbClr val="060606"/>
                </a:solidFill>
                <a:latin typeface="Helvetica"/>
              </a:rPr>
              <a:t>Implication pour le FPPN.</a:t>
            </a:r>
            <a:r>
              <a:rPr sz="1200" b="0">
                <a:solidFill>
                  <a:srgbClr val="060606"/>
                </a:solidFill>
                <a:latin typeface="Helvetica"/>
              </a:rPr>
              <a:t> La constitution de cette réserve passe par l'affectation d'excédents futurs, après reconstitution des fonds propres : elle doit figurer dans le plan de mise en conformité.</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FCP : fonds commun de placement | DAT : dépôt à terme</a:t>
            </a:r>
          </a:p>
        </p:txBody>
      </p:sp>
    </p:spTree>
    <p:extLst>
      <p:ext uri="{BB962C8B-B14F-4D97-AF65-F5344CB8AC3E}">
        <p14:creationId xmlns:p14="http://schemas.microsoft.com/office/powerpoint/2010/main" val="1494463841"/>
      </p:ext>
    </p:extLst>
  </p:cSld>
  <p:clrMapOvr>
    <a:masterClrMapping/>
  </p:clrMapOvr>
  <p:transition>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Ce que dit la norme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Décision n° 05/2022 impose d'affecter à la réserve obligatoire au moins 30 % de l'excédent net du risque maladie et au moins 50 % de celui des autres risques (§ 1.1.1). Le règlement d'exécution fixe une dotation de 20 à 50 % du résultat excédentaire de l'exercice précédent (art. 18).</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Ce qui nous y a conduits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résultat global du FPPN est positif, mais la sinistralité maladie monte vite pendant que le décès reste très excédentaire (partie 5). Un excédent global peut donc cacher un déficit de la maladie, ce que la norme veut précisément rendre visible.</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Ce que fait le FPPN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comptabilité sépare les cotisations et les prestations de chaque risque, mais pas les frais de fonctionnement. Adenka reprend d'abord la dotation réellement passée en réserve, telle que le FPPN l'a décidée.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Pourquoi répartir les frais</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L'excédent par risque est la différence entre les produits et toutes les charges affectées au risque (Décision, § 1.1.1). Sans clé fournie par le FPPN, Adenka répartit les frais au prorata des cotisations de chaque risque, la clé la plus neutre.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Excédent par risque : pourquoi le calculer</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norme d'affectation des excédents oblige à connaître le résultat de chaque risque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FPPN ne présente qu'un résultat global. Adenka reconstitue le résultat de la maladie et du décès</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 1.1.1. Règlement d'exécution n° 004/2022/COM/UEMOA du 1er juin 2022, art. 18.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3909465253"/>
      </p:ext>
    </p:extLst>
  </p:cSld>
  <p:clrMapOvr>
    <a:masterClrMapping/>
  </p:clrMapOvr>
  <p:transition>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Excédent par risque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Depuis 2025, la maladie est déficitaire et le décès finance l'ensemble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Excédent maladie 2025 : -237 774 567 FCFA. Excédent décès 2025 : 449 151 155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32 : Excédent technique par risque, frais répartis au prorata des cotisations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Répartition des frais par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maladie devient déficitaire en 2025, une fois ses frais pris en compte.</a:t>
            </a:r>
            <a:r>
              <a:rPr sz="1400" b="0">
                <a:solidFill>
                  <a:srgbClr val="060606"/>
                </a:solidFill>
                <a:latin typeface="Helvetica"/>
              </a:rPr>
              <a:t> Son excédent passe de 818 990 532 FCFA en 2022 à -237 774 567 FCFA en 2025.</a:t>
            </a:r>
          </a:p>
          <a:p>
            <a:pPr algn="just">
              <a:spcAft>
                <a:spcPts val="600"/>
              </a:spcAft>
            </a:pPr>
            <a:r>
              <a:rPr sz="1400" b="1">
                <a:solidFill>
                  <a:srgbClr val="060606"/>
                </a:solidFill>
                <a:latin typeface="Helvetica"/>
              </a:rPr>
              <a:t>Le décès est excédentaire chaque année depuis 2022.</a:t>
            </a:r>
            <a:r>
              <a:rPr sz="1400" b="0">
                <a:solidFill>
                  <a:srgbClr val="060606"/>
                </a:solidFill>
                <a:latin typeface="Helvetica"/>
              </a:rPr>
              <a:t> Il dégage 449 151 155 FCFA en 2025.</a:t>
            </a:r>
          </a:p>
          <a:p>
            <a:pPr algn="just">
              <a:spcAft>
                <a:spcPts val="600"/>
              </a:spcAft>
            </a:pPr>
            <a:r>
              <a:rPr sz="1400" b="1">
                <a:solidFill>
                  <a:srgbClr val="060606"/>
                </a:solidFill>
                <a:latin typeface="Helvetica"/>
              </a:rPr>
              <a:t>Sur les huit mois de 2026, le déficit maladie atteint -701 679 552 FCFA.</a:t>
            </a:r>
          </a:p>
          <a:p>
            <a:pPr algn="just">
              <a:spcAft>
                <a:spcPts val="600"/>
              </a:spcAft>
            </a:pPr>
            <a:r>
              <a:rPr sz="1400" b="1">
                <a:solidFill>
                  <a:srgbClr val="060606"/>
                </a:solidFill>
                <a:latin typeface="Helvetica"/>
              </a:rPr>
              <a:t>Implication pour le FPPN.</a:t>
            </a:r>
            <a:r>
              <a:rPr sz="1400" b="0">
                <a:solidFill>
                  <a:srgbClr val="060606"/>
                </a:solidFill>
                <a:latin typeface="Helvetica"/>
              </a:rPr>
              <a:t> Le décès subventionne la maladie : si le barème officiel confirme une clé de 70 % pour la maladie, la cotisation maladie ne couvre plus son coût complet et doit être revue.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591658119"/>
      </p:ext>
    </p:extLst>
  </p:cSld>
  <p:clrMapOvr>
    <a:masterClrMapping/>
  </p:clrMapOvr>
  <p:transition>
    <p:fad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Affectation des excédents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Depuis 2024, la dotation à la réserve obligatoire atteint le minimum exigé par risque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Dotation de la réserve légale (compte 111) rapportée au résultat de l'exercice précédent, puis comparée aux deux normes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1.1.1. Règlement d'exécution n° 004/2022/COM/UEMOA du 1er juin 2022, art. 18</a:t>
            </a:r>
          </a:p>
        </p:txBody>
      </p:sp>
      <p:sp>
        <p:nvSpPr>
          <p:cNvPr id="31" name="TextBox 30"/>
          <p:cNvSpPr txBox="1"/>
          <p:nvPr/>
        </p:nvSpPr>
        <p:spPr>
          <a:xfrm>
            <a:off x="503999" y="1386000"/>
            <a:ext cx="10368000" cy="216000"/>
          </a:xfrm>
          <a:prstGeom prst="rect">
            <a:avLst/>
          </a:prstGeom>
          <a:noFill/>
        </p:spPr>
        <p:txBody>
          <a:bodyPr wrap="square" anchor="t" lIns="54000" rIns="54000"/>
          <a:lstStyle/>
          <a:p>
            <a:pPr algn="ctr"/>
            <a:r>
              <a:rPr sz="1200" b="0">
                <a:solidFill>
                  <a:srgbClr val="EFAC62"/>
                </a:solidFill>
                <a:latin typeface="Helvetica"/>
              </a:rPr>
              <a:t>Tableau 22 : Dotation de la réserve obligatoire et normes</a:t>
            </a:r>
          </a:p>
        </p:txBody>
      </p:sp>
      <p:graphicFrame>
        <p:nvGraphicFramePr>
          <p:cNvPr id="32" name="Table 31"/>
          <p:cNvGraphicFramePr>
            <a:graphicFrameLocks noGrp="1"/>
          </p:cNvGraphicFramePr>
          <p:nvPr/>
        </p:nvGraphicFramePr>
        <p:xfrm>
          <a:off x="503999" y="1655999"/>
          <a:ext cx="10368000" cy="992446"/>
        </p:xfrm>
        <a:graphic>
          <a:graphicData uri="http://schemas.openxmlformats.org/drawingml/2006/table">
            <a:tbl>
              <a:tblPr firstRow="0" bandRow="0">
                <a:tableStyleId>{5940675A-B579-460E-94D1-54222C63F5DA}</a:tableStyleId>
              </a:tblPr>
              <a:tblGrid>
                <a:gridCol w="1152000"/>
                <a:gridCol w="1800000"/>
                <a:gridCol w="1584000"/>
                <a:gridCol w="936000"/>
                <a:gridCol w="1584000"/>
                <a:gridCol w="1584000"/>
                <a:gridCol w="1728000"/>
              </a:tblGrid>
              <a:tr h="362419">
                <a:tc>
                  <a:txBody>
                    <a:bodyPr/>
                    <a:lstStyle/>
                    <a:p>
                      <a:pPr marL="0" indent="0" lvl="0">
                        <a:buNone/>
                      </a:pPr>
                      <a:r>
                        <a:rPr sz="1000" b="1">
                          <a:solidFill>
                            <a:srgbClr val="FFFFFF"/>
                          </a:solidFill>
                          <a:latin typeface="Helvetica"/>
                        </a:rPr>
                        <a:t>Affectation en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Résultat de l'exercice précédent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Dotation réelle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Taux</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Minimum de 20 %</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Minimum par risque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Écart au minimum par risque</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2 060 332 677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184 219 879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8,94 %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412 066 535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387 843 936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-203 624 057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930 629 102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335 026 477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36,00 %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186 125 820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320 983 343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14 043 134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792 069 641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300 986 463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38,00 %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158 413 928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300 300 308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686 155 FCFA</a:t>
                      </a:r>
                    </a:p>
                  </a:txBody>
                  <a:tcPr marL="43200" marR="43200" marT="14400" marB="14400" anchor="ctr">
                    <a:solidFill>
                      <a:srgbClr val="FFFFFF"/>
                    </a:solidFill>
                  </a:tcPr>
                </a:tc>
              </a:tr>
            </a:tbl>
          </a:graphicData>
        </a:graphic>
      </p:graphicFrame>
      <p:sp>
        <p:nvSpPr>
          <p:cNvPr id="33" name="TextBox 32"/>
          <p:cNvSpPr txBox="1"/>
          <p:nvPr/>
        </p:nvSpPr>
        <p:spPr>
          <a:xfrm>
            <a:off x="503999" y="2756448"/>
            <a:ext cx="11232000" cy="3111552"/>
          </a:xfrm>
          <a:prstGeom prst="rect">
            <a:avLst/>
          </a:prstGeom>
          <a:noFill/>
        </p:spPr>
        <p:txBody>
          <a:bodyPr wrap="square" lIns="54000" rIns="54000"/>
          <a:lstStyle/>
          <a:p>
            <a:pPr algn="just">
              <a:spcAft>
                <a:spcPts val="600"/>
              </a:spcAft>
            </a:pPr>
            <a:r>
              <a:rPr sz="1300" b="1">
                <a:solidFill>
                  <a:srgbClr val="060606"/>
                </a:solidFill>
                <a:latin typeface="Helvetica"/>
              </a:rPr>
              <a:t>La dotation passe de 8,94 % du résultat en 2023 à 38,00 % en 2025.</a:t>
            </a:r>
            <a:r>
              <a:rPr sz="1300" b="0">
                <a:solidFill>
                  <a:srgbClr val="060606"/>
                </a:solidFill>
                <a:latin typeface="Helvetica"/>
              </a:rPr>
              <a:t> En 2023, elle restait sous les deux minimums, pendant le délai de mise en conformité de trois ans.</a:t>
            </a:r>
          </a:p>
          <a:p>
            <a:pPr algn="just">
              <a:spcAft>
                <a:spcPts val="600"/>
              </a:spcAft>
            </a:pPr>
            <a:r>
              <a:rPr sz="1300" b="1">
                <a:solidFill>
                  <a:srgbClr val="060606"/>
                </a:solidFill>
                <a:latin typeface="Helvetica"/>
              </a:rPr>
              <a:t>En 2024, une partie des excédents a aussi servi à apurer les pertes reportées et à doter les réserves facultatives.</a:t>
            </a:r>
          </a:p>
          <a:p>
            <a:pPr algn="just">
              <a:spcAft>
                <a:spcPts val="600"/>
              </a:spcAft>
            </a:pPr>
            <a:r>
              <a:rPr sz="1300" b="1">
                <a:solidFill>
                  <a:srgbClr val="060606"/>
                </a:solidFill>
                <a:latin typeface="Helvetica"/>
              </a:rPr>
              <a:t>Implication pour le FPPN.</a:t>
            </a:r>
            <a:r>
              <a:rPr sz="1300" b="0">
                <a:solidFill>
                  <a:srgbClr val="060606"/>
                </a:solidFill>
                <a:latin typeface="Helvetica"/>
              </a:rPr>
              <a:t> Le FPPN respecte désormais la règle d'affectation, mais la réserve reste sous six mois de prestations : la règle d'affectation seule ne suffit pas à rattraper le retard.</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191452730"/>
      </p:ext>
    </p:extLst>
  </p:cSld>
  <p:clrMapOvr>
    <a:masterClrMapping/>
  </p:clrMapOvr>
  <p:transition>
    <p:fad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Marge de solvabilité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marge disponible ne couvre la marge exigée que si l'on ignore les pertes reportées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2025 : marge exigée 566 209 845 FCFA, disponible 4 396 841 817 FCFA comme le FPPN, -438 242 200 FCFA nette des pertes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33 : Marge de solvabilité exigée et disponible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1.1.1. PCMS, fiche n° 1</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marge disponible comme le FPPN repose surtout sur la réserve disponible du compte 10620000</a:t>
            </a:r>
            <a:r>
              <a:rPr sz="1400" b="0">
                <a:solidFill>
                  <a:srgbClr val="060606"/>
                </a:solidFill>
                <a:latin typeface="Helvetica"/>
              </a:rPr>
              <a:t> (2 899 400 000 FCFA), dont la nature reste à confirmer.</a:t>
            </a:r>
          </a:p>
          <a:p>
            <a:pPr algn="just">
              <a:spcAft>
                <a:spcPts val="600"/>
              </a:spcAft>
            </a:pPr>
            <a:r>
              <a:rPr sz="1400" b="1">
                <a:solidFill>
                  <a:srgbClr val="060606"/>
                </a:solidFill>
                <a:latin typeface="Helvetica"/>
              </a:rPr>
              <a:t>Nette des pertes reportées, la marge disponible est négative chaque année</a:t>
            </a:r>
            <a:r>
              <a:rPr sz="1400" b="0">
                <a:solidFill>
                  <a:srgbClr val="060606"/>
                </a:solidFill>
                <a:latin typeface="Helvetica"/>
              </a:rPr>
              <a:t>, même si elle se rapproche de zéro jusqu'en 2025.</a:t>
            </a:r>
          </a:p>
          <a:p>
            <a:pPr algn="just">
              <a:spcAft>
                <a:spcPts val="600"/>
              </a:spcAft>
            </a:pPr>
            <a:r>
              <a:rPr sz="1400" b="1">
                <a:solidFill>
                  <a:srgbClr val="060606"/>
                </a:solidFill>
                <a:latin typeface="Helvetica"/>
              </a:rPr>
              <a:t>La marge exigée augmente avec les cotisations</a:t>
            </a:r>
            <a:r>
              <a:rPr sz="1400" b="0">
                <a:solidFill>
                  <a:srgbClr val="060606"/>
                </a:solidFill>
                <a:latin typeface="Helvetica"/>
              </a:rPr>
              <a:t> : elle passe de 423 039 138 FCFA en 2021 à 615 265 510 FCFA en 2026.</a:t>
            </a:r>
          </a:p>
          <a:p>
            <a:pPr algn="just">
              <a:spcAft>
                <a:spcPts val="600"/>
              </a:spcAft>
            </a:pPr>
            <a:r>
              <a:rPr sz="1400" b="1">
                <a:solidFill>
                  <a:srgbClr val="060606"/>
                </a:solidFill>
                <a:latin typeface="Helvetica"/>
              </a:rPr>
              <a:t>Implication pour le FPPN.</a:t>
            </a:r>
            <a:r>
              <a:rPr sz="1400" b="0">
                <a:solidFill>
                  <a:srgbClr val="060606"/>
                </a:solidFill>
                <a:latin typeface="Helvetica"/>
              </a:rPr>
              <a:t> Si le compte 10620000 est un écart de réévaluation, comme son numéro l'indique dans le PCMS, il ne compte pas dans la marge, et le FPPN est non conforme dans les deux lectures. Le FPPN doit documenter l'origine de ce montant.</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a:t>
            </a:r>
          </a:p>
        </p:txBody>
      </p:sp>
    </p:spTree>
    <p:extLst>
      <p:ext uri="{BB962C8B-B14F-4D97-AF65-F5344CB8AC3E}">
        <p14:creationId xmlns:p14="http://schemas.microsoft.com/office/powerpoint/2010/main" val="3353005263"/>
      </p:ext>
    </p:extLst>
  </p:cSld>
  <p:clrMapOvr>
    <a:masterClrMapping/>
  </p:clrMapOvr>
  <p:transition>
    <p:fad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Contrôle du plan comptable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écarts au plan comptable touchent directement les calculs actuariels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Contrôle limité aux comptes qui alimentent les provisions, les réserves, l'épargne, les cotisations, les prestations et les placements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PCMS (mai 2012), liste des comptes et fiches n° 1, 2, 6 et 25. Balances du FPPN</a:t>
            </a:r>
          </a:p>
        </p:txBody>
      </p:sp>
      <p:sp>
        <p:nvSpPr>
          <p:cNvPr id="31" name="TextBox 30"/>
          <p:cNvSpPr txBox="1"/>
          <p:nvPr/>
        </p:nvSpPr>
        <p:spPr>
          <a:xfrm>
            <a:off x="503999" y="1386000"/>
            <a:ext cx="11231999" cy="216000"/>
          </a:xfrm>
          <a:prstGeom prst="rect">
            <a:avLst/>
          </a:prstGeom>
          <a:noFill/>
        </p:spPr>
        <p:txBody>
          <a:bodyPr wrap="square" anchor="t" lIns="54000" rIns="54000"/>
          <a:lstStyle/>
          <a:p>
            <a:pPr algn="ctr"/>
            <a:r>
              <a:rPr sz="1200" b="0">
                <a:solidFill>
                  <a:srgbClr val="EFAC62"/>
                </a:solidFill>
                <a:latin typeface="Helvetica"/>
              </a:rPr>
              <a:t>Tableau 23 : Contrôle du classement des comptes selon le PCMS</a:t>
            </a:r>
          </a:p>
        </p:txBody>
      </p:sp>
      <p:graphicFrame>
        <p:nvGraphicFramePr>
          <p:cNvPr id="32" name="Table 31"/>
          <p:cNvGraphicFramePr>
            <a:graphicFrameLocks noGrp="1"/>
          </p:cNvGraphicFramePr>
          <p:nvPr/>
        </p:nvGraphicFramePr>
        <p:xfrm>
          <a:off x="503999" y="1655999"/>
          <a:ext cx="11231996" cy="3478505"/>
        </p:xfrm>
        <a:graphic>
          <a:graphicData uri="http://schemas.openxmlformats.org/drawingml/2006/table">
            <a:tbl>
              <a:tblPr firstRow="0" bandRow="0">
                <a:tableStyleId>{5940675A-B579-460E-94D1-54222C63F5DA}</a:tableStyleId>
              </a:tblPr>
              <a:tblGrid>
                <a:gridCol w="1655999"/>
                <a:gridCol w="2951999"/>
                <a:gridCol w="3311999"/>
                <a:gridCol w="3311999"/>
              </a:tblGrid>
              <a:tr h="194768">
                <a:tc>
                  <a:txBody>
                    <a:bodyPr/>
                    <a:lstStyle/>
                    <a:p>
                      <a:pPr marL="0" indent="0" lvl="0">
                        <a:buNone/>
                      </a:pPr>
                      <a:r>
                        <a:rPr sz="900" b="1">
                          <a:solidFill>
                            <a:srgbClr val="FFFFFF"/>
                          </a:solidFill>
                          <a:latin typeface="Helvetica"/>
                        </a:rPr>
                        <a:t>Point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Attendu selon le PCMS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Constat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Incidence</a:t>
                      </a:r>
                    </a:p>
                  </a:txBody>
                  <a:tcPr marL="43200" marR="43200" marT="14400" marB="14400" anchor="ctr">
                    <a:solidFill>
                      <a:srgbClr val="060606"/>
                    </a:solidFill>
                  </a:tcPr>
                </a:tc>
              </a:tr>
              <a:tr h="606274">
                <a:tc>
                  <a:txBody>
                    <a:bodyPr/>
                    <a:lstStyle/>
                    <a:p>
                      <a:pPr marL="0" indent="0" lvl="0">
                        <a:buNone/>
                      </a:pPr>
                      <a:r>
                        <a:rPr sz="900" b="1">
                          <a:solidFill>
                            <a:srgbClr val="060606"/>
                          </a:solidFill>
                          <a:latin typeface="Helvetica"/>
                        </a:rPr>
                        <a:t>Provisions pour prestations à payer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19011 et 19012 (classe 19, provisions techniques). La rubrique 15 est réservée aux provisions réglementées à caractère fiscal.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Conforme de 2020 à 2023. Depuis 2024, les provisions techniques sont classées en provisions réglementées (158), sans changement de montant.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 sur les montants. Les provisions techniques n'apparaissent plus comme telles dans le bilan, ce qui gêne leur lecture et le contrôle de l'article 7 du règlement d'exécution.</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Réserve disponible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106 = écarts de réévaluation des immeubles (fonds mutualistes). Les réserves vont en 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Libellé et rubrique ne concordent pas. L'origine du montant (réévaluation ou excédents mis en réserve) n'est pas documentée.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montant compte ou non dans la marge de solvabilité selon sa nature : à confirmer par le FPPN.</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Réserves légales et facultatives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111 réserves légales, 118 autres réserves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Conforme.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Base du ratio de réserve obligatoire et de la marge de solvabilité.</a:t>
                      </a:r>
                    </a:p>
                  </a:txBody>
                  <a:tcPr marL="43200" marR="43200" marT="14400" marB="14400" anchor="ctr">
                    <a:solidFill>
                      <a:srgbClr val="FFFFFF"/>
                    </a:solidFill>
                  </a:tcPr>
                </a:tc>
              </a:tr>
              <a:tr h="606274">
                <a:tc>
                  <a:txBody>
                    <a:bodyPr/>
                    <a:lstStyle/>
                    <a:p>
                      <a:pPr marL="0" indent="0" lvl="0">
                        <a:buNone/>
                      </a:pPr>
                      <a:r>
                        <a:rPr sz="900" b="1">
                          <a:solidFill>
                            <a:srgbClr val="060606"/>
                          </a:solidFill>
                          <a:latin typeface="Helvetica"/>
                        </a:rPr>
                        <a:t>Épargne des adhérents (PEP, EFC)</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41195 « Autres comptes créditeurs des adhérents » (classe 4, tiers).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Compte conforme au PCMS. Le PCMS ne prévoit pas de compte propre aux risques longs. Le règlement d'exécution exige des états financiers par risque long (art. 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Classée en dette à court terme, l'épargne pèse sur les ratios de liquidité. Son échéance réelle reste à établir avec les âges.</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Avances au CMP, au Grenier et créance sur l'Hôpital de la Police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471 = comptes d'attente débiteurs (opérations à régulariser). Les prêts et placements durables relèvent des classes 26 et 27.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Des emplois durables de 11 603 989 675 FCFA au 31/08/2026 sont suivis en comptes d'attente ou de tiers.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Ils sont comptés en court terme dans les ratios de liquidité et absents des emplois longs du ratio d'équilibre stable.</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Cotisations et prestations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701 maladie, 702 décès. 601 maladie, 602 obsèques, 608 autres prestations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Conforme.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Base de la sinistralité réglementaire.</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Primes, indemnités et supplément familial du personnel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641 = impôts et taxes sur salaires. Les rémunérations relèvent de 66.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Ces montants sont classés en impôts et taxes.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Faible (moins de 8 000 000 FCFA par an) : le taux de charges de personnel est légèrement sous-estimé.</a:t>
                      </a:r>
                    </a:p>
                  </a:txBody>
                  <a:tcPr marL="43200" marR="43200" marT="14400" marB="14400" anchor="ctr">
                    <a:solidFill>
                      <a:srgbClr val="FFFFFF"/>
                    </a:solidFill>
                  </a:tcPr>
                </a:tc>
              </a:tr>
            </a:tbl>
          </a:graphicData>
        </a:graphic>
      </p:graphicFrame>
      <p:sp>
        <p:nvSpPr>
          <p:cNvPr id="33" name="TextBox 32"/>
          <p:cNvSpPr txBox="1"/>
          <p:nvPr/>
        </p:nvSpPr>
        <p:spPr>
          <a:xfrm>
            <a:off x="503999" y="5242510"/>
            <a:ext cx="11232000" cy="625489"/>
          </a:xfrm>
          <a:prstGeom prst="rect">
            <a:avLst/>
          </a:prstGeom>
          <a:noFill/>
        </p:spPr>
        <p:txBody>
          <a:bodyPr wrap="square" lIns="54000" rIns="54000"/>
          <a:lstStyle/>
          <a:p>
            <a:pPr algn="just">
              <a:spcAft>
                <a:spcPts val="600"/>
              </a:spcAft>
            </a:pPr>
            <a:r>
              <a:rPr sz="1300" b="1">
                <a:solidFill>
                  <a:srgbClr val="060606"/>
                </a:solidFill>
                <a:latin typeface="Helvetica"/>
              </a:rPr>
              <a:t>Le reclassement des provisions techniques en provisions réglementées depuis 2024 et l'usage du compte 106 sont les deux écarts qui changent la lecture du bilan.</a:t>
            </a:r>
            <a:r>
              <a:rPr sz="1300" b="0">
                <a:solidFill>
                  <a:srgbClr val="060606"/>
                </a:solidFill>
                <a:latin typeface="Helvetica"/>
              </a:rPr>
              <a:t> Les autres comptes suivent le plan comptable.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PCMS : plan comptable des mutuelles sociales | PEP : Plan Épargne Plus | EFC : entraide fin de carrière | CMP : sigle des comptes du FPPN, signification à confirmer</a:t>
            </a:r>
          </a:p>
        </p:txBody>
      </p:sp>
    </p:spTree>
    <p:extLst>
      <p:ext uri="{BB962C8B-B14F-4D97-AF65-F5344CB8AC3E}">
        <p14:creationId xmlns:p14="http://schemas.microsoft.com/office/powerpoint/2010/main" val="2436559954"/>
      </p:ext>
    </p:extLst>
  </p:cSld>
  <p:clrMapOvr>
    <a:masterClrMapping/>
  </p:clrMapOvr>
  <p:transition>
    <p:fade/>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Exigences non chiffrées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Plusieurs obligations du règlement d'exécution ne se mesurent pas par un ratio</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obligation est comparée aux pièces disponibles. Plusieurs restent à documenter par le FPPN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Règlement n° 07/2009/CM/UEMOA du 26 juin 2009. Documents reçus le 15/10/2026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24 : Exigences non chiffrées et situation du FPPN</a:t>
            </a:r>
          </a:p>
        </p:txBody>
      </p:sp>
      <p:graphicFrame>
        <p:nvGraphicFramePr>
          <p:cNvPr id="32" name="Table 31"/>
          <p:cNvGraphicFramePr>
            <a:graphicFrameLocks noGrp="1"/>
          </p:cNvGraphicFramePr>
          <p:nvPr/>
        </p:nvGraphicFramePr>
        <p:xfrm>
          <a:off x="503999" y="1655999"/>
          <a:ext cx="11232000" cy="2301588"/>
        </p:xfrm>
        <a:graphic>
          <a:graphicData uri="http://schemas.openxmlformats.org/drawingml/2006/table">
            <a:tbl>
              <a:tblPr firstRow="0" bandRow="0">
                <a:tableStyleId>{5940675A-B579-460E-94D1-54222C63F5DA}</a:tableStyleId>
              </a:tblPr>
              <a:tblGrid>
                <a:gridCol w="3456000"/>
                <a:gridCol w="2232000"/>
                <a:gridCol w="5544000"/>
              </a:tblGrid>
              <a:tr h="194768">
                <a:tc>
                  <a:txBody>
                    <a:bodyPr/>
                    <a:lstStyle/>
                    <a:p>
                      <a:pPr marL="0" indent="0" lvl="0">
                        <a:buNone/>
                      </a:pPr>
                      <a:r>
                        <a:rPr sz="900" b="1">
                          <a:solidFill>
                            <a:srgbClr val="FFFFFF"/>
                          </a:solidFill>
                          <a:latin typeface="Helvetica"/>
                        </a:rPr>
                        <a:t>Exigence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Texte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Situation constatée</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Provisions techniques suffisantes à tout moment, calculées dossier par dossier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7 à 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Montant identique de 2020 à 2026 : la provision n'est pas recalculée (partie 9).</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Comptes certifiés par un commissaire aux comptes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d'exécution, art. 12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rapport de commissaire aux comptes n'a été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États financiers propres à chaque risque long</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13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balances ne séparent pas l'EFC et le PEP en états distincts.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Étude actuarielle tous les cinq ans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d'exécution, art. 14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Aucune étude antérieure n'a été transmise. La présente mission peut y contribuer.</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Cantonnement des patrimoines entre risques courts et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15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Des comptes bancaires réservés existent, mais ils couvrent seulement 16,28 % de l'épargne.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Placements sûrs, rentables, liquides et diversifiés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d'exécution, art. 17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La décision ministérielle qui fixe ces conditions n'a pas été transmise.</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Pertes des activités sanitaires non couvertes par les cotisations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27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FPPN finance des charges de fonctionnement « au CMP » sans comptabilité séparée transmise.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Adhésion et cotisation au fonds national de garantie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n° 07/2009, art. 63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compte du fonds de garantie n'apparaît dans les balances.</a:t>
                      </a:r>
                    </a:p>
                  </a:txBody>
                  <a:tcPr marL="43200" marR="43200" marT="14400" marB="14400" anchor="ctr">
                    <a:solidFill>
                      <a:srgbClr val="F2F2F2"/>
                    </a:solidFill>
                  </a:tcPr>
                </a:tc>
              </a:tr>
            </a:tbl>
          </a:graphicData>
        </a:graphic>
      </p:graphicFrame>
      <p:sp>
        <p:nvSpPr>
          <p:cNvPr id="33" name="TextBox 32"/>
          <p:cNvSpPr txBox="1"/>
          <p:nvPr/>
        </p:nvSpPr>
        <p:spPr>
          <a:xfrm>
            <a:off x="503999" y="4065592"/>
            <a:ext cx="11232000" cy="1802407"/>
          </a:xfrm>
          <a:prstGeom prst="rect">
            <a:avLst/>
          </a:prstGeom>
          <a:noFill/>
        </p:spPr>
        <p:txBody>
          <a:bodyPr wrap="square" lIns="54000" rIns="54000"/>
          <a:lstStyle/>
          <a:p>
            <a:pPr algn="just">
              <a:spcAft>
                <a:spcPts val="600"/>
              </a:spcAft>
            </a:pPr>
            <a:r>
              <a:rPr sz="1300" b="1">
                <a:solidFill>
                  <a:srgbClr val="060606"/>
                </a:solidFill>
                <a:latin typeface="Helvetica"/>
              </a:rPr>
              <a:t>Les exigences propres aux risques longs ne sont pas documentées.</a:t>
            </a:r>
            <a:r>
              <a:rPr sz="1300" b="0">
                <a:solidFill>
                  <a:srgbClr val="060606"/>
                </a:solidFill>
                <a:latin typeface="Helvetica"/>
              </a:rPr>
              <a:t> Elles découlent pourtant directement de la gestion de l'EFC et du PEP.</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 | CMP : sigle des comptes du FPPN, signification à confirmer</a:t>
            </a:r>
          </a:p>
        </p:txBody>
      </p:sp>
    </p:spTree>
    <p:extLst>
      <p:ext uri="{BB962C8B-B14F-4D97-AF65-F5344CB8AC3E}">
        <p14:creationId xmlns:p14="http://schemas.microsoft.com/office/powerpoint/2010/main" val="3567609203"/>
      </p:ext>
    </p:extLst>
  </p:cSld>
  <p:clrMapOvr>
    <a:masterClrMapping/>
  </p:clrMapOvr>
  <p:transition>
    <p:fad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Exposition aux sanctions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non-respect des règles prudentielles expose le FPPN à des sanctions graduées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Barème de l'arrêté n° 00115/MEPS/CAB du 12/12/2023 pour une mutuelle de plus de 10 000 000 FCFA de cotisations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arrêté n° 00115/MEPS/CAB du 12/12/2023, annexe. Règlement n° 07/2009/CM/UEMOA du 26 juin 2009, art. 83 et 84. Règlement d'exécution n° 004/2022/COM/UEMOA du 1er juin 2022, art. 38 à 41</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25 : Manquements liés aux constats du rapport et sanctions prévues</a:t>
            </a:r>
          </a:p>
        </p:txBody>
      </p:sp>
      <p:graphicFrame>
        <p:nvGraphicFramePr>
          <p:cNvPr id="32" name="Table 31"/>
          <p:cNvGraphicFramePr>
            <a:graphicFrameLocks noGrp="1"/>
          </p:cNvGraphicFramePr>
          <p:nvPr/>
        </p:nvGraphicFramePr>
        <p:xfrm>
          <a:off x="503999" y="1655999"/>
          <a:ext cx="11231999" cy="1602085"/>
        </p:xfrm>
        <a:graphic>
          <a:graphicData uri="http://schemas.openxmlformats.org/drawingml/2006/table">
            <a:tbl>
              <a:tblPr firstRow="0" bandRow="0">
                <a:tableStyleId>{5940675A-B579-460E-94D1-54222C63F5DA}</a:tableStyleId>
              </a:tblPr>
              <a:tblGrid>
                <a:gridCol w="3600000"/>
                <a:gridCol w="1224000"/>
                <a:gridCol w="3671999"/>
                <a:gridCol w="2736000"/>
              </a:tblGrid>
              <a:tr h="362419">
                <a:tc>
                  <a:txBody>
                    <a:bodyPr/>
                    <a:lstStyle/>
                    <a:p>
                      <a:pPr marL="0" indent="0" lvl="0">
                        <a:buNone/>
                      </a:pPr>
                      <a:r>
                        <a:rPr sz="1000" b="1">
                          <a:solidFill>
                            <a:srgbClr val="FFFFFF"/>
                          </a:solidFill>
                          <a:latin typeface="Helvetica"/>
                        </a:rPr>
                        <a:t>Manquement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Ligne de l'arrêté</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Sanction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Peine pécuniaire</a:t>
                      </a:r>
                    </a:p>
                  </a:txBody>
                  <a:tcPr marL="43200" marR="43200" marT="14400" marB="14400" anchor="ctr">
                    <a:solidFill>
                      <a:srgbClr val="060606"/>
                    </a:solidFill>
                  </a:tcPr>
                </a:tc>
              </a:tr>
              <a:tr h="514828">
                <a:tc>
                  <a:txBody>
                    <a:bodyPr/>
                    <a:lstStyle/>
                    <a:p>
                      <a:pPr marL="0" indent="0" lvl="0">
                        <a:buNone/>
                      </a:pPr>
                      <a:r>
                        <a:rPr sz="1000" b="1">
                          <a:solidFill>
                            <a:srgbClr val="060606"/>
                          </a:solidFill>
                          <a:latin typeface="Helvetica"/>
                        </a:rPr>
                        <a:t>Non-respect des règles comptables et prudentielles durant un exercice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Avertissement, injonction de régularisation, suspension des dirigeants ou suspension provisoire de l'agrément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1 000 000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Défaut d'adhésion ou de versement au fonds national de garantie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Mêmes sanctions que la ligne 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1 000 000 FCFA</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Non-respect des règles prudentielles sur deux exercices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Retrait de l'agrément (règlement n° 07/2009, art. 84)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3 000 000 FCFA</a:t>
                      </a:r>
                    </a:p>
                  </a:txBody>
                  <a:tcPr marL="43200" marR="43200" marT="14400" marB="14400" anchor="ctr">
                    <a:solidFill>
                      <a:srgbClr val="FFFFFF"/>
                    </a:solidFill>
                  </a:tcPr>
                </a:tc>
              </a:tr>
            </a:tbl>
          </a:graphicData>
        </a:graphic>
      </p:graphicFrame>
      <p:sp>
        <p:nvSpPr>
          <p:cNvPr id="33" name="TextBox 32"/>
          <p:cNvSpPr txBox="1"/>
          <p:nvPr/>
        </p:nvSpPr>
        <p:spPr>
          <a:xfrm>
            <a:off x="503999" y="3366086"/>
            <a:ext cx="11232000" cy="2501913"/>
          </a:xfrm>
          <a:prstGeom prst="rect">
            <a:avLst/>
          </a:prstGeom>
          <a:noFill/>
        </p:spPr>
        <p:txBody>
          <a:bodyPr wrap="square" lIns="54000" rIns="54000"/>
          <a:lstStyle/>
          <a:p>
            <a:pPr algn="just">
              <a:spcAft>
                <a:spcPts val="600"/>
              </a:spcAft>
            </a:pPr>
            <a:r>
              <a:rPr sz="1300" b="1">
                <a:solidFill>
                  <a:srgbClr val="060606"/>
                </a:solidFill>
                <a:latin typeface="Helvetica"/>
              </a:rPr>
              <a:t>Les peines pécuniaires sont faibles. La sanction lourde est le retrait d'agrément.</a:t>
            </a:r>
            <a:r>
              <a:rPr sz="1300" b="0">
                <a:solidFill>
                  <a:srgbClr val="060606"/>
                </a:solidFill>
                <a:latin typeface="Helvetica"/>
              </a:rPr>
              <a:t> Celui-ci emporte la dissolution de la mutuelle dès sa publication au Journal officiel (règlement n° 07/2009, art. 84).</a:t>
            </a:r>
          </a:p>
          <a:p>
            <a:pPr algn="just">
              <a:spcAft>
                <a:spcPts val="600"/>
              </a:spcAft>
            </a:pPr>
            <a:r>
              <a:rPr sz="1300" b="1">
                <a:solidFill>
                  <a:srgbClr val="060606"/>
                </a:solidFill>
                <a:latin typeface="Helvetica"/>
              </a:rPr>
              <a:t>Implication pour le FPPN.</a:t>
            </a:r>
            <a:r>
              <a:rPr sz="1300" b="0">
                <a:solidFill>
                  <a:srgbClr val="060606"/>
                </a:solidFill>
                <a:latin typeface="Helvetica"/>
              </a:rPr>
              <a:t> Un plan de mise en conformité daté et chiffré, présenté à l'AIRMS, est le meilleur moyen de démontrer la volonté de régularisation et d'éviter les sanctions les plus lourdes.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 | S/C : prestations / cotisations | MEPS : ministère de l'Emploi et de la Protection sociale</a:t>
            </a:r>
          </a:p>
        </p:txBody>
      </p:sp>
    </p:spTree>
    <p:extLst>
      <p:ext uri="{BB962C8B-B14F-4D97-AF65-F5344CB8AC3E}">
        <p14:creationId xmlns:p14="http://schemas.microsoft.com/office/powerpoint/2010/main" val="1976486507"/>
      </p:ext>
    </p:extLst>
  </p:cSld>
  <p:clrMapOvr>
    <a:masterClrMapping/>
  </p:clrMapOvr>
  <p:transition>
    <p:fade/>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respecte les ratios d'activité courante, mais pas ceux de réserves, de fonds propres, de liquidité et de frais.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réserve obligatoire couvre 5,01 mois de prestations, les fonds propres et assimilés 0,22 fois les dettes, et les frais 36,34 % des cotisations.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Des non-conformités répétées exposent le FPPN au retrait d'agrément prévu par l'article 84 du règlement n° 07/2009.</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présenter à l'AIRMS un plan de mise en conformité daté, et documenter le compte 106, le fonds de garantie et l'échéancier de l'épargne.</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conformité prudentielle</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normes de solidité financière de l'UEMOA ne sont pas respectées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14 ratios non conformes sur 36, souvent plusieurs années de suite</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a:t>
            </a:r>
          </a:p>
        </p:txBody>
      </p:sp>
    </p:spTree>
    <p:extLst>
      <p:ext uri="{BB962C8B-B14F-4D97-AF65-F5344CB8AC3E}">
        <p14:creationId xmlns:p14="http://schemas.microsoft.com/office/powerpoint/2010/main" val="1448875749"/>
      </p:ext>
    </p:extLst>
  </p:cSld>
  <p:clrMapOvr>
    <a:masterClrMapping/>
  </p:clrMapOvr>
  <p:transition>
    <p:fad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11</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Tables de mortalité</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Rôle, choix des tables, indicateurs de référence</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120866451"/>
      </p:ext>
    </p:extLst>
  </p:cSld>
  <p:clrMapOvr>
    <a:masterClrMapping/>
  </p:clrMapOvr>
  <p:transition>
    <p:fade/>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qx</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table donne, pour chaque âge x, la probabilité de décéder avant l'âge x + 1. C'est la brique de base de tous les calculs.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Lx</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table donne aussi le nombre de survivants à chaque âge, sur 1 000 000 de naissances. Le rapport de deux Lx donne une probabilité de survie.</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Premier usage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Comparer la mortalité réelle des policiers à la table de référence dit si la cotisation décès est bien calibrée.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Second usage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tables permettent de calculer la valeur des engagements qui durent toute la vie, comme une prise en charge santé maintenue aux retraités.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Pourquoi des tables de mortalité</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tables servent à mesurer et à évaluer tout engagement lié à la vie humaine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Elles préparent deux analyses de la mission : la mortalité des policiers et les engagements viagers</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CIMA : Conférence interafricaine des marchés d'assurances | FANAF : Fédération des sociétés d'assurances de droit national africaines | qx : probabilité de décès entre x et x + 1 ans | Lx : survivants à l'âge x | TD, TV : anciennes tables CIMA de décès et de survie</a:t>
            </a:r>
          </a:p>
        </p:txBody>
      </p:sp>
    </p:spTree>
    <p:extLst>
      <p:ext uri="{BB962C8B-B14F-4D97-AF65-F5344CB8AC3E}">
        <p14:creationId xmlns:p14="http://schemas.microsoft.com/office/powerpoint/2010/main" val="2623233826"/>
      </p:ext>
    </p:extLst>
  </p:cSld>
  <p:clrMapOvr>
    <a:masterClrMapping/>
  </p:clrMapOvr>
  <p:transition>
    <p:fad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Choix des tables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principe de prudence fixe la table selon le risque porté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CIMA H pour le risque décès, CIMA F pour le risque de survie, TD et TV en comparaison historique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26 : Tables de mortalité CIMA et usage retenu</a:t>
            </a:r>
          </a:p>
        </p:txBody>
      </p:sp>
      <p:graphicFrame>
        <p:nvGraphicFramePr>
          <p:cNvPr id="32" name="Table 31"/>
          <p:cNvGraphicFramePr>
            <a:graphicFrameLocks noGrp="1"/>
          </p:cNvGraphicFramePr>
          <p:nvPr/>
        </p:nvGraphicFramePr>
        <p:xfrm>
          <a:off x="503999" y="1655999"/>
          <a:ext cx="11231999" cy="1461552"/>
        </p:xfrm>
        <a:graphic>
          <a:graphicData uri="http://schemas.openxmlformats.org/drawingml/2006/table">
            <a:tbl>
              <a:tblPr firstRow="0" bandRow="0">
                <a:tableStyleId>{5940675A-B579-460E-94D1-54222C63F5DA}</a:tableStyleId>
              </a:tblPr>
              <a:tblGrid>
                <a:gridCol w="1368000"/>
                <a:gridCol w="2015999"/>
                <a:gridCol w="2520000"/>
                <a:gridCol w="5328000"/>
              </a:tblGrid>
              <a:tr h="225250">
                <a:tc>
                  <a:txBody>
                    <a:bodyPr/>
                    <a:lstStyle/>
                    <a:p>
                      <a:pPr marL="0" indent="0" lvl="0">
                        <a:buNone/>
                      </a:pPr>
                      <a:r>
                        <a:rPr sz="1100" b="1">
                          <a:solidFill>
                            <a:srgbClr val="FFFFFF"/>
                          </a:solidFill>
                          <a:latin typeface="Helvetica"/>
                        </a:rPr>
                        <a:t>Table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Feuille du fichier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Risque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Usage dans la mission</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CIMA H</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CIMA_H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Décès (paiement au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Calibrage de la cotisation décès et comparaison à la mortalité observée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CIMA F</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CIMA_F (vie)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Survie (paiement tant que la personne vit)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Engagements viagers : prise en charge des retraités, rentes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TD CIMA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TD_CIMA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Décès (ancienne table)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Comparaison historique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TV CIMA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TV_CIMA (vie)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Survie (ancienne table)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Comparaison historique</a:t>
                      </a:r>
                    </a:p>
                  </a:txBody>
                  <a:tcPr marL="43200" marR="43200" marT="14400" marB="14400" anchor="ctr">
                    <a:solidFill>
                      <a:srgbClr val="F2F2F2"/>
                    </a:solidFill>
                  </a:tcPr>
                </a:tc>
              </a:tr>
            </a:tbl>
          </a:graphicData>
        </a:graphic>
      </p:graphicFrame>
      <p:sp>
        <p:nvSpPr>
          <p:cNvPr id="33" name="TextBox 32"/>
          <p:cNvSpPr txBox="1"/>
          <p:nvPr/>
        </p:nvSpPr>
        <p:spPr>
          <a:xfrm>
            <a:off x="503999" y="3225553"/>
            <a:ext cx="11232000" cy="2642446"/>
          </a:xfrm>
          <a:prstGeom prst="rect">
            <a:avLst/>
          </a:prstGeom>
          <a:noFill/>
        </p:spPr>
        <p:txBody>
          <a:bodyPr wrap="square" lIns="54000" rIns="54000"/>
          <a:lstStyle/>
          <a:p>
            <a:pPr algn="just">
              <a:spcAft>
                <a:spcPts val="600"/>
              </a:spcAft>
            </a:pPr>
            <a:r>
              <a:rPr sz="1300" b="1">
                <a:solidFill>
                  <a:srgbClr val="060606"/>
                </a:solidFill>
                <a:latin typeface="Helvetica"/>
              </a:rPr>
              <a:t>La prudence change de sens selon le risque.</a:t>
            </a:r>
            <a:r>
              <a:rPr sz="1300" b="0">
                <a:solidFill>
                  <a:srgbClr val="060606"/>
                </a:solidFill>
                <a:latin typeface="Helvetica"/>
              </a:rPr>
              <a:t> Une même table peut être prudente pour un capital décès et imprudente pour une rente : c'est pourquoi deux tables sont retenues.</a:t>
            </a:r>
          </a:p>
          <a:p>
            <a:pPr algn="just">
              <a:spcAft>
                <a:spcPts val="600"/>
              </a:spcAft>
            </a:pPr>
            <a:r>
              <a:rPr sz="1300" b="1">
                <a:solidFill>
                  <a:srgbClr val="060606"/>
                </a:solidFill>
                <a:latin typeface="Helvetica"/>
              </a:rPr>
              <a:t>Implication pour le FPPN.</a:t>
            </a:r>
            <a:r>
              <a:rPr sz="1300" b="0">
                <a:solidFill>
                  <a:srgbClr val="060606"/>
                </a:solidFill>
                <a:latin typeface="Helvetica"/>
              </a:rPr>
              <a:t> Le FPPN porte les deux risques (capital décès et, potentiellement, prise en charge viagère des retraités) : chaque engagement sera évalué avec la table qui le défavorise.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FANAF : Fédération des sociétés d'assurances de droit national africaines | TD, TV : anciennes tables CIMA de décès et de survie</a:t>
            </a:r>
          </a:p>
        </p:txBody>
      </p:sp>
    </p:spTree>
    <p:extLst>
      <p:ext uri="{BB962C8B-B14F-4D97-AF65-F5344CB8AC3E}">
        <p14:creationId xmlns:p14="http://schemas.microsoft.com/office/powerpoint/2010/main" val="3075832450"/>
      </p:ext>
    </p:extLst>
  </p:cSld>
  <p:clrMapOvr>
    <a:masterClrMapping/>
  </p:clrMapOvr>
  <p:transition>
    <p:fad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Courbes de survie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tables de survie prévoient des vies plus longues que les tables de décès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Survivants à 60 ans sur 100 naissances : 81,51 (CIMA H), 89,58 (CIMA F)</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34 : Survivants pour 100 naissances, par âge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des naissances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L'espérance de vie à la naissance vaut 73,50 ans avec CIMA H et 81,64 ans avec CIMA F.</a:t>
            </a:r>
          </a:p>
          <a:p>
            <a:pPr algn="just">
              <a:spcAft>
                <a:spcPts val="600"/>
              </a:spcAft>
            </a:pPr>
            <a:r>
              <a:rPr sz="1400" b="1">
                <a:solidFill>
                  <a:srgbClr val="060606"/>
                </a:solidFill>
                <a:latin typeface="Helvetica"/>
              </a:rPr>
              <a:t>Les anciennes tables prévoient davantage de décès</a:t>
            </a:r>
            <a:r>
              <a:rPr sz="1400" b="0">
                <a:solidFill>
                  <a:srgbClr val="060606"/>
                </a:solidFill>
                <a:latin typeface="Helvetica"/>
              </a:rPr>
              <a:t> : 67,51 ans avec TD et 74,56 ans avec TV.</a:t>
            </a:r>
          </a:p>
          <a:p>
            <a:pPr algn="just">
              <a:spcAft>
                <a:spcPts val="600"/>
              </a:spcAft>
            </a:pPr>
            <a:r>
              <a:rPr sz="1400" b="1">
                <a:solidFill>
                  <a:srgbClr val="060606"/>
                </a:solidFill>
                <a:latin typeface="Helvetica"/>
              </a:rPr>
              <a:t>Le choix de la table change donc fortement les montants calculés.</a:t>
            </a:r>
          </a:p>
          <a:p>
            <a:pPr algn="just">
              <a:spcAft>
                <a:spcPts val="600"/>
              </a:spcAft>
            </a:pPr>
            <a:r>
              <a:rPr sz="1400" b="1">
                <a:solidFill>
                  <a:srgbClr val="060606"/>
                </a:solidFill>
                <a:latin typeface="Helvetica"/>
              </a:rPr>
              <a:t>Implication pour le FPPN.</a:t>
            </a:r>
            <a:r>
              <a:rPr sz="1400" b="0">
                <a:solidFill>
                  <a:srgbClr val="060606"/>
                </a:solidFill>
                <a:latin typeface="Helvetica"/>
              </a:rPr>
              <a:t> Un engagement viager évalué avec une ancienne table est sous-estimé : les calculs de la mission utiliseront les tables en vigueur depuis 2012.</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FANAF : Fédération des sociétés d'assurances de droit national africaines | TD, TV : anciennes tables CIMA de décès et de survie</a:t>
            </a:r>
          </a:p>
        </p:txBody>
      </p:sp>
    </p:spTree>
    <p:extLst>
      <p:ext uri="{BB962C8B-B14F-4D97-AF65-F5344CB8AC3E}">
        <p14:creationId xmlns:p14="http://schemas.microsoft.com/office/powerpoint/2010/main" val="123156057"/>
      </p:ext>
    </p:extLst>
  </p:cSld>
  <p:clrMapOvr>
    <a:masterClrMapping/>
  </p:clrMapOvr>
  <p:transition>
    <p:fad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Probabilités de décès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probabilité de décès double environ tous les dix ans aux âges actifs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Probabilité de décès à 40 ans : 3,50 pour mille (CIMA H), 1,89 pour mille (CIMA F)</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35 : Probabilité de décès dans l'année (qx), par âge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pour mille</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À 55 ans, la probabilité de décès vaut 9,38 pour mille avec CIMA H et 5,09 pour mille avec CIMA F.</a:t>
            </a:r>
          </a:p>
          <a:p>
            <a:pPr algn="just">
              <a:spcAft>
                <a:spcPts val="600"/>
              </a:spcAft>
            </a:pPr>
            <a:r>
              <a:rPr sz="1400" b="1">
                <a:solidFill>
                  <a:srgbClr val="060606"/>
                </a:solidFill>
                <a:latin typeface="Helvetica"/>
              </a:rPr>
              <a:t>Entre 20 et 60 ans, CIMA H prévoit 18,77 % de décès de moins que TD</a:t>
            </a:r>
            <a:r>
              <a:rPr sz="1400" b="0">
                <a:solidFill>
                  <a:srgbClr val="060606"/>
                </a:solidFill>
                <a:latin typeface="Helvetica"/>
              </a:rPr>
              <a:t>, et CIMA F 9,06 % de moins que TV.</a:t>
            </a:r>
          </a:p>
          <a:p>
            <a:pPr algn="just">
              <a:spcAft>
                <a:spcPts val="600"/>
              </a:spcAft>
            </a:pPr>
            <a:r>
              <a:rPr sz="1400" b="1">
                <a:solidFill>
                  <a:srgbClr val="060606"/>
                </a:solidFill>
                <a:latin typeface="Helvetica"/>
              </a:rPr>
              <a:t>La table ronde CIMA FANAF de 2011 indique des écarts de 17 % pour CIMA H et d'environ 4 % pour CIMA F, sur l'ensemble des âges.</a:t>
            </a:r>
          </a:p>
          <a:p>
            <a:pPr algn="just">
              <a:spcAft>
                <a:spcPts val="600"/>
              </a:spcAft>
            </a:pPr>
            <a:r>
              <a:rPr sz="1400" b="1">
                <a:solidFill>
                  <a:srgbClr val="060606"/>
                </a:solidFill>
                <a:latin typeface="Helvetica"/>
              </a:rPr>
              <a:t>Implication pour le FPPN.</a:t>
            </a:r>
            <a:r>
              <a:rPr sz="1400" b="0">
                <a:solidFill>
                  <a:srgbClr val="060606"/>
                </a:solidFill>
                <a:latin typeface="Helvetica"/>
              </a:rPr>
              <a:t> Pour une population de policiers, exposée à des risques professionnels, la mortalité réelle peut s'écarter de la table : seul le rapport décès observés / décès attendus le dira.</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FANAF : Fédération des sociétés d'assurances de droit national africaines | qx : probabilité de décès entre x et x + 1 ans | TD, TV : anciennes tables CIMA de décès et de survie</a:t>
            </a:r>
          </a:p>
        </p:txBody>
      </p:sp>
    </p:spTree>
    <p:extLst>
      <p:ext uri="{BB962C8B-B14F-4D97-AF65-F5344CB8AC3E}">
        <p14:creationId xmlns:p14="http://schemas.microsoft.com/office/powerpoint/2010/main" val="2405606675"/>
      </p:ext>
    </p:extLst>
  </p:cSld>
  <p:clrMapOvr>
    <a:masterClrMapping/>
  </p:clrMapOvr>
  <p:transition>
    <p:fade/>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Indicateurs de référence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rente viagère vaut entre 12 et 18 années de paiement selon l'âge et la table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Valeur d'une rente de 1 FCFA par an à 60 ans, au taux de 3,5 % : 16,84 (CIMA F), 14,26 (CIMA H)</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1" name="TextBox 30"/>
          <p:cNvSpPr txBox="1"/>
          <p:nvPr/>
        </p:nvSpPr>
        <p:spPr>
          <a:xfrm>
            <a:off x="503999" y="1386000"/>
            <a:ext cx="6768000" cy="216000"/>
          </a:xfrm>
          <a:prstGeom prst="rect">
            <a:avLst/>
          </a:prstGeom>
          <a:noFill/>
        </p:spPr>
        <p:txBody>
          <a:bodyPr wrap="square" anchor="t" lIns="54000" rIns="54000"/>
          <a:lstStyle/>
          <a:p>
            <a:pPr algn="ctr"/>
            <a:r>
              <a:rPr sz="1200" b="0">
                <a:solidFill>
                  <a:srgbClr val="EFAC62"/>
                </a:solidFill>
                <a:latin typeface="Helvetica"/>
              </a:rPr>
              <a:t>Tableau 27 : Espérance de vie et valeur de la rente viagère (taux de 3,5 %)</a:t>
            </a:r>
          </a:p>
        </p:txBody>
      </p:sp>
      <p:graphicFrame>
        <p:nvGraphicFramePr>
          <p:cNvPr id="32" name="Table 31"/>
          <p:cNvGraphicFramePr>
            <a:graphicFrameLocks noGrp="1"/>
          </p:cNvGraphicFramePr>
          <p:nvPr/>
        </p:nvGraphicFramePr>
        <p:xfrm>
          <a:off x="503999" y="1655999"/>
          <a:ext cx="6768000" cy="1126250"/>
        </p:xfrm>
        <a:graphic>
          <a:graphicData uri="http://schemas.openxmlformats.org/drawingml/2006/table">
            <a:tbl>
              <a:tblPr firstRow="0" bandRow="0">
                <a:tableStyleId>{5940675A-B579-460E-94D1-54222C63F5DA}</a:tableStyleId>
              </a:tblPr>
              <a:tblGrid>
                <a:gridCol w="1368000"/>
                <a:gridCol w="1080000"/>
                <a:gridCol w="1080000"/>
                <a:gridCol w="1080000"/>
                <a:gridCol w="1080000"/>
                <a:gridCol w="1080000"/>
              </a:tblGrid>
              <a:tr h="225250">
                <a:tc>
                  <a:txBody>
                    <a:bodyPr/>
                    <a:lstStyle/>
                    <a:p>
                      <a:pPr marL="0" indent="0" lvl="0">
                        <a:buNone/>
                      </a:pPr>
                      <a:r>
                        <a:rPr sz="1100" b="1">
                          <a:solidFill>
                            <a:srgbClr val="FFFFFF"/>
                          </a:solidFill>
                          <a:latin typeface="Helvetica"/>
                        </a:rPr>
                        <a:t>Table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e55 (ans)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e60 (ans)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ä55</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ä60</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ä65</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CIMA H</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24,15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20,34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15,96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14,26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12,52</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CIMA F</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30,23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26,04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18,39</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16,84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15,17</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TD CIMA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19,36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15,80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13,82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11,98</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10,13</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TV CIMA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24,04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19,90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16,10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14,20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12,21</a:t>
                      </a:r>
                    </a:p>
                  </a:txBody>
                  <a:tcPr marL="43200" marR="43200" marT="14400" marB="14400" anchor="ctr">
                    <a:solidFill>
                      <a:srgbClr val="F2F2F2"/>
                    </a:solidFill>
                  </a:tcPr>
                </a:tc>
              </a:tr>
            </a:tbl>
          </a:graphicData>
        </a:graphic>
      </p:graphicFrame>
      <p:sp>
        <p:nvSpPr>
          <p:cNvPr id="33" name="TextBox 32"/>
          <p:cNvSpPr txBox="1"/>
          <p:nvPr/>
        </p:nvSpPr>
        <p:spPr>
          <a:xfrm>
            <a:off x="7488000" y="1386000"/>
            <a:ext cx="4248000" cy="4482000"/>
          </a:xfrm>
          <a:prstGeom prst="rect">
            <a:avLst/>
          </a:prstGeom>
          <a:noFill/>
        </p:spPr>
        <p:txBody>
          <a:bodyPr wrap="square" lIns="54000" rIns="54000"/>
          <a:lstStyle/>
          <a:p>
            <a:pPr algn="just">
              <a:spcAft>
                <a:spcPts val="600"/>
              </a:spcAft>
            </a:pPr>
            <a:r>
              <a:rPr sz="1400" b="1">
                <a:solidFill>
                  <a:srgbClr val="060606"/>
                </a:solidFill>
                <a:latin typeface="Helvetica"/>
              </a:rPr>
              <a:t>Une rente servie à partir de 60 ans vaut 16,84 années de paiement avec CIMA F.</a:t>
            </a:r>
            <a:r>
              <a:rPr sz="1400" b="0">
                <a:solidFill>
                  <a:srgbClr val="060606"/>
                </a:solidFill>
                <a:latin typeface="Helvetica"/>
              </a:rPr>
              <a:t> Avec CIMA H, elle n'en vaut que 14,26.</a:t>
            </a:r>
          </a:p>
          <a:p>
            <a:pPr algn="just">
              <a:spcAft>
                <a:spcPts val="600"/>
              </a:spcAft>
            </a:pPr>
            <a:r>
              <a:rPr sz="1400" b="1">
                <a:solidFill>
                  <a:srgbClr val="060606"/>
                </a:solidFill>
                <a:latin typeface="Helvetica"/>
              </a:rPr>
              <a:t>L'écart entre les deux tables dépasse deux années de paiement à 60 ans.</a:t>
            </a:r>
            <a:r>
              <a:rPr sz="1400" b="0">
                <a:solidFill>
                  <a:srgbClr val="060606"/>
                </a:solidFill>
                <a:latin typeface="Helvetica"/>
              </a:rPr>
              <a:t> C'est l'ordre de grandeur de l'enjeu du choix de la table.</a:t>
            </a:r>
          </a:p>
          <a:p>
            <a:pPr algn="just">
              <a:spcAft>
                <a:spcPts val="600"/>
              </a:spcAft>
            </a:pPr>
            <a:r>
              <a:rPr sz="1400" b="1">
                <a:solidFill>
                  <a:srgbClr val="060606"/>
                </a:solidFill>
                <a:latin typeface="Helvetica"/>
              </a:rPr>
              <a:t>Implication pour le FPPN.</a:t>
            </a:r>
            <a:r>
              <a:rPr sz="1400" b="0">
                <a:solidFill>
                  <a:srgbClr val="060606"/>
                </a:solidFill>
                <a:latin typeface="Helvetica"/>
              </a:rPr>
              <a:t> Ces facteurs serviront à évaluer tout engagement viager du FPPN dès que les âges et les coûts annuels seront connus.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CIMA : Conférence interafricaine des marchés d'assurances | FANAF : Fédération des sociétés d'assurances de droit national africaines | e_x : espérance de vie à l'âge x | ä_x : valeur d'une rente viagère de 1 par an à l'âge x | TD, TV : anciennes tables CIMA de décès et de survie</a:t>
            </a:r>
          </a:p>
        </p:txBody>
      </p:sp>
    </p:spTree>
    <p:extLst>
      <p:ext uri="{BB962C8B-B14F-4D97-AF65-F5344CB8AC3E}">
        <p14:creationId xmlns:p14="http://schemas.microsoft.com/office/powerpoint/2010/main" val="3985230328"/>
      </p:ext>
    </p:extLst>
  </p:cSld>
  <p:clrMapOvr>
    <a:masterClrMapping/>
  </p:clrMapOvr>
  <p:transition>
    <p:fade/>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outils de calcul sont en place, mais ils ne peuvent pas être appliqués aux mutualistes du FPPN sans leurs âges.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Une rente à 60 ans vaut 16,84 années de paiement avec CIMA F, contre 14,26 avec CIMA H. Les anciennes tables sous-estiment la durée de vie.</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mortalité des policiers et la valeur des engagements viagers restent inconnues tant que les dates de naissance manquent.</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 fichier des mutualistes avec date de naissance et sexe (PBC, item 9) et la base des décès (item 28).</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tables de mortalité</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tables CIMA sont prêtes. Il manque les dates de naissance pour les appliquer</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Choix prudent : CIMA H pour le décès, CIMA F pour la survie</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PBC : liste des documents demandés au client</a:t>
            </a:r>
          </a:p>
        </p:txBody>
      </p:sp>
    </p:spTree>
    <p:extLst>
      <p:ext uri="{BB962C8B-B14F-4D97-AF65-F5344CB8AC3E}">
        <p14:creationId xmlns:p14="http://schemas.microsoft.com/office/powerpoint/2010/main" val="292298687"/>
      </p:ext>
    </p:extLst>
  </p:cSld>
  <p:clrMapOvr>
    <a:masterClrMapping/>
  </p:clrMapOvr>
  <p:transition>
    <p:fade/>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12</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Méthodes actuarielles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À venir : provisions, mortalité, projection</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19313685"/>
      </p:ext>
    </p:extLst>
  </p:cSld>
  <p:clrMapOvr>
    <a:masterClrMapping/>
  </p:clrMapOvr>
  <p:transition>
    <p:fade/>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759603"/>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Dossiers connus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additionne les montants dus des dossiers déclarés et non payés, dossier par dossier (PBC 14 et 29).</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50766"/>
            <a:ext cx="5748535" cy="148246"/>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667785"/>
            <a:ext cx="0" cy="3257265"/>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186341"/>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057953"/>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4918272"/>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679801"/>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Sinistres tardifs (IBNR)</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estime les sinistres survenus mais non encore déclarés à partir des délais observés dans le passé, par la méthode Chain Ladder (PBC 13, 28 et 40).</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597692"/>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Provision totale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provision additionne les dossiers connus et les tardifs, par garantie et par clôture, comme l'exige l'article 10 du règlement d'exécution.</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517890"/>
            <a:ext cx="9685766" cy="800764"/>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Comparaison</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compare la provision calculée aux comptes 15801000 et 15802000, et mesure l'écart (boni ou mali) à chaque clôture.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3993555"/>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1938714"/>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2792334"/>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3711951"/>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4659107"/>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2758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 méthode PSAP</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provision pour sinistres à payer additionne dossiers connus et sinistres non déclarés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PSAP = dossiers déclarés non payés + sinistres survenus non encore déclarés (IBNR), par garantie et par clôture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Règlement d'exécution n° 004/2022/COM/UEMOA du 1er juin 2022, art. 10</a:t>
            </a:r>
          </a:p>
        </p:txBody>
      </p:sp>
      <p:sp>
        <p:nvSpPr>
          <p:cNvPr id="56" name="Rounded Rectangle 55"/>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57" name="TextBox 5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UEMOA : Union économique et monétaire ouest-africaine | PSAP : provision pour sinistres à payer | IBNR : sinistres survenus non encore déclarés | PBC : liste des documents demandés au client</a:t>
            </a:r>
          </a:p>
        </p:txBody>
      </p:sp>
    </p:spTree>
    <p:extLst>
      <p:ext uri="{BB962C8B-B14F-4D97-AF65-F5344CB8AC3E}">
        <p14:creationId xmlns:p14="http://schemas.microsoft.com/office/powerpoint/2010/main" val="3085170267"/>
      </p:ext>
    </p:extLst>
  </p:cSld>
  <p:clrMapOvr>
    <a:masterClrMapping/>
  </p:clrMapOvr>
  <p:transition>
    <p:fade/>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 1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5" name="Google Shape;7418;p41"/>
          <p:cNvSpPr/>
          <p:nvPr/>
        </p:nvSpPr>
        <p:spPr>
          <a:xfrm rot="21013821">
            <a:off x="6297998" y="3758663"/>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38" name="Google Shape;7421;p41"/>
          <p:cNvSpPr/>
          <p:nvPr/>
        </p:nvSpPr>
        <p:spPr>
          <a:xfrm rot="356255">
            <a:off x="6295963" y="1811723"/>
            <a:ext cx="1054365" cy="808304"/>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1" name="Google Shape;7424;p41"/>
          <p:cNvSpPr/>
          <p:nvPr/>
        </p:nvSpPr>
        <p:spPr>
          <a:xfrm rot="282502">
            <a:off x="1008889" y="3758495"/>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4" name="Google Shape;7427;p41"/>
          <p:cNvSpPr/>
          <p:nvPr/>
        </p:nvSpPr>
        <p:spPr>
          <a:xfrm rot="21275242">
            <a:off x="1044421" y="1815519"/>
            <a:ext cx="1054398" cy="808329"/>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7" name="Google Shape;7431;p41"/>
          <p:cNvSpPr txBox="1">
            <a:spLocks/>
          </p:cNvSpPr>
          <p:nvPr/>
        </p:nvSpPr>
        <p:spPr>
          <a:xfrm rot="21238167">
            <a:off x="1055515" y="1969994"/>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01</a:t>
            </a:r>
          </a:p>
        </p:txBody>
      </p:sp>
      <p:sp>
        <p:nvSpPr>
          <p:cNvPr id="48" name="Google Shape;7432;p41"/>
          <p:cNvSpPr txBox="1">
            <a:spLocks/>
          </p:cNvSpPr>
          <p:nvPr/>
        </p:nvSpPr>
        <p:spPr>
          <a:xfrm rot="395864">
            <a:off x="1055515" y="3896894"/>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02</a:t>
            </a:r>
          </a:p>
        </p:txBody>
      </p:sp>
      <p:sp>
        <p:nvSpPr>
          <p:cNvPr id="53" name="Google Shape;7437;p41"/>
          <p:cNvSpPr txBox="1">
            <a:spLocks/>
          </p:cNvSpPr>
          <p:nvPr/>
        </p:nvSpPr>
        <p:spPr>
          <a:xfrm rot="354388">
            <a:off x="6338696" y="1969994"/>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03</a:t>
            </a:r>
          </a:p>
        </p:txBody>
      </p:sp>
      <p:sp>
        <p:nvSpPr>
          <p:cNvPr id="54" name="Google Shape;7438;p41"/>
          <p:cNvSpPr txBox="1">
            <a:spLocks/>
          </p:cNvSpPr>
          <p:nvPr/>
        </p:nvSpPr>
        <p:spPr>
          <a:xfrm rot="21176429">
            <a:off x="6338696" y="3896894"/>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04</a:t>
            </a:r>
          </a:p>
        </p:txBody>
      </p:sp>
      <p:sp>
        <p:nvSpPr>
          <p:cNvPr id="19" name="Rectangle 18"/>
          <p:cNvSpPr/>
          <p:nvPr/>
        </p:nvSpPr>
        <p:spPr>
          <a:xfrm>
            <a:off x="2312337" y="1513126"/>
            <a:ext cx="3277758" cy="1579645"/>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Ranger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range les paiements cumulés dans un triangle : une ligne par année de survenance, une colonne par délai de règlement.</a:t>
            </a:r>
            <a:endParaRPr lang="fr-CI" sz="1600" noProof="0"/>
          </a:p>
        </p:txBody>
      </p:sp>
      <p:sp>
        <p:nvSpPr>
          <p:cNvPr id="20" name="Rectangle 19"/>
          <p:cNvSpPr/>
          <p:nvPr/>
        </p:nvSpPr>
        <p:spPr>
          <a:xfrm>
            <a:off x="2312337" y="3590006"/>
            <a:ext cx="3277758" cy="1579645"/>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Mesurer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calcule pour chaque délai le facteur de développement : la progression moyenne des paiements d'un délai au suivant.</a:t>
            </a:r>
            <a:endParaRPr lang="fr-CI" sz="1600" noProof="0"/>
          </a:p>
        </p:txBody>
      </p:sp>
      <p:sp>
        <p:nvSpPr>
          <p:cNvPr id="22" name="Rectangle 21"/>
          <p:cNvSpPr/>
          <p:nvPr/>
        </p:nvSpPr>
        <p:spPr>
          <a:xfrm>
            <a:off x="7611772" y="1516817"/>
            <a:ext cx="3277758" cy="1579645"/>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Compléter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complète le triangle avec ces facteurs pour obtenir la charge ultime de chaque année de survenance.</a:t>
            </a:r>
            <a:endParaRPr lang="fr-CI" sz="1600" noProof="0"/>
          </a:p>
        </p:txBody>
      </p:sp>
      <p:sp>
        <p:nvSpPr>
          <p:cNvPr id="23" name="Rectangle 22"/>
          <p:cNvSpPr/>
          <p:nvPr/>
        </p:nvSpPr>
        <p:spPr>
          <a:xfrm>
            <a:off x="7611772" y="3593696"/>
            <a:ext cx="3277758" cy="1579645"/>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Provisionner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La provision est la charge ultime moins les paiements déjà faits. Elle s'ajoute aux dossiers connus.</a:t>
            </a:r>
            <a:endParaRPr lang="fr-CI" sz="1600" noProof="0"/>
          </a:p>
        </p:txBody>
      </p:sp>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55"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Chain Ladder</a:t>
            </a:r>
          </a:p>
        </p:txBody>
      </p:sp>
      <p:sp>
        <p:nvSpPr>
          <p:cNvPr id="56"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triangle des paiements révèle le rythme de règlement des sinistres</a:t>
            </a:r>
          </a:p>
        </p:txBody>
      </p:sp>
      <p:sp>
        <p:nvSpPr>
          <p:cNvPr id="57"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Quatre étapes, de la base des prestations à la provision pour sinistres tardifs</a:t>
            </a:r>
          </a:p>
        </p:txBody>
      </p:sp>
      <p:sp>
        <p:nvSpPr>
          <p:cNvPr id="58"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(méthode actuarielle standard)</a:t>
            </a:r>
          </a:p>
        </p:txBody>
      </p:sp>
      <p:sp>
        <p:nvSpPr>
          <p:cNvPr id="59" name="Rounded Rectangle 58"/>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60" name="TextBox 5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PBC : liste des documents demandés au client</a:t>
            </a:r>
          </a:p>
        </p:txBody>
      </p:sp>
    </p:spTree>
    <p:extLst>
      <p:ext uri="{BB962C8B-B14F-4D97-AF65-F5344CB8AC3E}">
        <p14:creationId xmlns:p14="http://schemas.microsoft.com/office/powerpoint/2010/main" val="3024232647"/>
      </p:ext>
    </p:extLst>
  </p:cSld>
  <p:clrMapOvr>
    <a:masterClrMapping/>
  </p:clrMapOvr>
  <p:transition>
    <p:fade/>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Chain Ladder : le triangle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cases « ? » sont les paiements futurs que la méthode estime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Facteur de développement f(j) = Σ C(i, j+1) / Σ C(i, j). Charge ultime = dernier montant connu x produit des facteurs suivants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(méthode actuarielle standard)</a:t>
            </a:r>
          </a:p>
        </p:txBody>
      </p:sp>
      <p:graphicFrame>
        <p:nvGraphicFramePr>
          <p:cNvPr id="31" name="Table 30"/>
          <p:cNvGraphicFramePr>
            <a:graphicFrameLocks noGrp="1"/>
          </p:cNvGraphicFramePr>
          <p:nvPr/>
        </p:nvGraphicFramePr>
        <p:xfrm>
          <a:off x="503999" y="1548000"/>
          <a:ext cx="6839999" cy="1980000"/>
        </p:xfrm>
        <a:graphic>
          <a:graphicData uri="http://schemas.openxmlformats.org/drawingml/2006/table">
            <a:tbl>
              <a:tblPr firstRow="0" bandRow="0">
                <a:tableStyleId>{5940675A-B579-460E-94D1-54222C63F5DA}</a:tableStyleId>
              </a:tblPr>
              <a:tblGrid>
                <a:gridCol w="1655999"/>
                <a:gridCol w="1296000"/>
                <a:gridCol w="1296000"/>
                <a:gridCol w="1296000"/>
                <a:gridCol w="1296000"/>
              </a:tblGrid>
              <a:tr h="396000">
                <a:tc>
                  <a:txBody>
                    <a:bodyPr/>
                    <a:lstStyle/>
                    <a:p>
                      <a:pPr marL="0" indent="0" lvl="0">
                        <a:buNone/>
                      </a:pPr>
                      <a:r>
                        <a:rPr sz="1400" b="1">
                          <a:solidFill>
                            <a:srgbClr val="FFFFFF"/>
                          </a:solidFill>
                          <a:latin typeface="Helvetica"/>
                        </a:rPr>
                        <a:t>Survenance</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1</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2</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3</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4</a:t>
                      </a:r>
                    </a:p>
                  </a:txBody>
                  <a:tcPr marL="43200" marR="43200" marT="14400" marB="14400" anchor="ctr">
                    <a:solidFill>
                      <a:srgbClr val="060606"/>
                    </a:solidFill>
                  </a:tcPr>
                </a:tc>
              </a:tr>
              <a:tr h="396000">
                <a:tc>
                  <a:txBody>
                    <a:bodyPr/>
                    <a:lstStyle/>
                    <a:p>
                      <a:pPr marL="0" indent="0" lvl="0">
                        <a:buNone/>
                      </a:pPr>
                      <a:r>
                        <a:rPr sz="1400" b="1">
                          <a:solidFill>
                            <a:srgbClr val="060606"/>
                          </a:solidFill>
                          <a:latin typeface="Helvetica"/>
                        </a:rPr>
                        <a:t>Année n-3</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C(1,1)</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C(1,2)</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C(1,3)</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C(1,4)</a:t>
                      </a:r>
                    </a:p>
                  </a:txBody>
                  <a:tcPr marL="43200" marR="43200" marT="14400" marB="14400" anchor="ctr">
                    <a:solidFill>
                      <a:srgbClr val="FFFFFF"/>
                    </a:solidFill>
                  </a:tcPr>
                </a:tc>
              </a:tr>
              <a:tr h="396000">
                <a:tc>
                  <a:txBody>
                    <a:bodyPr/>
                    <a:lstStyle/>
                    <a:p>
                      <a:pPr marL="0" indent="0" lvl="0">
                        <a:buNone/>
                      </a:pPr>
                      <a:r>
                        <a:rPr sz="1400" b="1">
                          <a:solidFill>
                            <a:srgbClr val="060606"/>
                          </a:solidFill>
                          <a:latin typeface="Helvetica"/>
                        </a:rPr>
                        <a:t>Année n-2</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C(2,1)</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C(2,2)</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C(2,3)</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r>
              <a:tr h="396000">
                <a:tc>
                  <a:txBody>
                    <a:bodyPr/>
                    <a:lstStyle/>
                    <a:p>
                      <a:pPr marL="0" indent="0" lvl="0">
                        <a:buNone/>
                      </a:pPr>
                      <a:r>
                        <a:rPr sz="1400" b="1">
                          <a:solidFill>
                            <a:srgbClr val="060606"/>
                          </a:solidFill>
                          <a:latin typeface="Helvetica"/>
                        </a:rPr>
                        <a:t>Année n-1</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C(3,1)</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C(3,2)</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FFFFF"/>
                    </a:solidFill>
                  </a:tcPr>
                </a:tc>
              </a:tr>
              <a:tr h="396000">
                <a:tc>
                  <a:txBody>
                    <a:bodyPr/>
                    <a:lstStyle/>
                    <a:p>
                      <a:pPr marL="0" indent="0" lvl="0">
                        <a:buNone/>
                      </a:pPr>
                      <a:r>
                        <a:rPr sz="1400" b="1">
                          <a:solidFill>
                            <a:srgbClr val="060606"/>
                          </a:solidFill>
                          <a:latin typeface="Helvetica"/>
                        </a:rPr>
                        <a:t>Année n</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C(4,1)</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r>
            </a:tbl>
          </a:graphicData>
        </a:graphic>
      </p:graphicFrame>
      <p:sp>
        <p:nvSpPr>
          <p:cNvPr id="32" name="TextBox 31"/>
          <p:cNvSpPr txBox="1"/>
          <p:nvPr/>
        </p:nvSpPr>
        <p:spPr>
          <a:xfrm>
            <a:off x="503999" y="3744000"/>
            <a:ext cx="6840000" cy="1584000"/>
          </a:xfrm>
          <a:prstGeom prst="rect">
            <a:avLst/>
          </a:prstGeom>
          <a:noFill/>
        </p:spPr>
        <p:txBody>
          <a:bodyPr wrap="square" anchor="t" lIns="54000" rIns="54000"/>
          <a:lstStyle/>
          <a:p>
            <a:pPr algn="l"/>
            <a:r>
              <a:rPr sz="1300" b="0">
                <a:solidFill>
                  <a:srgbClr val="060606"/>
                </a:solidFill>
                <a:latin typeface="Helvetica"/>
              </a:rPr>
              <a:t>C(i, j) : paiements cumulés de l'année de survenance i, au délai j.</a:t>
            </a:r>
          </a:p>
          <a:p>
            <a:pPr algn="l"/>
            <a:r>
              <a:rPr sz="1300" b="0">
                <a:solidFill>
                  <a:srgbClr val="060606"/>
                </a:solidFill>
                <a:latin typeface="Helvetica"/>
              </a:rPr>
              <a:t>« ? » : montants futurs à estimer.</a:t>
            </a:r>
          </a:p>
          <a:p>
            <a:pPr algn="l"/>
            <a:r>
              <a:rPr sz="1300" b="0">
                <a:solidFill>
                  <a:srgbClr val="060606"/>
                </a:solidFill>
                <a:latin typeface="Helvetica"/>
              </a:rPr>
              <a:t>Facteur de développement : f(j) = Σ C(i, j+1) / Σ C(i, j).</a:t>
            </a:r>
          </a:p>
          <a:p>
            <a:pPr algn="l"/>
            <a:r>
              <a:rPr sz="1300" b="0">
                <a:solidFill>
                  <a:srgbClr val="060606"/>
                </a:solidFill>
                <a:latin typeface="Helvetica"/>
              </a:rPr>
              <a:t>Charge ultime = dernier montant connu × produit des facteurs suivants.</a:t>
            </a:r>
          </a:p>
          <a:p>
            <a:pPr algn="l"/>
            <a:r>
              <a:rPr sz="1300" b="0">
                <a:solidFill>
                  <a:srgbClr val="060606"/>
                </a:solidFill>
                <a:latin typeface="Helvetica"/>
              </a:rPr>
              <a:t>Provision = charge ultime - paiements déjà faits.</a:t>
            </a:r>
          </a:p>
        </p:txBody>
      </p:sp>
      <p:sp>
        <p:nvSpPr>
          <p:cNvPr id="33" name="Rounded Rectangle 32"/>
          <p:cNvSpPr/>
          <p:nvPr/>
        </p:nvSpPr>
        <p:spPr>
          <a:xfrm>
            <a:off x="7776000" y="1548000"/>
            <a:ext cx="3960000" cy="1764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060606"/>
                </a:solidFill>
                <a:latin typeface="Helvetica"/>
              </a:rPr>
              <a:t>Hypothèse</a:t>
            </a:r>
          </a:p>
          <a:p>
            <a:pPr algn="ctr"/>
            <a:r>
              <a:rPr sz="1300" b="0">
                <a:solidFill>
                  <a:srgbClr val="060606"/>
                </a:solidFill>
                <a:latin typeface="Helvetica"/>
              </a:rPr>
              <a:t>Le rythme de règlement passé se répète dans le futur.</a:t>
            </a:r>
          </a:p>
        </p:txBody>
      </p:sp>
      <p:sp>
        <p:nvSpPr>
          <p:cNvPr id="34" name="Rounded Rectangle 33"/>
          <p:cNvSpPr/>
          <p:nvPr/>
        </p:nvSpPr>
        <p:spPr>
          <a:xfrm>
            <a:off x="7776000" y="3456000"/>
            <a:ext cx="3960000" cy="1764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060606"/>
                </a:solidFill>
                <a:latin typeface="Helvetica"/>
              </a:rPr>
              <a:t>Données</a:t>
            </a:r>
          </a:p>
          <a:p>
            <a:pPr algn="ctr"/>
            <a:r>
              <a:rPr sz="1300" b="0">
                <a:solidFill>
                  <a:srgbClr val="060606"/>
                </a:solidFill>
                <a:latin typeface="Helvetica"/>
              </a:rPr>
              <a:t>Paiements par année de survenance et par délai, issus des bases de prestations (PBC 13, 28, 40).</a:t>
            </a:r>
          </a:p>
        </p:txBody>
      </p:sp>
      <p:sp>
        <p:nvSpPr>
          <p:cNvPr id="35" name="Rounded Rectangle 34"/>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PBC : liste des documents demandés au client</a:t>
            </a:r>
          </a:p>
        </p:txBody>
      </p:sp>
    </p:spTree>
    <p:extLst>
      <p:ext uri="{BB962C8B-B14F-4D97-AF65-F5344CB8AC3E}">
        <p14:creationId xmlns:p14="http://schemas.microsoft.com/office/powerpoint/2010/main" val="3540793109"/>
      </p:ext>
    </p:extLst>
  </p:cSld>
  <p:clrMapOvr>
    <a:masterClrMapping/>
  </p:clrMapOvr>
  <p:transition>
    <p:fade/>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759603"/>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Exposition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calcule le nombre d'années-personnes passées à chaque âge pendant la période, à partir des dates de naissance, d'entrée et de sortie.</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50766"/>
            <a:ext cx="5748535" cy="148246"/>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667785"/>
            <a:ext cx="0" cy="3257265"/>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186341"/>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057953"/>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4918272"/>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679801"/>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Décès attendus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décès attendus sont l'exposition de chaque âge multipliée par la probabilité de décès de la table CIMA H, additionnée sur tous les âges.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597692"/>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Ratio A/E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ratio rapporte les décès observés aux décès attendus. Un ratio supérieur à 100 % signifie une mortalité plus forte que la table.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517890"/>
            <a:ext cx="9685766" cy="800764"/>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Signification</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intervalle de confiance fondé sur la loi de Poisson dit si l'écart à la table est significatif ou dû au hasard.</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3993555"/>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1938714"/>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2792334"/>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3711951"/>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4659107"/>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2758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Mortalité observée</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rapport décès observés / décès attendus mesure l'écart à la table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 A/E = décès observés / Σ qx(table) × exposition au risque, par âge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Rounded Rectangle 55"/>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57" name="TextBox 5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CIMA : Conférence interafricaine des marchés d'assurances | A/E : décès observés / décès attendus | PBC : liste des documents demandés au client | qx : probabilité de décès entre x et x + 1 ans</a:t>
            </a:r>
          </a:p>
        </p:txBody>
      </p:sp>
    </p:spTree>
    <p:extLst>
      <p:ext uri="{BB962C8B-B14F-4D97-AF65-F5344CB8AC3E}">
        <p14:creationId xmlns:p14="http://schemas.microsoft.com/office/powerpoint/2010/main" val="2345659647"/>
      </p:ext>
    </p:extLst>
  </p:cSld>
  <p:clrMapOvr>
    <a:masterClrMapping/>
  </p:clrMapOvr>
  <p:transition>
    <p:fade/>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Image 32"/>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2" name="ZoneTexte 31">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35" name="Google Shape;7418;p41"/>
          <p:cNvSpPr/>
          <p:nvPr/>
        </p:nvSpPr>
        <p:spPr>
          <a:xfrm rot="21013821">
            <a:off x="6401695" y="3070947"/>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38" name="Google Shape;7421;p41"/>
          <p:cNvSpPr/>
          <p:nvPr/>
        </p:nvSpPr>
        <p:spPr>
          <a:xfrm rot="356255">
            <a:off x="6399660" y="1666087"/>
            <a:ext cx="1054365" cy="808304"/>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1" name="Google Shape;7424;p41"/>
          <p:cNvSpPr/>
          <p:nvPr/>
        </p:nvSpPr>
        <p:spPr>
          <a:xfrm rot="282502">
            <a:off x="1112586" y="3070779"/>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4" name="Google Shape;7427;p41"/>
          <p:cNvSpPr/>
          <p:nvPr/>
        </p:nvSpPr>
        <p:spPr>
          <a:xfrm rot="21275242">
            <a:off x="1148118" y="1669883"/>
            <a:ext cx="1054398" cy="808329"/>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7" name="Google Shape;7431;p41"/>
          <p:cNvSpPr txBox="1">
            <a:spLocks/>
          </p:cNvSpPr>
          <p:nvPr/>
        </p:nvSpPr>
        <p:spPr>
          <a:xfrm rot="21433306">
            <a:off x="1159212" y="1824358"/>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01</a:t>
            </a:r>
          </a:p>
        </p:txBody>
      </p:sp>
      <p:sp>
        <p:nvSpPr>
          <p:cNvPr id="48" name="Google Shape;7432;p41"/>
          <p:cNvSpPr txBox="1">
            <a:spLocks/>
          </p:cNvSpPr>
          <p:nvPr/>
        </p:nvSpPr>
        <p:spPr>
          <a:xfrm rot="442454">
            <a:off x="1159212" y="3209179"/>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02</a:t>
            </a:r>
          </a:p>
        </p:txBody>
      </p:sp>
      <p:sp>
        <p:nvSpPr>
          <p:cNvPr id="53" name="Google Shape;7437;p41"/>
          <p:cNvSpPr txBox="1">
            <a:spLocks/>
          </p:cNvSpPr>
          <p:nvPr/>
        </p:nvSpPr>
        <p:spPr>
          <a:xfrm rot="494524">
            <a:off x="6442393" y="1824358"/>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03</a:t>
            </a:r>
          </a:p>
        </p:txBody>
      </p:sp>
      <p:sp>
        <p:nvSpPr>
          <p:cNvPr id="54" name="Google Shape;7438;p41"/>
          <p:cNvSpPr txBox="1">
            <a:spLocks/>
          </p:cNvSpPr>
          <p:nvPr/>
        </p:nvSpPr>
        <p:spPr>
          <a:xfrm rot="21135267">
            <a:off x="6442393" y="3209179"/>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04</a:t>
            </a:r>
          </a:p>
        </p:txBody>
      </p:sp>
      <p:sp>
        <p:nvSpPr>
          <p:cNvPr id="19" name="Rectangle 18"/>
          <p:cNvSpPr/>
          <p:nvPr/>
        </p:nvSpPr>
        <p:spPr>
          <a:xfrm>
            <a:off x="2416034" y="1530450"/>
            <a:ext cx="3277758" cy="945673"/>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Population</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Adenka répartit les mutualistes par âge, sexe et statut (actif, retraité), à partir du fichier des dates de naissance.</a:t>
            </a:r>
            <a:endParaRPr lang="fr-CI" sz="1600" noProof="0"/>
          </a:p>
        </p:txBody>
      </p:sp>
      <p:sp>
        <p:nvSpPr>
          <p:cNvPr id="20" name="Rectangle 19"/>
          <p:cNvSpPr/>
          <p:nvPr/>
        </p:nvSpPr>
        <p:spPr>
          <a:xfrm>
            <a:off x="2416034" y="2902290"/>
            <a:ext cx="3277758" cy="945673"/>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Vieillissement</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Chaque année, la population vieillit d'un an. Les décès suivent la table CIMA H et les départs à la retraite suivent l'âge légal.</a:t>
            </a:r>
            <a:endParaRPr lang="fr-CI" sz="1600" noProof="0"/>
          </a:p>
        </p:txBody>
      </p:sp>
      <p:sp>
        <p:nvSpPr>
          <p:cNvPr id="22" name="Rectangle 21"/>
          <p:cNvSpPr/>
          <p:nvPr/>
        </p:nvSpPr>
        <p:spPr>
          <a:xfrm>
            <a:off x="7755371" y="1512644"/>
            <a:ext cx="3277758" cy="945673"/>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Entrées</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Les promotions de recrues de juillet sont ajoutées selon une hypothèse de recrutement à valider avec le FPPN.</a:t>
            </a:r>
            <a:endParaRPr lang="fr-CI" sz="1600" noProof="0"/>
          </a:p>
        </p:txBody>
      </p:sp>
      <p:sp>
        <p:nvSpPr>
          <p:cNvPr id="23" name="Rectangle 22"/>
          <p:cNvSpPr/>
          <p:nvPr/>
        </p:nvSpPr>
        <p:spPr>
          <a:xfrm>
            <a:off x="7715469" y="2905981"/>
            <a:ext cx="3277758" cy="945673"/>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Cotisations</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Les cotisations futures sont les salaires projetés multipliés par le taux de 5 % du barème officiel.</a:t>
            </a:r>
            <a:endParaRPr lang="fr-CI" sz="1600" noProof="0"/>
          </a:p>
        </p:txBody>
      </p:sp>
      <p:sp>
        <p:nvSpPr>
          <p:cNvPr id="25" name="Google Shape;7418;p41"/>
          <p:cNvSpPr/>
          <p:nvPr/>
        </p:nvSpPr>
        <p:spPr>
          <a:xfrm rot="21013821">
            <a:off x="6441597" y="4488763"/>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26" name="Google Shape;7424;p41"/>
          <p:cNvSpPr/>
          <p:nvPr/>
        </p:nvSpPr>
        <p:spPr>
          <a:xfrm rot="282502">
            <a:off x="1152488" y="4488595"/>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27" name="Google Shape;7432;p41"/>
          <p:cNvSpPr txBox="1">
            <a:spLocks/>
          </p:cNvSpPr>
          <p:nvPr/>
        </p:nvSpPr>
        <p:spPr>
          <a:xfrm rot="422494">
            <a:off x="1199114" y="4626994"/>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05</a:t>
            </a:r>
          </a:p>
        </p:txBody>
      </p:sp>
      <p:sp>
        <p:nvSpPr>
          <p:cNvPr id="28" name="Google Shape;7438;p41"/>
          <p:cNvSpPr txBox="1">
            <a:spLocks/>
          </p:cNvSpPr>
          <p:nvPr/>
        </p:nvSpPr>
        <p:spPr>
          <a:xfrm rot="21292494">
            <a:off x="6482295" y="4626994"/>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06</a:t>
            </a:r>
          </a:p>
        </p:txBody>
      </p:sp>
      <p:sp>
        <p:nvSpPr>
          <p:cNvPr id="29" name="Rectangle 28"/>
          <p:cNvSpPr/>
          <p:nvPr/>
        </p:nvSpPr>
        <p:spPr>
          <a:xfrm>
            <a:off x="2455936" y="4320106"/>
            <a:ext cx="3277758" cy="945673"/>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Prestations</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Les prestations futures sont les effectifs par âge multipliés par le coût moyen des soins et des décès à chaque âge.</a:t>
            </a:r>
            <a:endParaRPr lang="fr-CI" sz="1600" noProof="0"/>
          </a:p>
        </p:txBody>
      </p:sp>
      <p:sp>
        <p:nvSpPr>
          <p:cNvPr id="30" name="Rectangle 29"/>
          <p:cNvSpPr/>
          <p:nvPr/>
        </p:nvSpPr>
        <p:spPr>
          <a:xfrm>
            <a:off x="7755371" y="4323796"/>
            <a:ext cx="3277758" cy="945673"/>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Équilibre</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L'écart entre cotisations, prestations et frais donne l'équilibre de chaque année, testé par des sensibilités.</a:t>
            </a:r>
            <a:endParaRPr lang="fr-CI" sz="1600" noProof="0"/>
          </a:p>
        </p:txBody>
      </p:sp>
      <p:sp>
        <p:nvSpPr>
          <p:cNvPr id="55"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Projection de l'équilibre technique</a:t>
            </a:r>
          </a:p>
        </p:txBody>
      </p:sp>
      <p:sp>
        <p:nvSpPr>
          <p:cNvPr id="56"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projection teste si les cotisations futures couvriront les prestations futures</a:t>
            </a:r>
          </a:p>
        </p:txBody>
      </p:sp>
      <p:sp>
        <p:nvSpPr>
          <p:cNvPr id="57"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Six étapes, de la population d'aujourd'hui à l'équilibre de chaque année sur 5 à 10 ans</a:t>
            </a:r>
          </a:p>
        </p:txBody>
      </p:sp>
      <p:sp>
        <p:nvSpPr>
          <p:cNvPr id="58"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9" name="Rounded Rectangle 58"/>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60" name="TextBox 5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PBC : liste des documents demandés au client</a:t>
            </a:r>
          </a:p>
        </p:txBody>
      </p:sp>
    </p:spTree>
    <p:extLst>
      <p:ext uri="{BB962C8B-B14F-4D97-AF65-F5344CB8AC3E}">
        <p14:creationId xmlns:p14="http://schemas.microsoft.com/office/powerpoint/2010/main" val="3615259105"/>
      </p:ext>
    </p:extLst>
  </p:cSld>
  <p:clrMapOvr>
    <a:masterClrMapping/>
  </p:clrMapOvr>
  <p:transition>
    <p:fade/>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Travaux en attente des données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Ces méthodes seront appliquées dès réception des données listées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Voir la liste des documents demandés (PBC pointée) et la partie 14 du rapport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liste des documents demandés (PBC) pointée au 18/10/2026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28 : Méthodes en attente et données nécessaires</a:t>
            </a:r>
          </a:p>
        </p:txBody>
      </p:sp>
      <p:graphicFrame>
        <p:nvGraphicFramePr>
          <p:cNvPr id="32" name="Table 31"/>
          <p:cNvGraphicFramePr>
            <a:graphicFrameLocks noGrp="1"/>
          </p:cNvGraphicFramePr>
          <p:nvPr/>
        </p:nvGraphicFramePr>
        <p:xfrm>
          <a:off x="503999" y="1655999"/>
          <a:ext cx="11232000" cy="1519151"/>
        </p:xfrm>
        <a:graphic>
          <a:graphicData uri="http://schemas.openxmlformats.org/drawingml/2006/table">
            <a:tbl>
              <a:tblPr firstRow="0" bandRow="0">
                <a:tableStyleId>{5940675A-B579-460E-94D1-54222C63F5DA}</a:tableStyleId>
              </a:tblPr>
              <a:tblGrid>
                <a:gridCol w="2664000"/>
                <a:gridCol w="6480000"/>
                <a:gridCol w="2088000"/>
              </a:tblGrid>
              <a:tr h="225250">
                <a:tc>
                  <a:txBody>
                    <a:bodyPr/>
                    <a:lstStyle/>
                    <a:p>
                      <a:pPr marL="0" indent="0" lvl="0">
                        <a:buNone/>
                      </a:pPr>
                      <a:r>
                        <a:rPr sz="1100" b="1">
                          <a:solidFill>
                            <a:srgbClr val="FFFFFF"/>
                          </a:solidFill>
                          <a:latin typeface="Helvetica"/>
                        </a:rPr>
                        <a:t>Méthode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Données nécessaires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PBC</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PSAP et Chain Ladder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Bases des prestations avec dates, dossiers non payés à chaque clôture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13, 14, 28, 29, 40</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Mortalité observée (A/E)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Mutualistes avec date de naissance, sexe, entrée et sortie, base des décès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9, 10, 11, 28</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Ratios de gestion en attente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Fichiers aller 936 et 8Z6, contrôles a posteriori, procès-verbaux, cotisation au fonds de garantie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Nouveaux points PBC</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Projection de l'équilibre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Âges, barèmes, coût des soins par âge, hypothèses de recrutement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1, 2, 3, 9, 40</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Engagements d'épargne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Comptes individuels PEP et EFC, règlement des produits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16, 17, 18, 19</a:t>
                      </a:r>
                    </a:p>
                  </a:txBody>
                  <a:tcPr marL="43200" marR="43200" marT="14400" marB="14400" anchor="ctr">
                    <a:solidFill>
                      <a:srgbClr val="FFFFFF"/>
                    </a:solidFill>
                  </a:tcPr>
                </a:tc>
              </a:tr>
            </a:tbl>
          </a:graphicData>
        </a:graphic>
      </p:graphicFrame>
      <p:sp>
        <p:nvSpPr>
          <p:cNvPr id="33" name="TextBox 32"/>
          <p:cNvSpPr txBox="1"/>
          <p:nvPr/>
        </p:nvSpPr>
        <p:spPr>
          <a:xfrm>
            <a:off x="503999" y="3283153"/>
            <a:ext cx="11232000" cy="2584846"/>
          </a:xfrm>
          <a:prstGeom prst="rect">
            <a:avLst/>
          </a:prstGeom>
          <a:noFill/>
        </p:spPr>
        <p:txBody>
          <a:bodyPr wrap="square" lIns="54000" rIns="54000"/>
          <a:lstStyle/>
          <a:p>
            <a:pPr algn="just">
              <a:spcAft>
                <a:spcPts val="600"/>
              </a:spcAft>
            </a:pPr>
            <a:r>
              <a:rPr sz="1300" b="1">
                <a:solidFill>
                  <a:srgbClr val="060606"/>
                </a:solidFill>
                <a:latin typeface="Helvetica"/>
              </a:rPr>
              <a:t>Toutes les méthodes en attente dépendent de trois fichiers</a:t>
            </a:r>
            <a:r>
              <a:rPr sz="1300" b="0">
                <a:solidFill>
                  <a:srgbClr val="060606"/>
                </a:solidFill>
                <a:latin typeface="Helvetica"/>
              </a:rPr>
              <a:t> : les bases de prestations, le fichier des mutualistes avec dates de naissance et les comptes individuels d'épargne.</a:t>
            </a:r>
          </a:p>
          <a:p>
            <a:pPr algn="just">
              <a:spcAft>
                <a:spcPts val="600"/>
              </a:spcAft>
            </a:pPr>
            <a:r>
              <a:rPr sz="1300" b="1">
                <a:solidFill>
                  <a:srgbClr val="060606"/>
                </a:solidFill>
                <a:latin typeface="Helvetica"/>
              </a:rPr>
              <a:t>Implication pour le FPPN.</a:t>
            </a:r>
            <a:r>
              <a:rPr sz="1300" b="0">
                <a:solidFill>
                  <a:srgbClr val="060606"/>
                </a:solidFill>
                <a:latin typeface="Helvetica"/>
              </a:rPr>
              <a:t> Ces trois fichiers permettront aussi de réaliser l'étude actuarielle quinquennale exigée pour les risques longs (art. 14 du règlement d'exécution).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PSAP : provision pour sinistres à payer | A/E : décès observés / décès attendus | PBC : liste des documents demandés au client | 8Z6 : poste décès</a:t>
            </a:r>
          </a:p>
        </p:txBody>
      </p:sp>
    </p:spTree>
    <p:extLst>
      <p:ext uri="{BB962C8B-B14F-4D97-AF65-F5344CB8AC3E}">
        <p14:creationId xmlns:p14="http://schemas.microsoft.com/office/powerpoint/2010/main" val="2152843778"/>
      </p:ext>
    </p:extLst>
  </p:cSld>
  <p:clrMapOvr>
    <a:masterClrMapping/>
  </p:clrMapOvr>
  <p:transition>
    <p:fade/>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13</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Outils et traçabilité</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Chaîne de traitement, extraits de code, contrôle des chiffres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255769323"/>
      </p:ext>
    </p:extLst>
  </p:cSld>
  <p:clrMapOvr>
    <a:masterClrMapping/>
  </p:clrMapOvr>
  <p:transition>
    <p:fade/>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Environnement de travail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traitements sont écrits en Python et exécutés dans VS Code sous Windows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Dix scripts conservés, rejouables à chaque nouvel envoi du FPPN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dépôt de la mission (dossier scripts)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29 : Scripts de la mission</a:t>
            </a:r>
          </a:p>
        </p:txBody>
      </p:sp>
      <p:graphicFrame>
        <p:nvGraphicFramePr>
          <p:cNvPr id="32" name="Table 31"/>
          <p:cNvGraphicFramePr>
            <a:graphicFrameLocks noGrp="1"/>
          </p:cNvGraphicFramePr>
          <p:nvPr/>
        </p:nvGraphicFramePr>
        <p:xfrm>
          <a:off x="503999" y="1655999"/>
          <a:ext cx="11232000" cy="2472604"/>
        </p:xfrm>
        <a:graphic>
          <a:graphicData uri="http://schemas.openxmlformats.org/drawingml/2006/table">
            <a:tbl>
              <a:tblPr firstRow="0" bandRow="0">
                <a:tableStyleId>{5940675A-B579-460E-94D1-54222C63F5DA}</a:tableStyleId>
              </a:tblPr>
              <a:tblGrid>
                <a:gridCol w="2664000"/>
                <a:gridCol w="4464000"/>
                <a:gridCol w="4104000"/>
              </a:tblGrid>
              <a:tr h="225250">
                <a:tc>
                  <a:txBody>
                    <a:bodyPr/>
                    <a:lstStyle/>
                    <a:p>
                      <a:pPr marL="0" indent="0" lvl="0">
                        <a:buNone/>
                      </a:pPr>
                      <a:r>
                        <a:rPr sz="1100" b="1">
                          <a:solidFill>
                            <a:srgbClr val="FFFFFF"/>
                          </a:solidFill>
                          <a:latin typeface="Helvetica"/>
                        </a:rPr>
                        <a:t>Script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Rôle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Contrôle intégré</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extraction_fppn.py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Extraction sans perte, archive découpée pour l'envoi</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Empreintes SHA-256, lignes et cellules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envoi_fichiers_fppn.py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Envoi de fichiers précis en parties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Empreinte de chaque partie</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base_fppn.py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Base d'analyse : lecture par en-tête ou par contenu</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Lignes de total, montants doublés</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grenier_fppn.py, compta_fppn.py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Lecture des exports du logiciel de prêts et des balances Sage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Totaux imprimés retrouvés, débit = crédit</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analyses_fppn.py, analyses_complements_fppn.py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Indicateurs, tests, sensibilités, tables CIMA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Classeur des calculs</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ratios_airms_fppn.py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Ratios prudentiels, classement des comptes, excédent par risque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Rapprochement avec les agrégats de la version 2</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rapport_v4_fppn.py, logigramme_fppn.py, classeur_v2_fppn.py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Rapport, logigrammes et graphiques natifs, classeur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Contrôle automatique des chiffres</a:t>
                      </a:r>
                    </a:p>
                  </a:txBody>
                  <a:tcPr marL="43200" marR="43200" marT="14400" marB="14400" anchor="ctr">
                    <a:solidFill>
                      <a:srgbClr val="FFFFFF"/>
                    </a:solidFill>
                  </a:tcPr>
                </a:tc>
              </a:tr>
            </a:tbl>
          </a:graphicData>
        </a:graphic>
      </p:graphicFrame>
      <p:sp>
        <p:nvSpPr>
          <p:cNvPr id="33" name="TextBox 32"/>
          <p:cNvSpPr txBox="1"/>
          <p:nvPr/>
        </p:nvSpPr>
        <p:spPr>
          <a:xfrm>
            <a:off x="503999" y="4236606"/>
            <a:ext cx="11232000" cy="1631393"/>
          </a:xfrm>
          <a:prstGeom prst="rect">
            <a:avLst/>
          </a:prstGeom>
          <a:noFill/>
        </p:spPr>
        <p:txBody>
          <a:bodyPr wrap="square" lIns="54000" rIns="54000"/>
          <a:lstStyle/>
          <a:p>
            <a:pPr algn="just">
              <a:spcAft>
                <a:spcPts val="600"/>
              </a:spcAft>
            </a:pPr>
            <a:r>
              <a:rPr sz="1300" b="1">
                <a:solidFill>
                  <a:srgbClr val="060606"/>
                </a:solidFill>
                <a:latin typeface="Helvetica"/>
              </a:rPr>
              <a:t>Chaque chiffre du rapport peut être recalculé par un tiers.</a:t>
            </a:r>
            <a:r>
              <a:rPr sz="1300" b="0">
                <a:solidFill>
                  <a:srgbClr val="060606"/>
                </a:solidFill>
                <a:latin typeface="Helvetica"/>
              </a:rPr>
              <a:t> Les scripts sont conservés dans le dossier de la mission et rejoués à chaque nouvel envoi.</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SHA-256 : algorithme d'empreinte numérique</a:t>
            </a:r>
          </a:p>
        </p:txBody>
      </p:sp>
    </p:spTree>
    <p:extLst>
      <p:ext uri="{BB962C8B-B14F-4D97-AF65-F5344CB8AC3E}">
        <p14:creationId xmlns:p14="http://schemas.microsoft.com/office/powerpoint/2010/main" val="3972302496"/>
      </p:ext>
    </p:extLst>
  </p:cSld>
  <p:clrMapOvr>
    <a:masterClrMapping/>
  </p:clrMapOvr>
  <p:transition>
    <p:fade/>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Étapes de la chaîne de traitement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étape transforme une entrée en sortie, avec un contrôle automatique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Six étapes du logigramme de la partie 2, chacune avec son entrée, son traitement, son contrôle et sa sortie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Python Adenka (dossier scripts de la mission)</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30 : Entrée, traitement, contrôle et sortie de chaque étape</a:t>
            </a:r>
          </a:p>
        </p:txBody>
      </p:sp>
      <p:graphicFrame>
        <p:nvGraphicFramePr>
          <p:cNvPr id="32" name="Table 31"/>
          <p:cNvGraphicFramePr>
            <a:graphicFrameLocks noGrp="1"/>
          </p:cNvGraphicFramePr>
          <p:nvPr/>
        </p:nvGraphicFramePr>
        <p:xfrm>
          <a:off x="503999" y="1655999"/>
          <a:ext cx="11231999" cy="2872230"/>
        </p:xfrm>
        <a:graphic>
          <a:graphicData uri="http://schemas.openxmlformats.org/drawingml/2006/table">
            <a:tbl>
              <a:tblPr firstRow="0" bandRow="0">
                <a:tableStyleId>{5940675A-B579-460E-94D1-54222C63F5DA}</a:tableStyleId>
              </a:tblPr>
              <a:tblGrid>
                <a:gridCol w="936000"/>
                <a:gridCol w="2376000"/>
                <a:gridCol w="2951999"/>
                <a:gridCol w="2808000"/>
                <a:gridCol w="2160000"/>
              </a:tblGrid>
              <a:tr h="194768">
                <a:tc>
                  <a:txBody>
                    <a:bodyPr/>
                    <a:lstStyle/>
                    <a:p>
                      <a:pPr marL="0" indent="0" lvl="0">
                        <a:buNone/>
                      </a:pPr>
                      <a:r>
                        <a:rPr sz="900" b="1">
                          <a:solidFill>
                            <a:srgbClr val="FFFFFF"/>
                          </a:solidFill>
                          <a:latin typeface="Helvetica"/>
                        </a:rPr>
                        <a:t>Étape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Entrée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Traitement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Contrôle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Sortie</a:t>
                      </a:r>
                    </a:p>
                  </a:txBody>
                  <a:tcPr marL="43200" marR="43200" marT="14400" marB="14400" anchor="ctr">
                    <a:solidFill>
                      <a:srgbClr val="060606"/>
                    </a:solidFill>
                  </a:tcPr>
                </a:tc>
              </a:tr>
              <a:tr h="469105">
                <a:tc>
                  <a:txBody>
                    <a:bodyPr/>
                    <a:lstStyle/>
                    <a:p>
                      <a:pPr marL="0" indent="0" lvl="0">
                        <a:buNone/>
                      </a:pPr>
                      <a:r>
                        <a:rPr sz="900" b="1">
                          <a:solidFill>
                            <a:srgbClr val="060606"/>
                          </a:solidFill>
                          <a:latin typeface="Helvetica"/>
                        </a:rPr>
                        <a:t>Réception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4 287 fichiers envoyés par le FPPN, dont des exports de logiciels et des PDF.</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script dresse l'inventaire, repère doublons, fichiers vides et formats mal nommés.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Chaque fichier reçoit une empreinte SHA-256 qui prouve qu'il n'a pas changé.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Inventaire des fichiers et liste des fichiers à renvoyer.</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Extraction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Tableurs Excel, pages web nommées « .xls » et fichiers texte de la Solde.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script lit les premiers octets pour reconnaître le vrai format, puis convertit chaque feuille en CSV sans perte.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Les lignes et les cellules sont comptées avant et après conversion : 491 feuilles identiques.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Fichiers CSV et journal des feuilles converties.</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Base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Fichiers CSV des précomptes, des balances et du Grenier.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script reconnaît les colonnes par leur en-tête ou par leur contenu, puis réunit 4,45 millions de lignes.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lignes de total et les montants doublés sont écartés et enregistrés à part.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Base d'analyse au format Parquet et journal des rejets.</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Contrôles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Base d'analyse et totaux imprimés par les logiciels.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script recalcule les totaux et rapproche les fichiers aller et retour, poste par poste et mois par mois.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Les 37 balances âgées retrouvent leurs totaux et les 7 exercices sont équilibrés.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Tableaux de contrôle et anomalies signalées au FPPN.</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Analyses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Base contrôlée, données externes validées et textes de l'UEMOA.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scripts calculent les indicateurs, les tests statistiques, les tables CIMA et les 36 ratios prudentiels.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agrégats recalculés sont comparés à ceux de la version précédente au franc près.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Fichiers de résultats et classeur des calculs.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Rapport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Fichiers de résultats et gabarits Timesaver Adenka.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script construit les graphiques et tableaux natifs, les schémas modifiables et les notes.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Chaque chiffre affiché est relu dans le PowerPoint produit et comparé à sa valeur exacte.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Rapport PowerPoint et onglet de traçabilité.</a:t>
                      </a:r>
                    </a:p>
                  </a:txBody>
                  <a:tcPr marL="43200" marR="43200" marT="14400" marB="14400" anchor="ctr">
                    <a:solidFill>
                      <a:srgbClr val="F2F2F2"/>
                    </a:solidFill>
                  </a:tcPr>
                </a:tc>
              </a:tr>
            </a:tbl>
          </a:graphicData>
        </a:graphic>
      </p:graphicFrame>
      <p:sp>
        <p:nvSpPr>
          <p:cNvPr id="33" name="TextBox 32"/>
          <p:cNvSpPr txBox="1"/>
          <p:nvPr/>
        </p:nvSpPr>
        <p:spPr>
          <a:xfrm>
            <a:off x="503999" y="4636235"/>
            <a:ext cx="11232000" cy="1231764"/>
          </a:xfrm>
          <a:prstGeom prst="rect">
            <a:avLst/>
          </a:prstGeom>
          <a:noFill/>
        </p:spPr>
        <p:txBody>
          <a:bodyPr wrap="square" lIns="54000" rIns="54000"/>
          <a:lstStyle/>
          <a:p>
            <a:pPr algn="just">
              <a:spcAft>
                <a:spcPts val="600"/>
              </a:spcAft>
            </a:pPr>
            <a:r>
              <a:rPr sz="1300" b="1">
                <a:solidFill>
                  <a:srgbClr val="060606"/>
                </a:solidFill>
                <a:latin typeface="Helvetica"/>
              </a:rPr>
              <a:t>Chaque étape produit une trace vérifiable.</a:t>
            </a:r>
            <a:r>
              <a:rPr sz="1300" b="0">
                <a:solidFill>
                  <a:srgbClr val="060606"/>
                </a:solidFill>
                <a:latin typeface="Helvetica"/>
              </a:rPr>
              <a:t> L'inventaire, le journal des conversions, le journal des rejets, les tableaux de contrôle et l'onglet de traçabilité permettent à un tiers de refaire le chemin.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CIMA : Conférence interafricaine des marchés d'assurances | SHA-256 : algorithme d'empreinte numérique | CSV : fichier texte de tableau</a:t>
            </a:r>
          </a:p>
        </p:txBody>
      </p:sp>
    </p:spTree>
    <p:extLst>
      <p:ext uri="{BB962C8B-B14F-4D97-AF65-F5344CB8AC3E}">
        <p14:creationId xmlns:p14="http://schemas.microsoft.com/office/powerpoint/2010/main" val="1872101693"/>
      </p:ext>
    </p:extLst>
  </p:cSld>
  <p:clrMapOvr>
    <a:masterClrMapping/>
  </p:clrMapOvr>
  <p:transition>
    <p:fade/>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reconnaître le vrai format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script lit les premiers octets pour reconnaître le vrai format d'un fichier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C'est ainsi que les 70 fichiers « .xls » du Grenier ont été reconnus comme des pages web lisibles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extraction.png"/>
          <p:cNvPicPr>
            <a:picLocks noChangeAspect="1"/>
          </p:cNvPicPr>
          <p:nvPr/>
        </p:nvPicPr>
        <p:blipFill>
          <a:blip r:embed="rId6"/>
          <a:stretch>
            <a:fillRect/>
          </a:stretch>
        </p:blipFill>
        <p:spPr>
          <a:xfrm>
            <a:off x="503999" y="1674000"/>
            <a:ext cx="7848000" cy="3205288"/>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36 : Extrait du script dans VS Code sous Windows (reconnaître le vrai format)</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Un fichier Excel moderne commence par les octets « PK », un ancien par d'autres octets.</a:t>
            </a:r>
          </a:p>
          <a:p>
            <a:pPr algn="just">
              <a:spcAft>
                <a:spcPts val="600"/>
              </a:spcAft>
            </a:pPr>
            <a:r>
              <a:rPr sz="1300" b="1">
                <a:solidFill>
                  <a:srgbClr val="060606"/>
                </a:solidFill>
                <a:latin typeface="Helvetica"/>
              </a:rPr>
              <a:t>Une page web contient « &lt;html » ou « &lt;table ».</a:t>
            </a:r>
            <a:r>
              <a:rPr sz="1300" b="0">
                <a:solidFill>
                  <a:srgbClr val="060606"/>
                </a:solidFill>
                <a:latin typeface="Helvetica"/>
              </a:rPr>
              <a:t> Le script la lit alors comme un tableau.</a:t>
            </a:r>
          </a:p>
          <a:p>
            <a:pPr algn="just">
              <a:spcAft>
                <a:spcPts val="600"/>
              </a:spcAft>
            </a:pPr>
            <a:r>
              <a:rPr sz="1300" b="1">
                <a:solidFill>
                  <a:srgbClr val="060606"/>
                </a:solidFill>
                <a:latin typeface="Helvetica"/>
              </a:rPr>
              <a:t>Le terminal montre la sortie réelle de l'extraction sur le poste de la mission</a:t>
            </a:r>
            <a:r>
              <a:rPr sz="1300" b="0">
                <a:solidFill>
                  <a:srgbClr val="060606"/>
                </a:solidFill>
                <a:latin typeface="Helvetica"/>
              </a:rPr>
              <a:t> : 91,5 Mo en 5 parties.</a:t>
            </a:r>
          </a:p>
          <a:p>
            <a:pPr algn="just">
              <a:spcAft>
                <a:spcPts val="600"/>
              </a:spcAft>
            </a:pPr>
            <a:r>
              <a:rPr sz="1300" b="1">
                <a:solidFill>
                  <a:srgbClr val="060606"/>
                </a:solidFill>
                <a:latin typeface="Helvetica"/>
              </a:rPr>
              <a:t>Implication pour le FPPN.</a:t>
            </a:r>
            <a:r>
              <a:rPr sz="1300" b="0">
                <a:solidFill>
                  <a:srgbClr val="060606"/>
                </a:solidFill>
                <a:latin typeface="Helvetica"/>
              </a:rPr>
              <a:t> Ce test évite de déclarer illisible un fichier simplement mal nommé : aucun fichier du Grenier n'a été perdu.</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294940491"/>
      </p:ext>
    </p:extLst>
  </p:cSld>
  <p:clrMapOvr>
    <a:masterClrMapping/>
  </p:clrMapOvr>
  <p:transition>
    <p:fade/>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écarter les lignes de total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ligne égale à la somme des autres est écartée automatiquement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Règle appliquée feuille par feuille, avec une tolérance de 1 %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total.png"/>
          <p:cNvPicPr>
            <a:picLocks noChangeAspect="1"/>
          </p:cNvPicPr>
          <p:nvPr/>
        </p:nvPicPr>
        <p:blipFill>
          <a:blip r:embed="rId6"/>
          <a:stretch>
            <a:fillRect/>
          </a:stretch>
        </p:blipFill>
        <p:spPr>
          <a:xfrm>
            <a:off x="503999" y="1674000"/>
            <a:ext cx="7848000" cy="2598101"/>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37 : Extrait du script dans VS Code sous Windows (écarter les lignes de total)</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 script calcule la somme de la feuille.</a:t>
            </a:r>
          </a:p>
          <a:p>
            <a:pPr algn="just">
              <a:spcAft>
                <a:spcPts val="600"/>
              </a:spcAft>
            </a:pPr>
            <a:r>
              <a:rPr sz="1300" b="1">
                <a:solidFill>
                  <a:srgbClr val="060606"/>
                </a:solidFill>
                <a:latin typeface="Helvetica"/>
              </a:rPr>
              <a:t>Une ligne dont le montant égale la somme des autres est un total</a:t>
            </a:r>
            <a:r>
              <a:rPr sz="1300" b="0">
                <a:solidFill>
                  <a:srgbClr val="060606"/>
                </a:solidFill>
                <a:latin typeface="Helvetica"/>
              </a:rPr>
              <a:t>, pas un mutualiste.</a:t>
            </a:r>
          </a:p>
          <a:p>
            <a:pPr algn="just">
              <a:spcAft>
                <a:spcPts val="600"/>
              </a:spcAft>
            </a:pPr>
            <a:r>
              <a:rPr sz="1300" b="1">
                <a:solidFill>
                  <a:srgbClr val="060606"/>
                </a:solidFill>
                <a:latin typeface="Helvetica"/>
              </a:rPr>
              <a:t>Chaque ligne écartée est enregistrée</a:t>
            </a:r>
            <a:r>
              <a:rPr sz="1300" b="0">
                <a:solidFill>
                  <a:srgbClr val="060606"/>
                </a:solidFill>
                <a:latin typeface="Helvetica"/>
              </a:rPr>
              <a:t> avec son fichier et son montant.</a:t>
            </a:r>
          </a:p>
          <a:p>
            <a:pPr algn="just">
              <a:spcAft>
                <a:spcPts val="600"/>
              </a:spcAft>
            </a:pPr>
            <a:r>
              <a:rPr sz="1300" b="1">
                <a:solidFill>
                  <a:srgbClr val="060606"/>
                </a:solidFill>
                <a:latin typeface="Helvetica"/>
              </a:rPr>
              <a:t>Implication pour le FPPN.</a:t>
            </a:r>
            <a:r>
              <a:rPr sz="1300" b="0">
                <a:solidFill>
                  <a:srgbClr val="060606"/>
                </a:solidFill>
                <a:latin typeface="Helvetica"/>
              </a:rPr>
              <a:t> La règle est automatique et tracée : le FPPN peut vérifier chaque ligne écartée dans le journal des rejets.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547892889"/>
      </p:ext>
    </p:extLst>
  </p:cSld>
  <p:clrMapOvr>
    <a:masterClrMapping/>
  </p:clrMapOvr>
  <p:transition>
    <p:fade/>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corriger les montants doublés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montants écrits deux fois à la suite sont corrigés et signalés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Correction limitée au poste décès, au-delà d'un million de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double.png"/>
          <p:cNvPicPr>
            <a:picLocks noChangeAspect="1"/>
          </p:cNvPicPr>
          <p:nvPr/>
        </p:nvPicPr>
        <p:blipFill>
          <a:blip r:embed="rId6"/>
          <a:stretch>
            <a:fillRect/>
          </a:stretch>
        </p:blipFill>
        <p:spPr>
          <a:xfrm>
            <a:off x="503999" y="1674000"/>
            <a:ext cx="7848000" cy="3007023"/>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38 : Extrait du script dans VS Code sous Windows (corriger les montants doublés)</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 script découpe le montant en deux moitiés.</a:t>
            </a:r>
          </a:p>
          <a:p>
            <a:pPr algn="just">
              <a:spcAft>
                <a:spcPts val="600"/>
              </a:spcAft>
            </a:pPr>
            <a:r>
              <a:rPr sz="1300" b="1">
                <a:solidFill>
                  <a:srgbClr val="060606"/>
                </a:solidFill>
                <a:latin typeface="Helvetica"/>
              </a:rPr>
              <a:t>Si les deux moitiés sont identiques, il retient la première.</a:t>
            </a:r>
          </a:p>
          <a:p>
            <a:pPr algn="just">
              <a:spcAft>
                <a:spcPts val="600"/>
              </a:spcAft>
            </a:pPr>
            <a:r>
              <a:rPr sz="1300" b="1">
                <a:solidFill>
                  <a:srgbClr val="060606"/>
                </a:solidFill>
                <a:latin typeface="Helvetica"/>
              </a:rPr>
              <a:t>Le montant d'origine est conservé</a:t>
            </a:r>
            <a:r>
              <a:rPr sz="1300" b="0">
                <a:solidFill>
                  <a:srgbClr val="060606"/>
                </a:solidFill>
                <a:latin typeface="Helvetica"/>
              </a:rPr>
              <a:t> dans une colonne à part.</a:t>
            </a:r>
          </a:p>
          <a:p>
            <a:pPr algn="just">
              <a:spcAft>
                <a:spcPts val="600"/>
              </a:spcAft>
            </a:pPr>
            <a:r>
              <a:rPr sz="1300" b="1">
                <a:solidFill>
                  <a:srgbClr val="060606"/>
                </a:solidFill>
                <a:latin typeface="Helvetica"/>
              </a:rPr>
              <a:t>Implication pour le FPPN.</a:t>
            </a:r>
            <a:r>
              <a:rPr sz="1300" b="0">
                <a:solidFill>
                  <a:srgbClr val="060606"/>
                </a:solidFill>
                <a:latin typeface="Helvetica"/>
              </a:rPr>
              <a:t> La correction est réversible : le montant d'origine reste disponible pour le FPPN.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46320960"/>
      </p:ext>
    </p:extLst>
  </p:cSld>
  <p:clrMapOvr>
    <a:masterClrMapping/>
  </p:clrMapOvr>
  <p:transition>
    <p:fade/>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lire les montants du Grenier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montants imprimés avec espaces et « XOF » sont convertis sans perte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totaux recalculés sont égaux aux totaux imprimés dans les 37 balances âgées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grenier.png"/>
          <p:cNvPicPr>
            <a:picLocks noChangeAspect="1"/>
          </p:cNvPicPr>
          <p:nvPr/>
        </p:nvPicPr>
        <p:blipFill>
          <a:blip r:embed="rId6"/>
          <a:stretch>
            <a:fillRect/>
          </a:stretch>
        </p:blipFill>
        <p:spPr>
          <a:xfrm>
            <a:off x="503999" y="1674000"/>
            <a:ext cx="7848000" cy="2052871"/>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39 : Extrait du script dans VS Code sous Windows (lire les montants du Grenier)</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 script retire les espaces, y compris insécables.</a:t>
            </a:r>
          </a:p>
          <a:p>
            <a:pPr algn="just">
              <a:spcAft>
                <a:spcPts val="600"/>
              </a:spcAft>
            </a:pPr>
            <a:r>
              <a:rPr sz="1300" b="1">
                <a:solidFill>
                  <a:srgbClr val="060606"/>
                </a:solidFill>
                <a:latin typeface="Helvetica"/>
              </a:rPr>
              <a:t>Il retire aussi la mention « XOF ».</a:t>
            </a:r>
          </a:p>
          <a:p>
            <a:pPr algn="just">
              <a:spcAft>
                <a:spcPts val="600"/>
              </a:spcAft>
            </a:pPr>
            <a:r>
              <a:rPr sz="1300" b="1">
                <a:solidFill>
                  <a:srgbClr val="060606"/>
                </a:solidFill>
                <a:latin typeface="Helvetica"/>
              </a:rPr>
              <a:t>Le nombre obtenu est comparé au total imprimé</a:t>
            </a:r>
            <a:r>
              <a:rPr sz="1300" b="0">
                <a:solidFill>
                  <a:srgbClr val="060606"/>
                </a:solidFill>
                <a:latin typeface="Helvetica"/>
              </a:rPr>
              <a:t> par le logiciel.</a:t>
            </a:r>
          </a:p>
          <a:p>
            <a:pPr algn="just">
              <a:spcAft>
                <a:spcPts val="600"/>
              </a:spcAft>
            </a:pPr>
            <a:r>
              <a:rPr sz="1300" b="1">
                <a:solidFill>
                  <a:srgbClr val="060606"/>
                </a:solidFill>
                <a:latin typeface="Helvetica"/>
              </a:rPr>
              <a:t>Implication pour le FPPN.</a:t>
            </a:r>
            <a:r>
              <a:rPr sz="1300" b="0">
                <a:solidFill>
                  <a:srgbClr val="060606"/>
                </a:solidFill>
                <a:latin typeface="Helvetica"/>
              </a:rPr>
              <a:t> L'égalité des totaux sur les 37 balances prouve que la lecture n'a rien perdu.</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797709482"/>
      </p:ext>
    </p:extLst>
  </p:cSld>
  <p:clrMapOvr>
    <a:masterClrMapping/>
  </p:clrMapOvr>
  <p:transition>
    <p:fade/>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calculer la sinistralité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ratio S/C est calculé compte par compte, pour chaque exercice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compte utilisé est cité dans l'annexe des méthodes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sc.png"/>
          <p:cNvPicPr>
            <a:picLocks noChangeAspect="1"/>
          </p:cNvPicPr>
          <p:nvPr/>
        </p:nvPicPr>
        <p:blipFill>
          <a:blip r:embed="rId6"/>
          <a:stretch>
            <a:fillRect/>
          </a:stretch>
        </p:blipFill>
        <p:spPr>
          <a:xfrm>
            <a:off x="503999" y="1674000"/>
            <a:ext cx="7848000" cy="3824867"/>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40 : Extrait du script dans VS Code sous Windows (calculer la sinistralité)</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Les cotisations viennent des comptes 7010 et 7021.</a:t>
            </a:r>
          </a:p>
          <a:p>
            <a:pPr algn="just">
              <a:spcAft>
                <a:spcPts val="600"/>
              </a:spcAft>
            </a:pPr>
            <a:r>
              <a:rPr sz="1300" b="1">
                <a:solidFill>
                  <a:srgbClr val="060606"/>
                </a:solidFill>
                <a:latin typeface="Helvetica"/>
              </a:rPr>
              <a:t>Les prestations viennent des comptes 601, 6013, 6018, 60800007, 6021 et 6024.</a:t>
            </a:r>
          </a:p>
          <a:p>
            <a:pPr algn="just">
              <a:spcAft>
                <a:spcPts val="600"/>
              </a:spcAft>
            </a:pPr>
            <a:r>
              <a:rPr sz="1300" b="1">
                <a:solidFill>
                  <a:srgbClr val="060606"/>
                </a:solidFill>
                <a:latin typeface="Helvetica"/>
              </a:rPr>
              <a:t>Le résultat est écrit dans le classeur des calculs.</a:t>
            </a:r>
          </a:p>
          <a:p>
            <a:pPr algn="just">
              <a:spcAft>
                <a:spcPts val="600"/>
              </a:spcAft>
            </a:pPr>
            <a:r>
              <a:rPr sz="1300" b="1">
                <a:solidFill>
                  <a:srgbClr val="060606"/>
                </a:solidFill>
                <a:latin typeface="Helvetica"/>
              </a:rPr>
              <a:t>Implication pour le FPPN.</a:t>
            </a:r>
            <a:r>
              <a:rPr sz="1300" b="0">
                <a:solidFill>
                  <a:srgbClr val="060606"/>
                </a:solidFill>
                <a:latin typeface="Helvetica"/>
              </a:rPr>
              <a:t> Le choix des comptes est explicite dans le code : un lecteur peut le contester et le modifier.</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1841783455"/>
      </p:ext>
    </p:extLst>
  </p:cSld>
  <p:clrMapOvr>
    <a:masterClrMapping/>
  </p:clrMapOvr>
  <p:transition>
    <p:fade/>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intervalle de confiance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L'intervalle de Wilson encadre la proportion de prêts en retard</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Méthode adaptée aux proportions, même faibles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stats.png"/>
          <p:cNvPicPr>
            <a:picLocks noChangeAspect="1"/>
          </p:cNvPicPr>
          <p:nvPr/>
        </p:nvPicPr>
        <p:blipFill>
          <a:blip r:embed="rId6"/>
          <a:stretch>
            <a:fillRect/>
          </a:stretch>
        </p:blipFill>
        <p:spPr>
          <a:xfrm>
            <a:off x="503999" y="1674000"/>
            <a:ext cx="7848000" cy="1780256"/>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41 : Extrait du script dans VS Code sous Windows (intervalle de confiance)</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La proportion vaut le nombre de prêts en retard divisé par le nombre de prêts.</a:t>
            </a:r>
          </a:p>
          <a:p>
            <a:pPr algn="just">
              <a:spcAft>
                <a:spcPts val="600"/>
              </a:spcAft>
            </a:pPr>
            <a:r>
              <a:rPr sz="1300" b="1">
                <a:solidFill>
                  <a:srgbClr val="060606"/>
                </a:solidFill>
                <a:latin typeface="Helvetica"/>
              </a:rPr>
              <a:t>L'intervalle est centré et élargi</a:t>
            </a:r>
            <a:r>
              <a:rPr sz="1300" b="0">
                <a:solidFill>
                  <a:srgbClr val="060606"/>
                </a:solidFill>
                <a:latin typeface="Helvetica"/>
              </a:rPr>
              <a:t> pour rester entre 0 et 1.</a:t>
            </a:r>
          </a:p>
          <a:p>
            <a:pPr algn="just">
              <a:spcAft>
                <a:spcPts val="600"/>
              </a:spcAft>
            </a:pPr>
            <a:r>
              <a:rPr sz="1300" b="1">
                <a:solidFill>
                  <a:srgbClr val="060606"/>
                </a:solidFill>
                <a:latin typeface="Helvetica"/>
              </a:rPr>
              <a:t>z vaut 1,96 pour un niveau de confiance de 95 %.</a:t>
            </a:r>
          </a:p>
          <a:p>
            <a:pPr algn="just">
              <a:spcAft>
                <a:spcPts val="600"/>
              </a:spcAft>
            </a:pPr>
            <a:r>
              <a:rPr sz="1300" b="1">
                <a:solidFill>
                  <a:srgbClr val="060606"/>
                </a:solidFill>
                <a:latin typeface="Helvetica"/>
              </a:rPr>
              <a:t>Implication pour le FPPN.</a:t>
            </a:r>
            <a:r>
              <a:rPr sz="1300" b="0">
                <a:solidFill>
                  <a:srgbClr val="060606"/>
                </a:solidFill>
                <a:latin typeface="Helvetica"/>
              </a:rPr>
              <a:t> L'intervalle dit dans quelle plage se situe la vraie proportion de prêts en retard, compte tenu du hasard.</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111534485"/>
      </p:ext>
    </p:extLst>
  </p:cSld>
  <p:clrMapOvr>
    <a:masterClrMapping/>
  </p:clrMapOvr>
  <p:transition>
    <p:fade/>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statut d'un ratio prudentiel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statut de chaque ratio suit une règle écrite dans le code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Conforme, non conforme, en attente ou à apprécier, selon la norme du texte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statut.png"/>
          <p:cNvPicPr>
            <a:picLocks noChangeAspect="1"/>
          </p:cNvPicPr>
          <p:nvPr/>
        </p:nvPicPr>
        <p:blipFill>
          <a:blip r:embed="rId6"/>
          <a:stretch>
            <a:fillRect/>
          </a:stretch>
        </p:blipFill>
        <p:spPr>
          <a:xfrm>
            <a:off x="503999" y="1674000"/>
            <a:ext cx="7798815" cy="4158000"/>
          </a:xfrm>
          <a:prstGeom prst="rect">
            <a:avLst/>
          </a:prstGeom>
        </p:spPr>
      </p:pic>
      <p:sp>
        <p:nvSpPr>
          <p:cNvPr id="32" name="TextBox 31"/>
          <p:cNvSpPr txBox="1"/>
          <p:nvPr/>
        </p:nvSpPr>
        <p:spPr>
          <a:xfrm>
            <a:off x="503999" y="1386000"/>
            <a:ext cx="7798815" cy="251999"/>
          </a:xfrm>
          <a:prstGeom prst="rect">
            <a:avLst/>
          </a:prstGeom>
          <a:noFill/>
        </p:spPr>
        <p:txBody>
          <a:bodyPr wrap="square" anchor="t" lIns="54000" rIns="54000"/>
          <a:lstStyle/>
          <a:p>
            <a:pPr algn="ctr"/>
            <a:r>
              <a:rPr sz="1200" b="0">
                <a:solidFill>
                  <a:srgbClr val="EFAC62"/>
                </a:solidFill>
                <a:latin typeface="Helvetica"/>
              </a:rPr>
              <a:t>Figure 42 : Extrait du script dans VS Code sous Windows (statut d'un ratio prudentiel)</a:t>
            </a:r>
          </a:p>
        </p:txBody>
      </p:sp>
      <p:sp>
        <p:nvSpPr>
          <p:cNvPr id="33" name="TextBox 32"/>
          <p:cNvSpPr txBox="1"/>
          <p:nvPr/>
        </p:nvSpPr>
        <p:spPr>
          <a:xfrm>
            <a:off x="8518815" y="1440000"/>
            <a:ext cx="3217184" cy="4428000"/>
          </a:xfrm>
          <a:prstGeom prst="rect">
            <a:avLst/>
          </a:prstGeom>
          <a:noFill/>
        </p:spPr>
        <p:txBody>
          <a:bodyPr wrap="square" lIns="54000" rIns="54000"/>
          <a:lstStyle/>
          <a:p>
            <a:pPr algn="just">
              <a:spcAft>
                <a:spcPts val="600"/>
              </a:spcAft>
            </a:pPr>
            <a:r>
              <a:rPr sz="1300" b="1">
                <a:solidFill>
                  <a:srgbClr val="060606"/>
                </a:solidFill>
                <a:latin typeface="Helvetica"/>
              </a:rPr>
              <a:t>Une valeur absente donne « En attente ». Une norme non chiffrée donne « À apprécier ».</a:t>
            </a:r>
          </a:p>
          <a:p>
            <a:pPr algn="just">
              <a:spcAft>
                <a:spcPts val="600"/>
              </a:spcAft>
            </a:pPr>
            <a:r>
              <a:rPr sz="1300" b="1">
                <a:solidFill>
                  <a:srgbClr val="060606"/>
                </a:solidFill>
                <a:latin typeface="Helvetica"/>
              </a:rPr>
              <a:t>Le test compare la valeur à la norme</a:t>
            </a:r>
            <a:r>
              <a:rPr sz="1300" b="0">
                <a:solidFill>
                  <a:srgbClr val="060606"/>
                </a:solidFill>
                <a:latin typeface="Helvetica"/>
              </a:rPr>
              <a:t> : fourchette, minimum ou maximum.</a:t>
            </a:r>
          </a:p>
          <a:p>
            <a:pPr algn="just">
              <a:spcAft>
                <a:spcPts val="600"/>
              </a:spcAft>
            </a:pPr>
            <a:r>
              <a:rPr sz="1300" b="1">
                <a:solidFill>
                  <a:srgbClr val="060606"/>
                </a:solidFill>
                <a:latin typeface="Helvetica"/>
              </a:rPr>
              <a:t>Les années 2020, 2021 et 2026 portent la mention « indicatif ».</a:t>
            </a:r>
            <a:r>
              <a:rPr sz="1300" b="0">
                <a:solidFill>
                  <a:srgbClr val="060606"/>
                </a:solidFill>
                <a:latin typeface="Helvetica"/>
              </a:rPr>
              <a:t> Le terminal montre la sortie réelle du script.</a:t>
            </a:r>
          </a:p>
          <a:p>
            <a:pPr algn="just">
              <a:spcAft>
                <a:spcPts val="600"/>
              </a:spcAft>
            </a:pPr>
            <a:r>
              <a:rPr sz="1300" b="1">
                <a:solidFill>
                  <a:srgbClr val="060606"/>
                </a:solidFill>
                <a:latin typeface="Helvetica"/>
              </a:rPr>
              <a:t>Implication pour le FPPN.</a:t>
            </a:r>
            <a:r>
              <a:rPr sz="1300" b="0">
                <a:solidFill>
                  <a:srgbClr val="060606"/>
                </a:solidFill>
                <a:latin typeface="Helvetica"/>
              </a:rPr>
              <a:t> La règle de statut est la même pour les 36 indicateurs : elle ne laisse aucune place à l'appréciation au cas par cas.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544578125"/>
      </p:ext>
    </p:extLst>
  </p:cSld>
  <p:clrMapOvr>
    <a:masterClrMapping/>
  </p:clrMapOvr>
  <p:transition>
    <p:fade/>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Enregistrement</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À la construction, chaque chiffre est produit par une fonction qui garde sa valeur exacte, sa diapositive et le texte affiché.</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Relecture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Après la construction, un script relit le fichier PowerPoint, textes, tableaux et notes compris.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Comparaison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script vérifie la présence de chaque texte enregistré sur sa diapositive et compte les chiffres retrouvés.</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Résultat</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résultat figure dans l'onglet « Traçabilité » du classeur des calculs, ligne par ligne, avec la valeur exacte de chaque chiffre.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Contrôle automatique des chiffres</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chiffre du rapport est recalculé et comparé au texte affiché</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contrôle relit le PowerPoint produit et vérifie que chaque chiffre enregistré figure sur sa diapositive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Tree>
    <p:extLst>
      <p:ext uri="{BB962C8B-B14F-4D97-AF65-F5344CB8AC3E}">
        <p14:creationId xmlns:p14="http://schemas.microsoft.com/office/powerpoint/2010/main" val="2070842291"/>
      </p:ext>
    </p:extLst>
  </p:cSld>
  <p:clrMapOvr>
    <a:masterClrMapping/>
  </p:clrMapOvr>
  <p:transition>
    <p:fade/>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14</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Analyses en attente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Documents à obtenir, risques, points à clarifier</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403856002"/>
      </p:ext>
    </p:extLst>
  </p:cSld>
  <p:clrMapOvr>
    <a:masterClrMapping/>
  </p:clrMapOvr>
  <p:transition>
    <p:fade/>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Analyses en attente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analyses actuarielles centrales dépendent de trois bases non reçues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mortalité, équilibre technique, contrôles santé et onze indicateurs prudentiels seront réalisés dès réception des documents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PBC pointée au 19/10/2026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31 : Analyses en attente et documents nécessaires</a:t>
            </a:r>
          </a:p>
        </p:txBody>
      </p:sp>
      <p:graphicFrame>
        <p:nvGraphicFramePr>
          <p:cNvPr id="32" name="Table 31"/>
          <p:cNvGraphicFramePr>
            <a:graphicFrameLocks noGrp="1"/>
          </p:cNvGraphicFramePr>
          <p:nvPr/>
        </p:nvGraphicFramePr>
        <p:xfrm>
          <a:off x="503999" y="1655999"/>
          <a:ext cx="11232000" cy="2194901"/>
        </p:xfrm>
        <a:graphic>
          <a:graphicData uri="http://schemas.openxmlformats.org/drawingml/2006/table">
            <a:tbl>
              <a:tblPr firstRow="0" bandRow="0">
                <a:tableStyleId>{5940675A-B579-460E-94D1-54222C63F5DA}</a:tableStyleId>
              </a:tblPr>
              <a:tblGrid>
                <a:gridCol w="2592000"/>
                <a:gridCol w="4176000"/>
                <a:gridCol w="4464000"/>
              </a:tblGrid>
              <a:tr h="210009">
                <a:tc>
                  <a:txBody>
                    <a:bodyPr/>
                    <a:lstStyle/>
                    <a:p>
                      <a:pPr marL="0" indent="0" lvl="0">
                        <a:buNone/>
                      </a:pPr>
                      <a:r>
                        <a:rPr sz="1000" b="1">
                          <a:solidFill>
                            <a:srgbClr val="FFFFFF"/>
                          </a:solidFill>
                          <a:latin typeface="Helvetica"/>
                        </a:rPr>
                        <a:t>Analyse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Objet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Documents nécessaires (PBC)</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Provisions (PSAP, Chain Ladder)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Montant restant à payer, y compris non déclaré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Prestations décès et santé, dossiers non payés (13, 14, 28, 29, 40)</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Sinistralité par année de survenance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Coût réel de chaque année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Bases des prestations (13, 28, 40)</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Mortalité observée (A/E)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Comparaison à CIMA H</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Mutualistes avec date de naissance (9), décès (28)</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Délais et dossiers en attente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Délais de déclaration et de paiement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Bases des prestations avec dates (28, 40)</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Contrôles santé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Doublons, bénéficiaires hors fichier, prestations indues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Factures santé (40), cartes actives (42)</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Engagements d'épargne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Dette envers chaque épargnant et échéancier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Comptes individuels et règlements (16, 17)</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Indicateurs prudentiels en attente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Recouvrement, contrôles, réunions, fonds de garantie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Fichiers aller 936 et 8Z6 de la direction du personnel (51, 61), procès-verbaux, registres</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Équilibre technique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Projection sur 5 à 10 ans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Âges, barèmes, hypothèses (1, 2, 3, 9)</a:t>
                      </a:r>
                    </a:p>
                  </a:txBody>
                  <a:tcPr marL="43200" marR="43200" marT="14400" marB="14400" anchor="ctr">
                    <a:solidFill>
                      <a:srgbClr val="F2F2F2"/>
                    </a:solidFill>
                  </a:tcPr>
                </a:tc>
              </a:tr>
            </a:tbl>
          </a:graphicData>
        </a:graphic>
      </p:graphicFrame>
      <p:sp>
        <p:nvSpPr>
          <p:cNvPr id="33" name="TextBox 32"/>
          <p:cNvSpPr txBox="1"/>
          <p:nvPr/>
        </p:nvSpPr>
        <p:spPr>
          <a:xfrm>
            <a:off x="503999" y="3958905"/>
            <a:ext cx="11232000" cy="1909094"/>
          </a:xfrm>
          <a:prstGeom prst="rect">
            <a:avLst/>
          </a:prstGeom>
          <a:noFill/>
        </p:spPr>
        <p:txBody>
          <a:bodyPr wrap="square" lIns="54000" rIns="54000"/>
          <a:lstStyle/>
          <a:p>
            <a:pPr algn="just">
              <a:spcAft>
                <a:spcPts val="600"/>
              </a:spcAft>
            </a:pPr>
            <a:r>
              <a:rPr sz="1300" b="1">
                <a:solidFill>
                  <a:srgbClr val="060606"/>
                </a:solidFill>
                <a:latin typeface="Helvetica"/>
              </a:rPr>
              <a:t>Les analyses en attente portent sur le cœur de la mission : les engagements et les provisions.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CIMA : Conférence interafricaine des marchés d'assurances | PSAP : provision pour sinistres à payer | A/E : décès observés / décès attendus | PBC : liste des documents demandés au client | 8Z6 : poste décès</a:t>
            </a:r>
          </a:p>
        </p:txBody>
      </p:sp>
    </p:spTree>
    <p:extLst>
      <p:ext uri="{BB962C8B-B14F-4D97-AF65-F5344CB8AC3E}">
        <p14:creationId xmlns:p14="http://schemas.microsoft.com/office/powerpoint/2010/main" val="3493313876"/>
      </p:ext>
    </p:extLst>
  </p:cSld>
  <p:clrMapOvr>
    <a:masterClrMapping/>
  </p:clrMapOvr>
  <p:transition>
    <p:fade/>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Points à clarifier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Douze points demandent une réponse du FPPN avant la prochaine version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point est relié à un constat chiffré du rapport et repris dans les guides d'entretien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Guides d'entretien mis à jour</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32 : Points à clarifier avec le FPPN</a:t>
            </a:r>
          </a:p>
        </p:txBody>
      </p:sp>
      <p:graphicFrame>
        <p:nvGraphicFramePr>
          <p:cNvPr id="32" name="Table 31"/>
          <p:cNvGraphicFramePr>
            <a:graphicFrameLocks noGrp="1"/>
          </p:cNvGraphicFramePr>
          <p:nvPr/>
        </p:nvGraphicFramePr>
        <p:xfrm>
          <a:off x="503999" y="1655999"/>
          <a:ext cx="11231999" cy="2531984"/>
        </p:xfrm>
        <a:graphic>
          <a:graphicData uri="http://schemas.openxmlformats.org/drawingml/2006/table">
            <a:tbl>
              <a:tblPr firstRow="0" bandRow="0">
                <a:tableStyleId>{5940675A-B579-460E-94D1-54222C63F5DA}</a:tableStyleId>
              </a:tblPr>
              <a:tblGrid>
                <a:gridCol w="360000"/>
                <a:gridCol w="2808000"/>
                <a:gridCol w="8063999"/>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Point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Question au FPPN</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Répartition du taux de 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Quel document fixe le barème : 3,5 / 1,5 ou 3,77 / 1,23 ? Pourquoi la comptabilité suit-elle une autre clé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Provisions figées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Comment les provisions ont-elles été calculées, et pourquoi n'ont-elles pas changé depuis 2020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Couverture de l'épargne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Quelles sont les conditions de retrait et les échéances du PEP et de l'EFC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Créance sur l'Hôpital de la Police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Quelle est sa nature, et un remboursement est-il prévu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Retards du Grenier début 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Pourquoi la plus grande part de l'encours était-elle en retard fin janvier 2026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Écart échéances / précomptes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Comment les échéances non précomptées sont-elles réglées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Sinistralité 2020 à 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Des factures de ces années ont-elles été comptabilisées plus tard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Agrément AIRMS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Quels sont le numéro, la date et les risques autorisés de l'agrément du FPPN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Sigle CMP et réserve disponible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Que signifie le sigle CMP, et quelle est l'origine du compte 10620000 « Réserve disponible »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Fonds national de garantie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FPPN adhère-t-il au FOMUS-CI, et à quel montant de cotisation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Risques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Une étude actuarielle et une certification des comptes ont-elles été réalisées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12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Données manquantes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Quand le FPPN transmettra-t-il les précomptes de 2020 à 2023, les fichiers de décembre 2024 et les grands livres endommagés ?</a:t>
                      </a:r>
                    </a:p>
                  </a:txBody>
                  <a:tcPr marL="43200" marR="43200" marT="14400" marB="14400" anchor="ctr">
                    <a:solidFill>
                      <a:srgbClr val="F2F2F2"/>
                    </a:solidFill>
                  </a:tcPr>
                </a:tc>
              </a:tr>
            </a:tbl>
          </a:graphicData>
        </a:graphic>
      </p:graphicFrame>
      <p:sp>
        <p:nvSpPr>
          <p:cNvPr id="33" name="TextBox 32"/>
          <p:cNvSpPr txBox="1"/>
          <p:nvPr/>
        </p:nvSpPr>
        <p:spPr>
          <a:xfrm>
            <a:off x="503999" y="4295992"/>
            <a:ext cx="11232000" cy="1572007"/>
          </a:xfrm>
          <a:prstGeom prst="rect">
            <a:avLst/>
          </a:prstGeom>
          <a:noFill/>
        </p:spPr>
        <p:txBody>
          <a:bodyPr wrap="square" lIns="54000" rIns="54000"/>
          <a:lstStyle/>
          <a:p>
            <a:pPr algn="just">
              <a:spcAft>
                <a:spcPts val="600"/>
              </a:spcAft>
            </a:pPr>
            <a:r>
              <a:rPr sz="1300" b="1">
                <a:solidFill>
                  <a:srgbClr val="060606"/>
                </a:solidFill>
                <a:latin typeface="Helvetica"/>
              </a:rPr>
              <a:t>Les points 8 à 11 sont nouveaux : ils découlent de la lecture des textes de l'AIRMS.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PEP : Plan Épargne Plus | EFC : entraide fin de carrière | CMP : sigle des comptes du FPPN, signification à confirmer | FOMUS-CI : fonds de garantie des mutuelles sociales de Côte d'Ivoire</a:t>
            </a:r>
          </a:p>
        </p:txBody>
      </p:sp>
    </p:spTree>
    <p:extLst>
      <p:ext uri="{BB962C8B-B14F-4D97-AF65-F5344CB8AC3E}">
        <p14:creationId xmlns:p14="http://schemas.microsoft.com/office/powerpoint/2010/main" val="1687931333"/>
      </p:ext>
    </p:extLst>
  </p:cSld>
  <p:clrMapOvr>
    <a:masterClrMapping/>
  </p:clrMapOvr>
  <p:transition>
    <p:fade/>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Points issus de l'entretien cotisations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Cinq points relevés le 19/10/2026 demandent une confirmation écrite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point est repris dans la PBC complémentaire cotisations (items 56 à 70) et dans les relances du guide d'entretien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33 : Points à clarifier issus de l'entretien du 19/10/2026</a:t>
            </a:r>
          </a:p>
        </p:txBody>
      </p:sp>
      <p:graphicFrame>
        <p:nvGraphicFramePr>
          <p:cNvPr id="32" name="Table 31"/>
          <p:cNvGraphicFramePr>
            <a:graphicFrameLocks noGrp="1"/>
          </p:cNvGraphicFramePr>
          <p:nvPr/>
        </p:nvGraphicFramePr>
        <p:xfrm>
          <a:off x="503999" y="1655999"/>
          <a:ext cx="11231999" cy="1564874"/>
        </p:xfrm>
        <a:graphic>
          <a:graphicData uri="http://schemas.openxmlformats.org/drawingml/2006/table">
            <a:tbl>
              <a:tblPr firstRow="0" bandRow="0">
                <a:tableStyleId>{5940675A-B579-460E-94D1-54222C63F5DA}</a:tableStyleId>
              </a:tblPr>
              <a:tblGrid>
                <a:gridCol w="360000"/>
                <a:gridCol w="2808000"/>
                <a:gridCol w="8063999"/>
              </a:tblGrid>
              <a:tr h="210009">
                <a:tc>
                  <a:txBody>
                    <a:bodyPr/>
                    <a:lstStyle/>
                    <a:p>
                      <a:pPr marL="0" indent="0" lvl="0">
                        <a:buNone/>
                      </a:pPr>
                      <a:r>
                        <a:rPr sz="10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Point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Question au FPPN</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Délai de trois mois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 délai d'au moins trois mois de cotisation s'applique-t-il à tous les produits, y compris la maladie et le décès ? L'entretien du 16/10/2026 indiquait l'absence de délai de carence.</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Retours maladie et décès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Par quel canal le FPPN reçoit-il les fichiers retour maladie et décès, et qui les reçoit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15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Règles de l'EFC et du PEP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Quelle décision a porté l'EFC à 10 000 FCFA en 2021, et quelle est la durée d'un plan PEP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MEDOC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Sur quelle période le produit a-t-il fonctionné, et quand a-t-il été suspendu ?</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Types de prêts du Grenier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Quels sont les types de prêts et leurs conditions ? Trois types ont été cités, les fichiers de production en comptent huit.</a:t>
                      </a:r>
                    </a:p>
                  </a:txBody>
                  <a:tcPr marL="43200" marR="43200" marT="14400" marB="14400" anchor="ctr">
                    <a:solidFill>
                      <a:srgbClr val="FFFFFF"/>
                    </a:solidFill>
                  </a:tcPr>
                </a:tc>
              </a:tr>
            </a:tbl>
          </a:graphicData>
        </a:graphic>
      </p:graphicFrame>
      <p:sp>
        <p:nvSpPr>
          <p:cNvPr id="33" name="TextBox 32"/>
          <p:cNvSpPr txBox="1"/>
          <p:nvPr/>
        </p:nvSpPr>
        <p:spPr>
          <a:xfrm>
            <a:off x="503999" y="3328876"/>
            <a:ext cx="11232000" cy="2539123"/>
          </a:xfrm>
          <a:prstGeom prst="rect">
            <a:avLst/>
          </a:prstGeom>
          <a:noFill/>
        </p:spPr>
        <p:txBody>
          <a:bodyPr wrap="square" lIns="54000" rIns="54000"/>
          <a:lstStyle/>
          <a:p>
            <a:pPr algn="just">
              <a:spcAft>
                <a:spcPts val="600"/>
              </a:spcAft>
            </a:pPr>
            <a:r>
              <a:rPr sz="1300" b="1">
                <a:solidFill>
                  <a:srgbClr val="060606"/>
                </a:solidFill>
                <a:latin typeface="Helvetica"/>
              </a:rPr>
              <a:t>Le point 13 contredit une déclaration antérieure.</a:t>
            </a:r>
            <a:r>
              <a:rPr sz="1300" b="0">
                <a:solidFill>
                  <a:srgbClr val="060606"/>
                </a:solidFill>
                <a:latin typeface="Helvetica"/>
              </a:rPr>
              <a:t> Il conditionne le calcul des délais de carence dans l'analyse des prestations.</a:t>
            </a:r>
          </a:p>
          <a:p>
            <a:pPr algn="just">
              <a:spcAft>
                <a:spcPts val="600"/>
              </a:spcAft>
            </a:pPr>
            <a:r>
              <a:rPr sz="1300" b="1">
                <a:solidFill>
                  <a:srgbClr val="060606"/>
                </a:solidFill>
                <a:latin typeface="Helvetica"/>
              </a:rPr>
              <a:t>Implication pour le FPPN.</a:t>
            </a:r>
            <a:r>
              <a:rPr sz="1300" b="0">
                <a:solidFill>
                  <a:srgbClr val="060606"/>
                </a:solidFill>
                <a:latin typeface="Helvetica"/>
              </a:rPr>
              <a:t> Les réponses écrites à ces cinq points seront intégrées à la version suivante du rapport. D'ici là, les déclarations sont présentées comme telles.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PBC : liste des documents demandés au client | MEDOC : produit santé complémentaire du poste 8Z7</a:t>
            </a:r>
          </a:p>
        </p:txBody>
      </p:sp>
    </p:spTree>
    <p:extLst>
      <p:ext uri="{BB962C8B-B14F-4D97-AF65-F5344CB8AC3E}">
        <p14:creationId xmlns:p14="http://schemas.microsoft.com/office/powerpoint/2010/main" val="902445237"/>
      </p:ext>
    </p:extLst>
  </p:cSld>
  <p:clrMapOvr>
    <a:masterClrMapping/>
  </p:clrMapOvr>
  <p:transition>
    <p:fade/>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Annexes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Méthodes, listes, abréviations, références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665153129"/>
      </p:ext>
    </p:extLst>
  </p:cSld>
  <p:clrMapOvr>
    <a:masterClrMapping/>
  </p:clrMapOvr>
  <p:transition>
    <p:fade/>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Méthodes et formules</a:t>
            </a:r>
          </a:p>
        </p:txBody>
      </p:sp>
      <p:sp>
        <p:nvSpPr>
          <p:cNvPr id="28" name="TextBox 27"/>
          <p:cNvSpPr txBox="1"/>
          <p:nvPr/>
        </p:nvSpPr>
        <p:spPr>
          <a:xfrm>
            <a:off x="503999" y="720000"/>
            <a:ext cx="11232000" cy="216000"/>
          </a:xfrm>
          <a:prstGeom prst="rect">
            <a:avLst/>
          </a:prstGeom>
          <a:noFill/>
        </p:spPr>
        <p:txBody>
          <a:bodyPr wrap="square" anchor="t" lIns="54000" rIns="54000"/>
          <a:lstStyle/>
          <a:p>
            <a:pPr algn="ctr"/>
            <a:r>
              <a:rPr sz="1200" b="0">
                <a:solidFill>
                  <a:srgbClr val="EFAC62"/>
                </a:solidFill>
                <a:latin typeface="Helvetica"/>
              </a:rPr>
              <a:t>Tableau 34 : Indicateurs, formules et sources</a:t>
            </a:r>
          </a:p>
        </p:txBody>
      </p:sp>
      <p:graphicFrame>
        <p:nvGraphicFramePr>
          <p:cNvPr id="29" name="Table 28"/>
          <p:cNvGraphicFramePr>
            <a:graphicFrameLocks noGrp="1"/>
          </p:cNvGraphicFramePr>
          <p:nvPr/>
        </p:nvGraphicFramePr>
        <p:xfrm>
          <a:off x="503999" y="990000"/>
          <a:ext cx="11232000" cy="2880000"/>
        </p:xfrm>
        <a:graphic>
          <a:graphicData uri="http://schemas.openxmlformats.org/drawingml/2006/table">
            <a:tbl>
              <a:tblPr firstRow="0" bandRow="0">
                <a:tableStyleId>{5940675A-B579-460E-94D1-54222C63F5DA}</a:tableStyleId>
              </a:tblPr>
              <a:tblGrid>
                <a:gridCol w="2160000"/>
                <a:gridCol w="5256000"/>
                <a:gridCol w="3816000"/>
              </a:tblGrid>
              <a:tr h="180000">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des données</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Ratio S/C</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Prestations comptabilisées / cotisations comptabilisées, par garantie et par exercice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Comptes 601, 6013, 6018, 60800007, 6021, 6024. 7010, 7021</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Taux de cotisation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Précompte du mois / salaire de base du mois, par agent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Fichiers 936 détaillés, 8Z6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Taux de précompte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retour / montant aller, mois communs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Fichiers aller et retour</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TCAM</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(V_fin / V_début)^(1/n) - 1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Selon l'indicateur</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Tendance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Régression linéaire par moindres carrés, test de Student sur la pente, IC à 95 %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Séries mensuelles ou annuelles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Intervalle de Wilson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 + z²/2n ± z √(p(1-p)/n + z²/4n²)) / (1 + z²/n), z = 1,96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Balance âgée du 31/08/2026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Valeur réelle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Valeur nominale × 100 / indice des prix (base 100 en 2020)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Banque mondiale, FP.CPI.TOTL.ZG</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Couverture de l'épargne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Actifs réservés / (comptes PEP + EFC)</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Balances des comptes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Sinistralité réglementaire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(60 + 6901 - 7901) / (70 + 7906 - 6906)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 § 1.2.1.2.5</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Marge de solvabilité exigée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max(18 % des cotisations acquises n-1, 26 % des prestations maladie moyennes sur 3 ans)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 § 1.1.1</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Réserve obligatoire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Réserves obligatoires x 12 / charges de prestations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 tableau 1</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Liquidité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Trésorerie actif / (dettes à court terme + variation des provisions techniques)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 § 1.2.2.5.2</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Équilibre stable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Emplois moyens et longs / ressources moyennes et longues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 § 1.2.3.1</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Rente viagère ä_x</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Σ (L_(x+k) / L_x) × (1,035)^(-k)</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Tables CIMA</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Espérance de vie e_x</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Σ L_(x+k) / L_x pour k ≥ 1, + 0,5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Tables CIMA</a:t>
                      </a:r>
                    </a:p>
                  </a:txBody>
                  <a:tcPr marL="43200" marR="43200" marT="14400" marB="144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Décision n° 05/2022/COM/UEMOA du 1er juin 2022, annexe</a:t>
            </a:r>
          </a:p>
        </p:txBody>
      </p:sp>
    </p:spTree>
    <p:extLst>
      <p:ext uri="{BB962C8B-B14F-4D97-AF65-F5344CB8AC3E}">
        <p14:creationId xmlns:p14="http://schemas.microsoft.com/office/powerpoint/2010/main" val="1657515727"/>
      </p:ext>
    </p:extLst>
  </p:cSld>
  <p:clrMapOvr>
    <a:masterClrMapping/>
  </p:clrMapOvr>
  <p:transition>
    <p:fade/>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Outils et bibliothèques</a:t>
            </a:r>
          </a:p>
        </p:txBody>
      </p:sp>
      <p:sp>
        <p:nvSpPr>
          <p:cNvPr id="28" name="TextBox 27"/>
          <p:cNvSpPr txBox="1"/>
          <p:nvPr/>
        </p:nvSpPr>
        <p:spPr>
          <a:xfrm>
            <a:off x="503999" y="720000"/>
            <a:ext cx="11232000" cy="216000"/>
          </a:xfrm>
          <a:prstGeom prst="rect">
            <a:avLst/>
          </a:prstGeom>
          <a:noFill/>
        </p:spPr>
        <p:txBody>
          <a:bodyPr wrap="square" anchor="t" lIns="54000" rIns="54000"/>
          <a:lstStyle/>
          <a:p>
            <a:pPr algn="ctr"/>
            <a:r>
              <a:rPr sz="1200" b="0">
                <a:solidFill>
                  <a:srgbClr val="EFAC62"/>
                </a:solidFill>
                <a:latin typeface="Helvetica"/>
              </a:rPr>
              <a:t>Tableau 35 : Outils et bibliothèques utilisés</a:t>
            </a:r>
          </a:p>
        </p:txBody>
      </p:sp>
      <p:graphicFrame>
        <p:nvGraphicFramePr>
          <p:cNvPr id="29" name="Table 28"/>
          <p:cNvGraphicFramePr>
            <a:graphicFrameLocks noGrp="1"/>
          </p:cNvGraphicFramePr>
          <p:nvPr/>
        </p:nvGraphicFramePr>
        <p:xfrm>
          <a:off x="503999" y="990000"/>
          <a:ext cx="11232000" cy="2100090"/>
        </p:xfrm>
        <a:graphic>
          <a:graphicData uri="http://schemas.openxmlformats.org/drawingml/2006/table">
            <a:tbl>
              <a:tblPr firstRow="0" bandRow="0">
                <a:tableStyleId>{5940675A-B579-460E-94D1-54222C63F5DA}</a:tableStyleId>
              </a:tblPr>
              <a:tblGrid>
                <a:gridCol w="2520000"/>
                <a:gridCol w="6552000"/>
                <a:gridCol w="2160000"/>
              </a:tblGrid>
              <a:tr h="210009">
                <a:tc>
                  <a:txBody>
                    <a:bodyPr/>
                    <a:lstStyle/>
                    <a:p>
                      <a:pPr marL="0" indent="0" lvl="0">
                        <a:buNone/>
                      </a:pPr>
                      <a:r>
                        <a:rPr sz="1000" b="1">
                          <a:solidFill>
                            <a:srgbClr val="FFFFFF"/>
                          </a:solidFill>
                          <a:latin typeface="Helvetica"/>
                        </a:rPr>
                        <a:t>Outil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Usage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Version</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Python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Langage des traitements, scripts conservés et rejouables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3.14 (poste de la mission)</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Visual Studio Code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Éditeur et exécution des scripts sous Windows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pandas, numpy</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Tables de données, calculs, agrégations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 et 2.5</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statsmodels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Régressions et tests statistiques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0.15</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python-calamine, openpyxl, lxml</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Lecture sans perte des fichiers Excel et des pages web</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pyarrow</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Stockage de la base d'analyse (Parquet)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26.0</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pymupdf, pdftotext, tesseract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Lecture des PDF comptables et des textes scannés (OCR)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pygments, Pillow</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Mise en forme des extraits de code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python-pptx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Rapport, graphiques et tableaux natifs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a:t>
                      </a:r>
                    </a:p>
                  </a:txBody>
                  <a:tcPr marL="43200" marR="43200" marT="14400" marB="144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a:t>
            </a:r>
          </a:p>
        </p:txBody>
      </p:sp>
    </p:spTree>
    <p:extLst>
      <p:ext uri="{BB962C8B-B14F-4D97-AF65-F5344CB8AC3E}">
        <p14:creationId xmlns:p14="http://schemas.microsoft.com/office/powerpoint/2010/main" val="2706048496"/>
      </p:ext>
    </p:extLst>
  </p:cSld>
  <p:clrMapOvr>
    <a:masterClrMapping/>
  </p:clrMapOvr>
  <p:transition>
    <p:fade/>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Liste des figures</a:t>
            </a:r>
          </a:p>
        </p:txBody>
      </p:sp>
      <p:graphicFrame>
        <p:nvGraphicFramePr>
          <p:cNvPr id="28" name="Table 27"/>
          <p:cNvGraphicFramePr>
            <a:graphicFrameLocks noGrp="1"/>
          </p:cNvGraphicFramePr>
          <p:nvPr/>
        </p:nvGraphicFramePr>
        <p:xfrm>
          <a:off x="503999" y="648000"/>
          <a:ext cx="5543999" cy="3614292"/>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Figure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Ratio S/C maladie (prestations / cotisations)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Épargne due et actifs réservés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Encours des prêts du Grenier</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Produits, charges et résultat 2025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Mois reçus par flux de données, sur 80 mois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Montant précompté rapporté au montant demandé, mois communs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30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Cotisants actifs précomptés (poste 936), par mois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36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Entrées et sorties de cotisants, par mois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37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Agents par ancienneté de service, janv. 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38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Répartition du taux de 5 % selon la source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Ratio S/C 2025 selon la clé de répartition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41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Cotisations nominales et réelles (francs de 2020)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Cotisations comptabilisées par garantie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43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Prestations comptabilisées / cotisations (S/C)</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Prestations maladie comptabilisées par nature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Frais de gestion et résultat net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Épargne au passif et actifs réservés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Versements précomptés par produit d'épargne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Besoin de liquidités selon le taux de retrait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60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Encours des prêts et financement du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65</a:t>
                      </a:r>
                    </a:p>
                  </a:txBody>
                  <a:tcPr marL="43200" marR="43200" marT="14400" marB="14400" anchor="ctr">
                    <a:solidFill>
                      <a:srgbClr val="FFFFFF"/>
                    </a:solidFill>
                  </a:tcPr>
                </a:tc>
              </a:tr>
            </a:tbl>
          </a:graphicData>
        </a:graphic>
      </p:graphicFrame>
      <p:graphicFrame>
        <p:nvGraphicFramePr>
          <p:cNvPr id="29" name="Table 28"/>
          <p:cNvGraphicFramePr>
            <a:graphicFrameLocks noGrp="1"/>
          </p:cNvGraphicFramePr>
          <p:nvPr/>
        </p:nvGraphicFramePr>
        <p:xfrm>
          <a:off x="6263999" y="648000"/>
          <a:ext cx="5543999" cy="3614292"/>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Figure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22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Montants débloqués par type de crédit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66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Part de l'encours en retard de plus de 30 et 90 jours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67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24</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Échéances des prêts en cours et précomptes 9X4, 2026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69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Retraités précomptés par la CGRAE, par mois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73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Mois de prestations couverts par les provisions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78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27</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Principaux postes de l'actif</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79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28</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Actif par délai de mobilisation et passif par échéance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Fonds propres et résultat de l'exercice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82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Taux directeur de la BCEAO</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Liquidité et équilibre stable, comme le FPPN et retraités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Excédent technique par risque, frais répartis au prorata des cotisations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107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Marge de solvabilité exigée et disponible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34</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Survivants pour 100 naissances, par âge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Probabilité de décès dans l'année (qx), par âge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118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Extrait du script dans VS Code sous Windows (reconnaître le vrai format)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37</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(écarter les lignes de total)</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132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38</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Extrait du script dans VS Code sous Windows (corriger les montants doublés)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(lire les montants du Grenier)</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134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Extrait du script dans VS Code sous Windows (calculer la sinistralité)</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(intervalle de confiance)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136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Extrait du script dans VS Code sous Windows (statut d'un ratio prudentiel)</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137</a:t>
                      </a:r>
                    </a:p>
                  </a:txBody>
                  <a:tcPr marL="43200" marR="43200" marT="14400" marB="14400" anchor="ctr">
                    <a:solidFill>
                      <a:srgbClr val="FFFFFF"/>
                    </a:solidFill>
                  </a:tcPr>
                </a:tc>
              </a:tr>
            </a:tbl>
          </a:graphicData>
        </a:graphic>
      </p:graphicFrame>
    </p:spTree>
    <p:extLst>
      <p:ext uri="{BB962C8B-B14F-4D97-AF65-F5344CB8AC3E}">
        <p14:creationId xmlns:p14="http://schemas.microsoft.com/office/powerpoint/2010/main" val="2316059049"/>
      </p:ext>
    </p:extLst>
  </p:cSld>
  <p:clrMapOvr>
    <a:masterClrMapping/>
  </p:clrMapOvr>
  <p:transition>
    <p:fade/>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Liste des tableaux</a:t>
            </a:r>
          </a:p>
        </p:txBody>
      </p:sp>
      <p:graphicFrame>
        <p:nvGraphicFramePr>
          <p:cNvPr id="28" name="Table 27"/>
          <p:cNvGraphicFramePr>
            <a:graphicFrameLocks noGrp="1"/>
          </p:cNvGraphicFramePr>
          <p:nvPr/>
        </p:nvGraphicFramePr>
        <p:xfrm>
          <a:off x="503999" y="648000"/>
          <a:ext cx="5543999" cy="3121434"/>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Tableau</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Principaux constats au 15/10/2026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Huit ratios prudentiels clés, exercice 2025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Actions recommandées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Textes et organismes de référence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Produits du FPPN et montants observés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Circuit des fichiers de précomptes par produit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Notions utilisées dans le rapport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Périmètre de la mission actuarielle et statistique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Fichiers à renvoyer ou à corriger</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32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Règles des produits déclarées et confrontées aux fichiers de précomptes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44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Taux de croissance annuels moyens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Références du poste 998, 2020 à août 2026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61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 selon le taux de perte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70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Produits annexes et points à clarifier</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74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Textes de la mutualité sociale appliqués au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Qualification des garanties du FPPN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87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Reclassements de la lecture retraitée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Tableau de bord des ratios prudentiels, priorités 1 à 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92</a:t>
                      </a:r>
                    </a:p>
                  </a:txBody>
                  <a:tcPr marL="43200" marR="43200" marT="14400" marB="14400" anchor="ctr">
                    <a:solidFill>
                      <a:srgbClr val="F2F2F2"/>
                    </a:solidFill>
                  </a:tcPr>
                </a:tc>
              </a:tr>
            </a:tbl>
          </a:graphicData>
        </a:graphic>
      </p:graphicFrame>
      <p:graphicFrame>
        <p:nvGraphicFramePr>
          <p:cNvPr id="29" name="Table 28"/>
          <p:cNvGraphicFramePr>
            <a:graphicFrameLocks noGrp="1"/>
          </p:cNvGraphicFramePr>
          <p:nvPr/>
        </p:nvGraphicFramePr>
        <p:xfrm>
          <a:off x="6263999" y="648000"/>
          <a:ext cx="5543999" cy="2957148"/>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Tableau</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Tableau de bord des ratios des risques longs, priorités 10 à 16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Tableau de bord des ratios de gestion, priorités 17 à 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Indicateurs en attente de documents, priorités 26 à 36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Dotation de la réserve obligatoire et normes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Contrôle du classement des comptes selon le PCMS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Exigences non chiffrées et situation du FPPN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111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Manquements liés aux constats du rapport et sanctions prévues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Tables de mortalité CIMA et usage retenu</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116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Espérance de vie et valeur de la rente viagère (taux de 3,5 %)</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Méthodes en attente et données nécessaires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127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Scripts de la mission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129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Entrée, traitement, contrôle et sortie de chaque étape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130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Analyses en attente et documents nécessaires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Points à clarifier avec le FPPN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Points à clarifier issus de l'entretien du 19/10/2026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Indicateurs, formules et sources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Outils et bibliothèques utilisés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145</a:t>
                      </a:r>
                    </a:p>
                  </a:txBody>
                  <a:tcPr marL="43200" marR="43200" marT="14400" marB="14400" anchor="ctr">
                    <a:solidFill>
                      <a:srgbClr val="FFFFFF"/>
                    </a:solidFill>
                  </a:tcPr>
                </a:tc>
              </a:tr>
            </a:tbl>
          </a:graphicData>
        </a:graphic>
      </p:graphicFrame>
    </p:spTree>
    <p:extLst>
      <p:ext uri="{BB962C8B-B14F-4D97-AF65-F5344CB8AC3E}">
        <p14:creationId xmlns:p14="http://schemas.microsoft.com/office/powerpoint/2010/main" val="2422217969"/>
      </p:ext>
    </p:extLst>
  </p:cSld>
  <p:clrMapOvr>
    <a:masterClrMapping/>
  </p:clrMapOvr>
  <p:transition>
    <p:fade/>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Signes et abréviations</a:t>
            </a:r>
          </a:p>
        </p:txBody>
      </p:sp>
      <p:graphicFrame>
        <p:nvGraphicFramePr>
          <p:cNvPr id="28" name="Table 27"/>
          <p:cNvGraphicFramePr>
            <a:graphicFrameLocks noGrp="1"/>
          </p:cNvGraphicFramePr>
          <p:nvPr/>
        </p:nvGraphicFramePr>
        <p:xfrm>
          <a:off x="503999" y="720000"/>
          <a:ext cx="11232000" cy="4680000"/>
        </p:xfrm>
        <a:graphic>
          <a:graphicData uri="http://schemas.openxmlformats.org/drawingml/2006/table">
            <a:tbl>
              <a:tblPr firstRow="0" bandRow="0">
                <a:tableStyleId>{5940675A-B579-460E-94D1-54222C63F5DA}</a:tableStyleId>
              </a:tblPr>
              <a:tblGrid>
                <a:gridCol w="936000"/>
                <a:gridCol w="4680000"/>
                <a:gridCol w="936000"/>
                <a:gridCol w="4680000"/>
              </a:tblGrid>
              <a:tr h="180000">
                <a:tc>
                  <a:txBody>
                    <a:bodyPr/>
                    <a:lstStyle/>
                    <a:p>
                      <a:pPr marL="0" indent="0" lvl="0">
                        <a:buNone/>
                      </a:pPr>
                      <a:r>
                        <a:rPr sz="800" b="1">
                          <a:solidFill>
                            <a:srgbClr val="FFFFFF"/>
                          </a:solidFill>
                          <a:latin typeface="Helvetica"/>
                        </a:rPr>
                        <a:t>Sigle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Signification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Sigle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Signification</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870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poste EFC</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FPPN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Fonds de prévoyance de la Police nationale</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8Z6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poste décès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GNA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assureur de la flotte automobile (compte 47111106)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8Z7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poste MEDOC</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HAO</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hors activités ordinaires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936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poste maladie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IBNR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sinistres survenus non encore déclarés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998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poste PEP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IC</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intervalle de confiance</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9W3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poste flotte automobile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Lx</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survivants à l'âge x</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9X4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poste Grenier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MEDOC</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produit santé complémentaire du poste 8Z7</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décès observés / décès attendus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MEPS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ministère de l'Emploi et de la Protection sociale</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AG</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assemblée générale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OCR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reconnaissance optique de caractères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AIRMS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Agence ivoirienne de régulation de la mutualité sociale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PAR30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part de l'encours en retard de plus de 30 jours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BCEAO</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Banque centrale des États de l'Afrique de l'Ouest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PBC</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liste des documents demandés au client</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CAC</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commissaire aux comptes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PCMS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plan comptable des mutuelles sociales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CGRAE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Caisse générale de retraite des agents de l'État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PEP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Plan Épargne Plus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CIMA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Conférence interafricaine des marchés d'assurances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PSAP</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pour sinistres à payer</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CMP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sigle des comptes du FPPN, signification à confirmer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qx</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probabilité de décès entre x et x + 1 ans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CMU</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couverture maladie universelle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R²</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coefficient de détermination</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CPM</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Comité de politique monétaire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S/C</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prestations / cotisations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CSV</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fichier texte de tableau</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SCI</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société civile immobilière</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DAT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dépôt à terme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SHA-256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algorithme d'empreinte numérique</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e_x</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espérance de vie à l'âge x</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TAFIRE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tableau financier des ressources et des emplois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EFC</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entraide fin de carrière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TCAM</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croissance annuel moyen</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FANAF</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Fédération des sociétés d'assurances de droit national africaines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TD, TV</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anciennes tables CIMA de décès et de survie</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FCP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fonds commun de placement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UEMOA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Union économique et monétaire ouest-africaine</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FNG</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fonds national de garantie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ä_x</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valeur d'une rente viagère de 1 par an à l'âge x</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FOMUS-CI</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fonds de garantie des mutuelles sociales de Côte d'Ivoire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
                      </a:r>
                    </a:p>
                  </a:txBody>
                  <a:tcPr marL="43200" marR="43200" marT="14400" marB="14400" anchor="ctr">
                    <a:solidFill>
                      <a:srgbClr val="FFFFFF"/>
                    </a:solidFill>
                  </a:tcPr>
                </a:tc>
              </a:tr>
            </a:tbl>
          </a:graphicData>
        </a:graphic>
      </p:graphicFrame>
    </p:spTree>
    <p:extLst>
      <p:ext uri="{BB962C8B-B14F-4D97-AF65-F5344CB8AC3E}">
        <p14:creationId xmlns:p14="http://schemas.microsoft.com/office/powerpoint/2010/main" val="1679496905"/>
      </p:ext>
    </p:extLst>
  </p:cSld>
  <p:clrMapOvr>
    <a:masterClrMapping/>
  </p:clrMapOvr>
  <p:transition>
    <p:fade/>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Références et sources</a:t>
            </a:r>
          </a:p>
        </p:txBody>
      </p:sp>
      <p:graphicFrame>
        <p:nvGraphicFramePr>
          <p:cNvPr id="28" name="Table 27"/>
          <p:cNvGraphicFramePr>
            <a:graphicFrameLocks noGrp="1"/>
          </p:cNvGraphicFramePr>
          <p:nvPr/>
        </p:nvGraphicFramePr>
        <p:xfrm>
          <a:off x="503999" y="720000"/>
          <a:ext cx="11231998" cy="3060000"/>
        </p:xfrm>
        <a:graphic>
          <a:graphicData uri="http://schemas.openxmlformats.org/drawingml/2006/table">
            <a:tbl>
              <a:tblPr firstRow="0" bandRow="0">
                <a:tableStyleId>{5940675A-B579-460E-94D1-54222C63F5DA}</a:tableStyleId>
              </a:tblPr>
              <a:tblGrid>
                <a:gridCol w="3671999"/>
                <a:gridCol w="3528000"/>
                <a:gridCol w="4031999"/>
              </a:tblGrid>
              <a:tr h="180000">
                <a:tc>
                  <a:txBody>
                    <a:bodyPr/>
                    <a:lstStyle/>
                    <a:p>
                      <a:pPr marL="0" indent="0" lvl="0">
                        <a:buNone/>
                      </a:pPr>
                      <a:r>
                        <a:rPr sz="800" b="1">
                          <a:solidFill>
                            <a:srgbClr val="FFFFFF"/>
                          </a:solidFill>
                          <a:latin typeface="Helvetica"/>
                        </a:rPr>
                        <a:t>Référence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Contenu utilisé</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Lien ou emplacement</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Envoi du FPPN du 15/10/2026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Précomptes, balances, exports du Grenier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Dossier 04-Documents reçus du client</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Grands livres 2021, 2022, 2024, 2025 (PDF)</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Détail des écritures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Envoi complémentaire du 18/10/2026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Entretien du 19/10/2026 avec le responsable des cotisations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Circuit des précomptes, règles des produits, nouvelles recrues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FPPN_CR_entretien_cotisations_20261019.pptx</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Règlement n° 07/2009/CM/UEMOA du 26/06/2009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Cadre de la mutualité sociale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Règlement d'exécution n° 004/2022/COM/UEMOA du 01/06/2022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Règles prudentielles, garantie, contrôle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Décision n° 05/2022/COM/UEMOA du 01/06/2022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Indicateurs et ratios prudentiels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Règlement n° 03/2012/CM/UEMOA et PCMS (mai 2012)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Plan comptable des mutuelles sociales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Arrêté n° 00115/MEPS/CAB du 12/12/2023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Sanctions administratives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Arrêtés n° 092 et 093/MEPS/CAB du 06/09/2023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Agrément, immatriculation, frais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Répertoire AIRMS des mutuelles agréées (15/10/2026)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Agrément et immatriculation du FPPN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Ordonnance n° 2024-1043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FOMUS-CI</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civlii.laws.africa</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Code CIMA, article 338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Tables et taux technique de 3,5 %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cima-afrique.org</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Tables CIMA H, CIMA F, TD, TV. Table ronde CIMA FANAF (2011)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Mortalité de référence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Fichiers fournis le 18/10/2026. Fanaf.org</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BCEAO, communiqués du CPM 2020 à 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directeurs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bceao.int</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Banque mondiale, FP.CPI.TOTL.ZG</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Inflation 2020 à 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donnees.banquemondiale.org</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Classeur des calculs v4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Tableaux, séries, ratios, classement des comptes, traçabilité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FPPN_Calculs_rapport_20261015_v4.xlsx</a:t>
                      </a:r>
                    </a:p>
                  </a:txBody>
                  <a:tcPr marL="43200" marR="43200" marT="14400" marB="14400" anchor="ctr">
                    <a:solidFill>
                      <a:srgbClr val="F2F2F2"/>
                    </a:solidFill>
                  </a:tcPr>
                </a:tc>
              </a:tr>
            </a:tbl>
          </a:graphicData>
        </a:graphic>
      </p:graphicFrame>
    </p:spTree>
    <p:extLst>
      <p:ext uri="{BB962C8B-B14F-4D97-AF65-F5344CB8AC3E}">
        <p14:creationId xmlns:p14="http://schemas.microsoft.com/office/powerpoint/2010/main" val="1423636763"/>
      </p:ext>
    </p:extLst>
  </p:cSld>
  <p:clrMapOvr>
    <a:masterClrMapping/>
  </p:clrMapOvr>
  <p:transition>
    <p:fade/>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40667" y="-1240"/>
            <a:ext cx="6858000" cy="6858000"/>
          </a:xfrm>
          <a:prstGeom prst="rect">
            <a:avLst/>
          </a:prstGeom>
        </p:spPr>
      </p:pic>
      <p:sp>
        <p:nvSpPr>
          <p:cNvPr id="15" name="Rectangle 14"/>
          <p:cNvSpPr/>
          <p:nvPr/>
        </p:nvSpPr>
        <p:spPr>
          <a:xfrm>
            <a:off x="0" y="0"/>
            <a:ext cx="6045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pic>
        <p:nvPicPr>
          <p:cNvPr id="6" name="Image 5">
            <a:extLst>
              <a:ext uri="{FF2B5EF4-FFF2-40B4-BE49-F238E27FC236}">
                <a16:creationId xmlns:a16="http://schemas.microsoft.com/office/drawing/2014/main" id="{2C356854-0685-DCEF-E2F6-65D5E9653A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48" y="-135577"/>
            <a:ext cx="3261353" cy="1301437"/>
          </a:xfrm>
          <a:prstGeom prst="rect">
            <a:avLst/>
          </a:prstGeom>
        </p:spPr>
      </p:pic>
      <p:sp>
        <p:nvSpPr>
          <p:cNvPr id="14" name="ZoneTexte 13">
            <a:extLst>
              <a:ext uri="{FF2B5EF4-FFF2-40B4-BE49-F238E27FC236}">
                <a16:creationId xmlns:a16="http://schemas.microsoft.com/office/drawing/2014/main" id="{C6E7D94B-8E49-C846-A392-87DFA5EF4A9D}"/>
              </a:ext>
            </a:extLst>
          </p:cNvPr>
          <p:cNvSpPr txBox="1"/>
          <p:nvPr/>
        </p:nvSpPr>
        <p:spPr>
          <a:xfrm>
            <a:off x="456025" y="6300894"/>
            <a:ext cx="4653185" cy="338554"/>
          </a:xfrm>
          <a:prstGeom prst="rect">
            <a:avLst/>
          </a:prstGeom>
          <a:noFill/>
        </p:spPr>
        <p:txBody>
          <a:bodyPr wrap="square">
            <a:spAutoFit/>
          </a:bodyPr>
          <a:lstStyle/>
          <a:p>
            <a:r>
              <a:rPr lang="fr-CI" sz="1600" noProof="0">
                <a:solidFill>
                  <a:schemeClr val="bg1"/>
                </a:solidFill>
                <a:latin typeface="Helvetica" panose="020B0604020202020204" pitchFamily="34" charset="0"/>
                <a:cs typeface="Helvetica" panose="020B0604020202020204" pitchFamily="34" charset="0"/>
              </a:rPr>
              <a:t>Empreinte Africaine, Expertise Internationale</a:t>
            </a:r>
          </a:p>
        </p:txBody>
      </p:sp>
      <p:sp>
        <p:nvSpPr>
          <p:cNvPr id="13" name="Google Shape;138;p25"/>
          <p:cNvSpPr txBox="1"/>
          <p:nvPr/>
        </p:nvSpPr>
        <p:spPr>
          <a:xfrm>
            <a:off x="920037" y="3088600"/>
            <a:ext cx="5800971" cy="615553"/>
          </a:xfrm>
          <a:prstGeom prst="rect">
            <a:avLst/>
          </a:prstGeom>
          <a:noFill/>
          <a:ln>
            <a:noFill/>
          </a:ln>
        </p:spPr>
        <p:txBody>
          <a:bodyPr spcFirstLastPara="1" wrap="square" lIns="0" tIns="0" rIns="0" bIns="0" anchor="t" anchorCtr="0">
            <a:spAutoFit/>
          </a:bodyPr>
          <a:lstStyle/>
          <a:p>
            <a:r>
              <a:rPr lang="fr-CI" sz="4000" noProof="0">
                <a:solidFill>
                  <a:schemeClr val="bg1"/>
                </a:solidFill>
                <a:latin typeface="Helvetica" panose="020B0604020202020204" pitchFamily="34" charset="0"/>
                <a:cs typeface="Helvetica" panose="020B0604020202020204" pitchFamily="34" charset="0"/>
              </a:rPr>
              <a:t>Merci </a:t>
            </a:r>
          </a:p>
        </p:txBody>
      </p:sp>
    </p:spTree>
    <p:extLst>
      <p:ext uri="{BB962C8B-B14F-4D97-AF65-F5344CB8AC3E}">
        <p14:creationId xmlns:p14="http://schemas.microsoft.com/office/powerpoint/2010/main" val="21165902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2509</TotalTime>
  <Words>16641</Words>
  <Application>Microsoft Office PowerPoint</Application>
  <PresentationFormat>Grand écran</PresentationFormat>
  <Paragraphs>1935</Paragraphs>
  <Slides>150</Slides>
  <Notes>2</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Adenka Consulting</dc:creator>
  <cp:lastModifiedBy>Adenka Consulting</cp:lastModifiedBy>
  <cp:revision>1</cp:revision>
  <dcterms:created xsi:type="dcterms:W3CDTF">2025-10-22T15:02:15Z</dcterms:created>
  <dcterms:modified xsi:type="dcterms:W3CDTF">2026-09-23T09:25:57Z</dcterms:modified>
  <dc:subject/>
  <cp:keywords/>
  <dc:description/>
</cp:coreProperties>
</file>