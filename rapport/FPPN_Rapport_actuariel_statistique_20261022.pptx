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405" r:id="rId125"/>
    <p:sldId id="406" r:id="rId126"/>
    <p:sldId id="407" r:id="rId127"/>
    <p:sldId id="408" r:id="rId128"/>
    <p:sldId id="409" r:id="rId129"/>
    <p:sldId id="335" r:id="rId51"/>
    <p:sldId id="410" r:id="rId130"/>
    <p:sldId id="325" r:id="rId25"/>
    <p:sldId id="411" r:id="rId131"/>
    <p:sldId id="412" r:id="rId132"/>
    <p:sldId id="413" r:id="rId133"/>
    <p:sldId id="369" r:id="rId109"/>
    <p:sldId id="361" r:id="rId85"/>
    <p:sldId id="414" r:id="rId134"/>
    <p:sldId id="330" r:id="rId41"/>
    <p:sldId id="415" r:id="rId135"/>
    <p:sldId id="416" r:id="rId136"/>
    <p:sldId id="417" r:id="rId137"/>
    <p:sldId id="418" r:id="rId138"/>
    <p:sldId id="419" r:id="rId139"/>
    <p:sldId id="420" r:id="rId140"/>
    <p:sldId id="421" r:id="rId141"/>
    <p:sldId id="422" r:id="rId142"/>
    <p:sldId id="423" r:id="rId143"/>
    <p:sldId id="424" r:id="rId144"/>
    <p:sldId id="425" r:id="rId145"/>
    <p:sldId id="426" r:id="rId146"/>
    <p:sldId id="427" r:id="rId147"/>
    <p:sldId id="428" r:id="rId148"/>
    <p:sldId id="429" r:id="rId149"/>
    <p:sldId id="312" r:id="rId11"/>
    <p:sldId id="430" r:id="rId150"/>
    <p:sldId id="431" r:id="rId151"/>
    <p:sldId id="432" r:id="rId152"/>
    <p:sldId id="433" r:id="rId153"/>
    <p:sldId id="434" r:id="rId154"/>
    <p:sldId id="435" r:id="rId155"/>
    <p:sldId id="316" r:id="rId15"/>
    <p:sldId id="436" r:id="rId156"/>
    <p:sldId id="437" r:id="rId157"/>
    <p:sldId id="438" r:id="rId158"/>
    <p:sldId id="439" r:id="rId159"/>
    <p:sldId id="440" r:id="rId160"/>
    <p:sldId id="441" r:id="rId161"/>
    <p:sldId id="442" r:id="rId162"/>
    <p:sldId id="443" r:id="rId163"/>
    <p:sldId id="444" r:id="rId164"/>
    <p:sldId id="445" r:id="rId165"/>
    <p:sldId id="446" r:id="rId166"/>
    <p:sldId id="447" r:id="rId167"/>
    <p:sldId id="448" r:id="rId168"/>
    <p:sldId id="449" r:id="rId169"/>
    <p:sldId id="450" r:id="rId170"/>
    <p:sldId id="451" r:id="rId171"/>
    <p:sldId id="452" r:id="rId172"/>
    <p:sldId id="453" r:id="rId173"/>
    <p:sldId id="454" r:id="rId174"/>
    <p:sldId id="455" r:id="rId175"/>
    <p:sldId id="456" r:id="rId176"/>
    <p:sldId id="457" r:id="rId177"/>
    <p:sldId id="458" r:id="rId178"/>
    <p:sldId id="459" r:id="rId179"/>
    <p:sldId id="460" r:id="rId180"/>
    <p:sldId id="461" r:id="rId181"/>
    <p:sldId id="462" r:id="rId182"/>
    <p:sldId id="463" r:id="rId183"/>
    <p:sldId id="464" r:id="rId184"/>
    <p:sldId id="465" r:id="rId185"/>
    <p:sldId id="466" r:id="rId186"/>
    <p:sldId id="467" r:id="rId187"/>
    <p:sldId id="468" r:id="rId188"/>
    <p:sldId id="469" r:id="rId189"/>
    <p:sldId id="470" r:id="rId190"/>
    <p:sldId id="471" r:id="rId191"/>
    <p:sldId id="472" r:id="rId192"/>
    <p:sldId id="473" r:id="rId193"/>
    <p:sldId id="474" r:id="rId194"/>
    <p:sldId id="475" r:id="rId195"/>
    <p:sldId id="476" r:id="rId196"/>
    <p:sldId id="477" r:id="rId197"/>
    <p:sldId id="478" r:id="rId198"/>
    <p:sldId id="479" r:id="rId199"/>
    <p:sldId id="480" r:id="rId200"/>
    <p:sldId id="481" r:id="rId201"/>
    <p:sldId id="482" r:id="rId202"/>
    <p:sldId id="483" r:id="rId203"/>
    <p:sldId id="484" r:id="rId204"/>
    <p:sldId id="485" r:id="rId205"/>
    <p:sldId id="486" r:id="rId206"/>
    <p:sldId id="487" r:id="rId207"/>
    <p:sldId id="488" r:id="rId208"/>
    <p:sldId id="489" r:id="rId209"/>
    <p:sldId id="490" r:id="rId210"/>
    <p:sldId id="491" r:id="rId211"/>
    <p:sldId id="492" r:id="rId212"/>
    <p:sldId id="493" r:id="rId213"/>
    <p:sldId id="494" r:id="rId214"/>
    <p:sldId id="495" r:id="rId215"/>
    <p:sldId id="496" r:id="rId216"/>
    <p:sldId id="497" r:id="rId217"/>
    <p:sldId id="498" r:id="rId218"/>
    <p:sldId id="499" r:id="rId219"/>
    <p:sldId id="500" r:id="rId220"/>
    <p:sldId id="501" r:id="rId221"/>
    <p:sldId id="502" r:id="rId222"/>
    <p:sldId id="503" r:id="rId223"/>
    <p:sldId id="504" r:id="rId224"/>
    <p:sldId id="505" r:id="rId225"/>
    <p:sldId id="506" r:id="rId226"/>
    <p:sldId id="507" r:id="rId227"/>
    <p:sldId id="508" r:id="rId228"/>
    <p:sldId id="509" r:id="rId229"/>
    <p:sldId id="510" r:id="rId230"/>
    <p:sldId id="511" r:id="rId231"/>
    <p:sldId id="512" r:id="rId232"/>
    <p:sldId id="513" r:id="rId233"/>
    <p:sldId id="514" r:id="rId234"/>
    <p:sldId id="515" r:id="rId235"/>
    <p:sldId id="516" r:id="rId236"/>
    <p:sldId id="517" r:id="rId237"/>
    <p:sldId id="518" r:id="rId238"/>
    <p:sldId id="519" r:id="rId239"/>
    <p:sldId id="520" r:id="rId240"/>
    <p:sldId id="521" r:id="rId241"/>
    <p:sldId id="522" r:id="rId242"/>
    <p:sldId id="523" r:id="rId243"/>
    <p:sldId id="524" r:id="rId244"/>
    <p:sldId id="525" r:id="rId245"/>
    <p:sldId id="526" r:id="rId246"/>
    <p:sldId id="527" r:id="rId247"/>
    <p:sldId id="528" r:id="rId248"/>
    <p:sldId id="529" r:id="rId249"/>
    <p:sldId id="530" r:id="rId250"/>
    <p:sldId id="531" r:id="rId251"/>
    <p:sldId id="532" r:id="rId252"/>
    <p:sldId id="533" r:id="rId253"/>
    <p:sldId id="534" r:id="rId254"/>
    <p:sldId id="535" r:id="rId255"/>
    <p:sldId id="536" r:id="rId256"/>
    <p:sldId id="537" r:id="rId257"/>
    <p:sldId id="538" r:id="rId258"/>
    <p:sldId id="539" r:id="rId259"/>
    <p:sldId id="540" r:id="rId260"/>
    <p:sldId id="541" r:id="rId261"/>
    <p:sldId id="542" r:id="rId262"/>
    <p:sldId id="543" r:id="rId263"/>
    <p:sldId id="544" r:id="rId264"/>
    <p:sldId id="545" r:id="rId265"/>
    <p:sldId id="546" r:id="rId266"/>
    <p:sldId id="547" r:id="rId267"/>
    <p:sldId id="399" r:id="rId33"/>
    <p:sldId id="548" r:id="rId268"/>
    <p:sldId id="549" r:id="rId269"/>
    <p:sldId id="329" r:id="rId31"/>
    <p:sldId id="550" r:id="rId270"/>
    <p:sldId id="551" r:id="rId271"/>
    <p:sldId id="552" r:id="rId272"/>
    <p:sldId id="553" r:id="rId273"/>
    <p:sldId id="554" r:id="rId274"/>
    <p:sldId id="555" r:id="rId275"/>
    <p:sldId id="556" r:id="rId276"/>
    <p:sldId id="557" r:id="rId277"/>
    <p:sldId id="558" r:id="rId278"/>
    <p:sldId id="559" r:id="rId279"/>
    <p:sldId id="560" r:id="rId280"/>
    <p:sldId id="561" r:id="rId281"/>
    <p:sldId id="562" r:id="rId282"/>
    <p:sldId id="563" r:id="rId283"/>
    <p:sldId id="564" r:id="rId284"/>
    <p:sldId id="565" r:id="rId285"/>
    <p:sldId id="566" r:id="rId286"/>
    <p:sldId id="567" r:id="rId287"/>
    <p:sldId id="568" r:id="rId288"/>
    <p:sldId id="569" r:id="rId289"/>
    <p:sldId id="570" r:id="rId290"/>
    <p:sldId id="571" r:id="rId291"/>
    <p:sldId id="572" r:id="rId292"/>
    <p:sldId id="573" r:id="rId293"/>
    <p:sldId id="574" r:id="rId294"/>
    <p:sldId id="575" r:id="rId295"/>
    <p:sldId id="576" r:id="rId296"/>
    <p:sldId id="577" r:id="rId297"/>
    <p:sldId id="578" r:id="rId298"/>
    <p:sldId id="579" r:id="rId299"/>
    <p:sldId id="580" r:id="rId300"/>
    <p:sldId id="581" r:id="rId301"/>
    <p:sldId id="582" r:id="rId302"/>
    <p:sldId id="583" r:id="rId303"/>
    <p:sldId id="584" r:id="rId304"/>
    <p:sldId id="585" r:id="rId305"/>
    <p:sldId id="586" r:id="rId306"/>
    <p:sldId id="587" r:id="rId307"/>
    <p:sldId id="588" r:id="rId308"/>
    <p:sldId id="589" r:id="rId309"/>
    <p:sldId id="590" r:id="rId310"/>
    <p:sldId id="591" r:id="rId311"/>
    <p:sldId id="592" r:id="rId312"/>
    <p:sldId id="593" r:id="rId313"/>
    <p:sldId id="594" r:id="rId314"/>
    <p:sldId id="595" r:id="rId315"/>
    <p:sldId id="596" r:id="rId316"/>
    <p:sldId id="597" r:id="rId317"/>
    <p:sldId id="598" r:id="rId318"/>
    <p:sldId id="599" r:id="rId319"/>
    <p:sldId id="600" r:id="rId320"/>
    <p:sldId id="601" r:id="rId321"/>
    <p:sldId id="602" r:id="rId322"/>
    <p:sldId id="603" r:id="rId323"/>
    <p:sldId id="604" r:id="rId324"/>
    <p:sldId id="605" r:id="rId325"/>
    <p:sldId id="606" r:id="rId326"/>
    <p:sldId id="607" r:id="rId327"/>
    <p:sldId id="608" r:id="rId328"/>
    <p:sldId id="609" r:id="rId329"/>
    <p:sldId id="610" r:id="rId330"/>
    <p:sldId id="611" r:id="rId331"/>
    <p:sldId id="612" r:id="rId332"/>
    <p:sldId id="613" r:id="rId333"/>
    <p:sldId id="614" r:id="rId334"/>
    <p:sldId id="615" r:id="rId335"/>
    <p:sldId id="616" r:id="rId336"/>
    <p:sldId id="617" r:id="rId337"/>
    <p:sldId id="618" r:id="rId338"/>
    <p:sldId id="619" r:id="rId339"/>
    <p:sldId id="620" r:id="rId340"/>
    <p:sldId id="621" r:id="rId341"/>
    <p:sldId id="622" r:id="rId342"/>
    <p:sldId id="623" r:id="rId343"/>
    <p:sldId id="624" r:id="rId344"/>
    <p:sldId id="625" r:id="rId345"/>
    <p:sldId id="626" r:id="rId346"/>
    <p:sldId id="627" r:id="rId347"/>
    <p:sldId id="628" r:id="rId348"/>
    <p:sldId id="629" r:id="rId349"/>
    <p:sldId id="630" r:id="rId350"/>
    <p:sldId id="631" r:id="rId351"/>
    <p:sldId id="632" r:id="rId352"/>
    <p:sldId id="633" r:id="rId353"/>
    <p:sldId id="634" r:id="rId354"/>
    <p:sldId id="635" r:id="rId355"/>
    <p:sldId id="636" r:id="rId356"/>
    <p:sldId id="637" r:id="rId357"/>
    <p:sldId id="638" r:id="rId358"/>
    <p:sldId id="639" r:id="rId359"/>
    <p:sldId id="640" r:id="rId360"/>
    <p:sldId id="641" r:id="rId361"/>
    <p:sldId id="642" r:id="rId362"/>
    <p:sldId id="643" r:id="rId363"/>
    <p:sldId id="644" r:id="rId364"/>
    <p:sldId id="645" r:id="rId365"/>
    <p:sldId id="646" r:id="rId366"/>
    <p:sldId id="647" r:id="rId367"/>
    <p:sldId id="648" r:id="rId368"/>
    <p:sldId id="649" r:id="rId369"/>
    <p:sldId id="650" r:id="rId370"/>
    <p:sldId id="651" r:id="rId371"/>
    <p:sldId id="652" r:id="rId372"/>
    <p:sldId id="653" r:id="rId373"/>
    <p:sldId id="654" r:id="rId374"/>
    <p:sldId id="655" r:id="rId375"/>
    <p:sldId id="656" r:id="rId376"/>
    <p:sldId id="657" r:id="rId377"/>
    <p:sldId id="658" r:id="rId378"/>
    <p:sldId id="659" r:id="rId379"/>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 Type="http://schemas.openxmlformats.org/officeDocument/2006/relationships/slide" Target="slides/slide35.xml"/><Relationship Id="rId15" Type="http://schemas.openxmlformats.org/officeDocument/2006/relationships/slide" Target="slides/slide42.xml"/><Relationship Id="rId25" Type="http://schemas.openxmlformats.org/officeDocument/2006/relationships/slide" Target="slides/slide12.xml"/><Relationship Id="rId31" Type="http://schemas.openxmlformats.org/officeDocument/2006/relationships/slide" Target="slides/slide158.xml"/><Relationship Id="rId33" Type="http://schemas.openxmlformats.org/officeDocument/2006/relationships/slide" Target="slides/slide155.xml"/><Relationship Id="rId41" Type="http://schemas.openxmlformats.org/officeDocument/2006/relationships/slide" Target="slides/slide19.xml"/><Relationship Id="rId51" Type="http://schemas.openxmlformats.org/officeDocument/2006/relationships/slide" Target="slides/slide10.xml"/><Relationship Id="rId85" Type="http://schemas.openxmlformats.org/officeDocument/2006/relationships/slide" Target="slides/slide17.xml"/><Relationship Id="rId109" Type="http://schemas.openxmlformats.org/officeDocument/2006/relationships/slide" Target="slides/slide16.xml"/><Relationship Id="rId112" Type="http://schemas.openxmlformats.org/officeDocument/2006/relationships/slide" Target="slides/slide269.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5.xml"/><Relationship Id="rId126" Type="http://schemas.openxmlformats.org/officeDocument/2006/relationships/slide" Target="slides/slide6.xml"/><Relationship Id="rId127" Type="http://schemas.openxmlformats.org/officeDocument/2006/relationships/slide" Target="slides/slide7.xml"/><Relationship Id="rId128" Type="http://schemas.openxmlformats.org/officeDocument/2006/relationships/slide" Target="slides/slide8.xml"/><Relationship Id="rId129" Type="http://schemas.openxmlformats.org/officeDocument/2006/relationships/slide" Target="slides/slide9.xml"/><Relationship Id="rId130" Type="http://schemas.openxmlformats.org/officeDocument/2006/relationships/slide" Target="slides/slide11.xml"/><Relationship Id="rId131" Type="http://schemas.openxmlformats.org/officeDocument/2006/relationships/slide" Target="slides/slide13.xml"/><Relationship Id="rId132" Type="http://schemas.openxmlformats.org/officeDocument/2006/relationships/slide" Target="slides/slide14.xml"/><Relationship Id="rId133" Type="http://schemas.openxmlformats.org/officeDocument/2006/relationships/slide" Target="slides/slide15.xml"/><Relationship Id="rId134" Type="http://schemas.openxmlformats.org/officeDocument/2006/relationships/slide" Target="slides/slide18.xml"/><Relationship Id="rId135" Type="http://schemas.openxmlformats.org/officeDocument/2006/relationships/slide" Target="slides/slide20.xml"/><Relationship Id="rId136" Type="http://schemas.openxmlformats.org/officeDocument/2006/relationships/slide" Target="slides/slide21.xml"/><Relationship Id="rId137" Type="http://schemas.openxmlformats.org/officeDocument/2006/relationships/slide" Target="slides/slide22.xml"/><Relationship Id="rId138" Type="http://schemas.openxmlformats.org/officeDocument/2006/relationships/slide" Target="slides/slide23.xml"/><Relationship Id="rId139" Type="http://schemas.openxmlformats.org/officeDocument/2006/relationships/slide" Target="slides/slide24.xml"/><Relationship Id="rId140" Type="http://schemas.openxmlformats.org/officeDocument/2006/relationships/slide" Target="slides/slide25.xml"/><Relationship Id="rId141" Type="http://schemas.openxmlformats.org/officeDocument/2006/relationships/slide" Target="slides/slide26.xml"/><Relationship Id="rId142" Type="http://schemas.openxmlformats.org/officeDocument/2006/relationships/slide" Target="slides/slide27.xml"/><Relationship Id="rId143" Type="http://schemas.openxmlformats.org/officeDocument/2006/relationships/slide" Target="slides/slide28.xml"/><Relationship Id="rId144" Type="http://schemas.openxmlformats.org/officeDocument/2006/relationships/slide" Target="slides/slide29.xml"/><Relationship Id="rId145" Type="http://schemas.openxmlformats.org/officeDocument/2006/relationships/slide" Target="slides/slide30.xml"/><Relationship Id="rId146" Type="http://schemas.openxmlformats.org/officeDocument/2006/relationships/slide" Target="slides/slide31.xml"/><Relationship Id="rId147" Type="http://schemas.openxmlformats.org/officeDocument/2006/relationships/slide" Target="slides/slide32.xml"/><Relationship Id="rId148" Type="http://schemas.openxmlformats.org/officeDocument/2006/relationships/slide" Target="slides/slide33.xml"/><Relationship Id="rId149" Type="http://schemas.openxmlformats.org/officeDocument/2006/relationships/slide" Target="slides/slide34.xml"/><Relationship Id="rId150" Type="http://schemas.openxmlformats.org/officeDocument/2006/relationships/slide" Target="slides/slide36.xml"/><Relationship Id="rId151" Type="http://schemas.openxmlformats.org/officeDocument/2006/relationships/slide" Target="slides/slide37.xml"/><Relationship Id="rId152" Type="http://schemas.openxmlformats.org/officeDocument/2006/relationships/slide" Target="slides/slide38.xml"/><Relationship Id="rId153" Type="http://schemas.openxmlformats.org/officeDocument/2006/relationships/slide" Target="slides/slide39.xml"/><Relationship Id="rId154" Type="http://schemas.openxmlformats.org/officeDocument/2006/relationships/slide" Target="slides/slide40.xml"/><Relationship Id="rId155" Type="http://schemas.openxmlformats.org/officeDocument/2006/relationships/slide" Target="slides/slide41.xml"/><Relationship Id="rId156" Type="http://schemas.openxmlformats.org/officeDocument/2006/relationships/slide" Target="slides/slide43.xml"/><Relationship Id="rId157" Type="http://schemas.openxmlformats.org/officeDocument/2006/relationships/slide" Target="slides/slide44.xml"/><Relationship Id="rId158" Type="http://schemas.openxmlformats.org/officeDocument/2006/relationships/slide" Target="slides/slide45.xml"/><Relationship Id="rId159" Type="http://schemas.openxmlformats.org/officeDocument/2006/relationships/slide" Target="slides/slide46.xml"/><Relationship Id="rId160" Type="http://schemas.openxmlformats.org/officeDocument/2006/relationships/slide" Target="slides/slide47.xml"/><Relationship Id="rId161" Type="http://schemas.openxmlformats.org/officeDocument/2006/relationships/slide" Target="slides/slide48.xml"/><Relationship Id="rId162" Type="http://schemas.openxmlformats.org/officeDocument/2006/relationships/slide" Target="slides/slide49.xml"/><Relationship Id="rId163" Type="http://schemas.openxmlformats.org/officeDocument/2006/relationships/slide" Target="slides/slide50.xml"/><Relationship Id="rId164" Type="http://schemas.openxmlformats.org/officeDocument/2006/relationships/slide" Target="slides/slide51.xml"/><Relationship Id="rId165" Type="http://schemas.openxmlformats.org/officeDocument/2006/relationships/slide" Target="slides/slide52.xml"/><Relationship Id="rId166" Type="http://schemas.openxmlformats.org/officeDocument/2006/relationships/slide" Target="slides/slide53.xml"/><Relationship Id="rId167" Type="http://schemas.openxmlformats.org/officeDocument/2006/relationships/slide" Target="slides/slide54.xml"/><Relationship Id="rId168" Type="http://schemas.openxmlformats.org/officeDocument/2006/relationships/slide" Target="slides/slide55.xml"/><Relationship Id="rId169" Type="http://schemas.openxmlformats.org/officeDocument/2006/relationships/slide" Target="slides/slide56.xml"/><Relationship Id="rId170" Type="http://schemas.openxmlformats.org/officeDocument/2006/relationships/slide" Target="slides/slide57.xml"/><Relationship Id="rId171" Type="http://schemas.openxmlformats.org/officeDocument/2006/relationships/slide" Target="slides/slide58.xml"/><Relationship Id="rId172" Type="http://schemas.openxmlformats.org/officeDocument/2006/relationships/slide" Target="slides/slide59.xml"/><Relationship Id="rId173" Type="http://schemas.openxmlformats.org/officeDocument/2006/relationships/slide" Target="slides/slide60.xml"/><Relationship Id="rId174" Type="http://schemas.openxmlformats.org/officeDocument/2006/relationships/slide" Target="slides/slide61.xml"/><Relationship Id="rId175" Type="http://schemas.openxmlformats.org/officeDocument/2006/relationships/slide" Target="slides/slide62.xml"/><Relationship Id="rId176" Type="http://schemas.openxmlformats.org/officeDocument/2006/relationships/slide" Target="slides/slide63.xml"/><Relationship Id="rId177" Type="http://schemas.openxmlformats.org/officeDocument/2006/relationships/slide" Target="slides/slide64.xml"/><Relationship Id="rId178" Type="http://schemas.openxmlformats.org/officeDocument/2006/relationships/slide" Target="slides/slide65.xml"/><Relationship Id="rId179" Type="http://schemas.openxmlformats.org/officeDocument/2006/relationships/slide" Target="slides/slide66.xml"/><Relationship Id="rId180" Type="http://schemas.openxmlformats.org/officeDocument/2006/relationships/slide" Target="slides/slide67.xml"/><Relationship Id="rId181" Type="http://schemas.openxmlformats.org/officeDocument/2006/relationships/slide" Target="slides/slide68.xml"/><Relationship Id="rId182" Type="http://schemas.openxmlformats.org/officeDocument/2006/relationships/slide" Target="slides/slide69.xml"/><Relationship Id="rId183" Type="http://schemas.openxmlformats.org/officeDocument/2006/relationships/slide" Target="slides/slide70.xml"/><Relationship Id="rId184" Type="http://schemas.openxmlformats.org/officeDocument/2006/relationships/slide" Target="slides/slide71.xml"/><Relationship Id="rId185" Type="http://schemas.openxmlformats.org/officeDocument/2006/relationships/slide" Target="slides/slide72.xml"/><Relationship Id="rId186" Type="http://schemas.openxmlformats.org/officeDocument/2006/relationships/slide" Target="slides/slide73.xml"/><Relationship Id="rId187" Type="http://schemas.openxmlformats.org/officeDocument/2006/relationships/slide" Target="slides/slide74.xml"/><Relationship Id="rId188" Type="http://schemas.openxmlformats.org/officeDocument/2006/relationships/slide" Target="slides/slide75.xml"/><Relationship Id="rId189" Type="http://schemas.openxmlformats.org/officeDocument/2006/relationships/slide" Target="slides/slide76.xml"/><Relationship Id="rId190" Type="http://schemas.openxmlformats.org/officeDocument/2006/relationships/slide" Target="slides/slide77.xml"/><Relationship Id="rId191" Type="http://schemas.openxmlformats.org/officeDocument/2006/relationships/slide" Target="slides/slide78.xml"/><Relationship Id="rId192" Type="http://schemas.openxmlformats.org/officeDocument/2006/relationships/slide" Target="slides/slide79.xml"/><Relationship Id="rId193" Type="http://schemas.openxmlformats.org/officeDocument/2006/relationships/slide" Target="slides/slide80.xml"/><Relationship Id="rId194" Type="http://schemas.openxmlformats.org/officeDocument/2006/relationships/slide" Target="slides/slide81.xml"/><Relationship Id="rId195" Type="http://schemas.openxmlformats.org/officeDocument/2006/relationships/slide" Target="slides/slide82.xml"/><Relationship Id="rId196" Type="http://schemas.openxmlformats.org/officeDocument/2006/relationships/slide" Target="slides/slide83.xml"/><Relationship Id="rId197" Type="http://schemas.openxmlformats.org/officeDocument/2006/relationships/slide" Target="slides/slide84.xml"/><Relationship Id="rId198" Type="http://schemas.openxmlformats.org/officeDocument/2006/relationships/slide" Target="slides/slide85.xml"/><Relationship Id="rId199" Type="http://schemas.openxmlformats.org/officeDocument/2006/relationships/slide" Target="slides/slide86.xml"/><Relationship Id="rId200" Type="http://schemas.openxmlformats.org/officeDocument/2006/relationships/slide" Target="slides/slide87.xml"/><Relationship Id="rId201" Type="http://schemas.openxmlformats.org/officeDocument/2006/relationships/slide" Target="slides/slide88.xml"/><Relationship Id="rId202" Type="http://schemas.openxmlformats.org/officeDocument/2006/relationships/slide" Target="slides/slide89.xml"/><Relationship Id="rId203" Type="http://schemas.openxmlformats.org/officeDocument/2006/relationships/slide" Target="slides/slide90.xml"/><Relationship Id="rId204" Type="http://schemas.openxmlformats.org/officeDocument/2006/relationships/slide" Target="slides/slide91.xml"/><Relationship Id="rId205" Type="http://schemas.openxmlformats.org/officeDocument/2006/relationships/slide" Target="slides/slide92.xml"/><Relationship Id="rId206" Type="http://schemas.openxmlformats.org/officeDocument/2006/relationships/slide" Target="slides/slide93.xml"/><Relationship Id="rId207" Type="http://schemas.openxmlformats.org/officeDocument/2006/relationships/slide" Target="slides/slide94.xml"/><Relationship Id="rId208" Type="http://schemas.openxmlformats.org/officeDocument/2006/relationships/slide" Target="slides/slide95.xml"/><Relationship Id="rId209" Type="http://schemas.openxmlformats.org/officeDocument/2006/relationships/slide" Target="slides/slide96.xml"/><Relationship Id="rId210" Type="http://schemas.openxmlformats.org/officeDocument/2006/relationships/slide" Target="slides/slide97.xml"/><Relationship Id="rId211" Type="http://schemas.openxmlformats.org/officeDocument/2006/relationships/slide" Target="slides/slide98.xml"/><Relationship Id="rId212" Type="http://schemas.openxmlformats.org/officeDocument/2006/relationships/slide" Target="slides/slide99.xml"/><Relationship Id="rId213" Type="http://schemas.openxmlformats.org/officeDocument/2006/relationships/slide" Target="slides/slide100.xml"/><Relationship Id="rId214" Type="http://schemas.openxmlformats.org/officeDocument/2006/relationships/slide" Target="slides/slide101.xml"/><Relationship Id="rId215" Type="http://schemas.openxmlformats.org/officeDocument/2006/relationships/slide" Target="slides/slide102.xml"/><Relationship Id="rId216" Type="http://schemas.openxmlformats.org/officeDocument/2006/relationships/slide" Target="slides/slide103.xml"/><Relationship Id="rId217" Type="http://schemas.openxmlformats.org/officeDocument/2006/relationships/slide" Target="slides/slide104.xml"/><Relationship Id="rId218" Type="http://schemas.openxmlformats.org/officeDocument/2006/relationships/slide" Target="slides/slide105.xml"/><Relationship Id="rId219" Type="http://schemas.openxmlformats.org/officeDocument/2006/relationships/slide" Target="slides/slide106.xml"/><Relationship Id="rId220" Type="http://schemas.openxmlformats.org/officeDocument/2006/relationships/slide" Target="slides/slide107.xml"/><Relationship Id="rId221" Type="http://schemas.openxmlformats.org/officeDocument/2006/relationships/slide" Target="slides/slide108.xml"/><Relationship Id="rId222" Type="http://schemas.openxmlformats.org/officeDocument/2006/relationships/slide" Target="slides/slide109.xml"/><Relationship Id="rId223" Type="http://schemas.openxmlformats.org/officeDocument/2006/relationships/slide" Target="slides/slide110.xml"/><Relationship Id="rId224" Type="http://schemas.openxmlformats.org/officeDocument/2006/relationships/slide" Target="slides/slide111.xml"/><Relationship Id="rId225" Type="http://schemas.openxmlformats.org/officeDocument/2006/relationships/slide" Target="slides/slide112.xml"/><Relationship Id="rId226" Type="http://schemas.openxmlformats.org/officeDocument/2006/relationships/slide" Target="slides/slide113.xml"/><Relationship Id="rId227" Type="http://schemas.openxmlformats.org/officeDocument/2006/relationships/slide" Target="slides/slide114.xml"/><Relationship Id="rId228" Type="http://schemas.openxmlformats.org/officeDocument/2006/relationships/slide" Target="slides/slide115.xml"/><Relationship Id="rId229" Type="http://schemas.openxmlformats.org/officeDocument/2006/relationships/slide" Target="slides/slide116.xml"/><Relationship Id="rId230" Type="http://schemas.openxmlformats.org/officeDocument/2006/relationships/slide" Target="slides/slide117.xml"/><Relationship Id="rId231" Type="http://schemas.openxmlformats.org/officeDocument/2006/relationships/slide" Target="slides/slide118.xml"/><Relationship Id="rId232" Type="http://schemas.openxmlformats.org/officeDocument/2006/relationships/slide" Target="slides/slide119.xml"/><Relationship Id="rId233" Type="http://schemas.openxmlformats.org/officeDocument/2006/relationships/slide" Target="slides/slide120.xml"/><Relationship Id="rId234" Type="http://schemas.openxmlformats.org/officeDocument/2006/relationships/slide" Target="slides/slide121.xml"/><Relationship Id="rId235" Type="http://schemas.openxmlformats.org/officeDocument/2006/relationships/slide" Target="slides/slide122.xml"/><Relationship Id="rId236" Type="http://schemas.openxmlformats.org/officeDocument/2006/relationships/slide" Target="slides/slide123.xml"/><Relationship Id="rId237" Type="http://schemas.openxmlformats.org/officeDocument/2006/relationships/slide" Target="slides/slide124.xml"/><Relationship Id="rId238" Type="http://schemas.openxmlformats.org/officeDocument/2006/relationships/slide" Target="slides/slide125.xml"/><Relationship Id="rId239" Type="http://schemas.openxmlformats.org/officeDocument/2006/relationships/slide" Target="slides/slide126.xml"/><Relationship Id="rId240" Type="http://schemas.openxmlformats.org/officeDocument/2006/relationships/slide" Target="slides/slide127.xml"/><Relationship Id="rId241" Type="http://schemas.openxmlformats.org/officeDocument/2006/relationships/slide" Target="slides/slide128.xml"/><Relationship Id="rId242" Type="http://schemas.openxmlformats.org/officeDocument/2006/relationships/slide" Target="slides/slide129.xml"/><Relationship Id="rId243" Type="http://schemas.openxmlformats.org/officeDocument/2006/relationships/slide" Target="slides/slide130.xml"/><Relationship Id="rId244" Type="http://schemas.openxmlformats.org/officeDocument/2006/relationships/slide" Target="slides/slide131.xml"/><Relationship Id="rId245" Type="http://schemas.openxmlformats.org/officeDocument/2006/relationships/slide" Target="slides/slide132.xml"/><Relationship Id="rId246" Type="http://schemas.openxmlformats.org/officeDocument/2006/relationships/slide" Target="slides/slide133.xml"/><Relationship Id="rId247" Type="http://schemas.openxmlformats.org/officeDocument/2006/relationships/slide" Target="slides/slide134.xml"/><Relationship Id="rId248" Type="http://schemas.openxmlformats.org/officeDocument/2006/relationships/slide" Target="slides/slide135.xml"/><Relationship Id="rId249" Type="http://schemas.openxmlformats.org/officeDocument/2006/relationships/slide" Target="slides/slide136.xml"/><Relationship Id="rId250" Type="http://schemas.openxmlformats.org/officeDocument/2006/relationships/slide" Target="slides/slide137.xml"/><Relationship Id="rId251" Type="http://schemas.openxmlformats.org/officeDocument/2006/relationships/slide" Target="slides/slide138.xml"/><Relationship Id="rId252" Type="http://schemas.openxmlformats.org/officeDocument/2006/relationships/slide" Target="slides/slide139.xml"/><Relationship Id="rId253" Type="http://schemas.openxmlformats.org/officeDocument/2006/relationships/slide" Target="slides/slide140.xml"/><Relationship Id="rId254" Type="http://schemas.openxmlformats.org/officeDocument/2006/relationships/slide" Target="slides/slide141.xml"/><Relationship Id="rId255" Type="http://schemas.openxmlformats.org/officeDocument/2006/relationships/slide" Target="slides/slide142.xml"/><Relationship Id="rId256" Type="http://schemas.openxmlformats.org/officeDocument/2006/relationships/slide" Target="slides/slide143.xml"/><Relationship Id="rId257" Type="http://schemas.openxmlformats.org/officeDocument/2006/relationships/slide" Target="slides/slide144.xml"/><Relationship Id="rId258" Type="http://schemas.openxmlformats.org/officeDocument/2006/relationships/slide" Target="slides/slide145.xml"/><Relationship Id="rId259" Type="http://schemas.openxmlformats.org/officeDocument/2006/relationships/slide" Target="slides/slide146.xml"/><Relationship Id="rId260" Type="http://schemas.openxmlformats.org/officeDocument/2006/relationships/slide" Target="slides/slide147.xml"/><Relationship Id="rId261" Type="http://schemas.openxmlformats.org/officeDocument/2006/relationships/slide" Target="slides/slide148.xml"/><Relationship Id="rId262" Type="http://schemas.openxmlformats.org/officeDocument/2006/relationships/slide" Target="slides/slide149.xml"/><Relationship Id="rId263" Type="http://schemas.openxmlformats.org/officeDocument/2006/relationships/slide" Target="slides/slide150.xml"/><Relationship Id="rId264" Type="http://schemas.openxmlformats.org/officeDocument/2006/relationships/slide" Target="slides/slide151.xml"/><Relationship Id="rId265" Type="http://schemas.openxmlformats.org/officeDocument/2006/relationships/slide" Target="slides/slide152.xml"/><Relationship Id="rId266" Type="http://schemas.openxmlformats.org/officeDocument/2006/relationships/slide" Target="slides/slide153.xml"/><Relationship Id="rId267" Type="http://schemas.openxmlformats.org/officeDocument/2006/relationships/slide" Target="slides/slide154.xml"/><Relationship Id="rId268" Type="http://schemas.openxmlformats.org/officeDocument/2006/relationships/slide" Target="slides/slide156.xml"/><Relationship Id="rId269" Type="http://schemas.openxmlformats.org/officeDocument/2006/relationships/slide" Target="slides/slide157.xml"/><Relationship Id="rId270" Type="http://schemas.openxmlformats.org/officeDocument/2006/relationships/slide" Target="slides/slide159.xml"/><Relationship Id="rId271" Type="http://schemas.openxmlformats.org/officeDocument/2006/relationships/slide" Target="slides/slide160.xml"/><Relationship Id="rId272" Type="http://schemas.openxmlformats.org/officeDocument/2006/relationships/slide" Target="slides/slide161.xml"/><Relationship Id="rId273" Type="http://schemas.openxmlformats.org/officeDocument/2006/relationships/slide" Target="slides/slide162.xml"/><Relationship Id="rId274" Type="http://schemas.openxmlformats.org/officeDocument/2006/relationships/slide" Target="slides/slide163.xml"/><Relationship Id="rId275" Type="http://schemas.openxmlformats.org/officeDocument/2006/relationships/slide" Target="slides/slide164.xml"/><Relationship Id="rId276" Type="http://schemas.openxmlformats.org/officeDocument/2006/relationships/slide" Target="slides/slide165.xml"/><Relationship Id="rId277" Type="http://schemas.openxmlformats.org/officeDocument/2006/relationships/slide" Target="slides/slide166.xml"/><Relationship Id="rId278" Type="http://schemas.openxmlformats.org/officeDocument/2006/relationships/slide" Target="slides/slide167.xml"/><Relationship Id="rId279" Type="http://schemas.openxmlformats.org/officeDocument/2006/relationships/slide" Target="slides/slide168.xml"/><Relationship Id="rId280" Type="http://schemas.openxmlformats.org/officeDocument/2006/relationships/slide" Target="slides/slide169.xml"/><Relationship Id="rId281" Type="http://schemas.openxmlformats.org/officeDocument/2006/relationships/slide" Target="slides/slide170.xml"/><Relationship Id="rId282" Type="http://schemas.openxmlformats.org/officeDocument/2006/relationships/slide" Target="slides/slide171.xml"/><Relationship Id="rId283" Type="http://schemas.openxmlformats.org/officeDocument/2006/relationships/slide" Target="slides/slide172.xml"/><Relationship Id="rId284" Type="http://schemas.openxmlformats.org/officeDocument/2006/relationships/slide" Target="slides/slide173.xml"/><Relationship Id="rId285" Type="http://schemas.openxmlformats.org/officeDocument/2006/relationships/slide" Target="slides/slide174.xml"/><Relationship Id="rId286" Type="http://schemas.openxmlformats.org/officeDocument/2006/relationships/slide" Target="slides/slide175.xml"/><Relationship Id="rId287" Type="http://schemas.openxmlformats.org/officeDocument/2006/relationships/slide" Target="slides/slide176.xml"/><Relationship Id="rId288" Type="http://schemas.openxmlformats.org/officeDocument/2006/relationships/slide" Target="slides/slide177.xml"/><Relationship Id="rId289" Type="http://schemas.openxmlformats.org/officeDocument/2006/relationships/slide" Target="slides/slide178.xml"/><Relationship Id="rId290" Type="http://schemas.openxmlformats.org/officeDocument/2006/relationships/slide" Target="slides/slide179.xml"/><Relationship Id="rId291" Type="http://schemas.openxmlformats.org/officeDocument/2006/relationships/slide" Target="slides/slide180.xml"/><Relationship Id="rId292" Type="http://schemas.openxmlformats.org/officeDocument/2006/relationships/slide" Target="slides/slide181.xml"/><Relationship Id="rId293" Type="http://schemas.openxmlformats.org/officeDocument/2006/relationships/slide" Target="slides/slide182.xml"/><Relationship Id="rId294" Type="http://schemas.openxmlformats.org/officeDocument/2006/relationships/slide" Target="slides/slide183.xml"/><Relationship Id="rId295" Type="http://schemas.openxmlformats.org/officeDocument/2006/relationships/slide" Target="slides/slide184.xml"/><Relationship Id="rId296" Type="http://schemas.openxmlformats.org/officeDocument/2006/relationships/slide" Target="slides/slide185.xml"/><Relationship Id="rId297" Type="http://schemas.openxmlformats.org/officeDocument/2006/relationships/slide" Target="slides/slide186.xml"/><Relationship Id="rId298" Type="http://schemas.openxmlformats.org/officeDocument/2006/relationships/slide" Target="slides/slide187.xml"/><Relationship Id="rId299" Type="http://schemas.openxmlformats.org/officeDocument/2006/relationships/slide" Target="slides/slide188.xml"/><Relationship Id="rId300" Type="http://schemas.openxmlformats.org/officeDocument/2006/relationships/slide" Target="slides/slide189.xml"/><Relationship Id="rId301" Type="http://schemas.openxmlformats.org/officeDocument/2006/relationships/slide" Target="slides/slide190.xml"/><Relationship Id="rId302" Type="http://schemas.openxmlformats.org/officeDocument/2006/relationships/slide" Target="slides/slide191.xml"/><Relationship Id="rId303" Type="http://schemas.openxmlformats.org/officeDocument/2006/relationships/slide" Target="slides/slide192.xml"/><Relationship Id="rId304" Type="http://schemas.openxmlformats.org/officeDocument/2006/relationships/slide" Target="slides/slide193.xml"/><Relationship Id="rId305" Type="http://schemas.openxmlformats.org/officeDocument/2006/relationships/slide" Target="slides/slide194.xml"/><Relationship Id="rId306" Type="http://schemas.openxmlformats.org/officeDocument/2006/relationships/slide" Target="slides/slide195.xml"/><Relationship Id="rId307" Type="http://schemas.openxmlformats.org/officeDocument/2006/relationships/slide" Target="slides/slide196.xml"/><Relationship Id="rId308" Type="http://schemas.openxmlformats.org/officeDocument/2006/relationships/slide" Target="slides/slide197.xml"/><Relationship Id="rId309" Type="http://schemas.openxmlformats.org/officeDocument/2006/relationships/slide" Target="slides/slide198.xml"/><Relationship Id="rId310" Type="http://schemas.openxmlformats.org/officeDocument/2006/relationships/slide" Target="slides/slide199.xml"/><Relationship Id="rId311" Type="http://schemas.openxmlformats.org/officeDocument/2006/relationships/slide" Target="slides/slide200.xml"/><Relationship Id="rId312" Type="http://schemas.openxmlformats.org/officeDocument/2006/relationships/slide" Target="slides/slide201.xml"/><Relationship Id="rId313" Type="http://schemas.openxmlformats.org/officeDocument/2006/relationships/slide" Target="slides/slide202.xml"/><Relationship Id="rId314" Type="http://schemas.openxmlformats.org/officeDocument/2006/relationships/slide" Target="slides/slide203.xml"/><Relationship Id="rId315" Type="http://schemas.openxmlformats.org/officeDocument/2006/relationships/slide" Target="slides/slide204.xml"/><Relationship Id="rId316" Type="http://schemas.openxmlformats.org/officeDocument/2006/relationships/slide" Target="slides/slide205.xml"/><Relationship Id="rId317" Type="http://schemas.openxmlformats.org/officeDocument/2006/relationships/slide" Target="slides/slide206.xml"/><Relationship Id="rId318" Type="http://schemas.openxmlformats.org/officeDocument/2006/relationships/slide" Target="slides/slide207.xml"/><Relationship Id="rId319" Type="http://schemas.openxmlformats.org/officeDocument/2006/relationships/slide" Target="slides/slide208.xml"/><Relationship Id="rId320" Type="http://schemas.openxmlformats.org/officeDocument/2006/relationships/slide" Target="slides/slide209.xml"/><Relationship Id="rId321" Type="http://schemas.openxmlformats.org/officeDocument/2006/relationships/slide" Target="slides/slide210.xml"/><Relationship Id="rId322" Type="http://schemas.openxmlformats.org/officeDocument/2006/relationships/slide" Target="slides/slide211.xml"/><Relationship Id="rId323" Type="http://schemas.openxmlformats.org/officeDocument/2006/relationships/slide" Target="slides/slide212.xml"/><Relationship Id="rId324" Type="http://schemas.openxmlformats.org/officeDocument/2006/relationships/slide" Target="slides/slide213.xml"/><Relationship Id="rId325" Type="http://schemas.openxmlformats.org/officeDocument/2006/relationships/slide" Target="slides/slide214.xml"/><Relationship Id="rId326" Type="http://schemas.openxmlformats.org/officeDocument/2006/relationships/slide" Target="slides/slide215.xml"/><Relationship Id="rId327" Type="http://schemas.openxmlformats.org/officeDocument/2006/relationships/slide" Target="slides/slide216.xml"/><Relationship Id="rId328" Type="http://schemas.openxmlformats.org/officeDocument/2006/relationships/slide" Target="slides/slide217.xml"/><Relationship Id="rId329" Type="http://schemas.openxmlformats.org/officeDocument/2006/relationships/slide" Target="slides/slide218.xml"/><Relationship Id="rId330" Type="http://schemas.openxmlformats.org/officeDocument/2006/relationships/slide" Target="slides/slide219.xml"/><Relationship Id="rId331" Type="http://schemas.openxmlformats.org/officeDocument/2006/relationships/slide" Target="slides/slide220.xml"/><Relationship Id="rId332" Type="http://schemas.openxmlformats.org/officeDocument/2006/relationships/slide" Target="slides/slide221.xml"/><Relationship Id="rId333" Type="http://schemas.openxmlformats.org/officeDocument/2006/relationships/slide" Target="slides/slide222.xml"/><Relationship Id="rId334" Type="http://schemas.openxmlformats.org/officeDocument/2006/relationships/slide" Target="slides/slide223.xml"/><Relationship Id="rId335" Type="http://schemas.openxmlformats.org/officeDocument/2006/relationships/slide" Target="slides/slide224.xml"/><Relationship Id="rId336" Type="http://schemas.openxmlformats.org/officeDocument/2006/relationships/slide" Target="slides/slide225.xml"/><Relationship Id="rId337" Type="http://schemas.openxmlformats.org/officeDocument/2006/relationships/slide" Target="slides/slide226.xml"/><Relationship Id="rId338" Type="http://schemas.openxmlformats.org/officeDocument/2006/relationships/slide" Target="slides/slide227.xml"/><Relationship Id="rId339" Type="http://schemas.openxmlformats.org/officeDocument/2006/relationships/slide" Target="slides/slide228.xml"/><Relationship Id="rId340" Type="http://schemas.openxmlformats.org/officeDocument/2006/relationships/slide" Target="slides/slide229.xml"/><Relationship Id="rId341" Type="http://schemas.openxmlformats.org/officeDocument/2006/relationships/slide" Target="slides/slide230.xml"/><Relationship Id="rId342" Type="http://schemas.openxmlformats.org/officeDocument/2006/relationships/slide" Target="slides/slide231.xml"/><Relationship Id="rId343" Type="http://schemas.openxmlformats.org/officeDocument/2006/relationships/slide" Target="slides/slide232.xml"/><Relationship Id="rId344" Type="http://schemas.openxmlformats.org/officeDocument/2006/relationships/slide" Target="slides/slide233.xml"/><Relationship Id="rId345" Type="http://schemas.openxmlformats.org/officeDocument/2006/relationships/slide" Target="slides/slide234.xml"/><Relationship Id="rId346" Type="http://schemas.openxmlformats.org/officeDocument/2006/relationships/slide" Target="slides/slide235.xml"/><Relationship Id="rId347" Type="http://schemas.openxmlformats.org/officeDocument/2006/relationships/slide" Target="slides/slide236.xml"/><Relationship Id="rId348" Type="http://schemas.openxmlformats.org/officeDocument/2006/relationships/slide" Target="slides/slide237.xml"/><Relationship Id="rId349" Type="http://schemas.openxmlformats.org/officeDocument/2006/relationships/slide" Target="slides/slide238.xml"/><Relationship Id="rId350" Type="http://schemas.openxmlformats.org/officeDocument/2006/relationships/slide" Target="slides/slide239.xml"/><Relationship Id="rId351" Type="http://schemas.openxmlformats.org/officeDocument/2006/relationships/slide" Target="slides/slide240.xml"/><Relationship Id="rId352" Type="http://schemas.openxmlformats.org/officeDocument/2006/relationships/slide" Target="slides/slide241.xml"/><Relationship Id="rId353" Type="http://schemas.openxmlformats.org/officeDocument/2006/relationships/slide" Target="slides/slide242.xml"/><Relationship Id="rId354" Type="http://schemas.openxmlformats.org/officeDocument/2006/relationships/slide" Target="slides/slide243.xml"/><Relationship Id="rId355" Type="http://schemas.openxmlformats.org/officeDocument/2006/relationships/slide" Target="slides/slide244.xml"/><Relationship Id="rId356" Type="http://schemas.openxmlformats.org/officeDocument/2006/relationships/slide" Target="slides/slide245.xml"/><Relationship Id="rId357" Type="http://schemas.openxmlformats.org/officeDocument/2006/relationships/slide" Target="slides/slide246.xml"/><Relationship Id="rId358" Type="http://schemas.openxmlformats.org/officeDocument/2006/relationships/slide" Target="slides/slide247.xml"/><Relationship Id="rId359" Type="http://schemas.openxmlformats.org/officeDocument/2006/relationships/slide" Target="slides/slide248.xml"/><Relationship Id="rId360" Type="http://schemas.openxmlformats.org/officeDocument/2006/relationships/slide" Target="slides/slide249.xml"/><Relationship Id="rId361" Type="http://schemas.openxmlformats.org/officeDocument/2006/relationships/slide" Target="slides/slide250.xml"/><Relationship Id="rId362" Type="http://schemas.openxmlformats.org/officeDocument/2006/relationships/slide" Target="slides/slide251.xml"/><Relationship Id="rId363" Type="http://schemas.openxmlformats.org/officeDocument/2006/relationships/slide" Target="slides/slide252.xml"/><Relationship Id="rId364" Type="http://schemas.openxmlformats.org/officeDocument/2006/relationships/slide" Target="slides/slide253.xml"/><Relationship Id="rId365" Type="http://schemas.openxmlformats.org/officeDocument/2006/relationships/slide" Target="slides/slide254.xml"/><Relationship Id="rId366" Type="http://schemas.openxmlformats.org/officeDocument/2006/relationships/slide" Target="slides/slide255.xml"/><Relationship Id="rId367" Type="http://schemas.openxmlformats.org/officeDocument/2006/relationships/slide" Target="slides/slide256.xml"/><Relationship Id="rId368" Type="http://schemas.openxmlformats.org/officeDocument/2006/relationships/slide" Target="slides/slide257.xml"/><Relationship Id="rId369" Type="http://schemas.openxmlformats.org/officeDocument/2006/relationships/slide" Target="slides/slide258.xml"/><Relationship Id="rId370" Type="http://schemas.openxmlformats.org/officeDocument/2006/relationships/slide" Target="slides/slide259.xml"/><Relationship Id="rId371" Type="http://schemas.openxmlformats.org/officeDocument/2006/relationships/slide" Target="slides/slide260.xml"/><Relationship Id="rId372" Type="http://schemas.openxmlformats.org/officeDocument/2006/relationships/slide" Target="slides/slide261.xml"/><Relationship Id="rId373" Type="http://schemas.openxmlformats.org/officeDocument/2006/relationships/slide" Target="slides/slide262.xml"/><Relationship Id="rId374" Type="http://schemas.openxmlformats.org/officeDocument/2006/relationships/slide" Target="slides/slide263.xml"/><Relationship Id="rId375" Type="http://schemas.openxmlformats.org/officeDocument/2006/relationships/slide" Target="slides/slide264.xml"/><Relationship Id="rId376" Type="http://schemas.openxmlformats.org/officeDocument/2006/relationships/slide" Target="slides/slide265.xml"/><Relationship Id="rId377" Type="http://schemas.openxmlformats.org/officeDocument/2006/relationships/slide" Target="slides/slide266.xml"/><Relationship Id="rId378" Type="http://schemas.openxmlformats.org/officeDocument/2006/relationships/slide" Target="slides/slide267.xml"/><Relationship Id="rId379" Type="http://schemas.openxmlformats.org/officeDocument/2006/relationships/slide" Target="slides/slide26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Sheet39.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Sheet40.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Sheet4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Texte (global)</c:v>
                </c:pt>
              </c:strCache>
            </c:strRef>
          </c:tx>
          <c:spPr>
            <a:ln w="28575">
              <a:solidFill>
                <a:srgbClr val="060606"/>
              </a:solidFill>
            </a:ln>
          </c:spPr>
          <c:marker>
            <c:spPr>
              <a:solidFill>
                <a:srgbClr val="060606"/>
              </a:solidFill>
              <a:ln>
                <a:solidFill>
                  <a:srgbClr val="060606"/>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8.92</c:v>
                </c:pt>
                <c:pt idx="1">
                  <c:v>20.77</c:v>
                </c:pt>
                <c:pt idx="2">
                  <c:v>9.06</c:v>
                </c:pt>
                <c:pt idx="3">
                  <c:v>24.56</c:v>
                </c:pt>
                <c:pt idx="4">
                  <c:v>40.34</c:v>
                </c:pt>
                <c:pt idx="5">
                  <c:v>57.48</c:v>
                </c:pt>
                <c:pt idx="6">
                  <c:v>75.2</c:v>
                </c:pt>
              </c:numCache>
            </c:numRef>
          </c:val>
          <c:smooth val="0"/>
        </c:ser>
        <c:ser>
          <c:idx val="1"/>
          <c:order val="1"/>
          <c:tx>
            <c:strRef>
              <c:f>Sheet1!$C$1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12.54</c:v>
                </c:pt>
                <c:pt idx="1">
                  <c:v>6.0</c:v>
                </c:pt>
                <c:pt idx="2">
                  <c:v>6.47</c:v>
                </c:pt>
                <c:pt idx="3">
                  <c:v>26.91</c:v>
                </c:pt>
                <c:pt idx="4">
                  <c:v>48.13</c:v>
                </c:pt>
                <c:pt idx="5">
                  <c:v>73.53</c:v>
                </c:pt>
                <c:pt idx="6">
                  <c:v>97.4</c:v>
                </c:pt>
              </c:numCache>
            </c:numRef>
          </c:val>
          <c:smooth val="0"/>
        </c:ser>
        <c:ser>
          <c:idx val="2"/>
          <c:order val="2"/>
          <c:tx>
            <c:strRef>
              <c:f>Sheet1!$D$1</c:f>
              <c:strCache>
                <c:ptCount val="1"/>
                <c:pt idx="0">
                  <c:v>Décès</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0.56</c:v>
                </c:pt>
                <c:pt idx="1">
                  <c:v>55.42</c:v>
                </c:pt>
                <c:pt idx="2">
                  <c:v>15.21</c:v>
                </c:pt>
                <c:pt idx="3">
                  <c:v>17.05</c:v>
                </c:pt>
                <c:pt idx="4">
                  <c:v>21.81</c:v>
                </c:pt>
                <c:pt idx="5">
                  <c:v>19.16</c:v>
                </c:pt>
                <c:pt idx="6">
                  <c:v>21.76</c:v>
                </c:pt>
              </c:numCache>
            </c:numRef>
          </c:val>
          <c:smooth val="0"/>
        </c:ser>
        <c:ser>
          <c:idx val="3"/>
          <c:order val="3"/>
          <c:tx>
            <c:strRef>
              <c:f>Sheet1!$E$1</c:f>
              <c:strCache>
                <c:ptCount val="1"/>
                <c:pt idx="0">
                  <c:v>Texte sans bons de prise en charge</c:v>
                </c:pt>
              </c:strCache>
            </c:strRef>
          </c:tx>
          <c:spPr>
            <a:ln w="28575">
              <a:solidFill>
                <a:srgbClr val="BBBCBC"/>
              </a:solidFill>
            </a:ln>
          </c:spPr>
          <c:marker>
            <c:spPr>
              <a:solidFill>
                <a:srgbClr val="BBBCBC"/>
              </a:solidFill>
              <a:ln>
                <a:solidFill>
                  <a:srgbClr val="BBBCBC"/>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0.00</c:formatCode>
                <c:ptCount val="7"/>
                <c:pt idx="0">
                  <c:v>8.92</c:v>
                </c:pt>
                <c:pt idx="1">
                  <c:v>20.77</c:v>
                </c:pt>
                <c:pt idx="2">
                  <c:v>8.56</c:v>
                </c:pt>
                <c:pt idx="3">
                  <c:v>23.23</c:v>
                </c:pt>
                <c:pt idx="4">
                  <c:v>38.87</c:v>
                </c:pt>
                <c:pt idx="5">
                  <c:v>56.55</c:v>
                </c:pt>
                <c:pt idx="6">
                  <c:v>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ser>
          <c:idx val="1"/>
          <c:order val="1"/>
          <c:tx>
            <c:strRef>
              <c:f>Sheet1!$C$1</c:f>
              <c:strCache>
                <c:ptCount val="1"/>
                <c:pt idx="0">
                  <c:v>Décès (prime d'assurance incluse en 2020)</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82.23</c:v>
                </c:pt>
                <c:pt idx="1">
                  <c:v>55.42</c:v>
                </c:pt>
                <c:pt idx="2">
                  <c:v>15.21</c:v>
                </c:pt>
                <c:pt idx="3">
                  <c:v>17.05</c:v>
                </c:pt>
                <c:pt idx="4">
                  <c:v>21.81</c:v>
                </c:pt>
                <c:pt idx="5">
                  <c:v>19.16</c:v>
                </c:pt>
                <c:pt idx="6">
                  <c:v>21.76</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1641320172</c:v>
                </c:pt>
                <c:pt idx="1">
                  <c:v>1691332910</c:v>
                </c:pt>
                <c:pt idx="2">
                  <c:v>1781124043</c:v>
                </c:pt>
                <c:pt idx="3">
                  <c:v>1935844374</c:v>
                </c:pt>
                <c:pt idx="4">
                  <c:v>2203312180</c:v>
                </c:pt>
                <c:pt idx="5">
                  <c:v>2409281030</c:v>
                </c:pt>
                <c:pt idx="6">
                  <c:v>1690007290</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703298329</c:v>
                </c:pt>
                <c:pt idx="1">
                  <c:v>725124908</c:v>
                </c:pt>
                <c:pt idx="2">
                  <c:v>763338861</c:v>
                </c:pt>
                <c:pt idx="3">
                  <c:v>829647591</c:v>
                </c:pt>
                <c:pt idx="4">
                  <c:v>934555069</c:v>
                </c:pt>
                <c:pt idx="5">
                  <c:v>1008270692</c:v>
                </c:pt>
                <c:pt idx="6">
                  <c:v>702190056</c:v>
                </c:pt>
              </c:numCache>
            </c:numRef>
          </c:val>
        </c:ser>
        <c:dLbls>
          <c:numFmt formatCode="# ##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Nominales</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 ##0,,</c:formatCode>
                <c:ptCount val="6"/>
                <c:pt idx="0">
                  <c:v>2344618501</c:v>
                </c:pt>
                <c:pt idx="1">
                  <c:v>2416457818</c:v>
                </c:pt>
                <c:pt idx="2">
                  <c:v>2544462904</c:v>
                </c:pt>
                <c:pt idx="3">
                  <c:v>2765491965</c:v>
                </c:pt>
                <c:pt idx="4">
                  <c:v>3137867249</c:v>
                </c:pt>
                <c:pt idx="5">
                  <c:v>3417551722</c:v>
                </c:pt>
              </c:numCache>
            </c:numRef>
          </c:val>
          <c:smooth val="0"/>
        </c:ser>
        <c:ser>
          <c:idx val="1"/>
          <c:order val="1"/>
          <c:tx>
            <c:strRef>
              <c:f>Sheet1!$C$1</c:f>
              <c:strCache>
                <c:ptCount val="1"/>
                <c:pt idx="0">
                  <c:v>Réelles (francs de 2020)</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 ##0,,</c:formatCode>
                <c:ptCount val="6"/>
                <c:pt idx="0">
                  <c:v>2344618501</c:v>
                </c:pt>
                <c:pt idx="1">
                  <c:v>2319965877</c:v>
                </c:pt>
                <c:pt idx="2">
                  <c:v>2321370010</c:v>
                </c:pt>
                <c:pt idx="3">
                  <c:v>2417386641</c:v>
                </c:pt>
                <c:pt idx="4">
                  <c:v>2651401893</c:v>
                </c:pt>
                <c:pt idx="5">
                  <c:v>2884120453</c:v>
                </c:pt>
              </c:numCache>
            </c:numRef>
          </c:val>
          <c:smooth val="0"/>
        </c:ser>
        <c:dLbls>
          <c:numFmt formatCode="# ##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 ##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 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2025</c:v>
                </c:pt>
              </c:strCache>
            </c:strRef>
          </c:tx>
          <c:spPr>
            <a:solidFill>
              <a:srgbClr val="112A40"/>
            </a:solidFill>
          </c:spPr>
          <c:cat>
            <c:strRef>
              <c:f>Sheet1!$A$2:$A$7</c:f>
              <c:strCache>
                <c:ptCount val="6"/>
                <c:pt idx="0">
                  <c:v>Cotisations maladie</c:v>
                </c:pt>
                <c:pt idx="1">
                  <c:v>Cotisations décès</c:v>
                </c:pt>
                <c:pt idx="2">
                  <c:v>Prestations maladie</c:v>
                </c:pt>
                <c:pt idx="3">
                  <c:v>Prestations décès</c:v>
                </c:pt>
                <c:pt idx="4">
                  <c:v>Frais de gestion</c:v>
                </c:pt>
                <c:pt idx="5">
                  <c:v>Résultat</c:v>
                </c:pt>
              </c:strCache>
            </c:strRef>
          </c:cat>
          <c:val>
            <c:numRef>
              <c:f>Sheet1!$B$2:$B$7</c:f>
              <c:numCache>
                <c:formatCode># ##0,,</c:formatCode>
                <c:ptCount val="6"/>
                <c:pt idx="0">
                  <c:v>2409281030</c:v>
                </c:pt>
                <c:pt idx="1">
                  <c:v>1008270692</c:v>
                </c:pt>
                <c:pt idx="2">
                  <c:v>1771635361</c:v>
                </c:pt>
                <c:pt idx="3">
                  <c:v>193136666</c:v>
                </c:pt>
                <c:pt idx="4">
                  <c:v>1101350021</c:v>
                </c:pt>
                <c:pt idx="5">
                  <c:v>437899911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Mois reçus</c:v>
                </c:pt>
              </c:strCache>
            </c:strRef>
          </c:tx>
          <c:spPr>
            <a:solidFill>
              <a:srgbClr val="112A40"/>
            </a:solidFill>
          </c:spPr>
          <c:cat>
            <c:strRef>
              <c:f>Sheet1!$A$2:$A$11</c:f>
              <c:strCache>
                <c:ptCount val="10"/>
                <c:pt idx="0">
                  <c:v>Prestations décès et santé</c:v>
                </c:pt>
                <c:pt idx="1">
                  <c:v>MEDOC 8Z7 retour</c:v>
                </c:pt>
                <c:pt idx="2">
                  <c:v>Décès 8Z6</c:v>
                </c:pt>
                <c:pt idx="3">
                  <c:v>Retraités CGRAE retour</c:v>
                </c:pt>
                <c:pt idx="4">
                  <c:v>Maladie 936</c:v>
                </c:pt>
                <c:pt idx="5">
                  <c:v>Flotte 9W3 retour</c:v>
                </c:pt>
                <c:pt idx="6">
                  <c:v>Grenier 9X4 retour</c:v>
                </c:pt>
                <c:pt idx="7">
                  <c:v>EFC 870 retour</c:v>
                </c:pt>
                <c:pt idx="8">
                  <c:v>PEP 998 retour</c:v>
                </c:pt>
                <c:pt idx="9">
                  <c:v>Comptabilité (balances)</c:v>
                </c:pt>
              </c:strCache>
            </c:strRef>
          </c:cat>
          <c:val>
            <c:numRef>
              <c:f>Sheet1!$B$2:$B$11</c:f>
              <c:numCache>
                <c:formatCode>0</c:formatCode>
                <c:ptCount val="10"/>
                <c:pt idx="0">
                  <c:v>0</c:v>
                </c:pt>
                <c:pt idx="1">
                  <c:v>6</c:v>
                </c:pt>
                <c:pt idx="2">
                  <c:v>24</c:v>
                </c:pt>
                <c:pt idx="3">
                  <c:v>30</c:v>
                </c:pt>
                <c:pt idx="4">
                  <c:v>31</c:v>
                </c:pt>
                <c:pt idx="5">
                  <c:v>37</c:v>
                </c:pt>
                <c:pt idx="6">
                  <c:v>43</c:v>
                </c:pt>
                <c:pt idx="7">
                  <c:v>43</c:v>
                </c:pt>
                <c:pt idx="8">
                  <c:v>80</c:v>
                </c:pt>
                <c:pt idx="9">
                  <c:v>80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moyen</c:v>
                </c:pt>
              </c:strCache>
            </c:strRef>
          </c:tx>
          <c:spPr>
            <a:solidFill>
              <a:srgbClr val="112A40"/>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Sheet1!$B$2:$B$7</c:f>
              <c:numCache>
                <c:formatCode>0.00</c:formatCode>
                <c:ptCount val="6"/>
                <c:pt idx="0">
                  <c:v>97.58</c:v>
                </c:pt>
                <c:pt idx="1">
                  <c:v>97.73</c:v>
                </c:pt>
                <c:pt idx="2">
                  <c:v>98.15</c:v>
                </c:pt>
                <c:pt idx="3">
                  <c:v>98.86</c:v>
                </c:pt>
                <c:pt idx="4">
                  <c:v>100.19</c:v>
                </c:pt>
                <c:pt idx="5">
                  <c:v>97.41</c:v>
                </c:pt>
              </c:numCache>
            </c:numRef>
          </c:val>
        </c:ser>
        <c:ser>
          <c:idx val="1"/>
          <c:order val="1"/>
          <c:tx>
            <c:strRef>
              <c:f>Sheet1!$C$1</c:f>
              <c:strCache>
                <c:ptCount val="1"/>
                <c:pt idx="0">
                  <c:v>Mois le plus bas</c:v>
                </c:pt>
              </c:strCache>
            </c:strRef>
          </c:tx>
          <c:spPr>
            <a:solidFill>
              <a:srgbClr val="EFAC62"/>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Sheet1!$C$2:$C$7</c:f>
              <c:numCache>
                <c:formatCode>0.00</c:formatCode>
                <c:ptCount val="6"/>
                <c:pt idx="0">
                  <c:v>95.97</c:v>
                </c:pt>
                <c:pt idx="1">
                  <c:v>76.96</c:v>
                </c:pt>
                <c:pt idx="2">
                  <c:v>69.19</c:v>
                </c:pt>
                <c:pt idx="3">
                  <c:v>82.2</c:v>
                </c:pt>
                <c:pt idx="4">
                  <c:v>96.62</c:v>
                </c:pt>
                <c:pt idx="5">
                  <c:v>96.64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Cotisants</c:v>
                </c:pt>
              </c:strCache>
            </c:strRef>
          </c:tx>
          <c:spPr>
            <a:ln w="28575">
              <a:solidFill>
                <a:srgbClr val="112A40"/>
              </a:solidFill>
            </a:ln>
          </c:spPr>
          <c:marker>
            <c:spPr>
              <a:solidFill>
                <a:srgbClr val="112A40"/>
              </a:solidFill>
              <a:ln>
                <a:solidFill>
                  <a:srgbClr val="112A40"/>
                </a:solidFill>
              </a:ln>
            </c:spPr>
          </c:marker>
          <c:cat>
            <c:strRef>
              <c:f>Sheet1!$A$2:$A$33</c:f>
              <c:strCache>
                <c:ptCount val="32"/>
                <c:pt idx="0">
                  <c:v>janv. 24</c:v>
                </c:pt>
                <c:pt idx="1">
                  <c:v>févr. 24</c:v>
                </c:pt>
                <c:pt idx="2">
                  <c:v>mars 24</c:v>
                </c:pt>
                <c:pt idx="3">
                  <c:v>avr. 24</c:v>
                </c:pt>
                <c:pt idx="4">
                  <c:v>mai 24</c:v>
                </c:pt>
                <c:pt idx="5">
                  <c:v>juin 24</c:v>
                </c:pt>
                <c:pt idx="6">
                  <c:v>juil. 24</c:v>
                </c:pt>
                <c:pt idx="7">
                  <c:v>août 24</c:v>
                </c:pt>
                <c:pt idx="8">
                  <c:v>sept. 24</c:v>
                </c:pt>
                <c:pt idx="9">
                  <c:v>oct. 24</c:v>
                </c:pt>
                <c:pt idx="10">
                  <c:v>nov. 24</c:v>
                </c:pt>
                <c:pt idx="11">
                  <c:v>déc. 24</c:v>
                </c:pt>
                <c:pt idx="12">
                  <c:v>janv. 25</c:v>
                </c:pt>
                <c:pt idx="13">
                  <c:v>févr. 25</c:v>
                </c:pt>
                <c:pt idx="14">
                  <c:v>mars 25</c:v>
                </c:pt>
                <c:pt idx="15">
                  <c:v>avr. 25</c:v>
                </c:pt>
                <c:pt idx="16">
                  <c:v>mai 25</c:v>
                </c:pt>
                <c:pt idx="17">
                  <c:v>juin 25</c:v>
                </c:pt>
                <c:pt idx="18">
                  <c:v>juil. 25</c:v>
                </c:pt>
                <c:pt idx="19">
                  <c:v>août 25</c:v>
                </c:pt>
                <c:pt idx="20">
                  <c:v>sept. 25</c:v>
                </c:pt>
                <c:pt idx="21">
                  <c:v>oct. 25</c:v>
                </c:pt>
                <c:pt idx="22">
                  <c:v>nov. 25</c:v>
                </c:pt>
                <c:pt idx="23">
                  <c:v>déc. 25</c:v>
                </c:pt>
                <c:pt idx="24">
                  <c:v>janv. 26</c:v>
                </c:pt>
                <c:pt idx="25">
                  <c:v>févr. 26</c:v>
                </c:pt>
                <c:pt idx="26">
                  <c:v>mars 26</c:v>
                </c:pt>
                <c:pt idx="27">
                  <c:v>avr. 26</c:v>
                </c:pt>
                <c:pt idx="28">
                  <c:v>mai 26</c:v>
                </c:pt>
                <c:pt idx="29">
                  <c:v>juin 26</c:v>
                </c:pt>
                <c:pt idx="30">
                  <c:v>juil. 26</c:v>
                </c:pt>
                <c:pt idx="31">
                  <c:v>août 26</c:v>
                </c:pt>
              </c:strCache>
            </c:strRef>
          </c:cat>
          <c:val>
            <c:numRef>
              <c:f>Sheet1!$B$2:$B$33</c:f>
              <c:numCache>
                <c:formatCode># ##0</c:formatCode>
                <c:ptCount val="32"/>
                <c:pt idx="0">
                  <c:v>23119.0</c:v>
                </c:pt>
                <c:pt idx="1">
                  <c:v>23129.0</c:v>
                </c:pt>
                <c:pt idx="2">
                  <c:v>23123.0</c:v>
                </c:pt>
                <c:pt idx="3">
                  <c:v>23126.0</c:v>
                </c:pt>
                <c:pt idx="4">
                  <c:v>23416.0</c:v>
                </c:pt>
                <c:pt idx="5">
                  <c:v>23411.0</c:v>
                </c:pt>
                <c:pt idx="6">
                  <c:v>27698.0</c:v>
                </c:pt>
                <c:pt idx="7">
                  <c:v>27682.0</c:v>
                </c:pt>
                <c:pt idx="8">
                  <c:v>27670.0</c:v>
                </c:pt>
                <c:pt idx="9">
                  <c:v>28168.0</c:v>
                </c:pt>
                <c:pt idx="10">
                  <c:v>27606.0</c:v>
                </c:pt>
                <c:pt idx="12">
                  <c:v>27866.0</c:v>
                </c:pt>
                <c:pt idx="13">
                  <c:v>27858.0</c:v>
                </c:pt>
                <c:pt idx="14">
                  <c:v>27851.0</c:v>
                </c:pt>
                <c:pt idx="15">
                  <c:v>27758.0</c:v>
                </c:pt>
                <c:pt idx="16">
                  <c:v>27702.0</c:v>
                </c:pt>
                <c:pt idx="17">
                  <c:v>27642.0</c:v>
                </c:pt>
                <c:pt idx="18">
                  <c:v>31724.0</c:v>
                </c:pt>
                <c:pt idx="19">
                  <c:v>31716.0</c:v>
                </c:pt>
                <c:pt idx="20">
                  <c:v>31683.0</c:v>
                </c:pt>
                <c:pt idx="21">
                  <c:v>31683.0</c:v>
                </c:pt>
                <c:pt idx="22">
                  <c:v>31647.0</c:v>
                </c:pt>
                <c:pt idx="23">
                  <c:v>31676.0</c:v>
                </c:pt>
                <c:pt idx="24">
                  <c:v>31269.0</c:v>
                </c:pt>
                <c:pt idx="25">
                  <c:v>31260.0</c:v>
                </c:pt>
                <c:pt idx="26">
                  <c:v>31248.0</c:v>
                </c:pt>
                <c:pt idx="27">
                  <c:v>31238.0</c:v>
                </c:pt>
                <c:pt idx="28">
                  <c:v>31242.0</c:v>
                </c:pt>
                <c:pt idx="29">
                  <c:v>31232.0</c:v>
                </c:pt>
                <c:pt idx="30">
                  <c:v>31221.0</c:v>
                </c:pt>
                <c:pt idx="31">
                  <c:v>31198.0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min val="20000.0"/>
        </c:scaling>
        <c:delete val="0"/>
        <c:axPos val="l"/>
        <c:numFmt formatCode="# ##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Entrées</c:v>
                </c:pt>
              </c:strCache>
            </c:strRef>
          </c:tx>
          <c:spPr>
            <a:solidFill>
              <a:srgbClr val="112A40"/>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Sheet1!$B$2:$B$30</c:f>
              <c:numCache>
                <c:formatCode># ##0</c:formatCode>
                <c:ptCount val="29"/>
                <c:pt idx="0">
                  <c:v>26</c:v>
                </c:pt>
                <c:pt idx="1">
                  <c:v>4</c:v>
                </c:pt>
                <c:pt idx="2">
                  <c:v>17</c:v>
                </c:pt>
                <c:pt idx="3">
                  <c:v>640</c:v>
                </c:pt>
                <c:pt idx="4">
                  <c:v>3</c:v>
                </c:pt>
                <c:pt idx="5">
                  <c:v>4926</c:v>
                </c:pt>
                <c:pt idx="6">
                  <c:v>4</c:v>
                </c:pt>
                <c:pt idx="7">
                  <c:v>3</c:v>
                </c:pt>
                <c:pt idx="8">
                  <c:v>583</c:v>
                </c:pt>
                <c:pt idx="9">
                  <c:v>34</c:v>
                </c:pt>
                <c:pt idx="10">
                  <c:v>4</c:v>
                </c:pt>
                <c:pt idx="11">
                  <c:v>5</c:v>
                </c:pt>
                <c:pt idx="12">
                  <c:v>8</c:v>
                </c:pt>
                <c:pt idx="13">
                  <c:v>2</c:v>
                </c:pt>
                <c:pt idx="14">
                  <c:v>4</c:v>
                </c:pt>
                <c:pt idx="15">
                  <c:v>4127</c:v>
                </c:pt>
                <c:pt idx="16">
                  <c:v>13</c:v>
                </c:pt>
                <c:pt idx="17">
                  <c:v>9</c:v>
                </c:pt>
                <c:pt idx="18">
                  <c:v>33</c:v>
                </c:pt>
                <c:pt idx="19">
                  <c:v>19</c:v>
                </c:pt>
                <c:pt idx="20">
                  <c:v>50</c:v>
                </c:pt>
                <c:pt idx="21">
                  <c:v>35</c:v>
                </c:pt>
                <c:pt idx="22">
                  <c:v>9</c:v>
                </c:pt>
                <c:pt idx="23">
                  <c:v>1</c:v>
                </c:pt>
                <c:pt idx="24">
                  <c:v>14</c:v>
                </c:pt>
                <c:pt idx="25">
                  <c:v>22</c:v>
                </c:pt>
                <c:pt idx="26">
                  <c:v>10</c:v>
                </c:pt>
                <c:pt idx="27">
                  <c:v>7</c:v>
                </c:pt>
                <c:pt idx="28">
                  <c:v>1</c:v>
                </c:pt>
              </c:numCache>
            </c:numRef>
          </c:val>
        </c:ser>
        <c:ser>
          <c:idx val="1"/>
          <c:order val="1"/>
          <c:tx>
            <c:strRef>
              <c:f>Sheet1!$C$1</c:f>
              <c:strCache>
                <c:ptCount val="1"/>
                <c:pt idx="0">
                  <c:v>Sorties</c:v>
                </c:pt>
              </c:strCache>
            </c:strRef>
          </c:tx>
          <c:spPr>
            <a:solidFill>
              <a:srgbClr val="EFAC62"/>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Sheet1!$C$2:$C$30</c:f>
              <c:numCache>
                <c:formatCode># ##0</c:formatCode>
                <c:ptCount val="29"/>
                <c:pt idx="0">
                  <c:v>16</c:v>
                </c:pt>
                <c:pt idx="1">
                  <c:v>10</c:v>
                </c:pt>
                <c:pt idx="2">
                  <c:v>14</c:v>
                </c:pt>
                <c:pt idx="3">
                  <c:v>350</c:v>
                </c:pt>
                <c:pt idx="4">
                  <c:v>8</c:v>
                </c:pt>
                <c:pt idx="5">
                  <c:v>639</c:v>
                </c:pt>
                <c:pt idx="6">
                  <c:v>20</c:v>
                </c:pt>
                <c:pt idx="7">
                  <c:v>15</c:v>
                </c:pt>
                <c:pt idx="8">
                  <c:v>85</c:v>
                </c:pt>
                <c:pt idx="9">
                  <c:v>596</c:v>
                </c:pt>
                <c:pt idx="10">
                  <c:v>12</c:v>
                </c:pt>
                <c:pt idx="11">
                  <c:v>12</c:v>
                </c:pt>
                <c:pt idx="12">
                  <c:v>101</c:v>
                </c:pt>
                <c:pt idx="13">
                  <c:v>58</c:v>
                </c:pt>
                <c:pt idx="14">
                  <c:v>64</c:v>
                </c:pt>
                <c:pt idx="15">
                  <c:v>45</c:v>
                </c:pt>
                <c:pt idx="16">
                  <c:v>21</c:v>
                </c:pt>
                <c:pt idx="17">
                  <c:v>42</c:v>
                </c:pt>
                <c:pt idx="18">
                  <c:v>33</c:v>
                </c:pt>
                <c:pt idx="19">
                  <c:v>55</c:v>
                </c:pt>
                <c:pt idx="20">
                  <c:v>21</c:v>
                </c:pt>
                <c:pt idx="21">
                  <c:v>442</c:v>
                </c:pt>
                <c:pt idx="22">
                  <c:v>18</c:v>
                </c:pt>
                <c:pt idx="23">
                  <c:v>13</c:v>
                </c:pt>
                <c:pt idx="24">
                  <c:v>24</c:v>
                </c:pt>
                <c:pt idx="25">
                  <c:v>18</c:v>
                </c:pt>
                <c:pt idx="26">
                  <c:v>20</c:v>
                </c:pt>
                <c:pt idx="27">
                  <c:v>18</c:v>
                </c:pt>
                <c:pt idx="28">
                  <c:v>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Agents</c:v>
                </c:pt>
              </c:strCache>
            </c:strRef>
          </c:tx>
          <c:spPr>
            <a:solidFill>
              <a:srgbClr val="112A40"/>
            </a:solidFill>
          </c:spPr>
          <c:cat>
            <c:strRef>
              <c:f>Sheet1!$A$2:$A$9</c:f>
              <c:strCache>
                <c:ptCount val="8"/>
                <c:pt idx="0">
                  <c:v>0-5 ans</c:v>
                </c:pt>
                <c:pt idx="1">
                  <c:v>5-10</c:v>
                </c:pt>
                <c:pt idx="2">
                  <c:v>10-15</c:v>
                </c:pt>
                <c:pt idx="3">
                  <c:v>15-20</c:v>
                </c:pt>
                <c:pt idx="4">
                  <c:v>20-25</c:v>
                </c:pt>
                <c:pt idx="5">
                  <c:v>25-30</c:v>
                </c:pt>
                <c:pt idx="6">
                  <c:v>30-35</c:v>
                </c:pt>
                <c:pt idx="7">
                  <c:v>35 ans et +</c:v>
                </c:pt>
              </c:strCache>
            </c:strRef>
          </c:cat>
          <c:val>
            <c:numRef>
              <c:f>Sheet1!$B$2:$B$9</c:f>
              <c:numCache>
                <c:formatCode># ##0</c:formatCode>
                <c:ptCount val="8"/>
                <c:pt idx="0">
                  <c:v>11103</c:v>
                </c:pt>
                <c:pt idx="1">
                  <c:v>4735</c:v>
                </c:pt>
                <c:pt idx="2">
                  <c:v>1496</c:v>
                </c:pt>
                <c:pt idx="3">
                  <c:v>4585</c:v>
                </c:pt>
                <c:pt idx="4">
                  <c:v>3998</c:v>
                </c:pt>
                <c:pt idx="5">
                  <c:v>1817</c:v>
                </c:pt>
                <c:pt idx="6">
                  <c:v>139</c:v>
                </c:pt>
                <c:pt idx="7">
                  <c:v>2</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Sheet1!$A$2:$A$4</c:f>
              <c:strCache>
                <c:ptCount val="3"/>
                <c:pt idx="0">
                  <c:v>Barème indiqué en entretien</c:v>
                </c:pt>
                <c:pt idx="1">
                  <c:v>Précompte Solde</c:v>
                </c:pt>
                <c:pt idx="2">
                  <c:v>Comptabilité 2025</c:v>
                </c:pt>
              </c:strCache>
            </c:strRef>
          </c:cat>
          <c:val>
            <c:numRef>
              <c:f>Sheet1!$B$2:$B$4</c:f>
              <c:numCache>
                <c:formatCode>0.00</c:formatCode>
                <c:ptCount val="3"/>
                <c:pt idx="0">
                  <c:v>3.5</c:v>
                </c:pt>
                <c:pt idx="1">
                  <c:v>3.77</c:v>
                </c:pt>
                <c:pt idx="2">
                  <c:v>3.52</c:v>
                </c:pt>
              </c:numCache>
            </c:numRef>
          </c:val>
        </c:ser>
        <c:ser>
          <c:idx val="1"/>
          <c:order val="1"/>
          <c:tx>
            <c:strRef>
              <c:f>Sheet1!$C$1</c:f>
              <c:strCache>
                <c:ptCount val="1"/>
                <c:pt idx="0">
                  <c:v>Décès</c:v>
                </c:pt>
              </c:strCache>
            </c:strRef>
          </c:tx>
          <c:spPr>
            <a:solidFill>
              <a:srgbClr val="EFAC62"/>
            </a:solidFill>
          </c:spPr>
          <c:cat>
            <c:strRef>
              <c:f>Sheet1!$A$2:$A$4</c:f>
              <c:strCache>
                <c:ptCount val="3"/>
                <c:pt idx="0">
                  <c:v>Barème indiqué en entretien</c:v>
                </c:pt>
                <c:pt idx="1">
                  <c:v>Précompte Solde</c:v>
                </c:pt>
                <c:pt idx="2">
                  <c:v>Comptabilité 2025</c:v>
                </c:pt>
              </c:strCache>
            </c:strRef>
          </c:cat>
          <c:val>
            <c:numRef>
              <c:f>Sheet1!$C$2:$C$4</c:f>
              <c:numCache>
                <c:formatCode>0.00</c:formatCode>
                <c:ptCount val="3"/>
                <c:pt idx="0">
                  <c:v>1.5</c:v>
                </c:pt>
                <c:pt idx="1">
                  <c:v>1.23</c:v>
                </c:pt>
                <c:pt idx="2">
                  <c:v>1.48</c:v>
                </c:pt>
              </c:numCache>
            </c:numRef>
          </c:val>
        </c:ser>
        <c:dLbls>
          <c:numFmt formatCode="0.0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 maladie</c:v>
                </c:pt>
              </c:strCache>
            </c:strRef>
          </c:tx>
          <c:spPr>
            <a:solidFill>
              <a:srgbClr val="112A40"/>
            </a:solidFill>
          </c:spPr>
          <c:cat>
            <c:strRef>
              <c:f>Sheet1!$A$2:$A$4</c:f>
              <c:strCache>
                <c:ptCount val="3"/>
                <c:pt idx="0">
                  <c:v>Clé comptable</c:v>
                </c:pt>
                <c:pt idx="1">
                  <c:v>Clé de la Solde (3,77 / 1,23)</c:v>
                </c:pt>
                <c:pt idx="2">
                  <c:v>Barème des statuts (3,5 / 1,5)</c:v>
                </c:pt>
              </c:strCache>
            </c:strRef>
          </c:cat>
          <c:val>
            <c:numRef>
              <c:f>Sheet1!$B$2:$B$4</c:f>
              <c:numCache>
                <c:formatCode>0.00</c:formatCode>
                <c:ptCount val="3"/>
                <c:pt idx="0">
                  <c:v>73.53</c:v>
                </c:pt>
                <c:pt idx="1">
                  <c:v>68.75</c:v>
                </c:pt>
                <c:pt idx="2">
                  <c:v>74.06</c:v>
                </c:pt>
              </c:numCache>
            </c:numRef>
          </c:val>
        </c:ser>
        <c:ser>
          <c:idx val="1"/>
          <c:order val="1"/>
          <c:tx>
            <c:strRef>
              <c:f>Sheet1!$C$1</c:f>
              <c:strCache>
                <c:ptCount val="1"/>
                <c:pt idx="0">
                  <c:v>S/C décès</c:v>
                </c:pt>
              </c:strCache>
            </c:strRef>
          </c:tx>
          <c:spPr>
            <a:solidFill>
              <a:srgbClr val="EFAC62"/>
            </a:solidFill>
          </c:spPr>
          <c:cat>
            <c:strRef>
              <c:f>Sheet1!$A$2:$A$4</c:f>
              <c:strCache>
                <c:ptCount val="3"/>
                <c:pt idx="0">
                  <c:v>Clé comptable</c:v>
                </c:pt>
                <c:pt idx="1">
                  <c:v>Clé de la Solde (3,77 / 1,23)</c:v>
                </c:pt>
                <c:pt idx="2">
                  <c:v>Barème des statuts (3,5 / 1,5)</c:v>
                </c:pt>
              </c:strCache>
            </c:strRef>
          </c:cat>
          <c:val>
            <c:numRef>
              <c:f>Sheet1!$C$2:$C$4</c:f>
              <c:numCache>
                <c:formatCode>0.00</c:formatCode>
                <c:ptCount val="3"/>
                <c:pt idx="0">
                  <c:v>19.16</c:v>
                </c:pt>
                <c:pt idx="1">
                  <c:v>22.97</c:v>
                </c:pt>
                <c:pt idx="2">
                  <c:v>18.84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021A-48FF-9FB3-982F078F5DD6}"/>
              </c:ext>
            </c:extLst>
          </c:dPt>
          <c:dPt>
            <c:idx val="1"/>
            <c:bubble3D val="0"/>
            <c:spPr>
              <a:solidFill>
                <a:srgbClr val="112A40"/>
              </a:solidFill>
              <a:ln w="19050">
                <a:noFill/>
              </a:ln>
              <a:effectLst/>
            </c:spPr>
            <c:extLst>
              <c:ext xmlns:c16="http://schemas.microsoft.com/office/drawing/2014/chart" uri="{C3380CC4-5D6E-409C-BE32-E72D297353CC}">
                <c16:uniqueId val="{00000003-021A-48FF-9FB3-982F078F5DD6}"/>
              </c:ext>
            </c:extLst>
          </c:dPt>
          <c:cat>
            <c:strRef>
              <c:f>Sheet1!$A$2:$A$3</c:f>
              <c:strCache>
                <c:ptCount val="2"/>
                <c:pt idx="0">
                  <c:v>Valeur</c:v>
                </c:pt>
                <c:pt idx="1">
                  <c:v>Reste</c:v>
                </c:pt>
              </c:strCache>
            </c:strRef>
          </c:cat>
          <c:val>
            <c:numRef>
              <c:f>Sheet1!$B$2:$B$3</c:f>
              <c:numCache>
                <c:formatCode>General</c:formatCode>
                <c:ptCount val="2"/>
                <c:pt idx="0">
                  <c:v>73.53</c:v>
                </c:pt>
                <c:pt idx="1">
                  <c:v>26.47</c:v>
                </c:pt>
              </c:numCache>
            </c:numRef>
          </c:val>
          <c:extLst>
            <c:ext xmlns:c16="http://schemas.microsoft.com/office/drawing/2014/chart" uri="{C3380CC4-5D6E-409C-BE32-E72D297353CC}">
              <c16:uniqueId val="{00000004-021A-48FF-9FB3-982F078F5D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06D-4F64-BD6B-61C00E14F388}"/>
              </c:ext>
            </c:extLst>
          </c:dPt>
          <c:dPt>
            <c:idx val="1"/>
            <c:bubble3D val="0"/>
            <c:spPr>
              <a:solidFill>
                <a:srgbClr val="112A40"/>
              </a:solidFill>
              <a:ln w="19050">
                <a:noFill/>
              </a:ln>
              <a:effectLst/>
            </c:spPr>
            <c:extLst>
              <c:ext xmlns:c16="http://schemas.microsoft.com/office/drawing/2014/chart" uri="{C3380CC4-5D6E-409C-BE32-E72D297353CC}">
                <c16:uniqueId val="{00000003-706D-4F64-BD6B-61C00E14F388}"/>
              </c:ext>
            </c:extLst>
          </c:dPt>
          <c:cat>
            <c:strRef>
              <c:f>Sheet1!$A$2:$A$3</c:f>
              <c:strCache>
                <c:ptCount val="2"/>
                <c:pt idx="0">
                  <c:v>Valeur</c:v>
                </c:pt>
                <c:pt idx="1">
                  <c:v>Reste</c:v>
                </c:pt>
              </c:strCache>
            </c:strRef>
          </c:cat>
          <c:val>
            <c:numRef>
              <c:f>Sheet1!$B$2:$B$3</c:f>
              <c:numCache>
                <c:formatCode>General</c:formatCode>
                <c:ptCount val="2"/>
                <c:pt idx="0">
                  <c:v>16.28</c:v>
                </c:pt>
                <c:pt idx="1">
                  <c:v>83.72</c:v>
                </c:pt>
              </c:numCache>
            </c:numRef>
          </c:val>
          <c:extLst>
            <c:ext xmlns:c16="http://schemas.microsoft.com/office/drawing/2014/chart" uri="{C3380CC4-5D6E-409C-BE32-E72D297353CC}">
              <c16:uniqueId val="{00000004-706D-4F64-BD6B-61C00E14F38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50D-4441-85D1-EEC67D758551}"/>
              </c:ext>
            </c:extLst>
          </c:dPt>
          <c:dPt>
            <c:idx val="1"/>
            <c:bubble3D val="0"/>
            <c:spPr>
              <a:solidFill>
                <a:srgbClr val="112A40"/>
              </a:solidFill>
              <a:ln w="19050">
                <a:noFill/>
              </a:ln>
              <a:effectLst/>
            </c:spPr>
            <c:extLst>
              <c:ext xmlns:c16="http://schemas.microsoft.com/office/drawing/2014/chart" uri="{C3380CC4-5D6E-409C-BE32-E72D297353CC}">
                <c16:uniqueId val="{00000003-750D-4441-85D1-EEC67D758551}"/>
              </c:ext>
            </c:extLst>
          </c:dPt>
          <c:cat>
            <c:strRef>
              <c:f>Sheet1!$A$2:$A$3</c:f>
              <c:strCache>
                <c:ptCount val="2"/>
                <c:pt idx="0">
                  <c:v>Valeur</c:v>
                </c:pt>
                <c:pt idx="1">
                  <c:v>Reste</c:v>
                </c:pt>
              </c:strCache>
            </c:strRef>
          </c:cat>
          <c:val>
            <c:numRef>
              <c:f>Sheet1!$B$2:$B$3</c:f>
              <c:numCache>
                <c:formatCode>General</c:formatCode>
                <c:ptCount val="2"/>
                <c:pt idx="0">
                  <c:v>5.07</c:v>
                </c:pt>
                <c:pt idx="1">
                  <c:v>94.93</c:v>
                </c:pt>
              </c:numCache>
            </c:numRef>
          </c:val>
          <c:extLst>
            <c:ext xmlns:c16="http://schemas.microsoft.com/office/drawing/2014/chart" uri="{C3380CC4-5D6E-409C-BE32-E72D297353CC}">
              <c16:uniqueId val="{00000004-750D-4441-85D1-EEC67D7585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82E9-4DDD-8BC6-295B0F874A85}"/>
              </c:ext>
            </c:extLst>
          </c:dPt>
          <c:dPt>
            <c:idx val="1"/>
            <c:bubble3D val="0"/>
            <c:spPr>
              <a:solidFill>
                <a:srgbClr val="112A40"/>
              </a:solidFill>
              <a:ln w="19050">
                <a:noFill/>
              </a:ln>
              <a:effectLst/>
            </c:spPr>
            <c:extLst>
              <c:ext xmlns:c16="http://schemas.microsoft.com/office/drawing/2014/chart" uri="{C3380CC4-5D6E-409C-BE32-E72D297353CC}">
                <c16:uniqueId val="{00000003-82E9-4DDD-8BC6-295B0F874A85}"/>
              </c:ext>
            </c:extLst>
          </c:dPt>
          <c:cat>
            <c:strRef>
              <c:f>Sheet1!$A$2:$A$3</c:f>
              <c:strCache>
                <c:ptCount val="2"/>
                <c:pt idx="0">
                  <c:v>Valeur</c:v>
                </c:pt>
                <c:pt idx="1">
                  <c:v>Reste</c:v>
                </c:pt>
              </c:strCache>
            </c:strRef>
          </c:cat>
          <c:val>
            <c:numRef>
              <c:f>Sheet1!$B$2:$B$3</c:f>
              <c:numCache>
                <c:formatCode>General</c:formatCode>
                <c:ptCount val="2"/>
                <c:pt idx="0">
                  <c:v>21.34</c:v>
                </c:pt>
                <c:pt idx="1">
                  <c:v>78.66</c:v>
                </c:pt>
              </c:numCache>
            </c:numRef>
          </c:val>
          <c:extLst>
            <c:ext xmlns:c16="http://schemas.microsoft.com/office/drawing/2014/chart" uri="{C3380CC4-5D6E-409C-BE32-E72D297353CC}">
              <c16:uniqueId val="{00000004-82E9-4DDD-8BC6-295B0F874A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Pharmacie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26107586</c:v>
                </c:pt>
                <c:pt idx="1">
                  <c:v>25313112</c:v>
                </c:pt>
                <c:pt idx="2">
                  <c:v>13055215</c:v>
                </c:pt>
                <c:pt idx="3">
                  <c:v>22869440</c:v>
                </c:pt>
                <c:pt idx="4">
                  <c:v>32549138</c:v>
                </c:pt>
                <c:pt idx="5">
                  <c:v>38076031</c:v>
                </c:pt>
                <c:pt idx="6">
                  <c:v>85750869</c:v>
                </c:pt>
              </c:numCache>
            </c:numRef>
          </c:val>
        </c:ser>
        <c:ser>
          <c:idx val="1"/>
          <c:order val="1"/>
          <c:tx>
            <c:strRef>
              <c:f>Sheet1!$C$1</c:f>
              <c:strCache>
                <c:ptCount val="1"/>
                <c:pt idx="0">
                  <c:v>Consultations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9838300</c:v>
                </c:pt>
                <c:pt idx="1">
                  <c:v>9569200</c:v>
                </c:pt>
                <c:pt idx="2">
                  <c:v>4288328</c:v>
                </c:pt>
                <c:pt idx="3">
                  <c:v>53402204</c:v>
                </c:pt>
                <c:pt idx="4">
                  <c:v>154053302</c:v>
                </c:pt>
                <c:pt idx="5">
                  <c:v>173759919</c:v>
                </c:pt>
                <c:pt idx="6">
                  <c:v>223956736</c:v>
                </c:pt>
              </c:numCache>
            </c:numRef>
          </c:val>
        </c:ser>
        <c:ser>
          <c:idx val="2"/>
          <c:order val="2"/>
          <c:tx>
            <c:strRef>
              <c:f>Sheet1!$D$1</c:f>
              <c:strCache>
                <c:ptCount val="1"/>
                <c:pt idx="0">
                  <c:v>Hospitalisations</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 ##0,,</c:formatCode>
                <c:ptCount val="7"/>
                <c:pt idx="0">
                  <c:v>11748500</c:v>
                </c:pt>
                <c:pt idx="1">
                  <c:v>12702282</c:v>
                </c:pt>
                <c:pt idx="2">
                  <c:v>6383100</c:v>
                </c:pt>
                <c:pt idx="3">
                  <c:v>32598428</c:v>
                </c:pt>
                <c:pt idx="4">
                  <c:v>10815234</c:v>
                </c:pt>
                <c:pt idx="5">
                  <c:v>23247618</c:v>
                </c:pt>
                <c:pt idx="6">
                  <c:v>36938840</c:v>
                </c:pt>
              </c:numCache>
            </c:numRef>
          </c:val>
        </c:ser>
        <c:ser>
          <c:idx val="3"/>
          <c:order val="3"/>
          <c:tx>
            <c:strRef>
              <c:f>Sheet1!$E$1</c:f>
              <c:strCache>
                <c:ptCount val="1"/>
                <c:pt idx="0">
                  <c:v>Analyses médicales</c:v>
                </c:pt>
              </c:strCache>
            </c:strRef>
          </c:tx>
          <c:spPr>
            <a:solidFill>
              <a:srgbClr val="060606"/>
            </a:solidFill>
          </c:spP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 ##0,,</c:formatCode>
                <c:ptCount val="7"/>
                <c:pt idx="0">
                  <c:v>23155760</c:v>
                </c:pt>
                <c:pt idx="1">
                  <c:v>15394010</c:v>
                </c:pt>
                <c:pt idx="2">
                  <c:v>10313251</c:v>
                </c:pt>
                <c:pt idx="3">
                  <c:v>73194458</c:v>
                </c:pt>
                <c:pt idx="4">
                  <c:v>142781059</c:v>
                </c:pt>
                <c:pt idx="5">
                  <c:v>234266144</c:v>
                </c:pt>
                <c:pt idx="6">
                  <c:v>214752158</c:v>
                </c:pt>
              </c:numCache>
            </c:numRef>
          </c:val>
        </c:ser>
        <c:ser>
          <c:idx val="4"/>
          <c:order val="4"/>
          <c:tx>
            <c:strRef>
              <c:f>Sheet1!$F$1</c:f>
              <c:strCache>
                <c:ptCount val="1"/>
                <c:pt idx="0">
                  <c:v>Radio et imagerie</c:v>
                </c:pt>
              </c:strCache>
            </c:strRef>
          </c:tx>
          <c:spPr>
            <a:solidFill>
              <a:srgbClr val="53565A"/>
            </a:solidFill>
          </c:spPr>
          <c:cat>
            <c:strRef>
              <c:f>Sheet1!$A$2:$A$8</c:f>
              <c:strCache>
                <c:ptCount val="7"/>
                <c:pt idx="0">
                  <c:v>2020</c:v>
                </c:pt>
                <c:pt idx="1">
                  <c:v>2021</c:v>
                </c:pt>
                <c:pt idx="2">
                  <c:v>2022</c:v>
                </c:pt>
                <c:pt idx="3">
                  <c:v>2023</c:v>
                </c:pt>
                <c:pt idx="4">
                  <c:v>2024</c:v>
                </c:pt>
                <c:pt idx="5">
                  <c:v>2025</c:v>
                </c:pt>
                <c:pt idx="6">
                  <c:v>2026 (8 mois)</c:v>
                </c:pt>
              </c:strCache>
            </c:strRef>
          </c:cat>
          <c:val>
            <c:numRef>
              <c:f>Sheet1!$F$2:$F$8</c:f>
              <c:numCache>
                <c:formatCode># ##0,,</c:formatCode>
                <c:ptCount val="7"/>
                <c:pt idx="0">
                  <c:v>11304893</c:v>
                </c:pt>
                <c:pt idx="1">
                  <c:v>6463050</c:v>
                </c:pt>
                <c:pt idx="2">
                  <c:v>15365475</c:v>
                </c:pt>
                <c:pt idx="3">
                  <c:v>65166228</c:v>
                </c:pt>
                <c:pt idx="4">
                  <c:v>147686479</c:v>
                </c:pt>
                <c:pt idx="5">
                  <c:v>249812169</c:v>
                </c:pt>
                <c:pt idx="6">
                  <c:v>391563218</c:v>
                </c:pt>
              </c:numCache>
            </c:numRef>
          </c:val>
        </c:ser>
        <c:ser>
          <c:idx val="5"/>
          <c:order val="5"/>
          <c:tx>
            <c:strRef>
              <c:f>Sheet1!$G$1</c:f>
              <c:strCache>
                <c:ptCount val="1"/>
                <c:pt idx="0">
                  <c:v>Autres prestations maladie</c:v>
                </c:pt>
              </c:strCache>
            </c:strRef>
          </c:tx>
          <c:spPr>
            <a:solidFill>
              <a:srgbClr val="F6D3A8"/>
            </a:solidFill>
          </c:spPr>
          <c:cat>
            <c:strRef>
              <c:f>Sheet1!$A$2:$A$8</c:f>
              <c:strCache>
                <c:ptCount val="7"/>
                <c:pt idx="0">
                  <c:v>2020</c:v>
                </c:pt>
                <c:pt idx="1">
                  <c:v>2021</c:v>
                </c:pt>
                <c:pt idx="2">
                  <c:v>2022</c:v>
                </c:pt>
                <c:pt idx="3">
                  <c:v>2023</c:v>
                </c:pt>
                <c:pt idx="4">
                  <c:v>2024</c:v>
                </c:pt>
                <c:pt idx="5">
                  <c:v>2025</c:v>
                </c:pt>
                <c:pt idx="6">
                  <c:v>2026 (8 mois)</c:v>
                </c:pt>
              </c:strCache>
            </c:strRef>
          </c:cat>
          <c:val>
            <c:numRef>
              <c:f>Sheet1!$G$2:$G$8</c:f>
              <c:numCache>
                <c:formatCode># ##0,,</c:formatCode>
                <c:ptCount val="7"/>
                <c:pt idx="0">
                  <c:v>110679822</c:v>
                </c:pt>
                <c:pt idx="1">
                  <c:v>23379217</c:v>
                </c:pt>
                <c:pt idx="2">
                  <c:v>50185972</c:v>
                </c:pt>
                <c:pt idx="3">
                  <c:v>241125951</c:v>
                </c:pt>
                <c:pt idx="4">
                  <c:v>508863835</c:v>
                </c:pt>
                <c:pt idx="5">
                  <c:v>995311355</c:v>
                </c:pt>
                <c:pt idx="6">
                  <c:v>584656222</c:v>
                </c:pt>
              </c:numCache>
            </c:numRef>
          </c:val>
        </c:ser>
        <c:ser>
          <c:idx val="6"/>
          <c:order val="6"/>
          <c:tx>
            <c:strRef>
              <c:f>Sheet1!$H$1</c:f>
              <c:strCache>
                <c:ptCount val="1"/>
                <c:pt idx="0">
                  <c:v>Autres (transport, rééducation, bons)</c:v>
                </c:pt>
              </c:strCache>
            </c:strRef>
          </c:tx>
          <c:spPr>
            <a:solidFill>
              <a:srgbClr val="5B7A99"/>
            </a:solidFill>
          </c:spPr>
          <c:cat>
            <c:strRef>
              <c:f>Sheet1!$A$2:$A$8</c:f>
              <c:strCache>
                <c:ptCount val="7"/>
                <c:pt idx="0">
                  <c:v>2020</c:v>
                </c:pt>
                <c:pt idx="1">
                  <c:v>2021</c:v>
                </c:pt>
                <c:pt idx="2">
                  <c:v>2022</c:v>
                </c:pt>
                <c:pt idx="3">
                  <c:v>2023</c:v>
                </c:pt>
                <c:pt idx="4">
                  <c:v>2024</c:v>
                </c:pt>
                <c:pt idx="5">
                  <c:v>2025</c:v>
                </c:pt>
                <c:pt idx="6">
                  <c:v>2026 (8 mois)</c:v>
                </c:pt>
              </c:strCache>
            </c:strRef>
          </c:cat>
          <c:val>
            <c:numRef>
              <c:f>Sheet1!$H$2:$H$8</c:f>
              <c:numCache>
                <c:formatCode># ##0,,</c:formatCode>
                <c:ptCount val="7"/>
                <c:pt idx="0">
                  <c:v>12977195</c:v>
                </c:pt>
                <c:pt idx="1">
                  <c:v>8632300</c:v>
                </c:pt>
                <c:pt idx="2">
                  <c:v>15646432</c:v>
                </c:pt>
                <c:pt idx="3">
                  <c:v>32647653</c:v>
                </c:pt>
                <c:pt idx="4">
                  <c:v>63670580</c:v>
                </c:pt>
                <c:pt idx="5">
                  <c:v>57162125</c:v>
                </c:pt>
                <c:pt idx="6">
                  <c:v>108421074</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Frais de gestion</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1210624559</c:v>
                </c:pt>
                <c:pt idx="1">
                  <c:v>961975477</c:v>
                </c:pt>
                <c:pt idx="2">
                  <c:v>1020461388</c:v>
                </c:pt>
                <c:pt idx="3">
                  <c:v>1039977199</c:v>
                </c:pt>
                <c:pt idx="4">
                  <c:v>987308865</c:v>
                </c:pt>
                <c:pt idx="5">
                  <c:v>1101350021</c:v>
                </c:pt>
                <c:pt idx="6">
                  <c:v>1055460837</c:v>
                </c:pt>
              </c:numCache>
            </c:numRef>
          </c:val>
        </c:ser>
        <c:ser>
          <c:idx val="1"/>
          <c:order val="1"/>
          <c:tx>
            <c:strRef>
              <c:f>Sheet1!$C$1</c:f>
              <c:strCache>
                <c:ptCount val="1"/>
                <c:pt idx="0">
                  <c:v>Résultat net</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Formule du rapport</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51.63</c:v>
                </c:pt>
                <c:pt idx="1">
                  <c:v>39.81</c:v>
                </c:pt>
                <c:pt idx="2">
                  <c:v>40.11</c:v>
                </c:pt>
                <c:pt idx="3">
                  <c:v>37.61</c:v>
                </c:pt>
                <c:pt idx="4">
                  <c:v>31.46</c:v>
                </c:pt>
                <c:pt idx="5">
                  <c:v>32.23</c:v>
                </c:pt>
                <c:pt idx="6">
                  <c:v>44.12</c:v>
                </c:pt>
              </c:numCache>
            </c:numRef>
          </c:val>
        </c:ser>
        <c:ser>
          <c:idx val="1"/>
          <c:order val="1"/>
          <c:tx>
            <c:strRef>
              <c:f>Sheet1!$C$1</c:f>
              <c:strCache>
                <c:ptCount val="1"/>
                <c:pt idx="0">
                  <c:v>Formule du texte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84.31</c:v>
                </c:pt>
                <c:pt idx="1">
                  <c:v>48.0</c:v>
                </c:pt>
                <c:pt idx="2">
                  <c:v>47.35</c:v>
                </c:pt>
                <c:pt idx="3">
                  <c:v>44.82</c:v>
                </c:pt>
                <c:pt idx="4">
                  <c:v>36.07</c:v>
                </c:pt>
                <c:pt idx="5">
                  <c:v>36.34</c:v>
                </c:pt>
                <c:pt idx="6">
                  <c:v>44.12</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PEP 998</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293756537</c:v>
                </c:pt>
                <c:pt idx="1">
                  <c:v>322774529</c:v>
                </c:pt>
                <c:pt idx="2">
                  <c:v>509643904</c:v>
                </c:pt>
                <c:pt idx="3">
                  <c:v>927826515</c:v>
                </c:pt>
                <c:pt idx="4">
                  <c:v>1456063820</c:v>
                </c:pt>
                <c:pt idx="5">
                  <c:v>2029929725</c:v>
                </c:pt>
                <c:pt idx="6">
                  <c:v>1606835144</c:v>
                </c:pt>
              </c:numCache>
            </c:numRef>
          </c:val>
        </c:ser>
        <c:ser>
          <c:idx val="1"/>
          <c:order val="1"/>
          <c:tx>
            <c:strRef>
              <c:f>Sheet1!$C$1</c:f>
              <c:strCache>
                <c:ptCount val="1"/>
                <c:pt idx="0">
                  <c:v>EFC 870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3">
                  <c:v>1414649440</c:v>
                </c:pt>
                <c:pt idx="4">
                  <c:v>1833953120</c:v>
                </c:pt>
                <c:pt idx="5">
                  <c:v>2160317640</c:v>
                </c:pt>
                <c:pt idx="6">
                  <c:v>1786620720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Montant à rembourser</c:v>
                </c:pt>
              </c:strCache>
            </c:strRef>
          </c:tx>
          <c:spPr>
            <a:solidFill>
              <a:srgbClr val="112A40"/>
            </a:solidFill>
          </c:spPr>
          <c:cat>
            <c:strRef>
              <c:f>Sheet1!$A$2:$A$5</c:f>
              <c:strCache>
                <c:ptCount val="4"/>
                <c:pt idx="0">
                  <c:v>5,00 %</c:v>
                </c:pt>
                <c:pt idx="1">
                  <c:v>10,00 %</c:v>
                </c:pt>
                <c:pt idx="2">
                  <c:v>20,00 %</c:v>
                </c:pt>
                <c:pt idx="3">
                  <c:v>30,00 %</c:v>
                </c:pt>
              </c:strCache>
            </c:strRef>
          </c:cat>
          <c:val>
            <c:numRef>
              <c:f>Sheet1!$B$2:$B$5</c:f>
              <c:numCache>
                <c:formatCode># ##0,,</c:formatCode>
                <c:ptCount val="4"/>
                <c:pt idx="0">
                  <c:v>787175820</c:v>
                </c:pt>
                <c:pt idx="1">
                  <c:v>1574351639</c:v>
                </c:pt>
                <c:pt idx="2">
                  <c:v>3148703278</c:v>
                </c:pt>
                <c:pt idx="3">
                  <c:v>4723054917</c:v>
                </c:pt>
              </c:numCache>
            </c:numRef>
          </c:val>
        </c:ser>
        <c:ser>
          <c:idx val="1"/>
          <c:order val="1"/>
          <c:tx>
            <c:strRef>
              <c:f>Sheet1!$C$1</c:f>
              <c:strCache>
                <c:ptCount val="1"/>
                <c:pt idx="0">
                  <c:v>Actifs réservés</c:v>
                </c:pt>
              </c:strCache>
            </c:strRef>
          </c:tx>
          <c:spPr>
            <a:solidFill>
              <a:srgbClr val="EFAC62"/>
            </a:solidFill>
          </c:spPr>
          <c:cat>
            <c:strRef>
              <c:f>Sheet1!$A$2:$A$5</c:f>
              <c:strCache>
                <c:ptCount val="4"/>
                <c:pt idx="0">
                  <c:v>5,00 %</c:v>
                </c:pt>
                <c:pt idx="1">
                  <c:v>10,00 %</c:v>
                </c:pt>
                <c:pt idx="2">
                  <c:v>20,00 %</c:v>
                </c:pt>
                <c:pt idx="3">
                  <c:v>30,00 %</c:v>
                </c:pt>
              </c:strCache>
            </c:strRef>
          </c:cat>
          <c:val>
            <c:numRef>
              <c:f>Sheet1!$C$2:$C$5</c:f>
              <c:numCache>
                <c:formatCode># ##0,,</c:formatCode>
                <c:ptCount val="4"/>
                <c:pt idx="0">
                  <c:v>2562885661</c:v>
                </c:pt>
                <c:pt idx="1">
                  <c:v>2562885661</c:v>
                </c:pt>
                <c:pt idx="2">
                  <c:v>2562885661</c:v>
                </c:pt>
                <c:pt idx="3">
                  <c:v>2562885661</c:v>
                </c:pt>
              </c:numCache>
            </c:numRef>
          </c:val>
        </c:ser>
        <c:ser>
          <c:idx val="2"/>
          <c:order val="2"/>
          <c:tx>
            <c:strRef>
              <c:f>Sheet1!$D$1</c:f>
              <c:strCache>
                <c:ptCount val="1"/>
                <c:pt idx="0">
                  <c:v>Trésorerie totale</c:v>
                </c:pt>
              </c:strCache>
            </c:strRef>
          </c:tx>
          <c:spPr>
            <a:solidFill>
              <a:srgbClr val="BBBCBC"/>
            </a:solidFill>
          </c:spPr>
          <c:cat>
            <c:strRef>
              <c:f>Sheet1!$A$2:$A$5</c:f>
              <c:strCache>
                <c:ptCount val="4"/>
                <c:pt idx="0">
                  <c:v>5,00 %</c:v>
                </c:pt>
                <c:pt idx="1">
                  <c:v>10,00 %</c:v>
                </c:pt>
                <c:pt idx="2">
                  <c:v>20,00 %</c:v>
                </c:pt>
                <c:pt idx="3">
                  <c:v>30,00 %</c:v>
                </c:pt>
              </c:strCache>
            </c:strRef>
          </c:cat>
          <c:val>
            <c:numRef>
              <c:f>Sheet1!$D$2:$D$5</c:f>
              <c:numCache>
                <c:formatCode># ##0,,</c:formatCode>
                <c:ptCount val="4"/>
                <c:pt idx="0">
                  <c:v>3359100618</c:v>
                </c:pt>
                <c:pt idx="1">
                  <c:v>3359100618</c:v>
                </c:pt>
                <c:pt idx="2">
                  <c:v>3359100618</c:v>
                </c:pt>
                <c:pt idx="3">
                  <c:v>3359100618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112A40"/>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ser>
          <c:idx val="1"/>
          <c:order val="1"/>
          <c:tx>
            <c:strRef>
              <c:f>Sheet1!$C$1</c:f>
              <c:strCache>
                <c:ptCount val="1"/>
                <c:pt idx="0">
                  <c:v>Financement FPPN</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Sheet1!$C$2:$C$7</c:f>
              <c:numCache>
                <c:formatCode># ##0,,</c:formatCode>
                <c:ptCount val="6"/>
                <c:pt idx="0">
                  <c:v>27030000</c:v>
                </c:pt>
                <c:pt idx="1">
                  <c:v>458483900</c:v>
                </c:pt>
                <c:pt idx="2">
                  <c:v>504192100</c:v>
                </c:pt>
                <c:pt idx="3">
                  <c:v>650882600</c:v>
                </c:pt>
                <c:pt idx="4">
                  <c:v>817121335</c:v>
                </c:pt>
                <c:pt idx="5">
                  <c:v>915477260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Activites generatrice de revenus</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Sheet1!$B$2:$B$7</c:f>
              <c:numCache>
                <c:formatCode># ##0,,</c:formatCode>
                <c:ptCount val="6"/>
                <c:pt idx="0">
                  <c:v>0</c:v>
                </c:pt>
                <c:pt idx="1">
                  <c:v>42260000</c:v>
                </c:pt>
                <c:pt idx="2">
                  <c:v>44235000</c:v>
                </c:pt>
                <c:pt idx="3">
                  <c:v>50835000</c:v>
                </c:pt>
                <c:pt idx="4">
                  <c:v>66625000</c:v>
                </c:pt>
                <c:pt idx="5">
                  <c:v>79280000</c:v>
                </c:pt>
              </c:numCache>
            </c:numRef>
          </c:val>
        </c:ser>
        <c:ser>
          <c:idx val="1"/>
          <c:order val="1"/>
          <c:tx>
            <c:strRef>
              <c:f>Sheet1!$C$1</c:f>
              <c:strCache>
                <c:ptCount val="1"/>
                <c:pt idx="0">
                  <c:v>Credit de sante</c:v>
                </c:pt>
              </c:strCache>
            </c:strRef>
          </c:tx>
          <c:spPr>
            <a:solidFill>
              <a:srgbClr val="EFAC62"/>
            </a:solidFill>
          </c:spPr>
          <c:cat>
            <c:strRef>
              <c:f>Sheet1!$A$2:$A$7</c:f>
              <c:strCache>
                <c:ptCount val="6"/>
                <c:pt idx="0">
                  <c:v>2021</c:v>
                </c:pt>
                <c:pt idx="1">
                  <c:v>2022</c:v>
                </c:pt>
                <c:pt idx="2">
                  <c:v>2023</c:v>
                </c:pt>
                <c:pt idx="3">
                  <c:v>2024</c:v>
                </c:pt>
                <c:pt idx="4">
                  <c:v>2025</c:v>
                </c:pt>
                <c:pt idx="5">
                  <c:v>2026 (8 mois)</c:v>
                </c:pt>
              </c:strCache>
            </c:strRef>
          </c:cat>
          <c:val>
            <c:numRef>
              <c:f>Sheet1!$C$2:$C$7</c:f>
              <c:numCache>
                <c:formatCode># ##0,,</c:formatCode>
                <c:ptCount val="6"/>
                <c:pt idx="0">
                  <c:v>500000</c:v>
                </c:pt>
                <c:pt idx="1">
                  <c:v>20500000</c:v>
                </c:pt>
                <c:pt idx="2">
                  <c:v>55265000</c:v>
                </c:pt>
                <c:pt idx="3">
                  <c:v>111885000</c:v>
                </c:pt>
                <c:pt idx="4">
                  <c:v>170425000</c:v>
                </c:pt>
                <c:pt idx="5">
                  <c:v>199205000</c:v>
                </c:pt>
              </c:numCache>
            </c:numRef>
          </c:val>
        </c:ser>
        <c:ser>
          <c:idx val="2"/>
          <c:order val="2"/>
          <c:tx>
            <c:strRef>
              <c:f>Sheet1!$D$1</c:f>
              <c:strCache>
                <c:ptCount val="1"/>
                <c:pt idx="0">
                  <c:v>Credit grenier shop</c:v>
                </c:pt>
              </c:strCache>
            </c:strRef>
          </c:tx>
          <c:spPr>
            <a:solidFill>
              <a:srgbClr val="BBBCBC"/>
            </a:solidFill>
          </c:spPr>
          <c:cat>
            <c:strRef>
              <c:f>Sheet1!$A$2:$A$7</c:f>
              <c:strCache>
                <c:ptCount val="6"/>
                <c:pt idx="0">
                  <c:v>2021</c:v>
                </c:pt>
                <c:pt idx="1">
                  <c:v>2022</c:v>
                </c:pt>
                <c:pt idx="2">
                  <c:v>2023</c:v>
                </c:pt>
                <c:pt idx="3">
                  <c:v>2024</c:v>
                </c:pt>
                <c:pt idx="4">
                  <c:v>2025</c:v>
                </c:pt>
                <c:pt idx="5">
                  <c:v>2026 (8 mois)</c:v>
                </c:pt>
              </c:strCache>
            </c:strRef>
          </c:cat>
          <c:val>
            <c:numRef>
              <c:f>Sheet1!$D$2:$D$7</c:f>
              <c:numCache>
                <c:formatCode># ##0,,</c:formatCode>
                <c:ptCount val="6"/>
                <c:pt idx="0">
                  <c:v>0</c:v>
                </c:pt>
                <c:pt idx="1">
                  <c:v>0</c:v>
                </c:pt>
                <c:pt idx="2">
                  <c:v>0</c:v>
                </c:pt>
                <c:pt idx="3">
                  <c:v>2217888</c:v>
                </c:pt>
                <c:pt idx="4">
                  <c:v>5009675</c:v>
                </c:pt>
                <c:pt idx="5">
                  <c:v>892175</c:v>
                </c:pt>
              </c:numCache>
            </c:numRef>
          </c:val>
        </c:ser>
        <c:ser>
          <c:idx val="3"/>
          <c:order val="3"/>
          <c:tx>
            <c:strRef>
              <c:f>Sheet1!$E$1</c:f>
              <c:strCache>
                <c:ptCount val="1"/>
                <c:pt idx="0">
                  <c:v>Credit habitat</c:v>
                </c:pt>
              </c:strCache>
            </c:strRef>
          </c:tx>
          <c:spPr>
            <a:solidFill>
              <a:srgbClr val="060606"/>
            </a:solidFill>
          </c:spPr>
          <c:cat>
            <c:strRef>
              <c:f>Sheet1!$A$2:$A$7</c:f>
              <c:strCache>
                <c:ptCount val="6"/>
                <c:pt idx="0">
                  <c:v>2021</c:v>
                </c:pt>
                <c:pt idx="1">
                  <c:v>2022</c:v>
                </c:pt>
                <c:pt idx="2">
                  <c:v>2023</c:v>
                </c:pt>
                <c:pt idx="3">
                  <c:v>2024</c:v>
                </c:pt>
                <c:pt idx="4">
                  <c:v>2025</c:v>
                </c:pt>
                <c:pt idx="5">
                  <c:v>2026 (8 mois)</c:v>
                </c:pt>
              </c:strCache>
            </c:strRef>
          </c:cat>
          <c:val>
            <c:numRef>
              <c:f>Sheet1!$E$2:$E$7</c:f>
              <c:numCache>
                <c:formatCode># ##0,,</c:formatCode>
                <c:ptCount val="6"/>
                <c:pt idx="0">
                  <c:v>0</c:v>
                </c:pt>
                <c:pt idx="1">
                  <c:v>55820000</c:v>
                </c:pt>
                <c:pt idx="2">
                  <c:v>150605000</c:v>
                </c:pt>
                <c:pt idx="3">
                  <c:v>252625000</c:v>
                </c:pt>
                <c:pt idx="4">
                  <c:v>508842669</c:v>
                </c:pt>
                <c:pt idx="5">
                  <c:v>540495000</c:v>
                </c:pt>
              </c:numCache>
            </c:numRef>
          </c:val>
        </c:ser>
        <c:ser>
          <c:idx val="4"/>
          <c:order val="4"/>
          <c:tx>
            <c:strRef>
              <c:f>Sheet1!$F$1</c:f>
              <c:strCache>
                <c:ptCount val="1"/>
                <c:pt idx="0">
                  <c:v>Credit mariage</c:v>
                </c:pt>
              </c:strCache>
            </c:strRef>
          </c:tx>
          <c:spPr>
            <a:solidFill>
              <a:srgbClr val="53565A"/>
            </a:solidFill>
          </c:spPr>
          <c:cat>
            <c:strRef>
              <c:f>Sheet1!$A$2:$A$7</c:f>
              <c:strCache>
                <c:ptCount val="6"/>
                <c:pt idx="0">
                  <c:v>2021</c:v>
                </c:pt>
                <c:pt idx="1">
                  <c:v>2022</c:v>
                </c:pt>
                <c:pt idx="2">
                  <c:v>2023</c:v>
                </c:pt>
                <c:pt idx="3">
                  <c:v>2024</c:v>
                </c:pt>
                <c:pt idx="4">
                  <c:v>2025</c:v>
                </c:pt>
                <c:pt idx="5">
                  <c:v>2026 (8 mois)</c:v>
                </c:pt>
              </c:strCache>
            </c:strRef>
          </c:cat>
          <c:val>
            <c:numRef>
              <c:f>Sheet1!$F$2:$F$7</c:f>
              <c:numCache>
                <c:formatCode># ##0,,</c:formatCode>
                <c:ptCount val="6"/>
                <c:pt idx="0">
                  <c:v>0</c:v>
                </c:pt>
                <c:pt idx="1">
                  <c:v>3690000</c:v>
                </c:pt>
                <c:pt idx="2">
                  <c:v>7825000</c:v>
                </c:pt>
                <c:pt idx="3">
                  <c:v>15480000</c:v>
                </c:pt>
                <c:pt idx="4">
                  <c:v>21750000</c:v>
                </c:pt>
                <c:pt idx="5">
                  <c:v>19450000</c:v>
                </c:pt>
              </c:numCache>
            </c:numRef>
          </c:val>
        </c:ser>
        <c:ser>
          <c:idx val="5"/>
          <c:order val="5"/>
          <c:tx>
            <c:strRef>
              <c:f>Sheet1!$G$1</c:f>
              <c:strCache>
                <c:ptCount val="1"/>
                <c:pt idx="0">
                  <c:v>Crédit flash</c:v>
                </c:pt>
              </c:strCache>
            </c:strRef>
          </c:tx>
          <c:spPr>
            <a:solidFill>
              <a:srgbClr val="F6D3A8"/>
            </a:solidFill>
          </c:spPr>
          <c:cat>
            <c:strRef>
              <c:f>Sheet1!$A$2:$A$7</c:f>
              <c:strCache>
                <c:ptCount val="6"/>
                <c:pt idx="0">
                  <c:v>2021</c:v>
                </c:pt>
                <c:pt idx="1">
                  <c:v>2022</c:v>
                </c:pt>
                <c:pt idx="2">
                  <c:v>2023</c:v>
                </c:pt>
                <c:pt idx="3">
                  <c:v>2024</c:v>
                </c:pt>
                <c:pt idx="4">
                  <c:v>2025</c:v>
                </c:pt>
                <c:pt idx="5">
                  <c:v>2026 (8 mois)</c:v>
                </c:pt>
              </c:strCache>
            </c:strRef>
          </c:cat>
          <c:val>
            <c:numRef>
              <c:f>Sheet1!$G$2:$G$7</c:f>
              <c:numCache>
                <c:formatCode># ##0,,</c:formatCode>
                <c:ptCount val="6"/>
                <c:pt idx="0">
                  <c:v>0</c:v>
                </c:pt>
                <c:pt idx="1">
                  <c:v>22440100</c:v>
                </c:pt>
                <c:pt idx="2">
                  <c:v>143012090</c:v>
                </c:pt>
                <c:pt idx="3">
                  <c:v>209941000</c:v>
                </c:pt>
                <c:pt idx="4">
                  <c:v>268242800</c:v>
                </c:pt>
                <c:pt idx="5">
                  <c:v>151510000</c:v>
                </c:pt>
              </c:numCache>
            </c:numRef>
          </c:val>
        </c:ser>
        <c:ser>
          <c:idx val="6"/>
          <c:order val="6"/>
          <c:tx>
            <c:strRef>
              <c:f>Sheet1!$H$1</c:f>
              <c:strCache>
                <c:ptCount val="1"/>
                <c:pt idx="0">
                  <c:v>Crédit scolaire</c:v>
                </c:pt>
              </c:strCache>
            </c:strRef>
          </c:tx>
          <c:spPr>
            <a:solidFill>
              <a:srgbClr val="5B7A99"/>
            </a:solidFill>
          </c:spPr>
          <c:cat>
            <c:strRef>
              <c:f>Sheet1!$A$2:$A$7</c:f>
              <c:strCache>
                <c:ptCount val="6"/>
                <c:pt idx="0">
                  <c:v>2021</c:v>
                </c:pt>
                <c:pt idx="1">
                  <c:v>2022</c:v>
                </c:pt>
                <c:pt idx="2">
                  <c:v>2023</c:v>
                </c:pt>
                <c:pt idx="3">
                  <c:v>2024</c:v>
                </c:pt>
                <c:pt idx="4">
                  <c:v>2025</c:v>
                </c:pt>
                <c:pt idx="5">
                  <c:v>2026 (8 mois)</c:v>
                </c:pt>
              </c:strCache>
            </c:strRef>
          </c:cat>
          <c:val>
            <c:numRef>
              <c:f>Sheet1!$H$2:$H$7</c:f>
              <c:numCache>
                <c:formatCode># ##0,,</c:formatCode>
                <c:ptCount val="6"/>
                <c:pt idx="0">
                  <c:v>3700000</c:v>
                </c:pt>
                <c:pt idx="1">
                  <c:v>106550000</c:v>
                </c:pt>
                <c:pt idx="2">
                  <c:v>236870000</c:v>
                </c:pt>
                <c:pt idx="3">
                  <c:v>509425010</c:v>
                </c:pt>
                <c:pt idx="4">
                  <c:v>555305000</c:v>
                </c:pt>
                <c:pt idx="5">
                  <c:v>370515000</c:v>
                </c:pt>
              </c:numCache>
            </c:numRef>
          </c:val>
        </c:ser>
        <c:ser>
          <c:idx val="7"/>
          <c:order val="7"/>
          <c:tx>
            <c:strRef>
              <c:f>Sheet1!$I$1</c:f>
              <c:strCache>
                <c:ptCount val="1"/>
                <c:pt idx="0">
                  <c:v>Equipement domestique</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Sheet1!$I$2:$I$7</c:f>
              <c:numCache>
                <c:formatCode># ##0,,</c:formatCode>
                <c:ptCount val="6"/>
                <c:pt idx="0">
                  <c:v>3700000</c:v>
                </c:pt>
                <c:pt idx="1">
                  <c:v>18515000</c:v>
                </c:pt>
                <c:pt idx="2">
                  <c:v>28080000</c:v>
                </c:pt>
                <c:pt idx="3">
                  <c:v>32665000</c:v>
                </c:pt>
                <c:pt idx="4">
                  <c:v>13200000</c:v>
                </c:pt>
                <c:pt idx="5">
                  <c:v>22455000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Plus de 30 jours</c:v>
                </c:pt>
              </c:strCache>
            </c:strRef>
          </c:tx>
          <c:spPr>
            <a:ln w="28575">
              <a:solidFill>
                <a:srgbClr val="112A40"/>
              </a:solidFill>
            </a:ln>
          </c:spPr>
          <c:marker>
            <c:spPr>
              <a:solidFill>
                <a:srgbClr val="112A40"/>
              </a:solidFill>
              <a:ln>
                <a:solidFill>
                  <a:srgbClr val="112A40"/>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Sheet1!$B$2:$B$13</c:f>
              <c:numCache>
                <c:formatCode>0.00</c:formatCode>
                <c:ptCount val="12"/>
                <c:pt idx="0">
                  <c:v>0.0</c:v>
                </c:pt>
                <c:pt idx="1">
                  <c:v>8.74</c:v>
                </c:pt>
                <c:pt idx="2">
                  <c:v>0.24</c:v>
                </c:pt>
                <c:pt idx="3">
                  <c:v>1.72</c:v>
                </c:pt>
                <c:pt idx="4">
                  <c:v>3.8</c:v>
                </c:pt>
                <c:pt idx="5">
                  <c:v>61.96</c:v>
                </c:pt>
                <c:pt idx="6">
                  <c:v>35.37</c:v>
                </c:pt>
                <c:pt idx="7">
                  <c:v>21.99</c:v>
                </c:pt>
                <c:pt idx="8">
                  <c:v>13.99</c:v>
                </c:pt>
                <c:pt idx="9">
                  <c:v>8.52</c:v>
                </c:pt>
                <c:pt idx="10">
                  <c:v>3.96</c:v>
                </c:pt>
                <c:pt idx="11">
                  <c:v>1.83</c:v>
                </c:pt>
              </c:numCache>
            </c:numRef>
          </c:val>
          <c:smooth val="0"/>
        </c:ser>
        <c:ser>
          <c:idx val="1"/>
          <c:order val="1"/>
          <c:tx>
            <c:strRef>
              <c:f>Sheet1!$C$1</c:f>
              <c:strCache>
                <c:ptCount val="1"/>
                <c:pt idx="0">
                  <c:v>Plus de 90 jours</c:v>
                </c:pt>
              </c:strCache>
            </c:strRef>
          </c:tx>
          <c:spPr>
            <a:ln w="28575">
              <a:solidFill>
                <a:srgbClr val="EFAC62"/>
              </a:solidFill>
            </a:ln>
          </c:spPr>
          <c:marker>
            <c:spPr>
              <a:solidFill>
                <a:srgbClr val="EFAC62"/>
              </a:solidFill>
              <a:ln>
                <a:solidFill>
                  <a:srgbClr val="EFAC62"/>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Sheet1!$C$2:$C$13</c:f>
              <c:numCache>
                <c:formatCode>0.00</c:formatCode>
                <c:ptCount val="12"/>
                <c:pt idx="0">
                  <c:v>0.0</c:v>
                </c:pt>
                <c:pt idx="1">
                  <c:v>8.74</c:v>
                </c:pt>
                <c:pt idx="2">
                  <c:v>0.24</c:v>
                </c:pt>
                <c:pt idx="3">
                  <c:v>1.32</c:v>
                </c:pt>
                <c:pt idx="4">
                  <c:v>0.85</c:v>
                </c:pt>
                <c:pt idx="5">
                  <c:v>0.93</c:v>
                </c:pt>
                <c:pt idx="6">
                  <c:v>35.23</c:v>
                </c:pt>
                <c:pt idx="7">
                  <c:v>21.93</c:v>
                </c:pt>
                <c:pt idx="8">
                  <c:v>13.78</c:v>
                </c:pt>
                <c:pt idx="9">
                  <c:v>8.17</c:v>
                </c:pt>
                <c:pt idx="10">
                  <c:v>3.79</c:v>
                </c:pt>
                <c:pt idx="11">
                  <c:v>1.71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Échéances</c:v>
                </c:pt>
              </c:strCache>
            </c:strRef>
          </c:tx>
          <c:spPr>
            <a:solidFill>
              <a:srgbClr val="112A40"/>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Sheet1!$B$2:$B$8</c:f>
              <c:numCache>
                <c:formatCode># ##0,,</c:formatCode>
                <c:ptCount val="7"/>
                <c:pt idx="0">
                  <c:v>167784430</c:v>
                </c:pt>
                <c:pt idx="1">
                  <c:v>184076769</c:v>
                </c:pt>
                <c:pt idx="2">
                  <c:v>168474822</c:v>
                </c:pt>
                <c:pt idx="3">
                  <c:v>169652320</c:v>
                </c:pt>
                <c:pt idx="4">
                  <c:v>172760779</c:v>
                </c:pt>
                <c:pt idx="5">
                  <c:v>182530820</c:v>
                </c:pt>
                <c:pt idx="6">
                  <c:v>184892374</c:v>
                </c:pt>
              </c:numCache>
            </c:numRef>
          </c:val>
        </c:ser>
        <c:ser>
          <c:idx val="1"/>
          <c:order val="1"/>
          <c:tx>
            <c:strRef>
              <c:f>Sheet1!$C$1</c:f>
              <c:strCache>
                <c:ptCount val="1"/>
                <c:pt idx="0">
                  <c:v>Précomptes 9X4</c:v>
                </c:pt>
              </c:strCache>
            </c:strRef>
          </c:tx>
          <c:spPr>
            <a:solidFill>
              <a:srgbClr val="EFAC62"/>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Sheet1!$C$2:$C$8</c:f>
              <c:numCache>
                <c:formatCode># ##0,,</c:formatCode>
                <c:ptCount val="7"/>
                <c:pt idx="0">
                  <c:v>142557746</c:v>
                </c:pt>
                <c:pt idx="1">
                  <c:v>139420845</c:v>
                </c:pt>
                <c:pt idx="2">
                  <c:v>138410953</c:v>
                </c:pt>
                <c:pt idx="3">
                  <c:v>143081813</c:v>
                </c:pt>
                <c:pt idx="4">
                  <c:v>147496219</c:v>
                </c:pt>
                <c:pt idx="5">
                  <c:v>150817238</c:v>
                </c:pt>
                <c:pt idx="6">
                  <c:v>156330374</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Retraités</c:v>
                </c:pt>
              </c:strCache>
            </c:strRef>
          </c:tx>
          <c:spPr>
            <a:ln w="28575">
              <a:solidFill>
                <a:srgbClr val="112A40"/>
              </a:solidFill>
            </a:ln>
          </c:spPr>
          <c:marker>
            <c:spPr>
              <a:solidFill>
                <a:srgbClr val="112A40"/>
              </a:solidFill>
              <a:ln>
                <a:solidFill>
                  <a:srgbClr val="112A40"/>
                </a:solidFill>
              </a:ln>
            </c:spPr>
          </c:marker>
          <c:cat>
            <c:strRef>
              <c:f>Sheet1!$A$2:$A$31</c:f>
              <c:strCache>
                <c:ptCount val="30"/>
                <c:pt idx="0">
                  <c:v>févr. 24</c:v>
                </c:pt>
                <c:pt idx="1">
                  <c:v>mars 24</c:v>
                </c:pt>
                <c:pt idx="2">
                  <c:v>avr. 24</c:v>
                </c:pt>
                <c:pt idx="3">
                  <c:v>mai 24</c:v>
                </c:pt>
                <c:pt idx="4">
                  <c:v>juil. 24</c:v>
                </c:pt>
                <c:pt idx="5">
                  <c:v>août 24</c:v>
                </c:pt>
                <c:pt idx="6">
                  <c:v>sept. 24</c:v>
                </c:pt>
                <c:pt idx="7">
                  <c:v>oct. 24</c:v>
                </c:pt>
                <c:pt idx="8">
                  <c:v>nov. 24</c:v>
                </c:pt>
                <c:pt idx="9">
                  <c:v>déc. 24</c:v>
                </c:pt>
                <c:pt idx="10">
                  <c:v>janv. 25</c:v>
                </c:pt>
                <c:pt idx="11">
                  <c:v>févr. 25</c:v>
                </c:pt>
                <c:pt idx="12">
                  <c:v>mars 25</c:v>
                </c:pt>
                <c:pt idx="13">
                  <c:v>avr. 25</c:v>
                </c:pt>
                <c:pt idx="14">
                  <c:v>mai 25</c:v>
                </c:pt>
                <c:pt idx="15">
                  <c:v>juin 25</c:v>
                </c:pt>
                <c:pt idx="16">
                  <c:v>juil. 25</c:v>
                </c:pt>
                <c:pt idx="17">
                  <c:v>août 25</c:v>
                </c:pt>
                <c:pt idx="18">
                  <c:v>sept. 25</c:v>
                </c:pt>
                <c:pt idx="19">
                  <c:v>oct. 25</c:v>
                </c:pt>
                <c:pt idx="20">
                  <c:v>nov. 25</c:v>
                </c:pt>
                <c:pt idx="21">
                  <c:v>déc. 25</c:v>
                </c:pt>
                <c:pt idx="22">
                  <c:v>janv. 26</c:v>
                </c:pt>
                <c:pt idx="23">
                  <c:v>févr. 26</c:v>
                </c:pt>
                <c:pt idx="24">
                  <c:v>mars 26</c:v>
                </c:pt>
                <c:pt idx="25">
                  <c:v>avr. 26</c:v>
                </c:pt>
                <c:pt idx="26">
                  <c:v>mai 26</c:v>
                </c:pt>
                <c:pt idx="27">
                  <c:v>juin 26</c:v>
                </c:pt>
                <c:pt idx="28">
                  <c:v>juil. 26</c:v>
                </c:pt>
                <c:pt idx="29">
                  <c:v>août 26</c:v>
                </c:pt>
              </c:strCache>
            </c:strRef>
          </c:cat>
          <c:val>
            <c:numRef>
              <c:f>Sheet1!$B$2:$B$31</c:f>
              <c:numCache>
                <c:formatCode>0</c:formatCode>
                <c:ptCount val="30"/>
                <c:pt idx="0">
                  <c:v>16</c:v>
                </c:pt>
                <c:pt idx="1">
                  <c:v>84</c:v>
                </c:pt>
                <c:pt idx="2">
                  <c:v>105</c:v>
                </c:pt>
                <c:pt idx="3">
                  <c:v>134</c:v>
                </c:pt>
                <c:pt idx="4">
                  <c:v>176</c:v>
                </c:pt>
                <c:pt idx="5">
                  <c:v>196</c:v>
                </c:pt>
                <c:pt idx="6">
                  <c:v>237</c:v>
                </c:pt>
                <c:pt idx="7">
                  <c:v>255</c:v>
                </c:pt>
                <c:pt idx="8">
                  <c:v>280</c:v>
                </c:pt>
                <c:pt idx="9">
                  <c:v>291</c:v>
                </c:pt>
                <c:pt idx="10">
                  <c:v>306</c:v>
                </c:pt>
                <c:pt idx="11">
                  <c:v>314</c:v>
                </c:pt>
                <c:pt idx="12">
                  <c:v>322</c:v>
                </c:pt>
                <c:pt idx="13">
                  <c:v>336</c:v>
                </c:pt>
                <c:pt idx="14">
                  <c:v>358</c:v>
                </c:pt>
                <c:pt idx="15">
                  <c:v>368</c:v>
                </c:pt>
                <c:pt idx="16">
                  <c:v>386</c:v>
                </c:pt>
                <c:pt idx="17">
                  <c:v>409</c:v>
                </c:pt>
                <c:pt idx="18">
                  <c:v>468</c:v>
                </c:pt>
                <c:pt idx="19">
                  <c:v>495</c:v>
                </c:pt>
                <c:pt idx="20">
                  <c:v>506</c:v>
                </c:pt>
                <c:pt idx="21">
                  <c:v>532</c:v>
                </c:pt>
                <c:pt idx="22">
                  <c:v>592</c:v>
                </c:pt>
                <c:pt idx="23">
                  <c:v>587</c:v>
                </c:pt>
                <c:pt idx="24">
                  <c:v>584</c:v>
                </c:pt>
                <c:pt idx="25">
                  <c:v>580</c:v>
                </c:pt>
                <c:pt idx="26">
                  <c:v>584</c:v>
                </c:pt>
                <c:pt idx="27">
                  <c:v>591</c:v>
                </c:pt>
                <c:pt idx="28">
                  <c:v>600</c:v>
                </c:pt>
                <c:pt idx="29">
                  <c:v>610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Mois couverts</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276.29</c:v>
                </c:pt>
                <c:pt idx="1">
                  <c:v>115.14</c:v>
                </c:pt>
                <c:pt idx="2">
                  <c:v>250.52</c:v>
                </c:pt>
                <c:pt idx="3">
                  <c:v>87.47</c:v>
                </c:pt>
                <c:pt idx="4">
                  <c:v>45.84</c:v>
                </c:pt>
                <c:pt idx="5">
                  <c:v>29.5</c:v>
                </c:pt>
                <c:pt idx="6">
                  <c:v>21.48</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PSAP 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2867602878</c:v>
                </c:pt>
                <c:pt idx="1">
                  <c:v>2867602878</c:v>
                </c:pt>
                <c:pt idx="2">
                  <c:v>2867602878</c:v>
                </c:pt>
                <c:pt idx="3">
                  <c:v>2867602878</c:v>
                </c:pt>
                <c:pt idx="4">
                  <c:v>2867602878</c:v>
                </c:pt>
                <c:pt idx="5">
                  <c:v>2867602878</c:v>
                </c:pt>
                <c:pt idx="6">
                  <c:v>2867602878</c:v>
                </c:pt>
              </c:numCache>
            </c:numRef>
          </c:val>
        </c:ser>
        <c:ser>
          <c:idx val="1"/>
          <c:order val="1"/>
          <c:tx>
            <c:strRef>
              <c:f>Sheet1!$C$1</c:f>
              <c:strCache>
                <c:ptCount val="1"/>
                <c:pt idx="0">
                  <c:v>Dettes envers les cliniques (40110000)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1394774547</c:v>
                </c:pt>
                <c:pt idx="1">
                  <c:v>875220557</c:v>
                </c:pt>
                <c:pt idx="2">
                  <c:v>533144348</c:v>
                </c:pt>
                <c:pt idx="3">
                  <c:v>271270756</c:v>
                </c:pt>
                <c:pt idx="4">
                  <c:v>236353873</c:v>
                </c:pt>
                <c:pt idx="5">
                  <c:v>242140869</c:v>
                </c:pt>
                <c:pt idx="6">
                  <c:v>690234451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Investissements CMP</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2984680712</c:v>
                </c:pt>
                <c:pt idx="1">
                  <c:v>3521598249</c:v>
                </c:pt>
                <c:pt idx="2">
                  <c:v>3785598221</c:v>
                </c:pt>
                <c:pt idx="3">
                  <c:v>4069396329</c:v>
                </c:pt>
                <c:pt idx="4">
                  <c:v>4944656429</c:v>
                </c:pt>
                <c:pt idx="5">
                  <c:v>6002976947</c:v>
                </c:pt>
                <c:pt idx="6">
                  <c:v>7083534565</c:v>
                </c:pt>
              </c:numCache>
            </c:numRef>
          </c:val>
        </c:ser>
        <c:ser>
          <c:idx val="1"/>
          <c:order val="1"/>
          <c:tx>
            <c:strRef>
              <c:f>Sheet1!$C$1</c:f>
              <c:strCache>
                <c:ptCount val="1"/>
                <c:pt idx="0">
                  <c:v>Terrains</c:v>
                </c:pt>
              </c:strCache>
            </c:strRef>
          </c:tx>
          <c:spPr>
            <a:solidFill>
              <a:srgbClr val="53565A"/>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3931156624</c:v>
                </c:pt>
                <c:pt idx="1">
                  <c:v>3443682500</c:v>
                </c:pt>
                <c:pt idx="2">
                  <c:v>3443682500</c:v>
                </c:pt>
                <c:pt idx="3">
                  <c:v>3443682500</c:v>
                </c:pt>
                <c:pt idx="4">
                  <c:v>3443682500</c:v>
                </c:pt>
                <c:pt idx="5">
                  <c:v>5245896750</c:v>
                </c:pt>
                <c:pt idx="6">
                  <c:v>5245896750</c:v>
                </c:pt>
              </c:numCache>
            </c:numRef>
          </c:val>
        </c:ser>
        <c:ser>
          <c:idx val="2"/>
          <c:order val="2"/>
          <c:tx>
            <c:strRef>
              <c:f>Sheet1!$D$1</c:f>
              <c:strCache>
                <c:ptCount val="1"/>
                <c:pt idx="0">
                  <c:v>Créance Hôpital de la Police</c:v>
                </c:pt>
              </c:strCache>
            </c:strRef>
          </c:tx>
          <c:spPr>
            <a:solidFill>
              <a:srgbClr val="BBBCBC"/>
            </a:solidFill>
          </c:spPr>
          <c:cat>
            <c:strRef>
              <c:f>Sheet1!$A$2:$A$8</c:f>
              <c:strCache>
                <c:ptCount val="7"/>
                <c:pt idx="0">
                  <c:v>2020</c:v>
                </c:pt>
                <c:pt idx="1">
                  <c:v>2021</c:v>
                </c:pt>
                <c:pt idx="2">
                  <c:v>2022</c:v>
                </c:pt>
                <c:pt idx="3">
                  <c:v>2023</c:v>
                </c:pt>
                <c:pt idx="4">
                  <c:v>2024</c:v>
                </c:pt>
                <c:pt idx="5">
                  <c:v>2025</c:v>
                </c:pt>
                <c:pt idx="6">
                  <c:v>31/08/2026</c:v>
                </c:pt>
              </c:strCache>
            </c:strRef>
          </c:cat>
          <c:val>
            <c:numRef>
              <c:f>Sheet1!$D$2:$D$8</c:f>
              <c:numCache>
                <c:formatCode># ##0,,</c:formatCode>
                <c:ptCount val="7"/>
                <c:pt idx="0">
                  <c:v>3407519850</c:v>
                </c:pt>
                <c:pt idx="1">
                  <c:v>3407519850</c:v>
                </c:pt>
                <c:pt idx="2">
                  <c:v>3407519850</c:v>
                </c:pt>
                <c:pt idx="3">
                  <c:v>3407519850</c:v>
                </c:pt>
                <c:pt idx="4">
                  <c:v>3407519850</c:v>
                </c:pt>
                <c:pt idx="5">
                  <c:v>3407519850</c:v>
                </c:pt>
                <c:pt idx="6">
                  <c:v>3407519850</c:v>
                </c:pt>
              </c:numCache>
            </c:numRef>
          </c:val>
        </c:ser>
        <c:ser>
          <c:idx val="3"/>
          <c:order val="3"/>
          <c:tx>
            <c:strRef>
              <c:f>Sheet1!$E$1</c:f>
              <c:strCache>
                <c:ptCount val="1"/>
                <c:pt idx="0">
                  <c:v>Financement du Grenier</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Sheet1!$E$2:$E$8</c:f>
              <c:numCache>
                <c:formatCode># ##0,,</c:formatCode>
                <c:ptCount val="7"/>
                <c:pt idx="0">
                  <c:v>0</c:v>
                </c:pt>
                <c:pt idx="1">
                  <c:v>27030000</c:v>
                </c:pt>
                <c:pt idx="2">
                  <c:v>458483900</c:v>
                </c:pt>
                <c:pt idx="3">
                  <c:v>504192100</c:v>
                </c:pt>
                <c:pt idx="4">
                  <c:v>650882600</c:v>
                </c:pt>
                <c:pt idx="5">
                  <c:v>817121335</c:v>
                </c:pt>
                <c:pt idx="6">
                  <c:v>915477260</c:v>
                </c:pt>
              </c:numCache>
            </c:numRef>
          </c:val>
        </c:ser>
        <c:ser>
          <c:idx val="4"/>
          <c:order val="4"/>
          <c:tx>
            <c:strRef>
              <c:f>Sheet1!$F$1</c:f>
              <c:strCache>
                <c:ptCount val="1"/>
                <c:pt idx="0">
                  <c:v>Trésorerie</c:v>
                </c:pt>
              </c:strCache>
            </c:strRef>
          </c:tx>
          <c:spPr>
            <a:solidFill>
              <a:srgbClr val="060606"/>
            </a:solidFill>
          </c:spPr>
          <c:cat>
            <c:strRef>
              <c:f>Sheet1!$A$2:$A$8</c:f>
              <c:strCache>
                <c:ptCount val="7"/>
                <c:pt idx="0">
                  <c:v>2020</c:v>
                </c:pt>
                <c:pt idx="1">
                  <c:v>2021</c:v>
                </c:pt>
                <c:pt idx="2">
                  <c:v>2022</c:v>
                </c:pt>
                <c:pt idx="3">
                  <c:v>2023</c:v>
                </c:pt>
                <c:pt idx="4">
                  <c:v>2024</c:v>
                </c:pt>
                <c:pt idx="5">
                  <c:v>2025</c:v>
                </c:pt>
                <c:pt idx="6">
                  <c:v>31/08/2026</c:v>
                </c:pt>
              </c:strCache>
            </c:strRef>
          </c:cat>
          <c:val>
            <c:numRef>
              <c:f>Sheet1!$F$2:$F$8</c:f>
              <c:numCache>
                <c:formatCode># ##0,,</c:formatCode>
                <c:ptCount val="7"/>
                <c:pt idx="0">
                  <c:v>630462899</c:v>
                </c:pt>
                <c:pt idx="1">
                  <c:v>2300331943</c:v>
                </c:pt>
                <c:pt idx="2">
                  <c:v>1233051977</c:v>
                </c:pt>
                <c:pt idx="3">
                  <c:v>1116267103</c:v>
                </c:pt>
                <c:pt idx="4">
                  <c:v>979838445</c:v>
                </c:pt>
                <c:pt idx="5">
                  <c:v>1964171543</c:v>
                </c:pt>
                <c:pt idx="6">
                  <c:v>3359100618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Actif immédiat</c:v>
                </c:pt>
              </c:strCache>
            </c:strRef>
          </c:tx>
          <c:spPr>
            <a:solidFill>
              <a:srgbClr val="060606"/>
            </a:solidFill>
          </c:spPr>
          <c:cat>
            <c:strRef>
              <c:f>Sheet1!$A$2:$A$5</c:f>
              <c:strCache>
                <c:ptCount val="4"/>
                <c:pt idx="0">
                  <c:v>Actif 31/12/2025</c:v>
                </c:pt>
                <c:pt idx="1">
                  <c:v>Passif 31/12/2025</c:v>
                </c:pt>
                <c:pt idx="2">
                  <c:v>Actif 31/08/2026</c:v>
                </c:pt>
                <c:pt idx="3">
                  <c:v>Passif 31/08/2026</c:v>
                </c:pt>
              </c:strCache>
            </c:strRef>
          </c:cat>
          <c:val>
            <c:numRef>
              <c:f>Sheet1!$B$2:$B$5</c:f>
              <c:numCache>
                <c:formatCode># ##0,,</c:formatCode>
                <c:ptCount val="4"/>
                <c:pt idx="0">
                  <c:v>1464171543</c:v>
                </c:pt>
                <c:pt idx="2">
                  <c:v>2373558814</c:v>
                </c:pt>
              </c:numCache>
            </c:numRef>
          </c:val>
        </c:ser>
        <c:ser>
          <c:idx val="1"/>
          <c:order val="1"/>
          <c:tx>
            <c:strRef>
              <c:f>Sheet1!$C$1</c:f>
              <c:strCache>
                <c:ptCount val="1"/>
                <c:pt idx="0">
                  <c:v>Actif à moins d'un an</c:v>
                </c:pt>
              </c:strCache>
            </c:strRef>
          </c:tx>
          <c:spPr>
            <a:solidFill>
              <a:srgbClr val="53565A"/>
            </a:solidFill>
          </c:spPr>
          <c:cat>
            <c:strRef>
              <c:f>Sheet1!$A$2:$A$5</c:f>
              <c:strCache>
                <c:ptCount val="4"/>
                <c:pt idx="0">
                  <c:v>Actif 31/12/2025</c:v>
                </c:pt>
                <c:pt idx="1">
                  <c:v>Passif 31/12/2025</c:v>
                </c:pt>
                <c:pt idx="2">
                  <c:v>Actif 31/08/2026</c:v>
                </c:pt>
                <c:pt idx="3">
                  <c:v>Passif 31/08/2026</c:v>
                </c:pt>
              </c:strCache>
            </c:strRef>
          </c:cat>
          <c:val>
            <c:numRef>
              <c:f>Sheet1!$C$2:$C$5</c:f>
              <c:numCache>
                <c:formatCode># ##0,,</c:formatCode>
                <c:ptCount val="4"/>
                <c:pt idx="0">
                  <c:v>1250837284</c:v>
                </c:pt>
                <c:pt idx="2">
                  <c:v>1084308137</c:v>
                </c:pt>
              </c:numCache>
            </c:numRef>
          </c:val>
        </c:ser>
        <c:ser>
          <c:idx val="2"/>
          <c:order val="2"/>
          <c:tx>
            <c:strRef>
              <c:f>Sheet1!$D$1</c:f>
              <c:strCache>
                <c:ptCount val="1"/>
                <c:pt idx="0">
                  <c:v>Actif à 1 à 5 ans</c:v>
                </c:pt>
              </c:strCache>
            </c:strRef>
          </c:tx>
          <c:spPr>
            <a:solidFill>
              <a:srgbClr val="EFAC62"/>
            </a:solidFill>
          </c:spPr>
          <c:cat>
            <c:strRef>
              <c:f>Sheet1!$A$2:$A$5</c:f>
              <c:strCache>
                <c:ptCount val="4"/>
                <c:pt idx="0">
                  <c:v>Actif 31/12/2025</c:v>
                </c:pt>
                <c:pt idx="1">
                  <c:v>Passif 31/12/2025</c:v>
                </c:pt>
                <c:pt idx="2">
                  <c:v>Actif 31/08/2026</c:v>
                </c:pt>
                <c:pt idx="3">
                  <c:v>Passif 31/08/2026</c:v>
                </c:pt>
              </c:strCache>
            </c:strRef>
          </c:cat>
          <c:val>
            <c:numRef>
              <c:f>Sheet1!$D$2:$D$5</c:f>
              <c:numCache>
                <c:formatCode># ##0,,</c:formatCode>
                <c:ptCount val="4"/>
                <c:pt idx="0">
                  <c:v>1198959085</c:v>
                </c:pt>
                <c:pt idx="2">
                  <c:v>1297315010</c:v>
                </c:pt>
              </c:numCache>
            </c:numRef>
          </c:val>
        </c:ser>
        <c:ser>
          <c:idx val="3"/>
          <c:order val="3"/>
          <c:tx>
            <c:strRef>
              <c:f>Sheet1!$E$1</c:f>
              <c:strCache>
                <c:ptCount val="1"/>
                <c:pt idx="0">
                  <c:v>Actif à plus de 5 ans ou incertain</c:v>
                </c:pt>
              </c:strCache>
            </c:strRef>
          </c:tx>
          <c:spPr>
            <a:solidFill>
              <a:srgbClr val="BBBCBC"/>
            </a:solidFill>
          </c:spPr>
          <c:cat>
            <c:strRef>
              <c:f>Sheet1!$A$2:$A$5</c:f>
              <c:strCache>
                <c:ptCount val="4"/>
                <c:pt idx="0">
                  <c:v>Actif 31/12/2025</c:v>
                </c:pt>
                <c:pt idx="1">
                  <c:v>Passif 31/12/2025</c:v>
                </c:pt>
                <c:pt idx="2">
                  <c:v>Actif 31/08/2026</c:v>
                </c:pt>
                <c:pt idx="3">
                  <c:v>Passif 31/08/2026</c:v>
                </c:pt>
              </c:strCache>
            </c:strRef>
          </c:cat>
          <c:val>
            <c:numRef>
              <c:f>Sheet1!$E$2:$E$5</c:f>
              <c:numCache>
                <c:formatCode># ##0,,</c:formatCode>
                <c:ptCount val="4"/>
                <c:pt idx="0">
                  <c:v>16040901123</c:v>
                </c:pt>
                <c:pt idx="2">
                  <c:v>17170238905</c:v>
                </c:pt>
              </c:numCache>
            </c:numRef>
          </c:val>
        </c:ser>
        <c:ser>
          <c:idx val="4"/>
          <c:order val="4"/>
          <c:tx>
            <c:strRef>
              <c:f>Sheet1!$F$1</c:f>
              <c:strCache>
                <c:ptCount val="1"/>
                <c:pt idx="0">
                  <c:v>Passif à moins d'un an</c:v>
                </c:pt>
              </c:strCache>
            </c:strRef>
          </c:tx>
          <c:spPr>
            <a:solidFill>
              <a:srgbClr val="112A40"/>
            </a:solidFill>
          </c:spPr>
          <c:cat>
            <c:strRef>
              <c:f>Sheet1!$A$2:$A$5</c:f>
              <c:strCache>
                <c:ptCount val="4"/>
                <c:pt idx="0">
                  <c:v>Actif 31/12/2025</c:v>
                </c:pt>
                <c:pt idx="1">
                  <c:v>Passif 31/12/2025</c:v>
                </c:pt>
                <c:pt idx="2">
                  <c:v>Actif 31/08/2026</c:v>
                </c:pt>
                <c:pt idx="3">
                  <c:v>Passif 31/08/2026</c:v>
                </c:pt>
              </c:strCache>
            </c:strRef>
          </c:cat>
          <c:val>
            <c:numRef>
              <c:f>Sheet1!$F$2:$F$5</c:f>
              <c:numCache>
                <c:formatCode># ##0,,</c:formatCode>
                <c:ptCount val="4"/>
                <c:pt idx="1">
                  <c:v>6535377593</c:v>
                </c:pt>
                <c:pt idx="3">
                  <c:v>7017736497</c:v>
                </c:pt>
              </c:numCache>
            </c:numRef>
          </c:val>
        </c:ser>
        <c:ser>
          <c:idx val="5"/>
          <c:order val="5"/>
          <c:tx>
            <c:strRef>
              <c:f>Sheet1!$G$1</c:f>
              <c:strCache>
                <c:ptCount val="1"/>
                <c:pt idx="0">
                  <c:v>Épargne, échéance à établir</c:v>
                </c:pt>
              </c:strCache>
            </c:strRef>
          </c:tx>
          <c:spPr>
            <a:solidFill>
              <a:srgbClr val="C00000"/>
            </a:solidFill>
          </c:spPr>
          <c:cat>
            <c:strRef>
              <c:f>Sheet1!$A$2:$A$5</c:f>
              <c:strCache>
                <c:ptCount val="4"/>
                <c:pt idx="0">
                  <c:v>Actif 31/12/2025</c:v>
                </c:pt>
                <c:pt idx="1">
                  <c:v>Passif 31/12/2025</c:v>
                </c:pt>
                <c:pt idx="2">
                  <c:v>Actif 31/08/2026</c:v>
                </c:pt>
                <c:pt idx="3">
                  <c:v>Passif 31/08/2026</c:v>
                </c:pt>
              </c:strCache>
            </c:strRef>
          </c:cat>
          <c:val>
            <c:numRef>
              <c:f>Sheet1!$G$2:$G$5</c:f>
              <c:numCache>
                <c:formatCode># ##0,,</c:formatCode>
                <c:ptCount val="4"/>
                <c:pt idx="1">
                  <c:v>13814066964</c:v>
                </c:pt>
                <c:pt idx="3">
                  <c:v>15743516391</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ser>
          <c:idx val="1"/>
          <c:order val="1"/>
          <c:tx>
            <c:strRef>
              <c:f>Sheet1!$C$1</c:f>
              <c:strCache>
                <c:ptCount val="1"/>
                <c:pt idx="0">
                  <c:v>Résultat de l'exercice</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Taux directeur</c:v>
                </c:pt>
              </c:strCache>
            </c:strRef>
          </c:tx>
          <c:spPr>
            <a:ln w="28575">
              <a:solidFill>
                <a:srgbClr val="112A40"/>
              </a:solidFill>
            </a:ln>
          </c:spPr>
          <c:marker>
            <c:spPr>
              <a:solidFill>
                <a:srgbClr val="112A40"/>
              </a:solidFill>
              <a:ln>
                <a:solidFill>
                  <a:srgbClr val="112A40"/>
                </a:solidFill>
              </a:ln>
            </c:spPr>
          </c:marker>
          <c:cat>
            <c:strRef>
              <c:f>Sheet1!$A$2:$A$10</c:f>
              <c:strCache>
                <c:ptCount val="9"/>
                <c:pt idx="0">
                  <c:v>01/01/2020</c:v>
                </c:pt>
                <c:pt idx="1">
                  <c:v>24/06/2020</c:v>
                </c:pt>
                <c:pt idx="2">
                  <c:v>16/06/2022</c:v>
                </c:pt>
                <c:pt idx="3">
                  <c:v>16/09/2022</c:v>
                </c:pt>
                <c:pt idx="4">
                  <c:v>16/12/2022</c:v>
                </c:pt>
                <c:pt idx="5">
                  <c:v>16/03/2023</c:v>
                </c:pt>
                <c:pt idx="6">
                  <c:v>16/09/2023</c:v>
                </c:pt>
                <c:pt idx="7">
                  <c:v>16/12/2023</c:v>
                </c:pt>
                <c:pt idx="8">
                  <c:v>16/06/2025</c:v>
                </c:pt>
              </c:strCache>
            </c:strRef>
          </c:cat>
          <c:val>
            <c:numRef>
              <c:f>Sheet1!$B$2:$B$10</c:f>
              <c:numCache>
                <c:formatCode>0.00</c:formatCode>
                <c:ptCount val="9"/>
                <c:pt idx="0">
                  <c:v>2.5</c:v>
                </c:pt>
                <c:pt idx="1">
                  <c:v>2.0</c:v>
                </c:pt>
                <c:pt idx="2">
                  <c:v>2.25</c:v>
                </c:pt>
                <c:pt idx="3">
                  <c:v>2.5</c:v>
                </c:pt>
                <c:pt idx="4">
                  <c:v>2.75</c:v>
                </c:pt>
                <c:pt idx="5">
                  <c:v>3.0</c:v>
                </c:pt>
                <c:pt idx="6">
                  <c:v>3.25</c:v>
                </c:pt>
                <c:pt idx="7">
                  <c:v>3.5</c:v>
                </c:pt>
                <c:pt idx="8">
                  <c:v>3.25</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Liquidité comme le FPPN</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2021</c:v>
                </c:pt>
                <c:pt idx="1">
                  <c:v>2022</c:v>
                </c:pt>
                <c:pt idx="2">
                  <c:v>2023</c:v>
                </c:pt>
                <c:pt idx="3">
                  <c:v>2024</c:v>
                </c:pt>
                <c:pt idx="4">
                  <c:v>2025</c:v>
                </c:pt>
                <c:pt idx="5">
                  <c:v>2026</c:v>
                </c:pt>
              </c:strCache>
            </c:strRef>
          </c:cat>
          <c:val>
            <c:numRef>
              <c:f>Sheet1!$B$2:$B$7</c:f>
              <c:numCache>
                <c:formatCode>0.00</c:formatCode>
                <c:ptCount val="6"/>
                <c:pt idx="0">
                  <c:v>0.19</c:v>
                </c:pt>
                <c:pt idx="1">
                  <c:v>0.1</c:v>
                </c:pt>
                <c:pt idx="2">
                  <c:v>0.11</c:v>
                </c:pt>
                <c:pt idx="3">
                  <c:v>0.07</c:v>
                </c:pt>
                <c:pt idx="4">
                  <c:v>0.13</c:v>
                </c:pt>
                <c:pt idx="5">
                  <c:v>0.19</c:v>
                </c:pt>
              </c:numCache>
            </c:numRef>
          </c:val>
          <c:smooth val="0"/>
        </c:ser>
        <c:ser>
          <c:idx val="1"/>
          <c:order val="1"/>
          <c:tx>
            <c:strRef>
              <c:f>Sheet1!$C$1</c:f>
              <c:strCache>
                <c:ptCount val="1"/>
                <c:pt idx="0">
                  <c:v>Liquidité retraitée</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2021</c:v>
                </c:pt>
                <c:pt idx="1">
                  <c:v>2022</c:v>
                </c:pt>
                <c:pt idx="2">
                  <c:v>2023</c:v>
                </c:pt>
                <c:pt idx="3">
                  <c:v>2024</c:v>
                </c:pt>
                <c:pt idx="4">
                  <c:v>2025</c:v>
                </c:pt>
                <c:pt idx="5">
                  <c:v>2026</c:v>
                </c:pt>
              </c:strCache>
            </c:strRef>
          </c:cat>
          <c:val>
            <c:numRef>
              <c:f>Sheet1!$C$2:$C$7</c:f>
              <c:numCache>
                <c:formatCode>0.00</c:formatCode>
                <c:ptCount val="6"/>
                <c:pt idx="0">
                  <c:v>0.64</c:v>
                </c:pt>
                <c:pt idx="1">
                  <c:v>0.51</c:v>
                </c:pt>
                <c:pt idx="2">
                  <c:v>0.54</c:v>
                </c:pt>
                <c:pt idx="3">
                  <c:v>0.33</c:v>
                </c:pt>
                <c:pt idx="4">
                  <c:v>1.15</c:v>
                </c:pt>
                <c:pt idx="5">
                  <c:v>1.53</c:v>
                </c:pt>
              </c:numCache>
            </c:numRef>
          </c:val>
          <c:smooth val="0"/>
        </c:ser>
        <c:ser>
          <c:idx val="2"/>
          <c:order val="2"/>
          <c:tx>
            <c:strRef>
              <c:f>Sheet1!$D$1</c:f>
              <c:strCache>
                <c:ptCount val="1"/>
                <c:pt idx="0">
                  <c:v>Équilibre stable retraité</c:v>
                </c:pt>
              </c:strCache>
            </c:strRef>
          </c:tx>
          <c:spPr>
            <a:ln w="28575">
              <a:solidFill>
                <a:srgbClr val="53565A"/>
              </a:solidFill>
            </a:ln>
          </c:spPr>
          <c:marker>
            <c:spPr>
              <a:solidFill>
                <a:srgbClr val="53565A"/>
              </a:solidFill>
              <a:ln>
                <a:solidFill>
                  <a:srgbClr val="53565A"/>
                </a:solidFill>
              </a:ln>
            </c:spPr>
          </c:marker>
          <c:cat>
            <c:strRef>
              <c:f>Sheet1!$A$2:$A$7</c:f>
              <c:strCache>
                <c:ptCount val="6"/>
                <c:pt idx="0">
                  <c:v>2021</c:v>
                </c:pt>
                <c:pt idx="1">
                  <c:v>2022</c:v>
                </c:pt>
                <c:pt idx="2">
                  <c:v>2023</c:v>
                </c:pt>
                <c:pt idx="3">
                  <c:v>2024</c:v>
                </c:pt>
                <c:pt idx="4">
                  <c:v>2025</c:v>
                </c:pt>
                <c:pt idx="5">
                  <c:v>2026</c:v>
                </c:pt>
              </c:strCache>
            </c:strRef>
          </c:cat>
          <c:val>
            <c:numRef>
              <c:f>Sheet1!$D$2:$D$7</c:f>
              <c:numCache>
                <c:formatCode>0.00</c:formatCode>
                <c:ptCount val="6"/>
                <c:pt idx="0">
                  <c:v>1.14</c:v>
                </c:pt>
                <c:pt idx="1">
                  <c:v>1.09</c:v>
                </c:pt>
                <c:pt idx="2">
                  <c:v>1.08</c:v>
                </c:pt>
                <c:pt idx="3">
                  <c:v>1.08</c:v>
                </c:pt>
                <c:pt idx="4">
                  <c:v>0.94</c:v>
                </c:pt>
                <c:pt idx="5">
                  <c:v>0.94</c:v>
                </c:pt>
              </c:numCache>
            </c:numRef>
          </c:val>
          <c:smooth val="0"/>
        </c:ser>
        <c:ser>
          <c:idx val="3"/>
          <c:order val="3"/>
          <c:tx>
            <c:strRef>
              <c:f>Sheet1!$E$1</c:f>
              <c:strCache>
                <c:ptCount val="1"/>
                <c:pt idx="0">
                  <c:v>Norme (1)</c:v>
                </c:pt>
              </c:strCache>
            </c:strRef>
          </c:tx>
          <c:spPr>
            <a:ln w="28575">
              <a:solidFill>
                <a:srgbClr val="C00000"/>
              </a:solidFill>
            </a:ln>
          </c:spPr>
          <c:marker>
            <c:spPr>
              <a:solidFill>
                <a:srgbClr val="C00000"/>
              </a:solidFill>
              <a:ln>
                <a:solidFill>
                  <a:srgbClr val="C00000"/>
                </a:solidFill>
              </a:ln>
            </c:spPr>
          </c:marker>
          <c:cat>
            <c:strRef>
              <c:f>Sheet1!$A$2:$A$7</c:f>
              <c:strCache>
                <c:ptCount val="6"/>
                <c:pt idx="0">
                  <c:v>2021</c:v>
                </c:pt>
                <c:pt idx="1">
                  <c:v>2022</c:v>
                </c:pt>
                <c:pt idx="2">
                  <c:v>2023</c:v>
                </c:pt>
                <c:pt idx="3">
                  <c:v>2024</c:v>
                </c:pt>
                <c:pt idx="4">
                  <c:v>2025</c:v>
                </c:pt>
                <c:pt idx="5">
                  <c:v>2026</c:v>
                </c:pt>
              </c:strCache>
            </c:strRef>
          </c:cat>
          <c:val>
            <c:numRef>
              <c:f>Sheet1!$E$2:$E$7</c:f>
              <c:numCache>
                <c:formatCode>0.00</c:formatCode>
                <c:ptCount val="6"/>
                <c:pt idx="0">
                  <c:v>1.0</c:v>
                </c:pt>
                <c:pt idx="1">
                  <c:v>1.0</c:v>
                </c:pt>
                <c:pt idx="2">
                  <c:v>1.0</c:v>
                </c:pt>
                <c:pt idx="3">
                  <c:v>1.0</c:v>
                </c:pt>
                <c:pt idx="4">
                  <c:v>1.0</c:v>
                </c:pt>
                <c:pt idx="5">
                  <c:v>1.0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450556166</c:v>
                </c:pt>
                <c:pt idx="1">
                  <c:v>775696432</c:v>
                </c:pt>
                <c:pt idx="2">
                  <c:v>818990532</c:v>
                </c:pt>
                <c:pt idx="3">
                  <c:v>544608847</c:v>
                </c:pt>
                <c:pt idx="4">
                  <c:v>346250445</c:v>
                </c:pt>
                <c:pt idx="5">
                  <c:v>-237774567</c:v>
                </c:pt>
                <c:pt idx="6">
                  <c:v>-701679552</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-297076358</c:v>
                </c:pt>
                <c:pt idx="1">
                  <c:v>-25796447</c:v>
                </c:pt>
                <c:pt idx="2">
                  <c:v>284293552</c:v>
                </c:pt>
                <c:pt idx="3">
                  <c:v>315201377</c:v>
                </c:pt>
                <c:pt idx="4">
                  <c:v>392850349</c:v>
                </c:pt>
                <c:pt idx="5">
                  <c:v>449151155</c:v>
                </c:pt>
                <c:pt idx="6">
                  <c:v>239560278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Marge exigée</c:v>
                </c:pt>
              </c:strCache>
            </c:strRef>
          </c:tx>
          <c:spPr>
            <a:solidFill>
              <a:srgbClr val="BBBCBC"/>
            </a:solidFill>
          </c:spPr>
          <c:cat>
            <c:strRef>
              <c:f>Sheet1!$A$2:$A$7</c:f>
              <c:strCache>
                <c:ptCount val="6"/>
                <c:pt idx="0">
                  <c:v>2021</c:v>
                </c:pt>
                <c:pt idx="1">
                  <c:v>2022</c:v>
                </c:pt>
                <c:pt idx="2">
                  <c:v>2023</c:v>
                </c:pt>
                <c:pt idx="3">
                  <c:v>2024</c:v>
                </c:pt>
                <c:pt idx="4">
                  <c:v>2025</c:v>
                </c:pt>
                <c:pt idx="5">
                  <c:v>31/08/2026</c:v>
                </c:pt>
              </c:strCache>
            </c:strRef>
          </c:cat>
          <c:val>
            <c:numRef>
              <c:f>Sheet1!$B$2:$B$7</c:f>
              <c:numCache>
                <c:formatCode># ##0,,</c:formatCode>
                <c:ptCount val="6"/>
                <c:pt idx="0">
                  <c:v>423039138</c:v>
                </c:pt>
                <c:pt idx="1">
                  <c:v>436176762</c:v>
                </c:pt>
                <c:pt idx="2">
                  <c:v>459907226</c:v>
                </c:pt>
                <c:pt idx="3">
                  <c:v>499226913</c:v>
                </c:pt>
                <c:pt idx="4">
                  <c:v>566209845</c:v>
                </c:pt>
                <c:pt idx="5">
                  <c:v>615265510</c:v>
                </c:pt>
              </c:numCache>
            </c:numRef>
          </c:val>
        </c:ser>
        <c:ser>
          <c:idx val="1"/>
          <c:order val="1"/>
          <c:tx>
            <c:strRef>
              <c:f>Sheet1!$C$1</c:f>
              <c:strCache>
                <c:ptCount val="1"/>
                <c:pt idx="0">
                  <c:v>Disponible comme le FPPN</c:v>
                </c:pt>
              </c:strCache>
            </c:strRef>
          </c:tx>
          <c:spPr>
            <a:solidFill>
              <a:srgbClr val="112A40"/>
            </a:solidFill>
          </c:spPr>
          <c:cat>
            <c:strRef>
              <c:f>Sheet1!$A$2:$A$7</c:f>
              <c:strCache>
                <c:ptCount val="6"/>
                <c:pt idx="0">
                  <c:v>2021</c:v>
                </c:pt>
                <c:pt idx="1">
                  <c:v>2022</c:v>
                </c:pt>
                <c:pt idx="2">
                  <c:v>2023</c:v>
                </c:pt>
                <c:pt idx="3">
                  <c:v>2024</c:v>
                </c:pt>
                <c:pt idx="4">
                  <c:v>2025</c:v>
                </c:pt>
                <c:pt idx="5">
                  <c:v>31/08/2026</c:v>
                </c:pt>
              </c:strCache>
            </c:strRef>
          </c:cat>
          <c:val>
            <c:numRef>
              <c:f>Sheet1!$C$2:$C$7</c:f>
              <c:numCache>
                <c:formatCode># ##0,,</c:formatCode>
                <c:ptCount val="6"/>
                <c:pt idx="0">
                  <c:v>2899400000</c:v>
                </c:pt>
                <c:pt idx="1">
                  <c:v>2899400000</c:v>
                </c:pt>
                <c:pt idx="2">
                  <c:v>3083619879</c:v>
                </c:pt>
                <c:pt idx="3">
                  <c:v>3604772176</c:v>
                </c:pt>
                <c:pt idx="4">
                  <c:v>4396841817</c:v>
                </c:pt>
                <c:pt idx="5">
                  <c:v>4396841817</c:v>
                </c:pt>
              </c:numCache>
            </c:numRef>
          </c:val>
        </c:ser>
        <c:ser>
          <c:idx val="2"/>
          <c:order val="2"/>
          <c:tx>
            <c:strRef>
              <c:f>Sheet1!$D$1</c:f>
              <c:strCache>
                <c:ptCount val="1"/>
                <c:pt idx="0">
                  <c:v>Disponible nette des pertes</c:v>
                </c:pt>
              </c:strCache>
            </c:strRef>
          </c:tx>
          <c:spPr>
            <a:solidFill>
              <a:srgbClr val="EFAC62"/>
            </a:solidFill>
          </c:spPr>
          <c:cat>
            <c:strRef>
              <c:f>Sheet1!$A$2:$A$7</c:f>
              <c:strCache>
                <c:ptCount val="6"/>
                <c:pt idx="0">
                  <c:v>2021</c:v>
                </c:pt>
                <c:pt idx="1">
                  <c:v>2022</c:v>
                </c:pt>
                <c:pt idx="2">
                  <c:v>2023</c:v>
                </c:pt>
                <c:pt idx="3">
                  <c:v>2024</c:v>
                </c:pt>
                <c:pt idx="4">
                  <c:v>2025</c:v>
                </c:pt>
                <c:pt idx="5">
                  <c:v>31/08/2026</c:v>
                </c:pt>
              </c:strCache>
            </c:strRef>
          </c:cat>
          <c:val>
            <c:numRef>
              <c:f>Sheet1!$D$2:$D$7</c:f>
              <c:numCache>
                <c:formatCode># ##0,,</c:formatCode>
                <c:ptCount val="6"/>
                <c:pt idx="0">
                  <c:v>-4659173531</c:v>
                </c:pt>
                <c:pt idx="1">
                  <c:v>-2598840854</c:v>
                </c:pt>
                <c:pt idx="2">
                  <c:v>-1668211752</c:v>
                </c:pt>
                <c:pt idx="3">
                  <c:v>-876142111</c:v>
                </c:pt>
                <c:pt idx="4">
                  <c:v>-438242200</c:v>
                </c:pt>
                <c:pt idx="5">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Pour la sinistralité (70 %)</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0.64</c:v>
                </c:pt>
                <c:pt idx="1">
                  <c:v>1.48</c:v>
                </c:pt>
                <c:pt idx="2">
                  <c:v>0.65</c:v>
                </c:pt>
                <c:pt idx="3">
                  <c:v>1.75</c:v>
                </c:pt>
                <c:pt idx="4">
                  <c:v>2.88</c:v>
                </c:pt>
                <c:pt idx="5">
                  <c:v>4.11</c:v>
                </c:pt>
                <c:pt idx="6">
                  <c:v>5.0</c:v>
                </c:pt>
              </c:numCache>
            </c:numRef>
          </c:val>
          <c:smooth val="0"/>
        </c:ser>
        <c:ser>
          <c:idx val="1"/>
          <c:order val="1"/>
          <c:tx>
            <c:strRef>
              <c:f>Sheet1!$C$1</c:f>
              <c:strCache>
                <c:ptCount val="1"/>
                <c:pt idx="0">
                  <c:v>Pour le taux des charges (20 %)</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21.08</c:v>
                </c:pt>
                <c:pt idx="1">
                  <c:v>12.0</c:v>
                </c:pt>
                <c:pt idx="2">
                  <c:v>11.84</c:v>
                </c:pt>
                <c:pt idx="3">
                  <c:v>11.21</c:v>
                </c:pt>
                <c:pt idx="4">
                  <c:v>9.02</c:v>
                </c:pt>
                <c:pt idx="5">
                  <c:v>9.08</c:v>
                </c:pt>
                <c:pt idx="6">
                  <c:v>11.03</c:v>
                </c:pt>
              </c:numCache>
            </c:numRef>
          </c:val>
          <c:smooth val="0"/>
        </c:ser>
        <c:ser>
          <c:idx val="2"/>
          <c:order val="2"/>
          <c:tx>
            <c:strRef>
              <c:f>Sheet1!$D$1</c:f>
              <c:strCache>
                <c:ptCount val="1"/>
                <c:pt idx="0">
                  <c:v>Taux des statuts</c:v>
                </c:pt>
              </c:strCache>
            </c:strRef>
          </c:tx>
          <c:spPr>
            <a:ln w="28575">
              <a:solidFill>
                <a:srgbClr val="53565A"/>
              </a:solidFill>
            </a:ln>
          </c:spPr>
          <c:marker>
            <c:spPr>
              <a:solidFill>
                <a:srgbClr val="53565A"/>
              </a:solidFill>
              <a:ln>
                <a:solidFill>
                  <a:srgbClr val="53565A"/>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5.0</c:v>
                </c:pt>
                <c:pt idx="1">
                  <c:v>5.0</c:v>
                </c:pt>
                <c:pt idx="2">
                  <c:v>5.0</c:v>
                </c:pt>
                <c:pt idx="3">
                  <c:v>5.0</c:v>
                </c:pt>
                <c:pt idx="4">
                  <c:v>5.0</c:v>
                </c:pt>
                <c:pt idx="5">
                  <c:v>5.0</c:v>
                </c:pt>
                <c:pt idx="6">
                  <c:v>5.0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Services hospitaliers</c:v>
                </c:pt>
              </c:strCache>
            </c:strRef>
          </c:tx>
          <c:spPr>
            <a:ln w="28575">
              <a:solidFill>
                <a:srgbClr val="112A40"/>
              </a:solidFill>
            </a:ln>
          </c:spPr>
          <c:marker>
            <c:spPr>
              <a:solidFill>
                <a:srgbClr val="112A40"/>
              </a:solidFill>
              <a:ln>
                <a:solidFill>
                  <a:srgbClr val="112A40"/>
                </a:solidFill>
              </a:ln>
            </c:spPr>
          </c:marker>
          <c:cat>
            <c:strRef>
              <c:f>Sheet1!$A$2:$A$6</c:f>
              <c:strCache>
                <c:ptCount val="5"/>
                <c:pt idx="0">
                  <c:v>2020</c:v>
                </c:pt>
                <c:pt idx="1">
                  <c:v>2021</c:v>
                </c:pt>
                <c:pt idx="2">
                  <c:v>2022</c:v>
                </c:pt>
                <c:pt idx="3">
                  <c:v>2023</c:v>
                </c:pt>
                <c:pt idx="4">
                  <c:v>2024</c:v>
                </c:pt>
              </c:strCache>
            </c:strRef>
          </c:cat>
          <c:val>
            <c:numRef>
              <c:f>Sheet1!$B$2:$B$6</c:f>
              <c:numCache>
                <c:formatCode>0.00</c:formatCode>
                <c:ptCount val="5"/>
                <c:pt idx="0">
                  <c:v>1.3</c:v>
                </c:pt>
                <c:pt idx="1">
                  <c:v>0.66</c:v>
                </c:pt>
                <c:pt idx="2">
                  <c:v>1.48</c:v>
                </c:pt>
                <c:pt idx="3">
                  <c:v>0.94</c:v>
                </c:pt>
                <c:pt idx="4">
                  <c:v>1.35</c:v>
                </c:pt>
              </c:numCache>
            </c:numRef>
          </c:val>
          <c:smooth val="0"/>
        </c:ser>
        <c:ser>
          <c:idx val="1"/>
          <c:order val="1"/>
          <c:tx>
            <c:strRef>
              <c:f>Sheet1!$C$1</c:f>
              <c:strCache>
                <c:ptCount val="1"/>
                <c:pt idx="0">
                  <c:v>Laboratoires et radiologie</c:v>
                </c:pt>
              </c:strCache>
            </c:strRef>
          </c:tx>
          <c:spPr>
            <a:ln w="28575">
              <a:solidFill>
                <a:srgbClr val="EFAC62"/>
              </a:solidFill>
            </a:ln>
          </c:spPr>
          <c:marker>
            <c:spPr>
              <a:solidFill>
                <a:srgbClr val="EFAC62"/>
              </a:solidFill>
              <a:ln>
                <a:solidFill>
                  <a:srgbClr val="EFAC62"/>
                </a:solidFill>
              </a:ln>
            </c:spPr>
          </c:marker>
          <c:cat>
            <c:strRef>
              <c:f>Sheet1!$A$2:$A$6</c:f>
              <c:strCache>
                <c:ptCount val="5"/>
                <c:pt idx="0">
                  <c:v>2020</c:v>
                </c:pt>
                <c:pt idx="1">
                  <c:v>2021</c:v>
                </c:pt>
                <c:pt idx="2">
                  <c:v>2022</c:v>
                </c:pt>
                <c:pt idx="3">
                  <c:v>2023</c:v>
                </c:pt>
                <c:pt idx="4">
                  <c:v>2024</c:v>
                </c:pt>
              </c:strCache>
            </c:strRef>
          </c:cat>
          <c:val>
            <c:numRef>
              <c:f>Sheet1!$C$2:$C$6</c:f>
              <c:numCache>
                <c:formatCode>0.00</c:formatCode>
                <c:ptCount val="5"/>
                <c:pt idx="0">
                  <c:v>-0.27</c:v>
                </c:pt>
                <c:pt idx="1">
                  <c:v>0.1</c:v>
                </c:pt>
                <c:pt idx="2">
                  <c:v>11.29</c:v>
                </c:pt>
                <c:pt idx="3">
                  <c:v>3.97</c:v>
                </c:pt>
                <c:pt idx="4">
                  <c:v>2.32</c:v>
                </c:pt>
              </c:numCache>
            </c:numRef>
          </c:val>
          <c:smooth val="0"/>
        </c:ser>
        <c:ser>
          <c:idx val="2"/>
          <c:order val="2"/>
          <c:tx>
            <c:strRef>
              <c:f>Sheet1!$D$1</c:f>
              <c:strCache>
                <c:ptCount val="1"/>
                <c:pt idx="0">
                  <c:v>Médicaments modernes</c:v>
                </c:pt>
              </c:strCache>
            </c:strRef>
          </c:tx>
          <c:spPr>
            <a:ln w="28575">
              <a:solidFill>
                <a:srgbClr val="53565A"/>
              </a:solidFill>
            </a:ln>
          </c:spPr>
          <c:marker>
            <c:spPr>
              <a:solidFill>
                <a:srgbClr val="53565A"/>
              </a:solidFill>
              <a:ln>
                <a:solidFill>
                  <a:srgbClr val="53565A"/>
                </a:solidFill>
              </a:ln>
            </c:spPr>
          </c:marker>
          <c:cat>
            <c:strRef>
              <c:f>Sheet1!$A$2:$A$6</c:f>
              <c:strCache>
                <c:ptCount val="5"/>
                <c:pt idx="0">
                  <c:v>2020</c:v>
                </c:pt>
                <c:pt idx="1">
                  <c:v>2021</c:v>
                </c:pt>
                <c:pt idx="2">
                  <c:v>2022</c:v>
                </c:pt>
                <c:pt idx="3">
                  <c:v>2023</c:v>
                </c:pt>
                <c:pt idx="4">
                  <c:v>2024</c:v>
                </c:pt>
              </c:strCache>
            </c:strRef>
          </c:cat>
          <c:val>
            <c:numRef>
              <c:f>Sheet1!$D$2:$D$6</c:f>
              <c:numCache>
                <c:formatCode>0.00</c:formatCode>
                <c:ptCount val="5"/>
                <c:pt idx="0">
                  <c:v>1.23</c:v>
                </c:pt>
                <c:pt idx="1">
                  <c:v>1.9</c:v>
                </c:pt>
                <c:pt idx="2">
                  <c:v>1.66</c:v>
                </c:pt>
                <c:pt idx="3">
                  <c:v>2.2</c:v>
                </c:pt>
                <c:pt idx="4">
                  <c:v>0.63</c:v>
                </c:pt>
              </c:numCache>
            </c:numRef>
          </c:val>
          <c:smooth val="0"/>
        </c:ser>
        <c:ser>
          <c:idx val="3"/>
          <c:order val="3"/>
          <c:tx>
            <c:strRef>
              <c:f>Sheet1!$E$1</c:f>
              <c:strCache>
                <c:ptCount val="1"/>
                <c:pt idx="0">
                  <c:v>Services médicaux et dentaires</c:v>
                </c:pt>
              </c:strCache>
            </c:strRef>
          </c:tx>
          <c:spPr>
            <a:ln w="28575">
              <a:solidFill>
                <a:srgbClr val="BBBCBC"/>
              </a:solidFill>
            </a:ln>
          </c:spPr>
          <c:marker>
            <c:spPr>
              <a:solidFill>
                <a:srgbClr val="BBBCBC"/>
              </a:solidFill>
              <a:ln>
                <a:solidFill>
                  <a:srgbClr val="BBBCBC"/>
                </a:solidFill>
              </a:ln>
            </c:spPr>
          </c:marker>
          <c:cat>
            <c:strRef>
              <c:f>Sheet1!$A$2:$A$6</c:f>
              <c:strCache>
                <c:ptCount val="5"/>
                <c:pt idx="0">
                  <c:v>2020</c:v>
                </c:pt>
                <c:pt idx="1">
                  <c:v>2021</c:v>
                </c:pt>
                <c:pt idx="2">
                  <c:v>2022</c:v>
                </c:pt>
                <c:pt idx="3">
                  <c:v>2023</c:v>
                </c:pt>
                <c:pt idx="4">
                  <c:v>2024</c:v>
                </c:pt>
              </c:strCache>
            </c:strRef>
          </c:cat>
          <c:val>
            <c:numRef>
              <c:f>Sheet1!$E$2:$E$6</c:f>
              <c:numCache>
                <c:formatCode>0.00</c:formatCode>
                <c:ptCount val="5"/>
                <c:pt idx="0">
                  <c:v>-0.96</c:v>
                </c:pt>
                <c:pt idx="1">
                  <c:v>5.89</c:v>
                </c:pt>
                <c:pt idx="2">
                  <c:v>1.25</c:v>
                </c:pt>
                <c:pt idx="3">
                  <c:v>-1.53</c:v>
                </c:pt>
                <c:pt idx="4">
                  <c:v>0.06</c:v>
                </c:pt>
              </c:numCache>
            </c:numRef>
          </c:val>
          <c:smooth val="0"/>
        </c:ser>
        <c:ser>
          <c:idx val="4"/>
          <c:order val="4"/>
          <c:tx>
            <c:strRef>
              <c:f>Sheet1!$F$1</c:f>
              <c:strCache>
                <c:ptCount val="1"/>
                <c:pt idx="0">
                  <c:v>Inflation pondérée du FPPN</c:v>
                </c:pt>
              </c:strCache>
            </c:strRef>
          </c:tx>
          <c:spPr>
            <a:ln w="28575">
              <a:solidFill>
                <a:srgbClr val="060606"/>
              </a:solidFill>
            </a:ln>
          </c:spPr>
          <c:marker>
            <c:spPr>
              <a:solidFill>
                <a:srgbClr val="060606"/>
              </a:solidFill>
              <a:ln>
                <a:solidFill>
                  <a:srgbClr val="060606"/>
                </a:solidFill>
              </a:ln>
            </c:spPr>
          </c:marker>
          <c:cat>
            <c:strRef>
              <c:f>Sheet1!$A$2:$A$6</c:f>
              <c:strCache>
                <c:ptCount val="5"/>
                <c:pt idx="0">
                  <c:v>2020</c:v>
                </c:pt>
                <c:pt idx="1">
                  <c:v>2021</c:v>
                </c:pt>
                <c:pt idx="2">
                  <c:v>2022</c:v>
                </c:pt>
                <c:pt idx="3">
                  <c:v>2023</c:v>
                </c:pt>
                <c:pt idx="4">
                  <c:v>2024</c:v>
                </c:pt>
              </c:strCache>
            </c:strRef>
          </c:cat>
          <c:val>
            <c:numRef>
              <c:f>Sheet1!$F$2:$F$6</c:f>
              <c:numCache>
                <c:formatCode>0.00</c:formatCode>
                <c:ptCount val="5"/>
                <c:pt idx="0">
                  <c:v>-0.31</c:v>
                </c:pt>
                <c:pt idx="1">
                  <c:v>1.61</c:v>
                </c:pt>
                <c:pt idx="2">
                  <c:v>8.04</c:v>
                </c:pt>
                <c:pt idx="3">
                  <c:v>2.45</c:v>
                </c:pt>
                <c:pt idx="4">
                  <c:v>0.73</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Sheet1!$B$2:$B$24</c:f>
              <c:numCache>
                <c:formatCode>0.00</c:formatCode>
                <c:ptCount val="23"/>
                <c:pt idx="0">
                  <c:v>100.0</c:v>
                </c:pt>
                <c:pt idx="1">
                  <c:v>99.25</c:v>
                </c:pt>
                <c:pt idx="2">
                  <c:v>99.09</c:v>
                </c:pt>
                <c:pt idx="3">
                  <c:v>98.89</c:v>
                </c:pt>
                <c:pt idx="4">
                  <c:v>98.34</c:v>
                </c:pt>
                <c:pt idx="5">
                  <c:v>97.53</c:v>
                </c:pt>
                <c:pt idx="6">
                  <c:v>96.63</c:v>
                </c:pt>
                <c:pt idx="7">
                  <c:v>95.6</c:v>
                </c:pt>
                <c:pt idx="8">
                  <c:v>94.25</c:v>
                </c:pt>
                <c:pt idx="9">
                  <c:v>92.31</c:v>
                </c:pt>
                <c:pt idx="10">
                  <c:v>89.56</c:v>
                </c:pt>
                <c:pt idx="11">
                  <c:v>86.04</c:v>
                </c:pt>
                <c:pt idx="12">
                  <c:v>81.51</c:v>
                </c:pt>
                <c:pt idx="13">
                  <c:v>75.11</c:v>
                </c:pt>
                <c:pt idx="14">
                  <c:v>66.44</c:v>
                </c:pt>
                <c:pt idx="15">
                  <c:v>55.74</c:v>
                </c:pt>
                <c:pt idx="16">
                  <c:v>43.23</c:v>
                </c:pt>
                <c:pt idx="17">
                  <c:v>29.22</c:v>
                </c:pt>
                <c:pt idx="18">
                  <c:v>15.94</c:v>
                </c:pt>
                <c:pt idx="19">
                  <c:v>5.26</c:v>
                </c:pt>
                <c:pt idx="20">
                  <c:v>0.3</c:v>
                </c:pt>
                <c:pt idx="21">
                  <c:v>0.0</c:v>
                </c:pt>
                <c:pt idx="22">
                  <c:v>0.0</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Sheet1!$C$2:$C$24</c:f>
              <c:numCache>
                <c:formatCode>0.00</c:formatCode>
                <c:ptCount val="23"/>
                <c:pt idx="0">
                  <c:v>100.0</c:v>
                </c:pt>
                <c:pt idx="1">
                  <c:v>99.6</c:v>
                </c:pt>
                <c:pt idx="2">
                  <c:v>99.51</c:v>
                </c:pt>
                <c:pt idx="3">
                  <c:v>99.41</c:v>
                </c:pt>
                <c:pt idx="4">
                  <c:v>99.12</c:v>
                </c:pt>
                <c:pt idx="5">
                  <c:v>98.68</c:v>
                </c:pt>
                <c:pt idx="6">
                  <c:v>98.19</c:v>
                </c:pt>
                <c:pt idx="7">
                  <c:v>97.62</c:v>
                </c:pt>
                <c:pt idx="8">
                  <c:v>96.88</c:v>
                </c:pt>
                <c:pt idx="9">
                  <c:v>95.79</c:v>
                </c:pt>
                <c:pt idx="10">
                  <c:v>94.24</c:v>
                </c:pt>
                <c:pt idx="11">
                  <c:v>92.22</c:v>
                </c:pt>
                <c:pt idx="12">
                  <c:v>89.58</c:v>
                </c:pt>
                <c:pt idx="13">
                  <c:v>85.81</c:v>
                </c:pt>
                <c:pt idx="14">
                  <c:v>80.52</c:v>
                </c:pt>
                <c:pt idx="15">
                  <c:v>73.52</c:v>
                </c:pt>
                <c:pt idx="16">
                  <c:v>64.46</c:v>
                </c:pt>
                <c:pt idx="17">
                  <c:v>52.62</c:v>
                </c:pt>
                <c:pt idx="18">
                  <c:v>38.44</c:v>
                </c:pt>
                <c:pt idx="19">
                  <c:v>21.64</c:v>
                </c:pt>
                <c:pt idx="20">
                  <c:v>4.87</c:v>
                </c:pt>
                <c:pt idx="21">
                  <c:v>0.1</c:v>
                </c:pt>
                <c:pt idx="22">
                  <c:v>0.0</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Sheet1!$D$2:$D$24</c:f>
              <c:numCache>
                <c:formatCode>0.00</c:formatCode>
                <c:ptCount val="23"/>
                <c:pt idx="0">
                  <c:v>100.0</c:v>
                </c:pt>
                <c:pt idx="1">
                  <c:v>97.1</c:v>
                </c:pt>
                <c:pt idx="2">
                  <c:v>96.88</c:v>
                </c:pt>
                <c:pt idx="3">
                  <c:v>96.67</c:v>
                </c:pt>
                <c:pt idx="4">
                  <c:v>96.2</c:v>
                </c:pt>
                <c:pt idx="5">
                  <c:v>95.49</c:v>
                </c:pt>
                <c:pt idx="6">
                  <c:v>94.7</c:v>
                </c:pt>
                <c:pt idx="7">
                  <c:v>93.7</c:v>
                </c:pt>
                <c:pt idx="8">
                  <c:v>92.26</c:v>
                </c:pt>
                <c:pt idx="9">
                  <c:v>90.14</c:v>
                </c:pt>
                <c:pt idx="10">
                  <c:v>87.03</c:v>
                </c:pt>
                <c:pt idx="11">
                  <c:v>82.48</c:v>
                </c:pt>
                <c:pt idx="12">
                  <c:v>75.93</c:v>
                </c:pt>
                <c:pt idx="13">
                  <c:v>66.8</c:v>
                </c:pt>
                <c:pt idx="14">
                  <c:v>54.76</c:v>
                </c:pt>
                <c:pt idx="15">
                  <c:v>40.19</c:v>
                </c:pt>
                <c:pt idx="16">
                  <c:v>24.83</c:v>
                </c:pt>
                <c:pt idx="17">
                  <c:v>11.72</c:v>
                </c:pt>
                <c:pt idx="18">
                  <c:v>3.64</c:v>
                </c:pt>
                <c:pt idx="19">
                  <c:v>0.59</c:v>
                </c:pt>
                <c:pt idx="20">
                  <c:v>0.03</c:v>
                </c:pt>
                <c:pt idx="21">
                  <c:v>0.0</c:v>
                </c:pt>
                <c:pt idx="22">
                  <c:v>0.0</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Sheet1!$E$2:$E$24</c:f>
              <c:numCache>
                <c:formatCode>0.00</c:formatCode>
                <c:ptCount val="23"/>
                <c:pt idx="0">
                  <c:v>100.0</c:v>
                </c:pt>
                <c:pt idx="1">
                  <c:v>97.75</c:v>
                </c:pt>
                <c:pt idx="2">
                  <c:v>97.6</c:v>
                </c:pt>
                <c:pt idx="3">
                  <c:v>97.47</c:v>
                </c:pt>
                <c:pt idx="4">
                  <c:v>97.23</c:v>
                </c:pt>
                <c:pt idx="5">
                  <c:v>96.91</c:v>
                </c:pt>
                <c:pt idx="6">
                  <c:v>96.48</c:v>
                </c:pt>
                <c:pt idx="7">
                  <c:v>95.94</c:v>
                </c:pt>
                <c:pt idx="8">
                  <c:v>95.22</c:v>
                </c:pt>
                <c:pt idx="9">
                  <c:v>94.21</c:v>
                </c:pt>
                <c:pt idx="10">
                  <c:v>92.73</c:v>
                </c:pt>
                <c:pt idx="11">
                  <c:v>90.46</c:v>
                </c:pt>
                <c:pt idx="12">
                  <c:v>86.94</c:v>
                </c:pt>
                <c:pt idx="13">
                  <c:v>81.48</c:v>
                </c:pt>
                <c:pt idx="14">
                  <c:v>73.17</c:v>
                </c:pt>
                <c:pt idx="15">
                  <c:v>61.15</c:v>
                </c:pt>
                <c:pt idx="16">
                  <c:v>45.26</c:v>
                </c:pt>
                <c:pt idx="17">
                  <c:v>27.28</c:v>
                </c:pt>
                <c:pt idx="18">
                  <c:v>11.64</c:v>
                </c:pt>
                <c:pt idx="19">
                  <c:v>2.77</c:v>
                </c:pt>
                <c:pt idx="20">
                  <c:v>0.24</c:v>
                </c:pt>
                <c:pt idx="21">
                  <c:v>0.0</c:v>
                </c:pt>
                <c:pt idx="2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Sheet1!$B$2:$B$14</c:f>
              <c:numCache>
                <c:formatCode>0.00</c:formatCode>
                <c:ptCount val="13"/>
                <c:pt idx="0">
                  <c:v>1.58</c:v>
                </c:pt>
                <c:pt idx="1">
                  <c:v>1.75</c:v>
                </c:pt>
                <c:pt idx="2">
                  <c:v>1.99</c:v>
                </c:pt>
                <c:pt idx="3">
                  <c:v>2.48</c:v>
                </c:pt>
                <c:pt idx="4">
                  <c:v>3.5</c:v>
                </c:pt>
                <c:pt idx="5">
                  <c:v>5.27</c:v>
                </c:pt>
                <c:pt idx="6">
                  <c:v>7.14</c:v>
                </c:pt>
                <c:pt idx="7">
                  <c:v>9.38</c:v>
                </c:pt>
                <c:pt idx="8">
                  <c:v>13.53</c:v>
                </c:pt>
                <c:pt idx="9">
                  <c:v>20.78</c:v>
                </c:pt>
                <c:pt idx="10">
                  <c:v>29.82</c:v>
                </c:pt>
                <c:pt idx="11">
                  <c:v>42.42</c:v>
                </c:pt>
                <c:pt idx="12">
                  <c:v>62.56</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Sheet1!$C$2:$C$14</c:f>
              <c:numCache>
                <c:formatCode>0.00</c:formatCode>
                <c:ptCount val="13"/>
                <c:pt idx="0">
                  <c:v>0.84</c:v>
                </c:pt>
                <c:pt idx="1">
                  <c:v>0.94</c:v>
                </c:pt>
                <c:pt idx="2">
                  <c:v>1.08</c:v>
                </c:pt>
                <c:pt idx="3">
                  <c:v>1.34</c:v>
                </c:pt>
                <c:pt idx="4">
                  <c:v>1.89</c:v>
                </c:pt>
                <c:pt idx="5">
                  <c:v>2.85</c:v>
                </c:pt>
                <c:pt idx="6">
                  <c:v>3.87</c:v>
                </c:pt>
                <c:pt idx="7">
                  <c:v>5.09</c:v>
                </c:pt>
                <c:pt idx="8">
                  <c:v>7.2</c:v>
                </c:pt>
                <c:pt idx="9">
                  <c:v>10.86</c:v>
                </c:pt>
                <c:pt idx="10">
                  <c:v>15.56</c:v>
                </c:pt>
                <c:pt idx="11">
                  <c:v>22.2</c:v>
                </c:pt>
                <c:pt idx="12">
                  <c:v>32.91</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Sheet1!$D$2:$D$14</c:f>
              <c:numCache>
                <c:formatCode>0.00</c:formatCode>
                <c:ptCount val="13"/>
                <c:pt idx="0">
                  <c:v>1.35</c:v>
                </c:pt>
                <c:pt idx="1">
                  <c:v>1.6</c:v>
                </c:pt>
                <c:pt idx="2">
                  <c:v>1.83</c:v>
                </c:pt>
                <c:pt idx="3">
                  <c:v>2.64</c:v>
                </c:pt>
                <c:pt idx="4">
                  <c:v>3.9</c:v>
                </c:pt>
                <c:pt idx="5">
                  <c:v>5.87</c:v>
                </c:pt>
                <c:pt idx="6">
                  <c:v>8.94</c:v>
                </c:pt>
                <c:pt idx="7">
                  <c:v>13.71</c:v>
                </c:pt>
                <c:pt idx="8">
                  <c:v>21.11</c:v>
                </c:pt>
                <c:pt idx="9">
                  <c:v>32.55</c:v>
                </c:pt>
                <c:pt idx="10">
                  <c:v>50.12</c:v>
                </c:pt>
                <c:pt idx="11">
                  <c:v>76.92</c:v>
                </c:pt>
                <c:pt idx="12">
                  <c:v>117.24</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Sheet1!$E$2:$E$14</c:f>
              <c:numCache>
                <c:formatCode>0.00</c:formatCode>
                <c:ptCount val="13"/>
                <c:pt idx="0">
                  <c:v>0.62</c:v>
                </c:pt>
                <c:pt idx="1">
                  <c:v>0.78</c:v>
                </c:pt>
                <c:pt idx="2">
                  <c:v>1.03</c:v>
                </c:pt>
                <c:pt idx="3">
                  <c:v>1.32</c:v>
                </c:pt>
                <c:pt idx="4">
                  <c:v>1.82</c:v>
                </c:pt>
                <c:pt idx="5">
                  <c:v>2.66</c:v>
                </c:pt>
                <c:pt idx="6">
                  <c:v>4.08</c:v>
                </c:pt>
                <c:pt idx="7">
                  <c:v>6.46</c:v>
                </c:pt>
                <c:pt idx="8">
                  <c:v>10.48</c:v>
                </c:pt>
                <c:pt idx="9">
                  <c:v>17.22</c:v>
                </c:pt>
                <c:pt idx="10">
                  <c:v>28.5</c:v>
                </c:pt>
                <c:pt idx="11">
                  <c:v>47.25</c:v>
                </c:pt>
                <c:pt idx="12">
                  <c:v>78.09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Scénario A : tendance 2023 à 2025</c:v>
                </c:pt>
              </c:strCache>
            </c:strRef>
          </c:tx>
          <c:spPr>
            <a:solidFill>
              <a:srgbClr val="EFAC62"/>
            </a:solidFill>
          </c:spPr>
          <c:cat>
            <c:strRef>
              <c:f>Sheet1!$A$2:$A$6</c:f>
              <c:strCache>
                <c:ptCount val="5"/>
                <c:pt idx="0">
                  <c:v>2026</c:v>
                </c:pt>
                <c:pt idx="1">
                  <c:v>2027</c:v>
                </c:pt>
                <c:pt idx="2">
                  <c:v>2028</c:v>
                </c:pt>
                <c:pt idx="3">
                  <c:v>2029</c:v>
                </c:pt>
                <c:pt idx="4">
                  <c:v>2030</c:v>
                </c:pt>
              </c:strCache>
            </c:strRef>
          </c:cat>
          <c:val>
            <c:numRef>
              <c:f>Sheet1!$B$2:$B$6</c:f>
              <c:numCache>
                <c:formatCode># ##0,,</c:formatCode>
                <c:ptCount val="5"/>
                <c:pt idx="0">
                  <c:v>-717817033</c:v>
                </c:pt>
                <c:pt idx="1">
                  <c:v>-2769949168</c:v>
                </c:pt>
                <c:pt idx="2">
                  <c:v>-6540099684</c:v>
                </c:pt>
                <c:pt idx="3">
                  <c:v>-13297145940</c:v>
                </c:pt>
                <c:pt idx="4">
                  <c:v>-25229464300</c:v>
                </c:pt>
              </c:numCache>
            </c:numRef>
          </c:val>
        </c:ser>
        <c:ser>
          <c:idx val="1"/>
          <c:order val="1"/>
          <c:tx>
            <c:strRef>
              <c:f>Sheet1!$C$1</c:f>
              <c:strCache>
                <c:ptCount val="1"/>
                <c:pt idx="0">
                  <c:v>Scénario B : prestations au rythme des cotisations</c:v>
                </c:pt>
              </c:strCache>
            </c:strRef>
          </c:tx>
          <c:spPr>
            <a:solidFill>
              <a:srgbClr val="112A40"/>
            </a:solidFill>
          </c:spPr>
          <c:cat>
            <c:strRef>
              <c:f>Sheet1!$A$2:$A$6</c:f>
              <c:strCache>
                <c:ptCount val="5"/>
                <c:pt idx="0">
                  <c:v>2026</c:v>
                </c:pt>
                <c:pt idx="1">
                  <c:v>2027</c:v>
                </c:pt>
                <c:pt idx="2">
                  <c:v>2028</c:v>
                </c:pt>
                <c:pt idx="3">
                  <c:v>2029</c:v>
                </c:pt>
                <c:pt idx="4">
                  <c:v>2030</c:v>
                </c:pt>
              </c:strCache>
            </c:strRef>
          </c:cat>
          <c:val>
            <c:numRef>
              <c:f>Sheet1!$C$2:$C$6</c:f>
              <c:numCache>
                <c:formatCode># ##0,,</c:formatCode>
                <c:ptCount val="5"/>
                <c:pt idx="0">
                  <c:v>481613179</c:v>
                </c:pt>
                <c:pt idx="1">
                  <c:v>628977752</c:v>
                </c:pt>
                <c:pt idx="2">
                  <c:v>795518729</c:v>
                </c:pt>
                <c:pt idx="3">
                  <c:v>983456480</c:v>
                </c:pt>
                <c:pt idx="4">
                  <c:v>1195261600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pour le client : la qualité de l'analyse dépend désormais de la transmission des données manquantes, pas du traitement.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Gauche : fonds propres (résultat compris) à chaque clôture. Droite : encours des prêts du Grenier en fin d'année et au 31/08/2026. Détails dans les parties 9 et 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Rapport d'étape (réponse aux quatre demandes, revue actuarielle complète, adossement actif-passif ; documents du 22/10/2026, périmètre et validité, provision du personnel recalculée, contrôles croisés ; analyses de sensibilité et leviers de conformité ; statuts et règlement intérieur ; réponse aux quatre tâches actuarielles ; entretiens placements et provisions du 19/10/2026 ; revue des provisions, choix des formules et tableau des formules ; entretien cotisations du 19/10/2026 intégré). Données arrêtées à l'envoi du FPPN reçu le 15/10/2026, complétées le 18/10/2026 (grands livres PDF, inflation Banque mondiale, tables CIMA, documentation publique de l'AIRMS).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suit l'ordre : résumé exécutif (réponse aux quatre demandes), compréhension du FPPN, démarche, données, analyses par thème, adossement actif-passif et placements, conformité prudentielle, tables de mortalité, projection de l'équilibre technique, outils, analyses en attente, annexes.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peut être présentée seule : elle reprend les messages essentiels du rapport, avec les chiffres et les renvois aux parties détaillées.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Échelle des verdicts : « Démontré » (les documents reçus permettent de conclure et la conclusion est favorable), « Partiellement démontré » (une partie est mesurée, une partie ne l'est pas), « Insuffisant » (les mesures montrent un manque), « Non démontrable » (les documents reçus ne permettent pas de conclure).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engagement est ce que le FPPN devra payer plus tard au titre de droits déjà acquis par les adhérents et leurs ayants droit. Le tableau reprend chaque engagement, sa valeur et la diapositive qui la démontre.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provision est suffisante si elle couvre ce que le FPPN devra payer pour des prestations déjà nées. Le tableau compare chaque provision du bilan au besoin mesuré sur les documents reçus.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vérifie que l'argent disponible arrive au moment où le FPPN doit payer. Sans échéancier de l'épargne, les sorties sont estimées avec les taux de sortie observés de 2021 à 2025.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portefeuille est adéquat s'il permet de payer les engagements à leur échéance, avec sécurité, liquidité, rendement et diversification (règlement d'exécution n° 004/2022, art. 17).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Pourquoi « fragile » malgré des excédents ? Parce que les excédents annuels ne suffisent pas encore à effacer les pertes passées (fonds propres négatifs) et que l'épargne due aux mutualistes n'est pas couverte par des actifs disponibles. Pourquoi « peu documenté » ? Aucune base de prestations, pas de date de naissance des mutualistes, pas de barème officiel transmis. Pourquoi « hors normes » ? Les ratios de la Décision n° 05/2022/COM/UEMOA, appliqués aux balances, ne sont pas respectés pour la réserve obligatoire, les fonds propres, la liquidité et les frais. Chaque ligne renvoie à une partie détaillée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lire : chaque ligne donne un indicateur, sa valeur et sa définition. Les quatre valeurs sont calculées sur les fichiers du FPPN et détaillées dans les parties 5, 6, 7 et 4. Le précompte des prêts mesure la part des échéances effectivement retenue sur salaire ; l'écart peut être payé autrement (caisse, banque), ce que le Grenier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résume les flux d'argent. Les mutualistes cotisent par précompte sur salaire (Solde) ou sur pension (CGRAE). Le FPPN paie les prestations maladie (cliniques, pharmacies) et décès (familles), gère l'épargne (PEP, EFC), finance les prêts du Grenier et des investissements (CMP, terrains). Les montants sont ceux de la comptabilité 2025 et du bilan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constats sont classés du plus général (données) au plus réglementaire (normes). Les chiffres sont exacts et proviennent des balances comptables et des précomptes. Le constat « actifs peu liquides » repose sur la nature des comptes (investissements, terrains, créances) ; leur valeur réelle n'a pas été expertisée.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Graphique de gauche : rapport entre prestations et cotisations maladie comptabilisées, par exercice. Graphique de droite : épargne due aux mutualistes (passif) et actifs qui lui sont réservés. Les deux graphiques sont détaillés dans les parties 5 et 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1"/>
        <p:cNvGrpSpPr/>
        <p:nvPr/>
      </p:nvGrpSpPr>
      <p:grpSpPr>
        <a:xfrm>
          <a:off x="0" y="0"/>
          <a:ext cx="0" cy="0"/>
          <a:chOff x="0" y="0"/>
          <a:chExt cx="0" cy="0"/>
        </a:xfrm>
      </p:grpSpPr>
      <p:sp>
        <p:nvSpPr>
          <p:cNvPr id="9212" name="Google Shape;9212;g1230f35283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I"/>
          </a:p>
        </p:txBody>
      </p:sp>
      <p:sp>
        <p:nvSpPr>
          <p:cNvPr id="9213" name="Google Shape;9213;g1230f35283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Lecture : chaque colonne relie une cause (en haut) à son effet (en bas). Les causes sont démontrées par les données ; les effets sont des risques, c'est-à-dire des conséquences possibles, à confirmer par les analyses en attente.</a:t>
            </a:r>
          </a:p>
        </p:txBody>
      </p:sp>
    </p:spTree>
    <p:extLst>
      <p:ext uri="{BB962C8B-B14F-4D97-AF65-F5344CB8AC3E}">
        <p14:creationId xmlns:p14="http://schemas.microsoft.com/office/powerpoint/2010/main" val="3069930257"/>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est jugé sur les exercices 2022 à 2025, la Décision étant entrée en vigueur le 1er juin 2022. « Comme le FPPN » : comptes pris tels qu'ils sont tenus. « Retraité » : épargne des adhérents classée en ressource longue et avances au CMP, au Grenier et à l'Hôpital de la Police classées en emplois longs. Détail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priorité : sans les données (actions 1 à 3), les provisions et les engagements ne peuvent pas être calculés. Les actions 4 à 7 relèvent de la direction du FPPN et du conseil d'administration. Les numéros entre parenthèses renvoient à la liste des documents demandés (PBC).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ne fixe pas de dates : elles dépendent du délai de transmission des données par le FPPN. Chaque étape produit une mise à jour de ce rapport.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donne au lecteur les clés pour comprendre la suite, sans connaissance préalable en actuariat.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mutuelle sociale n'est pas une compagnie d'assurance : elle est régie par le règlement UEMOA de 2009, pas par le Code CIMA. Le Code CIMA sert ici seulement de référence technique (tables de mortalité, taux d'actualisation), faute de règle équivalente dans les textes de la mutualité. Le répertoire de l'AIRMS mis à jour le 15/10/2026 cite le FPPN au n° 05 des mutuelles agréées et immatriculées ; le numéro et la date de son agrément restent à obtenir.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intégrale des statuts (43 pages) et du règlement intérieur (45 pages) transmis le 19/10/2026. Le tableau ne retient que les dispositions utiles aux tâches actuarielles. Les deux textes renvoient, pour les montants des prestations, à un « cahier des charges du régime des prestations sociales » et à un « tableau des allocations », non transmis (PBC, items 100 et 101).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du tableau précédent. Le personnel civil de la Direction Générale perçoit un salaire ; les fonctionnaires de police en service à la Direction Générale perçoivent des indemnités (règlement intérieur, art. 31). L'indemnité de départ du décret n° 2017-210 vise les salariés ; la retraite des fonctionnaires relève de l'État (décret n° 2012-652 : 60 ou 65 ans selon le grade).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produit a un code de poste sur la fiche de paie (Solde) : 936 maladie, 8Z6 décès, 870 EFC, 998 PEP, 9X4 Grenier, 9W3 flotte, 8Z7 MEDOC. Les retraités sont précomptés par la CGRAE sur leur pension. Les montants moyens sont observés dans les fichiers de précomptes, pas tirés d'un barème (non reçu).</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 chaque couloir est un acteur. Rectangle : étape ; losange : décision ; forme ondulée : fichier ; cadre rouge : point de contrôle manquant. Le circuit est celui décrit par le responsable des cotisations le 19/10/2026 ; il reste à confirmer par document.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reprend les circuits décrits le 19/10/2026. Le fichier aller contient le mécano, le nom, le code du poste, une référence et le montant ; la Solde retrouve le mutualiste par son mécano.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résultat de l'exercice est la différence entre produits et charges (y compris les éléments exceptionnels, dits hors activités ordinaires). En 2025, il reste positif, mais il diminue depuis 2021 (partie 5).</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définitions sont volontairement simples. Les formules exactes figurent dans les diapositives « méthode » de chaque partie et dans l'annexe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questions viennent du dossier de préparation de la mission ; les trois axes complémentaires (données, conformité, équilibre) en découlent. La colonne « état » dit honnêtement ce qui est fait et ce qui attend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résultat mesuré sur quelques mois, une partie de la population ou un seul document ne peut pas être étendu au reste sans vérification. Le tableau donne, pour chaque famille d'analyses, ce qui a été mesuré et ce à quoi le résultat ne doit pas être généralisé.</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taille de chaque fichier reçu a été comparée à celle relevée sur le poste du FPPN avant l'envoi : aucun fichier n'a été altéré pendant le transfert.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dans PowerPoint. Ovale : début ou fin ; rectangle : traitement ; losange : contrôle avec sa décision ; forme ondulée : document produit. Chaque étape correspond à un script Python conservé dans le dossier de la mission ; chaque contrôle 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Exhaustivité : rien n'est perdu entre le fichier reçu et la base. Cohérence : les totaux imprimés par les logiciels sont retrouvés. Rapprochement : deux sources qui décrivent le même flux doivent concorder. Limite : la fidélité aux fichiers n'est pas l'exactitude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mois est compté comme reçu quand au moins un fichier lisible le couvre. Les balances comptables couvrent l'année entière en totaux annuels ; le détail des écritures de janvier à août 2020 manque.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la colonne matricule de la dernière ligne contient un nombre de lignes, pas un matricule ; (2) le montant est la somme de toutes les lignes au-dessus ; (3) compter cette ligne aurait doublé le total du mois. Règle appliquée : une ligne dont le montant égale la somme des autres (à 1 % près) est écartée. Au total, 87 lignes de ce type ont été écartées. Noms et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montant source répète deux fois la même suite de chiffres ; (2) un précompte décès de plusieurs milliards de FCFA par agent est impossible (médiane du poste : environ 2 300 FCFA) ; (3) le montant retenu est la première moitié. Correction appliquée seulement au poste décès, au-delà d'un million de FCFA, et signalée au FPPN.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précompte = montant retour / montant aller sur les mois où les deux fichiers existent. Un taux supérieur à 100 % signifie que le fichier aller était incomplet (cas du PEP en juillet 2024).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Janvier 2025 : le fichier retour compte moins de lignes que le fichier aller, des précomptes n'ont pas été faits. Juillet 2024 : le fichier retour compte plus de lignes que le fichier aller, le fichier aller n'incluait pas les nouveaux épargnants (le fichier aller d'août 2024 en compte nettement plus).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vide (0 octet) ne contient aucune donnée ; un fichier endommagé a une partie de ses données détruite (souvent lors d'une copie ou d'un transfert). Aucun de ces défauts ne vient du traitement d'Adenka : les empreintes prouvent que les fichiers sont identiques à ceux reçus.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fr-CI"/>
          </a:p>
        </p:txBody>
      </p:sp>
      <p:sp>
        <p:nvSpPr>
          <p:cNvPr id="3" name="Notes Placeholder 2"/>
          <p:cNvSpPr>
            <a:spLocks noGrp="1"/>
          </p:cNvSpPr>
          <p:nvPr>
            <p:ph type="body" idx="1"/>
          </p:nvPr>
        </p:nvSpPr>
        <p:spPr/>
        <p:txBody>
          <a:bodyPr/>
          <a:lstStyle/>
          <a:p>
            <a:r>
              <a:t>Chaque anneau donne un pourcentage. La trésorerie totale (toutes banques et caisses) ne représente qu'une petite part de l'épargne due. Les prêts en retard sont mesurés ici en nombre de prêts ; en montant d'encours, la part est plus faible (voir partie 7).</a:t>
            </a:r>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107</a:t>
            </a:fld>
            <a:endParaRPr lang="en-US"/>
          </a:p>
        </p:txBody>
      </p:sp>
    </p:spTree>
    <p:extLst>
      <p:ext uri="{BB962C8B-B14F-4D97-AF65-F5344CB8AC3E}">
        <p14:creationId xmlns:p14="http://schemas.microsoft.com/office/powerpoint/2010/main" val="127884844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des états financiers ont été relevés sur les pages « Bilan Actif » et « Bilan Passif » des PDF scannés, puis comparés aux balances utilisées dans tout le rapport. La trésorerie-actif des états financiers est comparée à la somme des soldes débiteurs de la classe 5, car les découverts figurent au passif.</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sources indépendantes sont comparées : l'étude des ratios du FPPN (nombre d'adhérents par période) et les fichiers retour 8Z6 de la Solde (une ligne par policier précompté). La seconde partie du tableau rapporte, agent par agent, le précompte décès (8Z6) au précompte maladie (936) du même mois : la clé 3,77 / 1,23 donne un rapport de 0,3263.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état de rapprochement compare, à une date, le solde du compte dans la comptabilité du FPPN et le solde du relevé de la banque, puis liste les opérations qui expliquent l'écart. Les chèques émis par le FPPN mais pas encore présentés à la banque figurent dans cette liste.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 du mois m = nombre de matricules distincts du fichier maladie 936 du mois m. Entrée = matricule présent en m et absent en m-1 ; sortie = l'inverse. Taux de cotisation = précompte du mois / salaire de base du mois.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droite de tendance estimée par moindres carrés donne une hausse de 296,28 cotisants par mois (intervalle de confiance à 95 % : 241,31 à 351,25). La probabilité d'observer une telle pente si la vraie pente était nulle est inférieure à 0,01 % (p-valeur 6.91e-12). La hausse se fait par paliers en juillet, ce qui rend la droite seulement approximative (R² = 0,81).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mois sans mois précédent disponible (janvier 2024, janvier 2025 après le fichier vide de décembre 2024) n'ont pas de flux calculé. Les sorties de novembre 2024 et janvier 2026 sont plus nombreuses : leur motif doit être demandé au FPPN (départs à la retraite de fin d'année probables, non vérifiés).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L'ancienneté est calculée à partir de la date de recrutement du fichier détaillé de janvier 2025. Elle ne donne pas l'âge : deux agents de même ancienneté peuvent avoir des âges différents. Pour cette raison, aucune hypothèse d'âge n'a été faite.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pour le premier agent : 11 354 / 301 159 = 3,77 % (maladie) ; 3 704 / 301 159 = 1,23 % (décès) ; total 5,00 %. Le barème fixé par l'article 17 des statuts du FPPN est de 3,5 % et 1,5 %. Le total est donc bon mais la répartition diffère.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clé comptable est la part des cotisations maladie (compte 70100000) dans le total des cotisations maladie et décès (comptes 70100000 et 70210000) de 2025, multipliée par 5 %. Elle est proche du barème indiqué en entretien, pas de la clé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S/C maladie = prestations maladie / (cotisations totales × part maladie). Avec la clé de la Solde (75,40 %), la part des cotisations affectée à la maladie augmente, donc le ratio maladie baisse et le ratio décès monte. Les prestations ne changent pas : seule l'affectation des cotisations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indice des prix base 100 en 2020, construit en cumulant l'inflation annuelle de la Banque mondiale (2021 : 4,16 % ; 2022 : 5,23 % ; 2023 : 4,37 % ; 2024 : 3,45 % ; 2025 : 0,13 %). Cotisations réelles = cotisations nominales × 100 / indice. Elles mesurent le pouvoir d'achat des cotisations en francs de 2020.</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Rapprochement 2025 : cotisations maladie comptabilisées comparées aux précomptes maladie (12 mois) et retraités CGRAE (12 mois). Les cotisations à recevoir du Trésor (compte 41111000) mesurent ce que l'État doit encore au FPPN à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Colonne « règle déclarée » : déclaration du responsable des cotisations, entretien du 19/10/2026, à confirmer par document. Colonne « fichiers » : fichiers retour de janvier 2020 à août 2026 reçus le 15/10/2026, part des lignes de chaque montant.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du parcours d'une recrue, de l'école de police au premier précompte, tel que décrit par le responsable des cotisations le 19/10/2026 (à confirmer par document). Cadre rouge : étape à risque.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clé de répartition est la plus importante de cette partie : elle change le résultat de chaque garantie.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ratio comptable mélange les soins de l'année et les factures d'années antérieures payées ou comptabilisées dans l'année. Le vrai ratio (par année de survenance des soins) demande la base des prestations avec la date des soins.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60120000 « Charges de prestations maladie » porte à lui seul plus de la moitié du total : il regroupe des prestations sans détail de nature, ce qui empêche l'analyse par type de soins. Montants exacts lus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de tendance (moindres carrés sur 2020 à 2025) : le S/C maladie progresse de 12,91 points par an (IC 95 % : 3,85 à 21,97 ; p-valeur 0,0167). Avec six points seulement, la tendance est significative au seuil de 5 % mais son rythme est imprécis.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taux de sinistralité répond à une question simple : sur 100 FCFA de cotisations, combien repartent en prestations ? Les formules diffèrent par ce qu'elles mettent au numérateur (quelles prestations, avec ou sans provisions) et au dénominateur (quelles cotisations). Le texte de référence est la Décision n° 05/2022, § 1.2.1.2.5.</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Période : les taux sont calculés de 2020 au 31/08/2026 pour montrer la tendance. La conformité n'est jugée que sur 2022 à 2025 : la Décision n° 05/2022 s'applique depuis le 1er juin 2022, et 2026 ne couvre que huit mois, sur une balance provisoire, sans annualisation. 2020, 2021 et 2026 sont donc indicatifs.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méthode du FPPN figure dans la feuille Notes de son étude des ratios. Elle est comparée à la formule de la Décision n° 05/2022. Les deux méthodes répondent à la même question (part des cotisations consommée par les prestations), mais pas avec les mêmes montants.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compare, année par année, les montants de l'étude du FPPN (feuille Tableau) et ceux des balances : cotisations décès (compte 7021) et prestations décès (comptes 6021 et 6024). En 2020, un assureur portait la garantie : la prime d'assurance décès (compte 65180000) remplace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brut rapporte les décès de membres participants de l'année au nombre d'adhérents retenu par le FPPN. Il ne tient pas compte de l'âge : faute de dates de naissance des mutualistes, il ne peut pas être comparé aux décès attendus par la table CIMA H (rapport A/E de la partie 12).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Risque court : couvert pour une durée d'un an au plus, réglé rapidement (règlement d'exécution n° 004/2022). Risque long : engagement sur plusieurs années (épargne, rentes). La classification CIMA (vie, non-vie) sert de référence technique pour les méthodes de provision, faute de méthode dans les textes UEMOA.</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croissance annuel moyen (TCAM) est le taux constant qui mène de la valeur de départ à la valeur d'arrivée : TCAM = (V_fin / V_début)^(1/n) - 1. Une régression du logarithme des prestations sur le temps donne une croissance annuelle moyenne de 121,21 % (IC 95 % : 56,12 % à 213,44 %), estimation plus robuste aux valeurs extrêmes que le TCAM.</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couleur est une nature de soins. La catégorie « autres prestations maladie » correspond aux comptes 6012x, dont le compte global 60120000. Imagerie, analyses et consultations sont les natures détaillées qui progressent le plus.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Frais de gestion = comptes 61 à 66, hors prime d'assurance décès. Résultat = produits - charges + résultat hors activités ordinaires (classe 8). Les huit mois de 2026 n'intègrent pas les écritures de fin d'année (amortissements, provisions).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du rapport : frais de gestion (comptes 61 à 66, hors prime d'assurance décès 6518) / cotisations maladie et décès (7010 + 7021). Formule du texte (Décision n° 05/2022, tableau 1) : charges de fonctionnement (612, 613, 618, 62 à 68) / cotisations acquises (70 + 7906 - 6906). La méthode du FPPN n'a pas été communiquée.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hausse rapide du ratio maladie est le principal risque technique : à ce rythme, les cotisations maladie ne couvriront plus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PEP et EFC appartient aux mutualistes : c'est une dette du FPPN. Un bon adossement suppose des actifs liquides et réservés d'un montant au moins égal à la part exigible.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Montants lus dans la balance au 31/08/2026 (provisoire). Les soldes créditeurs du passif sont affichés en valeur positive. Le fonds commun de placement est compté comme actif réservé bien que sa destination ne soit pas précisée : la couverture réelle est donc au plus de ce niveau.</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non couverte finance d'autres emplois : investissements au CMP, terrains, créance sur l'Hôpital de la Police, prêts du Grenier. Ces emplois ne sont pas mobilisables rapidement.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versements sont les précomptes retour de la Solde. La différence entre versements de l'année et variation du compte d'épargne mesure les sorties de l'année (échéances, retraits, transferts), sans pouvoir les détailler faute de comptes individuels.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Scénarios théoriques, pas des prévisions : on suppose qu'une part de l'épargne est demandée en une fois et on la compare aux actifs réservés puis à toute la trésorerie (banques et caisses). Les conditions réelles de retrait (délais, pénalités, échéances) ne sont pas connues.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référence est le code qui accompagne chaque précompte (exemple : PEP0522 = PEP souscrit en mai 2022). Les références PTI ont des montants mensuels importants et peu de mutualistes : elles pourraient correspondre à des remboursements de prêts, ce que le FPPN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de l'épargne est le principal risque financier relevé.</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servi est l'intérêt que le FPPN doit ajouter à l'épargne de chaque mutualiste. Il fixe la valeur de l'engagement : à épargne égale, un taux plus élevé fait payer davantage au départ du mutualiste.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grand livre 2024 détaille chaque écriture des deux comptes d'épargne. Les écritures sont classées par nature d'après leur libellé : précomptes et cotisations, règlements EFC, remboursements PEP, rachats, autres. Une écriture d'intérêts servis porterait un libellé « intérêts » ou une contrepartie en charge (classe 67).</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calcul applique chaque taux écrit à l'encours EFC de fin d'année (compte 41195200), une hypothèse à la fois. La colonne à 14 % suppose un taux annuel : c'est une borne haute, car le cahier des charges ne précise pas la période. Les produits financiers sont ceux de la partie 9.</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Intérêts de l'année = épargne moyenne de l'année (moyenne du début et de la fin) × taux servi × nombre de mois / 12. Taux du manuel des produits d'épargne : PEP 3,5 %, EFC 5,5 %. Les intérêts ne sont pas capitalisés d'une année sur l'autre : le montant est donc un minimum. Pour 2020, le premier solde disponible est celui du 01/09/2020 (à-nouveaux de la balance 2020) : la moyenne du 01/09 et du 31/12/2020 est appliquée à toute l'année.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de gestion détaillé de l'exercice 2025 (page 98, tableau 2 (III)) présente l'épargne PEP et EFC. Ses montants sont comparés aux mouvements et aux soldes des mêmes comptes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L'encours est le capital restant dû. Le retard (en jours) est celui imprimé par le logiciel de prêts. On mesure la part en nombre de prêts et en montant d'encours.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croissance annuel moyen de l'encours de fin 2022 à fin 2025 : 65,64 %. La créance du FPPN sur le Grenier (compte 47111102) mesure le financement apporté.</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 montants débloqués sur la période (fichiers annuels de 2021 à 2025, mensuels par sous-portefeuille en 2026). La politique de crédit de 2021 est au format Word ancien et doit être renvoyée lisible pour vérifier taux, durées et plafonds.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31/08/2026, 150 prêts sur 2 959 ont plus de 30 jours de retard, soit 5,07 % des prêts (IC de Wilson à 95 % : 4,34 % à 5,92 %). En montant, la part est plus faible (1,83 %) : les prêts en retard sont de petits encours.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retard est imprimé en jours par le logiciel ; (2) trois de ces prêts ont un « mécano » de 2 ou 3 chiffres (142, 87, 166), alors qu'un mécano en compte 6 : ce sont des anomalies de saisie ; (3) ces prêts anciens ont encore un encours et doivent être provisionnés ou passés en perte. Noms masqués.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Échéances = somme des montants d'échéance des prêts ayant un encours dans la balance âgée du mois. Précomptes = précomptes 9X4 retour du même mois. L'écart peut être payé hors Solde (caisse, banque) ou correspondre à des rejets.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taux de perte théoriques (25 %, 50 %, 100 %) appliqués à l'encours en retard. Ce ne sont pas des estimations de perte, mais des ordres de grandeur pour fixer une provision. La politique de provisionnement doit être fixée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principal n'est pas la perte sur prêts, limitée, mais la mobilisation de l'épargne des mutualistes pour financer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retraités cotisent sur leur pension par la CGRAE. Leur coût santé, supérieur à celui des actifs, devra être comparé à leur cotisation dès réception des factures. La convention avec la CGRAE n'a pas été reçue.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convention de partenariat entre l'IPS-CGRAE et le FPPN fixe les conditions du précompte, sur la pension de retraite, des cotisations de prise en charge médicale des policiers retraités. Le montant de la cotisation ne figure pas dans la convention : il relève du bulletin de souscription (annexe 2),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Cotisation moyenne du mois = montant précompté par la CGRAE / nombre de retraités précomptés. L'engagement d'une garantie santé à vie se calcule avec l'âge de chaque retraité, son coût annuel de soins et une table de survie (CIMA F, partie 11).</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produits ne relèvent pas directement des garanties de base, mais ils transitent par le FPPN et engagent sa responsabilité vis-à-vis des adhérents. Aucun compte n'est intitulé « SCI » dans les balances ; les projets immobiliers figurent en comptes 4711120x.</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n'a pas été transmis : il est reconstitué à partir des soldes des balances. Fonds propres = réserves + report à nouveau + pertes reportées + résultat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même montant au franc près de 2020 à 2026 ; (2) seul le numéro de compte change en 2024 (reclassement du compte 19 vers le compte 158) ; (3) une estimation recalculée chaque année varierait avec les dossiers en attente. La provision n'est donc pas une estimation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nombre de mois couverts n'est pas une norme : c'est un indicateur de cohérence. Une provision figée perd son sens quand les prestations changent : elle était très supérieure aux besoins en 2021 et diminue en proportion depuis. Seul un calcul fondé sur les dossiers dira si elle est suffisante.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(art. 8 à 11) prévoit la provision pour risques en cours, la provision pour prestations à payer (appelée ici PSAP, provision pour sinistres à payer), la provision mathématique, et toute autre provision fixée par la Commission de l'UEMOA. Une dépréciation d'actif (prêts) n'est pas une provision technique : elle relève du PCMS et du principe de prudence.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facture de clinique enregistrée en dette (compte 40110000) est déjà au passif : elle n'a pas à être provisionnée une seconde fois. La PSAP doit couvrir les soins réalisés avant la clôture mais pas encore facturés ou enregistrés, plus les sinistres non déclarés (art. 10). Comparer les deux montants permet de juger la cohérence de la provision.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intérieur fixe le paiement d'une facture de clinique à trois mois après son dépôt (art. 52), le remboursement d'un mutualiste à six mois après sa demande, elle-même limitée à trois mois (art. 57 et 60). Délai moyen = factures non payées en fin de période / factures moyennes d'un mois.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de la circulaire CIMA n° 00230/2005 (cadence des déclarations tardives), réduite à sa première année : l'année de chaque facture est lue dans son numéro (par exemple « E24-000042 » pour 2024). Une facture enregistrée en 2024 avec un numéro de 2023 est un sinistre de 2023 déclaré en retard.</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Provision nécessaire au compte 158 = soins de l'année facturés l'année suivante. Les factures déjà reçues sont au passif (compte 40110000) et ne doivent pas être provisionnées une seconde fois. Estimation élargie : factures en retard / part des factures dont l'année est lisible × (prestations maladie / factures de cliniques), pour couvrir les prestations payées hors du compte 40110000.</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tel que décrit par le chef comptable le 19/10/2026 et confirmé par les états de fin d'année 2021 à 2025. Barème appliqué dans les états : sous-officier 1 400 000 FCFA, officier 1 600 000 FCFA, commissaire 2 200 000 FCFA (le barème déclaré en entretien, 1 000 000 et 2 000 000 FCFA, n'est pas celui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Barème appliqué dans les fichiers : membre sous-officier 1 400 000 FCFA, officier 1 600 000, commissaire 2 200 000 ; conjoint 600 000 à 700 000 ; enfant 120 000 à 150 000. C'est le barème de la cartographie des risques, non celui déclaré en entretien le 19/10/2026.</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Dette en fin d'année = dette du début + allocations ajoutées par l'état de fin d'année - allocations payées. La provision obsèques (comptes 19012000 puis 15802000) n'est rattachée à aucun calcul transmis.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Seuls les états 2021 et 2023 portent à la fois la date du décès et la date d'enregistrement du dossier. On retient les dossiers dont le décès est d'une année et l'enregistrement de l'année suivante.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cotisations maladie et décès sont précomptées chaque mois sur la solde du mois (postes 936 et 8Z6) ou sur la pension (CGRAE) : la cotisation de décembre couvre décembre. Le Code CIMA (art. 334-10), référence technique des assureurs, exclut de même les cotisations « à terme échu » du calcul de la provision pour risques en cours.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Dépréciation = encours de la tranche de retard × taux de la politique de crédit du Grenier. Les tranches du logiciel de prêts (91 à 180 jours, 181 à 365 jours, plus de 365 jours) correspondent aux trois paliers.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et le responsable des cotisations (entretiens du 19/10/2026, à confirmer par la convention), les primes vont à GNA, qui porte le risque. Le FPPN est apporteur d'affaires et perçoit une commission de 20 % des primes collectées. Si le FPPN portait le risque, il exercerait une activité d'assurance de dommages, hors du champ de la mutualité sociale (règlement n° 07/2009).</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provision couvre les indemnités dues aux salariés du FPPN à leur départ à la retraite : ce n'est pas un engagement envers les mutualistes. Barème : décret n° 2017-210 du 30/03/2017 (art. 4 et 5), un pourcentage du salaire global mensuel moyen des douze derniers mois par année d'ancienneté (30 % jusqu'à 5 ans, 35 % de 6 à 10 ans, 40 % au-delà), payé à la cessation de service (art. 8) ; plafond de 25 fois le SMIG annuel et départ à 55 ans, plus un an par enfant à charge dans la limite de trois (convention collective interprofessionnelle du 19/07/1977, art. 40). Périmètre : personnel civil salarié (règlement intérieur, art. 31). Méthode attendue : unités de crédit projetées (SYSCOHADA révisé), avec probabilité de présence au départ, hausse des salaires et actualisation.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L'indemnité de départ vaut un pourcentage du salaire mensuel moyen par année d'ancienneté (décret n° 2017-210, art. 4 et 5). La méthode des unités de crédit projetées, retenue par IAS 19 et utilisée comme référence de bonne pratique, ne provisionne que la part acquise à la date d'évaluation. Le calcul est fait par formules dans les onglets 14a à 14c du classeur.</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provision recalculée suit la méthode des unités de crédit projetées. Les droits acquis sont l'indemnité que chaque agent recevrait s'il partait à la date d'évaluation, sans projection ni actualisation. Le rattachement à une entité suit les listes de 2024 et 2025, appliquées aussi aux années antérieures.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 Le rattachement de ces agents à la Direction Générale, au CMP ou au Grenier est à confirmer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 Le rattachement de ces agents à la Direction Générale, au CMP ou au Grenier est à confirmer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ligne modifie une seule hypothèse et garde les autres à leur valeur centrale (IAS 19, § 145). La seconde partie relève les incohérences des fichiers du personnel qui touchent directement le calcul.</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l'évaluation des engagements du FPPN envers ses adhérents et leurs ayants droit. Chaque ligne indique la méthode retenue, le résultat et ce qui empêche d'aller plus loin.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chaque provision, le tableau donne la méthode que le FPPN peut appliquer chaque année avec ses propres fichiers, conformément à l'article 89 des statuts et à l'article 10 du règlement d'exécution n° 004/2022.</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 CMP » regroupent les comptes 47111101 (« Polyclinique du FPPN »), 47111104 (« Investissements au CMP ») et 47111105 (« Charges de fonctionnement au CMP ») ; la signification du sigle CMP reste à confirmer par le FPPN. La créance sur l'Hôpital de la Police (47111100) est inchangée depuis 2020.</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1 à 3 de la méthode d'adossement du dossier de préparation : classer l'actif par délai de mobilisation, classer le passif par échéance, comparer tranche par tranche. Actif immédiat : caisse et comptes à vue. Moins d'un an : dépôts à terme, fonds commun de placement, créances à court terme. 1 à 5 ans : prêts PEP et financement du Grenier (durée médiane des prêts de 10 mois). Plus de 5 ans ou incertain : immobilisations, terrains, avances au CMP, créance sur l'Hôpital de la Police. Passif à moins d'un an : dettes à court terme hors épargne et provisions pour prestations à payer. L'épargne est présentée à part : son échéance dépend des âges et des conditions de retrait.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compare ce que le FPPN possède à ce qu'il doit, selon les échéances. Il ne vaut que si les deux côtés sont bien mesurés. Ici, le passif est incomplet (engagements non provisionnés) et une partie de l'actif est d'une valeur non démontrée. Le tableau recense chaque correction attendue et son sens.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impose d'évaluer les actifs à leur valeur de marché (art. 20) et de détenir des actifs sûrs, diversifiés, liquides et rentables (art. 17 et 21). La Décision n° 05/2022 rapporte les « actifs admis » aux engagements réglementés (section II, § 2.1). L'article 27 interdit de couvrir les pertes des activités sanitaires par les cotisations ou les réserves. Le PCMS impose la dépréciation d'un actif dont la valeur actuelle est inférieure à sa valeur d'entrée, et l'évaluation à la valeur liquidative si la continuité de l'activité n'est pas assurée.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Couverture = actif retenu dans le scénario / engagements connus. Engagements connus = passif à moins d'un an (dettes et provisions au bilan) + épargne due aux mutualistes, sans les engagements non provisionnés. Le scénario 4 compare l'actif à moins d'un an au seul passif à moins d'un an.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gestion actif-passif vérifie que les actifs produisent l'argent nécessaire au moment où les engagements doivent être payés. Le choix de la méthode dépend du profil du passif et des données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sortie de l'année = sorties de l'année (débits des comptes 41195100 et 41195200) / épargne au début de l'année. C'est l'écoulement conventionnel : faute d'échéancier, le comportement passé des mutualistes sert à prévoir les sorties futures.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Écoulement au 31/08/2026, sans nouveaux versements (écart statique). Sorties d'épargne de l'année k = épargne × (1 - taux moyen) puissance (k - 1) × taux moyen. Actifs à moins d'un an en année 1 ; actifs de 1 à 5 ans répartis à parts égales sur les années 2 à 5, faute d'échéancier. Écart = actifs disponibles - paiements.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Besoin de l'année = dettes à moins d'un an + épargne × taux de sortie + choc de prestations. Couverture = actif à moins d'un an / besoin. Choc de prestations = prestations maladie 2025 × hausse annuelle la plus forte de 2024 et 2025 ; les hausses de 2021 à 2023 sont écartées car elles reflètent le rattrapage des factures impayées.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pratiques de référence sont celles de l'Association actuarielle internationale et de l'Institut des actuaires. Elles sont rapprochées de la situation constatée au FPPN.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l'adossement actif-passif : ce qui est démontré, avec quelle méthode, et ce qui permettrait de passer à un adossement en flux contractuels.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comptes de capitaux propres ont un solde créditeur (positif pour le FPPN), sauf le report à nouveau débiteur (pertes passées), affiché ici en négatif. Libellés exacts de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fonds propres négatifs signifient que les dettes dépassent les actifs comptables. Les ratios de fonds propres et de marge de solvabilité de la Décision n° 05/2022 sont calculés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le DAT BOA est un placement du FPPN alimenté chaque mois (60 millions par mois en 2026) jusqu'à fin décembre ; il sert aussi à payer l'EFC en fin d'année. Le compte 52210200 s'intitule pourtant « DAT BOA Entraide fin de carrière ». Le FCP de 500 millions a un rendement annoncé de 8 à 10 %, non garanti.</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modifiable dans PowerPoint. Le circuit est celui décrit par le chef comptable le 19/10/2026 ; il reste à confirmer par document. Cadre rouge : contrôle manquant.</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documents reçus le 22/10/2026 renseignent sur les actifs longs et sur l'organe qui décide des placements. Le tableau indique ce que chacun établit et ce qu'il laisse ouvert.</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Rendement apparent = produits financiers (classe 77) / encours moyen des placements (52 à 53). Il est irrégulier : l'essentiel des intérêts est comptabilisé en 2025 à la clôture d'un dépôt à terme. Taux directeurs : communiqués du Comité de politique monétaire de la BCEAO (validés).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(art. 17) exige que les placements satisfassent aux conditions de sécurité, de rendement, de liquidité et de diversification. Chaque condition est confrontée aux chiffres du FPPN de 2020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constats appellent une décision de gouvernance : politique de provisionnement, politique de placement, encadrement des investissements dans les structures liées.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applique aux comptes du FPPN les normes de la mutualité sociale UEMOA. Les textes viennent de la documentation publique de l'AIRMS fournie le 18/10/2026 et validée comme source.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Hiérarchie : le règlement de 2009 fixe les principes et renvoie au règlement d'exécution pour les règles prudentielles (art. 58) ; la Décision de 2022 chiffre les normes ; l'arrêté de 2023 fixe les sanctions en Côte d'Ivoire. Le PCMS donne les numéros de comptes que la Décision utilise dans ses formules.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Définitions de l'article 1 du règlement d'exécution : risque court quand l'écart entre l'encaissement des cotisations et le versement des prestations est d'un an au plus ; risque long au-delà. L'article 3 classe la vieillesse et le décès lié à un mécanisme de capitalisation parmi les risques longs. La qualification retenue ici doit être confirmée par l'AIRMS ou par l'agrément du FPPN,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utilisée pour un lecteur non spécialiste : le bilan est une commode à tiroirs. Le plan comptable (PCMS) donne à chaque compte un numéro qui indique son tiroir : classe 1 pour les ressources longues, classe 2 pour les emplois longs, classe 4 pour les tiers, classe 5 pour la trésorerie. Un ratio de liquidité compare le tiroir « trésorerie » au tiroir « dettes à court terme ». Si un compte est rangé dans le mauvais tiroir, le ratio change sans que la réalité change. C'est pourquoi la suite présente chaque ratio deux fois : avec les comptes rangés comme le FPPN les tient, puis rangés selon leur nature.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classement « comme le FPPN » suit les numéros de comptes cités par la Décision n° 05/2022 dans ses formules. Le classement retraité ne modifie aucun montant : il déplace seulement des comptes d'un tiroir à un autre, pour une raison écrite. Le détail compte par compte (246 comptes) figure dans l'onglet « 10_classement_comptes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ne juge pas la gestion du FPPN : il constate l'écart entre un chiffre et une norme. Le statut global d'un ratio est non conforme s'il est non conforme au moins une année de 2022 à 2025.</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familles reprennent les catégories de l'annexe de la Décision n° 05/2022 (performance, viabilité, pérennité, risques longs), réordonnées selon la priorité actuarielle demandée pour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Valeurs calculées sur les balances, avec les comptes cités par la Décision n° 05/2022. La sinistralité réglementaire est globale (maladie et décès) : elle est sous la fourchette de 70 % à 80 % parce que la garantie décès consomme peu de cotisations. La marge de solvabilité est conforme dans la lecture comme le FPPN, mais pas une fois les pertes reportées déduites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de l'annexe de la Décision n° 05/2022 et articles 19 et 21 du règlement d'exécution. Le ratio de solvabilité de l'épargne reprend la couverture calculée en partie 6. La réserve de trésorerie vaut zéro car aucun compte de réserve de trésorerie n'existe dans les balances.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charges de fonctionnement suivent la liste de comptes de l'annexe (612, 613, 618, 62 à 68). La fidélisation compare les matricules précomptés au poste 936 d'une année à l'autre. Le délai de paiement des prestataires est à apprécier, car les délais contractuels des conventions n'ont pas été transmis.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de gouvernance sont placés en dernier, conformément à la priorité actuarielle du rapport. Chaque pièce manquante est ajoutée à la liste des documents demandés (PBC) et aux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Liquidité : norme d'au moins 1. Équilibre stable : norme d'au plus 1. Lecture retraitée : épargne en ressource longue, avances durables en emplois longs (diapositive « Deux lectures »). En 2020, les ressources longues comme le FPPN sont négatives : le ratio d'équilibre stable n'a pas de sens et n'est pas représenté.</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Décision (§ 1.2.1.2.5) : comptes 60 + 6901 - 7901 au numérateur, comptes 70 + 7906 - 6906 au dénominateur. Le FPPN n'a pas de compte 6901, 7901, 6906 ni 7906 : les provisions techniques ne varient pas. Le compte 704 « cartes d'accès aux soins » appartient à la classe 70 et entre donc dans les cotisations acquises.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1.1.1) : marge exigée = le maximum entre 18 % des cotisations acquises de l'exercice précédent et de 26 % de la moyenne des prestations maladie des trois derniers exercices. Marge disponible = fonds de réserve obligatoire + fonds d'établissement + réserves libres + droits d'adhésion + dons et legs non affectés. Le texte ne mentionne pas les pertes reportées ; la lecture retraitée les déduit, car le PCMS définit les réserves comme des excédents laissés à la disposition de la mutuelle (fiche n° 2).</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tableau 1, ligne 10) : réserves obligatoires x 12 / charges de prestations, norme de 6 à 9 mois ; le § 1.2.2.5.4 de l'annexe indique 9 mois. La réserve obligatoire est le compte 111 « Réserves légales ». Réserve nécessaire pour 6 mois = charges de prestations x 6 / 12.</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1.2.2.5.3) : fonds propres et assimilés (comptes 10 à 14, 190 et 15) / dettes, provisions techniques comprises. Le texte place les provisions techniques à la fois au numérateur et au dénominateur ; Adenka applique la formule à la lettre. Les dettes comprennent toute la classe 4 créditrice, dont l'épargne, les emprunts et les soldes bancaires créditeurs.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 liquidité = trésorerie actif / (dettes à court terme + variation des provisions techniques) (Décision, § 1.2.2.5.2) ; trésorerie à échéance = (valeurs réalisables + disponibles) / dettes à court terme (section II, § 2.2) ; trésorerie immédiate = disponibles / dettes à court terme (§ 2.3), égale ici à la liquidité car les provisions ne varient pas.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1.2.3.1) : emplois moyens et longs / ressources moyennes et longues. Comme le FPPN : classe 2 nette / classes 10 à 19. Retraité : on ajoute aux emplois les avances durables suivies en classe 4 (CMP, Grenier, Hôpital de la Police, projets immobiliers, créance de cession) et aux ressources l'épargne PEP et EFC.</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1.2.2.5.5) : excédent net de l'exercice / cotisations acquises, norme d'au plus 5 %. Ce plafond vise à éviter qu'une mutuelle prélève sur ses membres plus que nécessaire. Il est en tension avec les normes de fonds propres quand ceux-ci sont négatifs.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(Décision, § 1.2.1.2.1 à 1.2.1.2.4). Charges de fonctionnement : comptes 612, 613, 618, 62 à 68. Charges de fonctionnement brut : comptes 61 à 68, 691 et 697. Le compte 65180000 (prime d'assurance décès de 2020) entre dans la classe 65 et donc dans les charges de fonctionnement de 2020.</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Règlement d'exécution, art. 19 : une réserve de trésorerie ou fonds de roulement au moins égale à un trimestre d'engagements et de charges de fonctionnement, pour chaque risque long. Engagements : débits des comptes 41195100 et 41195200 (sorties d'épargne). Charges de fonctionnement : quote-part au prorata de l'épargne dans le total épargne + cotisations. Art. 21 : fonds propres au moins égaux aux prestations des risques longs des deux derniers exercices.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répartition au prorata des cotisations est une hypothèse : une autre clé (nombre de dossiers, temps passé) donnerait d'autres excédents. Le FPPN est invité à fournir sa propre clé, qui remplacera celle-ci.</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Excédent d'un risque = cotisations du risque - prestations du risque - frais attribués au prorata des cotisations. La prime d'assurance décès de 2020 (65180000) est rattachée au décès. Les autres éléments (produits financiers, transferts de charges, hors activités ordinaires) ne sont pas répartis et figurent dans la colonne « autres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la colonne « dotation réelle » est l'augmentation du compte 111 entre deux clôtures ; elle traduit l'affectation décidée par l'assemblée générale. Le minimum du règlement d'exécution est de 20 % du résultat excédentaire de l'exercice précédent (art. 18), exigible dans un délai de trois ans après le 1er juin 2022. Le minimum par risque applique 30 % à l'excédent maladie et 50 % à l'excédent décès (Décision, § 1.1.1).</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Marge exigée = le maximum entre 18 % des cotisations acquises de l'exercice précédent et de 26 % de la moyenne des prestations maladie des trois derniers exercices (Décision, § 1.1.1). L'exercice 2020 n'est pas calculé, faute de balances 2018 et 2019.</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ne constitue pas une revue comptable complète : il vérifie seulement que les comptes utilisés dans ce rapport sont rangés comme le prévoit le PCMS, et mesure l'effet d'un écart sur les ratios.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exigences complètent les ratios. Elles relèvent du cadre actuariel quand elles portent sur les provisions, les risques longs, les placements et les réserves. Elles sont reprises dans les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sanctions sont prononcées par le ministre chargé de la mutualité sociale, sur rapport ou avis motivé de l'AIRMS, après que la mutuelle a été entendue (règlement d'exécution, art. 38 et 39). Ce tableau décrit une exposition théorique : la décision appartient à l'autorité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ratios sont calculés sur les balances : leur conclusion ne dépend pas des données manquantes, sauf pour la liquidité, qui dépend de l'échéancier de l'épargne.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analyse de sensibilité mesure comment un résultat change quand une hypothèse change. Ici, le résultat est le statut de chaque ratio prudentiel, et les hypothèses sont les leviers que les textes donnent au FPPN. Chaque calcul est une formule du classeur des calculs (onglets 13a à 13i) : modifier un paramètre de l'onglet 13b met à jour l'ensemble.</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Statut recalculé par formule pour chaque année (onglet 13d) ; il est identique à celui de la partie 10. « Oui » : conforme ; « Non » : non conforme ; « - » : non mesurable (pas d'exercice précédent). 2020 et 2021 sont antérieurs à la Décision du 1er juin 2022 ; 2026 couvre huit mois : ces années sont indicatives. Les ratios conformes chaque année (marge de solvabilité dans la lecture du FPPN, charges de personnel, formation) ne sont pas repris.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facteur regroupe les ratios dont l'écart s'explique par les mêmes comptes. La preuve chiffrée compare 2020 et 2025 (onglet 13e). La dernière colonne compte les ratios du facteur non conformes toutes les années mesurées.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 à combler = montant qui ramène le ratio sur la borne la plus proche, les autres termes restant inchangés (formule du texte inversée, onglet 13d). Pour la sinistralité, un montant positif est un supplément de prestations ; pour l'excédent net de 2026, le montant est le déficit à combler.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 » : le levier rapproche le ratio de sa norme ; « - » : il l'en éloigne ; « 0 » : sans effet. Écritures : cotisations encaissées (+ produits, + résultat, + fonds propres, + trésorerie) ; prestations payées (inverse) ; charges évitées (+ résultat, + trésorerie) ; dotation à la réserve légale (affectation interne aux fonds propres) ; réallocation d'un placement long en disponibilités dédiées à l'épargne ; apport en fonds propres (dons et legs). Le montant de 100 000 000 FCFA est une convention de présentation, modifiable dans l'onglet 13b.</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 d'équilibre = montant du levier qui ramène un ratio sur sa borne en 2025, toutes choses égales par ailleurs (onglet 13f). Signe négatif : baisse. La dernière colonne compte les années de 2020 au 31/08/2026 où un effort est nécessaire. Taux de cotisation équivalent = 5 % × (cotisations + variation) / cotisations, à assiette et recouvrement inchangés.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cotisation qui ramènerait chaque ratio sur sa borne, toutes choses égales par ailleurs (onglet 13f). Taux actuel : 5 % de la solde de base (statuts, art. 17). Les courbes montrent l'écart entre les deux exigences, année par année.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Ligne 1 : trésorerie à constituer pour une liquidité de 1. Ligne 2 : toute la classe 2 (siège, terrains, créances longues), plafond théorique d'une réallocation. Ligne 3 : liquidité si toute la classe 2 devenait disponible. Ligne 4 : liquidité calculée en classant l'épargne en ressource longue (présentation des risques longs, partie 10).</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Réserve hypothétique = maximum entre la réserve comptabilisée et 20 % (ou 50 %) des excédents positifs cumulés depuis 2020 (statuts, art. 90). Les excédents antérieurs à 2020 n'ont pas été reçus. En réalité, une partie des excédents a apuré les pertes reportées (affectations 2023 et 2024). Fonds propres : nombre d'années d'excédent moyen 2023 à 2025 (720 199 551 FCFA) pour atteindre la norme.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(onglet 13h). L'excédent vaut : cotisations - prestations - charges de fonctionnement + autres éléments (A : produits financiers et autres, moins les autres charges). L'excédent net plafonné à 5 % impose A ≤ 5 % des cotisations - cotisations + prestations + charges. Or les prestations sont plafonnées à 80 % des cotisations (sinistralité) et les charges à 15 % des prestations, soit 12 % des cotisations (coût par unité prestée). Donc A ≤ (5 % - 100 % + 80 % × 115 %) des cotisations = -3,00 % des cotisations.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Indices harmonisés des prix à la consommation (IHPC) de l'ANStat, par poste de la santé, mensuels de janvier 2017 à octobre 2024 (moyennes annuelles ; 2024 : janvier à octobre). Poids : prestations maladie du FPPN de 2025 par nature (hospitalisations, analyses et imagerie, pharmacie, consultations) ; les natures « autres » ne sont pas détaillées et sont exclues. Les fichiers codent les mois 2, 8 et 12 par « 0 » : le mois est reconstitué par la position de la ligne (onglet 13g).</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Sinistralité = prestations × (1 + hausse) / cotisations, à cotisations inchangées : elles sont assises sur la solde de base, qui n'est pas indexée sur les prix de la santé (onglet 13g). 2026 : huit mois, indicatif.</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brut de rentabilité des placements doit atteindre au moins le taux moyen du marché (Décision n° 05/2022, section II), sans que le texte précise le marché. Deux lectures : dépôts à terme en Côte d'Ivoire (BCEAO, tableau 22, lecture principale, 2024 et 2025) et obligations de l'État de Côte d'Ivoire à 5 ans (Investing.com, moyenne annuelle des cotations quotidiennes, lecture exigeante). Investing.com est un agrégateur de cotations du marché secondaire : source secondaire, en complément de la BCEAO. Produit possible = solde moyen non rémunéré × taux moyen des dépôts à terme (onglet 13i).</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sont recalculés par formules dans le classeur des calculs (onglets 13a à 13i) : chaque paramètre peut être modifié pour tester d'autres hypothèses.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analyses demandent les dates de naissance (PBC, items 9 et 28). Le règlement d'exécution n° 004/2022 définit la table de mortalité comme un tableau qui donne les probabilités de décès ou de survie et l'espérance de vie selon l'âge et le sexe (art. 1).</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de prudence : on choisit la table qui défavorise l'organisme. Pour un risque décès (le FPPN paie au décès), une table qui prévoit plus de décès est prudente : CIMA H. Pour un risque de survie (le FPPN paie tant que la personne vit), une table qui prévoit des vies plus longues est prudente : CIMA F. Les fichiers fournis portent eux-mêmes cet usage dans le nom de leur feuille. Les tables TD et TV sont les anciennes tables réglementaires remplacées en 2012 (Code CIMA, article 338 modifié).</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courbe de survie donne la part des personnes encore en vie à chaque âge. L'écart entre les courbes mesure l'écart de prudence entre une table de décès et une table de survie.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qx en pour mille aux âges de 20 à 80 ans. Ce sont les âges de la population du FPPN (actifs puis retraités). La comparaison avec la mortalité observée se fera par le rapport décès observés / décès attendus (voir partie 12).</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Rente viagère : valeur aujourd'hui de 1 FCFA payé chaque année, au début de l'année, tant que la personne vit, actualisé au taux de 3,5 % (plafond du Code CIMA). Formule : ä_x = Σ (L_(x+k) / L_x) × v^k, avec v = 1 / 1,035. Exemple : si le FPPN prenait en charge 100 000 FCFA par an de soins pour un retraité de 60 ans, l'engagement vaudrait environ 100 000 × ä_60. Ce sont des valeurs de référence, pas des engagements du FPPN.</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présentés sont des références techniques. Ils deviendront des engagements chiffrés du FPPN dès réception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projection actuarielle de l'équilibre technique suit six étapes. Le tableau indique, pour chacune, la donnée nécessaire, si elle a été reçue, et ce qu'il faut faire à la place.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poste de 2025 croît chaque année à son taux annuel moyen. Cotisations : 11,17 % ; frais : 2,91 % (2023 à 2025). Prestations : 72,21 % dans le scénario A, taux des cotisations dans le scénario B. Résultat technique = cotisations - prestations - frais. Les années 2021 et 2022 sont écartées : leurs prestations maladie sont anormalement basses.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Résultat technique projeté de 2026 à 2030 dans les deux scénarios, en millions de FCFA.</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images des diapositives suivantes reproduisent la fenêtre de VS Code sous Windows et y placent des extraits réels des scripts de la mission. Ce sont des reconstitutions, pas des captures d'écran ; le terminal n'est affiché que lorsque sa sortie a réellement été obtenue.</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détaille les étapes du logigramme du traitement des données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aucun chiffre n'est saisi à la main. Le contrôle garantit que le rapport affiche exactement les valeurs calculées, avec deux décimales pour les pourcentages et des montants exacts en FCFA.</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détaillée et à jour dans la PBC pointée.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questions peuvent être posées lors des prochains entretiens ; les réponses seront intégrées à la version suivante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viennent de l'entretien du 19/10/2026 avec le responsable des cotisations.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analyses ne peuvent pas être faites de façon précise avec les données reçues. Elles seront intégrées à la version suivante du rapport dès réception des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issus des entretiens du 19/10/2026 avec M. Koffi, chef comptable (placements à 14h, provisions à 16h).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viennent de la lecture des documents reçus le 22/10/2026. Les numéros renvoient à la PBC complète pointée au 22/10/2026.</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chaque méthode, les diapositives suivantes citent les conditions d'emploi dans un texte ou un ouvrage de référence, montrent avec les chiffres du FPPN pourquoi elles ne sont pas remplies, et indiquent la méthode appliquée à la place.</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 Ladder et la méthode CIMA des tardifs projettent le rythme passé de règlement, année de survenance par année de développement. Elles ne sont utiles que si une part notable des sinistres se règle après la fin de l'année de survenance.</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A/E divise les décès observés par les décès attendus : somme, âge par âge, de l'exposition au risque multipliée par la probabilité de décès de la table CIMA H.</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Provision mathématique = valeur actuelle des soins futurs - valeur actuelle des cotisations futures, retraité par retraité, avec une table de survie (CIMA F) et un taux d'actualisation.</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L'immunisation rééquilibre les actifs pour que leur valeur varie comme celle des passifs quand les taux changent. Elle compare les durations (durée moyenne pondérée des flux) de l'actif et du passif.</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modèle actif-passif stochastique projette des milliers de scénarios économiques (méthode de Monte-Carlo) sur des groupes de contrats décrits par âge, sexe, ancienneté et taux garanti.</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valeur en risque (VaR) est la perte de valeur de marché qui n'est dépassée qu'avec une faible probabilité sur une période donnée.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capital de solvabilité requis (SCR) de la formule standard européenne applique des chocs (par exemple 40 % de rachats massifs) à la meilleure estimation des engagements.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Tous les fichiers ont été reçus du FPPN le 15/10/2026 (précomptes, balances, Grenier), le 18/10/2026 (tables de mortalité) ou le 22/10/2026 (autres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Tous les fichiers ont été reçus du FPPN le 15/10/2026 (précomptes, balances, Grenier), le 18/10/2026 (tables de mortalité) ou le 22/10/2026 (autres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Tous les fichiers ont été reçus du FPPN le 15/10/2026 (précomptes, balances, Grenier), le 18/10/2026 (tables de mortalité) ou le 22/10/2026 (autres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complet (quinze colonnes) figure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Colonne « Valable pour » dans l'onglet 9_figures_tableaux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sigles de chaque diapositive sont aussi définis en bas de la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jpg"/><Relationship Id="rId5"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21.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46.png"/><Relationship Id="rId6" Type="http://schemas.openxmlformats.org/officeDocument/2006/relationships/image" Target="../media/image98.png"/><Relationship Id="rId7"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5.xml"/><Relationship Id="rId3" Type="http://schemas.openxmlformats.org/officeDocument/2006/relationships/notesSlide" Target="../notesSlides/notesSlide40.xml"/><Relationship Id="rId4" Type="http://schemas.openxmlformats.org/officeDocument/2006/relationships/image" Target="../media/image8.png"/><Relationship Id="rId5" Type="http://schemas.openxmlformats.org/officeDocument/2006/relationships/oleObject" Target="../embeddings/oleObject3.bin"/><Relationship Id="rId6" Type="http://schemas.openxmlformats.org/officeDocument/2006/relationships/image" Target="../media/image163.emf"/><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image" Target="../media/image164.png"/><Relationship Id="rId10" Type="http://schemas.openxmlformats.org/officeDocument/2006/relationships/image" Target="../media/image18.png"/><Relationship Id="rId11" Type="http://schemas.openxmlformats.org/officeDocument/2006/relationships/chart" Target="../charts/chart19.xml"/><Relationship Id="rId12" Type="http://schemas.openxmlformats.org/officeDocument/2006/relationships/chart" Target="../charts/chart20.xml"/><Relationship Id="rId13" Type="http://schemas.openxmlformats.org/officeDocument/2006/relationships/image" Target="../media/image165.png"/><Relationship Id="rId14" Type="http://schemas.openxmlformats.org/officeDocument/2006/relationships/image" Target="../media/image16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8.png"/><Relationship Id="rId5" Type="http://schemas.openxmlformats.org/officeDocument/2006/relationships/image" Target="../media/image45.png"/><Relationship Id="rId6" Type="http://schemas.openxmlformats.org/officeDocument/2006/relationships/image" Target="../media/image129.png"/><Relationship Id="rId7" Type="http://schemas.openxmlformats.org/officeDocument/2006/relationships/image" Target="../media/image46.png"/><Relationship Id="rId8" Type="http://schemas.openxmlformats.org/officeDocument/2006/relationships/image" Target="../media/image1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9.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0.xml"/><Relationship Id="rId7"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1.xml"/><Relationship Id="rId7"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2.xml"/><Relationship Id="rId7"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3.xml"/><Relationship Id="rId7"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4.xml"/><Relationship Id="rId7"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5.xml"/><Relationship Id="rId7"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6.xml"/><Relationship Id="rId7"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xml"/><Relationship Id="rId7"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xml"/><Relationship Id="rId7"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1.xml"/><Relationship Id="rId7"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2.xml"/><Relationship Id="rId7"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3.xml"/><Relationship Id="rId7"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4.xml"/><Relationship Id="rId7"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5.xml"/><Relationship Id="rId7"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6.xml"/><Relationship Id="rId7"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8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7.xml"/><Relationship Id="rId7" Type="http://schemas.openxmlformats.org/officeDocument/2006/relationships/notesSlide" Target="../notesSlides/notesSlide8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8.xml"/><Relationship Id="rId7" Type="http://schemas.openxmlformats.org/officeDocument/2006/relationships/notesSlide" Target="../notesSlides/notesSlide8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9.xml"/><Relationship Id="rId7" Type="http://schemas.openxmlformats.org/officeDocument/2006/relationships/notesSlide" Target="../notesSlides/notesSlide8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0.xml"/><Relationship Id="rId7" Type="http://schemas.openxmlformats.org/officeDocument/2006/relationships/notesSlide" Target="../notesSlides/notesSlide8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8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1.xml"/><Relationship Id="rId7" Type="http://schemas.openxmlformats.org/officeDocument/2006/relationships/notesSlide" Target="../notesSlides/notesSlide9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2.xml"/><Relationship Id="rId7" Type="http://schemas.openxmlformats.org/officeDocument/2006/relationships/notesSlide" Target="../notesSlides/notesSlide9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3.xml"/><Relationship Id="rId7"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4.xml"/><Relationship Id="rId7" Type="http://schemas.openxmlformats.org/officeDocument/2006/relationships/notesSlide" Target="../notesSlides/notesSlide12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5.xml"/><Relationship Id="rId7" Type="http://schemas.openxmlformats.org/officeDocument/2006/relationships/notesSlide" Target="../notesSlides/notesSlide12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6.xml"/><Relationship Id="rId7" Type="http://schemas.openxmlformats.org/officeDocument/2006/relationships/notesSlide" Target="../notesSlides/notesSlide13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7.xml"/><Relationship Id="rId7" Type="http://schemas.openxmlformats.org/officeDocument/2006/relationships/notesSlide" Target="../notesSlides/notesSlide13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4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4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8.png"/><Relationship Id="rId7" Type="http://schemas.openxmlformats.org/officeDocument/2006/relationships/notesSlide" Target="../notesSlides/notesSlide14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4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notesSlide" Target="../notesSlides/notesSlide14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8.xml"/><Relationship Id="rId7" Type="http://schemas.openxmlformats.org/officeDocument/2006/relationships/notesSlide" Target="../notesSlides/notesSlide15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6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9.xml"/><Relationship Id="rId7" Type="http://schemas.openxmlformats.org/officeDocument/2006/relationships/notesSlide" Target="../notesSlides/notesSlide16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0.xml"/><Relationship Id="rId7" Type="http://schemas.openxmlformats.org/officeDocument/2006/relationships/notesSlide" Target="../notesSlides/notesSlide16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7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1.xml"/><Relationship Id="rId7" Type="http://schemas.openxmlformats.org/officeDocument/2006/relationships/notesSlide" Target="../notesSlides/notesSlide17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2.xml"/><Relationship Id="rId7" Type="http://schemas.openxmlformats.org/officeDocument/2006/relationships/notesSlide" Target="../notesSlides/notesSlide18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8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85.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3.xml"/><Relationship Id="rId7" Type="http://schemas.openxmlformats.org/officeDocument/2006/relationships/notesSlide" Target="../notesSlides/notesSlide18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4.xml"/><Relationship Id="rId7" Type="http://schemas.openxmlformats.org/officeDocument/2006/relationships/notesSlide" Target="../notesSlides/notesSlide188.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9.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90.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5.xml"/><Relationship Id="rId7" Type="http://schemas.openxmlformats.org/officeDocument/2006/relationships/notesSlide" Target="../notesSlides/notesSlide19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4.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5.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3.png"/><Relationship Id="rId7" Type="http://schemas.openxmlformats.org/officeDocument/2006/relationships/notesSlide" Target="../notesSlides/notesSlide19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notesSlide" Target="../notesSlides/notesSlide19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5.png"/><Relationship Id="rId7" Type="http://schemas.openxmlformats.org/officeDocument/2006/relationships/notesSlide" Target="../notesSlides/notesSlide198.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notesSlide" Target="../notesSlides/notesSlide199.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7.png"/><Relationship Id="rId7" Type="http://schemas.openxmlformats.org/officeDocument/2006/relationships/notesSlide" Target="../notesSlides/notesSlide200.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8.png"/><Relationship Id="rId7" Type="http://schemas.openxmlformats.org/officeDocument/2006/relationships/notesSlide" Target="../notesSlides/notesSlide20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9.png"/><Relationship Id="rId7" Type="http://schemas.openxmlformats.org/officeDocument/2006/relationships/notesSlide" Target="../notesSlides/notesSlide20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20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4.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8.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9.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6.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8.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9.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0.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1.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4.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5.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6.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8.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9.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0.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4.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5.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8.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9.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0.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3.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4.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5.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6.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8.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9.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14 octobre 2026</a:t>
            </a:r>
          </a:p>
        </p:txBody>
      </p:sp>
      <p:sp>
        <p:nvSpPr>
          <p:cNvPr id="9" name="Google Shape;138;p25"/>
          <p:cNvSpPr txBox="1"/>
          <p:nvPr/>
        </p:nvSpPr>
        <p:spPr>
          <a:xfrm>
            <a:off x="908861" y="2534894"/>
            <a:ext cx="5918659" cy="1231106"/>
          </a:xfrm>
          <a:prstGeom prst="rect">
            <a:avLst/>
          </a:prstGeom>
          <a:noFill/>
          <a:ln>
            <a:noFill/>
          </a:ln>
        </p:spPr>
        <p:txBody>
          <a:bodyPr spcFirstLastPara="1" wrap="square" lIns="0" tIns="0" rIns="0" bIns="0" anchor="t" anchorCtr="0">
            <a:spAutoFit/>
          </a:bodyPr>
          <a:lstStyle/>
          <a:p>
            <a:r>
              <a:rPr lang="fr-CI" sz="4000" b="1" noProof="0">
                <a:solidFill>
                  <a:srgbClr val="FFFFFF"/>
                </a:solidFill>
                <a:latin typeface="Helvetica" panose="020B0604020202020204" pitchFamily="34" charset="0"/>
                <a:cs typeface="Helvetica" panose="020B0604020202020204" pitchFamily="34" charset="0"/>
              </a:rPr>
              <a:t>Audit Comptable et financier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
        <p:nvSpPr>
          <p:cNvPr id="17" name="ZoneTexte 2"/>
          <p:cNvSpPr txBox="1"/>
          <p:nvPr/>
        </p:nvSpPr>
        <p:spPr>
          <a:xfrm>
            <a:off x="817421" y="5135034"/>
            <a:ext cx="6497320" cy="461665"/>
          </a:xfrm>
          <a:prstGeom prst="rect">
            <a:avLst/>
          </a:prstGeom>
          <a:noFill/>
        </p:spPr>
        <p:txBody>
          <a:bodyPr wrap="none">
            <a:spAutoFit/>
          </a:bodyPr>
          <a:lstStyle/>
          <a:p>
            <a:r>
              <a:rPr sz="2400" b="1">
                <a:solidFill>
                  <a:srgbClr val="EFAC62"/>
                </a:solidFill>
                <a:latin typeface="Helvetica"/>
              </a:rPr>
              <a:t>Rapport actuariel et statistique</a:t>
            </a:r>
          </a:p>
        </p:txBody>
      </p:sp>
      <p:pic>
        <p:nvPicPr>
          <p:cNvPr id="18" name="Logo FPPN" descr="logo_fppn.jpg"/>
          <p:cNvPicPr>
            <a:picLocks noChangeAspect="1"/>
          </p:cNvPicPr>
          <p:nvPr/>
        </p:nvPicPr>
        <p:blipFill>
          <a:blip r:embed="rId4"/>
          <a:srcRect t="23449" b="29631"/>
          <a:stretch>
            <a:fillRect/>
          </a:stretch>
        </p:blipFill>
        <p:spPr>
          <a:xfrm>
            <a:off x="938577" y="4017907"/>
            <a:ext cx="1844040" cy="865220"/>
          </a:xfrm>
          <a:prstGeom prst="rect">
            <a:avLst/>
          </a:prstGeom>
        </p:spPr>
      </p:pic>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374750"/>
            <a:ext cx="0" cy="45225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374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829250" y="1242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82349" y="1295100"/>
            <a:ext cx="159300" cy="159300"/>
          </a:xfrm>
          <a:prstGeom prst="rect">
            <a:avLst/>
          </a:prstGeom>
        </p:spPr>
      </p:pic>
      <p:sp>
        <p:nvSpPr>
          <p:cNvPr id="32" name="Rectangle 31"/>
          <p:cNvSpPr/>
          <p:nvPr/>
        </p:nvSpPr>
        <p:spPr>
          <a:xfrm>
            <a:off x="2444400" y="1245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Résumé exécutif</a:t>
            </a:r>
          </a:p>
        </p:txBody>
      </p:sp>
      <p:sp>
        <p:nvSpPr>
          <p:cNvPr id="33" name="Rectangle 32"/>
          <p:cNvSpPr/>
          <p:nvPr/>
        </p:nvSpPr>
        <p:spPr>
          <a:xfrm>
            <a:off x="10756800" y="1245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a:t>
            </a:r>
          </a:p>
        </p:txBody>
      </p:sp>
      <p:cxnSp>
        <p:nvCxnSpPr>
          <p:cNvPr id="34" name="Connector 33"/>
          <p:cNvCxnSpPr/>
          <p:nvPr/>
        </p:nvCxnSpPr>
        <p:spPr>
          <a:xfrm>
            <a:off x="932400" y="1676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29250" y="1543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82349" y="1596599"/>
            <a:ext cx="159300" cy="159300"/>
          </a:xfrm>
          <a:prstGeom prst="rect">
            <a:avLst/>
          </a:prstGeom>
        </p:spPr>
      </p:pic>
      <p:sp>
        <p:nvSpPr>
          <p:cNvPr id="37" name="Rectangle 36"/>
          <p:cNvSpPr/>
          <p:nvPr/>
        </p:nvSpPr>
        <p:spPr>
          <a:xfrm>
            <a:off x="2444400" y="1547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Comprendre le FPPN</a:t>
            </a:r>
          </a:p>
        </p:txBody>
      </p:sp>
      <p:sp>
        <p:nvSpPr>
          <p:cNvPr id="38" name="Rectangle 37"/>
          <p:cNvSpPr/>
          <p:nvPr/>
        </p:nvSpPr>
        <p:spPr>
          <a:xfrm>
            <a:off x="10756800" y="1547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20</a:t>
            </a:r>
          </a:p>
        </p:txBody>
      </p:sp>
      <p:cxnSp>
        <p:nvCxnSpPr>
          <p:cNvPr id="39" name="Connector 38"/>
          <p:cNvCxnSpPr/>
          <p:nvPr/>
        </p:nvCxnSpPr>
        <p:spPr>
          <a:xfrm>
            <a:off x="932400" y="1977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829250" y="1845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82349" y="1898100"/>
            <a:ext cx="159300" cy="159300"/>
          </a:xfrm>
          <a:prstGeom prst="rect">
            <a:avLst/>
          </a:prstGeom>
        </p:spPr>
      </p:pic>
      <p:sp>
        <p:nvSpPr>
          <p:cNvPr id="42" name="Rectangle 41"/>
          <p:cNvSpPr/>
          <p:nvPr/>
        </p:nvSpPr>
        <p:spPr>
          <a:xfrm>
            <a:off x="2444400" y="1848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Contexte et démarche</a:t>
            </a:r>
          </a:p>
        </p:txBody>
      </p:sp>
      <p:sp>
        <p:nvSpPr>
          <p:cNvPr id="43" name="Rectangle 42"/>
          <p:cNvSpPr/>
          <p:nvPr/>
        </p:nvSpPr>
        <p:spPr>
          <a:xfrm>
            <a:off x="10756800" y="1848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29</a:t>
            </a:r>
          </a:p>
        </p:txBody>
      </p:sp>
      <p:cxnSp>
        <p:nvCxnSpPr>
          <p:cNvPr id="44" name="Connector 43"/>
          <p:cNvCxnSpPr/>
          <p:nvPr/>
        </p:nvCxnSpPr>
        <p:spPr>
          <a:xfrm>
            <a:off x="932400" y="2279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829250" y="2146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82349" y="2199600"/>
            <a:ext cx="159300" cy="159300"/>
          </a:xfrm>
          <a:prstGeom prst="rect">
            <a:avLst/>
          </a:prstGeom>
        </p:spPr>
      </p:pic>
      <p:sp>
        <p:nvSpPr>
          <p:cNvPr id="47" name="Rectangle 46"/>
          <p:cNvSpPr/>
          <p:nvPr/>
        </p:nvSpPr>
        <p:spPr>
          <a:xfrm>
            <a:off x="2444400" y="2150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Données et qualité</a:t>
            </a:r>
          </a:p>
        </p:txBody>
      </p:sp>
      <p:sp>
        <p:nvSpPr>
          <p:cNvPr id="48" name="Rectangle 47"/>
          <p:cNvSpPr/>
          <p:nvPr/>
        </p:nvSpPr>
        <p:spPr>
          <a:xfrm>
            <a:off x="10756800" y="2150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34</a:t>
            </a:r>
          </a:p>
        </p:txBody>
      </p:sp>
      <p:cxnSp>
        <p:nvCxnSpPr>
          <p:cNvPr id="49" name="Connector 48"/>
          <p:cNvCxnSpPr/>
          <p:nvPr/>
        </p:nvCxnSpPr>
        <p:spPr>
          <a:xfrm>
            <a:off x="932400" y="2580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829250" y="2448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82349" y="2501100"/>
            <a:ext cx="159300" cy="159300"/>
          </a:xfrm>
          <a:prstGeom prst="rect">
            <a:avLst/>
          </a:prstGeom>
        </p:spPr>
      </p:pic>
      <p:sp>
        <p:nvSpPr>
          <p:cNvPr id="52" name="Rectangle 51"/>
          <p:cNvSpPr/>
          <p:nvPr/>
        </p:nvSpPr>
        <p:spPr>
          <a:xfrm>
            <a:off x="2444400" y="2451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Effectifs et cotisations</a:t>
            </a:r>
          </a:p>
        </p:txBody>
      </p:sp>
      <p:sp>
        <p:nvSpPr>
          <p:cNvPr id="53" name="Rectangle 52"/>
          <p:cNvSpPr/>
          <p:nvPr/>
        </p:nvSpPr>
        <p:spPr>
          <a:xfrm>
            <a:off x="10756800" y="2451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46</a:t>
            </a:r>
          </a:p>
        </p:txBody>
      </p:sp>
      <p:cxnSp>
        <p:nvCxnSpPr>
          <p:cNvPr id="54" name="Connector 53"/>
          <p:cNvCxnSpPr/>
          <p:nvPr/>
        </p:nvCxnSpPr>
        <p:spPr>
          <a:xfrm>
            <a:off x="932400" y="2882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829250" y="2749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82349" y="2802599"/>
            <a:ext cx="159300" cy="159300"/>
          </a:xfrm>
          <a:prstGeom prst="rect">
            <a:avLst/>
          </a:prstGeom>
        </p:spPr>
      </p:pic>
      <p:sp>
        <p:nvSpPr>
          <p:cNvPr id="57" name="Rectangle 56"/>
          <p:cNvSpPr/>
          <p:nvPr/>
        </p:nvSpPr>
        <p:spPr>
          <a:xfrm>
            <a:off x="2444400" y="2753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Sinistralité et résultat</a:t>
            </a:r>
          </a:p>
        </p:txBody>
      </p:sp>
      <p:sp>
        <p:nvSpPr>
          <p:cNvPr id="58" name="Rectangle 57"/>
          <p:cNvSpPr/>
          <p:nvPr/>
        </p:nvSpPr>
        <p:spPr>
          <a:xfrm>
            <a:off x="10756800" y="2753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59</a:t>
            </a:r>
          </a:p>
        </p:txBody>
      </p:sp>
      <p:cxnSp>
        <p:nvCxnSpPr>
          <p:cNvPr id="59" name="Connector 58"/>
          <p:cNvCxnSpPr/>
          <p:nvPr/>
        </p:nvCxnSpPr>
        <p:spPr>
          <a:xfrm>
            <a:off x="932400" y="3183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829250" y="3051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2"/>
          <a:stretch>
            <a:fillRect/>
          </a:stretch>
        </p:blipFill>
        <p:spPr>
          <a:xfrm>
            <a:off x="1882349" y="3104100"/>
            <a:ext cx="159300" cy="159300"/>
          </a:xfrm>
          <a:prstGeom prst="rect">
            <a:avLst/>
          </a:prstGeom>
        </p:spPr>
      </p:pic>
      <p:sp>
        <p:nvSpPr>
          <p:cNvPr id="62" name="Rectangle 61"/>
          <p:cNvSpPr/>
          <p:nvPr/>
        </p:nvSpPr>
        <p:spPr>
          <a:xfrm>
            <a:off x="2444400" y="3054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Épargne des mutualistes</a:t>
            </a:r>
          </a:p>
        </p:txBody>
      </p:sp>
      <p:sp>
        <p:nvSpPr>
          <p:cNvPr id="63" name="Rectangle 62"/>
          <p:cNvSpPr/>
          <p:nvPr/>
        </p:nvSpPr>
        <p:spPr>
          <a:xfrm>
            <a:off x="10756800" y="3054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74</a:t>
            </a:r>
          </a:p>
        </p:txBody>
      </p:sp>
      <p:cxnSp>
        <p:nvCxnSpPr>
          <p:cNvPr id="64" name="Connector 63"/>
          <p:cNvCxnSpPr/>
          <p:nvPr/>
        </p:nvCxnSpPr>
        <p:spPr>
          <a:xfrm>
            <a:off x="932400" y="3485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829250" y="3352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1882349" y="3405599"/>
            <a:ext cx="159300" cy="159300"/>
          </a:xfrm>
          <a:prstGeom prst="rect">
            <a:avLst/>
          </a:prstGeom>
        </p:spPr>
      </p:pic>
      <p:sp>
        <p:nvSpPr>
          <p:cNvPr id="67" name="Rectangle 66"/>
          <p:cNvSpPr/>
          <p:nvPr/>
        </p:nvSpPr>
        <p:spPr>
          <a:xfrm>
            <a:off x="2444400" y="3356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Prêts du Grenier</a:t>
            </a:r>
          </a:p>
        </p:txBody>
      </p:sp>
      <p:sp>
        <p:nvSpPr>
          <p:cNvPr id="68" name="Rectangle 67"/>
          <p:cNvSpPr/>
          <p:nvPr/>
        </p:nvSpPr>
        <p:spPr>
          <a:xfrm>
            <a:off x="10756800" y="3356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87</a:t>
            </a:r>
          </a:p>
        </p:txBody>
      </p:sp>
      <p:cxnSp>
        <p:nvCxnSpPr>
          <p:cNvPr id="69" name="Connector 68"/>
          <p:cNvCxnSpPr/>
          <p:nvPr/>
        </p:nvCxnSpPr>
        <p:spPr>
          <a:xfrm>
            <a:off x="932400" y="37867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829250" y="36539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4"/>
          <a:stretch>
            <a:fillRect/>
          </a:stretch>
        </p:blipFill>
        <p:spPr>
          <a:xfrm>
            <a:off x="1882349" y="3707100"/>
            <a:ext cx="159300" cy="159300"/>
          </a:xfrm>
          <a:prstGeom prst="rect">
            <a:avLst/>
          </a:prstGeom>
        </p:spPr>
      </p:pic>
      <p:sp>
        <p:nvSpPr>
          <p:cNvPr id="72" name="Rectangle 71"/>
          <p:cNvSpPr/>
          <p:nvPr/>
        </p:nvSpPr>
        <p:spPr>
          <a:xfrm>
            <a:off x="2444400" y="36575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Retraités et annexes</a:t>
            </a:r>
          </a:p>
        </p:txBody>
      </p:sp>
      <p:sp>
        <p:nvSpPr>
          <p:cNvPr id="73" name="Rectangle 72"/>
          <p:cNvSpPr/>
          <p:nvPr/>
        </p:nvSpPr>
        <p:spPr>
          <a:xfrm>
            <a:off x="10756800" y="36575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96</a:t>
            </a:r>
          </a:p>
        </p:txBody>
      </p:sp>
      <p:cxnSp>
        <p:nvCxnSpPr>
          <p:cNvPr id="74" name="Connector 73"/>
          <p:cNvCxnSpPr/>
          <p:nvPr/>
        </p:nvCxnSpPr>
        <p:spPr>
          <a:xfrm>
            <a:off x="932400" y="4088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829250" y="3955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15"/>
          <a:stretch>
            <a:fillRect/>
          </a:stretch>
        </p:blipFill>
        <p:spPr>
          <a:xfrm>
            <a:off x="1882349" y="4008600"/>
            <a:ext cx="159300" cy="159300"/>
          </a:xfrm>
          <a:prstGeom prst="rect">
            <a:avLst/>
          </a:prstGeom>
        </p:spPr>
      </p:pic>
      <p:sp>
        <p:nvSpPr>
          <p:cNvPr id="77" name="Rectangle 76"/>
          <p:cNvSpPr/>
          <p:nvPr/>
        </p:nvSpPr>
        <p:spPr>
          <a:xfrm>
            <a:off x="2444400" y="3959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Bilan, provisions et placements</a:t>
            </a:r>
          </a:p>
        </p:txBody>
      </p:sp>
      <p:sp>
        <p:nvSpPr>
          <p:cNvPr id="78" name="Rectangle 77"/>
          <p:cNvSpPr/>
          <p:nvPr/>
        </p:nvSpPr>
        <p:spPr>
          <a:xfrm>
            <a:off x="10756800" y="3959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101</a:t>
            </a:r>
          </a:p>
        </p:txBody>
      </p:sp>
      <p:cxnSp>
        <p:nvCxnSpPr>
          <p:cNvPr id="79" name="Connector 78"/>
          <p:cNvCxnSpPr/>
          <p:nvPr/>
        </p:nvCxnSpPr>
        <p:spPr>
          <a:xfrm>
            <a:off x="932400" y="4389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829250" y="4257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image.png"/>
          <p:cNvPicPr>
            <a:picLocks noChangeAspect="1"/>
          </p:cNvPicPr>
          <p:nvPr/>
        </p:nvPicPr>
        <p:blipFill>
          <a:blip r:embed="rId16"/>
          <a:stretch>
            <a:fillRect/>
          </a:stretch>
        </p:blipFill>
        <p:spPr>
          <a:xfrm>
            <a:off x="1882349" y="4310100"/>
            <a:ext cx="159300" cy="159300"/>
          </a:xfrm>
          <a:prstGeom prst="rect">
            <a:avLst/>
          </a:prstGeom>
        </p:spPr>
      </p:pic>
      <p:sp>
        <p:nvSpPr>
          <p:cNvPr id="82" name="Rectangle 81"/>
          <p:cNvSpPr/>
          <p:nvPr/>
        </p:nvSpPr>
        <p:spPr>
          <a:xfrm>
            <a:off x="2444400" y="4260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Conformité prudentielle</a:t>
            </a:r>
          </a:p>
        </p:txBody>
      </p:sp>
      <p:sp>
        <p:nvSpPr>
          <p:cNvPr id="83" name="Rectangle 82"/>
          <p:cNvSpPr/>
          <p:nvPr/>
        </p:nvSpPr>
        <p:spPr>
          <a:xfrm>
            <a:off x="10756800" y="4260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152</a:t>
            </a:r>
          </a:p>
        </p:txBody>
      </p:sp>
      <p:cxnSp>
        <p:nvCxnSpPr>
          <p:cNvPr id="84" name="Connector 83"/>
          <p:cNvCxnSpPr/>
          <p:nvPr/>
        </p:nvCxnSpPr>
        <p:spPr>
          <a:xfrm>
            <a:off x="932400" y="4691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829250" y="4558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17"/>
          <a:stretch>
            <a:fillRect/>
          </a:stretch>
        </p:blipFill>
        <p:spPr>
          <a:xfrm>
            <a:off x="1882349" y="4611600"/>
            <a:ext cx="159300" cy="159300"/>
          </a:xfrm>
          <a:prstGeom prst="rect">
            <a:avLst/>
          </a:prstGeom>
        </p:spPr>
      </p:pic>
      <p:sp>
        <p:nvSpPr>
          <p:cNvPr id="87" name="Rectangle 86"/>
          <p:cNvSpPr/>
          <p:nvPr/>
        </p:nvSpPr>
        <p:spPr>
          <a:xfrm>
            <a:off x="2444400" y="4562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Tables de mortalité</a:t>
            </a:r>
          </a:p>
        </p:txBody>
      </p:sp>
      <p:sp>
        <p:nvSpPr>
          <p:cNvPr id="88" name="Rectangle 87"/>
          <p:cNvSpPr/>
          <p:nvPr/>
        </p:nvSpPr>
        <p:spPr>
          <a:xfrm>
            <a:off x="10756800" y="4562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195</a:t>
            </a:r>
          </a:p>
        </p:txBody>
      </p:sp>
      <p:cxnSp>
        <p:nvCxnSpPr>
          <p:cNvPr id="89" name="Connector 88"/>
          <p:cNvCxnSpPr/>
          <p:nvPr/>
        </p:nvCxnSpPr>
        <p:spPr>
          <a:xfrm>
            <a:off x="932400" y="4992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829250" y="4860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18"/>
          <a:stretch>
            <a:fillRect/>
          </a:stretch>
        </p:blipFill>
        <p:spPr>
          <a:xfrm>
            <a:off x="1882349" y="4913100"/>
            <a:ext cx="159300" cy="159300"/>
          </a:xfrm>
          <a:prstGeom prst="rect">
            <a:avLst/>
          </a:prstGeom>
        </p:spPr>
      </p:pic>
      <p:sp>
        <p:nvSpPr>
          <p:cNvPr id="92" name="Rectangle 91"/>
          <p:cNvSpPr/>
          <p:nvPr/>
        </p:nvSpPr>
        <p:spPr>
          <a:xfrm>
            <a:off x="2444400" y="4863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Projection de l'équilibre technique</a:t>
            </a:r>
          </a:p>
        </p:txBody>
      </p:sp>
      <p:sp>
        <p:nvSpPr>
          <p:cNvPr id="93" name="Rectangle 92"/>
          <p:cNvSpPr/>
          <p:nvPr/>
        </p:nvSpPr>
        <p:spPr>
          <a:xfrm>
            <a:off x="10756800" y="4863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202</a:t>
            </a:r>
          </a:p>
        </p:txBody>
      </p:sp>
      <p:cxnSp>
        <p:nvCxnSpPr>
          <p:cNvPr id="94" name="Connector 93"/>
          <p:cNvCxnSpPr/>
          <p:nvPr/>
        </p:nvCxnSpPr>
        <p:spPr>
          <a:xfrm>
            <a:off x="932400" y="5294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829250" y="5161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image.png"/>
          <p:cNvPicPr>
            <a:picLocks noChangeAspect="1"/>
          </p:cNvPicPr>
          <p:nvPr/>
        </p:nvPicPr>
        <p:blipFill>
          <a:blip r:embed="rId19"/>
          <a:stretch>
            <a:fillRect/>
          </a:stretch>
        </p:blipFill>
        <p:spPr>
          <a:xfrm>
            <a:off x="1882349" y="5214600"/>
            <a:ext cx="159300" cy="159300"/>
          </a:xfrm>
          <a:prstGeom prst="rect">
            <a:avLst/>
          </a:prstGeom>
        </p:spPr>
      </p:pic>
      <p:sp>
        <p:nvSpPr>
          <p:cNvPr id="97" name="Rectangle 96"/>
          <p:cNvSpPr/>
          <p:nvPr/>
        </p:nvSpPr>
        <p:spPr>
          <a:xfrm>
            <a:off x="2444400" y="5165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Outils et traçabilité</a:t>
            </a:r>
          </a:p>
        </p:txBody>
      </p:sp>
      <p:sp>
        <p:nvSpPr>
          <p:cNvPr id="98" name="Rectangle 97"/>
          <p:cNvSpPr/>
          <p:nvPr/>
        </p:nvSpPr>
        <p:spPr>
          <a:xfrm>
            <a:off x="10756800" y="5165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206</a:t>
            </a:r>
          </a:p>
        </p:txBody>
      </p:sp>
      <p:cxnSp>
        <p:nvCxnSpPr>
          <p:cNvPr id="99" name="Connector 98"/>
          <p:cNvCxnSpPr/>
          <p:nvPr/>
        </p:nvCxnSpPr>
        <p:spPr>
          <a:xfrm>
            <a:off x="932400" y="5595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829250" y="5463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image.png"/>
          <p:cNvPicPr>
            <a:picLocks noChangeAspect="1"/>
          </p:cNvPicPr>
          <p:nvPr/>
        </p:nvPicPr>
        <p:blipFill>
          <a:blip r:embed="rId20"/>
          <a:stretch>
            <a:fillRect/>
          </a:stretch>
        </p:blipFill>
        <p:spPr>
          <a:xfrm>
            <a:off x="1882349" y="5516100"/>
            <a:ext cx="159300" cy="159300"/>
          </a:xfrm>
          <a:prstGeom prst="rect">
            <a:avLst/>
          </a:prstGeom>
        </p:spPr>
      </p:pic>
      <p:sp>
        <p:nvSpPr>
          <p:cNvPr id="102" name="Rectangle 101"/>
          <p:cNvSpPr/>
          <p:nvPr/>
        </p:nvSpPr>
        <p:spPr>
          <a:xfrm>
            <a:off x="2444400" y="5466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Analyses en attente</a:t>
            </a:r>
          </a:p>
        </p:txBody>
      </p:sp>
      <p:sp>
        <p:nvSpPr>
          <p:cNvPr id="103" name="Rectangle 102"/>
          <p:cNvSpPr/>
          <p:nvPr/>
        </p:nvSpPr>
        <p:spPr>
          <a:xfrm>
            <a:off x="10756800" y="5466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217</a:t>
            </a:r>
          </a:p>
        </p:txBody>
      </p:sp>
      <p:cxnSp>
        <p:nvCxnSpPr>
          <p:cNvPr id="104" name="Connector 103"/>
          <p:cNvCxnSpPr/>
          <p:nvPr/>
        </p:nvCxnSpPr>
        <p:spPr>
          <a:xfrm>
            <a:off x="932400" y="5897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1829250" y="5764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image.png"/>
          <p:cNvPicPr>
            <a:picLocks noChangeAspect="1"/>
          </p:cNvPicPr>
          <p:nvPr/>
        </p:nvPicPr>
        <p:blipFill>
          <a:blip r:embed="rId21"/>
          <a:stretch>
            <a:fillRect/>
          </a:stretch>
        </p:blipFill>
        <p:spPr>
          <a:xfrm>
            <a:off x="1882349" y="5817600"/>
            <a:ext cx="159300" cy="159300"/>
          </a:xfrm>
          <a:prstGeom prst="rect">
            <a:avLst/>
          </a:prstGeom>
        </p:spPr>
      </p:pic>
      <p:sp>
        <p:nvSpPr>
          <p:cNvPr id="107" name="Rectangle 106"/>
          <p:cNvSpPr/>
          <p:nvPr/>
        </p:nvSpPr>
        <p:spPr>
          <a:xfrm>
            <a:off x="2444400" y="5768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Annexes</a:t>
            </a:r>
          </a:p>
        </p:txBody>
      </p:sp>
      <p:sp>
        <p:nvSpPr>
          <p:cNvPr id="108" name="Rectangle 107"/>
          <p:cNvSpPr/>
          <p:nvPr/>
        </p:nvSpPr>
        <p:spPr>
          <a:xfrm>
            <a:off x="10756800" y="5768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224</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R</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Résumé exécutif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chiffres clés, risques et actions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Réponse aux quatre demandes de la mission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Engagements et provisions partiellement démontrés. Adossement et placements insuffisants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verdict est détaillé dans la diapositive suivante, avec tous les chiffres qui le fondent et le renvoi à leur démonstration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demande de M. Wabi (associé responsable) : engagements, suffisance des provisions, adossement actif-passif, adéquation des placements, de 2020 au 31/08/2026. Analyses détaillées citées dans la colonne « Détail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 : Verdict sur chacune des quatre demandes</a:t>
            </a:r>
          </a:p>
        </p:txBody>
      </p:sp>
      <p:graphicFrame>
        <p:nvGraphicFramePr>
          <p:cNvPr id="32" name="Table 31"/>
          <p:cNvGraphicFramePr>
            <a:graphicFrameLocks noGrp="1"/>
          </p:cNvGraphicFramePr>
          <p:nvPr/>
        </p:nvGraphicFramePr>
        <p:xfrm>
          <a:off x="503999" y="1655999"/>
          <a:ext cx="11232000" cy="1796852"/>
        </p:xfrm>
        <a:graphic>
          <a:graphicData uri="http://schemas.openxmlformats.org/drawingml/2006/table">
            <a:tbl>
              <a:tblPr firstRow="0" bandRow="0">
                <a:tableStyleId>{5940675A-B579-460E-94D1-54222C63F5DA}</a:tableStyleId>
              </a:tblPr>
              <a:tblGrid>
                <a:gridCol w="2376000"/>
                <a:gridCol w="1584000"/>
                <a:gridCol w="5544000"/>
                <a:gridCol w="1728000"/>
              </a:tblGrid>
              <a:tr h="194768">
                <a:tc>
                  <a:txBody>
                    <a:bodyPr/>
                    <a:lstStyle/>
                    <a:p>
                      <a:pPr marL="0" indent="0" lvl="0">
                        <a:buNone/>
                      </a:pPr>
                      <a:r>
                        <a:rPr sz="900" b="1">
                          <a:solidFill>
                            <a:srgbClr val="FFFFFF"/>
                          </a:solidFill>
                          <a:latin typeface="Helvetica"/>
                        </a:rPr>
                        <a:t>Demande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Verdict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 une phrase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Détail</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1. Engagements envers les adhérents et ayants droit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Partiellement démontré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L'épargne, les allocations décès, la maladie et la provision du personnel sont mesurés. Les intérêts dus sur l'épargne ne sont pas comptabilisés. La santé des retraités n'est pas mesurable.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diapositive 5</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2. Suffisance des provisions au regard des prestations servies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Partiellement démontré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provisions maladie et décès dépassent largement les besoins mesurés mais ne résultent d'aucun calcul. Les intérêts d'épargne et la perte probable sur les prêts ne sont pas provisionnés.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diapositive 6</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Insuffisant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L'actif mobilisable dans l'année couvre environ un tiers de ce que le FPPN devra payer dans l'année, épargne comprise.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diapositive 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4. Adéquation des placements aux engagements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Insuffisant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placements financiers sont trop petits, peu rémunérateurs et sans politique. Ils ne couvrent ni les intérêts dus ni les sorties d'épargne.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diapositive 8</a:t>
                      </a:r>
                    </a:p>
                  </a:txBody>
                  <a:tcPr marL="43200" marR="43200" marT="14400" marB="14400" anchor="ctr">
                    <a:solidFill>
                      <a:srgbClr val="F2F2F2"/>
                    </a:solidFill>
                  </a:tcPr>
                </a:tc>
              </a:tr>
            </a:tbl>
          </a:graphicData>
        </a:graphic>
      </p:graphicFrame>
      <p:sp>
        <p:nvSpPr>
          <p:cNvPr id="33" name="TextBox 32"/>
          <p:cNvSpPr txBox="1"/>
          <p:nvPr/>
        </p:nvSpPr>
        <p:spPr>
          <a:xfrm>
            <a:off x="503999" y="3560855"/>
            <a:ext cx="11232000" cy="162000"/>
          </a:xfrm>
          <a:prstGeom prst="rect">
            <a:avLst/>
          </a:prstGeom>
          <a:noFill/>
        </p:spPr>
        <p:txBody>
          <a:bodyPr wrap="square" anchor="t" lIns="54000" rIns="54000"/>
          <a:lstStyle/>
          <a:p>
            <a:pPr algn="l"/>
            <a:r>
              <a:rPr sz="850" b="0">
                <a:solidFill>
                  <a:srgbClr val="53565A"/>
                </a:solidFill>
                <a:latin typeface="Helvetica"/>
              </a:rPr>
              <a:t>Valable pour : période du 01/01/2020 au 31/08/2026 (mission à partir du 01/09/2020), documents du FPPN reçus jusqu'au 22/10/2026.</a:t>
            </a:r>
          </a:p>
        </p:txBody>
      </p:sp>
      <p:sp>
        <p:nvSpPr>
          <p:cNvPr id="34" name="TextBox 33"/>
          <p:cNvSpPr txBox="1"/>
          <p:nvPr/>
        </p:nvSpPr>
        <p:spPr>
          <a:xfrm>
            <a:off x="503999" y="3866855"/>
            <a:ext cx="11232000" cy="2001144"/>
          </a:xfrm>
          <a:prstGeom prst="rect">
            <a:avLst/>
          </a:prstGeom>
          <a:noFill/>
        </p:spPr>
        <p:txBody>
          <a:bodyPr wrap="square" lIns="54000" rIns="54000"/>
          <a:lstStyle/>
          <a:p>
            <a:pPr algn="just">
              <a:spcAft>
                <a:spcPts val="600"/>
              </a:spcAft>
            </a:pPr>
            <a:r>
              <a:rPr sz="1300" b="1">
                <a:solidFill>
                  <a:srgbClr val="060606"/>
                </a:solidFill>
                <a:latin typeface="Helvetica"/>
              </a:rPr>
              <a:t>Le FPPN connaît ses dettes de court terme, mais pas la valeur de ses engagements d'épargne, faute de taux arrêté, d'échéancier et d'intérêts comptabilisés.</a:t>
            </a:r>
            <a:r>
              <a:rPr sz="1300" b="0">
                <a:solidFill>
                  <a:srgbClr val="060606"/>
                </a:solidFill>
                <a:latin typeface="Helvetica"/>
              </a:rPr>
              <a:t> C'est la cause commune des verdicts 1, 3 et 4.</a:t>
            </a:r>
          </a:p>
          <a:p>
            <a:pPr algn="just">
              <a:spcAft>
                <a:spcPts val="600"/>
              </a:spcAft>
            </a:pPr>
            <a:r>
              <a:rPr sz="1300" b="0">
                <a:solidFill>
                  <a:srgbClr val="060606"/>
                </a:solidFill>
                <a:latin typeface="Helvetica"/>
              </a:rPr>
              <a:t>Les quatre diapositives suivantes donnent, pour chaque demande, tous les chiffres qui fondent le verdict, ses limites et le renvoi vers la démonstration.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3942753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Demande 1 : engagements envers les adhérents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Verdict : Partiellement démontré. Épargne due au 31/08/2026 de 15 743 516 391 FCFA, hors intérêts dus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Avec les intérêts dus depuis le 01/01/2020 (PEP 3,5 %, EFC 5,5 %), l'engagement d'épargne atteint 19 022 429 629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demande de M. Wabi (associé responsable) : engagements, suffisance des provisions, adossement actif-passif, adéquation des placements, de 2020 au 31/08/2026. Analyses détaillées citées dans la colonne « Détail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 : Engagements envers les adhérents : chiffres qui fondent le verdict</a:t>
            </a:r>
          </a:p>
        </p:txBody>
      </p:sp>
      <p:graphicFrame>
        <p:nvGraphicFramePr>
          <p:cNvPr id="32" name="Table 31"/>
          <p:cNvGraphicFramePr>
            <a:graphicFrameLocks noGrp="1"/>
          </p:cNvGraphicFramePr>
          <p:nvPr/>
        </p:nvGraphicFramePr>
        <p:xfrm>
          <a:off x="503999" y="1655999"/>
          <a:ext cx="11231999" cy="2528730"/>
        </p:xfrm>
        <a:graphic>
          <a:graphicData uri="http://schemas.openxmlformats.org/drawingml/2006/table">
            <a:tbl>
              <a:tblPr firstRow="0" bandRow="0">
                <a:tableStyleId>{5940675A-B579-460E-94D1-54222C63F5DA}</a:tableStyleId>
              </a:tblPr>
              <a:tblGrid>
                <a:gridCol w="2736000"/>
                <a:gridCol w="2015999"/>
                <a:gridCol w="4752000"/>
                <a:gridCol w="1728000"/>
              </a:tblGrid>
              <a:tr h="180000">
                <a:tc>
                  <a:txBody>
                    <a:bodyPr/>
                    <a:lstStyle/>
                    <a:p>
                      <a:pPr marL="0" indent="0" lvl="0">
                        <a:buNone/>
                      </a:pPr>
                      <a:r>
                        <a:rPr sz="800" b="1">
                          <a:solidFill>
                            <a:srgbClr val="FFFFFF"/>
                          </a:solidFill>
                          <a:latin typeface="Helvetica"/>
                        </a:rPr>
                        <a:t>Engagement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chiffre montre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Détail</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Épargne PEP et EFC due au 31/08/2026 (comptes 41195100 et 41195200)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15 743 516 391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Somme des cotisations d'épargne nettes des sorties, sans intérêts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85</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Intérêts dus du 01/01/2020 au 31/08/2026, PEP 3,5 % et EFC 5,5 %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3 278 913 238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Intérêts promis par le manuel d'épargne, absents des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85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Mêmes intérêts si l'EFC est servie à 3,5 %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2 541 799 542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Borne basse : taux indiqué par le chef comptable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85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Taux servi sur l'EFC selon les documents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3,5 %, 5,5 % ou 14 %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 taux arrêté par une décision signée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82</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Allocations décès et frais funéraires dus au 31/08/2026 (41591000 et 41592000)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489 419 669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Liste du FPPN des décès non payés, valorisés au barème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112</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Décès connus après la clôture (états 2021 et 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7 100 000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Ordre de grandeur de ce qui manque chaque 31 décembre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113</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Soins facturés l'année suivante (clôture 2024, estimation élargie)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12 481 392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Dette maladie non encore facturée à la clôture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109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Provision du personnel recalculée au 31/12/2025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24 446 566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 196 du FPPN : 43 666 678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119</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Santé des policiers retraités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610 retraités cotisants (août 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mesurable : soins des retraités non isolés. Date de naissance connue pour 105 retraités seulement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99</a:t>
                      </a:r>
                    </a:p>
                  </a:txBody>
                  <a:tcPr marL="43200" marR="43200" marT="14400" marB="14400" anchor="ctr">
                    <a:solidFill>
                      <a:srgbClr val="FFFFFF"/>
                    </a:solidFill>
                  </a:tcPr>
                </a:tc>
              </a:tr>
            </a:tbl>
          </a:graphicData>
        </a:graphic>
      </p:graphicFrame>
      <p:sp>
        <p:nvSpPr>
          <p:cNvPr id="33" name="TextBox 32"/>
          <p:cNvSpPr txBox="1"/>
          <p:nvPr/>
        </p:nvSpPr>
        <p:spPr>
          <a:xfrm>
            <a:off x="503999" y="4292732"/>
            <a:ext cx="11232000" cy="162000"/>
          </a:xfrm>
          <a:prstGeom prst="rect">
            <a:avLst/>
          </a:prstGeom>
          <a:noFill/>
        </p:spPr>
        <p:txBody>
          <a:bodyPr wrap="square" anchor="t" lIns="54000" rIns="54000"/>
          <a:lstStyle/>
          <a:p>
            <a:pPr algn="l"/>
            <a:r>
              <a:rPr sz="850" b="0">
                <a:solidFill>
                  <a:srgbClr val="53565A"/>
                </a:solidFill>
                <a:latin typeface="Helvetica"/>
              </a:rPr>
              <a:t>Valable pour : épargne et dettes au 31/08/2026 (balance provisoire). Intérêts dus calculés du 01/01/2020 au 31/08/2026 seulement. Provision du personnel au 31/12/2025.</a:t>
            </a:r>
          </a:p>
        </p:txBody>
      </p:sp>
      <p:sp>
        <p:nvSpPr>
          <p:cNvPr id="34" name="TextBox 33"/>
          <p:cNvSpPr txBox="1"/>
          <p:nvPr/>
        </p:nvSpPr>
        <p:spPr>
          <a:xfrm>
            <a:off x="503999" y="4598732"/>
            <a:ext cx="11232000" cy="1269267"/>
          </a:xfrm>
          <a:prstGeom prst="rect">
            <a:avLst/>
          </a:prstGeom>
          <a:noFill/>
        </p:spPr>
        <p:txBody>
          <a:bodyPr wrap="square" lIns="54000" rIns="54000"/>
          <a:lstStyle/>
          <a:p>
            <a:pPr algn="just">
              <a:spcAft>
                <a:spcPts val="600"/>
              </a:spcAft>
            </a:pPr>
            <a:r>
              <a:rPr sz="1300" b="1">
                <a:solidFill>
                  <a:srgbClr val="060606"/>
                </a:solidFill>
                <a:latin typeface="Helvetica"/>
              </a:rPr>
              <a:t>Le premier engagement est l'épargne : 15 743 516 391 FCFA au 31/08/2026, plus 3 278 913 238 FCFA d'intérêts dus non comptabilisés au taux du manuel.</a:t>
            </a:r>
            <a:r>
              <a:rPr sz="1300" b="0">
                <a:solidFill>
                  <a:srgbClr val="060606"/>
                </a:solidFill>
                <a:latin typeface="Helvetica"/>
              </a:rPr>
              <a:t> Les autres engagements mesurés sont des dettes de court terme.</a:t>
            </a:r>
          </a:p>
          <a:p>
            <a:pPr algn="just">
              <a:spcAft>
                <a:spcPts val="600"/>
              </a:spcAft>
            </a:pPr>
            <a:r>
              <a:rPr sz="1300" b="0">
                <a:solidFill>
                  <a:srgbClr val="060606"/>
                </a:solidFill>
                <a:latin typeface="Helvetica"/>
              </a:rPr>
              <a:t>Le verdict deviendra « Démontré » quand le FPPN aura arrêté le taux servi, transmis les relevés individuels d'épargne et les âges des retraités (PBC, items 17, 99 et 114).</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200785648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Demande 2 : suffisance des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Verdict : Partiellement démontré. Provisions maladie et décès supérieures aux besoins, mais non calculées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maladie et obsèques : 4 829 298 290 FCFA au bilan, inchangées depuis 2020. Intérêts d'épargne dus non provisionnés : 3 278 913 238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demande de M. Wabi (associé responsable) : engagements, suffisance des provisions, adossement actif-passif, adéquation des placements, de 2020 au 31/08/2026. Analyses détaillées citées dans la colonne « Détail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 : Provisions du bilan et besoins mesurés : chiffres qui fondent le verdict</a:t>
            </a:r>
          </a:p>
        </p:txBody>
      </p:sp>
      <p:graphicFrame>
        <p:nvGraphicFramePr>
          <p:cNvPr id="32" name="Table 31"/>
          <p:cNvGraphicFramePr>
            <a:graphicFrameLocks noGrp="1"/>
          </p:cNvGraphicFramePr>
          <p:nvPr/>
        </p:nvGraphicFramePr>
        <p:xfrm>
          <a:off x="503999" y="1655999"/>
          <a:ext cx="11232000" cy="2047275"/>
        </p:xfrm>
        <a:graphic>
          <a:graphicData uri="http://schemas.openxmlformats.org/drawingml/2006/table">
            <a:tbl>
              <a:tblPr firstRow="0" bandRow="0">
                <a:tableStyleId>{5940675A-B579-460E-94D1-54222C63F5DA}</a:tableStyleId>
              </a:tblPr>
              <a:tblGrid>
                <a:gridCol w="2160000"/>
                <a:gridCol w="1728000"/>
                <a:gridCol w="1728000"/>
                <a:gridCol w="3888000"/>
                <a:gridCol w="1728000"/>
              </a:tblGrid>
              <a:tr h="180000">
                <a:tc>
                  <a:txBody>
                    <a:bodyPr/>
                    <a:lstStyle/>
                    <a:p>
                      <a:pPr marL="0" indent="0" lvl="0">
                        <a:buNone/>
                      </a:pPr>
                      <a:r>
                        <a:rPr sz="800" b="1">
                          <a:solidFill>
                            <a:srgbClr val="FFFFFF"/>
                          </a:solidFill>
                          <a:latin typeface="Helvetica"/>
                        </a:rPr>
                        <a:t>Provision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Au bilan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Besoin mesuré</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chiffre montre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Détail</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Maladie (15801000)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12 481 392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Besoin au 31/12/2024 : soins facturés l'année suivante (estimation élargie). Les factures reçues sont déjà au passif (40110000)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109</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Obsèques (15802000)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489 419 669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La dette calculée par le FPPN est déjà inscrite aux comptes 41591000 et 41592000 : la provision fait double emploi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112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Délai moyen de paiement des cliniques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2,62 mois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5,00 mois au 31/08/2026. La règle de l'art. 52 est de 3 mois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107</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Risques courts (statuts, art. 88)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cotisations mensuelles couvrent leur mois : aucune période à couvrir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114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Intérêts dus sur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3 278 913 238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PEP 3,5 % et EFC 5,5 % du 01/01/2020 au 31/08/2026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85</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Pertes probables sur les prêts du Grenier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14 016 392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la politique de crédit du Grenier (40 %, 80 %, 100 %)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115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Départ à la retraite du personnel (196)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43 666 678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24 446 566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 196 supérieur au recalcul au 31/12/2025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119</a:t>
                      </a:r>
                    </a:p>
                  </a:txBody>
                  <a:tcPr marL="43200" marR="43200" marT="14400" marB="14400" anchor="ctr">
                    <a:solidFill>
                      <a:srgbClr val="FFFFFF"/>
                    </a:solidFill>
                  </a:tcPr>
                </a:tc>
              </a:tr>
            </a:tbl>
          </a:graphicData>
        </a:graphic>
      </p:graphicFrame>
      <p:sp>
        <p:nvSpPr>
          <p:cNvPr id="33" name="TextBox 32"/>
          <p:cNvSpPr txBox="1"/>
          <p:nvPr/>
        </p:nvSpPr>
        <p:spPr>
          <a:xfrm>
            <a:off x="503999" y="3811276"/>
            <a:ext cx="11232000" cy="162000"/>
          </a:xfrm>
          <a:prstGeom prst="rect">
            <a:avLst/>
          </a:prstGeom>
          <a:noFill/>
        </p:spPr>
        <p:txBody>
          <a:bodyPr wrap="square" anchor="t" lIns="54000" rIns="54000"/>
          <a:lstStyle/>
          <a:p>
            <a:pPr algn="l"/>
            <a:r>
              <a:rPr sz="850" b="0">
                <a:solidFill>
                  <a:srgbClr val="53565A"/>
                </a:solidFill>
                <a:latin typeface="Helvetica"/>
              </a:rPr>
              <a:t>Valable pour : provisions au bilan du 31/08/2026. Besoin maladie mesuré au 31/12/2024 sur les factures de cliniques du journal SIN. Dette décès au 31/08/2026.</a:t>
            </a:r>
          </a:p>
        </p:txBody>
      </p:sp>
      <p:sp>
        <p:nvSpPr>
          <p:cNvPr id="34" name="TextBox 33"/>
          <p:cNvSpPr txBox="1"/>
          <p:nvPr/>
        </p:nvSpPr>
        <p:spPr>
          <a:xfrm>
            <a:off x="503999" y="4117276"/>
            <a:ext cx="11232000" cy="1750723"/>
          </a:xfrm>
          <a:prstGeom prst="rect">
            <a:avLst/>
          </a:prstGeom>
          <a:noFill/>
        </p:spPr>
        <p:txBody>
          <a:bodyPr wrap="square" lIns="54000" rIns="54000"/>
          <a:lstStyle/>
          <a:p>
            <a:pPr algn="just">
              <a:spcAft>
                <a:spcPts val="600"/>
              </a:spcAft>
            </a:pPr>
            <a:r>
              <a:rPr sz="1300" b="1">
                <a:solidFill>
                  <a:srgbClr val="060606"/>
                </a:solidFill>
                <a:latin typeface="Helvetica"/>
              </a:rPr>
              <a:t>Les provisions maladie et obsèques dépassent les besoins mesurés de 4 327 397 229 FCFA, alors que les intérêts d'épargne (3 278 913 238 FCFA) et les pertes sur prêts ne sont pas provisionnés.</a:t>
            </a:r>
            <a:r>
              <a:rPr sz="1300" b="0">
                <a:solidFill>
                  <a:srgbClr val="060606"/>
                </a:solidFill>
                <a:latin typeface="Helvetica"/>
              </a:rPr>
              <a:t> Les provisions ne sont pas insuffisantes en montant global. Elles sont mal affectées et non calculées, contrairement à l'article 89 des statuts.</a:t>
            </a:r>
          </a:p>
          <a:p>
            <a:pPr algn="just">
              <a:spcAft>
                <a:spcPts val="600"/>
              </a:spcAft>
            </a:pPr>
            <a:r>
              <a:rPr sz="1300" b="0">
                <a:solidFill>
                  <a:srgbClr val="060606"/>
                </a:solidFill>
                <a:latin typeface="Helvetica"/>
              </a:rPr>
              <a:t>Les provisions maladie et obsèques doivent être recalculées chaque année (statuts, art. 89). L'excédent ne peut être réaffecté à l'épargne qu'après décision des organes et avis de l'AIRMS.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a:t>
            </a:r>
          </a:p>
        </p:txBody>
      </p:sp>
    </p:spTree>
    <p:extLst>
      <p:ext uri="{BB962C8B-B14F-4D97-AF65-F5344CB8AC3E}">
        <p14:creationId xmlns:p14="http://schemas.microsoft.com/office/powerpoint/2010/main" val="364456455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Demande 3 : adossement actif-passif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Verdict : Insuffisant. L'actif mobilisable dans l'année couvre 34,42 % des paiements de l'année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à moins d'un an 3 457 866 951 FCFA. Paiements attendus dans l'année, épargne comprise, 10 046 113 184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demande de M. Wabi (associé responsable) : engagements, suffisance des provisions, adossement actif-passif, adéquation des placements, de 2020 au 31/08/2026. Analyses détaillées citées dans la colonne « Détail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 : Adossement actif-passif : chiffres qui fondent le verdict</a:t>
            </a:r>
          </a:p>
        </p:txBody>
      </p:sp>
      <p:graphicFrame>
        <p:nvGraphicFramePr>
          <p:cNvPr id="32" name="Table 31"/>
          <p:cNvGraphicFramePr>
            <a:graphicFrameLocks noGrp="1"/>
          </p:cNvGraphicFramePr>
          <p:nvPr/>
        </p:nvGraphicFramePr>
        <p:xfrm>
          <a:off x="503999" y="1655999"/>
          <a:ext cx="11232000" cy="2047275"/>
        </p:xfrm>
        <a:graphic>
          <a:graphicData uri="http://schemas.openxmlformats.org/drawingml/2006/table">
            <a:tbl>
              <a:tblPr firstRow="0" bandRow="0">
                <a:tableStyleId>{5940675A-B579-460E-94D1-54222C63F5DA}</a:tableStyleId>
              </a:tblPr>
              <a:tblGrid>
                <a:gridCol w="3024000"/>
                <a:gridCol w="1872000"/>
                <a:gridCol w="4608000"/>
                <a:gridCol w="1728000"/>
              </a:tblGrid>
              <a:tr h="180000">
                <a:tc>
                  <a:txBody>
                    <a:bodyPr/>
                    <a:lstStyle/>
                    <a:p>
                      <a:pPr marL="0" indent="0" lvl="0">
                        <a:buNone/>
                      </a:pPr>
                      <a:r>
                        <a:rPr sz="800" b="1">
                          <a:solidFill>
                            <a:srgbClr val="FFFFFF"/>
                          </a:solidFill>
                          <a:latin typeface="Helvetica"/>
                        </a:rPr>
                        <a:t>Mesure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chiffre montre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Détail</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Épargne couverte par les actifs qui lui sont réservés (31/08/2026)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16,28 %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Banques et DAT de l'épargne et FCP rapportés à l'épargne due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77</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Taux de sortie annuel de l'épargne, moyenne 2021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19,24 %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Maximum observé : 27,55 %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138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Couverture des paiements de l'année, scénario central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34,42 %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 à moins d'un an / (dettes à moins d'un an + sorties d'épargne prévues)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140</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Couverture, test de résistance sévère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26,22 %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Sorties au taux maximal et hausse des prestations maladie la plus forte de 2024 et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140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Ratio de liquidité au 31/08/2026 (norme au moins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Trésorerie / dettes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168</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Ratio d'équilibre stable au 31/08/2026 (norme au plus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Emplois longs / ressources longues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169</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Réserve de trésorerie des risques longs (norme un trimestre)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réserve constituée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172</a:t>
                      </a:r>
                    </a:p>
                  </a:txBody>
                  <a:tcPr marL="43200" marR="43200" marT="14400" marB="14400" anchor="ctr">
                    <a:solidFill>
                      <a:srgbClr val="FFFFFF"/>
                    </a:solidFill>
                  </a:tcPr>
                </a:tc>
              </a:tr>
            </a:tbl>
          </a:graphicData>
        </a:graphic>
      </p:graphicFrame>
      <p:sp>
        <p:nvSpPr>
          <p:cNvPr id="33" name="TextBox 32"/>
          <p:cNvSpPr txBox="1"/>
          <p:nvPr/>
        </p:nvSpPr>
        <p:spPr>
          <a:xfrm>
            <a:off x="503999" y="3811276"/>
            <a:ext cx="11232000" cy="162000"/>
          </a:xfrm>
          <a:prstGeom prst="rect">
            <a:avLst/>
          </a:prstGeom>
          <a:noFill/>
        </p:spPr>
        <p:txBody>
          <a:bodyPr wrap="square" anchor="t" lIns="54000" rIns="54000"/>
          <a:lstStyle/>
          <a:p>
            <a:pPr algn="l"/>
            <a:r>
              <a:rPr sz="850" b="0">
                <a:solidFill>
                  <a:srgbClr val="53565A"/>
                </a:solidFill>
                <a:latin typeface="Helvetica"/>
              </a:rPr>
              <a:t>Valable pour : bilans au 31/12/2025 et au 31/08/2026 (provisoire). Sorties d'épargne observées de 2021 à 2025. Actifs classés par nature comptable, sans échéancier contractuel.</a:t>
            </a:r>
          </a:p>
        </p:txBody>
      </p:sp>
      <p:sp>
        <p:nvSpPr>
          <p:cNvPr id="34" name="TextBox 33"/>
          <p:cNvSpPr txBox="1"/>
          <p:nvPr/>
        </p:nvSpPr>
        <p:spPr>
          <a:xfrm>
            <a:off x="503999" y="4117276"/>
            <a:ext cx="11232000" cy="1750723"/>
          </a:xfrm>
          <a:prstGeom prst="rect">
            <a:avLst/>
          </a:prstGeom>
          <a:noFill/>
        </p:spPr>
        <p:txBody>
          <a:bodyPr wrap="square" lIns="54000" rIns="54000"/>
          <a:lstStyle/>
          <a:p>
            <a:pPr algn="just">
              <a:spcAft>
                <a:spcPts val="600"/>
              </a:spcAft>
            </a:pPr>
            <a:r>
              <a:rPr sz="1300" b="1">
                <a:solidFill>
                  <a:srgbClr val="060606"/>
                </a:solidFill>
                <a:latin typeface="Helvetica"/>
              </a:rPr>
              <a:t>L'épargne, dette exigible à tout moment, finance des actifs longs : terrains, clinique, créance sur l'hôpital et prêts du Grenier.</a:t>
            </a:r>
            <a:r>
              <a:rPr sz="1300" b="0">
                <a:solidFill>
                  <a:srgbClr val="060606"/>
                </a:solidFill>
                <a:latin typeface="Helvetica"/>
              </a:rPr>
              <a:t> Même au taux de sortie moyen observé, l'actif mobilisable dans l'année ne couvre pas les paiements de l'année.</a:t>
            </a:r>
          </a:p>
          <a:p>
            <a:pPr algn="just">
              <a:spcAft>
                <a:spcPts val="600"/>
              </a:spcAft>
            </a:pPr>
            <a:r>
              <a:rPr sz="1300" b="0">
                <a:solidFill>
                  <a:srgbClr val="060606"/>
                </a:solidFill>
                <a:latin typeface="Helvetica"/>
              </a:rPr>
              <a:t>L'adossement ne peut devenir suffisant sans un échéancier de l'épargne, une réserve de liquidité et une politique actif-passif votée par le conseil d'administration.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FCP : fonds commun de placement | DAT : dépôt à terme</a:t>
            </a:r>
          </a:p>
        </p:txBody>
      </p:sp>
    </p:spTree>
    <p:extLst>
      <p:ext uri="{BB962C8B-B14F-4D97-AF65-F5344CB8AC3E}">
        <p14:creationId xmlns:p14="http://schemas.microsoft.com/office/powerpoint/2010/main" val="171391041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Demande 4 : adéquation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Verdict : Insuffisant. Placements financiers de 3,73 % de l'épargne due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apparent moyen de 2021 à 2025 : 6,48 %. Produits financiers 2025 : 117 912 488 FCFA, inférieurs aux intérêts d'une année sur l'EFC au taux le plus bas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demande de M. Wabi (associé responsable) : engagements, suffisance des provisions, adossement actif-passif, adéquation des placements, de 2020 au 31/08/2026. Analyses détaillées citées dans la colonne « Détail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 : Adéquation des placements : chiffres qui fondent le verdict</a:t>
            </a:r>
          </a:p>
        </p:txBody>
      </p:sp>
      <p:graphicFrame>
        <p:nvGraphicFramePr>
          <p:cNvPr id="32" name="Table 31"/>
          <p:cNvGraphicFramePr>
            <a:graphicFrameLocks noGrp="1"/>
          </p:cNvGraphicFramePr>
          <p:nvPr/>
        </p:nvGraphicFramePr>
        <p:xfrm>
          <a:off x="503999" y="1655999"/>
          <a:ext cx="11232000" cy="1624365"/>
        </p:xfrm>
        <a:graphic>
          <a:graphicData uri="http://schemas.openxmlformats.org/drawingml/2006/table">
            <a:tbl>
              <a:tblPr firstRow="0" bandRow="0">
                <a:tableStyleId>{5940675A-B579-460E-94D1-54222C63F5DA}</a:tableStyleId>
              </a:tblPr>
              <a:tblGrid>
                <a:gridCol w="3024000"/>
                <a:gridCol w="1872000"/>
                <a:gridCol w="4608000"/>
                <a:gridCol w="1728000"/>
              </a:tblGrid>
              <a:tr h="180000">
                <a:tc>
                  <a:txBody>
                    <a:bodyPr/>
                    <a:lstStyle/>
                    <a:p>
                      <a:pPr marL="0" indent="0" lvl="0">
                        <a:buNone/>
                      </a:pPr>
                      <a:r>
                        <a:rPr sz="800" b="1">
                          <a:solidFill>
                            <a:srgbClr val="FFFFFF"/>
                          </a:solidFill>
                          <a:latin typeface="Helvetica"/>
                        </a:rPr>
                        <a:t>Mesure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le chiffre montre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Détail</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Placements financiers moyens 2025 (DAT et FCP)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515 290 922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3,73 % de l'épargne due au 31/12/2025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146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Produits financiers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117 912 488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Comprend le reversement des intérêts d'un DAT arrivé à maturité (rapport de gestion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149</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Intérêts d'une année sur l'EFC à 3,5 %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309 709 577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Supérieurs aux produits financiers de chaque année de 2021 à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84</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Terrains, clinique (CMP) et créance sur l'hôpital au 31/08/2026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15 736 951 165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peu liquides, sans évaluation récente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132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Financement des prêts du Grenier au 31/08/2026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915 477 260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Épargne prêtée aux membres, prêts d'une durée médiane de 10 mois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diapositive 89</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Politique de placement votée par le conseil d'administration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 directeur général décide seul (entretien du 19/10/2026)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diapositive 147</a:t>
                      </a:r>
                    </a:p>
                  </a:txBody>
                  <a:tcPr marL="43200" marR="43200" marT="14400" marB="14400" anchor="ctr">
                    <a:solidFill>
                      <a:srgbClr val="F2F2F2"/>
                    </a:solidFill>
                  </a:tcPr>
                </a:tc>
              </a:tr>
            </a:tbl>
          </a:graphicData>
        </a:graphic>
      </p:graphicFrame>
      <p:sp>
        <p:nvSpPr>
          <p:cNvPr id="33" name="TextBox 32"/>
          <p:cNvSpPr txBox="1"/>
          <p:nvPr/>
        </p:nvSpPr>
        <p:spPr>
          <a:xfrm>
            <a:off x="503999" y="3388366"/>
            <a:ext cx="11232000" cy="162000"/>
          </a:xfrm>
          <a:prstGeom prst="rect">
            <a:avLst/>
          </a:prstGeom>
          <a:noFill/>
        </p:spPr>
        <p:txBody>
          <a:bodyPr wrap="square" anchor="t" lIns="54000" rIns="54000"/>
          <a:lstStyle/>
          <a:p>
            <a:pPr algn="l"/>
            <a:r>
              <a:rPr sz="850" b="0">
                <a:solidFill>
                  <a:srgbClr val="53565A"/>
                </a:solidFill>
                <a:latin typeface="Helvetica"/>
              </a:rPr>
              <a:t>Valable pour : placements et produits financiers de 2021 à 2025, actifs au 31/08/2026. Épargne due au 31/12/2025.</a:t>
            </a:r>
          </a:p>
        </p:txBody>
      </p:sp>
      <p:sp>
        <p:nvSpPr>
          <p:cNvPr id="34" name="TextBox 33"/>
          <p:cNvSpPr txBox="1"/>
          <p:nvPr/>
        </p:nvSpPr>
        <p:spPr>
          <a:xfrm>
            <a:off x="503999" y="3694366"/>
            <a:ext cx="11232000" cy="2173633"/>
          </a:xfrm>
          <a:prstGeom prst="rect">
            <a:avLst/>
          </a:prstGeom>
          <a:noFill/>
        </p:spPr>
        <p:txBody>
          <a:bodyPr wrap="square" lIns="54000" rIns="54000"/>
          <a:lstStyle/>
          <a:p>
            <a:pPr algn="just">
              <a:spcAft>
                <a:spcPts val="600"/>
              </a:spcAft>
            </a:pPr>
            <a:r>
              <a:rPr sz="1300" b="1">
                <a:solidFill>
                  <a:srgbClr val="060606"/>
                </a:solidFill>
                <a:latin typeface="Helvetica"/>
              </a:rPr>
              <a:t>Le problème des placements n'est pas d'abord leur rendement, mais leur volume et leur liquidité</a:t>
            </a:r>
            <a:r>
              <a:rPr sz="1300" b="0">
                <a:solidFill>
                  <a:srgbClr val="060606"/>
                </a:solidFill>
                <a:latin typeface="Helvetica"/>
              </a:rPr>
              <a:t> : l'essentiel de l'épargne est immobilisé dans des actifs qui ne produisent ni revenu financier ni liquidité.</a:t>
            </a:r>
          </a:p>
          <a:p>
            <a:pPr algn="just">
              <a:spcAft>
                <a:spcPts val="600"/>
              </a:spcAft>
            </a:pPr>
            <a:r>
              <a:rPr sz="1300" b="0">
                <a:solidFill>
                  <a:srgbClr val="060606"/>
                </a:solidFill>
                <a:latin typeface="Helvetica"/>
              </a:rPr>
              <a:t>Une politique de placement doit fixer une part minimale d'actifs liquides au regard des sorties d'épargne observées et un rendement minimal au regard du taux servi, une fois ce taux arrêté.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EFC : entraide fin de carrière | CMP : Centre Médical du Policier (rapport de gestion 2023) | FCP : fonds commun de placement | DAT : dépôt à terme</a:t>
            </a:r>
          </a:p>
        </p:txBody>
      </p:sp>
    </p:spTree>
    <p:extLst>
      <p:ext uri="{BB962C8B-B14F-4D97-AF65-F5344CB8AC3E}">
        <p14:creationId xmlns:p14="http://schemas.microsoft.com/office/powerpoint/2010/main" val="272636200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Résumé exécutif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reste fragile, peu documenté et hors normes prudentielles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négatifs, épargne couverte à 16,28 % par des actifs dédiés, 14 ratios prudentiels non conformes sur 36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sur les documents reçus le 15/10/2026 et la documentation publique de l'AIRMS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 : Principaux constats au 15/10/2026</a:t>
            </a:r>
          </a:p>
        </p:txBody>
      </p:sp>
      <p:graphicFrame>
        <p:nvGraphicFramePr>
          <p:cNvPr id="32" name="Table 31"/>
          <p:cNvGraphicFramePr>
            <a:graphicFrameLocks noGrp="1"/>
          </p:cNvGraphicFramePr>
          <p:nvPr/>
        </p:nvGraphicFramePr>
        <p:xfrm>
          <a:off x="503999" y="1655999"/>
          <a:ext cx="11232000" cy="2400657"/>
        </p:xfrm>
        <a:graphic>
          <a:graphicData uri="http://schemas.openxmlformats.org/drawingml/2006/table">
            <a:tbl>
              <a:tblPr firstRow="0" bandRow="0">
                <a:tableStyleId>{5940675A-B579-460E-94D1-54222C63F5DA}</a:tableStyleId>
              </a:tblPr>
              <a:tblGrid>
                <a:gridCol w="1512000"/>
                <a:gridCol w="6192000"/>
                <a:gridCol w="3528000"/>
              </a:tblGrid>
              <a:tr h="202389">
                <a:tc>
                  <a:txBody>
                    <a:bodyPr/>
                    <a:lstStyle/>
                    <a:p>
                      <a:pPr marL="0" indent="0" lvl="0">
                        <a:buNone/>
                      </a:pPr>
                      <a:r>
                        <a:rPr sz="950" b="1">
                          <a:solidFill>
                            <a:srgbClr val="FFFFFF"/>
                          </a:solidFill>
                          <a:latin typeface="Helvetica"/>
                        </a:rPr>
                        <a:t>Domaine</a:t>
                      </a:r>
                    </a:p>
                  </a:txBody>
                  <a:tcPr marL="43200" marR="43200" marT="14400" marB="14400" anchor="ctr">
                    <a:solidFill>
                      <a:srgbClr val="060606"/>
                    </a:solidFill>
                  </a:tcPr>
                </a:tc>
                <a:tc>
                  <a:txBody>
                    <a:bodyPr/>
                    <a:lstStyle/>
                    <a:p>
                      <a:pPr marL="0" indent="0" lvl="0">
                        <a:buNone/>
                      </a:pPr>
                      <a:r>
                        <a:rPr sz="95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50" b="1">
                          <a:solidFill>
                            <a:srgbClr val="FFFFFF"/>
                          </a:solidFill>
                          <a:latin typeface="Helvetica"/>
                        </a:rPr>
                        <a:t>Chiffre clé</a:t>
                      </a:r>
                    </a:p>
                  </a:txBody>
                  <a:tcPr marL="43200" marR="43200" marT="14400" marB="14400" anchor="ctr">
                    <a:solidFill>
                      <a:srgbClr val="060606"/>
                    </a:solidFill>
                  </a:tcPr>
                </a:tc>
              </a:tr>
              <a:tr h="347178">
                <a:tc>
                  <a:txBody>
                    <a:bodyPr/>
                    <a:lstStyle/>
                    <a:p>
                      <a:pPr marL="0" indent="0" lvl="0">
                        <a:buNone/>
                      </a:pPr>
                      <a:r>
                        <a:rPr sz="950" b="1">
                          <a:solidFill>
                            <a:srgbClr val="060606"/>
                          </a:solidFill>
                          <a:latin typeface="Helvetica"/>
                        </a:rPr>
                        <a:t>Données</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Les précomptes mensuels ne commencent qu'en 2023 ou 2024 selon le poste, et aucune base de prestations n'a été reçue.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4 454 416 lignes de précomptes contrôlées</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 précompte total vaut 5 % du salaire de base, mais la Solde le répartit en 3,77 % maladie et 1,23 % décès, au lieu du barème fixé par l'article 17 des statuts du FPPN (3,5 % et 1,5 %).</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5,00 % = 3,77 % + 1,23 %</a:t>
                      </a:r>
                    </a:p>
                  </a:txBody>
                  <a:tcPr marL="43200" marR="43200" marT="14400" marB="14400" anchor="ctr">
                    <a:solidFill>
                      <a:srgbClr val="F2F2F2"/>
                    </a:solidFill>
                  </a:tcPr>
                </a:tc>
              </a:tr>
              <a:tr h="202389">
                <a:tc>
                  <a:txBody>
                    <a:bodyPr/>
                    <a:lstStyle/>
                    <a:p>
                      <a:pPr marL="0" indent="0" lvl="0">
                        <a:buNone/>
                      </a:pPr>
                      <a:r>
                        <a:rPr sz="95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Les prestations maladie comptabilisées augmentent bien plus vite que les cotisations maladie.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S/C 6,00 % (2021), 73,53 % (2025)</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Les provisions pour prestations à payer gardent le même montant de 2020 à 2026, alors que les prestations ont fortement augmenté.</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4 829 298 290 FCFA</a:t>
                      </a:r>
                    </a:p>
                  </a:txBody>
                  <a:tcPr marL="43200" marR="43200" marT="14400" marB="14400" anchor="ctr">
                    <a:solidFill>
                      <a:srgbClr val="F2F2F2"/>
                    </a:solidFill>
                  </a:tcPr>
                </a:tc>
              </a:tr>
              <a:tr h="202389">
                <a:tc>
                  <a:txBody>
                    <a:bodyPr/>
                    <a:lstStyle/>
                    <a:p>
                      <a:pPr marL="0" indent="0" lvl="0">
                        <a:buNone/>
                      </a:pPr>
                      <a:r>
                        <a:rPr sz="950" b="1">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L'épargne due aux mutualistes (PEP, EFC) dépasse largement les actifs qui lui sont réservés.</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15 743 516 391 FCFA</a:t>
                      </a:r>
                    </a:p>
                  </a:txBody>
                  <a:tcPr marL="43200" marR="43200" marT="14400" marB="14400" anchor="ctr">
                    <a:solidFill>
                      <a:srgbClr val="FFFFFF"/>
                    </a:solidFill>
                  </a:tcPr>
                </a:tc>
              </a:tr>
              <a:tr h="202389">
                <a:tc>
                  <a:txBody>
                    <a:bodyPr/>
                    <a:lstStyle/>
                    <a:p>
                      <a:pPr marL="0" indent="0" lvl="0">
                        <a:buNone/>
                      </a:pPr>
                      <a:r>
                        <a:rPr sz="95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Les fonds propres restent négatifs à chaque clôture, même si les excédents réduisent l'écart.</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-438 242 200 FCFA (2025)</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Les ratios de la Décision n° 05/2022 ne sont pas respectés pour la réserve obligatoire, les fonds propres, la liquidité et les frais de fonctionnement.</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14 non conformes, 7 conformes, 15 en attente</a:t>
                      </a:r>
                    </a:p>
                  </a:txBody>
                  <a:tcPr marL="43200" marR="43200" marT="14400" marB="14400" anchor="ctr">
                    <a:solidFill>
                      <a:srgbClr val="FFFFFF"/>
                    </a:solidFill>
                  </a:tcPr>
                </a:tc>
              </a:tr>
              <a:tr h="202389">
                <a:tc>
                  <a:txBody>
                    <a:bodyPr/>
                    <a:lstStyle/>
                    <a:p>
                      <a:pPr marL="0" indent="0" lvl="0">
                        <a:buNone/>
                      </a:pPr>
                      <a:r>
                        <a:rPr sz="950" b="1">
                          <a:solidFill>
                            <a:srgbClr val="060606"/>
                          </a:solidFill>
                          <a:latin typeface="Helvetica"/>
                        </a:rPr>
                        <a:t>Grenier</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 portefeuille de prêts croît très vite, et le FPPN le finance en grande partie.</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1 044 302 107 FCFA d'encours</a:t>
                      </a:r>
                    </a:p>
                  </a:txBody>
                  <a:tcPr marL="43200" marR="43200" marT="14400" marB="14400" anchor="ctr">
                    <a:solidFill>
                      <a:srgbClr val="F2F2F2"/>
                    </a:solidFill>
                  </a:tcPr>
                </a:tc>
              </a:tr>
            </a:tbl>
          </a:graphicData>
        </a:graphic>
      </p:graphicFrame>
      <p:sp>
        <p:nvSpPr>
          <p:cNvPr id="33" name="TextBox 32"/>
          <p:cNvSpPr txBox="1"/>
          <p:nvPr/>
        </p:nvSpPr>
        <p:spPr>
          <a:xfrm>
            <a:off x="503999" y="4164658"/>
            <a:ext cx="11232000" cy="162000"/>
          </a:xfrm>
          <a:prstGeom prst="rect">
            <a:avLst/>
          </a:prstGeom>
          <a:noFill/>
        </p:spPr>
        <p:txBody>
          <a:bodyPr wrap="square" anchor="t" lIns="54000" rIns="54000"/>
          <a:lstStyle/>
          <a:p>
            <a:pPr algn="l"/>
            <a:r>
              <a:rPr sz="850" b="0">
                <a:solidFill>
                  <a:srgbClr val="53565A"/>
                </a:solidFill>
                <a:latin typeface="Helvetica"/>
              </a:rPr>
              <a:t>Valable pour : chiffres repris des parties 4 à 10, chacun dans le domaine indiqué sur sa diapositive de détail. Situation au 31/08/2026 (provisoire) sauf mention d'une autre date.</a:t>
            </a:r>
          </a:p>
        </p:txBody>
      </p:sp>
      <p:sp>
        <p:nvSpPr>
          <p:cNvPr id="34" name="TextBox 33"/>
          <p:cNvSpPr txBox="1"/>
          <p:nvPr/>
        </p:nvSpPr>
        <p:spPr>
          <a:xfrm>
            <a:off x="503999" y="4470658"/>
            <a:ext cx="11232000" cy="1397341"/>
          </a:xfrm>
          <a:prstGeom prst="rect">
            <a:avLst/>
          </a:prstGeom>
          <a:noFill/>
        </p:spPr>
        <p:txBody>
          <a:bodyPr wrap="square" lIns="54000" rIns="54000"/>
          <a:lstStyle/>
          <a:p>
            <a:pPr algn="just">
              <a:spcAft>
                <a:spcPts val="600"/>
              </a:spcAft>
            </a:pPr>
            <a:r>
              <a:rPr sz="1300" b="1">
                <a:solidFill>
                  <a:srgbClr val="060606"/>
                </a:solidFill>
                <a:latin typeface="Helvetica"/>
              </a:rPr>
              <a:t>Les fragilités sont surtout financières et documentaires, pas d'exploitation.</a:t>
            </a:r>
            <a:r>
              <a:rPr sz="1300" b="0">
                <a:solidFill>
                  <a:srgbClr val="060606"/>
                </a:solidFill>
                <a:latin typeface="Helvetica"/>
              </a:rPr>
              <a:t> Le FPPN encaisse plus qu'il ne dépense chaque année depuis 2020, sauf sur les huit premiers mois de 2026.</a:t>
            </a:r>
          </a:p>
          <a:p>
            <a:pPr algn="just">
              <a:spcAft>
                <a:spcPts val="600"/>
              </a:spcAft>
            </a:pPr>
            <a:r>
              <a:rPr sz="1300" b="0">
                <a:solidFill>
                  <a:srgbClr val="060606"/>
                </a:solidFill>
                <a:latin typeface="Helvetica"/>
              </a:rPr>
              <a:t>Les trois chantiers prioritaires sont la transmission des données manquantes, le recalcul des provisions et un plan de mise en conformité prudentielle à présenter à l'AIRMS.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S/C : prestations / cotisations</a:t>
            </a:r>
          </a:p>
        </p:txBody>
      </p:sp>
    </p:spTree>
    <p:extLst>
      <p:ext uri="{BB962C8B-B14F-4D97-AF65-F5344CB8AC3E}">
        <p14:creationId xmlns:p14="http://schemas.microsoft.com/office/powerpoint/2010/main" val="97876621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Image 4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43" name="ZoneTexte 42">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17" name="Freeform 6"/>
          <p:cNvSpPr>
            <a:spLocks/>
          </p:cNvSpPr>
          <p:nvPr/>
        </p:nvSpPr>
        <p:spPr bwMode="auto">
          <a:xfrm>
            <a:off x="3056825" y="1419474"/>
            <a:ext cx="502110" cy="654841"/>
          </a:xfrm>
          <a:custGeom>
            <a:avLst/>
            <a:gdLst>
              <a:gd name="T0" fmla="*/ 56 w 69"/>
              <a:gd name="T1" fmla="*/ 0 h 90"/>
              <a:gd name="T2" fmla="*/ 0 w 69"/>
              <a:gd name="T3" fmla="*/ 0 h 90"/>
              <a:gd name="T4" fmla="*/ 0 w 69"/>
              <a:gd name="T5" fmla="*/ 90 h 90"/>
              <a:gd name="T6" fmla="*/ 56 w 69"/>
              <a:gd name="T7" fmla="*/ 90 h 90"/>
              <a:gd name="T8" fmla="*/ 69 w 69"/>
              <a:gd name="T9" fmla="*/ 77 h 90"/>
              <a:gd name="T10" fmla="*/ 69 w 69"/>
              <a:gd name="T11" fmla="*/ 13 h 90"/>
              <a:gd name="T12" fmla="*/ 56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56" y="0"/>
                </a:moveTo>
                <a:cubicBezTo>
                  <a:pt x="0" y="0"/>
                  <a:pt x="0" y="0"/>
                  <a:pt x="0" y="0"/>
                </a:cubicBezTo>
                <a:cubicBezTo>
                  <a:pt x="0" y="90"/>
                  <a:pt x="0" y="90"/>
                  <a:pt x="0" y="90"/>
                </a:cubicBezTo>
                <a:cubicBezTo>
                  <a:pt x="56" y="90"/>
                  <a:pt x="56" y="90"/>
                  <a:pt x="56" y="90"/>
                </a:cubicBezTo>
                <a:cubicBezTo>
                  <a:pt x="63" y="90"/>
                  <a:pt x="69" y="84"/>
                  <a:pt x="69" y="77"/>
                </a:cubicBezTo>
                <a:cubicBezTo>
                  <a:pt x="69" y="13"/>
                  <a:pt x="69" y="13"/>
                  <a:pt x="69" y="13"/>
                </a:cubicBezTo>
                <a:cubicBezTo>
                  <a:pt x="69" y="6"/>
                  <a:pt x="63" y="0"/>
                  <a:pt x="56"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A</a:t>
            </a:r>
          </a:p>
        </p:txBody>
      </p:sp>
      <p:sp>
        <p:nvSpPr>
          <p:cNvPr id="18" name="Freeform 7"/>
          <p:cNvSpPr>
            <a:spLocks/>
          </p:cNvSpPr>
          <p:nvPr/>
        </p:nvSpPr>
        <p:spPr bwMode="auto">
          <a:xfrm>
            <a:off x="1361056" y="1419474"/>
            <a:ext cx="1652505" cy="654841"/>
          </a:xfrm>
          <a:custGeom>
            <a:avLst/>
            <a:gdLst>
              <a:gd name="T0" fmla="*/ 0 w 227"/>
              <a:gd name="T1" fmla="*/ 13 h 90"/>
              <a:gd name="T2" fmla="*/ 0 w 227"/>
              <a:gd name="T3" fmla="*/ 77 h 90"/>
              <a:gd name="T4" fmla="*/ 13 w 227"/>
              <a:gd name="T5" fmla="*/ 90 h 90"/>
              <a:gd name="T6" fmla="*/ 227 w 227"/>
              <a:gd name="T7" fmla="*/ 90 h 90"/>
              <a:gd name="T8" fmla="*/ 227 w 227"/>
              <a:gd name="T9" fmla="*/ 0 h 90"/>
              <a:gd name="T10" fmla="*/ 13 w 227"/>
              <a:gd name="T11" fmla="*/ 0 h 90"/>
              <a:gd name="T12" fmla="*/ 0 w 227"/>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7" h="90">
                <a:moveTo>
                  <a:pt x="0" y="13"/>
                </a:moveTo>
                <a:cubicBezTo>
                  <a:pt x="0" y="77"/>
                  <a:pt x="0" y="77"/>
                  <a:pt x="0" y="77"/>
                </a:cubicBezTo>
                <a:cubicBezTo>
                  <a:pt x="0" y="84"/>
                  <a:pt x="6" y="90"/>
                  <a:pt x="13" y="90"/>
                </a:cubicBezTo>
                <a:cubicBezTo>
                  <a:pt x="227" y="90"/>
                  <a:pt x="227" y="90"/>
                  <a:pt x="227" y="90"/>
                </a:cubicBezTo>
                <a:cubicBezTo>
                  <a:pt x="227" y="0"/>
                  <a:pt x="227" y="0"/>
                  <a:pt x="227" y="0"/>
                </a:cubicBezTo>
                <a:cubicBezTo>
                  <a:pt x="13" y="0"/>
                  <a:pt x="13" y="0"/>
                  <a:pt x="13" y="0"/>
                </a:cubicBezTo>
                <a:cubicBezTo>
                  <a:pt x="6" y="0"/>
                  <a:pt x="0" y="6"/>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Sinistralité maladie 2025</a:t>
            </a:r>
          </a:p>
        </p:txBody>
      </p:sp>
      <p:sp>
        <p:nvSpPr>
          <p:cNvPr id="19" name="Freeform 8"/>
          <p:cNvSpPr>
            <a:spLocks/>
          </p:cNvSpPr>
          <p:nvPr/>
        </p:nvSpPr>
        <p:spPr bwMode="auto">
          <a:xfrm>
            <a:off x="1383343" y="2766552"/>
            <a:ext cx="494899" cy="654841"/>
          </a:xfrm>
          <a:custGeom>
            <a:avLst/>
            <a:gdLst>
              <a:gd name="T0" fmla="*/ 12 w 68"/>
              <a:gd name="T1" fmla="*/ 0 h 90"/>
              <a:gd name="T2" fmla="*/ 68 w 68"/>
              <a:gd name="T3" fmla="*/ 0 h 90"/>
              <a:gd name="T4" fmla="*/ 68 w 68"/>
              <a:gd name="T5" fmla="*/ 90 h 90"/>
              <a:gd name="T6" fmla="*/ 12 w 68"/>
              <a:gd name="T7" fmla="*/ 90 h 90"/>
              <a:gd name="T8" fmla="*/ 0 w 68"/>
              <a:gd name="T9" fmla="*/ 77 h 90"/>
              <a:gd name="T10" fmla="*/ 0 w 68"/>
              <a:gd name="T11" fmla="*/ 13 h 90"/>
              <a:gd name="T12" fmla="*/ 12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12" y="0"/>
                </a:moveTo>
                <a:cubicBezTo>
                  <a:pt x="68" y="0"/>
                  <a:pt x="68" y="0"/>
                  <a:pt x="68" y="0"/>
                </a:cubicBezTo>
                <a:cubicBezTo>
                  <a:pt x="68" y="90"/>
                  <a:pt x="68" y="90"/>
                  <a:pt x="68" y="90"/>
                </a:cubicBezTo>
                <a:cubicBezTo>
                  <a:pt x="12" y="90"/>
                  <a:pt x="12" y="90"/>
                  <a:pt x="12" y="90"/>
                </a:cubicBezTo>
                <a:cubicBezTo>
                  <a:pt x="5" y="90"/>
                  <a:pt x="0" y="84"/>
                  <a:pt x="0" y="77"/>
                </a:cubicBezTo>
                <a:cubicBezTo>
                  <a:pt x="0" y="13"/>
                  <a:pt x="0" y="13"/>
                  <a:pt x="0" y="13"/>
                </a:cubicBezTo>
                <a:cubicBezTo>
                  <a:pt x="0" y="6"/>
                  <a:pt x="5" y="0"/>
                  <a:pt x="12"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B</a:t>
            </a:r>
          </a:p>
        </p:txBody>
      </p:sp>
      <p:sp>
        <p:nvSpPr>
          <p:cNvPr id="28" name="Freeform 9"/>
          <p:cNvSpPr>
            <a:spLocks/>
          </p:cNvSpPr>
          <p:nvPr/>
        </p:nvSpPr>
        <p:spPr bwMode="auto">
          <a:xfrm>
            <a:off x="1928716" y="2766552"/>
            <a:ext cx="1645295" cy="654841"/>
          </a:xfrm>
          <a:custGeom>
            <a:avLst/>
            <a:gdLst>
              <a:gd name="T0" fmla="*/ 226 w 226"/>
              <a:gd name="T1" fmla="*/ 13 h 90"/>
              <a:gd name="T2" fmla="*/ 226 w 226"/>
              <a:gd name="T3" fmla="*/ 77 h 90"/>
              <a:gd name="T4" fmla="*/ 213 w 226"/>
              <a:gd name="T5" fmla="*/ 90 h 90"/>
              <a:gd name="T6" fmla="*/ 0 w 226"/>
              <a:gd name="T7" fmla="*/ 90 h 90"/>
              <a:gd name="T8" fmla="*/ 0 w 226"/>
              <a:gd name="T9" fmla="*/ 0 h 90"/>
              <a:gd name="T10" fmla="*/ 213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0" y="90"/>
                  <a:pt x="213" y="90"/>
                </a:cubicBezTo>
                <a:cubicBezTo>
                  <a:pt x="0" y="90"/>
                  <a:pt x="0" y="90"/>
                  <a:pt x="0" y="90"/>
                </a:cubicBezTo>
                <a:cubicBezTo>
                  <a:pt x="0" y="0"/>
                  <a:pt x="0" y="0"/>
                  <a:pt x="0" y="0"/>
                </a:cubicBezTo>
                <a:cubicBezTo>
                  <a:pt x="213" y="0"/>
                  <a:pt x="213" y="0"/>
                  <a:pt x="213" y="0"/>
                </a:cubicBezTo>
                <a:cubicBezTo>
                  <a:pt x="220" y="0"/>
                  <a:pt x="226" y="6"/>
                  <a:pt x="226"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Couverture de l'épargne</a:t>
            </a:r>
          </a:p>
        </p:txBody>
      </p:sp>
      <p:sp>
        <p:nvSpPr>
          <p:cNvPr id="30" name="Freeform 10"/>
          <p:cNvSpPr>
            <a:spLocks/>
          </p:cNvSpPr>
          <p:nvPr/>
        </p:nvSpPr>
        <p:spPr bwMode="auto">
          <a:xfrm>
            <a:off x="3093533" y="3988769"/>
            <a:ext cx="494899" cy="654841"/>
          </a:xfrm>
          <a:custGeom>
            <a:avLst/>
            <a:gdLst>
              <a:gd name="T0" fmla="*/ 55 w 68"/>
              <a:gd name="T1" fmla="*/ 0 h 90"/>
              <a:gd name="T2" fmla="*/ 0 w 68"/>
              <a:gd name="T3" fmla="*/ 0 h 90"/>
              <a:gd name="T4" fmla="*/ 0 w 68"/>
              <a:gd name="T5" fmla="*/ 90 h 90"/>
              <a:gd name="T6" fmla="*/ 55 w 68"/>
              <a:gd name="T7" fmla="*/ 90 h 90"/>
              <a:gd name="T8" fmla="*/ 68 w 68"/>
              <a:gd name="T9" fmla="*/ 77 h 90"/>
              <a:gd name="T10" fmla="*/ 68 w 68"/>
              <a:gd name="T11" fmla="*/ 13 h 90"/>
              <a:gd name="T12" fmla="*/ 55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55" y="0"/>
                </a:moveTo>
                <a:cubicBezTo>
                  <a:pt x="0" y="0"/>
                  <a:pt x="0" y="0"/>
                  <a:pt x="0" y="0"/>
                </a:cubicBezTo>
                <a:cubicBezTo>
                  <a:pt x="0" y="90"/>
                  <a:pt x="0" y="90"/>
                  <a:pt x="0" y="90"/>
                </a:cubicBezTo>
                <a:cubicBezTo>
                  <a:pt x="55" y="90"/>
                  <a:pt x="55" y="90"/>
                  <a:pt x="55" y="90"/>
                </a:cubicBezTo>
                <a:cubicBezTo>
                  <a:pt x="63" y="90"/>
                  <a:pt x="68" y="84"/>
                  <a:pt x="68" y="77"/>
                </a:cubicBezTo>
                <a:cubicBezTo>
                  <a:pt x="68" y="13"/>
                  <a:pt x="68" y="13"/>
                  <a:pt x="68" y="13"/>
                </a:cubicBezTo>
                <a:cubicBezTo>
                  <a:pt x="68" y="5"/>
                  <a:pt x="63" y="0"/>
                  <a:pt x="55"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C</a:t>
            </a:r>
          </a:p>
        </p:txBody>
      </p:sp>
      <p:sp>
        <p:nvSpPr>
          <p:cNvPr id="31" name="Freeform 11"/>
          <p:cNvSpPr>
            <a:spLocks/>
          </p:cNvSpPr>
          <p:nvPr/>
        </p:nvSpPr>
        <p:spPr bwMode="auto">
          <a:xfrm>
            <a:off x="1397764" y="3988769"/>
            <a:ext cx="1644639" cy="654841"/>
          </a:xfrm>
          <a:custGeom>
            <a:avLst/>
            <a:gdLst>
              <a:gd name="T0" fmla="*/ 0 w 226"/>
              <a:gd name="T1" fmla="*/ 13 h 90"/>
              <a:gd name="T2" fmla="*/ 0 w 226"/>
              <a:gd name="T3" fmla="*/ 77 h 90"/>
              <a:gd name="T4" fmla="*/ 13 w 226"/>
              <a:gd name="T5" fmla="*/ 90 h 90"/>
              <a:gd name="T6" fmla="*/ 226 w 226"/>
              <a:gd name="T7" fmla="*/ 90 h 90"/>
              <a:gd name="T8" fmla="*/ 226 w 226"/>
              <a:gd name="T9" fmla="*/ 0 h 90"/>
              <a:gd name="T10" fmla="*/ 13 w 226"/>
              <a:gd name="T11" fmla="*/ 0 h 90"/>
              <a:gd name="T12" fmla="*/ 0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0" y="13"/>
                </a:moveTo>
                <a:cubicBezTo>
                  <a:pt x="0" y="77"/>
                  <a:pt x="0" y="77"/>
                  <a:pt x="0" y="77"/>
                </a:cubicBezTo>
                <a:cubicBezTo>
                  <a:pt x="0" y="84"/>
                  <a:pt x="5" y="90"/>
                  <a:pt x="13" y="90"/>
                </a:cubicBezTo>
                <a:cubicBezTo>
                  <a:pt x="226" y="90"/>
                  <a:pt x="226" y="90"/>
                  <a:pt x="226" y="90"/>
                </a:cubicBezTo>
                <a:cubicBezTo>
                  <a:pt x="226" y="0"/>
                  <a:pt x="226" y="0"/>
                  <a:pt x="226" y="0"/>
                </a:cubicBezTo>
                <a:cubicBezTo>
                  <a:pt x="13" y="0"/>
                  <a:pt x="13" y="0"/>
                  <a:pt x="13" y="0"/>
                </a:cubicBezTo>
                <a:cubicBezTo>
                  <a:pt x="5" y="0"/>
                  <a:pt x="0" y="5"/>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 des prêts</a:t>
            </a:r>
          </a:p>
        </p:txBody>
      </p:sp>
      <p:sp>
        <p:nvSpPr>
          <p:cNvPr id="32" name="Freeform 12"/>
          <p:cNvSpPr>
            <a:spLocks/>
          </p:cNvSpPr>
          <p:nvPr/>
        </p:nvSpPr>
        <p:spPr bwMode="auto">
          <a:xfrm>
            <a:off x="1412185" y="5316630"/>
            <a:ext cx="502110" cy="654841"/>
          </a:xfrm>
          <a:custGeom>
            <a:avLst/>
            <a:gdLst>
              <a:gd name="T0" fmla="*/ 13 w 69"/>
              <a:gd name="T1" fmla="*/ 0 h 90"/>
              <a:gd name="T2" fmla="*/ 69 w 69"/>
              <a:gd name="T3" fmla="*/ 0 h 90"/>
              <a:gd name="T4" fmla="*/ 69 w 69"/>
              <a:gd name="T5" fmla="*/ 90 h 90"/>
              <a:gd name="T6" fmla="*/ 13 w 69"/>
              <a:gd name="T7" fmla="*/ 90 h 90"/>
              <a:gd name="T8" fmla="*/ 0 w 69"/>
              <a:gd name="T9" fmla="*/ 77 h 90"/>
              <a:gd name="T10" fmla="*/ 0 w 69"/>
              <a:gd name="T11" fmla="*/ 13 h 90"/>
              <a:gd name="T12" fmla="*/ 13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13" y="0"/>
                </a:moveTo>
                <a:cubicBezTo>
                  <a:pt x="69" y="0"/>
                  <a:pt x="69" y="0"/>
                  <a:pt x="69" y="0"/>
                </a:cubicBezTo>
                <a:cubicBezTo>
                  <a:pt x="69" y="90"/>
                  <a:pt x="69" y="90"/>
                  <a:pt x="69" y="90"/>
                </a:cubicBezTo>
                <a:cubicBezTo>
                  <a:pt x="13" y="90"/>
                  <a:pt x="13" y="90"/>
                  <a:pt x="13" y="90"/>
                </a:cubicBezTo>
                <a:cubicBezTo>
                  <a:pt x="6" y="90"/>
                  <a:pt x="0" y="84"/>
                  <a:pt x="0" y="77"/>
                </a:cubicBezTo>
                <a:cubicBezTo>
                  <a:pt x="0" y="13"/>
                  <a:pt x="0" y="13"/>
                  <a:pt x="0" y="13"/>
                </a:cubicBezTo>
                <a:cubicBezTo>
                  <a:pt x="0" y="5"/>
                  <a:pt x="6" y="0"/>
                  <a:pt x="13" y="0"/>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D</a:t>
            </a:r>
          </a:p>
        </p:txBody>
      </p:sp>
      <p:sp>
        <p:nvSpPr>
          <p:cNvPr id="33" name="Freeform 13"/>
          <p:cNvSpPr>
            <a:spLocks/>
          </p:cNvSpPr>
          <p:nvPr/>
        </p:nvSpPr>
        <p:spPr bwMode="auto">
          <a:xfrm>
            <a:off x="1958213" y="5316630"/>
            <a:ext cx="1644639" cy="654841"/>
          </a:xfrm>
          <a:custGeom>
            <a:avLst/>
            <a:gdLst>
              <a:gd name="T0" fmla="*/ 226 w 226"/>
              <a:gd name="T1" fmla="*/ 13 h 90"/>
              <a:gd name="T2" fmla="*/ 226 w 226"/>
              <a:gd name="T3" fmla="*/ 77 h 90"/>
              <a:gd name="T4" fmla="*/ 214 w 226"/>
              <a:gd name="T5" fmla="*/ 90 h 90"/>
              <a:gd name="T6" fmla="*/ 0 w 226"/>
              <a:gd name="T7" fmla="*/ 90 h 90"/>
              <a:gd name="T8" fmla="*/ 0 w 226"/>
              <a:gd name="T9" fmla="*/ 0 h 90"/>
              <a:gd name="T10" fmla="*/ 214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1" y="90"/>
                  <a:pt x="214" y="90"/>
                </a:cubicBezTo>
                <a:cubicBezTo>
                  <a:pt x="0" y="90"/>
                  <a:pt x="0" y="90"/>
                  <a:pt x="0" y="90"/>
                </a:cubicBezTo>
                <a:cubicBezTo>
                  <a:pt x="0" y="0"/>
                  <a:pt x="0" y="0"/>
                  <a:pt x="0" y="0"/>
                </a:cubicBezTo>
                <a:cubicBezTo>
                  <a:pt x="214" y="0"/>
                  <a:pt x="214" y="0"/>
                  <a:pt x="214" y="0"/>
                </a:cubicBezTo>
                <a:cubicBezTo>
                  <a:pt x="221" y="0"/>
                  <a:pt x="226" y="5"/>
                  <a:pt x="226" y="13"/>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Taux de cotisation</a:t>
            </a:r>
          </a:p>
        </p:txBody>
      </p:sp>
      <p:sp>
        <p:nvSpPr>
          <p:cNvPr id="38" name="TextBox 31"/>
          <p:cNvSpPr txBox="1">
            <a:spLocks noChangeArrowheads="1"/>
          </p:cNvSpPr>
          <p:nvPr/>
        </p:nvSpPr>
        <p:spPr bwMode="auto">
          <a:xfrm>
            <a:off x="4139775" y="1427111"/>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73,53 %</a:t>
            </a:r>
          </a:p>
        </p:txBody>
      </p:sp>
      <p:sp>
        <p:nvSpPr>
          <p:cNvPr id="39" name="TextBox 96"/>
          <p:cNvSpPr txBox="1"/>
          <p:nvPr/>
        </p:nvSpPr>
        <p:spPr>
          <a:xfrm>
            <a:off x="5621262" y="1350000"/>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prestations maladie comptabilisées représentent cette part des cotisations maladie de 2025. Ce ratio était de 6,00 % en 2021.</a:t>
            </a:r>
          </a:p>
        </p:txBody>
      </p:sp>
      <p:sp>
        <p:nvSpPr>
          <p:cNvPr id="42" name="TextBox 31"/>
          <p:cNvSpPr txBox="1">
            <a:spLocks noChangeArrowheads="1"/>
          </p:cNvSpPr>
          <p:nvPr/>
        </p:nvSpPr>
        <p:spPr bwMode="auto">
          <a:xfrm>
            <a:off x="4132468" y="2803714"/>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16,28 %</a:t>
            </a:r>
          </a:p>
        </p:txBody>
      </p:sp>
      <p:sp>
        <p:nvSpPr>
          <p:cNvPr id="46" name="TextBox 31"/>
          <p:cNvSpPr txBox="1">
            <a:spLocks noChangeArrowheads="1"/>
          </p:cNvSpPr>
          <p:nvPr/>
        </p:nvSpPr>
        <p:spPr bwMode="auto">
          <a:xfrm>
            <a:off x="4135359" y="402132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84,55 %</a:t>
            </a:r>
          </a:p>
        </p:txBody>
      </p:sp>
      <p:sp>
        <p:nvSpPr>
          <p:cNvPr id="50" name="TextBox 31"/>
          <p:cNvSpPr txBox="1">
            <a:spLocks noChangeArrowheads="1"/>
          </p:cNvSpPr>
          <p:nvPr/>
        </p:nvSpPr>
        <p:spPr bwMode="auto">
          <a:xfrm>
            <a:off x="4135359" y="538955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5,00 %</a:t>
            </a:r>
          </a:p>
        </p:txBody>
      </p:sp>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942" y="1459698"/>
            <a:ext cx="491517" cy="491517"/>
          </a:xfrm>
          <a:prstGeom prst="rect">
            <a:avLst/>
          </a:prstGeom>
        </p:spPr>
      </p:pic>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5442" y="2848158"/>
            <a:ext cx="514311" cy="514311"/>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4788" y="4050954"/>
            <a:ext cx="538212" cy="544470"/>
          </a:xfrm>
          <a:prstGeom prst="rect">
            <a:avLst/>
          </a:prstGeom>
        </p:spPr>
      </p:pic>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95657" y="5362112"/>
            <a:ext cx="529802" cy="541319"/>
          </a:xfrm>
          <a:prstGeom prst="rect">
            <a:avLst/>
          </a:prstGeom>
        </p:spPr>
      </p:pic>
      <p:sp>
        <p:nvSpPr>
          <p:cNvPr id="36" name="TextBox 96"/>
          <p:cNvSpPr txBox="1"/>
          <p:nvPr/>
        </p:nvSpPr>
        <p:spPr>
          <a:xfrm>
            <a:off x="5621262" y="2728901"/>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banques, dépôts à terme et fonds réservés à l'épargne couvrent cette part de l'épargne due au 31/08/2026.</a:t>
            </a:r>
          </a:p>
        </p:txBody>
      </p:sp>
      <p:cxnSp>
        <p:nvCxnSpPr>
          <p:cNvPr id="53" name="Straight Connector 2"/>
          <p:cNvCxnSpPr/>
          <p:nvPr/>
        </p:nvCxnSpPr>
        <p:spPr>
          <a:xfrm>
            <a:off x="5419816"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59" name="Straight Connector 41"/>
          <p:cNvCxnSpPr/>
          <p:nvPr/>
        </p:nvCxnSpPr>
        <p:spPr>
          <a:xfrm>
            <a:off x="10756527"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37" name="Straight Connector 2"/>
          <p:cNvCxnSpPr/>
          <p:nvPr/>
        </p:nvCxnSpPr>
        <p:spPr>
          <a:xfrm>
            <a:off x="5419816" y="2638944"/>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40" name="Straight Connector 41"/>
          <p:cNvCxnSpPr/>
          <p:nvPr/>
        </p:nvCxnSpPr>
        <p:spPr>
          <a:xfrm>
            <a:off x="10756527" y="2638944"/>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1" name="TextBox 96"/>
          <p:cNvSpPr txBox="1"/>
          <p:nvPr/>
        </p:nvSpPr>
        <p:spPr>
          <a:xfrm>
            <a:off x="5621262" y="4021323"/>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précomptes du Grenier (poste 9X4) couvrent cette part des échéances des prêts en cours en août 2026.</a:t>
            </a:r>
          </a:p>
        </p:txBody>
      </p:sp>
      <p:cxnSp>
        <p:nvCxnSpPr>
          <p:cNvPr id="44" name="Straight Connector 2"/>
          <p:cNvCxnSpPr/>
          <p:nvPr/>
        </p:nvCxnSpPr>
        <p:spPr>
          <a:xfrm>
            <a:off x="5419816"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45" name="Straight Connector 41"/>
          <p:cNvCxnSpPr/>
          <p:nvPr/>
        </p:nvCxnSpPr>
        <p:spPr>
          <a:xfrm>
            <a:off x="10756527"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8" name="TextBox 96"/>
          <p:cNvSpPr txBox="1"/>
          <p:nvPr/>
        </p:nvSpPr>
        <p:spPr>
          <a:xfrm>
            <a:off x="5621262" y="5313746"/>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 précompte maladie vaut 3,77 % du salaire de base sur 209 670 lignes de huit mois. Le précompte décès vaut 1,23 % (mesuré en avril 2024 et janvier 2025, confirmé de mars 2024 à septembre 2026).</a:t>
            </a:r>
          </a:p>
        </p:txBody>
      </p:sp>
      <p:cxnSp>
        <p:nvCxnSpPr>
          <p:cNvPr id="49" name="Straight Connector 2"/>
          <p:cNvCxnSpPr/>
          <p:nvPr/>
        </p:nvCxnSpPr>
        <p:spPr>
          <a:xfrm>
            <a:off x="5419816"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63" name="Straight Connector 41"/>
          <p:cNvCxnSpPr/>
          <p:nvPr/>
        </p:nvCxnSpPr>
        <p:spPr>
          <a:xfrm>
            <a:off x="10756527"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6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indicateurs clés</a:t>
            </a:r>
          </a:p>
        </p:txBody>
      </p:sp>
      <p:sp>
        <p:nvSpPr>
          <p:cNvPr id="6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ratios résument la situation technique et financière du FPPN</a:t>
            </a:r>
          </a:p>
        </p:txBody>
      </p:sp>
      <p:sp>
        <p:nvSpPr>
          <p:cNvPr id="6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Sinistralité maladie, couverture de l'épargne, précompte des prêts et taux de cotisation, mesurés sur les données reçues</a:t>
            </a:r>
          </a:p>
        </p:txBody>
      </p:sp>
      <p:sp>
        <p:nvSpPr>
          <p:cNvPr id="6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9X4 : poste Grenier</a:t>
            </a:r>
          </a:p>
        </p:txBody>
      </p:sp>
    </p:spTree>
    <p:extLst>
      <p:ext uri="{BB962C8B-B14F-4D97-AF65-F5344CB8AC3E}">
        <p14:creationId xmlns:p14="http://schemas.microsoft.com/office/powerpoint/2010/main" val="166854283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Fonctionnement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et l'épargne financent prestations, prêts et investissements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3 417 551 722 FCFA de cotisations, 1 964 772 027 FCFA de prestations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1" name="Rounded Rectangle 30"/>
          <p:cNvSpPr/>
          <p:nvPr/>
        </p:nvSpPr>
        <p:spPr>
          <a:xfrm>
            <a:off x="503999" y="2484000"/>
            <a:ext cx="2160000" cy="115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Mutualistes</a:t>
            </a:r>
          </a:p>
          <a:p>
            <a:pPr algn="ctr"/>
            <a:r>
              <a:rPr sz="1400" b="0">
                <a:solidFill>
                  <a:srgbClr val="FFFFFF"/>
                </a:solidFill>
                <a:latin typeface="Helvetica"/>
              </a:rPr>
              <a:t>actifs et retraités</a:t>
            </a:r>
          </a:p>
        </p:txBody>
      </p:sp>
      <p:sp>
        <p:nvSpPr>
          <p:cNvPr id="32" name="Rounded Rectangle 31"/>
          <p:cNvSpPr/>
          <p:nvPr/>
        </p:nvSpPr>
        <p:spPr>
          <a:xfrm>
            <a:off x="3240000" y="1584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Solde (actifs)</a:t>
            </a:r>
          </a:p>
        </p:txBody>
      </p:sp>
      <p:sp>
        <p:nvSpPr>
          <p:cNvPr id="33" name="Rounded Rectangle 32"/>
          <p:cNvSpPr/>
          <p:nvPr/>
        </p:nvSpPr>
        <p:spPr>
          <a:xfrm>
            <a:off x="3240000" y="3671999"/>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CGRAE (retraités)</a:t>
            </a:r>
          </a:p>
        </p:txBody>
      </p:sp>
      <p:sp>
        <p:nvSpPr>
          <p:cNvPr id="34" name="Rounded Rectangle 33"/>
          <p:cNvSpPr/>
          <p:nvPr/>
        </p:nvSpPr>
        <p:spPr>
          <a:xfrm>
            <a:off x="6048000" y="2340000"/>
            <a:ext cx="2376000" cy="144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FPPN</a:t>
            </a:r>
          </a:p>
          <a:p>
            <a:pPr algn="ctr"/>
            <a:r>
              <a:rPr sz="1400" b="0">
                <a:solidFill>
                  <a:srgbClr val="060606"/>
                </a:solidFill>
                <a:latin typeface="Helvetica"/>
              </a:rPr>
              <a:t>Cotisations 2025</a:t>
            </a:r>
          </a:p>
          <a:p>
            <a:pPr algn="ctr"/>
            <a:r>
              <a:rPr sz="1400" b="0">
                <a:solidFill>
                  <a:srgbClr val="060606"/>
                </a:solidFill>
                <a:latin typeface="Helvetica"/>
              </a:rPr>
              <a:t>3 417 551 722 FCFA</a:t>
            </a:r>
          </a:p>
        </p:txBody>
      </p:sp>
      <p:sp>
        <p:nvSpPr>
          <p:cNvPr id="35" name="Rounded Rectangle 34"/>
          <p:cNvSpPr/>
          <p:nvPr/>
        </p:nvSpPr>
        <p:spPr>
          <a:xfrm>
            <a:off x="9072000" y="1422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maladie</a:t>
            </a:r>
          </a:p>
          <a:p>
            <a:pPr algn="ctr"/>
            <a:r>
              <a:rPr sz="1000" b="0">
                <a:solidFill>
                  <a:srgbClr val="FFFFFF"/>
                </a:solidFill>
                <a:latin typeface="Helvetica"/>
              </a:rPr>
              <a:t>1 771 635 361 FCFA</a:t>
            </a:r>
          </a:p>
        </p:txBody>
      </p:sp>
      <p:cxnSp>
        <p:nvCxnSpPr>
          <p:cNvPr id="36" name="Connector 35"/>
          <p:cNvCxnSpPr/>
          <p:nvPr/>
        </p:nvCxnSpPr>
        <p:spPr>
          <a:xfrm flipV="1">
            <a:off x="8424000" y="1800000"/>
            <a:ext cx="648000" cy="1260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2000" y="23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décès</a:t>
            </a:r>
          </a:p>
          <a:p>
            <a:pPr algn="ctr"/>
            <a:r>
              <a:rPr sz="1000" b="0">
                <a:solidFill>
                  <a:srgbClr val="FFFFFF"/>
                </a:solidFill>
                <a:latin typeface="Helvetica"/>
              </a:rPr>
              <a:t>193 136 666 FCFA</a:t>
            </a:r>
          </a:p>
        </p:txBody>
      </p:sp>
      <p:cxnSp>
        <p:nvCxnSpPr>
          <p:cNvPr id="38" name="Connector 37"/>
          <p:cNvCxnSpPr/>
          <p:nvPr/>
        </p:nvCxnSpPr>
        <p:spPr>
          <a:xfrm flipV="1">
            <a:off x="8424000" y="2736000"/>
            <a:ext cx="648000" cy="32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72000" y="3293999"/>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Épargne PEP et EFC</a:t>
            </a:r>
          </a:p>
          <a:p>
            <a:pPr algn="ctr"/>
            <a:r>
              <a:rPr sz="1000" b="0">
                <a:solidFill>
                  <a:srgbClr val="FFFFFF"/>
                </a:solidFill>
                <a:latin typeface="Helvetica"/>
              </a:rPr>
              <a:t>15 743 516 391 FCFA</a:t>
            </a:r>
          </a:p>
        </p:txBody>
      </p:sp>
      <p:cxnSp>
        <p:nvCxnSpPr>
          <p:cNvPr id="40" name="Connector 39"/>
          <p:cNvCxnSpPr/>
          <p:nvPr/>
        </p:nvCxnSpPr>
        <p:spPr>
          <a:xfrm>
            <a:off x="8424000" y="3060000"/>
            <a:ext cx="648000" cy="611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72000" y="4230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Prêts du Grenier</a:t>
            </a:r>
          </a:p>
          <a:p>
            <a:pPr algn="ctr"/>
            <a:r>
              <a:rPr sz="1000" b="0">
                <a:solidFill>
                  <a:srgbClr val="FFFFFF"/>
                </a:solidFill>
                <a:latin typeface="Helvetica"/>
              </a:rPr>
              <a:t>915 477 260 FCFA</a:t>
            </a:r>
          </a:p>
        </p:txBody>
      </p:sp>
      <p:cxnSp>
        <p:nvCxnSpPr>
          <p:cNvPr id="42" name="Connector 41"/>
          <p:cNvCxnSpPr/>
          <p:nvPr/>
        </p:nvCxnSpPr>
        <p:spPr>
          <a:xfrm>
            <a:off x="8424000" y="3060000"/>
            <a:ext cx="648000" cy="154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72000" y="50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CMP et terrains</a:t>
            </a:r>
          </a:p>
          <a:p>
            <a:pPr algn="ctr"/>
            <a:r>
              <a:rPr sz="1000" b="0">
                <a:solidFill>
                  <a:srgbClr val="FFFFFF"/>
                </a:solidFill>
                <a:latin typeface="Helvetica"/>
              </a:rPr>
              <a:t>12 329 431 315 FCFA</a:t>
            </a:r>
          </a:p>
        </p:txBody>
      </p:sp>
      <p:cxnSp>
        <p:nvCxnSpPr>
          <p:cNvPr id="44" name="Connector 43"/>
          <p:cNvCxnSpPr/>
          <p:nvPr/>
        </p:nvCxnSpPr>
        <p:spPr>
          <a:xfrm>
            <a:off x="8424000" y="3060000"/>
            <a:ext cx="648000" cy="237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64000" y="2015999"/>
            <a:ext cx="576000" cy="828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64000" y="3276000"/>
            <a:ext cx="576000" cy="82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72000" y="2015999"/>
            <a:ext cx="576000" cy="756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472000" y="3348000"/>
            <a:ext cx="576000" cy="75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3999" y="4752000"/>
            <a:ext cx="8136000" cy="1116000"/>
          </a:xfrm>
          <a:prstGeom prst="rect">
            <a:avLst/>
          </a:prstGeom>
          <a:noFill/>
        </p:spPr>
        <p:txBody>
          <a:bodyPr wrap="square" lIns="54000" rIns="54000"/>
          <a:lstStyle/>
          <a:p>
            <a:pPr algn="just">
              <a:spcAft>
                <a:spcPts val="600"/>
              </a:spcAft>
            </a:pPr>
            <a:r>
              <a:rPr sz="1200" b="1">
                <a:solidFill>
                  <a:srgbClr val="060606"/>
                </a:solidFill>
                <a:latin typeface="Helvetica"/>
              </a:rPr>
              <a:t>L'épargne des mutualistes est la ressource la plus importante du FPPN, devant les cotisations.</a:t>
            </a:r>
            <a:r>
              <a:rPr sz="1200" b="0">
                <a:solidFill>
                  <a:srgbClr val="060606"/>
                </a:solidFill>
                <a:latin typeface="Helvetica"/>
              </a:rPr>
              <a:t> Elle atteint 15 743 516 391 FCFA au 31/08/2026, soit plus de quatre fois les cotisations de 2025.</a:t>
            </a:r>
          </a:p>
          <a:p>
            <a:pPr algn="just">
              <a:spcAft>
                <a:spcPts val="600"/>
              </a:spcAft>
            </a:pPr>
            <a:r>
              <a:rPr sz="1200" b="0">
                <a:solidFill>
                  <a:srgbClr val="060606"/>
                </a:solidFill>
                <a:latin typeface="Helvetica"/>
              </a:rPr>
              <a:t>Le FPPN emploie cette épargne en partie dans des actifs peu liquides (CMP, terrains, prêts) : sa capacité à rembourser les épargnants est le premier enjeu de la mission.</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Centre Médical du Policier (rapport de gestion 2023)</a:t>
            </a:r>
          </a:p>
        </p:txBody>
      </p:sp>
    </p:spTree>
    <p:extLst>
      <p:ext uri="{BB962C8B-B14F-4D97-AF65-F5344CB8AC3E}">
        <p14:creationId xmlns:p14="http://schemas.microsoft.com/office/powerpoint/2010/main" val="374769490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en hausse</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S/C maladie passe de 6,00 % en 2021 à 73,53 % en 2025 (partie 5).</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Provisions figées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provisions gardent le même montant depuis 2020, alors que les prestations ont été multipliées par 3,90 (partie 9).</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Épargne non adossée</a:t>
            </a:r>
          </a:p>
          <a:p>
            <a:r>
              <a:rPr lang="fr-CI" sz="1200" noProof="0">
                <a:latin typeface="Helvetica" panose="020B0604020202020204" pitchFamily="34" charset="0"/>
                <a:ea typeface="Open Sans Light" panose="020B0306030504020204" pitchFamily="34" charset="0"/>
                <a:cs typeface="Helvetica" panose="020B0604020202020204" pitchFamily="34" charset="0"/>
              </a:rPr>
              <a:t>Des actifs réservés couvrent seulement 16,28 % de l'épargne due (partie 6).</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Fonds propres négatifs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fonds propres valent -438 242 200 FCFA fin 2025, et l'actif repose sur des emplois peu liquides (partie 9).</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Normes non respectées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14 ratios de la Décision n° 05/2022 sur 36 ne sont pas respectés, dont la réserve obligatoire et la liquidité (partie 10).</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Données incomplètes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FPPN n'a transmis ni base de prestations, ni dates de naissance. Les analyses actuarielles centrales restent en attente (parties 3 et 14).</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Six constats majeurs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fragilités portent sur les données, les provisions, l'épargne et les normes</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est démontré dans la partie indiquée, à partir des fichiers du FPPN et des textes de l'UEMOA</a:t>
            </a:r>
          </a:p>
        </p:txBody>
      </p:sp>
      <p:sp>
        <p:nvSpPr>
          <p:cNvPr id="49"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S/C : prestations / cotisations</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monte pendant que l'épargne reste peu couverte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Couverture de l'épargne au 31/08/2026 : 16,28 %</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1 : Ratio S/C maladie (prestations / cotisations)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5472000" cy="2699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2 : Épargne due et actifs réservés</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2699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7" name="TextBox 36"/>
          <p:cNvSpPr txBox="1"/>
          <p:nvPr/>
        </p:nvSpPr>
        <p:spPr>
          <a:xfrm>
            <a:off x="503999" y="4482000"/>
            <a:ext cx="11232000" cy="306000"/>
          </a:xfrm>
          <a:prstGeom prst="rect">
            <a:avLst/>
          </a:prstGeom>
          <a:noFill/>
        </p:spPr>
        <p:txBody>
          <a:bodyPr wrap="square" anchor="t" lIns="54000" rIns="54000"/>
          <a:lstStyle/>
          <a:p>
            <a:pPr algn="l"/>
            <a:r>
              <a:rPr sz="850" b="0">
                <a:solidFill>
                  <a:srgbClr val="53565A"/>
                </a:solidFill>
                <a:latin typeface="Helvetica"/>
              </a:rPr>
              <a:t>Valable pour : S/C maladie : comptes 601, 6013, 6018 et 60800007 (prestations) et 7010 (cotisations) des balances « BALANCE FORMAT EXCEL DE 09-2020 AU 31-12-2020.xlsx » à « BALANCE FPPN DU 01-01-2026 AU 31-08-2026.xlsx », 2020 à 2025 et du 01/01 au 31/08/2026. Épargne : comptes 41195100 et 41195200. Actifs réservés : banques et DAT de l'épargne et FCP.</a:t>
            </a:r>
          </a:p>
        </p:txBody>
      </p:sp>
      <p:sp>
        <p:nvSpPr>
          <p:cNvPr id="38" name="TextBox 37"/>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Les deux courbes vont dans le mauvais sens pour la solvabilité.</a:t>
            </a:r>
            <a:r>
              <a:rPr sz="1300" b="0">
                <a:solidFill>
                  <a:srgbClr val="060606"/>
                </a:solidFill>
                <a:latin typeface="Helvetica"/>
              </a:rPr>
              <a:t> Les prestations consomment une part croissante des cotisations, et l'épargne grossit plus vite que les actifs qui la garantissent. Implication : le FPPN dispose de moins en moins de marge pour faire face à un choc de prestations ou de retraits.</a:t>
            </a:r>
          </a:p>
        </p:txBody>
      </p:sp>
      <p:sp>
        <p:nvSpPr>
          <p:cNvPr id="39" name="TextBox 3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FCP : fonds commun de placement | DAT : dépôt à terme | S/C : prestations / cotisations</a:t>
            </a:r>
          </a:p>
        </p:txBody>
      </p:sp>
    </p:spTree>
    <p:extLst>
      <p:ext uri="{BB962C8B-B14F-4D97-AF65-F5344CB8AC3E}">
        <p14:creationId xmlns:p14="http://schemas.microsoft.com/office/powerpoint/2010/main" val="311252898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et l'encours de prêts explose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-438 242 200 FCFA. Encours du Grenier au 31/08/2026 : 1 044 302 107 FCFA</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3 : Fonds propres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472000" cy="2699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4 : Encours des prêts du Grenier</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2699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Exports du logiciel de prêts du Grenier du Policier « BalanceAgeeDetaille … .xls » et « production_de_la_periode … .xls » reçus le 15/10/2026. Traitements Adenka</a:t>
            </a:r>
          </a:p>
        </p:txBody>
      </p:sp>
      <p:sp>
        <p:nvSpPr>
          <p:cNvPr id="37" name="TextBox 36"/>
          <p:cNvSpPr txBox="1"/>
          <p:nvPr/>
        </p:nvSpPr>
        <p:spPr>
          <a:xfrm>
            <a:off x="503999" y="4482000"/>
            <a:ext cx="11232000" cy="306000"/>
          </a:xfrm>
          <a:prstGeom prst="rect">
            <a:avLst/>
          </a:prstGeom>
          <a:noFill/>
        </p:spPr>
        <p:txBody>
          <a:bodyPr wrap="square" anchor="t" lIns="54000" rIns="54000"/>
          <a:lstStyle/>
          <a:p>
            <a:pPr algn="l"/>
            <a:r>
              <a:rPr sz="850" b="0">
                <a:solidFill>
                  <a:srgbClr val="53565A"/>
                </a:solidFill>
                <a:latin typeface="Helvetica"/>
              </a:rPr>
              <a:t>Valable pour : fonds propres : comptes 10, 11, 12 et résultat des balances « BALANCE FORMAT EXCEL DE 09-2020 AU 31-12-2020.xlsx » à « BALANCE FPPN DU 01-01-2026 AU 31-08-2026.xlsx ». Encours du Grenier : exports « BalanceAgeeDetaille … .xls » du logiciel de prêts du Grenier, arrêtés annuels du 31/12/2021 au 31/12/2025 et au 31/08/2026.</a:t>
            </a:r>
          </a:p>
        </p:txBody>
      </p:sp>
      <p:sp>
        <p:nvSpPr>
          <p:cNvPr id="38" name="TextBox 37"/>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 redressement des fonds propres s'interrompt en 2026, au moment où l'encours des prêts atteint son plus haut niveau.</a:t>
            </a:r>
            <a:r>
              <a:rPr sz="1300" b="0">
                <a:solidFill>
                  <a:srgbClr val="060606"/>
                </a:solidFill>
                <a:latin typeface="Helvetica"/>
              </a:rPr>
              <a:t> Implication : le FPPN finance une activité de crédit en croissance rapide sans coussin de fonds propres pour absorber d'éventuelles pertes.</a:t>
            </a:r>
          </a:p>
        </p:txBody>
      </p:sp>
      <p:sp>
        <p:nvSpPr>
          <p:cNvPr id="39" name="TextBox 3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0771753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Conformité prudentielle en bref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ratios de solvabilité et de liquidité de l'UEMOA ne sont pas respectés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36 indicateurs de la Décision n° 05/2022 : 14 non conformes, 7 conformes, 15 en attente de données ou à apprécier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7 : Huit ratios prudentiels clés, exercice 2025</a:t>
            </a:r>
          </a:p>
        </p:txBody>
      </p:sp>
      <p:graphicFrame>
        <p:nvGraphicFramePr>
          <p:cNvPr id="32" name="Table 31"/>
          <p:cNvGraphicFramePr>
            <a:graphicFrameLocks noGrp="1"/>
          </p:cNvGraphicFramePr>
          <p:nvPr/>
        </p:nvGraphicFramePr>
        <p:xfrm>
          <a:off x="503999" y="1655999"/>
          <a:ext cx="7056000" cy="3033156"/>
        </p:xfrm>
        <a:graphic>
          <a:graphicData uri="http://schemas.openxmlformats.org/drawingml/2006/table">
            <a:tbl>
              <a:tblPr firstRow="0" bandRow="0">
                <a:tableStyleId>{5940675A-B579-460E-94D1-54222C63F5DA}</a:tableStyleId>
              </a:tblPr>
              <a:tblGrid>
                <a:gridCol w="2610000"/>
                <a:gridCol w="1270800"/>
                <a:gridCol w="1058400"/>
                <a:gridCol w="986400"/>
                <a:gridCol w="1130400"/>
              </a:tblGrid>
              <a:tr h="392901">
                <a:tc>
                  <a:txBody>
                    <a:bodyPr/>
                    <a:lstStyle/>
                    <a:p>
                      <a:pPr marL="0" indent="0" lvl="0">
                        <a:buNone/>
                      </a:pPr>
                      <a:r>
                        <a:rPr sz="11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Statut 2022 à 2025</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-0,77</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Conforme</a:t>
                      </a:r>
                    </a:p>
                  </a:txBody>
                  <a:tcPr marL="43200" marR="43200" marT="14400" marB="14400" anchor="ctr">
                    <a:solidFill>
                      <a:srgbClr val="112A40"/>
                    </a:solidFill>
                  </a:tcPr>
                </a:tc>
              </a:tr>
              <a:tr h="392901">
                <a:tc>
                  <a:txBody>
                    <a:bodyPr/>
                    <a:lstStyle/>
                    <a:p>
                      <a:pPr marL="0" indent="0" lvl="0">
                        <a:buNone/>
                      </a:pPr>
                      <a:r>
                        <a:rPr sz="11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1,15</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0,94</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Solvabilité de l'épargne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bl>
          </a:graphicData>
        </a:graphic>
      </p:graphicFrame>
      <p:sp>
        <p:nvSpPr>
          <p:cNvPr id="33" name="TextBox 32"/>
          <p:cNvSpPr txBox="1"/>
          <p:nvPr/>
        </p:nvSpPr>
        <p:spPr>
          <a:xfrm>
            <a:off x="503999" y="4797158"/>
            <a:ext cx="7056000" cy="450000"/>
          </a:xfrm>
          <a:prstGeom prst="rect">
            <a:avLst/>
          </a:prstGeom>
          <a:noFill/>
        </p:spPr>
        <p:txBody>
          <a:bodyPr wrap="square" anchor="t" lIns="54000" rIns="54000"/>
          <a:lstStyle/>
          <a:p>
            <a:pPr algn="l"/>
            <a:r>
              <a:rPr sz="850" b="0">
                <a:solidFill>
                  <a:srgbClr val="53565A"/>
                </a:solidFill>
                <a:latin typeface="Helvetica"/>
              </a:rPr>
              <a:t>Valable pour : exercice 2025 seulement, ratios de la Décision n° 05/2022 recalculés sur les balances « BALANCE FORMAT EXCEL DE 09-2020 AU 31-12-2020.xlsx » à « BALANCE FPPN DU 01-01-2026 AU 31-08-2026.xlsx ». Ratios non calculés faute de données signalés comme tels.</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Les ratios qui mesurent la solidité financière sont non conformes, ceux qui mesurent l'activité courante le sont souvent.</a:t>
            </a:r>
            <a:r>
              <a:rPr sz="1400" b="0">
                <a:solidFill>
                  <a:srgbClr val="060606"/>
                </a:solidFill>
                <a:latin typeface="Helvetica"/>
              </a:rPr>
              <a:t> L'autonomie financière et le financement propre sont respectés, car les cotisations couvrent les charges de l'année.</a:t>
            </a:r>
          </a:p>
          <a:p>
            <a:pPr algn="just">
              <a:spcAft>
                <a:spcPts val="600"/>
              </a:spcAft>
            </a:pPr>
            <a:r>
              <a:rPr sz="1400" b="1">
                <a:solidFill>
                  <a:srgbClr val="060606"/>
                </a:solidFill>
                <a:latin typeface="Helvetica"/>
              </a:rPr>
              <a:t>Le classement de l'épargne change le verdict sur la liquidité.</a:t>
            </a:r>
            <a:r>
              <a:rPr sz="1400" b="0">
                <a:solidFill>
                  <a:srgbClr val="060606"/>
                </a:solidFill>
                <a:latin typeface="Helvetica"/>
              </a:rPr>
              <a:t> En dette à court terme, comme dans le plan comptable, la liquidité 2025 vaut 0,13. En ressource longue, elle vaut 1,15.</a:t>
            </a:r>
          </a:p>
          <a:p>
            <a:pPr algn="just">
              <a:spcAft>
                <a:spcPts val="600"/>
              </a:spcAft>
            </a:pPr>
            <a:r>
              <a:rPr sz="1400" b="0">
                <a:solidFill>
                  <a:srgbClr val="060606"/>
                </a:solidFill>
                <a:latin typeface="Helvetica"/>
              </a:rPr>
              <a:t>Le règlement n° 07/2009 prévoit le retrait d'agrément après deux exercices de non-respect des règles prudentielles (art. 84). Plusieurs ratios sont non conformes plusieurs années de suite : un plan de mise en conformité doit être préparé.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76984664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9" name="ZoneTexte 18">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graphicFrame>
        <p:nvGraphicFramePr>
          <p:cNvPr id="3" name="Object 2" hidden="1"/>
          <p:cNvGraphicFramePr>
            <a:graphicFrameLocks noChangeAspect="1"/>
          </p:cNvGraphicFramePr>
          <p:nvPr>
            <p:custDataLst>
              <p:tags r:id="rId1"/>
            </p:custDataLst>
          </p:nvPr>
        </p:nvGraphicFramePr>
        <p:xfrm>
          <a:off x="2258716" y="1350000"/>
          <a:ext cx="1325" cy="1325"/>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7" name="Object 2" hidden="1"/>
                      <p:cNvPicPr/>
                      <p:nvPr/>
                    </p:nvPicPr>
                    <p:blipFill>
                      <a:blip r:embed="rId6"/>
                      <a:stretch>
                        <a:fillRect/>
                      </a:stretch>
                    </p:blipFill>
                    <p:spPr>
                      <a:xfrm>
                        <a:off x="1525589" y="1589"/>
                        <a:ext cx="1587" cy="1587"/>
                      </a:xfrm>
                      <a:prstGeom prst="rect">
                        <a:avLst/>
                      </a:prstGeom>
                    </p:spPr>
                  </p:pic>
                </p:oleObj>
              </mc:Fallback>
            </mc:AlternateContent>
          </a:graphicData>
        </a:graphic>
      </p:graphicFrame>
      <p:graphicFrame>
        <p:nvGraphicFramePr>
          <p:cNvPr id="13" name="Chart Placeholder 15"/>
          <p:cNvGraphicFramePr>
            <a:graphicFrameLocks/>
          </p:cNvGraphicFramePr>
          <p:nvPr>
            <p:extLst>
              <p:ext uri="{D42A27DB-BD31-4B8C-83A1-F6EECF244321}">
                <p14:modId xmlns:p14="http://schemas.microsoft.com/office/powerpoint/2010/main" val="2929624729"/>
              </p:ext>
            </p:extLst>
          </p:nvPr>
        </p:nvGraphicFramePr>
        <p:xfrm>
          <a:off x="3743620" y="1584000"/>
          <a:ext cx="2231044" cy="2664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Placeholder 15"/>
          <p:cNvGraphicFramePr>
            <a:graphicFrameLocks/>
          </p:cNvGraphicFramePr>
          <p:nvPr>
            <p:extLst>
              <p:ext uri="{D42A27DB-BD31-4B8C-83A1-F6EECF244321}">
                <p14:modId xmlns:p14="http://schemas.microsoft.com/office/powerpoint/2010/main" val="153666400"/>
              </p:ext>
            </p:extLst>
          </p:nvPr>
        </p:nvGraphicFramePr>
        <p:xfrm>
          <a:off x="1260936" y="1584000"/>
          <a:ext cx="2232370" cy="2664000"/>
        </p:xfrm>
        <a:graphic>
          <a:graphicData uri="http://schemas.openxmlformats.org/drawingml/2006/chart">
            <c:chart xmlns:c="http://schemas.openxmlformats.org/drawingml/2006/chart" xmlns:r="http://schemas.openxmlformats.org/officeDocument/2006/relationships" r:id="rId8"/>
          </a:graphicData>
        </a:graphic>
      </p:graphicFrame>
      <p:pic>
        <p:nvPicPr>
          <p:cNvPr id="16" name="Imag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8918" y="2277791"/>
            <a:ext cx="616405" cy="616405"/>
          </a:xfrm>
          <a:prstGeom prst="rect">
            <a:avLst/>
          </a:prstGeom>
        </p:spPr>
      </p:pic>
      <p:pic>
        <p:nvPicPr>
          <p:cNvPr id="17" name="Imag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2040" y="2195176"/>
            <a:ext cx="794203" cy="803437"/>
          </a:xfrm>
          <a:prstGeom prst="rect">
            <a:avLst/>
          </a:prstGeom>
        </p:spPr>
      </p:pic>
      <p:graphicFrame>
        <p:nvGraphicFramePr>
          <p:cNvPr id="18" name="Chart Placeholder 15"/>
          <p:cNvGraphicFramePr>
            <a:graphicFrameLocks/>
          </p:cNvGraphicFramePr>
          <p:nvPr>
            <p:extLst>
              <p:ext uri="{D42A27DB-BD31-4B8C-83A1-F6EECF244321}">
                <p14:modId xmlns:p14="http://schemas.microsoft.com/office/powerpoint/2010/main" val="4022307174"/>
              </p:ext>
            </p:extLst>
          </p:nvPr>
        </p:nvGraphicFramePr>
        <p:xfrm>
          <a:off x="8456022" y="1584000"/>
          <a:ext cx="2223091" cy="26640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Placeholder 15"/>
          <p:cNvGraphicFramePr>
            <a:graphicFrameLocks/>
          </p:cNvGraphicFramePr>
          <p:nvPr>
            <p:extLst>
              <p:ext uri="{D42A27DB-BD31-4B8C-83A1-F6EECF244321}">
                <p14:modId xmlns:p14="http://schemas.microsoft.com/office/powerpoint/2010/main" val="3635906843"/>
              </p:ext>
            </p:extLst>
          </p:nvPr>
        </p:nvGraphicFramePr>
        <p:xfrm>
          <a:off x="6103797" y="1584000"/>
          <a:ext cx="2223091" cy="2664000"/>
        </p:xfrm>
        <a:graphic>
          <a:graphicData uri="http://schemas.openxmlformats.org/drawingml/2006/chart">
            <c:chart xmlns:c="http://schemas.openxmlformats.org/drawingml/2006/chart" xmlns:r="http://schemas.openxmlformats.org/officeDocument/2006/relationships" r:id="rId12"/>
          </a:graphicData>
        </a:graphic>
      </p:graphicFrame>
      <p:pic>
        <p:nvPicPr>
          <p:cNvPr id="24" name="Image 2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896238" y="2277791"/>
            <a:ext cx="638209" cy="638209"/>
          </a:xfrm>
          <a:prstGeom prst="rect">
            <a:avLst/>
          </a:prstGeom>
        </p:spPr>
      </p:pic>
      <p:pic>
        <p:nvPicPr>
          <p:cNvPr id="26" name="Image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92169" y="2195176"/>
            <a:ext cx="703522" cy="718817"/>
          </a:xfrm>
          <a:prstGeom prst="rect">
            <a:avLst/>
          </a:prstGeom>
        </p:spPr>
      </p:pic>
      <p:sp>
        <p:nvSpPr>
          <p:cNvPr id="28"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taux à surveiller</a:t>
            </a:r>
          </a:p>
        </p:txBody>
      </p:sp>
      <p:sp>
        <p:nvSpPr>
          <p:cNvPr id="29"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faible part des engagements est couverte par des ressources disponibles</a:t>
            </a:r>
          </a:p>
        </p:txBody>
      </p:sp>
      <p:sp>
        <p:nvSpPr>
          <p:cNvPr id="30"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l'épargne, sinistralité, trésorerie rapportée à l'épargne et prêts en retard de plus de 30 jours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Exports du logiciel de prêts du Grenier du Policier « BalanceAgeeDetaille … .xls » et « production_de_la_periode … .xls » reçus le 15/10/2026. Traitements Adenka</a:t>
            </a:r>
          </a:p>
        </p:txBody>
      </p:sp>
      <p:sp>
        <p:nvSpPr>
          <p:cNvPr id="32" name="TextBox 31"/>
          <p:cNvSpPr txBox="1"/>
          <p:nvPr/>
        </p:nvSpPr>
        <p:spPr>
          <a:xfrm>
            <a:off x="1152936" y="4266000"/>
            <a:ext cx="2448370" cy="324000"/>
          </a:xfrm>
          <a:prstGeom prst="rect">
            <a:avLst/>
          </a:prstGeom>
          <a:noFill/>
        </p:spPr>
        <p:txBody>
          <a:bodyPr wrap="square" anchor="t" lIns="54000" rIns="54000"/>
          <a:lstStyle/>
          <a:p>
            <a:pPr algn="ctr"/>
            <a:r>
              <a:rPr sz="2000" b="1">
                <a:solidFill>
                  <a:srgbClr val="112A40"/>
                </a:solidFill>
                <a:latin typeface="Helvetica"/>
              </a:rPr>
              <a:t>16,28 %</a:t>
            </a:r>
          </a:p>
        </p:txBody>
      </p:sp>
      <p:sp>
        <p:nvSpPr>
          <p:cNvPr id="33" name="TextBox 32"/>
          <p:cNvSpPr txBox="1"/>
          <p:nvPr/>
        </p:nvSpPr>
        <p:spPr>
          <a:xfrm>
            <a:off x="1152936" y="4572000"/>
            <a:ext cx="2448370" cy="576000"/>
          </a:xfrm>
          <a:prstGeom prst="rect">
            <a:avLst/>
          </a:prstGeom>
          <a:noFill/>
        </p:spPr>
        <p:txBody>
          <a:bodyPr wrap="square" anchor="t" lIns="54000" rIns="54000"/>
          <a:lstStyle/>
          <a:p>
            <a:pPr algn="ctr"/>
            <a:r>
              <a:rPr sz="1100" b="0">
                <a:solidFill>
                  <a:srgbClr val="060606"/>
                </a:solidFill>
                <a:latin typeface="Helvetica"/>
              </a:rPr>
              <a:t>Épargne couverte par des actifs réservés (31/08/2026)</a:t>
            </a:r>
          </a:p>
        </p:txBody>
      </p:sp>
      <p:sp>
        <p:nvSpPr>
          <p:cNvPr id="34" name="TextBox 33"/>
          <p:cNvSpPr txBox="1"/>
          <p:nvPr/>
        </p:nvSpPr>
        <p:spPr>
          <a:xfrm>
            <a:off x="3635619" y="4266000"/>
            <a:ext cx="2447043" cy="324000"/>
          </a:xfrm>
          <a:prstGeom prst="rect">
            <a:avLst/>
          </a:prstGeom>
          <a:noFill/>
        </p:spPr>
        <p:txBody>
          <a:bodyPr wrap="square" anchor="t" lIns="54000" rIns="54000"/>
          <a:lstStyle/>
          <a:p>
            <a:pPr algn="ctr"/>
            <a:r>
              <a:rPr sz="2000" b="1">
                <a:solidFill>
                  <a:srgbClr val="112A40"/>
                </a:solidFill>
                <a:latin typeface="Helvetica"/>
              </a:rPr>
              <a:t>73,53 %</a:t>
            </a:r>
          </a:p>
        </p:txBody>
      </p:sp>
      <p:sp>
        <p:nvSpPr>
          <p:cNvPr id="35" name="TextBox 34"/>
          <p:cNvSpPr txBox="1"/>
          <p:nvPr/>
        </p:nvSpPr>
        <p:spPr>
          <a:xfrm>
            <a:off x="3635619" y="4572000"/>
            <a:ext cx="2447043" cy="576000"/>
          </a:xfrm>
          <a:prstGeom prst="rect">
            <a:avLst/>
          </a:prstGeom>
          <a:noFill/>
        </p:spPr>
        <p:txBody>
          <a:bodyPr wrap="square" anchor="t" lIns="54000" rIns="54000"/>
          <a:lstStyle/>
          <a:p>
            <a:pPr algn="ctr"/>
            <a:r>
              <a:rPr sz="1100" b="0">
                <a:solidFill>
                  <a:srgbClr val="060606"/>
                </a:solidFill>
                <a:latin typeface="Helvetica"/>
              </a:rPr>
              <a:t>Sinistralité maladie (S/C 2025)</a:t>
            </a:r>
          </a:p>
        </p:txBody>
      </p:sp>
      <p:sp>
        <p:nvSpPr>
          <p:cNvPr id="36" name="TextBox 35"/>
          <p:cNvSpPr txBox="1"/>
          <p:nvPr/>
        </p:nvSpPr>
        <p:spPr>
          <a:xfrm>
            <a:off x="5995797" y="4266000"/>
            <a:ext cx="2439091" cy="324000"/>
          </a:xfrm>
          <a:prstGeom prst="rect">
            <a:avLst/>
          </a:prstGeom>
          <a:noFill/>
        </p:spPr>
        <p:txBody>
          <a:bodyPr wrap="square" anchor="t" lIns="54000" rIns="54000"/>
          <a:lstStyle/>
          <a:p>
            <a:pPr algn="ctr"/>
            <a:r>
              <a:rPr sz="2000" b="1">
                <a:solidFill>
                  <a:srgbClr val="112A40"/>
                </a:solidFill>
                <a:latin typeface="Helvetica"/>
              </a:rPr>
              <a:t>21,34 %</a:t>
            </a:r>
          </a:p>
        </p:txBody>
      </p:sp>
      <p:sp>
        <p:nvSpPr>
          <p:cNvPr id="37" name="TextBox 36"/>
          <p:cNvSpPr txBox="1"/>
          <p:nvPr/>
        </p:nvSpPr>
        <p:spPr>
          <a:xfrm>
            <a:off x="5995797" y="4572000"/>
            <a:ext cx="2439091" cy="576000"/>
          </a:xfrm>
          <a:prstGeom prst="rect">
            <a:avLst/>
          </a:prstGeom>
          <a:noFill/>
        </p:spPr>
        <p:txBody>
          <a:bodyPr wrap="square" anchor="t" lIns="54000" rIns="54000"/>
          <a:lstStyle/>
          <a:p>
            <a:pPr algn="ctr"/>
            <a:r>
              <a:rPr sz="1100" b="0">
                <a:solidFill>
                  <a:srgbClr val="060606"/>
                </a:solidFill>
                <a:latin typeface="Helvetica"/>
              </a:rPr>
              <a:t>Trésorerie totale / épargne due (31/08/2026)</a:t>
            </a:r>
          </a:p>
        </p:txBody>
      </p:sp>
      <p:sp>
        <p:nvSpPr>
          <p:cNvPr id="38" name="TextBox 37"/>
          <p:cNvSpPr txBox="1"/>
          <p:nvPr/>
        </p:nvSpPr>
        <p:spPr>
          <a:xfrm>
            <a:off x="8348021" y="4266000"/>
            <a:ext cx="2439091" cy="324000"/>
          </a:xfrm>
          <a:prstGeom prst="rect">
            <a:avLst/>
          </a:prstGeom>
          <a:noFill/>
        </p:spPr>
        <p:txBody>
          <a:bodyPr wrap="square" anchor="t" lIns="54000" rIns="54000"/>
          <a:lstStyle/>
          <a:p>
            <a:pPr algn="ctr"/>
            <a:r>
              <a:rPr sz="2000" b="1">
                <a:solidFill>
                  <a:srgbClr val="112A40"/>
                </a:solidFill>
                <a:latin typeface="Helvetica"/>
              </a:rPr>
              <a:t>5,07 %</a:t>
            </a:r>
          </a:p>
        </p:txBody>
      </p:sp>
      <p:sp>
        <p:nvSpPr>
          <p:cNvPr id="39" name="TextBox 38"/>
          <p:cNvSpPr txBox="1"/>
          <p:nvPr/>
        </p:nvSpPr>
        <p:spPr>
          <a:xfrm>
            <a:off x="8348021" y="4572000"/>
            <a:ext cx="2439091" cy="576000"/>
          </a:xfrm>
          <a:prstGeom prst="rect">
            <a:avLst/>
          </a:prstGeom>
          <a:noFill/>
        </p:spPr>
        <p:txBody>
          <a:bodyPr wrap="square" anchor="t" lIns="54000" rIns="54000"/>
          <a:lstStyle/>
          <a:p>
            <a:pPr algn="ctr"/>
            <a:r>
              <a:rPr sz="1100" b="0">
                <a:solidFill>
                  <a:srgbClr val="060606"/>
                </a:solidFill>
                <a:latin typeface="Helvetica"/>
              </a:rPr>
              <a:t>Prêts en retard de plus de 30 jours (en nombre, 31/08/2026)</a:t>
            </a:r>
          </a:p>
        </p:txBody>
      </p:sp>
      <p:sp>
        <p:nvSpPr>
          <p:cNvPr id="40" name="TextBox 39"/>
          <p:cNvSpPr txBox="1"/>
          <p:nvPr/>
        </p:nvSpPr>
        <p:spPr>
          <a:xfrm>
            <a:off x="503999" y="5166000"/>
            <a:ext cx="11232000" cy="702000"/>
          </a:xfrm>
          <a:prstGeom prst="rect">
            <a:avLst/>
          </a:prstGeom>
          <a:noFill/>
        </p:spPr>
        <p:txBody>
          <a:bodyPr wrap="square" lIns="54000" rIns="54000"/>
          <a:lstStyle/>
          <a:p>
            <a:pPr algn="just">
              <a:spcAft>
                <a:spcPts val="600"/>
              </a:spcAft>
            </a:pPr>
            <a:r>
              <a:rPr sz="1300" b="1">
                <a:solidFill>
                  <a:srgbClr val="060606"/>
                </a:solidFill>
                <a:latin typeface="Helvetica"/>
              </a:rPr>
              <a:t>Trois anneaux sur quatre montrent une couverture faible des engagements.</a:t>
            </a:r>
            <a:r>
              <a:rPr sz="1300" b="0">
                <a:solidFill>
                  <a:srgbClr val="060606"/>
                </a:solidFill>
                <a:latin typeface="Helvetica"/>
              </a:rPr>
              <a:t> La trésorerie de toutes les banques ne rembourserait qu'environ un cinquième de l'épargne due. Implication : en cas de retraits importants, le FPPN doit céder ou mobiliser des actifs peu liquides.</a:t>
            </a:r>
          </a:p>
        </p:txBody>
      </p:sp>
      <p:sp>
        <p:nvSpPr>
          <p:cNvPr id="41" name="TextBox 4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4065309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14"/>
        <p:cNvGrpSpPr/>
        <p:nvPr/>
      </p:nvGrpSpPr>
      <p:grpSpPr>
        <a:xfrm>
          <a:off x="0" y="0"/>
          <a:ext cx="0" cy="0"/>
          <a:chOff x="0" y="0"/>
          <a:chExt cx="0" cy="0"/>
        </a:xfrm>
      </p:grpSpPr>
      <p:pic>
        <p:nvPicPr>
          <p:cNvPr id="34" name="Image 33"/>
          <p:cNvPicPr>
            <a:picLocks noChangeAspect="1"/>
          </p:cNvPicPr>
          <p:nvPr/>
        </p:nvPicPr>
        <p:blipFill rotWithShape="1">
          <a:blip r:embed="rId3">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217" name="Google Shape;9217;p112"/>
          <p:cNvSpPr txBox="1"/>
          <p:nvPr/>
        </p:nvSpPr>
        <p:spPr>
          <a:xfrm>
            <a:off x="8949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1</a:t>
            </a:r>
          </a:p>
        </p:txBody>
      </p:sp>
      <p:sp>
        <p:nvSpPr>
          <p:cNvPr id="9218" name="Google Shape;9218;p112"/>
          <p:cNvSpPr txBox="1"/>
          <p:nvPr/>
        </p:nvSpPr>
        <p:spPr>
          <a:xfrm>
            <a:off x="805834" y="197827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Pas de base de prestations ni de dates de naissance</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220" name="Google Shape;9220;p112"/>
          <p:cNvSpPr txBox="1"/>
          <p:nvPr/>
        </p:nvSpPr>
        <p:spPr>
          <a:xfrm>
            <a:off x="2914550"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2</a:t>
            </a:r>
          </a:p>
        </p:txBody>
      </p:sp>
      <p:sp>
        <p:nvSpPr>
          <p:cNvPr id="9222" name="Google Shape;9222;p112"/>
          <p:cNvSpPr txBox="1"/>
          <p:nvPr/>
        </p:nvSpPr>
        <p:spPr>
          <a:xfrm>
            <a:off x="8057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1</a:t>
            </a:r>
          </a:p>
        </p:txBody>
      </p:sp>
      <p:sp>
        <p:nvSpPr>
          <p:cNvPr id="9224" name="Google Shape;9224;p112"/>
          <p:cNvSpPr txBox="1"/>
          <p:nvPr/>
        </p:nvSpPr>
        <p:spPr>
          <a:xfrm>
            <a:off x="27584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2</a:t>
            </a:r>
          </a:p>
        </p:txBody>
      </p:sp>
      <p:sp>
        <p:nvSpPr>
          <p:cNvPr id="9226" name="Google Shape;9226;p112"/>
          <p:cNvSpPr txBox="1"/>
          <p:nvPr/>
        </p:nvSpPr>
        <p:spPr>
          <a:xfrm>
            <a:off x="74403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3</a:t>
            </a:r>
          </a:p>
        </p:txBody>
      </p:sp>
      <p:sp>
        <p:nvSpPr>
          <p:cNvPr id="9228" name="Google Shape;9228;p112"/>
          <p:cNvSpPr txBox="1"/>
          <p:nvPr/>
        </p:nvSpPr>
        <p:spPr>
          <a:xfrm>
            <a:off x="9359589"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4</a:t>
            </a:r>
          </a:p>
        </p:txBody>
      </p:sp>
      <p:sp>
        <p:nvSpPr>
          <p:cNvPr id="9230" name="Google Shape;9230;p112"/>
          <p:cNvSpPr txBox="1"/>
          <p:nvPr/>
        </p:nvSpPr>
        <p:spPr>
          <a:xfrm>
            <a:off x="73511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3</a:t>
            </a:r>
          </a:p>
        </p:txBody>
      </p:sp>
      <p:sp>
        <p:nvSpPr>
          <p:cNvPr id="9232" name="Google Shape;9232;p112"/>
          <p:cNvSpPr txBox="1"/>
          <p:nvPr/>
        </p:nvSpPr>
        <p:spPr>
          <a:xfrm>
            <a:off x="93038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4</a:t>
            </a:r>
          </a:p>
        </p:txBody>
      </p:sp>
      <p:sp>
        <p:nvSpPr>
          <p:cNvPr id="97" name="Google Shape;9218;p112"/>
          <p:cNvSpPr txBox="1"/>
          <p:nvPr/>
        </p:nvSpPr>
        <p:spPr>
          <a:xfrm>
            <a:off x="2862877" y="199870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Provisions jamais recalculées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8" name="Google Shape;9218;p112"/>
          <p:cNvSpPr txBox="1"/>
          <p:nvPr/>
        </p:nvSpPr>
        <p:spPr>
          <a:xfrm>
            <a:off x="7408766" y="201800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Épargne utilisée pour d'autres emplois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9" name="Google Shape;9218;p112"/>
          <p:cNvSpPr txBox="1"/>
          <p:nvPr/>
        </p:nvSpPr>
        <p:spPr>
          <a:xfrm>
            <a:off x="9465809" y="203843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Écart entre échéances et précomptes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0" name="Google Shape;9218;p112"/>
          <p:cNvSpPr txBox="1"/>
          <p:nvPr/>
        </p:nvSpPr>
        <p:spPr>
          <a:xfrm>
            <a:off x="907230" y="400781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Coût réel des sinistres inconnu</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1" name="Google Shape;9218;p112"/>
          <p:cNvSpPr txBox="1"/>
          <p:nvPr/>
        </p:nvSpPr>
        <p:spPr>
          <a:xfrm>
            <a:off x="2964273" y="402824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Engagements mal mesurés au bilan</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2" name="Google Shape;9218;p112"/>
          <p:cNvSpPr txBox="1"/>
          <p:nvPr/>
        </p:nvSpPr>
        <p:spPr>
          <a:xfrm>
            <a:off x="7510162" y="404753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Manque de liquidités en cas de retraits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3" name="Google Shape;9218;p112"/>
          <p:cNvSpPr txBox="1"/>
          <p:nvPr/>
        </p:nvSpPr>
        <p:spPr>
          <a:xfrm>
            <a:off x="9567205" y="406796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Retards et pertes sur les prêts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pic>
        <p:nvPicPr>
          <p:cNvPr id="27" name="Imag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6588" y="3447072"/>
            <a:ext cx="389251" cy="389251"/>
          </a:xfrm>
          <a:prstGeom prst="rect">
            <a:avLst/>
          </a:prstGeom>
        </p:spPr>
      </p:pic>
      <p:pic>
        <p:nvPicPr>
          <p:cNvPr id="28" name="Imag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3377" y="3442943"/>
            <a:ext cx="375952" cy="375953"/>
          </a:xfrm>
          <a:prstGeom prst="rect">
            <a:avLst/>
          </a:prstGeom>
        </p:spPr>
      </p:pic>
      <p:pic>
        <p:nvPicPr>
          <p:cNvPr id="29" name="Imag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8049" y="3403216"/>
            <a:ext cx="423892" cy="433107"/>
          </a:xfrm>
          <a:prstGeom prst="rect">
            <a:avLst/>
          </a:prstGeom>
        </p:spPr>
      </p:pic>
      <p:pic>
        <p:nvPicPr>
          <p:cNvPr id="30" name="Imag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0990" y="3403216"/>
            <a:ext cx="484396" cy="490027"/>
          </a:xfrm>
          <a:prstGeom prst="rect">
            <a:avLst/>
          </a:prstGeom>
        </p:spPr>
      </p:pic>
      <p:pic>
        <p:nvPicPr>
          <p:cNvPr id="2" name="Imag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5451325" y="2716425"/>
            <a:ext cx="1112757" cy="1112757"/>
          </a:xfrm>
          <a:prstGeom prst="rect">
            <a:avLst/>
          </a:prstGeom>
        </p:spPr>
      </p:pic>
      <p:sp>
        <p:nvSpPr>
          <p:cNvPr id="9233"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risques</a:t>
            </a:r>
          </a:p>
        </p:txBody>
      </p:sp>
      <p:sp>
        <p:nvSpPr>
          <p:cNvPr id="9234"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causes identifiées produisent quatre risques pour le FPPN</a:t>
            </a:r>
          </a:p>
        </p:txBody>
      </p:sp>
      <p:sp>
        <p:nvSpPr>
          <p:cNvPr id="9235"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causes relèvent de la gestion des données et des choix d'emploi des ressources. Les effets restent à chiffrer</a:t>
            </a:r>
          </a:p>
        </p:txBody>
      </p:sp>
      <p:sp>
        <p:nvSpPr>
          <p:cNvPr id="92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9237" name="TextBox 92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31009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prioritaires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actions conditionnent la fiabilité des engagements et la conformité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trois premières actions relèvent de la transmission de données, les quatre suivantes des décisions de gestion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Numéros de la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 : Actions recommandées</a:t>
            </a:r>
          </a:p>
        </p:txBody>
      </p:sp>
      <p:graphicFrame>
        <p:nvGraphicFramePr>
          <p:cNvPr id="32" name="Table 31"/>
          <p:cNvGraphicFramePr>
            <a:graphicFrameLocks noGrp="1"/>
          </p:cNvGraphicFramePr>
          <p:nvPr/>
        </p:nvGraphicFramePr>
        <p:xfrm>
          <a:off x="503999" y="1655999"/>
          <a:ext cx="11232000" cy="2975557"/>
        </p:xfrm>
        <a:graphic>
          <a:graphicData uri="http://schemas.openxmlformats.org/drawingml/2006/table">
            <a:tbl>
              <a:tblPr firstRow="0" bandRow="0">
                <a:tableStyleId>{5940675A-B579-460E-94D1-54222C63F5DA}</a:tableStyleId>
              </a:tblPr>
              <a:tblGrid>
                <a:gridCol w="360000"/>
                <a:gridCol w="4464000"/>
                <a:gridCol w="5184000"/>
                <a:gridCol w="1224000"/>
              </a:tblGrid>
              <a:tr h="225250">
                <a:tc>
                  <a:txBody>
                    <a:bodyPr/>
                    <a:lstStyle/>
                    <a:p>
                      <a:pPr marL="0" indent="0" lvl="0">
                        <a:buNone/>
                      </a:pPr>
                      <a:r>
                        <a:rPr sz="11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Action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Priorité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bases de prestations décès et santé 2020 à 2026 (13, 28, 40).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Calculer les provisions, la sinistralité par année de survenance et les délais.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Transmettre le fichier des mutualistes avec date de naissance et sexe (9).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Mesurer la mortalité, projeter l'équilibre technique et calculer les engagements.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comptes individuels PEP et EFC et leurs règlements (16, 17).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Évaluer la dette envers chaque épargnant et ses échéances.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Recalculer les provisions techniques à chaque clôture et les reclasser en compte 190.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Respecter l'article 7 du règlement d'exécution et le plan comptable.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Présenter à l'AIRMS un plan de mise en conformité des ratios prudentiels.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obligatoire, fonds propres, liquidité, frais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Adosser l'épargne à des placements liquides et séparer ses comptes (cantonnement).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Couvrir l'épargne exigible, encadrer le financement du Grenier et du CMP.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Faire réaliser l'étude actuarielle quinquennale des risques longs.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Article 14 du règlement d'exécution n° 004/2022.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Moyenne</a:t>
                      </a:r>
                    </a:p>
                  </a:txBody>
                  <a:tcPr marL="43200" marR="43200" marT="14400" marB="14400" anchor="ctr">
                    <a:solidFill>
                      <a:srgbClr val="FFFFFF"/>
                    </a:solidFill>
                  </a:tcPr>
                </a:tc>
              </a:tr>
            </a:tbl>
          </a:graphicData>
        </a:graphic>
      </p:graphicFrame>
      <p:sp>
        <p:nvSpPr>
          <p:cNvPr id="33" name="TextBox 32"/>
          <p:cNvSpPr txBox="1"/>
          <p:nvPr/>
        </p:nvSpPr>
        <p:spPr>
          <a:xfrm>
            <a:off x="503999" y="4739558"/>
            <a:ext cx="11232000" cy="162000"/>
          </a:xfrm>
          <a:prstGeom prst="rect">
            <a:avLst/>
          </a:prstGeom>
          <a:noFill/>
        </p:spPr>
        <p:txBody>
          <a:bodyPr wrap="square" anchor="t" lIns="54000" rIns="54000"/>
          <a:lstStyle/>
          <a:p>
            <a:pPr algn="l"/>
            <a:r>
              <a:rPr sz="850" b="0">
                <a:solidFill>
                  <a:srgbClr val="53565A"/>
                </a:solidFill>
                <a:latin typeface="Helvetica"/>
              </a:rPr>
              <a:t>Valable pour : constats au 22/10/2026. Numéros de la liste des documents demandés (PBC) pointée au 22/10/2026.</a:t>
            </a:r>
          </a:p>
        </p:txBody>
      </p:sp>
      <p:sp>
        <p:nvSpPr>
          <p:cNvPr id="34" name="TextBox 33"/>
          <p:cNvSpPr txBox="1"/>
          <p:nvPr/>
        </p:nvSpPr>
        <p:spPr>
          <a:xfrm>
            <a:off x="503999" y="5045558"/>
            <a:ext cx="11232000" cy="822441"/>
          </a:xfrm>
          <a:prstGeom prst="rect">
            <a:avLst/>
          </a:prstGeom>
          <a:noFill/>
        </p:spPr>
        <p:txBody>
          <a:bodyPr wrap="square" lIns="54000" rIns="54000"/>
          <a:lstStyle/>
          <a:p>
            <a:pPr algn="just">
              <a:spcAft>
                <a:spcPts val="600"/>
              </a:spcAft>
            </a:pPr>
            <a:r>
              <a:rPr sz="1300" b="1">
                <a:solidFill>
                  <a:srgbClr val="060606"/>
                </a:solidFill>
                <a:latin typeface="Helvetica"/>
              </a:rPr>
              <a:t>Les actions 1 à 3 lèvent les limites de ce rapport. Les actions 4 à 7 corrigent les écarts déjà démontrés.</a:t>
            </a:r>
          </a:p>
          <a:p>
            <a:pPr algn="just">
              <a:spcAft>
                <a:spcPts val="600"/>
              </a:spcAft>
            </a:pPr>
            <a:r>
              <a:rPr sz="1300" b="0">
                <a:solidFill>
                  <a:srgbClr val="060606"/>
                </a:solidFill>
                <a:latin typeface="Helvetica"/>
              </a:rPr>
              <a:t>Le plan de mise en conformité (action 5) dépend des données des actions 1 à 3 : les deux chantiers doivent être menés ensemble.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AIRMS : Agence ivoirienne de régulation de la mutualité sociale | PEP : Plan Épargne Plus | EFC : entraide fin de carrière | CMP : Centre Médical du Policier (rapport de gestion 2023) | PBC : liste des documents demandés au client</a:t>
            </a:r>
          </a:p>
        </p:txBody>
      </p:sp>
    </p:spTree>
    <p:extLst>
      <p:ext uri="{BB962C8B-B14F-4D97-AF65-F5344CB8AC3E}">
        <p14:creationId xmlns:p14="http://schemas.microsoft.com/office/powerpoint/2010/main" val="107548917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58425"/>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97141"/>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58237"/>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901356"/>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2057346"/>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96382"/>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2057346"/>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96382"/>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956293"/>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Collecter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Le FPPN transmet les bases de prestations, les mutualistes avec date de naissance, les comptes d'épargne et les barèmes.</a:t>
            </a:r>
            <a:endParaRPr lang="fr-CI" sz="1600" noProof="0"/>
          </a:p>
        </p:txBody>
      </p:sp>
      <p:sp>
        <p:nvSpPr>
          <p:cNvPr id="20" name="Rectangle 19"/>
          <p:cNvSpPr/>
          <p:nvPr/>
        </p:nvSpPr>
        <p:spPr>
          <a:xfrm>
            <a:off x="2312337" y="426182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Calculer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les provisions (PSAP, Chain Ladder), la mortalité observée et les engagements d'épargne.</a:t>
            </a:r>
            <a:endParaRPr lang="fr-CI" sz="1600" noProof="0"/>
          </a:p>
        </p:txBody>
      </p:sp>
      <p:sp>
        <p:nvSpPr>
          <p:cNvPr id="22" name="Rectangle 21"/>
          <p:cNvSpPr/>
          <p:nvPr/>
        </p:nvSpPr>
        <p:spPr>
          <a:xfrm>
            <a:off x="7611772" y="196039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Vérifier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rapproche les résultats de la comptabilité et des ratios de l'UEMOA, puis les discute avec le FPPN.</a:t>
            </a:r>
            <a:endParaRPr lang="fr-CI" sz="1600" noProof="0"/>
          </a:p>
        </p:txBody>
      </p:sp>
      <p:sp>
        <p:nvSpPr>
          <p:cNvPr id="23" name="Rectangle 22"/>
          <p:cNvSpPr/>
          <p:nvPr/>
        </p:nvSpPr>
        <p:spPr>
          <a:xfrm>
            <a:off x="7611772" y="4358249"/>
            <a:ext cx="3277758" cy="698653"/>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Projeter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projette l'équilibre technique sur 5 à 10 ans et chiffre les recommandations.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Feuille de route proposée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étapes pour passer du constat à l'évaluation des engagements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étape dépend de la précédente. La première est la transmission des données manquantes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TextBox 5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PSAP : provision pour sinistres à payer</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Comprendre le FPPN</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Cadre, garanties, circuits et notions de base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73327775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Cadre juridique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une mutuelle sociale agréée, régie par le droit de l'UEMOA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n° 07/2009/CM/UEMOA fixe les règles, l'AIRMS contrôle, le Code CIMA sert de référence technique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Répertoire AIRMS des mutuelles agréées, mise à jour du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 : Textes et organismes de référence</a:t>
            </a:r>
          </a:p>
        </p:txBody>
      </p:sp>
      <p:graphicFrame>
        <p:nvGraphicFramePr>
          <p:cNvPr id="32" name="Table 31"/>
          <p:cNvGraphicFramePr>
            <a:graphicFrameLocks noGrp="1"/>
          </p:cNvGraphicFramePr>
          <p:nvPr/>
        </p:nvGraphicFramePr>
        <p:xfrm>
          <a:off x="503999" y="1655999"/>
          <a:ext cx="11232000" cy="2582656"/>
        </p:xfrm>
        <a:graphic>
          <a:graphicData uri="http://schemas.openxmlformats.org/drawingml/2006/table">
            <a:tbl>
              <a:tblPr firstRow="0" bandRow="0">
                <a:tableStyleId>{5940675A-B579-460E-94D1-54222C63F5DA}</a:tableStyleId>
              </a:tblPr>
              <a:tblGrid>
                <a:gridCol w="2880000"/>
                <a:gridCol w="4104000"/>
                <a:gridCol w="4248000"/>
              </a:tblGrid>
              <a:tr h="225250">
                <a:tc>
                  <a:txBody>
                    <a:bodyPr/>
                    <a:lstStyle/>
                    <a:p>
                      <a:pPr marL="0" indent="0" lvl="0">
                        <a:buNone/>
                      </a:pPr>
                      <a:r>
                        <a:rPr sz="1100" b="1">
                          <a:solidFill>
                            <a:srgbClr val="FFFFFF"/>
                          </a:solidFill>
                          <a:latin typeface="Helvetica"/>
                        </a:rPr>
                        <a:t>Texte ou organisme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 pour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ce rapport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l'agrément, les obligations, les sanctions et le contrôle des mutuelles sociales.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Cadre général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règles prudentielles : provisions, réserves, risques longs,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Exigences prudentielles (partie 10)</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les indicateurs et ratios prudentiels et leurs normes.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Tableau de bord des ratios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depuis l'exercice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et contrôle des comptes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AIRMS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L'Agence ivoirienne de régulation de la mutualité sociale agrée et contrôle les mutuelles.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Destinataire des états et des ratios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tables de mortalité et le taux d'intérêt maximal (3,5 %) des assureurs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Référence technique (partie 11)</a:t>
                      </a:r>
                    </a:p>
                  </a:txBody>
                  <a:tcPr marL="43200" marR="43200" marT="14400" marB="14400" anchor="ctr">
                    <a:solidFill>
                      <a:srgbClr val="F2F2F2"/>
                    </a:solidFill>
                  </a:tcPr>
                </a:tc>
              </a:tr>
            </a:tbl>
          </a:graphicData>
        </a:graphic>
      </p:graphicFrame>
      <p:sp>
        <p:nvSpPr>
          <p:cNvPr id="33" name="TextBox 32"/>
          <p:cNvSpPr txBox="1"/>
          <p:nvPr/>
        </p:nvSpPr>
        <p:spPr>
          <a:xfrm>
            <a:off x="503999" y="4346657"/>
            <a:ext cx="11232000" cy="162000"/>
          </a:xfrm>
          <a:prstGeom prst="rect">
            <a:avLst/>
          </a:prstGeom>
          <a:noFill/>
        </p:spPr>
        <p:txBody>
          <a:bodyPr wrap="square" anchor="t" lIns="54000" rIns="54000"/>
          <a:lstStyle/>
          <a:p>
            <a:pPr algn="l"/>
            <a:r>
              <a:rPr sz="850" b="0">
                <a:solidFill>
                  <a:srgbClr val="53565A"/>
                </a:solidFill>
                <a:latin typeface="Helvetica"/>
              </a:rPr>
              <a:t>Valable pour : textes cités dans leur version fournie le 18/10/2026 (documentation publique de l'AIRMS). Répertoire AIRMS du 15/10/2026. Ne vaut pas avis juridique.</a:t>
            </a:r>
          </a:p>
        </p:txBody>
      </p:sp>
      <p:sp>
        <p:nvSpPr>
          <p:cNvPr id="34" name="TextBox 33"/>
          <p:cNvSpPr txBox="1"/>
          <p:nvPr/>
        </p:nvSpPr>
        <p:spPr>
          <a:xfrm>
            <a:off x="503999" y="4652657"/>
            <a:ext cx="11232000" cy="1215342"/>
          </a:xfrm>
          <a:prstGeom prst="rect">
            <a:avLst/>
          </a:prstGeom>
          <a:noFill/>
        </p:spPr>
        <p:txBody>
          <a:bodyPr wrap="square" lIns="54000" rIns="54000"/>
          <a:lstStyle/>
          <a:p>
            <a:pPr algn="just">
              <a:spcAft>
                <a:spcPts val="600"/>
              </a:spcAft>
            </a:pPr>
            <a:r>
              <a:rPr sz="1300" b="1">
                <a:solidFill>
                  <a:srgbClr val="060606"/>
                </a:solidFill>
                <a:latin typeface="Helvetica"/>
              </a:rPr>
              <a:t>Le FPPN doit respecter des normes chiffrées depuis le 1er juin 2022.</a:t>
            </a:r>
            <a:r>
              <a:rPr sz="1300" b="0">
                <a:solidFill>
                  <a:srgbClr val="060606"/>
                </a:solidFill>
                <a:latin typeface="Helvetica"/>
              </a:rPr>
              <a:t> Avant cette date, les textes ne fixaient pas de ratios prudentiels précis pour les mutuelles.</a:t>
            </a:r>
          </a:p>
          <a:p>
            <a:pPr algn="just">
              <a:spcAft>
                <a:spcPts val="600"/>
              </a:spcAft>
            </a:pPr>
            <a:r>
              <a:rPr sz="1300" b="0">
                <a:solidFill>
                  <a:srgbClr val="060606"/>
                </a:solidFill>
                <a:latin typeface="Helvetica"/>
              </a:rPr>
              <a:t>Les ratios de la Décision n° 05/2022 s'appliquent pleinement aux exercices 2022 à 2025 de la période d'analyse : la partie 10 les calcule un par un.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a:t>
            </a:r>
          </a:p>
        </p:txBody>
      </p:sp>
    </p:spTree>
    <p:extLst>
      <p:ext uri="{BB962C8B-B14F-4D97-AF65-F5344CB8AC3E}">
        <p14:creationId xmlns:p14="http://schemas.microsoft.com/office/powerpoint/2010/main" val="69811960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Statuts et règlement intérieur : cotisations, provisions,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textes du FPPN fixent déjà des règles que les comptes ne suivent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cotisation, calcul des provisions et dotation de la réserve légale sont écrits dans les statuts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et règlement intérieur du FPPN édités le 15/06/2023 (textes adoptés par l'Assemblée générale extraordinaire du 30/06/2021). Circulaire n° 00230/CIMA/CRCA/PDT/2005.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 : Dispositions des textes du FPPN utiles à la mission (1/2)</a:t>
            </a:r>
          </a:p>
        </p:txBody>
      </p:sp>
      <p:graphicFrame>
        <p:nvGraphicFramePr>
          <p:cNvPr id="32" name="Table 31"/>
          <p:cNvGraphicFramePr>
            <a:graphicFrameLocks noGrp="1"/>
          </p:cNvGraphicFramePr>
          <p:nvPr/>
        </p:nvGraphicFramePr>
        <p:xfrm>
          <a:off x="503999" y="1655999"/>
          <a:ext cx="11231999" cy="2159272"/>
        </p:xfrm>
        <a:graphic>
          <a:graphicData uri="http://schemas.openxmlformats.org/drawingml/2006/table">
            <a:tbl>
              <a:tblPr firstRow="0" bandRow="0">
                <a:tableStyleId>{5940675A-B579-460E-94D1-54222C63F5DA}</a:tableStyleId>
              </a:tblPr>
              <a:tblGrid>
                <a:gridCol w="3240000"/>
                <a:gridCol w="1584000"/>
                <a:gridCol w="3096000"/>
                <a:gridCol w="3311999"/>
              </a:tblGrid>
              <a:tr h="187148">
                <a:tc>
                  <a:txBody>
                    <a:bodyPr/>
                    <a:lstStyle/>
                    <a:p>
                      <a:pPr marL="0" indent="0" lvl="0">
                        <a:buNone/>
                      </a:pPr>
                      <a:r>
                        <a:rPr sz="850" b="1">
                          <a:solidFill>
                            <a:srgbClr val="FFFFFF"/>
                          </a:solidFill>
                          <a:latin typeface="Helvetica"/>
                        </a:rPr>
                        <a:t>Disposition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 dans les données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Cotisation obligatoire de 5 % de la solde de base : 3,5 % maladie-maternité et 1,5 % invalidité-décès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17. Règlement intérieur, art. 33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 Solde retient 3,77 % et 1,23 % (partie 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 barème officiel est établi. La répartition de la Solde reste à expliquer.</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Provision pour prestations à payer calculée exercice par exercice, dossier par dossier, plus les sinistres survenus non déclarés. Provision pour risques courts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Statuts, art. 86 à 89. Règlement intérieur, art. 79 à 82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Provisions identiques de 2020 au 31/08/2026 (partie 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ne suit pas ses propres statuts, en plus du règlement d'exécution n° 004/2022 (art. 10).</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Réserve légale d'au moins 20 % à 50 % des excédents nets de l'exercice précédent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90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Dotation 2023 : 184 219 879 FCFA, soit 8,94 % de l'excédent 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Écart aux statuts en 2023. Dotations conformes en 2024 (36,00 %) et 2025 (38,00 %).</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Couverture maladie limitée aux soins liés à une hospitalisation. Exclusions dont l'optique, les prothèses dentaires et les maladies de longue durée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intérieur, art. 41 et 45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Sinistralité inférieure à 70 % de 2020 à 2025 (partie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Explique en partie la faible sinistralité (facteur F5, partie 10).</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Factures payées sous 3 mois. Remboursements demandés sous 3 mois et payés sous 6 mois. Forclusion des allocations décès à 3 ans (membre) et 12 mois (ayant droit)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52, 57, 58 et 60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base de prestations reçue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Horizon des sinistres tardifs : moins d'un an en maladie, trois ans en décès, dans les quatre années de la circulaire CIMA n° 00230/2005.</a:t>
                      </a:r>
                    </a:p>
                  </a:txBody>
                  <a:tcPr marL="43200" marR="43200" marT="14400" marB="14400" anchor="ctr">
                    <a:solidFill>
                      <a:srgbClr val="FFFFFF"/>
                    </a:solidFill>
                  </a:tcPr>
                </a:tc>
              </a:tr>
            </a:tbl>
          </a:graphicData>
        </a:graphic>
      </p:graphicFrame>
      <p:sp>
        <p:nvSpPr>
          <p:cNvPr id="33" name="TextBox 32"/>
          <p:cNvSpPr txBox="1"/>
          <p:nvPr/>
        </p:nvSpPr>
        <p:spPr>
          <a:xfrm>
            <a:off x="503999" y="3923274"/>
            <a:ext cx="11232000" cy="162000"/>
          </a:xfrm>
          <a:prstGeom prst="rect">
            <a:avLst/>
          </a:prstGeom>
          <a:noFill/>
        </p:spPr>
        <p:txBody>
          <a:bodyPr wrap="square" anchor="t" lIns="54000" rIns="54000"/>
          <a:lstStyle/>
          <a:p>
            <a:pPr algn="l"/>
            <a:r>
              <a:rPr sz="850" b="0">
                <a:solidFill>
                  <a:srgbClr val="53565A"/>
                </a:solidFill>
                <a:latin typeface="Helvetica"/>
              </a:rPr>
              <a:t>Valable pour : statuts et règlement intérieur du FPPN édités le 15/06/2023 (adoptés le 30/06/2021), articles cités. Leur application n'est testée que là où le rapport le dit.</a:t>
            </a:r>
          </a:p>
        </p:txBody>
      </p:sp>
      <p:sp>
        <p:nvSpPr>
          <p:cNvPr id="34" name="TextBox 33"/>
          <p:cNvSpPr txBox="1"/>
          <p:nvPr/>
        </p:nvSpPr>
        <p:spPr>
          <a:xfrm>
            <a:off x="503999" y="4229274"/>
            <a:ext cx="11232000" cy="1638725"/>
          </a:xfrm>
          <a:prstGeom prst="rect">
            <a:avLst/>
          </a:prstGeom>
          <a:noFill/>
        </p:spPr>
        <p:txBody>
          <a:bodyPr wrap="square" lIns="54000" rIns="54000"/>
          <a:lstStyle/>
          <a:p>
            <a:pPr algn="just">
              <a:spcAft>
                <a:spcPts val="600"/>
              </a:spcAft>
            </a:pPr>
            <a:r>
              <a:rPr sz="1300" b="1">
                <a:solidFill>
                  <a:srgbClr val="060606"/>
                </a:solidFill>
                <a:latin typeface="Helvetica"/>
              </a:rPr>
              <a:t>Les statuts imposent eux-mêmes le calcul des provisions et la dotation de la réserve légale.</a:t>
            </a:r>
            <a:r>
              <a:rPr sz="1300" b="0">
                <a:solidFill>
                  <a:srgbClr val="060606"/>
                </a:solidFill>
                <a:latin typeface="Helvetica"/>
              </a:rPr>
              <a:t> Les écarts relevés en parties 9 et 10 sont donc aussi des écarts aux textes internes du FPPN.</a:t>
            </a:r>
          </a:p>
          <a:p>
            <a:pPr algn="just">
              <a:spcAft>
                <a:spcPts val="600"/>
              </a:spcAft>
            </a:pPr>
            <a:r>
              <a:rPr sz="1300" b="0">
                <a:solidFill>
                  <a:srgbClr val="060606"/>
                </a:solidFill>
                <a:latin typeface="Helvetica"/>
              </a:rPr>
              <a:t>Les délais de forclusion bornent la durée de développement des sinistres : ils serviront à construire les cadences de la méthode CIMA dès réception des bases de prestations (PBC, item 71).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186026629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Statuts et règlement intérieur : épargne, personnel, organes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dispositions changent le périmètre des engagements à évaluer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L'EFC est un engagement de carrière, la provision du personnel ne vise que les civils, et la situation des retraités est contradictoire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et règlement intérieur du FPPN édités le 15/06/2023 (textes adoptés par l'Assemblée générale extraordinaire du 30/06/2021). Décret n° 2017-210 du 30/03/2017. Décret n° 2012-652</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 : Dispositions des textes du FPPN utiles à la mission (2/2)</a:t>
            </a:r>
          </a:p>
        </p:txBody>
      </p:sp>
      <p:graphicFrame>
        <p:nvGraphicFramePr>
          <p:cNvPr id="32" name="Table 31"/>
          <p:cNvGraphicFramePr>
            <a:graphicFrameLocks noGrp="1"/>
          </p:cNvGraphicFramePr>
          <p:nvPr/>
        </p:nvGraphicFramePr>
        <p:xfrm>
          <a:off x="503999" y="1655999"/>
          <a:ext cx="11231999" cy="2159272"/>
        </p:xfrm>
        <a:graphic>
          <a:graphicData uri="http://schemas.openxmlformats.org/drawingml/2006/table">
            <a:tbl>
              <a:tblPr firstRow="0" bandRow="0">
                <a:tableStyleId>{5940675A-B579-460E-94D1-54222C63F5DA}</a:tableStyleId>
              </a:tblPr>
              <a:tblGrid>
                <a:gridCol w="3240000"/>
                <a:gridCol w="1584000"/>
                <a:gridCol w="3096000"/>
                <a:gridCol w="3311999"/>
              </a:tblGrid>
              <a:tr h="187148">
                <a:tc>
                  <a:txBody>
                    <a:bodyPr/>
                    <a:lstStyle/>
                    <a:p>
                      <a:pPr marL="0" indent="0" lvl="0">
                        <a:buNone/>
                      </a:pPr>
                      <a:r>
                        <a:rPr sz="850" b="1">
                          <a:solidFill>
                            <a:srgbClr val="FFFFFF"/>
                          </a:solidFill>
                          <a:latin typeface="Helvetica"/>
                        </a:rPr>
                        <a:t>Disposition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 dans les données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Plan Épargne Plus : souscription d'au moins 3 ans, terme choisi par le membre, 10 000 FCFA par mois au minimum. Il ouvre droit à des prêts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65 à 69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et rémunération renvoyées au cahier des charges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Les sorties du PEP dépendent des termes choisis : l'échéancier individuel est nécessaire (PBC, item 102).</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Entraide de Fin de Carrière : risques retraite et décès, 10 000 FCFA par mois sur toute la carrière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intérieur, art. 70 et 71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Épargne EFC au bilan, sans échéancier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Engagement long, exigible au départ à la retraite : sa valeur demande le cahier des charges (PBC, item 100).</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Personnel de la Direction Générale : civils salariés et fonctionnaires de police payés par des indemnités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31. Statuts, art. 66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Provision pour départ à la retraite au compte 196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 provision vise a priori le seul personnel civil, au barème du décret n° 2017-210 (PBC, items 103 et 104).</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Policier retraité membre participant, mais carte restituée au départ à la retraite. Seule la cotisation du policier en activité est prévue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Statuts, art. 7 et 80. Règlement intérieur, art. 38</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Garantie santé des retraités non documentée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Contradiction à lever avant tout calcul de provision mathématique (PBC, item 108).</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Placements autorisés par le Conseil d'administration. Méthodes comptables immuables sauf approbation de l'Assemblée générale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75 et 85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délibération transmise. Provisions reclassées en 2024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Délibérations et procès-verbaux demandés (PBC, items 105 et 106).</a:t>
                      </a:r>
                    </a:p>
                  </a:txBody>
                  <a:tcPr marL="43200" marR="43200" marT="14400" marB="14400" anchor="ctr">
                    <a:solidFill>
                      <a:srgbClr val="FFFFFF"/>
                    </a:solidFill>
                  </a:tcPr>
                </a:tc>
              </a:tr>
            </a:tbl>
          </a:graphicData>
        </a:graphic>
      </p:graphicFrame>
      <p:sp>
        <p:nvSpPr>
          <p:cNvPr id="33" name="TextBox 32"/>
          <p:cNvSpPr txBox="1"/>
          <p:nvPr/>
        </p:nvSpPr>
        <p:spPr>
          <a:xfrm>
            <a:off x="503999" y="3923274"/>
            <a:ext cx="11232000" cy="162000"/>
          </a:xfrm>
          <a:prstGeom prst="rect">
            <a:avLst/>
          </a:prstGeom>
          <a:noFill/>
        </p:spPr>
        <p:txBody>
          <a:bodyPr wrap="square" anchor="t" lIns="54000" rIns="54000"/>
          <a:lstStyle/>
          <a:p>
            <a:pPr algn="l"/>
            <a:r>
              <a:rPr sz="850" b="0">
                <a:solidFill>
                  <a:srgbClr val="53565A"/>
                </a:solidFill>
                <a:latin typeface="Helvetica"/>
              </a:rPr>
              <a:t>Valable pour : statuts et règlement intérieur du FPPN édités le 15/06/2023, articles cités. Décrets n° 2017-210 et n° 2012-652. Application non testée sauf mention.</a:t>
            </a:r>
          </a:p>
        </p:txBody>
      </p:sp>
      <p:sp>
        <p:nvSpPr>
          <p:cNvPr id="34" name="TextBox 33"/>
          <p:cNvSpPr txBox="1"/>
          <p:nvPr/>
        </p:nvSpPr>
        <p:spPr>
          <a:xfrm>
            <a:off x="503999" y="4229274"/>
            <a:ext cx="11232000" cy="1638725"/>
          </a:xfrm>
          <a:prstGeom prst="rect">
            <a:avLst/>
          </a:prstGeom>
          <a:noFill/>
        </p:spPr>
        <p:txBody>
          <a:bodyPr wrap="square" lIns="54000" rIns="54000"/>
          <a:lstStyle/>
          <a:p>
            <a:pPr algn="just">
              <a:spcAft>
                <a:spcPts val="600"/>
              </a:spcAft>
            </a:pPr>
            <a:r>
              <a:rPr sz="1300" b="1">
                <a:solidFill>
                  <a:srgbClr val="060606"/>
                </a:solidFill>
                <a:latin typeface="Helvetica"/>
              </a:rPr>
              <a:t>Le périmètre des engagements dépend de documents que les statuts citent mais que le FPPN n'a pas transmis.</a:t>
            </a:r>
            <a:r>
              <a:rPr sz="1300" b="0">
                <a:solidFill>
                  <a:srgbClr val="060606"/>
                </a:solidFill>
                <a:latin typeface="Helvetica"/>
              </a:rPr>
              <a:t> Le cahier des charges fixe les prestations de l'EFC et du PEP. Le fichier du personnel doit distinguer civils et policiers.</a:t>
            </a:r>
          </a:p>
          <a:p>
            <a:pPr algn="just">
              <a:spcAft>
                <a:spcPts val="600"/>
              </a:spcAft>
            </a:pPr>
            <a:r>
              <a:rPr sz="1300" b="0">
                <a:solidFill>
                  <a:srgbClr val="060606"/>
                </a:solidFill>
                <a:latin typeface="Helvetica"/>
              </a:rPr>
              <a:t>Ces dix nouvelles demandes forment la PBC complémentaire « textes et personnel » (items 100 à 109), jointe à la PBC générale.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229160148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Garanties et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postes de précompte portent l'ensemble des produits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sont les garanties de base. Épargne, prêts, flotte et MEDOC sont des produits complémentaires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12 : Produits du FPPN et montants observés</a:t>
            </a:r>
          </a:p>
        </p:txBody>
      </p:sp>
      <p:graphicFrame>
        <p:nvGraphicFramePr>
          <p:cNvPr id="32" name="Table 31"/>
          <p:cNvGraphicFramePr>
            <a:graphicFrameLocks noGrp="1"/>
          </p:cNvGraphicFramePr>
          <p:nvPr/>
        </p:nvGraphicFramePr>
        <p:xfrm>
          <a:off x="503999" y="1655999"/>
          <a:ext cx="7056000" cy="3536106"/>
        </p:xfrm>
        <a:graphic>
          <a:graphicData uri="http://schemas.openxmlformats.org/drawingml/2006/table">
            <a:tbl>
              <a:tblPr firstRow="0" bandRow="0">
                <a:tableStyleId>{5940675A-B579-460E-94D1-54222C63F5DA}</a:tableStyleId>
              </a:tblPr>
              <a:tblGrid>
                <a:gridCol w="752400"/>
                <a:gridCol w="1850400"/>
                <a:gridCol w="2671200"/>
                <a:gridCol w="1782000"/>
              </a:tblGrid>
              <a:tr h="225250">
                <a:tc>
                  <a:txBody>
                    <a:bodyPr/>
                    <a:lstStyle/>
                    <a:p>
                      <a:pPr marL="0" indent="0" lvl="0">
                        <a:buNone/>
                      </a:pPr>
                      <a:r>
                        <a:rPr sz="11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moyen observé</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Garantie santé des actifs, 3,5 % de la solde de base (statuts, art. 17), 3,77 % retenu par la 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7 195 FCFA par mois (août 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Capital décès, frais funéraires, allocations, 1,5 % (statuts), 1,23 % retenu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4</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versée en fin de carrière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8 132 FCFA par mois (2025)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volontaire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6</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Grenier du Policier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Remboursement de prêts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voir partie 7</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Assurance des véhicules, assureur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environ 10 000 FCFA</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Complément pharmacie, le policier paie 20 % (déclaration du 19/10/2026)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5 000 FCFA</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CGRAE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Garantie santé, précompte sur pension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11 940 FCFA</a:t>
                      </a:r>
                    </a:p>
                  </a:txBody>
                  <a:tcPr marL="43200" marR="43200" marT="14400" marB="14400" anchor="ctr">
                    <a:solidFill>
                      <a:srgbClr val="F2F2F2"/>
                    </a:solidFill>
                  </a:tcPr>
                </a:tc>
              </a:tr>
            </a:tbl>
          </a:graphicData>
        </a:graphic>
      </p:graphicFrame>
      <p:sp>
        <p:nvSpPr>
          <p:cNvPr id="33" name="TextBox 32"/>
          <p:cNvSpPr txBox="1"/>
          <p:nvPr/>
        </p:nvSpPr>
        <p:spPr>
          <a:xfrm>
            <a:off x="503999" y="5300110"/>
            <a:ext cx="7056000" cy="306000"/>
          </a:xfrm>
          <a:prstGeom prst="rect">
            <a:avLst/>
          </a:prstGeom>
          <a:noFill/>
        </p:spPr>
        <p:txBody>
          <a:bodyPr wrap="square" anchor="t" lIns="54000" rIns="54000"/>
          <a:lstStyle/>
          <a:p>
            <a:pPr algn="l"/>
            <a:r>
              <a:rPr sz="850" b="0">
                <a:solidFill>
                  <a:srgbClr val="53565A"/>
                </a:solidFill>
                <a:latin typeface="Helvetica"/>
              </a:rPr>
              <a:t>Valable pour : montants précomptés par poste dans les fichiers retour de la Solde et de la CGRAE, mois reçus entre 2023 et septembre 2026 selon le poste (diapositive « Couverture de la période »).</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 FPPN couvre à la fois des risques courts et des risques longs.</a:t>
            </a:r>
            <a:r>
              <a:rPr sz="1400" b="0">
                <a:solidFill>
                  <a:srgbClr val="060606"/>
                </a:solidFill>
                <a:latin typeface="Helvetica"/>
              </a:rPr>
              <a:t> La maladie se règle dans l'année. L'EFC et le PEP sont versés des années après les cotisations.</a:t>
            </a:r>
          </a:p>
          <a:p>
            <a:pPr algn="just">
              <a:spcAft>
                <a:spcPts val="600"/>
              </a:spcAft>
            </a:pPr>
            <a:r>
              <a:rPr sz="1400" b="1">
                <a:solidFill>
                  <a:srgbClr val="060606"/>
                </a:solidFill>
                <a:latin typeface="Helvetica"/>
              </a:rPr>
              <a:t>Plusieurs produits n'ont pas de document qui fixe leurs règles.</a:t>
            </a:r>
            <a:r>
              <a:rPr sz="1400" b="0">
                <a:solidFill>
                  <a:srgbClr val="060606"/>
                </a:solidFill>
                <a:latin typeface="Helvetica"/>
              </a:rPr>
              <a:t> Le barème, le règlement de l'EFC et du PEP, et la documentation de MEDOC n'ont pas été transmis.</a:t>
            </a:r>
          </a:p>
          <a:p>
            <a:pPr algn="just">
              <a:spcAft>
                <a:spcPts val="600"/>
              </a:spcAft>
            </a:pPr>
            <a:r>
              <a:rPr sz="1400" b="0">
                <a:solidFill>
                  <a:srgbClr val="060606"/>
                </a:solidFill>
                <a:latin typeface="Helvetica"/>
              </a:rPr>
              <a:t>Les risques longs (EFC, PEP) relèvent de règles prudentielles plus strictes : étude actuarielle tous les cinq ans, certification des comptes, réserve de trésorerie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278252160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et le décès suivent un circuit direct que le FPPN ne maîtrise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produits complémentaires, les retraités et la flotte passent par une plateforme de partage, la maladie et le décès non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aller et retour reçus le 15/10/2026</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du personnel de la Police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Solde, CGRAE, GNA</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Plateforme de partage</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responsable des cotisations</a:t>
            </a:r>
          </a:p>
        </p:txBody>
      </p:sp>
      <p:sp>
        <p:nvSpPr>
          <p:cNvPr id="39" name="Logigramme a1"/>
          <p:cNvSpPr/>
          <p:nvPr/>
        </p:nvSpPr>
        <p:spPr>
          <a:xfrm>
            <a:off x="2015999" y="1520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a:t>
            </a:r>
          </a:p>
          <a:p>
            <a:pPr algn="ctr"/>
            <a:r>
              <a:rPr sz="850" b="0">
                <a:solidFill>
                  <a:srgbClr val="060606"/>
                </a:solidFill>
                <a:latin typeface="Helvetica"/>
              </a:rPr>
              <a:t>936 et 8Z6</a:t>
            </a:r>
          </a:p>
        </p:txBody>
      </p:sp>
      <p:sp>
        <p:nvSpPr>
          <p:cNvPr id="40" name="Logigramme a2"/>
          <p:cNvSpPr/>
          <p:nvPr/>
        </p:nvSpPr>
        <p:spPr>
          <a:xfrm>
            <a:off x="2015999"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(Solde)</a:t>
            </a:r>
          </a:p>
        </p:txBody>
      </p:sp>
      <p:sp>
        <p:nvSpPr>
          <p:cNvPr id="41" name="Logigramme a3"/>
          <p:cNvSpPr/>
          <p:nvPr/>
        </p:nvSpPr>
        <p:spPr>
          <a:xfrm>
            <a:off x="3401999"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 reçu</a:t>
            </a:r>
          </a:p>
          <a:p>
            <a:pPr algn="ctr"/>
            <a:r>
              <a:rPr sz="850" b="0">
                <a:solidFill>
                  <a:srgbClr val="060606"/>
                </a:solidFill>
                <a:latin typeface="Helvetica"/>
              </a:rPr>
              <a:t>en direct, canal à préciser</a:t>
            </a:r>
          </a:p>
        </p:txBody>
      </p:sp>
      <p:sp>
        <p:nvSpPr>
          <p:cNvPr id="42" name="Logigramme a4"/>
          <p:cNvSpPr/>
          <p:nvPr/>
        </p:nvSpPr>
        <p:spPr>
          <a:xfrm>
            <a:off x="4788000" y="4023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au FPPN ?</a:t>
            </a:r>
          </a:p>
        </p:txBody>
      </p:sp>
      <p:sp>
        <p:nvSpPr>
          <p:cNvPr id="43" name="Logigramme a5"/>
          <p:cNvSpPr/>
          <p:nvPr/>
        </p:nvSpPr>
        <p:spPr>
          <a:xfrm>
            <a:off x="6173999" y="40518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Rapprochement</a:t>
            </a:r>
          </a:p>
          <a:p>
            <a:pPr algn="ctr"/>
            <a:r>
              <a:rPr sz="850" b="1">
                <a:solidFill>
                  <a:srgbClr val="C00000"/>
                </a:solidFill>
                <a:latin typeface="Helvetica"/>
              </a:rPr>
              <a:t>impossible</a:t>
            </a:r>
          </a:p>
        </p:txBody>
      </p:sp>
      <p:cxnSp>
        <p:nvCxnSpPr>
          <p:cNvPr id="44" name="Flèche a1 vers a2"/>
          <p:cNvCxnSpPr>
            <a:stCxn id="39" idx="2"/>
            <a:endCxn id="40" idx="0"/>
          </p:cNvCxnSpPr>
          <p:nvPr/>
        </p:nvCxnSpPr>
        <p:spPr>
          <a:xfrm flipH="1">
            <a:off x="2627999" y="2132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681999" y="2150999"/>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transmission directe</a:t>
            </a:r>
          </a:p>
        </p:txBody>
      </p:sp>
      <p:cxnSp>
        <p:nvCxnSpPr>
          <p:cNvPr id="46" name="Flèche a2 vers a3"/>
          <p:cNvCxnSpPr>
            <a:stCxn id="40" idx="3"/>
            <a:endCxn id="41" idx="0"/>
          </p:cNvCxnSpPr>
          <p:nvPr/>
        </p:nvCxnSpPr>
        <p:spPr>
          <a:xfrm>
            <a:off x="3239999" y="2673000"/>
            <a:ext cx="774000" cy="138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283198"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sans partage</a:t>
            </a:r>
          </a:p>
        </p:txBody>
      </p:sp>
      <p:cxnSp>
        <p:nvCxnSpPr>
          <p:cNvPr id="48" name="Flèche a3 vers a4"/>
          <p:cNvCxnSpPr>
            <a:stCxn id="41" idx="3"/>
            <a:endCxn id="42" idx="1"/>
          </p:cNvCxnSpPr>
          <p:nvPr/>
        </p:nvCxnSpPr>
        <p:spPr>
          <a:xfrm flipV="1">
            <a:off x="4625999" y="4365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a4 vers a5"/>
          <p:cNvCxnSpPr>
            <a:stCxn id="42" idx="3"/>
            <a:endCxn id="43" idx="1"/>
          </p:cNvCxnSpPr>
          <p:nvPr/>
        </p:nvCxnSpPr>
        <p:spPr>
          <a:xfrm flipV="1">
            <a:off x="6012000" y="4357800"/>
            <a:ext cx="161999" cy="7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57922" y="4185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sp>
        <p:nvSpPr>
          <p:cNvPr id="51" name="Logigramme b1"/>
          <p:cNvSpPr/>
          <p:nvPr/>
        </p:nvSpPr>
        <p:spPr>
          <a:xfrm>
            <a:off x="7560000" y="4059000"/>
            <a:ext cx="1224000" cy="61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Souscriptions</a:t>
            </a:r>
          </a:p>
          <a:p>
            <a:pPr algn="ctr"/>
            <a:r>
              <a:rPr sz="850" b="1">
                <a:solidFill>
                  <a:srgbClr val="FFFFFF"/>
                </a:solidFill>
                <a:latin typeface="Helvetica"/>
              </a:rPr>
              <a:t>EFC, PEP, prêts, GNA, MEDOC</a:t>
            </a:r>
          </a:p>
        </p:txBody>
      </p:sp>
      <p:sp>
        <p:nvSpPr>
          <p:cNvPr id="52" name="Logigramme b2"/>
          <p:cNvSpPr/>
          <p:nvPr/>
        </p:nvSpPr>
        <p:spPr>
          <a:xfrm>
            <a:off x="8946000"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 mensuel</a:t>
            </a:r>
          </a:p>
          <a:p>
            <a:pPr algn="ctr"/>
            <a:r>
              <a:rPr sz="850" b="0">
                <a:solidFill>
                  <a:srgbClr val="060606"/>
                </a:solidFill>
                <a:latin typeface="Helvetica"/>
              </a:rPr>
              <a:t>mécano, code, montant</a:t>
            </a:r>
          </a:p>
        </p:txBody>
      </p:sp>
      <p:sp>
        <p:nvSpPr>
          <p:cNvPr id="53" name="Logigramme b3"/>
          <p:cNvSpPr/>
          <p:nvPr/>
        </p:nvSpPr>
        <p:spPr>
          <a:xfrm>
            <a:off x="8946000" y="3212999"/>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Dépôt du</a:t>
            </a:r>
          </a:p>
          <a:p>
            <a:pPr algn="ctr"/>
            <a:r>
              <a:rPr sz="850" b="0">
                <a:solidFill>
                  <a:srgbClr val="060606"/>
                </a:solidFill>
                <a:latin typeface="Helvetica"/>
              </a:rPr>
              <a:t>fichier aller</a:t>
            </a:r>
          </a:p>
        </p:txBody>
      </p:sp>
      <p:sp>
        <p:nvSpPr>
          <p:cNvPr id="54" name="Logigramme b4"/>
          <p:cNvSpPr/>
          <p:nvPr/>
        </p:nvSpPr>
        <p:spPr>
          <a:xfrm>
            <a:off x="8946000"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ou pension</a:t>
            </a:r>
          </a:p>
        </p:txBody>
      </p:sp>
      <p:sp>
        <p:nvSpPr>
          <p:cNvPr id="55" name="Logigramme b5"/>
          <p:cNvSpPr/>
          <p:nvPr/>
        </p:nvSpPr>
        <p:spPr>
          <a:xfrm>
            <a:off x="10332000" y="3212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a:t>
            </a:r>
          </a:p>
          <a:p>
            <a:pPr algn="ctr"/>
            <a:r>
              <a:rPr sz="850" b="0">
                <a:solidFill>
                  <a:srgbClr val="060606"/>
                </a:solidFill>
                <a:latin typeface="Helvetica"/>
              </a:rPr>
              <a:t>et état des rejets récent</a:t>
            </a:r>
          </a:p>
        </p:txBody>
      </p:sp>
      <p:sp>
        <p:nvSpPr>
          <p:cNvPr id="56" name="Logigramme b6"/>
          <p:cNvSpPr/>
          <p:nvPr/>
        </p:nvSpPr>
        <p:spPr>
          <a:xfrm>
            <a:off x="10332000" y="40590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Retour conservé,</a:t>
            </a:r>
          </a:p>
          <a:p>
            <a:pPr algn="ctr"/>
            <a:r>
              <a:rPr sz="850" b="1">
                <a:solidFill>
                  <a:srgbClr val="C00000"/>
                </a:solidFill>
                <a:latin typeface="Helvetica"/>
              </a:rPr>
              <a:t>sans rapprochement</a:t>
            </a:r>
          </a:p>
        </p:txBody>
      </p:sp>
      <p:cxnSp>
        <p:nvCxnSpPr>
          <p:cNvPr id="57" name="Flèche b1 vers b2"/>
          <p:cNvCxnSpPr>
            <a:stCxn id="51" idx="3"/>
            <a:endCxn id="52" idx="1"/>
          </p:cNvCxnSpPr>
          <p:nvPr/>
        </p:nvCxnSpPr>
        <p:spPr>
          <a:xfrm flipV="1">
            <a:off x="8784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b2 vers b3"/>
          <p:cNvCxnSpPr>
            <a:stCxn id="52" idx="0"/>
            <a:endCxn id="53" idx="2"/>
          </p:cNvCxnSpPr>
          <p:nvPr/>
        </p:nvCxnSpPr>
        <p:spPr>
          <a:xfrm flipH="1" flipV="1">
            <a:off x="9558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b3 vers b4"/>
          <p:cNvCxnSpPr>
            <a:stCxn id="53" idx="0"/>
            <a:endCxn id="54" idx="2"/>
          </p:cNvCxnSpPr>
          <p:nvPr/>
        </p:nvCxnSpPr>
        <p:spPr>
          <a:xfrm flipH="1" flipV="1">
            <a:off x="9558000" y="2979000"/>
            <a:ext cx="0" cy="233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b4 vers b5"/>
          <p:cNvCxnSpPr>
            <a:stCxn id="54" idx="3"/>
            <a:endCxn id="55" idx="0"/>
          </p:cNvCxnSpPr>
          <p:nvPr/>
        </p:nvCxnSpPr>
        <p:spPr>
          <a:xfrm>
            <a:off x="10170000" y="2673000"/>
            <a:ext cx="774000" cy="539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b5 vers b6"/>
          <p:cNvCxnSpPr>
            <a:stCxn id="55" idx="2"/>
            <a:endCxn id="56" idx="0"/>
          </p:cNvCxnSpPr>
          <p:nvPr/>
        </p:nvCxnSpPr>
        <p:spPr>
          <a:xfrm flipH="1">
            <a:off x="10944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015999" y="1367616"/>
            <a:ext cx="2736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obligatoires</a:t>
            </a:r>
          </a:p>
        </p:txBody>
      </p:sp>
      <p:sp>
        <p:nvSpPr>
          <p:cNvPr id="63" name="TextBox 62"/>
          <p:cNvSpPr txBox="1"/>
          <p:nvPr/>
        </p:nvSpPr>
        <p:spPr>
          <a:xfrm>
            <a:off x="7560000" y="1396800"/>
            <a:ext cx="4104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complémentaires, retraités et flotte automobile</a:t>
            </a:r>
          </a:p>
        </p:txBody>
      </p:sp>
      <p:sp>
        <p:nvSpPr>
          <p:cNvPr id="64" name="TextBox 63"/>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Deux circuits coexistent.</a:t>
            </a:r>
            <a:r>
              <a:rPr sz="1050" b="0">
                <a:solidFill>
                  <a:srgbClr val="060606"/>
                </a:solidFill>
                <a:latin typeface="Helvetica"/>
              </a:rPr>
              <a:t> Pour la maladie et le décès, la direction du personnel de la Police transmet directement le fichier aller à la Solde, sans plateforme de partage, et le FPPN ne reçoit que le retour. Pour les autres produits, le responsable des cotisations dépose le fichier aller sur la plateforme et l'entité concernée dépose le retour (déclaration du responsable des cotisations, entretien du 19/10/2026, à confirmer par document).</a:t>
            </a:r>
          </a:p>
          <a:p>
            <a:pPr algn="just">
              <a:spcAft>
                <a:spcPts val="600"/>
              </a:spcAft>
            </a:pPr>
            <a:r>
              <a:rPr sz="1050" b="0">
                <a:solidFill>
                  <a:srgbClr val="060606"/>
                </a:solidFill>
                <a:latin typeface="Helvetica"/>
              </a:rPr>
              <a:t>Pour la maladie et le décès, le FPPN ne dispose pas de ce qui aurait dû être précompté : le taux de recouvrement exigé par la Décision n° 05/2022 (au moins 90 %) ne peut pas être calculé sans les fichiers de la direction du personnel. Pour les autres produits, le FPPN détient les deux fichiers mais ne les rapproche pas.</a:t>
            </a:r>
          </a:p>
        </p:txBody>
      </p:sp>
      <p:sp>
        <p:nvSpPr>
          <p:cNvPr id="65" name="TextBox 6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a:t>
            </a:r>
          </a:p>
        </p:txBody>
      </p:sp>
    </p:spTree>
    <p:extLst>
      <p:ext uri="{BB962C8B-B14F-4D97-AF65-F5344CB8AC3E}">
        <p14:creationId xmlns:p14="http://schemas.microsoft.com/office/powerpoint/2010/main" val="325177735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fichiers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 produit pas les fichiers aller de la maladie et du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circuits, dont trois passent par la plateforme de partage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13 : Circuit des fichiers de précomptes par produit</a:t>
            </a:r>
          </a:p>
        </p:txBody>
      </p:sp>
      <p:graphicFrame>
        <p:nvGraphicFramePr>
          <p:cNvPr id="32" name="Table 31"/>
          <p:cNvGraphicFramePr>
            <a:graphicFrameLocks noGrp="1"/>
          </p:cNvGraphicFramePr>
          <p:nvPr/>
        </p:nvGraphicFramePr>
        <p:xfrm>
          <a:off x="503999" y="1655999"/>
          <a:ext cx="11232000" cy="1964505"/>
        </p:xfrm>
        <a:graphic>
          <a:graphicData uri="http://schemas.openxmlformats.org/drawingml/2006/table">
            <a:tbl>
              <a:tblPr firstRow="0" bandRow="0">
                <a:tableStyleId>{5940675A-B579-460E-94D1-54222C63F5DA}</a:tableStyleId>
              </a:tblPr>
              <a:tblGrid>
                <a:gridCol w="2520000"/>
                <a:gridCol w="3096000"/>
                <a:gridCol w="1224000"/>
                <a:gridCol w="2880000"/>
                <a:gridCol w="1512000"/>
              </a:tblGrid>
              <a:tr h="392901">
                <a:tc>
                  <a:txBody>
                    <a:bodyPr/>
                    <a:lstStyle/>
                    <a:p>
                      <a:pPr marL="0" indent="0" lvl="0">
                        <a:buNone/>
                      </a:pPr>
                      <a:r>
                        <a:rPr sz="1100" b="1">
                          <a:solidFill>
                            <a:srgbClr val="FFFFFF"/>
                          </a:solidFill>
                          <a:latin typeface="Helvetica"/>
                        </a:rPr>
                        <a:t>Produits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Destinataire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retour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Plateforme de partage</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Transmis directement par la direction du personnel de la Police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Reçu directement par le FPPN, canal à préciser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EFC (870), PEP (998), Grenier (9X4), 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Retraités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Déposé par la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bl>
          </a:graphicData>
        </a:graphic>
      </p:graphicFrame>
      <p:sp>
        <p:nvSpPr>
          <p:cNvPr id="33" name="TextBox 32"/>
          <p:cNvSpPr txBox="1"/>
          <p:nvPr/>
        </p:nvSpPr>
        <p:spPr>
          <a:xfrm>
            <a:off x="503999" y="3728505"/>
            <a:ext cx="11232000" cy="162000"/>
          </a:xfrm>
          <a:prstGeom prst="rect">
            <a:avLst/>
          </a:prstGeom>
          <a:noFill/>
        </p:spPr>
        <p:txBody>
          <a:bodyPr wrap="square" anchor="t" lIns="54000" rIns="54000"/>
          <a:lstStyle/>
          <a:p>
            <a:pPr algn="l"/>
            <a:r>
              <a:rPr sz="850" b="0">
                <a:solidFill>
                  <a:srgbClr val="53565A"/>
                </a:solidFill>
                <a:latin typeface="Helvetica"/>
              </a:rPr>
              <a:t>Valable pour : circuit déclaré par le responsable des cotisations le 19/10/2026. Non confirmé par une procédure écrite.</a:t>
            </a:r>
          </a:p>
        </p:txBody>
      </p:sp>
      <p:sp>
        <p:nvSpPr>
          <p:cNvPr id="34" name="TextBox 33"/>
          <p:cNvSpPr txBox="1"/>
          <p:nvPr/>
        </p:nvSpPr>
        <p:spPr>
          <a:xfrm>
            <a:off x="503999" y="4034505"/>
            <a:ext cx="11232000" cy="1833494"/>
          </a:xfrm>
          <a:prstGeom prst="rect">
            <a:avLst/>
          </a:prstGeom>
          <a:noFill/>
        </p:spPr>
        <p:txBody>
          <a:bodyPr wrap="square" lIns="54000" rIns="54000"/>
          <a:lstStyle/>
          <a:p>
            <a:pPr algn="just">
              <a:spcAft>
                <a:spcPts val="600"/>
              </a:spcAft>
            </a:pPr>
            <a:r>
              <a:rPr sz="1300" b="1">
                <a:solidFill>
                  <a:srgbClr val="060606"/>
                </a:solidFill>
                <a:latin typeface="Helvetica"/>
              </a:rPr>
              <a:t>Ce circuit explique l'absence totale des fichiers aller maladie et décès dans l'envoi du 15/10/2026.</a:t>
            </a:r>
            <a:r>
              <a:rPr sz="1300" b="0">
                <a:solidFill>
                  <a:srgbClr val="060606"/>
                </a:solidFill>
                <a:latin typeface="Helvetica"/>
              </a:rPr>
              <a:t> Le FPPN ne les produit pas (déclaration du responsable des cotisations, entretien du 19/10/2026, à confirmer par document).</a:t>
            </a:r>
          </a:p>
          <a:p>
            <a:pPr algn="just">
              <a:spcAft>
                <a:spcPts val="600"/>
              </a:spcAft>
            </a:pPr>
            <a:r>
              <a:rPr sz="1300" b="0">
                <a:solidFill>
                  <a:srgbClr val="060606"/>
                </a:solidFill>
                <a:latin typeface="Helvetica"/>
              </a:rPr>
              <a:t>Les fichiers aller maladie et décès sont à demander à la direction du personnel de la Police ou à la Solde (PBC, item 61). Le canal de réception des retours doit être précisé (PBC, item 62).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110544286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Flux financiers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de l'année couvrent les prestations, les frais et dégagent un excédent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Produits 3 671 499 865 FCFA, charges 3 250 431 812 FCFA, résultat 437 899 911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5 : Produits, charges et résultat 2025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cotisations sont la ressource principale du FPPN.</a:t>
            </a:r>
            <a:r>
              <a:rPr sz="1400" b="0">
                <a:solidFill>
                  <a:srgbClr val="060606"/>
                </a:solidFill>
                <a:latin typeface="Helvetica"/>
              </a:rPr>
              <a:t> Elles atteignent 2 409 281 030 FCFA en maladie et 1 008 270 692 FCFA en décès.</a:t>
            </a:r>
          </a:p>
          <a:p>
            <a:pPr algn="just">
              <a:spcAft>
                <a:spcPts val="600"/>
              </a:spcAft>
            </a:pPr>
            <a:r>
              <a:rPr sz="1400" b="1">
                <a:solidFill>
                  <a:srgbClr val="060606"/>
                </a:solidFill>
                <a:latin typeface="Helvetica"/>
              </a:rPr>
              <a:t>Les prestations maladie absorbent la plus grande part des ressources.</a:t>
            </a:r>
            <a:r>
              <a:rPr sz="1400" b="0">
                <a:solidFill>
                  <a:srgbClr val="060606"/>
                </a:solidFill>
                <a:latin typeface="Helvetica"/>
              </a:rPr>
              <a:t> Elles valent 1 771 635 361 FCFA, contre 193 136 666 FCFA en décès.</a:t>
            </a:r>
          </a:p>
          <a:p>
            <a:pPr algn="just">
              <a:spcAft>
                <a:spcPts val="600"/>
              </a:spcAft>
            </a:pPr>
            <a:r>
              <a:rPr sz="1400" b="1">
                <a:solidFill>
                  <a:srgbClr val="060606"/>
                </a:solidFill>
                <a:latin typeface="Helvetica"/>
              </a:rPr>
              <a:t>Les frais de gestion pèsent 32,23 % des cotisations.</a:t>
            </a:r>
            <a:r>
              <a:rPr sz="1400" b="0">
                <a:solidFill>
                  <a:srgbClr val="060606"/>
                </a:solidFill>
                <a:latin typeface="Helvetica"/>
              </a:rPr>
              <a:t> Ils couvrent le personnel, les indemnités des organes, le fonctionnement et les amortissements.</a:t>
            </a:r>
          </a:p>
          <a:p>
            <a:pPr algn="just">
              <a:spcAft>
                <a:spcPts val="600"/>
              </a:spcAft>
            </a:pPr>
            <a:r>
              <a:rPr sz="1400" b="0">
                <a:solidFill>
                  <a:srgbClr val="060606"/>
                </a:solidFill>
                <a:latin typeface="Helvetica"/>
              </a:rPr>
              <a:t>La garantie décès dégage un excédent qui compense en partie la garantie maladie : le résultat global masque un déséquilibre de la maladie, analysé par risque dans la partie 10.</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exercice 2025, classes 6 et 7 de « BALANCE FPPN 2025.xlsx ». Flux d'épargne et du Grenier exclus du résultat.</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80502392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Notions de base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notions suffisent pour lire l'ensemble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notion est définie ici une fois, puis utilisée avec le même sens dans tout le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14 : Notions utilisées dans le rapport</a:t>
            </a:r>
          </a:p>
        </p:txBody>
      </p:sp>
      <p:graphicFrame>
        <p:nvGraphicFramePr>
          <p:cNvPr id="32" name="Table 31"/>
          <p:cNvGraphicFramePr>
            <a:graphicFrameLocks noGrp="1"/>
          </p:cNvGraphicFramePr>
          <p:nvPr/>
        </p:nvGraphicFramePr>
        <p:xfrm>
          <a:off x="503999" y="1655999"/>
          <a:ext cx="11231999" cy="2194901"/>
        </p:xfrm>
        <a:graphic>
          <a:graphicData uri="http://schemas.openxmlformats.org/drawingml/2006/table">
            <a:tbl>
              <a:tblPr firstRow="0" bandRow="0">
                <a:tableStyleId>{5940675A-B579-460E-94D1-54222C63F5DA}</a:tableStyleId>
              </a:tblPr>
              <a:tblGrid>
                <a:gridCol w="1728000"/>
                <a:gridCol w="5832000"/>
                <a:gridCol w="3671999"/>
              </a:tblGrid>
              <a:tr h="225250">
                <a:tc>
                  <a:txBody>
                    <a:bodyPr/>
                    <a:lstStyle/>
                    <a:p>
                      <a:pPr marL="0" indent="0" lvl="0">
                        <a:buNone/>
                      </a:pPr>
                      <a:r>
                        <a:rPr sz="1100" b="1">
                          <a:solidFill>
                            <a:srgbClr val="FFFFFF"/>
                          </a:solidFill>
                          <a:latin typeface="Helvetica"/>
                        </a:rPr>
                        <a:t>Notion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Définition simple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Exemple dans le rapport</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Somme que le mutualiste verse pour être couvert.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 du salaire de base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que le FPPN paie quand le risque survient (soins,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Factures des cliniques, capital décès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Sinistralité (S/C)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 des cotisations consommée par les prestations.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S/C maladie 2025</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Provision technique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mise de côté au bilan pour payer des prestations déjà nées mais pas encore payées.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Provision pour prestations à payer</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que le FPPN devra payer plus tard à ses mutualistes.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PEP et EFC à restituer</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Adossement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Correspondance entre les dettes et les actifs disponibles pour les payer.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et placements réservés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qui reste quand on retire toutes les dettes de tous les actifs.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Négatifs de 2020 à 2026</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Ratio prudentiel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chiffré qu'une norme impose de respecter pour protéger les adhérents.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Réserve obligatoire de 6 à 9 mois</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62000"/>
          </a:xfrm>
          <a:prstGeom prst="rect">
            <a:avLst/>
          </a:prstGeom>
          <a:noFill/>
        </p:spPr>
        <p:txBody>
          <a:bodyPr wrap="square" anchor="t" lIns="54000" rIns="54000"/>
          <a:lstStyle/>
          <a:p>
            <a:pPr algn="l"/>
            <a:r>
              <a:rPr sz="850" b="0">
                <a:solidFill>
                  <a:srgbClr val="53565A"/>
                </a:solidFill>
                <a:latin typeface="Helvetica"/>
              </a:rPr>
              <a:t>Valable pour : définitions de la Décision n° 05/2022 (annexe) et du règlement d'exécution n° 004/2022. Sans chiffre propre au FPPN.</a:t>
            </a:r>
          </a:p>
        </p:txBody>
      </p:sp>
      <p:sp>
        <p:nvSpPr>
          <p:cNvPr id="34" name="TextBox 33"/>
          <p:cNvSpPr txBox="1"/>
          <p:nvPr/>
        </p:nvSpPr>
        <p:spPr>
          <a:xfrm>
            <a:off x="503999" y="4264905"/>
            <a:ext cx="11232000" cy="1603094"/>
          </a:xfrm>
          <a:prstGeom prst="rect">
            <a:avLst/>
          </a:prstGeom>
          <a:noFill/>
        </p:spPr>
        <p:txBody>
          <a:bodyPr wrap="square" lIns="54000" rIns="54000"/>
          <a:lstStyle/>
          <a:p>
            <a:pPr algn="just">
              <a:spcAft>
                <a:spcPts val="600"/>
              </a:spcAft>
            </a:pPr>
            <a:r>
              <a:rPr sz="1300" b="1">
                <a:solidFill>
                  <a:srgbClr val="060606"/>
                </a:solidFill>
                <a:latin typeface="Helvetica"/>
              </a:rPr>
              <a:t>Ces huit notions portent toute l'analyse.</a:t>
            </a:r>
            <a:r>
              <a:rPr sz="1300" b="0">
                <a:solidFill>
                  <a:srgbClr val="060606"/>
                </a:solidFill>
                <a:latin typeface="Helvetica"/>
              </a:rPr>
              <a:t> Les quatre premières décrivent l'activité de l'année. Les quatre dernières décrivent la capacité du FPPN à tenir ses promesses dans la durée.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S/C : prestations / cotisations</a:t>
            </a:r>
          </a:p>
        </p:txBody>
      </p:sp>
    </p:spTree>
    <p:extLst>
      <p:ext uri="{BB962C8B-B14F-4D97-AF65-F5344CB8AC3E}">
        <p14:creationId xmlns:p14="http://schemas.microsoft.com/office/powerpoint/2010/main" val="227881527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Contexte et démarche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Mission, périmètre, traitement des données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39717191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Mission et périmètre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volet actuariel répond à quatre questions sur les engagements et les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Période d'analyse du 1er janvier 2020 au 31 août 2026. Données arrêtées à l'envoi du FPPN reçu le 15/10/2026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et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15 : Périmètre de la mission actuarielle et statistique</a:t>
            </a:r>
          </a:p>
        </p:txBody>
      </p:sp>
      <p:graphicFrame>
        <p:nvGraphicFramePr>
          <p:cNvPr id="32" name="Table 31"/>
          <p:cNvGraphicFramePr>
            <a:graphicFrameLocks noGrp="1"/>
          </p:cNvGraphicFramePr>
          <p:nvPr/>
        </p:nvGraphicFramePr>
        <p:xfrm>
          <a:off x="503999" y="1655999"/>
          <a:ext cx="11232000" cy="2137302"/>
        </p:xfrm>
        <a:graphic>
          <a:graphicData uri="http://schemas.openxmlformats.org/drawingml/2006/table">
            <a:tbl>
              <a:tblPr firstRow="0" bandRow="0">
                <a:tableStyleId>{5940675A-B579-460E-94D1-54222C63F5DA}</a:tableStyleId>
              </a:tblPr>
              <a:tblGrid>
                <a:gridCol w="2232000"/>
                <a:gridCol w="5400000"/>
                <a:gridCol w="3600000"/>
              </a:tblGrid>
              <a:tr h="225250">
                <a:tc>
                  <a:txBody>
                    <a:bodyPr/>
                    <a:lstStyle/>
                    <a:p>
                      <a:pPr marL="0" indent="0" lvl="0">
                        <a:buNone/>
                      </a:pPr>
                      <a:r>
                        <a:rPr sz="1100" b="1">
                          <a:solidFill>
                            <a:srgbClr val="FFFFFF"/>
                          </a:solidFill>
                          <a:latin typeface="Helvetica"/>
                        </a:rPr>
                        <a:t>Axe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Question traitée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État au 19/10/2026</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 Engagements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Combien le FPPN doit-il à ses adhérents et ayants droit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Partiel : épargne mesurée, autres engagements en attente (partie 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provisions au bilan suffisent-elles à payer les prestations dues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Non démontrable : provisions héritées, recalcul en attente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actifs arrivent-ils en caisse au bon moment pour payer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Non-adossement démontré (borne favorable)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placements sont-ils sûrs, liquides et rentables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Liquidité et diversification insuffisantes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Contrôle des données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données sont-elles complètes et cohérentes avec la comptabilité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données reçues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Conformité prudentielle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ratios de la Décision n° 05/2022 sont-ils respectés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 36 indicateurs examinés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Équilibre technique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cotisations futures couvrent-elles les prestations futures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 attente des âges et des dossiers</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162000"/>
          </a:xfrm>
          <a:prstGeom prst="rect">
            <a:avLst/>
          </a:prstGeom>
          <a:noFill/>
        </p:spPr>
        <p:txBody>
          <a:bodyPr wrap="square" anchor="t" lIns="54000" rIns="54000"/>
          <a:lstStyle/>
          <a:p>
            <a:pPr algn="l"/>
            <a:r>
              <a:rPr sz="850" b="0">
                <a:solidFill>
                  <a:srgbClr val="53565A"/>
                </a:solidFill>
                <a:latin typeface="Helvetica"/>
              </a:rPr>
              <a:t>Valable pour : périmètre fixé par le dossier de préparation du 13/10/2026 et la demande de M. Wabi. Période du 01/01/2020 au 31/08/2026.</a:t>
            </a:r>
          </a:p>
        </p:txBody>
      </p:sp>
      <p:sp>
        <p:nvSpPr>
          <p:cNvPr id="34" name="TextBox 33"/>
          <p:cNvSpPr txBox="1"/>
          <p:nvPr/>
        </p:nvSpPr>
        <p:spPr>
          <a:xfrm>
            <a:off x="503999" y="4207305"/>
            <a:ext cx="11232000" cy="1660694"/>
          </a:xfrm>
          <a:prstGeom prst="rect">
            <a:avLst/>
          </a:prstGeom>
          <a:noFill/>
        </p:spPr>
        <p:txBody>
          <a:bodyPr wrap="square" lIns="54000" rIns="54000"/>
          <a:lstStyle/>
          <a:p>
            <a:pPr algn="just">
              <a:spcAft>
                <a:spcPts val="600"/>
              </a:spcAft>
            </a:pPr>
            <a:r>
              <a:rPr sz="1300" b="1">
                <a:solidFill>
                  <a:srgbClr val="060606"/>
                </a:solidFill>
                <a:latin typeface="Helvetica"/>
              </a:rPr>
              <a:t>Deux des quatre questions reçoivent une réponse établie : le FPPN n'est pas adossé, et ses placements ne sont ni assez liquides ni assez diversifiés.</a:t>
            </a:r>
            <a:r>
              <a:rPr sz="1300" b="0">
                <a:solidFill>
                  <a:srgbClr val="060606"/>
                </a:solidFill>
                <a:latin typeface="Helvetica"/>
              </a:rPr>
              <a:t> Les engagements et la suffisance des provisions attendent les données individuelles (réponse détaillée en résumé exécutif et en partie 9).</a:t>
            </a:r>
          </a:p>
          <a:p>
            <a:pPr algn="just">
              <a:spcAft>
                <a:spcPts val="600"/>
              </a:spcAft>
            </a:pPr>
            <a:r>
              <a:rPr sz="1300" b="0">
                <a:solidFill>
                  <a:srgbClr val="060606"/>
                </a:solidFill>
                <a:latin typeface="Helvetica"/>
              </a:rPr>
              <a:t>Le calcul des engagements (question 1) conditionne la réponse définitive aux questions 2 et 3 : il reste la priorité dès réception des fichiers (PBC, items 57, 71, 72 et 92).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257812413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Périmètre et validité des analyses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résultat ne vaut que pour les données, la population et la période qui le fondent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niveaux de lecture : cette diapositive, une ligne « Valable pour » sous chaque tableau et graphique, et un tableau détaillé en annexe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à partir des fichiers cités dans chaque partie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16 : Périmètre, domaine et période de validité des analyses</a:t>
            </a:r>
          </a:p>
        </p:txBody>
      </p:sp>
      <p:graphicFrame>
        <p:nvGraphicFramePr>
          <p:cNvPr id="32" name="Table 31"/>
          <p:cNvGraphicFramePr>
            <a:graphicFrameLocks noGrp="1"/>
          </p:cNvGraphicFramePr>
          <p:nvPr/>
        </p:nvGraphicFramePr>
        <p:xfrm>
          <a:off x="503999" y="1655999"/>
          <a:ext cx="11231998" cy="2072976"/>
        </p:xfrm>
        <a:graphic>
          <a:graphicData uri="http://schemas.openxmlformats.org/drawingml/2006/table">
            <a:tbl>
              <a:tblPr firstRow="0" bandRow="0">
                <a:tableStyleId>{5940675A-B579-460E-94D1-54222C63F5DA}</a:tableStyleId>
              </a:tblPr>
              <a:tblGrid>
                <a:gridCol w="2160000"/>
                <a:gridCol w="3744000"/>
                <a:gridCol w="2015999"/>
                <a:gridCol w="3311999"/>
              </a:tblGrid>
              <a:tr h="187148">
                <a:tc>
                  <a:txBody>
                    <a:bodyPr/>
                    <a:lstStyle/>
                    <a:p>
                      <a:pPr marL="0" indent="0" lvl="0">
                        <a:buNone/>
                      </a:pPr>
                      <a:r>
                        <a:rPr sz="850" b="1">
                          <a:solidFill>
                            <a:srgbClr val="FFFFFF"/>
                          </a:solidFill>
                          <a:latin typeface="Helvetica"/>
                        </a:rPr>
                        <a:t>Analyses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Données utilisées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Ne pas généraliser à</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Effectifs, taux de cotisation (parties 3 et 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Fichiers de précomptes de la Solde et de la CGRAE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01/2024 à 09/2026 selon le poste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2020 à 2023, civils de la Direction Générale</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Taux de 3,77 % (maladie)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Salaire de base du fichier 936, 209 670 lignes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 mois : 04 à 10/2024 et 01/2025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Mois sans salaire de base dans les fichiers</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Taux de 1,23 % (décès)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8Z6 rapporté au salaire de base, puis rapport 8Z6 / 936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Mesure directe 04/2024 et 01/2025, rapport de 03/2024 à 09/2026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Janvier et février 2024 (autre clé)</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Sinistralité, résultat, bilan, ratios (parties 5, 9, 10)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Balances 2020 au 31/08/2026, états financiers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2020 à 2025, 2026 provisoire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Sinistres tardifs, valeurs de marché</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Épargne (partie 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Soldes et mouvements comptables, grand livre 2024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2020 au 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Engagement individuel (aucun échéancier)</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Mortalité brute (partie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Étude des ratios du FPPN : décès et adhérents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2015 à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Mortalité par âge (dates de naissance absentes)</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Provision du personnel (partie 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DISA 2021, 2022, 2023 et 2025 (CNPS)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31/12 des années citées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2024 (DISA scannée), policiers détachés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Contrôles croisés (partie 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États financiers, rapprochements bancaires, étude du FPPN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2020 au 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Comptes non cités dans le contrôle</a:t>
                      </a:r>
                    </a:p>
                  </a:txBody>
                  <a:tcPr marL="43200" marR="43200" marT="14400" marB="14400" anchor="ctr">
                    <a:solidFill>
                      <a:srgbClr val="F2F2F2"/>
                    </a:solidFill>
                  </a:tcPr>
                </a:tc>
              </a:tr>
            </a:tbl>
          </a:graphicData>
        </a:graphic>
      </p:graphicFrame>
      <p:sp>
        <p:nvSpPr>
          <p:cNvPr id="33" name="TextBox 32"/>
          <p:cNvSpPr txBox="1"/>
          <p:nvPr/>
        </p:nvSpPr>
        <p:spPr>
          <a:xfrm>
            <a:off x="503999" y="3836977"/>
            <a:ext cx="11232000" cy="162000"/>
          </a:xfrm>
          <a:prstGeom prst="rect">
            <a:avLst/>
          </a:prstGeom>
          <a:noFill/>
        </p:spPr>
        <p:txBody>
          <a:bodyPr wrap="square" anchor="t" lIns="54000" rIns="54000"/>
          <a:lstStyle/>
          <a:p>
            <a:pPr algn="l"/>
            <a:r>
              <a:rPr sz="850" b="0">
                <a:solidFill>
                  <a:srgbClr val="53565A"/>
                </a:solidFill>
                <a:latin typeface="Helvetica"/>
              </a:rPr>
              <a:t>Valable pour : les familles d'analyses du rapport, sur les documents reçus jusqu'au 22/10/2026.</a:t>
            </a:r>
          </a:p>
        </p:txBody>
      </p:sp>
      <p:sp>
        <p:nvSpPr>
          <p:cNvPr id="34" name="TextBox 33"/>
          <p:cNvSpPr txBox="1"/>
          <p:nvPr/>
        </p:nvSpPr>
        <p:spPr>
          <a:xfrm>
            <a:off x="503999" y="4142977"/>
            <a:ext cx="11232000" cy="1725022"/>
          </a:xfrm>
          <a:prstGeom prst="rect">
            <a:avLst/>
          </a:prstGeom>
          <a:noFill/>
        </p:spPr>
        <p:txBody>
          <a:bodyPr wrap="square" lIns="54000" rIns="54000"/>
          <a:lstStyle/>
          <a:p>
            <a:pPr algn="just">
              <a:spcAft>
                <a:spcPts val="600"/>
              </a:spcAft>
            </a:pPr>
            <a:r>
              <a:rPr sz="1300" b="1">
                <a:solidFill>
                  <a:srgbClr val="060606"/>
                </a:solidFill>
                <a:latin typeface="Helvetica"/>
              </a:rPr>
              <a:t>Les documents reçus le 22/10/2026 permettent de vérifier plusieurs résultats par une seconde source.</a:t>
            </a:r>
            <a:r>
              <a:rPr sz="1300" b="0">
                <a:solidFill>
                  <a:srgbClr val="060606"/>
                </a:solidFill>
                <a:latin typeface="Helvetica"/>
              </a:rPr>
              <a:t> Les états financiers, les rapprochements bancaires et l'étude des ratios du FPPN confirment les balances et les fichiers de la Solde sur les périodes indiquées.</a:t>
            </a:r>
          </a:p>
          <a:p>
            <a:pPr algn="just">
              <a:spcAft>
                <a:spcPts val="600"/>
              </a:spcAft>
            </a:pPr>
            <a:r>
              <a:rPr sz="1300" b="0">
                <a:solidFill>
                  <a:srgbClr val="060606"/>
                </a:solidFill>
                <a:latin typeface="Helvetica"/>
              </a:rPr>
              <a:t>Tout chiffre repris hors du rapport doit être accompagné de sa ligne « Valable pour ». L'annexe « Périmètre et validité des analyses » détaille chaque diapositive.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CNPS : Caisse nationale de prévoyance sociale | 8Z6 : poste décès | DISA : déclaration individuelle des salaires annuels à la CNPS</a:t>
            </a:r>
          </a:p>
        </p:txBody>
      </p:sp>
    </p:spTree>
    <p:extLst>
      <p:ext uri="{BB962C8B-B14F-4D97-AF65-F5344CB8AC3E}">
        <p14:creationId xmlns:p14="http://schemas.microsoft.com/office/powerpoint/2010/main" val="110359956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Documents reçus le 22/10/2026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124 fichiers reçus intacts, qui complètent les engagements, la méthode du FPPN et les contrôles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nouveaux documents servent à cinq usages : provisions, engagements d'épargne, provision du personnel, actifs immobilisés et contre-vérification des chiffres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documents du FPPN reçus le 22/10/2026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17 : Documents reçus le 22/10/2026 et usage dans le rapport</a:t>
            </a:r>
          </a:p>
        </p:txBody>
      </p:sp>
      <p:graphicFrame>
        <p:nvGraphicFramePr>
          <p:cNvPr id="32" name="Table 31"/>
          <p:cNvGraphicFramePr>
            <a:graphicFrameLocks noGrp="1"/>
          </p:cNvGraphicFramePr>
          <p:nvPr/>
        </p:nvGraphicFramePr>
        <p:xfrm>
          <a:off x="503999" y="1655999"/>
          <a:ext cx="11232000" cy="1565820"/>
        </p:xfrm>
        <a:graphic>
          <a:graphicData uri="http://schemas.openxmlformats.org/drawingml/2006/table">
            <a:tbl>
              <a:tblPr firstRow="0" bandRow="0">
                <a:tableStyleId>{5940675A-B579-460E-94D1-54222C63F5DA}</a:tableStyleId>
              </a:tblPr>
              <a:tblGrid>
                <a:gridCol w="1512000"/>
                <a:gridCol w="5400000"/>
                <a:gridCol w="4320000"/>
              </a:tblGrid>
              <a:tr h="180000">
                <a:tc>
                  <a:txBody>
                    <a:bodyPr/>
                    <a:lstStyle/>
                    <a:p>
                      <a:pPr marL="0" indent="0" lvl="0">
                        <a:buNone/>
                      </a:pPr>
                      <a:r>
                        <a:rPr sz="800" b="1">
                          <a:solidFill>
                            <a:srgbClr val="FFFFFF"/>
                          </a:solidFill>
                          <a:latin typeface="Helvetica"/>
                        </a:rPr>
                        <a:t>Famille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Documents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Usage dans le rapport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Règles et produits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Cahiers des charges maladie-décès et EFC-PEP 2021, manuel des produits d'épargne, cartographie des risques, politique de crédit du Grenier, conventions IPS-CGRAE, Transvie-CMP et DEPA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servis, barème décès, garantie santé des retraités, dépréciation des prêts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États financiers de 2020 au 31/08/2026, grands livres généraux et des tiers 2023 à 2025, balances, rapprochements bancaires de 2020 à 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Contrôles croisés, délais de paiement des cliniques, factures arrivées en retard, paiements d'allocations décès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Engagements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États de fin d'année des allocations décès et frais funéraires 2021 à 2025, étude et interprétation des ratios maladie et décès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Dette décès, décès connus après la clôture, méthode de sinistralité du FPPN, mortalité brute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DISA et ETAT 301 de 2020 à 2025, DASC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Actifs et gouvernance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Arrêté d'autorisation du CMP, dérogation d'urbanisme du projet de Cocody, attestation de désignation du directeur général, titres de propriété, baux, rapports de gestion, budgets, organigrammes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Clinique, projet de Cocody, gouvernance des placements, épargne présentée en Assemblée générale</a:t>
                      </a:r>
                    </a:p>
                  </a:txBody>
                  <a:tcPr marL="43200" marR="43200" marT="14400" marB="14400" anchor="ctr">
                    <a:solidFill>
                      <a:srgbClr val="FFFFFF"/>
                    </a:solidFill>
                  </a:tcPr>
                </a:tc>
              </a:tr>
            </a:tbl>
          </a:graphicData>
        </a:graphic>
      </p:graphicFrame>
      <p:sp>
        <p:nvSpPr>
          <p:cNvPr id="33" name="TextBox 32"/>
          <p:cNvSpPr txBox="1"/>
          <p:nvPr/>
        </p:nvSpPr>
        <p:spPr>
          <a:xfrm>
            <a:off x="503999" y="3329821"/>
            <a:ext cx="11232000" cy="162000"/>
          </a:xfrm>
          <a:prstGeom prst="rect">
            <a:avLst/>
          </a:prstGeom>
          <a:noFill/>
        </p:spPr>
        <p:txBody>
          <a:bodyPr wrap="square" anchor="t" lIns="54000" rIns="54000"/>
          <a:lstStyle/>
          <a:p>
            <a:pPr algn="l"/>
            <a:r>
              <a:rPr sz="850" b="0">
                <a:solidFill>
                  <a:srgbClr val="53565A"/>
                </a:solidFill>
                <a:latin typeface="Helvetica"/>
              </a:rPr>
              <a:t>Valable pour : fichiers reçus le 22/10/2026 dans les dossiers transmis par le FPPN. Les documents reçus le 15/10/2026 et le 18/10/2026 sont décrits en partie 2 et en partie 3.</a:t>
            </a:r>
          </a:p>
        </p:txBody>
      </p:sp>
      <p:sp>
        <p:nvSpPr>
          <p:cNvPr id="34" name="TextBox 33"/>
          <p:cNvSpPr txBox="1"/>
          <p:nvPr/>
        </p:nvSpPr>
        <p:spPr>
          <a:xfrm>
            <a:off x="503999" y="3635821"/>
            <a:ext cx="11232000" cy="2232178"/>
          </a:xfrm>
          <a:prstGeom prst="rect">
            <a:avLst/>
          </a:prstGeom>
          <a:noFill/>
        </p:spPr>
        <p:txBody>
          <a:bodyPr wrap="square" lIns="54000" rIns="54000"/>
          <a:lstStyle/>
          <a:p>
            <a:pPr algn="just">
              <a:spcAft>
                <a:spcPts val="600"/>
              </a:spcAft>
            </a:pPr>
            <a:r>
              <a:rPr sz="1300" b="1">
                <a:solidFill>
                  <a:srgbClr val="060606"/>
                </a:solidFill>
                <a:latin typeface="Helvetica"/>
              </a:rPr>
              <a:t>Les états financiers et les rapprochements bancaires confirment les balances utilisées dans le rapport</a:t>
            </a:r>
            <a:r>
              <a:rPr sz="1300" b="0">
                <a:solidFill>
                  <a:srgbClr val="060606"/>
                </a:solidFill>
                <a:latin typeface="Helvetica"/>
              </a:rPr>
              <a:t>, à deux écarts près, présentés en partie 3.</a:t>
            </a:r>
          </a:p>
          <a:p>
            <a:pPr algn="just">
              <a:spcAft>
                <a:spcPts val="600"/>
              </a:spcAft>
            </a:pPr>
            <a:r>
              <a:rPr sz="1300" b="0">
                <a:solidFill>
                  <a:srgbClr val="060606"/>
                </a:solidFill>
                <a:latin typeface="Helvetica"/>
              </a:rPr>
              <a:t>Les documents encore manquants (base des prestations datée, relevés individuels d'épargne, dates de naissance des mutualistes) restent dans la PBC et limitent les analyses présentées.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CMP : Centre Médical du Policier (rapport de gestion 2023) | PBC : liste des documents demandés au client | DISA : déclaration individuelle des salaires annuels à la CNPS | IPS-CGRAE : Institution de prévoyance sociale - Caisse générale de retraite des agents de l'État | DEPA : Direction de l'École de Police d'Abidjan</a:t>
            </a:r>
          </a:p>
        </p:txBody>
      </p:sp>
    </p:spTree>
    <p:extLst>
      <p:ext uri="{BB962C8B-B14F-4D97-AF65-F5344CB8AC3E}">
        <p14:creationId xmlns:p14="http://schemas.microsoft.com/office/powerpoint/2010/main" val="2565537207"/>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Traitement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est tracé du fichier du FPPN jusqu'au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décisions de contrôle arrêtent ou corrigent le traitement. Le détail de chaque étape figure dans la partie 13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Logigramme c1"/>
          <p:cNvSpPr/>
          <p:nvPr/>
        </p:nvSpPr>
        <p:spPr>
          <a:xfrm>
            <a:off x="540000" y="1494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Envoi du FPPN</a:t>
            </a:r>
          </a:p>
          <a:p>
            <a:pPr algn="ctr"/>
            <a:r>
              <a:rPr sz="850" b="1">
                <a:solidFill>
                  <a:srgbClr val="FFFFFF"/>
                </a:solidFill>
                <a:latin typeface="Helvetica"/>
              </a:rPr>
              <a:t>4 287 fichiers</a:t>
            </a:r>
          </a:p>
        </p:txBody>
      </p:sp>
      <p:sp>
        <p:nvSpPr>
          <p:cNvPr id="32" name="Logigramme c2"/>
          <p:cNvSpPr/>
          <p:nvPr/>
        </p:nvSpPr>
        <p:spPr>
          <a:xfrm>
            <a:off x="2142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Inventaire</a:t>
            </a:r>
          </a:p>
          <a:p>
            <a:pPr algn="ctr"/>
            <a:r>
              <a:rPr sz="850" b="0">
                <a:solidFill>
                  <a:srgbClr val="060606"/>
                </a:solidFill>
                <a:latin typeface="Helvetica"/>
              </a:rPr>
              <a:t>format réel, doublons</a:t>
            </a:r>
          </a:p>
        </p:txBody>
      </p:sp>
      <p:sp>
        <p:nvSpPr>
          <p:cNvPr id="33" name="Logigramme c3"/>
          <p:cNvSpPr/>
          <p:nvPr/>
        </p:nvSpPr>
        <p:spPr>
          <a:xfrm>
            <a:off x="3744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a:t>
            </a:r>
          </a:p>
          <a:p>
            <a:pPr algn="ctr"/>
            <a:r>
              <a:rPr sz="800" b="0">
                <a:solidFill>
                  <a:srgbClr val="060606"/>
                </a:solidFill>
                <a:latin typeface="Helvetica"/>
              </a:rPr>
              <a:t>lisible ?</a:t>
            </a:r>
          </a:p>
        </p:txBody>
      </p:sp>
      <p:sp>
        <p:nvSpPr>
          <p:cNvPr id="34" name="Logigramme c4"/>
          <p:cNvSpPr/>
          <p:nvPr/>
        </p:nvSpPr>
        <p:spPr>
          <a:xfrm>
            <a:off x="3744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Liste des fichiers</a:t>
            </a:r>
          </a:p>
          <a:p>
            <a:pPr algn="ctr"/>
            <a:r>
              <a:rPr sz="850" b="0">
                <a:solidFill>
                  <a:srgbClr val="060606"/>
                </a:solidFill>
                <a:latin typeface="Helvetica"/>
              </a:rPr>
              <a:t>à renvoyer (PBC)</a:t>
            </a:r>
          </a:p>
        </p:txBody>
      </p:sp>
      <p:sp>
        <p:nvSpPr>
          <p:cNvPr id="35" name="Logigramme c5"/>
          <p:cNvSpPr/>
          <p:nvPr/>
        </p:nvSpPr>
        <p:spPr>
          <a:xfrm>
            <a:off x="5346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Extraction sans perte</a:t>
            </a:r>
          </a:p>
          <a:p>
            <a:pPr algn="ctr"/>
            <a:r>
              <a:rPr sz="850" b="0">
                <a:solidFill>
                  <a:srgbClr val="060606"/>
                </a:solidFill>
                <a:latin typeface="Helvetica"/>
              </a:rPr>
              <a:t>CSV, empreinte numérique</a:t>
            </a:r>
          </a:p>
        </p:txBody>
      </p:sp>
      <p:sp>
        <p:nvSpPr>
          <p:cNvPr id="36" name="Logigramme c6"/>
          <p:cNvSpPr/>
          <p:nvPr/>
        </p:nvSpPr>
        <p:spPr>
          <a:xfrm>
            <a:off x="6948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Lignes</a:t>
            </a:r>
          </a:p>
          <a:p>
            <a:pPr algn="ctr"/>
            <a:r>
              <a:rPr sz="800" b="0">
                <a:solidFill>
                  <a:srgbClr val="060606"/>
                </a:solidFill>
                <a:latin typeface="Helvetica"/>
              </a:rPr>
              <a:t>identiques ?</a:t>
            </a:r>
          </a:p>
        </p:txBody>
      </p:sp>
      <p:sp>
        <p:nvSpPr>
          <p:cNvPr id="37" name="Logigramme c7"/>
          <p:cNvSpPr/>
          <p:nvPr/>
        </p:nvSpPr>
        <p:spPr>
          <a:xfrm>
            <a:off x="8550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Base d'analyse</a:t>
            </a:r>
          </a:p>
          <a:p>
            <a:pPr algn="ctr"/>
            <a:r>
              <a:rPr sz="850" b="0">
                <a:solidFill>
                  <a:srgbClr val="060606"/>
                </a:solidFill>
                <a:latin typeface="Helvetica"/>
              </a:rPr>
              <a:t>4,45 millions de lignes</a:t>
            </a:r>
          </a:p>
        </p:txBody>
      </p:sp>
      <p:sp>
        <p:nvSpPr>
          <p:cNvPr id="38" name="Logigramme c8"/>
          <p:cNvSpPr/>
          <p:nvPr/>
        </p:nvSpPr>
        <p:spPr>
          <a:xfrm>
            <a:off x="10152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Total ou</a:t>
            </a:r>
          </a:p>
          <a:p>
            <a:pPr algn="ctr"/>
            <a:r>
              <a:rPr sz="800" b="0">
                <a:solidFill>
                  <a:srgbClr val="060606"/>
                </a:solidFill>
                <a:latin typeface="Helvetica"/>
              </a:rPr>
              <a:t>montant doublé ?</a:t>
            </a:r>
          </a:p>
        </p:txBody>
      </p:sp>
      <p:sp>
        <p:nvSpPr>
          <p:cNvPr id="39" name="Logigramme c9"/>
          <p:cNvSpPr/>
          <p:nvPr/>
        </p:nvSpPr>
        <p:spPr>
          <a:xfrm>
            <a:off x="10152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Journal des rejets</a:t>
            </a:r>
          </a:p>
          <a:p>
            <a:pPr algn="ctr"/>
            <a:r>
              <a:rPr sz="850" b="0">
                <a:solidFill>
                  <a:srgbClr val="060606"/>
                </a:solidFill>
                <a:latin typeface="Helvetica"/>
              </a:rPr>
              <a:t>et corrections</a:t>
            </a:r>
          </a:p>
        </p:txBody>
      </p:sp>
      <p:sp>
        <p:nvSpPr>
          <p:cNvPr id="40" name="Logigramme c10"/>
          <p:cNvSpPr/>
          <p:nvPr/>
        </p:nvSpPr>
        <p:spPr>
          <a:xfrm>
            <a:off x="8550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Contrôles</a:t>
            </a:r>
          </a:p>
          <a:p>
            <a:pPr algn="ctr"/>
            <a:r>
              <a:rPr sz="850" b="0">
                <a:solidFill>
                  <a:srgbClr val="060606"/>
                </a:solidFill>
                <a:latin typeface="Helvetica"/>
              </a:rPr>
              <a:t>totaux, aller et retour</a:t>
            </a:r>
          </a:p>
        </p:txBody>
      </p:sp>
      <p:sp>
        <p:nvSpPr>
          <p:cNvPr id="41" name="Logigramme c11"/>
          <p:cNvSpPr/>
          <p:nvPr/>
        </p:nvSpPr>
        <p:spPr>
          <a:xfrm>
            <a:off x="6948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Analyses</a:t>
            </a:r>
          </a:p>
          <a:p>
            <a:pPr algn="ctr"/>
            <a:r>
              <a:rPr sz="850" b="0">
                <a:solidFill>
                  <a:srgbClr val="060606"/>
                </a:solidFill>
                <a:latin typeface="Helvetica"/>
              </a:rPr>
              <a:t>indicateurs, tests, ratios</a:t>
            </a:r>
          </a:p>
        </p:txBody>
      </p:sp>
      <p:sp>
        <p:nvSpPr>
          <p:cNvPr id="42" name="Logigramme c12"/>
          <p:cNvSpPr/>
          <p:nvPr/>
        </p:nvSpPr>
        <p:spPr>
          <a:xfrm>
            <a:off x="5346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Classeur</a:t>
            </a:r>
          </a:p>
          <a:p>
            <a:pPr algn="ctr"/>
            <a:r>
              <a:rPr sz="850" b="0">
                <a:solidFill>
                  <a:srgbClr val="060606"/>
                </a:solidFill>
                <a:latin typeface="Helvetica"/>
              </a:rPr>
              <a:t>des calculs</a:t>
            </a:r>
          </a:p>
        </p:txBody>
      </p:sp>
      <p:sp>
        <p:nvSpPr>
          <p:cNvPr id="43" name="Logigramme c13"/>
          <p:cNvSpPr/>
          <p:nvPr/>
        </p:nvSpPr>
        <p:spPr>
          <a:xfrm>
            <a:off x="5346000" y="4248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Rapport</a:t>
            </a:r>
          </a:p>
          <a:p>
            <a:pPr algn="ctr"/>
            <a:r>
              <a:rPr sz="850" b="0">
                <a:solidFill>
                  <a:srgbClr val="060606"/>
                </a:solidFill>
                <a:latin typeface="Helvetica"/>
              </a:rPr>
              <a:t>graphiques natifs</a:t>
            </a:r>
          </a:p>
        </p:txBody>
      </p:sp>
      <p:sp>
        <p:nvSpPr>
          <p:cNvPr id="44" name="Logigramme c14"/>
          <p:cNvSpPr/>
          <p:nvPr/>
        </p:nvSpPr>
        <p:spPr>
          <a:xfrm>
            <a:off x="6948000" y="4204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Chiffre</a:t>
            </a:r>
          </a:p>
          <a:p>
            <a:pPr algn="ctr"/>
            <a:r>
              <a:rPr sz="800" b="0">
                <a:solidFill>
                  <a:srgbClr val="060606"/>
                </a:solidFill>
                <a:latin typeface="Helvetica"/>
              </a:rPr>
              <a:t>exact ?</a:t>
            </a:r>
          </a:p>
        </p:txBody>
      </p:sp>
      <p:sp>
        <p:nvSpPr>
          <p:cNvPr id="45" name="Logigramme c15"/>
          <p:cNvSpPr/>
          <p:nvPr/>
        </p:nvSpPr>
        <p:spPr>
          <a:xfrm>
            <a:off x="8550000" y="4248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Livraison</a:t>
            </a:r>
          </a:p>
          <a:p>
            <a:pPr algn="ctr"/>
            <a:r>
              <a:rPr sz="850" b="1">
                <a:solidFill>
                  <a:srgbClr val="FFFFFF"/>
                </a:solidFill>
                <a:latin typeface="Helvetica"/>
              </a:rPr>
              <a:t>et traçabilité</a:t>
            </a:r>
          </a:p>
        </p:txBody>
      </p:sp>
      <p:cxnSp>
        <p:nvCxnSpPr>
          <p:cNvPr id="46" name="Flèche c1 vers c2"/>
          <p:cNvCxnSpPr>
            <a:stCxn id="31" idx="3"/>
            <a:endCxn id="32" idx="1"/>
          </p:cNvCxnSpPr>
          <p:nvPr/>
        </p:nvCxnSpPr>
        <p:spPr>
          <a:xfrm flipV="1">
            <a:off x="1800000" y="1764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Flèche c2 vers c3"/>
          <p:cNvCxnSpPr>
            <a:stCxn id="32" idx="3"/>
            <a:endCxn id="33" idx="1"/>
          </p:cNvCxnSpPr>
          <p:nvPr/>
        </p:nvCxnSpPr>
        <p:spPr>
          <a:xfrm>
            <a:off x="3402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Flèche c3 vers c4"/>
          <p:cNvCxnSpPr>
            <a:stCxn id="33" idx="2"/>
            <a:endCxn id="34" idx="0"/>
          </p:cNvCxnSpPr>
          <p:nvPr/>
        </p:nvCxnSpPr>
        <p:spPr>
          <a:xfrm flipH="1">
            <a:off x="4374000" y="2134800"/>
            <a:ext cx="0" cy="74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428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0" name="Flèche c3 vers c5"/>
          <p:cNvCxnSpPr>
            <a:stCxn id="33" idx="3"/>
            <a:endCxn id="35" idx="1"/>
          </p:cNvCxnSpPr>
          <p:nvPr/>
        </p:nvCxnSpPr>
        <p:spPr>
          <a:xfrm flipV="1">
            <a:off x="5004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47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2" name="Flèche c5 vers c6"/>
          <p:cNvCxnSpPr>
            <a:stCxn id="35" idx="3"/>
            <a:endCxn id="36" idx="1"/>
          </p:cNvCxnSpPr>
          <p:nvPr/>
        </p:nvCxnSpPr>
        <p:spPr>
          <a:xfrm>
            <a:off x="6606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c6 vers c5"/>
          <p:cNvCxnSpPr>
            <a:stCxn id="36" idx="0"/>
            <a:endCxn id="35" idx="0"/>
          </p:cNvCxnSpPr>
          <p:nvPr/>
        </p:nvCxnSpPr>
        <p:spPr>
          <a:xfrm flipH="1">
            <a:off x="5976000" y="1450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632000" y="1270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refaire</a:t>
            </a:r>
          </a:p>
        </p:txBody>
      </p:sp>
      <p:cxnSp>
        <p:nvCxnSpPr>
          <p:cNvPr id="55" name="Flèche c6 vers c7"/>
          <p:cNvCxnSpPr>
            <a:stCxn id="36" idx="3"/>
            <a:endCxn id="37" idx="1"/>
          </p:cNvCxnSpPr>
          <p:nvPr/>
        </p:nvCxnSpPr>
        <p:spPr>
          <a:xfrm flipV="1">
            <a:off x="8208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251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7" name="Flèche c7 vers c8"/>
          <p:cNvCxnSpPr>
            <a:stCxn id="37" idx="3"/>
            <a:endCxn id="38" idx="1"/>
          </p:cNvCxnSpPr>
          <p:nvPr/>
        </p:nvCxnSpPr>
        <p:spPr>
          <a:xfrm>
            <a:off x="9810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c8 vers c9"/>
          <p:cNvCxnSpPr>
            <a:stCxn id="38" idx="3"/>
            <a:endCxn id="39" idx="3"/>
          </p:cNvCxnSpPr>
          <p:nvPr/>
        </p:nvCxnSpPr>
        <p:spPr>
          <a:xfrm flipH="1">
            <a:off x="11412000" y="1792800"/>
            <a:ext cx="0" cy="1357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1455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0" name="Flèche c8 vers c10"/>
          <p:cNvCxnSpPr>
            <a:stCxn id="38" idx="2"/>
            <a:endCxn id="40" idx="0"/>
          </p:cNvCxnSpPr>
          <p:nvPr/>
        </p:nvCxnSpPr>
        <p:spPr>
          <a:xfrm flipH="1">
            <a:off x="9180000" y="2134800"/>
            <a:ext cx="1602000" cy="745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836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62" name="Flèche c9 vers c10"/>
          <p:cNvCxnSpPr>
            <a:stCxn id="39" idx="1"/>
            <a:endCxn id="40" idx="3"/>
          </p:cNvCxnSpPr>
          <p:nvPr/>
        </p:nvCxnSpPr>
        <p:spPr>
          <a:xfrm flipH="1" flipV="1">
            <a:off x="9810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c10 vers c11"/>
          <p:cNvCxnSpPr>
            <a:stCxn id="40" idx="1"/>
            <a:endCxn id="41" idx="3"/>
          </p:cNvCxnSpPr>
          <p:nvPr/>
        </p:nvCxnSpPr>
        <p:spPr>
          <a:xfrm flipH="1" flipV="1">
            <a:off x="8208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c11 vers c12"/>
          <p:cNvCxnSpPr>
            <a:stCxn id="41" idx="1"/>
            <a:endCxn id="42" idx="3"/>
          </p:cNvCxnSpPr>
          <p:nvPr/>
        </p:nvCxnSpPr>
        <p:spPr>
          <a:xfrm flipH="1" flipV="1">
            <a:off x="6606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c12 vers c13"/>
          <p:cNvCxnSpPr>
            <a:stCxn id="42" idx="2"/>
            <a:endCxn id="43" idx="0"/>
          </p:cNvCxnSpPr>
          <p:nvPr/>
        </p:nvCxnSpPr>
        <p:spPr>
          <a:xfrm flipH="1">
            <a:off x="5976000" y="3420000"/>
            <a:ext cx="0" cy="828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c13 vers c14"/>
          <p:cNvCxnSpPr>
            <a:stCxn id="43" idx="3"/>
            <a:endCxn id="44" idx="1"/>
          </p:cNvCxnSpPr>
          <p:nvPr/>
        </p:nvCxnSpPr>
        <p:spPr>
          <a:xfrm>
            <a:off x="6606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c14 vers c15"/>
          <p:cNvCxnSpPr>
            <a:stCxn id="44" idx="3"/>
            <a:endCxn id="45" idx="1"/>
          </p:cNvCxnSpPr>
          <p:nvPr/>
        </p:nvCxnSpPr>
        <p:spPr>
          <a:xfrm flipV="1">
            <a:off x="8208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8251200" y="4366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9" name="Flèche c14 vers c13"/>
          <p:cNvCxnSpPr>
            <a:stCxn id="44" idx="0"/>
            <a:endCxn id="43" idx="0"/>
          </p:cNvCxnSpPr>
          <p:nvPr/>
        </p:nvCxnSpPr>
        <p:spPr>
          <a:xfrm flipH="1">
            <a:off x="5976000" y="4204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632000" y="4024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corriger</a:t>
            </a:r>
          </a:p>
        </p:txBody>
      </p:sp>
      <p:sp>
        <p:nvSpPr>
          <p:cNvPr id="71" name="TextBox 70"/>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Aucun chiffre n'entre dans le rapport sans avoir passé quatre contrôles.</a:t>
            </a:r>
            <a:r>
              <a:rPr sz="1050" b="0">
                <a:solidFill>
                  <a:srgbClr val="060606"/>
                </a:solidFill>
                <a:latin typeface="Helvetica"/>
              </a:rPr>
              <a:t> Un fichier illisible part dans la liste des fichiers à renvoyer, une conversion inexacte est refaite, une ligne de total ou un montant doublé est écarté et journalisé, et un chiffre affiché qui ne correspond pas à sa valeur exacte est corrigé.</a:t>
            </a:r>
          </a:p>
          <a:p>
            <a:pPr algn="just">
              <a:spcAft>
                <a:spcPts val="600"/>
              </a:spcAft>
            </a:pPr>
            <a:r>
              <a:rPr sz="1050" b="0">
                <a:solidFill>
                  <a:srgbClr val="060606"/>
                </a:solidFill>
                <a:latin typeface="Helvetica"/>
              </a:rPr>
              <a:t>Le FPPN peut retrouver, pour chaque chiffre du rapport, le fichier d'origine, les lignes écartées et le calcul : les écarts relevés peuvent être discutés sur pièces.</a:t>
            </a:r>
          </a:p>
        </p:txBody>
      </p:sp>
      <p:sp>
        <p:nvSpPr>
          <p:cNvPr id="72" name="TextBox 7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CSV : fichier texte de tableau</a:t>
            </a:r>
          </a:p>
        </p:txBody>
      </p:sp>
    </p:spTree>
    <p:extLst>
      <p:ext uri="{BB962C8B-B14F-4D97-AF65-F5344CB8AC3E}">
        <p14:creationId xmlns:p14="http://schemas.microsoft.com/office/powerpoint/2010/main" val="21392282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Données et qualité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Couverture, contrôles, anomalies détectées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98306294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Exhaustivité</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l'empreinte numérique de chaque fichier et compte lignes et cellules avant et après conversion : 218 fichiers copiés et 491 feuilles converties sont identiques.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Cohérence interne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totaux imprimés par les logiciels sont retrouvés dans les 37 balances âgées du Grenier, et les débits égalent les crédits dans les 7 exercices comptables.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Rapprochement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Deux sources qui décrivent le même flux doivent concorder : le taux de précompte rapporte le montant retour au montant aller, poste par poste et mois par mois.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Ces contrôles prouvent que la base est fidèle aux fichiers reçus. Ils ne prouvent pas que les fichiers du FPPN sont eux-mêmes exacts.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contrôle des données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contrôles garantissent que la base reproduit fidèlement les fichiers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Exhaustivité, cohérence interne et rapprochement entre sources indépendantes, puis une limite assumée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92367655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Couverture de la période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mensuelles ne couvrent pas les années 2020 à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80 mois, seuls la comptabilité et le PEP sont complets. Aucune donnée de prestations n'a été reçue</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6 : Mois reçus par flux de données, sur 80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(janvier 2020 à août 2026)</a:t>
            </a:r>
          </a:p>
        </p:txBody>
      </p:sp>
      <p:graphicFrame>
        <p:nvGraphicFramePr>
          <p:cNvPr id="32" name="Chart 31"/>
          <p:cNvGraphicFramePr>
            <a:graphicFrameLocks noGrp="1"/>
          </p:cNvGraphicFramePr>
          <p:nvPr/>
        </p:nvGraphicFramePr>
        <p:xfrm>
          <a:off x="503999" y="1782000"/>
          <a:ext cx="5976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Seules la comptabilité et l'épargne PEP couvrent toute la période d'analyse.</a:t>
            </a:r>
            <a:r>
              <a:rPr sz="1400" b="0">
                <a:solidFill>
                  <a:srgbClr val="060606"/>
                </a:solidFill>
                <a:latin typeface="Helvetica"/>
              </a:rPr>
              <a:t> La comptabilité donne des totaux annuels. Les fichiers texte de la Solde donnent le PEP par mutualiste et par mois de 2020 à 2022.</a:t>
            </a:r>
          </a:p>
          <a:p>
            <a:pPr algn="just">
              <a:spcAft>
                <a:spcPts val="600"/>
              </a:spcAft>
            </a:pPr>
            <a:r>
              <a:rPr sz="1400" b="1">
                <a:solidFill>
                  <a:srgbClr val="060606"/>
                </a:solidFill>
                <a:latin typeface="Helvetica"/>
              </a:rPr>
              <a:t>Les précomptes mensuels commencent en 2023 ou en 2024.</a:t>
            </a:r>
            <a:r>
              <a:rPr sz="1400" b="0">
                <a:solidFill>
                  <a:srgbClr val="060606"/>
                </a:solidFill>
                <a:latin typeface="Helvetica"/>
              </a:rPr>
              <a:t> Les fichiers maladie et décès débutent en janvier 2024, ceux des retraités en février 2024 et ceux de l'EFC en janvier 2023.</a:t>
            </a:r>
          </a:p>
          <a:p>
            <a:pPr algn="just">
              <a:spcAft>
                <a:spcPts val="600"/>
              </a:spcAft>
            </a:pPr>
            <a:r>
              <a:rPr sz="1400" b="1">
                <a:solidFill>
                  <a:srgbClr val="060606"/>
                </a:solidFill>
                <a:latin typeface="Helvetica"/>
              </a:rPr>
              <a:t>Aucune base de prestations n'a été transmise.</a:t>
            </a:r>
            <a:r>
              <a:rPr sz="1400" b="0">
                <a:solidFill>
                  <a:srgbClr val="060606"/>
                </a:solidFill>
                <a:latin typeface="Helvetica"/>
              </a:rPr>
              <a:t> Le coût des soins et des décès n'est connu que par les comptes, sans date de survenance ni bénéficiaire.</a:t>
            </a:r>
          </a:p>
          <a:p>
            <a:pPr algn="just">
              <a:spcAft>
                <a:spcPts val="600"/>
              </a:spcAft>
            </a:pPr>
            <a:r>
              <a:rPr sz="1400" b="0">
                <a:solidFill>
                  <a:srgbClr val="060606"/>
                </a:solidFill>
                <a:latin typeface="Helvetica"/>
              </a:rPr>
              <a:t>Les analyses mensuelles portent sur 2024 à 2026, et les années 2020 à 2023 ne peuvent être analysées qu'en totaux comptables. Les conclusions sur l'évolution de la sinistralité restent donc fragiles tant que les bases de prestations ne sont pas reçues.</a:t>
            </a:r>
          </a:p>
        </p:txBody>
      </p:sp>
      <p:sp>
        <p:nvSpPr>
          <p:cNvPr id="35" name="TextBox 34"/>
          <p:cNvSpPr txBox="1"/>
          <p:nvPr/>
        </p:nvSpPr>
        <p:spPr>
          <a:xfrm>
            <a:off x="503999" y="5526000"/>
            <a:ext cx="5976000" cy="306000"/>
          </a:xfrm>
          <a:prstGeom prst="rect">
            <a:avLst/>
          </a:prstGeom>
          <a:noFill/>
        </p:spPr>
        <p:txBody>
          <a:bodyPr wrap="square" anchor="t" lIns="54000" rIns="54000"/>
          <a:lstStyle/>
          <a:p>
            <a:pPr algn="l"/>
            <a:r>
              <a:rPr sz="850" b="0">
                <a:solidFill>
                  <a:srgbClr val="53565A"/>
                </a:solidFill>
                <a:latin typeface="Helvetica"/>
              </a:rPr>
              <a:t>Valable pour : fichiers de précomptes reçus le 15/10/2026, par poste et par mois, de janvier 2020 à août 2026 (80 mois). Un mois est « reçu » si au moins un fichier lisible le couvre.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254713657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de total cachée aurait doublé les cotisations maladie du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Fichier de février 2025 : la dernière ligne porte 202 597 314 FCFA, soit la somme des 27 861 lignes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FPPN-SOLDE\EFFECTIF POLICE (MALADIE)\2025\FEVRIER 2025_effectif_police_936.xlsx (identifiant d'extraction F03875). Noms et matricules masqués</a:t>
            </a:r>
          </a:p>
        </p:txBody>
      </p:sp>
      <p:sp>
        <p:nvSpPr>
          <p:cNvPr id="31" name="TextBox 30"/>
          <p:cNvSpPr txBox="1"/>
          <p:nvPr/>
        </p:nvSpPr>
        <p:spPr>
          <a:xfrm>
            <a:off x="503999" y="1350000"/>
            <a:ext cx="8136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(MALADIE)\2025\FEVRIER 2025_effectif_police_936.xlsx</a:t>
            </a:r>
          </a:p>
        </p:txBody>
      </p:sp>
      <p:graphicFrame>
        <p:nvGraphicFramePr>
          <p:cNvPr id="32" name="Table 31"/>
          <p:cNvGraphicFramePr>
            <a:graphicFrameLocks noGrp="1"/>
          </p:cNvGraphicFramePr>
          <p:nvPr/>
        </p:nvGraphicFramePr>
        <p:xfrm>
          <a:off x="503999" y="1548000"/>
          <a:ext cx="8136000" cy="1050045"/>
        </p:xfrm>
        <a:graphic>
          <a:graphicData uri="http://schemas.openxmlformats.org/drawingml/2006/table">
            <a:tbl>
              <a:tblPr firstRow="0" bandRow="0">
                <a:tableStyleId>{5940675A-B579-460E-94D1-54222C63F5DA}</a:tableStyleId>
              </a:tblPr>
              <a:tblGrid>
                <a:gridCol w="720000"/>
                <a:gridCol w="936000"/>
                <a:gridCol w="576000"/>
                <a:gridCol w="1224000"/>
                <a:gridCol w="1296000"/>
                <a:gridCol w="1296000"/>
                <a:gridCol w="1224000"/>
                <a:gridCol w="864000"/>
              </a:tblGrid>
              <a:tr h="210009">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Org</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Début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22883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175***S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 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T. I.</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2000-08-01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27 861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202597314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bl>
          </a:graphicData>
        </a:graphic>
      </p:graphicFrame>
      <p:sp>
        <p:nvSpPr>
          <p:cNvPr id="33" name="Rounded Rectangle 32"/>
          <p:cNvSpPr/>
          <p:nvPr/>
        </p:nvSpPr>
        <p:spPr>
          <a:xfrm>
            <a:off x="2718000" y="2377238"/>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80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238000" y="2377238"/>
            <a:ext cx="133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2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85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216000" y="1530000"/>
            <a:ext cx="2519999" cy="670023"/>
          </a:xfrm>
          <a:prstGeom prst="rect">
            <a:avLst/>
          </a:prstGeom>
          <a:noFill/>
        </p:spPr>
        <p:txBody>
          <a:bodyPr wrap="square" anchor="t" lIns="54000" rIns="54000"/>
          <a:lstStyle/>
          <a:p>
            <a:pPr algn="l"/>
            <a:r>
              <a:rPr sz="1200" b="0">
                <a:solidFill>
                  <a:srgbClr val="060606"/>
                </a:solidFill>
                <a:latin typeface="Helvetica"/>
              </a:rPr>
              <a:t>La colonne « matricule » de la dernière ligne contient le nombre de lignes du fichier.</a:t>
            </a:r>
          </a:p>
        </p:txBody>
      </p:sp>
      <p:sp>
        <p:nvSpPr>
          <p:cNvPr id="39" name="Oval 38"/>
          <p:cNvSpPr/>
          <p:nvPr/>
        </p:nvSpPr>
        <p:spPr>
          <a:xfrm>
            <a:off x="885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216000" y="2290023"/>
            <a:ext cx="2519999" cy="670023"/>
          </a:xfrm>
          <a:prstGeom prst="rect">
            <a:avLst/>
          </a:prstGeom>
          <a:noFill/>
        </p:spPr>
        <p:txBody>
          <a:bodyPr wrap="square" anchor="t" lIns="54000" rIns="54000"/>
          <a:lstStyle/>
          <a:p>
            <a:pPr algn="l"/>
            <a:r>
              <a:rPr sz="1200" b="0">
                <a:solidFill>
                  <a:srgbClr val="060606"/>
                </a:solidFill>
                <a:latin typeface="Helvetica"/>
              </a:rPr>
              <a:t>Le montant de 202 597 314 FCFA est la somme de toutes les lignes au-dessus.</a:t>
            </a:r>
          </a:p>
        </p:txBody>
      </p:sp>
      <p:sp>
        <p:nvSpPr>
          <p:cNvPr id="41" name="Oval 40"/>
          <p:cNvSpPr/>
          <p:nvPr/>
        </p:nvSpPr>
        <p:spPr>
          <a:xfrm>
            <a:off x="885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216000" y="3050047"/>
            <a:ext cx="2519999" cy="855963"/>
          </a:xfrm>
          <a:prstGeom prst="rect">
            <a:avLst/>
          </a:prstGeom>
          <a:noFill/>
        </p:spPr>
        <p:txBody>
          <a:bodyPr wrap="square" anchor="t" lIns="54000" rIns="54000"/>
          <a:lstStyle/>
          <a:p>
            <a:pPr algn="l"/>
            <a:r>
              <a:rPr sz="1200" b="0">
                <a:solidFill>
                  <a:srgbClr val="060606"/>
                </a:solidFill>
                <a:latin typeface="Helvetica"/>
              </a:rPr>
              <a:t>Adenka écarte cette ligne et les 87 lignes du même type, ce qui évite 10 340 860 286 FCFA de double compte.</a:t>
            </a:r>
          </a:p>
        </p:txBody>
      </p:sp>
      <p:sp>
        <p:nvSpPr>
          <p:cNvPr id="43" name="TextBox 42"/>
          <p:cNvSpPr txBox="1"/>
          <p:nvPr/>
        </p:nvSpPr>
        <p:spPr>
          <a:xfrm>
            <a:off x="8856000" y="4086011"/>
            <a:ext cx="2879999" cy="1781988"/>
          </a:xfrm>
          <a:prstGeom prst="rect">
            <a:avLst/>
          </a:prstGeom>
          <a:noFill/>
        </p:spPr>
        <p:txBody>
          <a:bodyPr wrap="square" lIns="54000" rIns="54000"/>
          <a:lstStyle/>
          <a:p>
            <a:pPr algn="just">
              <a:spcAft>
                <a:spcPts val="600"/>
              </a:spcAft>
            </a:pPr>
            <a:r>
              <a:rPr sz="1150" b="1">
                <a:solidFill>
                  <a:srgbClr val="060606"/>
                </a:solidFill>
                <a:latin typeface="Helvetica"/>
              </a:rPr>
              <a:t>Une simple somme des fichiers aurait gonflé les cotisations.</a:t>
            </a:r>
            <a:r>
              <a:rPr sz="1150" b="0">
                <a:solidFill>
                  <a:srgbClr val="060606"/>
                </a:solidFill>
                <a:latin typeface="Helvetica"/>
              </a:rPr>
              <a:t> Les lignes de total ont la même forme que les lignes des mutualistes et ne se repèrent que par le calcul.</a:t>
            </a:r>
          </a:p>
          <a:p>
            <a:pPr algn="just">
              <a:spcAft>
                <a:spcPts val="600"/>
              </a:spcAft>
            </a:pPr>
            <a:r>
              <a:rPr sz="1150" b="0">
                <a:solidFill>
                  <a:srgbClr val="060606"/>
                </a:solidFill>
                <a:latin typeface="Helvetica"/>
              </a:rPr>
              <a:t>Le FPPN doit retirer ces lignes de total de ses fichiers, ou les isoler, avant tout traitement automatique.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1660621543"/>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montants saisis deux fois à la suite gonflaient les précomptes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Avril 2024 : 17 montants de plus d'un million de FCFA sont des montants écrits deux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FPPN-SOLDE\ALLOCATION DECES\2024\FPPN_ALLOC_DECES_8Z6_AVRIL_2024.xlsx. Noms et matricules masqués</a:t>
            </a:r>
          </a:p>
        </p:txBody>
      </p:sp>
      <p:sp>
        <p:nvSpPr>
          <p:cNvPr id="31" name="TextBox 30"/>
          <p:cNvSpPr txBox="1"/>
          <p:nvPr/>
        </p:nvSpPr>
        <p:spPr>
          <a:xfrm>
            <a:off x="503999" y="1350000"/>
            <a:ext cx="7920000" cy="180000"/>
          </a:xfrm>
          <a:prstGeom prst="rect">
            <a:avLst/>
          </a:prstGeom>
          <a:noFill/>
        </p:spPr>
        <p:txBody>
          <a:bodyPr wrap="square" anchor="t" lIns="54000" rIns="54000"/>
          <a:lstStyle/>
          <a:p>
            <a:pPr algn="l"/>
            <a:r>
              <a:rPr sz="900" b="0">
                <a:solidFill>
                  <a:srgbClr val="53565A"/>
                </a:solidFill>
                <a:latin typeface="Helvetica"/>
              </a:rPr>
              <a:t>Extrait : FPPN-SOLDE\ALLOCATION DECES\2024\FPPN_ALLOC_DECES_8Z6_AVRIL_2024.xlsx</a:t>
            </a:r>
          </a:p>
        </p:txBody>
      </p:sp>
      <p:graphicFrame>
        <p:nvGraphicFramePr>
          <p:cNvPr id="32" name="Table 31"/>
          <p:cNvGraphicFramePr>
            <a:graphicFrameLocks noGrp="1"/>
          </p:cNvGraphicFramePr>
          <p:nvPr/>
        </p:nvGraphicFramePr>
        <p:xfrm>
          <a:off x="503999" y="1548000"/>
          <a:ext cx="7920000" cy="1050045"/>
        </p:xfrm>
        <a:graphic>
          <a:graphicData uri="http://schemas.openxmlformats.org/drawingml/2006/table">
            <a:tbl>
              <a:tblPr firstRow="0" bandRow="0">
                <a:tableStyleId>{5940675A-B579-460E-94D1-54222C63F5DA}</a:tableStyleId>
              </a:tblPr>
              <a:tblGrid>
                <a:gridCol w="1440000"/>
                <a:gridCol w="1440000"/>
                <a:gridCol w="2880000"/>
                <a:gridCol w="2160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dans le fichier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corrigé</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260***E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N. K.</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4792447924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463***P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 G. 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3506635066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498***P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 E. D.</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3379533795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300***Y</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O. B.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3328733287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a:t>
                      </a:r>
                    </a:p>
                  </a:txBody>
                  <a:tcPr marL="43200" marR="43200" marT="14400" marB="14400" anchor="ctr">
                    <a:solidFill>
                      <a:srgbClr val="F2F2F2"/>
                    </a:solidFill>
                  </a:tcPr>
                </a:tc>
              </a:tr>
            </a:tbl>
          </a:graphicData>
        </a:graphic>
      </p:graphicFrame>
      <p:sp>
        <p:nvSpPr>
          <p:cNvPr id="33" name="Rounded Rectangle 32"/>
          <p:cNvSpPr/>
          <p:nvPr/>
        </p:nvSpPr>
        <p:spPr>
          <a:xfrm>
            <a:off x="3366000" y="1747209"/>
            <a:ext cx="291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8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245999" y="1747209"/>
            <a:ext cx="219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4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64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000000" y="1530000"/>
            <a:ext cx="2736000" cy="484084"/>
          </a:xfrm>
          <a:prstGeom prst="rect">
            <a:avLst/>
          </a:prstGeom>
          <a:noFill/>
        </p:spPr>
        <p:txBody>
          <a:bodyPr wrap="square" anchor="t" lIns="54000" rIns="54000"/>
          <a:lstStyle/>
          <a:p>
            <a:pPr algn="l"/>
            <a:r>
              <a:rPr sz="1200" b="0">
                <a:solidFill>
                  <a:srgbClr val="060606"/>
                </a:solidFill>
                <a:latin typeface="Helvetica"/>
              </a:rPr>
              <a:t>Le montant du fichier répète deux fois la suite « 47924 ».</a:t>
            </a:r>
          </a:p>
        </p:txBody>
      </p:sp>
      <p:sp>
        <p:nvSpPr>
          <p:cNvPr id="39" name="Oval 38"/>
          <p:cNvSpPr/>
          <p:nvPr/>
        </p:nvSpPr>
        <p:spPr>
          <a:xfrm>
            <a:off x="864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000000" y="2104084"/>
            <a:ext cx="2736000" cy="670023"/>
          </a:xfrm>
          <a:prstGeom prst="rect">
            <a:avLst/>
          </a:prstGeom>
          <a:noFill/>
        </p:spPr>
        <p:txBody>
          <a:bodyPr wrap="square" anchor="t" lIns="54000" rIns="54000"/>
          <a:lstStyle/>
          <a:p>
            <a:pPr algn="l"/>
            <a:r>
              <a:rPr sz="1200" b="0">
                <a:solidFill>
                  <a:srgbClr val="060606"/>
                </a:solidFill>
                <a:latin typeface="Helvetica"/>
              </a:rPr>
              <a:t>Un précompte décès de plus d'un million de FCFA par agent est impossible.</a:t>
            </a:r>
          </a:p>
        </p:txBody>
      </p:sp>
      <p:sp>
        <p:nvSpPr>
          <p:cNvPr id="41" name="Oval 40"/>
          <p:cNvSpPr/>
          <p:nvPr/>
        </p:nvSpPr>
        <p:spPr>
          <a:xfrm>
            <a:off x="8640000"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000000" y="2864108"/>
            <a:ext cx="2736000" cy="670023"/>
          </a:xfrm>
          <a:prstGeom prst="rect">
            <a:avLst/>
          </a:prstGeom>
          <a:noFill/>
        </p:spPr>
        <p:txBody>
          <a:bodyPr wrap="square" anchor="t" lIns="54000" rIns="54000"/>
          <a:lstStyle/>
          <a:p>
            <a:pPr algn="l"/>
            <a:r>
              <a:rPr sz="1200" b="0">
                <a:solidFill>
                  <a:srgbClr val="060606"/>
                </a:solidFill>
                <a:latin typeface="Helvetica"/>
              </a:rPr>
              <a:t>Adenka retient la première moitié du montant et signale la ligne au FPPN.</a:t>
            </a:r>
          </a:p>
        </p:txBody>
      </p:sp>
      <p:sp>
        <p:nvSpPr>
          <p:cNvPr id="43" name="TextBox 42"/>
          <p:cNvSpPr txBox="1"/>
          <p:nvPr/>
        </p:nvSpPr>
        <p:spPr>
          <a:xfrm>
            <a:off x="8640000" y="3714132"/>
            <a:ext cx="3096000" cy="2153867"/>
          </a:xfrm>
          <a:prstGeom prst="rect">
            <a:avLst/>
          </a:prstGeom>
          <a:noFill/>
        </p:spPr>
        <p:txBody>
          <a:bodyPr wrap="square" lIns="54000" rIns="54000"/>
          <a:lstStyle/>
          <a:p>
            <a:pPr algn="just">
              <a:spcAft>
                <a:spcPts val="600"/>
              </a:spcAft>
            </a:pPr>
            <a:r>
              <a:rPr sz="1200" b="1">
                <a:solidFill>
                  <a:srgbClr val="060606"/>
                </a:solidFill>
                <a:latin typeface="Helvetica"/>
              </a:rPr>
              <a:t>L'erreur vient de la saisie du fichier source, pas d'un calcul.</a:t>
            </a:r>
            <a:r>
              <a:rPr sz="1200" b="0">
                <a:solidFill>
                  <a:srgbClr val="060606"/>
                </a:solidFill>
                <a:latin typeface="Helvetica"/>
              </a:rPr>
              <a:t> Les deux moitiés du montant sont identiques, ce qui signe une double frappe.</a:t>
            </a:r>
          </a:p>
          <a:p>
            <a:pPr algn="just">
              <a:spcAft>
                <a:spcPts val="600"/>
              </a:spcAft>
            </a:pPr>
            <a:r>
              <a:rPr sz="1200" b="0">
                <a:solidFill>
                  <a:srgbClr val="060606"/>
                </a:solidFill>
                <a:latin typeface="Helvetica"/>
              </a:rPr>
              <a:t>La correction est limitée au poste décès et à un seuil d'un million de FCFA pour ne pas modifier de montants réels. Le FPPN doit confirmer chaque ligne signalée.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71480005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Rapprochement aller et retour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Solde précompte en moyenne 97 à 100 % des montants demandés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les mois communs, l'écart moyen est faible, mais certains mois s'écartent fortement</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7 : Montant précompté rapporté au montant demandé, mois communs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montant demandé</a:t>
            </a:r>
          </a:p>
        </p:txBody>
      </p:sp>
      <p:graphicFrame>
        <p:nvGraphicFramePr>
          <p:cNvPr id="32" name="Chart 31"/>
          <p:cNvGraphicFramePr>
            <a:graphicFrameLocks noGrp="1"/>
          </p:cNvGraphicFramePr>
          <p:nvPr/>
        </p:nvGraphicFramePr>
        <p:xfrm>
          <a:off x="503999" y="1782000"/>
          <a:ext cx="5976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Solde et la CGRAE retiennent presque tout ce que le FPPN demande.</a:t>
            </a:r>
            <a:r>
              <a:rPr sz="1400" b="0">
                <a:solidFill>
                  <a:srgbClr val="060606"/>
                </a:solidFill>
                <a:latin typeface="Helvetica"/>
              </a:rPr>
              <a:t> Le taux moyen va de 97,41 % à 100,19 % selon le poste.</a:t>
            </a:r>
          </a:p>
          <a:p>
            <a:pPr algn="just">
              <a:spcAft>
                <a:spcPts val="600"/>
              </a:spcAft>
            </a:pPr>
            <a:r>
              <a:rPr sz="1400" b="1">
                <a:solidFill>
                  <a:srgbClr val="060606"/>
                </a:solidFill>
                <a:latin typeface="Helvetica"/>
              </a:rPr>
              <a:t>Certains mois s'écartent nettement de la moyenne.</a:t>
            </a:r>
            <a:r>
              <a:rPr sz="1400" b="0">
                <a:solidFill>
                  <a:srgbClr val="060606"/>
                </a:solidFill>
                <a:latin typeface="Helvetica"/>
              </a:rPr>
              <a:t> Le mois le plus bas atteint 69,19 % pour le Grenier et 76,96 % pour le PEP.</a:t>
            </a:r>
          </a:p>
          <a:p>
            <a:pPr algn="just">
              <a:spcAft>
                <a:spcPts val="600"/>
              </a:spcAft>
            </a:pPr>
            <a:r>
              <a:rPr sz="1400" b="1">
                <a:solidFill>
                  <a:srgbClr val="060606"/>
                </a:solidFill>
                <a:latin typeface="Helvetica"/>
              </a:rPr>
              <a:t>Ces écarts traduisent des rejets ou des fichiers incomplets.</a:t>
            </a:r>
            <a:r>
              <a:rPr sz="1400" b="0">
                <a:solidFill>
                  <a:srgbClr val="060606"/>
                </a:solidFill>
                <a:latin typeface="Helvetica"/>
              </a:rPr>
              <a:t> Le FPPN ne rapproche pas les fichiers aller et retour et ne reçoit les motifs de rejet que depuis environ deux mois (déclaration du responsable des cotisations, entretien du 19/10/2026, à confirmer par document).</a:t>
            </a:r>
          </a:p>
          <a:p>
            <a:pPr algn="just">
              <a:spcAft>
                <a:spcPts val="600"/>
              </a:spcAft>
            </a:pPr>
            <a:r>
              <a:rPr sz="1400" b="0">
                <a:solidFill>
                  <a:srgbClr val="060606"/>
                </a:solidFill>
                <a:latin typeface="Helvetica"/>
              </a:rPr>
              <a:t>Pour les retraités, le taux mesuré sert d'indicateur de recouvrement des cotisations : il respecte la norme d'au moins 90 % de la Décision n° 05/2022. Pour les cotisations maladie et décès des actifs, le calcul attend les fichiers aller, que la direction du personnel de la Police transmet directement à la Solde.</a:t>
            </a:r>
          </a:p>
        </p:txBody>
      </p:sp>
      <p:sp>
        <p:nvSpPr>
          <p:cNvPr id="35" name="TextBox 34"/>
          <p:cNvSpPr txBox="1"/>
          <p:nvPr/>
        </p:nvSpPr>
        <p:spPr>
          <a:xfrm>
            <a:off x="503999" y="5526000"/>
            <a:ext cx="5976000" cy="306000"/>
          </a:xfrm>
          <a:prstGeom prst="rect">
            <a:avLst/>
          </a:prstGeom>
          <a:noFill/>
        </p:spPr>
        <p:txBody>
          <a:bodyPr wrap="square" anchor="t" lIns="54000" rIns="54000"/>
          <a:lstStyle/>
          <a:p>
            <a:pPr algn="l"/>
            <a:r>
              <a:rPr sz="850" b="0">
                <a:solidFill>
                  <a:srgbClr val="53565A"/>
                </a:solidFill>
                <a:latin typeface="Helvetica"/>
              </a:rPr>
              <a:t>Valable pour : mois pour lesquels le fichier aller et le fichier retour d'un même poste sont tous deux reçus. Montants totaux du mois, sans rapprochement agent par agent.</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870 : poste EFC | 998 : poste PEP | 9X4 : poste Grenier | 9W3 : poste flotte automobile | 8Z7 : poste MEDOC</a:t>
            </a:r>
          </a:p>
        </p:txBody>
      </p:sp>
    </p:spTree>
    <p:extLst>
      <p:ext uri="{BB962C8B-B14F-4D97-AF65-F5344CB8AC3E}">
        <p14:creationId xmlns:p14="http://schemas.microsoft.com/office/powerpoint/2010/main" val="220599356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écarts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mois extrêmes du PEP s'expliquent par le contenu des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Janvier 2025 : 76,96 %. Juillet 2024 : 150,62 %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50000"/>
            <a:ext cx="10080000" cy="180000"/>
          </a:xfrm>
          <a:prstGeom prst="rect">
            <a:avLst/>
          </a:prstGeom>
          <a:noFill/>
        </p:spPr>
        <p:txBody>
          <a:bodyPr wrap="square" anchor="t" lIns="54000" rIns="54000"/>
          <a:lstStyle/>
          <a:p>
            <a:pPr algn="l"/>
            <a:r>
              <a:rPr sz="900" b="0">
                <a:solidFill>
                  <a:srgbClr val="53565A"/>
                </a:solidFill>
                <a:latin typeface="Helvetica"/>
              </a:rPr>
              <a:t>Extrait : FPPN-SOLDE\PEP\FICHIER ALLER et FICHIER RETOUR</a:t>
            </a:r>
          </a:p>
        </p:txBody>
      </p:sp>
      <p:graphicFrame>
        <p:nvGraphicFramePr>
          <p:cNvPr id="32" name="Table 31"/>
          <p:cNvGraphicFramePr>
            <a:graphicFrameLocks noGrp="1"/>
          </p:cNvGraphicFramePr>
          <p:nvPr/>
        </p:nvGraphicFramePr>
        <p:xfrm>
          <a:off x="503999" y="1548000"/>
          <a:ext cx="10080000" cy="782437"/>
        </p:xfrm>
        <a:graphic>
          <a:graphicData uri="http://schemas.openxmlformats.org/drawingml/2006/table">
            <a:tbl>
              <a:tblPr firstRow="0" bandRow="0">
                <a:tableStyleId>{5940675A-B579-460E-94D1-54222C63F5DA}</a:tableStyleId>
              </a:tblPr>
              <a:tblGrid>
                <a:gridCol w="864000"/>
                <a:gridCol w="2376000"/>
                <a:gridCol w="936000"/>
                <a:gridCol w="1944000"/>
                <a:gridCol w="936000"/>
                <a:gridCol w="1944000"/>
                <a:gridCol w="1080000"/>
              </a:tblGrid>
              <a:tr h="362419">
                <a:tc>
                  <a:txBody>
                    <a:bodyPr/>
                    <a:lstStyle/>
                    <a:p>
                      <a:pPr marL="0" indent="0" lvl="0">
                        <a:buNone/>
                      </a:pPr>
                      <a:r>
                        <a:rPr sz="10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janv.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ALLER JANVIER 2025.xlsx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12 256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156 130 575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9 679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120 164 075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76,96 %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juil. 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ALLER JUILLET 2024.xlsx</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7 180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97 910 325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11 654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147 477 325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150,62 %</a:t>
                      </a:r>
                    </a:p>
                  </a:txBody>
                  <a:tcPr marL="43200" marR="43200" marT="14400" marB="14400" anchor="ctr">
                    <a:solidFill>
                      <a:srgbClr val="F2F2F2"/>
                    </a:solidFill>
                  </a:tcPr>
                </a:tc>
              </a:tr>
            </a:tbl>
          </a:graphicData>
        </a:graphic>
      </p:graphicFrame>
      <p:sp>
        <p:nvSpPr>
          <p:cNvPr id="33" name="Rounded Rectangle 32"/>
          <p:cNvSpPr/>
          <p:nvPr/>
        </p:nvSpPr>
        <p:spPr>
          <a:xfrm>
            <a:off x="6605999" y="1899619"/>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380000" y="17484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605999" y="2109628"/>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80000" y="19584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503999" y="2456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64000" y="2438438"/>
            <a:ext cx="9720000" cy="298144"/>
          </a:xfrm>
          <a:prstGeom prst="rect">
            <a:avLst/>
          </a:prstGeom>
          <a:noFill/>
        </p:spPr>
        <p:txBody>
          <a:bodyPr wrap="square" anchor="t" lIns="54000" rIns="54000"/>
          <a:lstStyle/>
          <a:p>
            <a:pPr algn="l"/>
            <a:r>
              <a:rPr sz="1200" b="0">
                <a:solidFill>
                  <a:srgbClr val="060606"/>
                </a:solidFill>
                <a:latin typeface="Helvetica"/>
              </a:rPr>
              <a:t>En janvier 2025, 2 577 épargnants demandés n'ont pas été précomptés.</a:t>
            </a:r>
          </a:p>
        </p:txBody>
      </p:sp>
      <p:sp>
        <p:nvSpPr>
          <p:cNvPr id="39" name="Oval 38"/>
          <p:cNvSpPr/>
          <p:nvPr/>
        </p:nvSpPr>
        <p:spPr>
          <a:xfrm>
            <a:off x="503999" y="28445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64000" y="2826582"/>
            <a:ext cx="9720000" cy="298144"/>
          </a:xfrm>
          <a:prstGeom prst="rect">
            <a:avLst/>
          </a:prstGeom>
          <a:noFill/>
        </p:spPr>
        <p:txBody>
          <a:bodyPr wrap="square" anchor="t" lIns="54000" rIns="54000"/>
          <a:lstStyle/>
          <a:p>
            <a:pPr algn="l"/>
            <a:r>
              <a:rPr sz="1200" b="0">
                <a:solidFill>
                  <a:srgbClr val="060606"/>
                </a:solidFill>
                <a:latin typeface="Helvetica"/>
              </a:rPr>
              <a:t>En juillet 2024, le fichier retour compte 4 474 lignes de plus que le fichier aller.</a:t>
            </a:r>
          </a:p>
        </p:txBody>
      </p:sp>
      <p:sp>
        <p:nvSpPr>
          <p:cNvPr id="41" name="Oval 40"/>
          <p:cNvSpPr/>
          <p:nvPr/>
        </p:nvSpPr>
        <p:spPr>
          <a:xfrm>
            <a:off x="503999" y="32327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64000" y="3214727"/>
            <a:ext cx="9720000" cy="298144"/>
          </a:xfrm>
          <a:prstGeom prst="rect">
            <a:avLst/>
          </a:prstGeom>
          <a:noFill/>
        </p:spPr>
        <p:txBody>
          <a:bodyPr wrap="square" anchor="t" lIns="54000" rIns="54000"/>
          <a:lstStyle/>
          <a:p>
            <a:pPr algn="l"/>
            <a:r>
              <a:rPr sz="1200" b="0">
                <a:solidFill>
                  <a:srgbClr val="060606"/>
                </a:solidFill>
                <a:latin typeface="Helvetica"/>
              </a:rPr>
              <a:t>Le taux mensuel dépend donc de la qualité des deux fichiers, et le FPPN doit tenir un état des rejets.</a:t>
            </a:r>
          </a:p>
        </p:txBody>
      </p:sp>
      <p:sp>
        <p:nvSpPr>
          <p:cNvPr id="43" name="TextBox 42"/>
          <p:cNvSpPr txBox="1"/>
          <p:nvPr/>
        </p:nvSpPr>
        <p:spPr>
          <a:xfrm>
            <a:off x="503999" y="3656871"/>
            <a:ext cx="11232000" cy="2211128"/>
          </a:xfrm>
          <a:prstGeom prst="rect">
            <a:avLst/>
          </a:prstGeom>
          <a:noFill/>
        </p:spPr>
        <p:txBody>
          <a:bodyPr wrap="square" lIns="54000" rIns="54000"/>
          <a:lstStyle/>
          <a:p>
            <a:pPr algn="just">
              <a:spcAft>
                <a:spcPts val="600"/>
              </a:spcAft>
            </a:pPr>
            <a:r>
              <a:rPr sz="1200" b="1">
                <a:solidFill>
                  <a:srgbClr val="060606"/>
                </a:solidFill>
                <a:latin typeface="Helvetica"/>
              </a:rPr>
              <a:t>Un taux supérieur à 100 % ne signifie pas un trop-perçu.</a:t>
            </a:r>
            <a:r>
              <a:rPr sz="1200" b="0">
                <a:solidFill>
                  <a:srgbClr val="060606"/>
                </a:solidFill>
                <a:latin typeface="Helvetica"/>
              </a:rPr>
              <a:t> Il révèle un fichier aller incomplet, qui n'inclut pas les nouveaux épargnants.</a:t>
            </a:r>
          </a:p>
          <a:p>
            <a:pPr algn="just">
              <a:spcAft>
                <a:spcPts val="600"/>
              </a:spcAft>
            </a:pPr>
            <a:r>
              <a:rPr sz="1200" b="0">
                <a:solidFill>
                  <a:srgbClr val="060606"/>
                </a:solidFill>
                <a:latin typeface="Helvetica"/>
              </a:rPr>
              <a:t>Sans état des rejets, le FPPN ne peut pas prouver que chaque épargnant a été précompté du bon montant : c'est une condition pour reconstituer les comptes individuels.</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GNA : assureur de la flotte automobile (compte 47111106)</a:t>
            </a:r>
          </a:p>
        </p:txBody>
      </p:sp>
    </p:spTree>
    <p:extLst>
      <p:ext uri="{BB962C8B-B14F-4D97-AF65-F5344CB8AC3E}">
        <p14:creationId xmlns:p14="http://schemas.microsoft.com/office/powerpoint/2010/main" val="195478689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vides ou endommagés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fichiers sont vides, illisibles ou mal classés et doivent être renvoyés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fichiers comptables endommagés ont tous un double lisible, sauf le grand livre des comptes 2022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journal de contrôle de l'extraction. Note interne des anomalies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18 : Fichiers à renvoyer ou à corriger</a:t>
            </a:r>
          </a:p>
        </p:txBody>
      </p:sp>
      <p:graphicFrame>
        <p:nvGraphicFramePr>
          <p:cNvPr id="32" name="Table 31"/>
          <p:cNvGraphicFramePr>
            <a:graphicFrameLocks noGrp="1"/>
          </p:cNvGraphicFramePr>
          <p:nvPr/>
        </p:nvGraphicFramePr>
        <p:xfrm>
          <a:off x="503999" y="1655999"/>
          <a:ext cx="11232000" cy="1969651"/>
        </p:xfrm>
        <a:graphic>
          <a:graphicData uri="http://schemas.openxmlformats.org/drawingml/2006/table">
            <a:tbl>
              <a:tblPr firstRow="0" bandRow="0">
                <a:tableStyleId>{5940675A-B579-460E-94D1-54222C63F5DA}</a:tableStyleId>
              </a:tblPr>
              <a:tblGrid>
                <a:gridCol w="4104000"/>
                <a:gridCol w="2232000"/>
                <a:gridCol w="4896000"/>
              </a:tblGrid>
              <a:tr h="225250">
                <a:tc>
                  <a:txBody>
                    <a:bodyPr/>
                    <a:lstStyle/>
                    <a:p>
                      <a:pPr marL="0" indent="0" lvl="0">
                        <a:buNone/>
                      </a:pPr>
                      <a:r>
                        <a:rPr sz="110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Défaut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Décès 8Z6 et maladie 936, décembre 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Vides (0 octet)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mois de décembre 2024 n'a aucune donnée.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MEDOC 8Z7, retours de février et avril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Aucune ligne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précomptes MEDOC de ces deux mois sont inconnus.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Balances des tiers 2021 et 2025 (Excel)</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comptes 2021 et 2024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Grand livre des comptes 2022 (Excel et PDF)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récupéré 417 pages sur 657. La balance 2022 est intacte.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tiers 2023 et 2025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Fichiers aller rangés dans les dossiers retour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 classés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retours de CGRAE juin 2024 et GNA janvier 2026 manquent.</a:t>
                      </a:r>
                    </a:p>
                  </a:txBody>
                  <a:tcPr marL="43200" marR="43200" marT="14400" marB="14400" anchor="ctr">
                    <a:solidFill>
                      <a:srgbClr val="FFFFFF"/>
                    </a:solidFill>
                  </a:tcPr>
                </a:tc>
              </a:tr>
            </a:tbl>
          </a:graphicData>
        </a:graphic>
      </p:graphicFrame>
      <p:sp>
        <p:nvSpPr>
          <p:cNvPr id="33" name="TextBox 32"/>
          <p:cNvSpPr txBox="1"/>
          <p:nvPr/>
        </p:nvSpPr>
        <p:spPr>
          <a:xfrm>
            <a:off x="503999" y="3733655"/>
            <a:ext cx="11232000" cy="162000"/>
          </a:xfrm>
          <a:prstGeom prst="rect">
            <a:avLst/>
          </a:prstGeom>
          <a:noFill/>
        </p:spPr>
        <p:txBody>
          <a:bodyPr wrap="square" anchor="t" lIns="54000" rIns="54000"/>
          <a:lstStyle/>
          <a:p>
            <a:pPr algn="l"/>
            <a:r>
              <a:rPr sz="850" b="0">
                <a:solidFill>
                  <a:srgbClr val="53565A"/>
                </a:solidFill>
                <a:latin typeface="Helvetica"/>
              </a:rPr>
              <a:t>Valable pour : fichiers reçus le 15/10/2026 et le 22/10/2026 dont la lecture a échoué ou qui ne contiennent aucune ligne de données. Liste arrêtée au 22/10/2026.</a:t>
            </a:r>
          </a:p>
        </p:txBody>
      </p:sp>
      <p:sp>
        <p:nvSpPr>
          <p:cNvPr id="34" name="TextBox 33"/>
          <p:cNvSpPr txBox="1"/>
          <p:nvPr/>
        </p:nvSpPr>
        <p:spPr>
          <a:xfrm>
            <a:off x="503999" y="4039655"/>
            <a:ext cx="11232000" cy="1828344"/>
          </a:xfrm>
          <a:prstGeom prst="rect">
            <a:avLst/>
          </a:prstGeom>
          <a:noFill/>
        </p:spPr>
        <p:txBody>
          <a:bodyPr wrap="square" lIns="54000" rIns="54000"/>
          <a:lstStyle/>
          <a:p>
            <a:pPr algn="just">
              <a:spcAft>
                <a:spcPts val="600"/>
              </a:spcAft>
            </a:pPr>
            <a:r>
              <a:rPr sz="1300" b="1">
                <a:solidFill>
                  <a:srgbClr val="060606"/>
                </a:solidFill>
                <a:latin typeface="Helvetica"/>
              </a:rPr>
              <a:t>Les défauts portent sur les fichiers reçus et non sur leur traitement.</a:t>
            </a:r>
            <a:r>
              <a:rPr sz="1300" b="0">
                <a:solidFill>
                  <a:srgbClr val="060606"/>
                </a:solidFill>
                <a:latin typeface="Helvetica"/>
              </a:rPr>
              <a:t> Les empreintes numériques prouvent que les fichiers analysés sont identiques à ceux transmis.</a:t>
            </a:r>
          </a:p>
          <a:p>
            <a:pPr algn="just">
              <a:spcAft>
                <a:spcPts val="600"/>
              </a:spcAft>
            </a:pPr>
            <a:r>
              <a:rPr sz="1300" b="0">
                <a:solidFill>
                  <a:srgbClr val="060606"/>
                </a:solidFill>
                <a:latin typeface="Helvetica"/>
              </a:rPr>
              <a:t>Le renvoi de ces fichiers complètera décembre 2024 et le détail comptable 2022, sans changer les totaux annuels déjà utilisés.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CGRAE : Caisse générale de retraite des agents de l'État | GNA : assureur de la flotte automobile (compte 47111106) | MEDOC : produit santé complémentaire du poste 8Z7 | 936 : poste maladie | 8Z6 : poste décès | 8Z7 : poste MEDOC</a:t>
            </a:r>
          </a:p>
        </p:txBody>
      </p:sp>
    </p:spTree>
    <p:extLst>
      <p:ext uri="{BB962C8B-B14F-4D97-AF65-F5344CB8AC3E}">
        <p14:creationId xmlns:p14="http://schemas.microsoft.com/office/powerpoint/2010/main" val="15305623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base reproduit les fichiers du FPPN sans perte, mais il manque les données nécessaires aux calculs actuariels.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empreintes, les lignes et les totaux des logiciels sont identiques. Adenka a écarté 87 lignes de total et corrigé 17 montants doublés.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qualité des analyses dépend désormais de la transmission des données manquantes, et non plus du traitement des fichiers.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les bases de prestations, les dates de naissance et les fichiers vides de décembre 2024.</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données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reçues sont fidèlement reprises, mais incomplètes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Base contrôlée à 100 %, sans prestations, sans âges et sans précomptes mensuels de 2020 à 2022</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318280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croisé : états financiers et balances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états financiers concordent avec les balances 5 années sur 7</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Total de l'actif, résultat et trésorerie identiques au franc près, sauf en 2023 (deux versions des comptes) et au 31/08/2026 (résultat)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ETATS FINANCIERS 2020.pdf à ETATS FINANCIERS 2025.pdf, ETATS FINANCIERS AU 31-08-2026.pdf, BILAN_DE_L'EXERCICE_CLOS_31.12.2023_(corrigé_et_finalisé)[1].pdf. Balances des comptes du FPPN de 2020 au 31/08/2026 (provisoire), fichiers « BALANCE … » listés en annexe « Fichiers sources ». Traitements Adenka</a:t>
            </a:r>
          </a:p>
        </p:txBody>
      </p:sp>
      <p:sp>
        <p:nvSpPr>
          <p:cNvPr id="31" name="TextBox 30"/>
          <p:cNvSpPr txBox="1"/>
          <p:nvPr/>
        </p:nvSpPr>
        <p:spPr>
          <a:xfrm>
            <a:off x="503999" y="1386000"/>
            <a:ext cx="10584000" cy="216000"/>
          </a:xfrm>
          <a:prstGeom prst="rect">
            <a:avLst/>
          </a:prstGeom>
          <a:noFill/>
        </p:spPr>
        <p:txBody>
          <a:bodyPr wrap="square" anchor="t" lIns="54000" rIns="54000"/>
          <a:lstStyle/>
          <a:p>
            <a:pPr algn="ctr"/>
            <a:r>
              <a:rPr sz="1200" b="0">
                <a:solidFill>
                  <a:srgbClr val="EFAC62"/>
                </a:solidFill>
                <a:latin typeface="Helvetica"/>
              </a:rPr>
              <a:t>Tableau 19 : États financiers et balances : actif brut, résultat, trésorerie</a:t>
            </a:r>
          </a:p>
        </p:txBody>
      </p:sp>
      <p:graphicFrame>
        <p:nvGraphicFramePr>
          <p:cNvPr id="32" name="Table 31"/>
          <p:cNvGraphicFramePr>
            <a:graphicFrameLocks noGrp="1"/>
          </p:cNvGraphicFramePr>
          <p:nvPr/>
        </p:nvGraphicFramePr>
        <p:xfrm>
          <a:off x="503999" y="1655999"/>
          <a:ext cx="10584000" cy="1558144"/>
        </p:xfrm>
        <a:graphic>
          <a:graphicData uri="http://schemas.openxmlformats.org/drawingml/2006/table">
            <a:tbl>
              <a:tblPr firstRow="0" bandRow="0">
                <a:tableStyleId>{5940675A-B579-460E-94D1-54222C63F5DA}</a:tableStyleId>
              </a:tblPr>
              <a:tblGrid>
                <a:gridCol w="1296000"/>
                <a:gridCol w="2160000"/>
                <a:gridCol w="1728000"/>
                <a:gridCol w="2160000"/>
                <a:gridCol w="1728000"/>
                <a:gridCol w="1512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Actif brut (états financiers)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avec la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Résultat (états financiers)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avec la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Trésorerie : écart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14 446 097 044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1 018 579 699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16 195 461 159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2 083 908 202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15 510 713 126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16 157 155 123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928 699 102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-1 930 000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19 396 236 478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21 722 068 914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437 899 911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23 692 620 745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-437 148 460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4 108 040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bl>
          </a:graphicData>
        </a:graphic>
      </p:graphicFrame>
      <p:sp>
        <p:nvSpPr>
          <p:cNvPr id="33" name="TextBox 32"/>
          <p:cNvSpPr txBox="1"/>
          <p:nvPr/>
        </p:nvSpPr>
        <p:spPr>
          <a:xfrm>
            <a:off x="503999" y="3322149"/>
            <a:ext cx="11232000" cy="162000"/>
          </a:xfrm>
          <a:prstGeom prst="rect">
            <a:avLst/>
          </a:prstGeom>
          <a:noFill/>
        </p:spPr>
        <p:txBody>
          <a:bodyPr wrap="square" anchor="t" lIns="54000" rIns="54000"/>
          <a:lstStyle/>
          <a:p>
            <a:pPr algn="l"/>
            <a:r>
              <a:rPr sz="850" b="0">
                <a:solidFill>
                  <a:srgbClr val="53565A"/>
                </a:solidFill>
                <a:latin typeface="Helvetica"/>
              </a:rPr>
              <a:t>Valable pour : exercices 2020 à 2025 et situation au 31/08/2026, totaux du bilan et résultat. Les rubriques détaillées n'ont pas été comparées.</a:t>
            </a:r>
          </a:p>
        </p:txBody>
      </p:sp>
      <p:sp>
        <p:nvSpPr>
          <p:cNvPr id="34" name="TextBox 33"/>
          <p:cNvSpPr txBox="1"/>
          <p:nvPr/>
        </p:nvSpPr>
        <p:spPr>
          <a:xfrm>
            <a:off x="503999" y="3628149"/>
            <a:ext cx="11232000" cy="2239850"/>
          </a:xfrm>
          <a:prstGeom prst="rect">
            <a:avLst/>
          </a:prstGeom>
          <a:noFill/>
        </p:spPr>
        <p:txBody>
          <a:bodyPr wrap="square" lIns="54000" rIns="54000"/>
          <a:lstStyle/>
          <a:p>
            <a:pPr algn="just">
              <a:spcAft>
                <a:spcPts val="600"/>
              </a:spcAft>
            </a:pPr>
            <a:r>
              <a:rPr sz="1300" b="1">
                <a:solidFill>
                  <a:srgbClr val="060606"/>
                </a:solidFill>
                <a:latin typeface="Helvetica"/>
              </a:rPr>
              <a:t>En 2023, les états financiers scannés portent un actif brut inférieur de 10 000 000 FCFA et un excédent de 928 699 102 FCFA, contre 930 629 102 FCFA dans la balance.</a:t>
            </a:r>
            <a:r>
              <a:rPr sz="1300" b="0">
                <a:solidFill>
                  <a:srgbClr val="060606"/>
                </a:solidFill>
                <a:latin typeface="Helvetica"/>
              </a:rPr>
              <a:t> Le rapport de gestion 2023 « corrigé et finalisé » et la colonne 2023 des états financiers 2024 reprennent les montants de la balance : le scan est une version antérieure à la correction.</a:t>
            </a:r>
          </a:p>
          <a:p>
            <a:pPr algn="just">
              <a:spcAft>
                <a:spcPts val="600"/>
              </a:spcAft>
            </a:pPr>
            <a:r>
              <a:rPr sz="1300" b="1">
                <a:solidFill>
                  <a:srgbClr val="060606"/>
                </a:solidFill>
                <a:latin typeface="Helvetica"/>
              </a:rPr>
              <a:t>Au 31/08/2026, le résultat des états financiers (-437 148 460 FCFA) diffère de celui de la balance provisoire (-441 256 500 FCFA).</a:t>
            </a:r>
            <a:r>
              <a:rPr sz="1300" b="0">
                <a:solidFill>
                  <a:srgbClr val="060606"/>
                </a:solidFill>
                <a:latin typeface="Helvetica"/>
              </a:rPr>
              <a:t> L'actif brut et la trésorerie sont pourtant identiques.</a:t>
            </a:r>
          </a:p>
          <a:p>
            <a:pPr algn="just">
              <a:spcAft>
                <a:spcPts val="600"/>
              </a:spcAft>
            </a:pPr>
            <a:r>
              <a:rPr sz="1300" b="0">
                <a:solidFill>
                  <a:srgbClr val="060606"/>
                </a:solidFill>
                <a:latin typeface="Helvetica"/>
              </a:rPr>
              <a:t>Les balances utilisées dans le rapport sont confirmées par les comptes publiés. Le FPPN doit indiquer quelle version des comptes 2023 a été approuvée et expliquer l'écart de résultat au 31/08/2026 (PBC, item 110).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317484975"/>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croisé : effectifs du FPPN et fichiers de la Solde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effectifs déclarés par le FPPN sont ceux des fichiers 8Z6, à dix agents près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nombre d'adhérents du FPPN égale le nombre de lignes 8Z6 en novembre 2024 et décembre 2025. La clé 3,77 / 1,23 s'applique depuis mars 2024</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 Tableau, lignes « NB D'ADHERENTS » et « COTISATIONS PAYEES ».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10584000" cy="216000"/>
          </a:xfrm>
          <a:prstGeom prst="rect">
            <a:avLst/>
          </a:prstGeom>
          <a:noFill/>
        </p:spPr>
        <p:txBody>
          <a:bodyPr wrap="square" anchor="t" lIns="54000" rIns="54000"/>
          <a:lstStyle/>
          <a:p>
            <a:pPr algn="ctr"/>
            <a:r>
              <a:rPr sz="1200" b="0">
                <a:solidFill>
                  <a:srgbClr val="EFAC62"/>
                </a:solidFill>
                <a:latin typeface="Helvetica"/>
              </a:rPr>
              <a:t>Tableau 20 : Adhérents du FPPN, lignes 8Z6 et rapport 8Z6 / 936</a:t>
            </a:r>
          </a:p>
        </p:txBody>
      </p:sp>
      <p:graphicFrame>
        <p:nvGraphicFramePr>
          <p:cNvPr id="32" name="Table 31"/>
          <p:cNvGraphicFramePr>
            <a:graphicFrameLocks noGrp="1"/>
          </p:cNvGraphicFramePr>
          <p:nvPr/>
        </p:nvGraphicFramePr>
        <p:xfrm>
          <a:off x="503999" y="1655999"/>
          <a:ext cx="10584000" cy="2337216"/>
        </p:xfrm>
        <a:graphic>
          <a:graphicData uri="http://schemas.openxmlformats.org/drawingml/2006/table">
            <a:tbl>
              <a:tblPr firstRow="0" bandRow="0">
                <a:tableStyleId>{5940675A-B579-460E-94D1-54222C63F5DA}</a:tableStyleId>
              </a:tblPr>
              <a:tblGrid>
                <a:gridCol w="1440000"/>
                <a:gridCol w="1800000"/>
                <a:gridCol w="1800000"/>
                <a:gridCol w="1224000"/>
                <a:gridCol w="2160000"/>
                <a:gridCol w="2160000"/>
              </a:tblGrid>
              <a:tr h="194768">
                <a:tc>
                  <a:txBody>
                    <a:bodyPr/>
                    <a:lstStyle/>
                    <a:p>
                      <a:pPr marL="0" indent="0" lvl="0">
                        <a:buNone/>
                      </a:pPr>
                      <a:r>
                        <a:rPr sz="9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Adhérents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Lignes 8Z6 (Solde)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Rapport médian 8Z6 / 936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Lignes à la clé 3,77 / 1,23</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11/2024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27 657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27 657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99,95 %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31 678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31 678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99,98 %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01/2026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31 261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31 271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02/2026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31 252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03/2026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31 250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04/2026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31 230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31 240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05/2026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31 244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06/2026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99,98 %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01/2024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23 118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0,3059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13,79 %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02/2024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23 129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12,32 %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03/2024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23 123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100,00 %</a:t>
                      </a:r>
                    </a:p>
                  </a:txBody>
                  <a:tcPr marL="43200" marR="43200" marT="14400" marB="14400" anchor="ctr">
                    <a:solidFill>
                      <a:srgbClr val="FFFFFF"/>
                    </a:solidFill>
                  </a:tcPr>
                </a:tc>
              </a:tr>
            </a:tbl>
          </a:graphicData>
        </a:graphic>
      </p:graphicFrame>
      <p:sp>
        <p:nvSpPr>
          <p:cNvPr id="33" name="TextBox 32"/>
          <p:cNvSpPr txBox="1"/>
          <p:nvPr/>
        </p:nvSpPr>
        <p:spPr>
          <a:xfrm>
            <a:off x="503999" y="4101223"/>
            <a:ext cx="11232000" cy="162000"/>
          </a:xfrm>
          <a:prstGeom prst="rect">
            <a:avLst/>
          </a:prstGeom>
          <a:noFill/>
        </p:spPr>
        <p:txBody>
          <a:bodyPr wrap="square" anchor="t" lIns="54000" rIns="54000"/>
          <a:lstStyle/>
          <a:p>
            <a:pPr algn="l"/>
            <a:r>
              <a:rPr sz="850" b="0">
                <a:solidFill>
                  <a:srgbClr val="53565A"/>
                </a:solidFill>
                <a:latin typeface="Helvetica"/>
              </a:rPr>
              <a:t>Valable pour : mois cités, policiers précomptés par la Solde (8Z6 et 936). Les mois de 2024 sans fichier 8Z6 ne sont pas couverts.</a:t>
            </a:r>
          </a:p>
        </p:txBody>
      </p:sp>
      <p:sp>
        <p:nvSpPr>
          <p:cNvPr id="34" name="TextBox 33"/>
          <p:cNvSpPr txBox="1"/>
          <p:nvPr/>
        </p:nvSpPr>
        <p:spPr>
          <a:xfrm>
            <a:off x="503999" y="4407223"/>
            <a:ext cx="11232000" cy="1460776"/>
          </a:xfrm>
          <a:prstGeom prst="rect">
            <a:avLst/>
          </a:prstGeom>
          <a:noFill/>
        </p:spPr>
        <p:txBody>
          <a:bodyPr wrap="square" lIns="54000" rIns="54000"/>
          <a:lstStyle/>
          <a:p>
            <a:pPr algn="just">
              <a:spcAft>
                <a:spcPts val="600"/>
              </a:spcAft>
            </a:pPr>
            <a:r>
              <a:rPr sz="1300" b="1">
                <a:solidFill>
                  <a:srgbClr val="060606"/>
                </a:solidFill>
                <a:latin typeface="Helvetica"/>
              </a:rPr>
              <a:t>La répartition 3,77 / 1,23 s'applique à 99,99 % des lignes de 2025 et à 99,99 % des lignes de 2026.</a:t>
            </a:r>
            <a:r>
              <a:rPr sz="1300" b="0">
                <a:solidFill>
                  <a:srgbClr val="060606"/>
                </a:solidFill>
                <a:latin typeface="Helvetica"/>
              </a:rPr>
              <a:t> En janvier et février 2024, le rapport médian vaut 0,3059 et 0,3023 : une autre clé s'appliquait alors.</a:t>
            </a:r>
          </a:p>
          <a:p>
            <a:pPr algn="just">
              <a:spcAft>
                <a:spcPts val="600"/>
              </a:spcAft>
            </a:pPr>
            <a:r>
              <a:rPr sz="1300" b="1">
                <a:solidFill>
                  <a:srgbClr val="060606"/>
                </a:solidFill>
                <a:latin typeface="Helvetica"/>
              </a:rPr>
              <a:t>De janvier à juin 2026, le FPPN compte chaque mois dix adhérents de moins que les fichiers 8Z6.</a:t>
            </a:r>
            <a:r>
              <a:rPr sz="1300" b="0">
                <a:solidFill>
                  <a:srgbClr val="060606"/>
                </a:solidFill>
                <a:latin typeface="Helvetica"/>
              </a:rPr>
              <a:t> Les cotisations décès déclarées par le FPPN dépassent aussi la somme des lignes 8Z6 du mois.</a:t>
            </a:r>
          </a:p>
          <a:p>
            <a:pPr algn="just">
              <a:spcAft>
                <a:spcPts val="600"/>
              </a:spcAft>
            </a:pPr>
            <a:r>
              <a:rPr sz="1300" b="0">
                <a:solidFill>
                  <a:srgbClr val="060606"/>
                </a:solidFill>
                <a:latin typeface="Helvetica"/>
              </a:rPr>
              <a:t>Les effectifs utilisés par le FPPN pour ses ratios sont fiables à l'unité près. La clé appliquée avant mars 2024 et l'origine des dix agents d'écart sont à demander (PBC, item 111).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PBC : liste des documents demandés au client | GNA : assureur de la flotte automobile (compte 47111106) | 8Z6 : poste décès</a:t>
            </a:r>
          </a:p>
        </p:txBody>
      </p:sp>
    </p:spTree>
    <p:extLst>
      <p:ext uri="{BB962C8B-B14F-4D97-AF65-F5344CB8AC3E}">
        <p14:creationId xmlns:p14="http://schemas.microsoft.com/office/powerpoint/2010/main" val="2305571954"/>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croisé : rapprochements bancaires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soldes bancaires de la comptabilité sont ceux de la balance. Des chèques restent en suspens depuis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31/12/2025, 49 chèques émis depuis plus d'un an ne sont pas encaissés, pour 14 464 730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ETAT DE RAPPROCHEMENT BANCAIRE FPPN 2020.xlsx à ETAT DE RAPPROCHEMENT BANCAIRE FPPN 2026.xlsx. Balances des comptes du FPPN de 2020 au 31/08/2026 (provisoire), fichiers « BALANCE … » listés en annexe « Fichiers sources ». Traitements Adenka</a:t>
            </a:r>
          </a:p>
        </p:txBody>
      </p:sp>
      <p:sp>
        <p:nvSpPr>
          <p:cNvPr id="31" name="TextBox 30"/>
          <p:cNvSpPr txBox="1"/>
          <p:nvPr/>
        </p:nvSpPr>
        <p:spPr>
          <a:xfrm>
            <a:off x="503999" y="1386000"/>
            <a:ext cx="10944000" cy="216000"/>
          </a:xfrm>
          <a:prstGeom prst="rect">
            <a:avLst/>
          </a:prstGeom>
          <a:noFill/>
        </p:spPr>
        <p:txBody>
          <a:bodyPr wrap="square" anchor="t" lIns="54000" rIns="54000"/>
          <a:lstStyle/>
          <a:p>
            <a:pPr algn="ctr"/>
            <a:r>
              <a:rPr sz="1200" b="0">
                <a:solidFill>
                  <a:srgbClr val="EFAC62"/>
                </a:solidFill>
                <a:latin typeface="Helvetica"/>
              </a:rPr>
              <a:t>Tableau 21 : Rapprochements bancaires au 31 décembre</a:t>
            </a:r>
          </a:p>
        </p:txBody>
      </p:sp>
      <p:graphicFrame>
        <p:nvGraphicFramePr>
          <p:cNvPr id="32" name="Table 31"/>
          <p:cNvGraphicFramePr>
            <a:graphicFrameLocks noGrp="1"/>
          </p:cNvGraphicFramePr>
          <p:nvPr/>
        </p:nvGraphicFramePr>
        <p:xfrm>
          <a:off x="503999" y="1655999"/>
          <a:ext cx="10943998" cy="1500545"/>
        </p:xfrm>
        <a:graphic>
          <a:graphicData uri="http://schemas.openxmlformats.org/drawingml/2006/table">
            <a:tbl>
              <a:tblPr firstRow="0" bandRow="0">
                <a:tableStyleId>{5940675A-B579-460E-94D1-54222C63F5DA}</a:tableStyleId>
              </a:tblPr>
              <a:tblGrid>
                <a:gridCol w="1007999"/>
                <a:gridCol w="1224000"/>
                <a:gridCol w="1368000"/>
                <a:gridCol w="1872000"/>
                <a:gridCol w="1872000"/>
                <a:gridCol w="1944000"/>
                <a:gridCol w="1655999"/>
              </a:tblGrid>
              <a:tr h="331937">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Comptes rapprochés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Soldes égaux à la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comptable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bancaire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Chèques en suspens depuis plus d'un an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241 249 481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276 678 044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2 609 083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2 435 456 722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2 526 941 293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746 468 428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8 791 200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776 810 618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10 505 723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714 979 473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14 286 786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1 588 906 901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14 464 730 FCFA</a:t>
                      </a:r>
                    </a:p>
                  </a:txBody>
                  <a:tcPr marL="43200" marR="43200" marT="14400" marB="14400" anchor="ctr">
                    <a:solidFill>
                      <a:srgbClr val="F2F2F2"/>
                    </a:solidFill>
                  </a:tcPr>
                </a:tc>
              </a:tr>
            </a:tbl>
          </a:graphicData>
        </a:graphic>
      </p:graphicFrame>
      <p:sp>
        <p:nvSpPr>
          <p:cNvPr id="33" name="TextBox 32"/>
          <p:cNvSpPr txBox="1"/>
          <p:nvPr/>
        </p:nvSpPr>
        <p:spPr>
          <a:xfrm>
            <a:off x="503999" y="3264549"/>
            <a:ext cx="11232000" cy="162000"/>
          </a:xfrm>
          <a:prstGeom prst="rect">
            <a:avLst/>
          </a:prstGeom>
          <a:noFill/>
        </p:spPr>
        <p:txBody>
          <a:bodyPr wrap="square" anchor="t" lIns="54000" rIns="54000"/>
          <a:lstStyle/>
          <a:p>
            <a:pPr algn="l"/>
            <a:r>
              <a:rPr sz="850" b="0">
                <a:solidFill>
                  <a:srgbClr val="53565A"/>
                </a:solidFill>
                <a:latin typeface="Helvetica"/>
              </a:rPr>
              <a:t>Valable pour : comptes bancaires présents dans les états de rapprochement (BOA, Banque Atlantique, Orabank), au 31/12 de 2020 à 2025. Les DAT, le FCP et la caisse ne sont pas couverts.</a:t>
            </a:r>
          </a:p>
        </p:txBody>
      </p:sp>
      <p:sp>
        <p:nvSpPr>
          <p:cNvPr id="34" name="TextBox 33"/>
          <p:cNvSpPr txBox="1"/>
          <p:nvPr/>
        </p:nvSpPr>
        <p:spPr>
          <a:xfrm>
            <a:off x="503999" y="3570549"/>
            <a:ext cx="11232000" cy="2297450"/>
          </a:xfrm>
          <a:prstGeom prst="rect">
            <a:avLst/>
          </a:prstGeom>
          <a:noFill/>
        </p:spPr>
        <p:txBody>
          <a:bodyPr wrap="square" lIns="54000" rIns="54000"/>
          <a:lstStyle/>
          <a:p>
            <a:pPr algn="just">
              <a:spcAft>
                <a:spcPts val="600"/>
              </a:spcAft>
            </a:pPr>
            <a:r>
              <a:rPr sz="1300" b="1">
                <a:solidFill>
                  <a:srgbClr val="060606"/>
                </a:solidFill>
                <a:latin typeface="Helvetica"/>
              </a:rPr>
              <a:t>Chaque solde comptable des rapprochements est égal au solde du compte de banque dans la balance, pour toutes les années.</a:t>
            </a:r>
            <a:r>
              <a:rPr sz="1300" b="0">
                <a:solidFill>
                  <a:srgbClr val="060606"/>
                </a:solidFill>
                <a:latin typeface="Helvetica"/>
              </a:rPr>
              <a:t> Les balances sont donc cohérentes avec le suivi bancaire du FPPN.</a:t>
            </a:r>
          </a:p>
          <a:p>
            <a:pPr algn="just">
              <a:spcAft>
                <a:spcPts val="600"/>
              </a:spcAft>
            </a:pPr>
            <a:r>
              <a:rPr sz="1300" b="1">
                <a:solidFill>
                  <a:srgbClr val="060606"/>
                </a:solidFill>
                <a:latin typeface="Helvetica"/>
              </a:rPr>
              <a:t>Le nombre de chèques en suspens depuis plus d'un an passe de 5 fin 2022 à 49 fin 2025</a:t>
            </a:r>
            <a:r>
              <a:rPr sz="1300" b="0">
                <a:solidFill>
                  <a:srgbClr val="060606"/>
                </a:solidFill>
                <a:latin typeface="Helvetica"/>
              </a:rPr>
              <a:t>, le plus ancien datant du 18/03/2021. Une partie concerne le compte BOA de l'EFC, donc des règlements à des mutualistes.</a:t>
            </a:r>
          </a:p>
          <a:p>
            <a:pPr algn="just">
              <a:spcAft>
                <a:spcPts val="600"/>
              </a:spcAft>
            </a:pPr>
            <a:r>
              <a:rPr sz="1300" b="0">
                <a:solidFill>
                  <a:srgbClr val="060606"/>
                </a:solidFill>
                <a:latin typeface="Helvetica"/>
              </a:rPr>
              <a:t>Les chèques non encaissés restent une dette envers les bénéficiaires : leur montant est faible, mais leur ancienneté doit être expliquée et les chèques périmés régularisés (PBC, item 91).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FCP : fonds commun de placement | DAT : dépôt à terme | PBC : liste des documents demandés au client</a:t>
            </a:r>
          </a:p>
        </p:txBody>
      </p:sp>
    </p:spTree>
    <p:extLst>
      <p:ext uri="{BB962C8B-B14F-4D97-AF65-F5344CB8AC3E}">
        <p14:creationId xmlns:p14="http://schemas.microsoft.com/office/powerpoint/2010/main" val="1305024630"/>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Effectifs et cotisations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Cotisants, retraités, taux, cotisations en termes réels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73688228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Effectif</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L'effectif du mois est le nombre de matricules distincts du fichier maladie 936 de ce mois. Trente et un mois sont disponibles.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Flux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Une entrée est un matricule présent un mois et absent le mois précédent. Une sortie est l'inverse. Seuls les mois consécutifs sont comparés.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Taux de cotisation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taux rapporte le précompte du mois au salaire de base du mois, pour chaque agent : 209 670 lignes sont calculées.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fichiers ne donnent pas le motif de sortie (retraite, décès, radiation), ni l'âge, ni le sexe des agents.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effectifs et taux</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Effectifs, flux et taux sont mesurés agent par agent, chaque mois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cotisant est un matricule précompté au poste maladie 936 dans le mois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936 : poste maladie</a:t>
            </a:r>
          </a:p>
        </p:txBody>
      </p:sp>
    </p:spTree>
    <p:extLst>
      <p:ext uri="{BB962C8B-B14F-4D97-AF65-F5344CB8AC3E}">
        <p14:creationId xmlns:p14="http://schemas.microsoft.com/office/powerpoint/2010/main" val="47297693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Effectifs cotisants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cotisants actifs augmentent d'un tiers en trente et un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23 119 cotisants en janvier 2024, 31 198 en août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8 : Cotisants actifs précomptés (poste 936), par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(décembre 2024 : fichier vide)</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cotisants actifs augmentent de 34,95 % en 31 mois.</a:t>
            </a:r>
            <a:r>
              <a:rPr sz="1400" b="0">
                <a:solidFill>
                  <a:srgbClr val="060606"/>
                </a:solidFill>
                <a:latin typeface="Helvetica"/>
              </a:rPr>
              <a:t> Le taux de croissance annuel moyen vaut 12,30 %.</a:t>
            </a:r>
          </a:p>
          <a:p>
            <a:pPr algn="just">
              <a:spcAft>
                <a:spcPts val="600"/>
              </a:spcAft>
            </a:pPr>
            <a:r>
              <a:rPr sz="1400" b="1">
                <a:solidFill>
                  <a:srgbClr val="060606"/>
                </a:solidFill>
                <a:latin typeface="Helvetica"/>
              </a:rPr>
              <a:t>La hausse se fait par paliers en juillet, mois d'intégration des promotions de recrues.</a:t>
            </a:r>
            <a:r>
              <a:rPr sz="1400" b="0">
                <a:solidFill>
                  <a:srgbClr val="060606"/>
                </a:solidFill>
                <a:latin typeface="Helvetica"/>
              </a:rPr>
              <a:t> Les fichiers comptent 4 926 entrées en juillet 2024 et 4 127 en juillet 2025.</a:t>
            </a:r>
          </a:p>
          <a:p>
            <a:pPr algn="just">
              <a:spcAft>
                <a:spcPts val="600"/>
              </a:spcAft>
            </a:pPr>
            <a:r>
              <a:rPr sz="1400" b="1">
                <a:solidFill>
                  <a:srgbClr val="060606"/>
                </a:solidFill>
                <a:latin typeface="Helvetica"/>
              </a:rPr>
              <a:t>La tendance est statistiquement significative.</a:t>
            </a:r>
            <a:r>
              <a:rPr sz="1400" b="0">
                <a:solidFill>
                  <a:srgbClr val="060606"/>
                </a:solidFill>
                <a:latin typeface="Helvetica"/>
              </a:rPr>
              <a:t> Elle correspond à 296,28 cotisants de plus par mois en moyenne.</a:t>
            </a:r>
          </a:p>
          <a:p>
            <a:pPr algn="just">
              <a:spcAft>
                <a:spcPts val="600"/>
              </a:spcAft>
            </a:pPr>
            <a:r>
              <a:rPr sz="1400" b="0">
                <a:solidFill>
                  <a:srgbClr val="060606"/>
                </a:solidFill>
                <a:latin typeface="Helvetica"/>
              </a:rPr>
              <a:t>Les recrues cotisent dès leur entrée, alors que leurs besoins de soins et d'épargne viendront plus tard : la croissance actuelle améliore les comptes de l'année, mais elle prépare des engagements plus importants à long terme, que seule une projection par âge permettra de chiffrer.</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agents précomptés chaque mois dans les fichiers retour du poste 936 (dossier « FPPN-SOLDE\EFFECTIF POLICE (MALADIE) »), janvier 2024 à septembre 2026. Décembre 2024 vide. Hors retraités et civils de la Direction Générale.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936 : poste maladie</a:t>
            </a:r>
          </a:p>
        </p:txBody>
      </p:sp>
    </p:spTree>
    <p:extLst>
      <p:ext uri="{BB962C8B-B14F-4D97-AF65-F5344CB8AC3E}">
        <p14:creationId xmlns:p14="http://schemas.microsoft.com/office/powerpoint/2010/main" val="3373111701"/>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Entrées et sorties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entrées massives de juillet s'opposent à des sorties faibles et régulières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Entrées : 6 240 en 2024, 4 274 en 2025. Sorties : 1 753 et 464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9 : Entrées et sorties de cotisants,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entrées sont concentrées en juillet, mois d'intégration des recrues.</a:t>
            </a:r>
            <a:r>
              <a:rPr sz="1400" b="0">
                <a:solidFill>
                  <a:srgbClr val="060606"/>
                </a:solidFill>
                <a:latin typeface="Helvetica"/>
              </a:rPr>
              <a:t> Les autres mois, les entrées et les sorties restent faibles.</a:t>
            </a:r>
          </a:p>
          <a:p>
            <a:pPr algn="just">
              <a:spcAft>
                <a:spcPts val="600"/>
              </a:spcAft>
            </a:pPr>
            <a:r>
              <a:rPr sz="1400" b="1">
                <a:solidFill>
                  <a:srgbClr val="060606"/>
                </a:solidFill>
                <a:latin typeface="Helvetica"/>
              </a:rPr>
              <a:t>Les sorties ne dépassent la moyenne qu'en novembre 2024 et en janvier 2026.</a:t>
            </a:r>
            <a:r>
              <a:rPr sz="1400" b="0">
                <a:solidFill>
                  <a:srgbClr val="060606"/>
                </a:solidFill>
                <a:latin typeface="Helvetica"/>
              </a:rPr>
              <a:t> Leur motif n'est pas indiqué dans les fichiers.</a:t>
            </a:r>
          </a:p>
          <a:p>
            <a:pPr algn="just">
              <a:spcAft>
                <a:spcPts val="600"/>
              </a:spcAft>
            </a:pPr>
            <a:r>
              <a:rPr sz="1400" b="1">
                <a:solidFill>
                  <a:srgbClr val="060606"/>
                </a:solidFill>
                <a:latin typeface="Helvetica"/>
              </a:rPr>
              <a:t>La fidélisation des adhérents est forte.</a:t>
            </a:r>
            <a:r>
              <a:rPr sz="1400" b="0">
                <a:solidFill>
                  <a:srgbClr val="060606"/>
                </a:solidFill>
                <a:latin typeface="Helvetica"/>
              </a:rPr>
              <a:t> Parmi les matricules précomptés en 2024, 96,49 % le sont encore en 2025, au-dessus de la norme d'au moins 80 % de la Décision n° 05/2022.</a:t>
            </a:r>
          </a:p>
          <a:p>
            <a:pPr algn="just">
              <a:spcAft>
                <a:spcPts val="600"/>
              </a:spcAft>
            </a:pPr>
            <a:r>
              <a:rPr sz="1400" b="0">
                <a:solidFill>
                  <a:srgbClr val="060606"/>
                </a:solidFill>
                <a:latin typeface="Helvetica"/>
              </a:rPr>
              <a:t>Le motif de chaque sortie est indispensable pour séparer retraites, décès et radiations, et donc pour mesurer la mortalité des policiers et projeter les départs.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matricules présents un mois et absents le suivant (ou l'inverse) dans les fichiers retour du poste 936 (dossier « FPPN-SOLDE\EFFECTIF POLICE (MALADIE) »), janvier 2024 à septembre 2026. Ne distingue pas retraite, décès et radiation.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936 : poste maladie</a:t>
            </a:r>
          </a:p>
        </p:txBody>
      </p:sp>
    </p:spTree>
    <p:extLst>
      <p:ext uri="{BB962C8B-B14F-4D97-AF65-F5344CB8AC3E}">
        <p14:creationId xmlns:p14="http://schemas.microsoft.com/office/powerpoint/2010/main" val="1516803451"/>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des effectifs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population jeune en service, recrutée en majorité depuis moins de dix ans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janv. 25, ancienneté médiane de 7,50 ans, salaire de base médian de 186 765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10 : Agents par ancienneté de service, janv. 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d'agents</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(fichiers maladie 936 détaillés)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56,82 % des agents ont moins de dix ans de service.</a:t>
            </a:r>
            <a:r>
              <a:rPr sz="1400" b="0">
                <a:solidFill>
                  <a:srgbClr val="060606"/>
                </a:solidFill>
                <a:latin typeface="Helvetica"/>
              </a:rPr>
              <a:t> Les recrutements récents dominent la population cotisante.</a:t>
            </a:r>
          </a:p>
          <a:p>
            <a:pPr algn="just">
              <a:spcAft>
                <a:spcPts val="600"/>
              </a:spcAft>
            </a:pPr>
            <a:r>
              <a:rPr sz="1400" b="1">
                <a:solidFill>
                  <a:srgbClr val="060606"/>
                </a:solidFill>
                <a:latin typeface="Helvetica"/>
              </a:rPr>
              <a:t>Une seconde vague a 15 à 25 ans de service.</a:t>
            </a:r>
            <a:r>
              <a:rPr sz="1400" b="0">
                <a:solidFill>
                  <a:srgbClr val="060606"/>
                </a:solidFill>
                <a:latin typeface="Helvetica"/>
              </a:rPr>
              <a:t> Elle regroupe 30,79 % des agents.</a:t>
            </a:r>
          </a:p>
          <a:p>
            <a:pPr algn="just">
              <a:spcAft>
                <a:spcPts val="600"/>
              </a:spcAft>
            </a:pPr>
            <a:r>
              <a:rPr sz="1400" b="1">
                <a:solidFill>
                  <a:srgbClr val="060606"/>
                </a:solidFill>
                <a:latin typeface="Helvetica"/>
              </a:rPr>
              <a:t>Cette seconde vague partira à la retraite dans les années à venir.</a:t>
            </a:r>
            <a:r>
              <a:rPr sz="1400" b="0">
                <a:solidFill>
                  <a:srgbClr val="060606"/>
                </a:solidFill>
                <a:latin typeface="Helvetica"/>
              </a:rPr>
              <a:t> Elle deviendra une population de retraités précomptés par la CGRAE, qui consomme davantage de soins.</a:t>
            </a:r>
          </a:p>
          <a:p>
            <a:pPr algn="just">
              <a:spcAft>
                <a:spcPts val="600"/>
              </a:spcAft>
            </a:pPr>
            <a:r>
              <a:rPr sz="1400" b="0">
                <a:solidFill>
                  <a:srgbClr val="060606"/>
                </a:solidFill>
                <a:latin typeface="Helvetica"/>
              </a:rPr>
              <a:t>Les départs de cette vague déclencheront le versement de l'EFC et une hausse de la sinistralité des retraités : c'est le premier effet que la projection de l'équilibre devra chiffrer dès réception des âges.</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ancienneté de service calculée sur la date d'entrée des fichiers retour du poste 936 (dossier « FPPN-SOLDE\EFFECTIF POLICE (MALADIE) ») de janvier 2025. Âge non disponible.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EFC : entraide fin de carrière | GNA : assureur de la flotte automobile (compte 47111106) | 936 : poste maladie</a:t>
            </a:r>
          </a:p>
        </p:txBody>
      </p:sp>
    </p:spTree>
    <p:extLst>
      <p:ext uri="{BB962C8B-B14F-4D97-AF65-F5344CB8AC3E}">
        <p14:creationId xmlns:p14="http://schemas.microsoft.com/office/powerpoint/2010/main" val="141748241"/>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Pour chaque agent, maladie et décès font 5,00 % du salaire de base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taux maladie de 3,77 % se retrouve sur 209 670 lignes de huit mois. Le taux décès de 1,23 % est mesuré en avril 2024 et janvier 2025, puis confirmé par le rapport 8Z6 / 936 (partie 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Matricules masqués</a:t>
            </a:r>
          </a:p>
        </p:txBody>
      </p:sp>
      <p:sp>
        <p:nvSpPr>
          <p:cNvPr id="31" name="TextBox 30"/>
          <p:cNvSpPr txBox="1"/>
          <p:nvPr/>
        </p:nvSpPr>
        <p:spPr>
          <a:xfrm>
            <a:off x="503999" y="1350000"/>
            <a:ext cx="9648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(MALADIE)\2024\042024_effectif_police_936_AVRIL 2024.xlsx et FPPN_ALLOC_DECES_8Z6_AVRIL_2024.xlsx</a:t>
            </a:r>
          </a:p>
        </p:txBody>
      </p:sp>
      <p:graphicFrame>
        <p:nvGraphicFramePr>
          <p:cNvPr id="32" name="Table 31"/>
          <p:cNvGraphicFramePr>
            <a:graphicFrameLocks noGrp="1"/>
          </p:cNvGraphicFramePr>
          <p:nvPr/>
        </p:nvGraphicFramePr>
        <p:xfrm>
          <a:off x="503999" y="1548000"/>
          <a:ext cx="9648000" cy="840036"/>
        </p:xfrm>
        <a:graphic>
          <a:graphicData uri="http://schemas.openxmlformats.org/drawingml/2006/table">
            <a:tbl>
              <a:tblPr firstRow="0" bandRow="0">
                <a:tableStyleId>{5940675A-B579-460E-94D1-54222C63F5DA}</a:tableStyleId>
              </a:tblPr>
              <a:tblGrid>
                <a:gridCol w="1152000"/>
                <a:gridCol w="792000"/>
                <a:gridCol w="1512000"/>
                <a:gridCol w="1368000"/>
                <a:gridCol w="1296000"/>
                <a:gridCol w="1224000"/>
                <a:gridCol w="1152000"/>
                <a:gridCol w="1152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Grade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Salaire de base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936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8Z6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163***W</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301159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11354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171***W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MQ</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438898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16546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5398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172***N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817097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30805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10050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bl>
          </a:graphicData>
        </a:graphic>
      </p:graphicFrame>
      <p:sp>
        <p:nvSpPr>
          <p:cNvPr id="33" name="Rounded Rectangle 32"/>
          <p:cNvSpPr/>
          <p:nvPr/>
        </p:nvSpPr>
        <p:spPr>
          <a:xfrm>
            <a:off x="660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7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829999"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9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8982000"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2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2514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2496038"/>
            <a:ext cx="9288000" cy="298144"/>
          </a:xfrm>
          <a:prstGeom prst="rect">
            <a:avLst/>
          </a:prstGeom>
          <a:noFill/>
        </p:spPr>
        <p:txBody>
          <a:bodyPr wrap="square" anchor="t" lIns="54000" rIns="54000"/>
          <a:lstStyle/>
          <a:p>
            <a:pPr algn="l"/>
            <a:r>
              <a:rPr sz="1200" b="0">
                <a:solidFill>
                  <a:srgbClr val="060606"/>
                </a:solidFill>
                <a:latin typeface="Helvetica"/>
              </a:rPr>
              <a:t>Le précompte maladie vaut 11 354 / 301 159 = 3,77 % du salaire de base, au lieu de 3,5 %.</a:t>
            </a:r>
          </a:p>
        </p:txBody>
      </p:sp>
      <p:sp>
        <p:nvSpPr>
          <p:cNvPr id="41" name="Oval 40"/>
          <p:cNvSpPr/>
          <p:nvPr/>
        </p:nvSpPr>
        <p:spPr>
          <a:xfrm>
            <a:off x="503999" y="29021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2884182"/>
            <a:ext cx="9288000" cy="298144"/>
          </a:xfrm>
          <a:prstGeom prst="rect">
            <a:avLst/>
          </a:prstGeom>
          <a:noFill/>
        </p:spPr>
        <p:txBody>
          <a:bodyPr wrap="square" anchor="t" lIns="54000" rIns="54000"/>
          <a:lstStyle/>
          <a:p>
            <a:pPr algn="l"/>
            <a:r>
              <a:rPr sz="1200" b="0">
                <a:solidFill>
                  <a:srgbClr val="060606"/>
                </a:solidFill>
                <a:latin typeface="Helvetica"/>
              </a:rPr>
              <a:t>Le précompte décès vaut 3 704 / 301 159 = 1,23 % du salaire de base, au lieu de 1,5 %.</a:t>
            </a:r>
          </a:p>
        </p:txBody>
      </p:sp>
      <p:sp>
        <p:nvSpPr>
          <p:cNvPr id="43" name="Oval 42"/>
          <p:cNvSpPr/>
          <p:nvPr/>
        </p:nvSpPr>
        <p:spPr>
          <a:xfrm>
            <a:off x="503999" y="32903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3272327"/>
            <a:ext cx="9288000" cy="298144"/>
          </a:xfrm>
          <a:prstGeom prst="rect">
            <a:avLst/>
          </a:prstGeom>
          <a:noFill/>
        </p:spPr>
        <p:txBody>
          <a:bodyPr wrap="square" anchor="t" lIns="54000" rIns="54000"/>
          <a:lstStyle/>
          <a:p>
            <a:pPr algn="l"/>
            <a:r>
              <a:rPr sz="1200" b="0">
                <a:solidFill>
                  <a:srgbClr val="060606"/>
                </a:solidFill>
                <a:latin typeface="Helvetica"/>
              </a:rPr>
              <a:t>Le total de 5,00 % est respecté, mais la répartition entre maladie et décès diffère du barème indiqué.</a:t>
            </a:r>
          </a:p>
        </p:txBody>
      </p:sp>
      <p:sp>
        <p:nvSpPr>
          <p:cNvPr id="45" name="TextBox 44"/>
          <p:cNvSpPr txBox="1"/>
          <p:nvPr/>
        </p:nvSpPr>
        <p:spPr>
          <a:xfrm>
            <a:off x="503999" y="3714471"/>
            <a:ext cx="11232000" cy="2153528"/>
          </a:xfrm>
          <a:prstGeom prst="rect">
            <a:avLst/>
          </a:prstGeom>
          <a:noFill/>
        </p:spPr>
        <p:txBody>
          <a:bodyPr wrap="square" lIns="54000" rIns="54000"/>
          <a:lstStyle/>
          <a:p>
            <a:pPr algn="just">
              <a:spcAft>
                <a:spcPts val="600"/>
              </a:spcAft>
            </a:pPr>
            <a:r>
              <a:rPr sz="1200" b="1">
                <a:solidFill>
                  <a:srgbClr val="060606"/>
                </a:solidFill>
                <a:latin typeface="Helvetica"/>
              </a:rPr>
              <a:t>La Solde applique la même clé à tous les agents.</a:t>
            </a:r>
            <a:r>
              <a:rPr sz="1200" b="0">
                <a:solidFill>
                  <a:srgbClr val="060606"/>
                </a:solidFill>
                <a:latin typeface="Helvetica"/>
              </a:rPr>
              <a:t> L'écart avec le barème n'est donc pas une erreur ponctuelle, mais une règle de calcul.</a:t>
            </a:r>
          </a:p>
          <a:p>
            <a:pPr algn="just">
              <a:spcAft>
                <a:spcPts val="600"/>
              </a:spcAft>
            </a:pPr>
            <a:r>
              <a:rPr sz="1200" b="0">
                <a:solidFill>
                  <a:srgbClr val="060606"/>
                </a:solidFill>
                <a:latin typeface="Helvetica"/>
              </a:rPr>
              <a:t>Le barème officiel est fixé par les statuts (art. 17) et le règlement intérieur (art. 33) : la répartition de la Solde doit être corrigée ou expliquée, faute de quoi le résultat de chaque garantie dépend de la source retenue.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936 : poste maladie | 8Z6 : poste décès</a:t>
            </a:r>
          </a:p>
        </p:txBody>
      </p:sp>
    </p:spTree>
    <p:extLst>
      <p:ext uri="{BB962C8B-B14F-4D97-AF65-F5344CB8AC3E}">
        <p14:creationId xmlns:p14="http://schemas.microsoft.com/office/powerpoint/2010/main" val="2027441912"/>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clés de répartition coexistent pour le même taux de 5 %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des statuts 3,5 / 1,5. Solde 3,77 / 1,23. Comptabilité 2025 3,52 / 1,48</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11 : Répartition du taux de 5 % selon la source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salaire de base</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Balances des comptes du FPPN de 2020 au 31/08/2026 (provisoire), fichiers « BALANCE … » listés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total de 5 % est respecté dans les trois sources.</a:t>
            </a:r>
            <a:r>
              <a:rPr sz="1400" b="0">
                <a:solidFill>
                  <a:srgbClr val="060606"/>
                </a:solidFill>
                <a:latin typeface="Helvetica"/>
              </a:rPr>
              <a:t> Seule la répartition entre maladie et décès change.</a:t>
            </a:r>
          </a:p>
          <a:p>
            <a:pPr algn="just">
              <a:spcAft>
                <a:spcPts val="600"/>
              </a:spcAft>
            </a:pPr>
            <a:r>
              <a:rPr sz="1400" b="1">
                <a:solidFill>
                  <a:srgbClr val="060606"/>
                </a:solidFill>
                <a:latin typeface="Helvetica"/>
              </a:rPr>
              <a:t>La Solde retient 3,77 % au poste maladie et 1,23 % au poste décès.</a:t>
            </a:r>
            <a:r>
              <a:rPr sz="1400" b="0">
                <a:solidFill>
                  <a:srgbClr val="060606"/>
                </a:solidFill>
                <a:latin typeface="Helvetica"/>
              </a:rPr>
              <a:t> Les statuts (art. 17) et le règlement intérieur (art. 33) fixent 3,5 % et 1,5 %, comme l'avait indiqué le responsable des sinistres et prestations le 16/10/2026. Le responsable des cotisations renvoie la répartition à la comptabilité (entretien du 19/10/2026).</a:t>
            </a:r>
          </a:p>
          <a:p>
            <a:pPr algn="just">
              <a:spcAft>
                <a:spcPts val="600"/>
              </a:spcAft>
            </a:pPr>
            <a:r>
              <a:rPr sz="1400" b="1">
                <a:solidFill>
                  <a:srgbClr val="060606"/>
                </a:solidFill>
                <a:latin typeface="Helvetica"/>
              </a:rPr>
              <a:t>La comptabilité affecte 70,50 % des cotisations à la maladie</a:t>
            </a:r>
            <a:r>
              <a:rPr sz="1400" b="0">
                <a:solidFill>
                  <a:srgbClr val="060606"/>
                </a:solidFill>
                <a:latin typeface="Helvetica"/>
              </a:rPr>
              <a:t>, proche des 70 % du barème indiqué en entretien. Elle ne suit donc pas la Solde.</a:t>
            </a:r>
          </a:p>
          <a:p>
            <a:pPr algn="just">
              <a:spcAft>
                <a:spcPts val="600"/>
              </a:spcAft>
            </a:pPr>
            <a:r>
              <a:rPr sz="1400" b="0">
                <a:solidFill>
                  <a:srgbClr val="060606"/>
                </a:solidFill>
                <a:latin typeface="Helvetica"/>
              </a:rPr>
              <a:t>La Décision n° 05/2022 impose de suivre l'excédent par risque : sans clé unique, le FPPN ne peut pas calculer la réserve obligatoire exigée pour chaque risque (au moins 30 % de l'excédent maladie, 50 % des autres).</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taux maladie : colonne du salaire de base des fichiers retour du poste 936 (dossier « FPPN-SOLDE\EFFECTIF POLICE (MALADIE) ») (huit mois détaillés). Taux décès : fichiers retour du poste 8Z6 (dossier « FPPN-SOLDE\ALLOCATION DECES ») rapportés au 936 de mars 2024 à septembre 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936 : poste maladie | 8Z6 : poste décès</a:t>
            </a:r>
          </a:p>
        </p:txBody>
      </p:sp>
    </p:spTree>
    <p:extLst>
      <p:ext uri="{BB962C8B-B14F-4D97-AF65-F5344CB8AC3E}">
        <p14:creationId xmlns:p14="http://schemas.microsoft.com/office/powerpoint/2010/main" val="2149427568"/>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clé de répartition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clé retenue change la sinistralité de chaque garantie de plusieurs points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avec la clé comptable, 68,75 % avec la clé de la Solde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12 : Ratio S/C 2025 selon la clé de répartition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Avec la clé de la Solde, le S/C maladie 2025 passe à 68,75 %</a:t>
            </a:r>
            <a:r>
              <a:rPr sz="1400" b="0">
                <a:solidFill>
                  <a:srgbClr val="060606"/>
                </a:solidFill>
                <a:latin typeface="Helvetica"/>
              </a:rPr>
              <a:t> et le S/C décès monte à 22,97 %.</a:t>
            </a:r>
          </a:p>
          <a:p>
            <a:pPr algn="just">
              <a:spcAft>
                <a:spcPts val="600"/>
              </a:spcAft>
            </a:pPr>
            <a:r>
              <a:rPr sz="1400" b="1">
                <a:solidFill>
                  <a:srgbClr val="060606"/>
                </a:solidFill>
                <a:latin typeface="Helvetica"/>
              </a:rPr>
              <a:t>Avec le barème indiqué en entretien, le S/C maladie vaut 74,06 %.</a:t>
            </a:r>
            <a:r>
              <a:rPr sz="1400" b="0">
                <a:solidFill>
                  <a:srgbClr val="060606"/>
                </a:solidFill>
                <a:latin typeface="Helvetica"/>
              </a:rPr>
              <a:t> Les prestations restent les mêmes : seule l'affectation des cotisations change.</a:t>
            </a:r>
          </a:p>
          <a:p>
            <a:pPr algn="just">
              <a:spcAft>
                <a:spcPts val="600"/>
              </a:spcAft>
            </a:pPr>
            <a:r>
              <a:rPr sz="1400" b="1">
                <a:solidFill>
                  <a:srgbClr val="060606"/>
                </a:solidFill>
                <a:latin typeface="Helvetica"/>
              </a:rPr>
              <a:t>Le résultat par garantie dépend donc d'une décision de gestion.</a:t>
            </a:r>
            <a:r>
              <a:rPr sz="1400" b="0">
                <a:solidFill>
                  <a:srgbClr val="060606"/>
                </a:solidFill>
                <a:latin typeface="Helvetica"/>
              </a:rPr>
              <a:t> Cette décision doit être écrite dans le barème et appliquée de la même façon par la Solde et par la comptabilité.</a:t>
            </a:r>
          </a:p>
          <a:p>
            <a:pPr algn="just">
              <a:spcAft>
                <a:spcPts val="600"/>
              </a:spcAft>
            </a:pPr>
            <a:r>
              <a:rPr sz="1400" b="0">
                <a:solidFill>
                  <a:srgbClr val="060606"/>
                </a:solidFill>
                <a:latin typeface="Helvetica"/>
              </a:rPr>
              <a:t>Selon la clé, la maladie se situe dans la fourchette réglementaire de 70 % à 80 % ou en dessous : la conclusion sur l'équilibre de la garantie maladie ne sera ferme qu'avec le barème officiel.</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exercice 2025. Cotisations des comptes 7010 et 7021 de « BALANCE FPPN 2025.xlsx » réparties entre maladie et décès selon la clé testée.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184373723"/>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en termes réels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Hors inflation, les cotisations progressent de 23 %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Hausse nominale 45,76 %, hausse des prix 18,50 %, hausse réelle 23,01 %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13 : Cotisations nominales et réelles (francs de 2020)</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Banque mondiale, FP.CPI.TOTL.ZG, mise à jour du 08/10/2026.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L'inflation explique une partie de la hausse des cotisations.</a:t>
            </a:r>
            <a:r>
              <a:rPr sz="1400" b="0">
                <a:solidFill>
                  <a:srgbClr val="060606"/>
                </a:solidFill>
                <a:latin typeface="Helvetica"/>
              </a:rPr>
              <a:t> Les prix ont augmenté de 18,50 % entre 2020 et 2025.</a:t>
            </a:r>
          </a:p>
          <a:p>
            <a:pPr algn="just">
              <a:spcAft>
                <a:spcPts val="600"/>
              </a:spcAft>
            </a:pPr>
            <a:r>
              <a:rPr sz="1400" b="1">
                <a:solidFill>
                  <a:srgbClr val="060606"/>
                </a:solidFill>
                <a:latin typeface="Helvetica"/>
              </a:rPr>
              <a:t>La hausse réelle reste nette : 23,01 %.</a:t>
            </a:r>
            <a:r>
              <a:rPr sz="1400" b="0">
                <a:solidFill>
                  <a:srgbClr val="060606"/>
                </a:solidFill>
                <a:latin typeface="Helvetica"/>
              </a:rPr>
              <a:t> Elle vient surtout de la hausse des effectifs, le taux de 5 % étant resté le même.</a:t>
            </a:r>
          </a:p>
          <a:p>
            <a:pPr algn="just">
              <a:spcAft>
                <a:spcPts val="600"/>
              </a:spcAft>
            </a:pPr>
            <a:r>
              <a:rPr sz="1400" b="1">
                <a:solidFill>
                  <a:srgbClr val="060606"/>
                </a:solidFill>
                <a:latin typeface="Helvetica"/>
              </a:rPr>
              <a:t>L'inflation de 2025 est très faible (0,13 %)</a:t>
            </a:r>
            <a:r>
              <a:rPr sz="1400" b="0">
                <a:solidFill>
                  <a:srgbClr val="060606"/>
                </a:solidFill>
                <a:latin typeface="Helvetica"/>
              </a:rPr>
              <a:t>, après 5,23 % en 2022.</a:t>
            </a:r>
          </a:p>
          <a:p>
            <a:pPr algn="just">
              <a:spcAft>
                <a:spcPts val="600"/>
              </a:spcAft>
            </a:pPr>
            <a:r>
              <a:rPr sz="1400" b="0">
                <a:solidFill>
                  <a:srgbClr val="060606"/>
                </a:solidFill>
                <a:latin typeface="Helvetica"/>
              </a:rPr>
              <a:t>Le coût des soins suit les prix de la santé : une cotisation fixée en pourcentage du salaire ne protège le FPPN que si les salaires suivent ces prix. La projection devra tester cette hypothèse.</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cotisations des comptes 7010 et 7021 des balances « BALANCE FORMAT EXCEL DE 09-2020 AU 31-12-2020.xlsx » à « BALANCE FPPN DU 01-01-2026 AU 31-08-2026.xlsx », 2020 à 2025. Inflation de la Banque mondiale (FP.CPI.TOTL.ZG, Côte d'Ivoire), francs de 2020.</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89025903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comptabilisées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comptabilisées progressent de 45,76 %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2 344 618 501 FCFA en 2020, 3 417 551 722 FCFA en 2025. Taux de croissance annuel moyen 7,83 %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14 : Cotisations comptabilisées par garantie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2025, comptabilité et précomptes maladie diffèrent de 6,89 %.</a:t>
            </a:r>
            <a:r>
              <a:rPr sz="1400" b="0">
                <a:solidFill>
                  <a:srgbClr val="060606"/>
                </a:solidFill>
                <a:latin typeface="Helvetica"/>
              </a:rPr>
              <a:t> La comptabilité enregistre 2 409 281 030 FCFA, contre 2 587 432 980 FCFA de précomptes.</a:t>
            </a:r>
          </a:p>
          <a:p>
            <a:pPr algn="just">
              <a:spcAft>
                <a:spcPts val="600"/>
              </a:spcAft>
            </a:pPr>
            <a:r>
              <a:rPr sz="1400" b="1">
                <a:solidFill>
                  <a:srgbClr val="060606"/>
                </a:solidFill>
                <a:latin typeface="Helvetica"/>
              </a:rPr>
              <a:t>L'écart vient de la clé de répartition.</a:t>
            </a:r>
            <a:r>
              <a:rPr sz="1400" b="0">
                <a:solidFill>
                  <a:srgbClr val="060606"/>
                </a:solidFill>
                <a:latin typeface="Helvetica"/>
              </a:rPr>
              <a:t> La comptabilité affecte au décès une part des cotisations plus grande que la Solde.</a:t>
            </a:r>
          </a:p>
          <a:p>
            <a:pPr algn="just">
              <a:spcAft>
                <a:spcPts val="600"/>
              </a:spcAft>
            </a:pPr>
            <a:r>
              <a:rPr sz="1400" b="1">
                <a:solidFill>
                  <a:srgbClr val="060606"/>
                </a:solidFill>
                <a:latin typeface="Helvetica"/>
              </a:rPr>
              <a:t>Fin 2025, l'État devait 704 189 157 FCFA de cotisations.</a:t>
            </a:r>
            <a:r>
              <a:rPr sz="1400" b="0">
                <a:solidFill>
                  <a:srgbClr val="060606"/>
                </a:solidFill>
                <a:latin typeface="Helvetica"/>
              </a:rPr>
              <a:t> Le compte est soldé au 31/08/2026.</a:t>
            </a:r>
          </a:p>
          <a:p>
            <a:pPr algn="just">
              <a:spcAft>
                <a:spcPts val="600"/>
              </a:spcAft>
            </a:pPr>
            <a:r>
              <a:rPr sz="1400" b="0">
                <a:solidFill>
                  <a:srgbClr val="060606"/>
                </a:solidFill>
                <a:latin typeface="Helvetica"/>
              </a:rPr>
              <a:t>Les cotisations totales concordent, mais leur partage entre maladie et décès diffère selon la source. Tant que cet écart n'est pas réglé, la sinistralité et l'excédent de chaque risque restent incertains.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7010 (maladie) et 7021 (décès) des balances « BALANCE FORMAT EXCEL DE 09-2020 AU 31-12-2020.xlsx » à « BALANCE FPPN DU 01-01-2026 AU 31-08-2026.xlsx », 2020 à 2025 et du 01/01 au 31/08/2026. 2020 = à-nouveaux au 01/09/2020 plus mouvements du 01/09 au 31/12/2020.</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094341234"/>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des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fichiers confirment les montants de l'EFC et du PEP. Les textes reçus le 22/10/2026 ne sont pas adoptés formellement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en pourcentage du salaire de base, EFC et PEP en montants fixes, sans règle écrite transmise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22 : Règles des produits déclarées et confrontées aux fichiers de précomptes</a:t>
            </a:r>
          </a:p>
        </p:txBody>
      </p:sp>
      <p:graphicFrame>
        <p:nvGraphicFramePr>
          <p:cNvPr id="32" name="Table 31"/>
          <p:cNvGraphicFramePr>
            <a:graphicFrameLocks noGrp="1"/>
          </p:cNvGraphicFramePr>
          <p:nvPr/>
        </p:nvGraphicFramePr>
        <p:xfrm>
          <a:off x="503999" y="1655999"/>
          <a:ext cx="11232000" cy="2265957"/>
        </p:xfrm>
        <a:graphic>
          <a:graphicData uri="http://schemas.openxmlformats.org/drawingml/2006/table">
            <a:tbl>
              <a:tblPr firstRow="0" bandRow="0">
                <a:tableStyleId>{5940675A-B579-460E-94D1-54222C63F5DA}</a:tableStyleId>
              </a:tblPr>
              <a:tblGrid>
                <a:gridCol w="1296000"/>
                <a:gridCol w="3600000"/>
                <a:gridCol w="3600000"/>
                <a:gridCol w="2736000"/>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déclarée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 montrent les fichiers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À confirmer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Pourcentage du salaire de base. La répartition entre maladie et décès relève de la comptabilité.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Solde retient 3,77 % et 1,23 % du salaire de base, soit 5,00 % au 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Barème officiel et document de notification à la Solde (PBC, item 56).</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EFC (870)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6 000 FCFA par mois avant 2021, 10 000 FCFA pour les souscriptions depuis 2021. Les anciens souscripteurs restent à 6 000 FCFA et peuvent passer à 10 000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FCFA : 62,52 % des lignes en 2023 et 84,98 % en 2026. 6 000 FCFA : 37,38 % puis 14,99 %.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document formel selon l'interlocuteur (PBC, item 58).</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PEP (998)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À partir de 10 000 FCFA, par paliers de 5 000 FCFA. Durée à vérifier.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99,80 % des montants sont des multiples de 5 000 FCFA et 0,11 % sont inférieurs à 10 000 FCFA. Montant maximal : 300 000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Durée des plans et conditions de retrait (PBC, item 57).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et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Présentés aux élèves policiers comme obligatoires dès l'école, sans texte.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 dans les fichiers.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texte selon l'interlocuteur.</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trois mois de cotisation avant de pouvoir bénéficier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mesurable sans base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et produits concernés (PBC, item 59). L'entretien du 16/10/2026 indiquait l'absence de délai de carence.</a:t>
                      </a:r>
                    </a:p>
                  </a:txBody>
                  <a:tcPr marL="43200" marR="43200" marT="14400" marB="14400" anchor="ctr">
                    <a:solidFill>
                      <a:srgbClr val="FFFFFF"/>
                    </a:solidFill>
                  </a:tcPr>
                </a:tc>
              </a:tr>
            </a:tbl>
          </a:graphicData>
        </a:graphic>
      </p:graphicFrame>
      <p:sp>
        <p:nvSpPr>
          <p:cNvPr id="33" name="TextBox 32"/>
          <p:cNvSpPr txBox="1"/>
          <p:nvPr/>
        </p:nvSpPr>
        <p:spPr>
          <a:xfrm>
            <a:off x="503999" y="4029960"/>
            <a:ext cx="11232000" cy="162000"/>
          </a:xfrm>
          <a:prstGeom prst="rect">
            <a:avLst/>
          </a:prstGeom>
          <a:noFill/>
        </p:spPr>
        <p:txBody>
          <a:bodyPr wrap="square" anchor="t" lIns="54000" rIns="54000"/>
          <a:lstStyle/>
          <a:p>
            <a:pPr algn="l"/>
            <a:r>
              <a:rPr sz="850" b="0">
                <a:solidFill>
                  <a:srgbClr val="53565A"/>
                </a:solidFill>
                <a:latin typeface="Helvetica"/>
              </a:rPr>
              <a:t>Valable pour : déclarations du 19/10/2026 confrontées aux montants des fichiers de précomptes reçus le 15/10/2026, postes 870, 998, 9X4, 9W3 et 8Z7, mois reçus.</a:t>
            </a:r>
          </a:p>
        </p:txBody>
      </p:sp>
      <p:sp>
        <p:nvSpPr>
          <p:cNvPr id="34" name="TextBox 33"/>
          <p:cNvSpPr txBox="1"/>
          <p:nvPr/>
        </p:nvSpPr>
        <p:spPr>
          <a:xfrm>
            <a:off x="503999" y="4335960"/>
            <a:ext cx="11232000" cy="1532039"/>
          </a:xfrm>
          <a:prstGeom prst="rect">
            <a:avLst/>
          </a:prstGeom>
          <a:noFill/>
        </p:spPr>
        <p:txBody>
          <a:bodyPr wrap="square" lIns="54000" rIns="54000"/>
          <a:lstStyle/>
          <a:p>
            <a:pPr algn="just">
              <a:spcAft>
                <a:spcPts val="600"/>
              </a:spcAft>
            </a:pPr>
            <a:r>
              <a:rPr sz="1300" b="1">
                <a:solidFill>
                  <a:srgbClr val="060606"/>
                </a:solidFill>
                <a:latin typeface="Helvetica"/>
              </a:rPr>
              <a:t>Les fichiers confirment les déclarations sur l'EFC et le PEP.</a:t>
            </a:r>
            <a:r>
              <a:rPr sz="1300" b="0">
                <a:solidFill>
                  <a:srgbClr val="060606"/>
                </a:solidFill>
                <a:latin typeface="Helvetica"/>
              </a:rPr>
              <a:t> Le cahier des charges EFC et PEP de 2021 et le manuel des produits d'épargne, reçus le 22/10/2026, décrivent ces produits sans décision d'adoption signée (partie 6). La part de l'EFC à 10 000 FCFA augmente chaque année, ce qui correspond à l'arrivée de nouveaux souscripteurs depuis 2021.</a:t>
            </a:r>
          </a:p>
          <a:p>
            <a:pPr algn="just">
              <a:spcAft>
                <a:spcPts val="600"/>
              </a:spcAft>
            </a:pPr>
            <a:r>
              <a:rPr sz="1300" b="0">
                <a:solidFill>
                  <a:srgbClr val="060606"/>
                </a:solidFill>
                <a:latin typeface="Helvetica"/>
              </a:rPr>
              <a:t>Les engagements d'épargne se calculeront sur les montants réellement précomptés. Le règlement de chaque produit reste indispensable pour connaître les échéances et les conditions de retrait.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GNA : assureur de la flotte automobile (compte 47111106)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2108888966"/>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Nouvelles recrues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recrues souscrivent avant d'avoir un mécano, ce qui retarde le premier précompte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mécano est reporté sur les fiches de souscription en masse, après son attribution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Logigramme r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Élève policier</a:t>
            </a:r>
          </a:p>
          <a:p>
            <a:pPr algn="ctr"/>
            <a:r>
              <a:rPr sz="900" b="1">
                <a:solidFill>
                  <a:srgbClr val="FFFFFF"/>
                </a:solidFill>
                <a:latin typeface="Helvetica"/>
              </a:rPr>
              <a:t>matricule sans mécano</a:t>
            </a:r>
          </a:p>
        </p:txBody>
      </p:sp>
      <p:sp>
        <p:nvSpPr>
          <p:cNvPr id="32" name="Logigramme r2"/>
          <p:cNvSpPr/>
          <p:nvPr/>
        </p:nvSpPr>
        <p:spPr>
          <a:xfrm>
            <a:off x="2178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Fiches de souscription</a:t>
            </a:r>
          </a:p>
          <a:p>
            <a:pPr algn="ctr"/>
            <a:r>
              <a:rPr sz="900" b="0">
                <a:solidFill>
                  <a:srgbClr val="060606"/>
                </a:solidFill>
                <a:latin typeface="Helvetica"/>
              </a:rPr>
              <a:t>EFC et PEP</a:t>
            </a:r>
          </a:p>
        </p:txBody>
      </p:sp>
      <p:sp>
        <p:nvSpPr>
          <p:cNvPr id="33" name="Logigramme r3"/>
          <p:cNvSpPr/>
          <p:nvPr/>
        </p:nvSpPr>
        <p:spPr>
          <a:xfrm>
            <a:off x="3780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Attente</a:t>
            </a:r>
          </a:p>
          <a:p>
            <a:pPr algn="ctr"/>
            <a:r>
              <a:rPr sz="900" b="0">
                <a:solidFill>
                  <a:srgbClr val="060606"/>
                </a:solidFill>
                <a:latin typeface="Helvetica"/>
              </a:rPr>
              <a:t>du mécano</a:t>
            </a:r>
          </a:p>
        </p:txBody>
      </p:sp>
      <p:sp>
        <p:nvSpPr>
          <p:cNvPr id="34" name="Logigramme r4"/>
          <p:cNvSpPr/>
          <p:nvPr/>
        </p:nvSpPr>
        <p:spPr>
          <a:xfrm>
            <a:off x="5382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Mécano</a:t>
            </a:r>
          </a:p>
          <a:p>
            <a:pPr algn="ctr"/>
            <a:r>
              <a:rPr sz="850" b="0">
                <a:solidFill>
                  <a:srgbClr val="060606"/>
                </a:solidFill>
                <a:latin typeface="Helvetica"/>
              </a:rPr>
              <a:t>attribué ?</a:t>
            </a:r>
          </a:p>
        </p:txBody>
      </p:sp>
      <p:sp>
        <p:nvSpPr>
          <p:cNvPr id="35" name="Logigramme r5"/>
          <p:cNvSpPr/>
          <p:nvPr/>
        </p:nvSpPr>
        <p:spPr>
          <a:xfrm>
            <a:off x="6984000" y="1655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Report du mécano</a:t>
            </a:r>
          </a:p>
          <a:p>
            <a:pPr algn="ctr"/>
            <a:r>
              <a:rPr sz="900" b="1">
                <a:solidFill>
                  <a:srgbClr val="C00000"/>
                </a:solidFill>
                <a:latin typeface="Helvetica"/>
              </a:rPr>
              <a:t>sur chaque fiche, en masse</a:t>
            </a:r>
          </a:p>
        </p:txBody>
      </p:sp>
      <p:sp>
        <p:nvSpPr>
          <p:cNvPr id="36" name="Logigramme r6"/>
          <p:cNvSpPr/>
          <p:nvPr/>
        </p:nvSpPr>
        <p:spPr>
          <a:xfrm>
            <a:off x="8586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Ajout au fichier</a:t>
            </a:r>
          </a:p>
          <a:p>
            <a:pPr algn="ctr"/>
            <a:r>
              <a:rPr sz="900" b="0">
                <a:solidFill>
                  <a:srgbClr val="060606"/>
                </a:solidFill>
                <a:latin typeface="Helvetica"/>
              </a:rPr>
              <a:t>aller du mois</a:t>
            </a:r>
          </a:p>
        </p:txBody>
      </p:sp>
      <p:sp>
        <p:nvSpPr>
          <p:cNvPr id="37" name="Logigramme r7"/>
          <p:cNvSpPr/>
          <p:nvPr/>
        </p:nvSpPr>
        <p:spPr>
          <a:xfrm>
            <a:off x="10188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au 1er mois ?</a:t>
            </a:r>
          </a:p>
        </p:txBody>
      </p:sp>
      <p:sp>
        <p:nvSpPr>
          <p:cNvPr id="38" name="Logigramme r10"/>
          <p:cNvSpPr/>
          <p:nvPr/>
        </p:nvSpPr>
        <p:spPr>
          <a:xfrm>
            <a:off x="10188000" y="3024000"/>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Précompte effectif</a:t>
            </a:r>
          </a:p>
          <a:p>
            <a:pPr algn="ctr"/>
            <a:r>
              <a:rPr sz="900" b="1">
                <a:solidFill>
                  <a:srgbClr val="FFFFFF"/>
                </a:solidFill>
                <a:latin typeface="Helvetica"/>
              </a:rPr>
              <a:t>épargne en cours</a:t>
            </a:r>
          </a:p>
        </p:txBody>
      </p:sp>
      <p:sp>
        <p:nvSpPr>
          <p:cNvPr id="39" name="Logigramme r8"/>
          <p:cNvSpPr/>
          <p:nvPr/>
        </p:nvSpPr>
        <p:spPr>
          <a:xfrm>
            <a:off x="8586000" y="3024000"/>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Précompte décalé</a:t>
            </a:r>
          </a:p>
          <a:p>
            <a:pPr algn="ctr"/>
            <a:r>
              <a:rPr sz="900" b="1">
                <a:solidFill>
                  <a:srgbClr val="C00000"/>
                </a:solidFill>
                <a:latin typeface="Helvetica"/>
              </a:rPr>
              <a:t>au mois suivant</a:t>
            </a:r>
          </a:p>
        </p:txBody>
      </p:sp>
      <p:sp>
        <p:nvSpPr>
          <p:cNvPr id="40" name="Logigramme r9"/>
          <p:cNvSpPr/>
          <p:nvPr/>
        </p:nvSpPr>
        <p:spPr>
          <a:xfrm>
            <a:off x="6984000" y="3024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Paiement manuel</a:t>
            </a:r>
          </a:p>
          <a:p>
            <a:pPr algn="ctr"/>
            <a:r>
              <a:rPr sz="900" b="0">
                <a:solidFill>
                  <a:srgbClr val="060606"/>
                </a:solidFill>
                <a:latin typeface="Helvetica"/>
              </a:rPr>
              <a:t>possible, avec date</a:t>
            </a:r>
          </a:p>
        </p:txBody>
      </p:sp>
      <p:cxnSp>
        <p:nvCxnSpPr>
          <p:cNvPr id="41" name="Flèche r1 vers r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r2 vers r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r3 vers r4"/>
          <p:cNvCxnSpPr>
            <a:stCxn id="33" idx="3"/>
            <a:endCxn id="34" idx="1"/>
          </p:cNvCxnSpPr>
          <p:nvPr/>
        </p:nvCxnSpPr>
        <p:spPr>
          <a:xfrm>
            <a:off x="5076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r4 vers r5"/>
          <p:cNvCxnSpPr>
            <a:stCxn id="34" idx="3"/>
            <a:endCxn id="35" idx="1"/>
          </p:cNvCxnSpPr>
          <p:nvPr/>
        </p:nvCxnSpPr>
        <p:spPr>
          <a:xfrm flipV="1">
            <a:off x="6678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721200"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r4 vers r3"/>
          <p:cNvCxnSpPr>
            <a:stCxn id="34" idx="0"/>
            <a:endCxn id="33" idx="0"/>
          </p:cNvCxnSpPr>
          <p:nvPr/>
        </p:nvCxnSpPr>
        <p:spPr>
          <a:xfrm flipH="1">
            <a:off x="4428000" y="1627199"/>
            <a:ext cx="1602000" cy="288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83999" y="1447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r5 vers r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r6 vers r7"/>
          <p:cNvCxnSpPr>
            <a:stCxn id="36" idx="3"/>
            <a:endCxn id="37" idx="1"/>
          </p:cNvCxnSpPr>
          <p:nvPr/>
        </p:nvCxnSpPr>
        <p:spPr>
          <a:xfrm>
            <a:off x="9882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Flèche r7 vers r8"/>
          <p:cNvCxnSpPr>
            <a:stCxn id="37" idx="2"/>
            <a:endCxn id="39" idx="0"/>
          </p:cNvCxnSpPr>
          <p:nvPr/>
        </p:nvCxnSpPr>
        <p:spPr>
          <a:xfrm flipH="1">
            <a:off x="9234000" y="2311199"/>
            <a:ext cx="1602000" cy="71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890000" y="232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2" name="Flèche r8 vers r9"/>
          <p:cNvCxnSpPr>
            <a:stCxn id="39" idx="1"/>
            <a:endCxn id="40" idx="3"/>
          </p:cNvCxnSpPr>
          <p:nvPr/>
        </p:nvCxnSpPr>
        <p:spPr>
          <a:xfrm flipH="1" flipV="1">
            <a:off x="8280000" y="3312000"/>
            <a:ext cx="306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78800" y="3131999"/>
            <a:ext cx="864000" cy="162000"/>
          </a:xfrm>
          <a:prstGeom prst="rect">
            <a:avLst/>
          </a:prstGeom>
          <a:noFill/>
        </p:spPr>
        <p:txBody>
          <a:bodyPr wrap="square" anchor="t" lIns="28800" rIns="28800" tIns="10800" bIns="10800">
            <a:spAutoFit/>
          </a:bodyPr>
          <a:lstStyle/>
          <a:p>
            <a:pPr algn="r"/>
            <a:r>
              <a:rPr sz="750" b="1">
                <a:solidFill>
                  <a:srgbClr val="53565A"/>
                </a:solidFill>
                <a:latin typeface="Helvetica"/>
              </a:rPr>
              <a:t>ou</a:t>
            </a:r>
          </a:p>
        </p:txBody>
      </p:sp>
      <p:cxnSp>
        <p:nvCxnSpPr>
          <p:cNvPr id="54" name="Flèche r7 vers r10"/>
          <p:cNvCxnSpPr>
            <a:stCxn id="37" idx="3"/>
            <a:endCxn id="38" idx="3"/>
          </p:cNvCxnSpPr>
          <p:nvPr/>
        </p:nvCxnSpPr>
        <p:spPr>
          <a:xfrm flipH="1">
            <a:off x="11484000" y="1969199"/>
            <a:ext cx="0" cy="134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1527199"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sp>
        <p:nvSpPr>
          <p:cNvPr id="56" name="TextBox 55"/>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Les nouvelles recrues souscrivent avant d'avoir un mécano.</a:t>
            </a:r>
            <a:r>
              <a:rPr sz="1200" b="0">
                <a:solidFill>
                  <a:srgbClr val="060606"/>
                </a:solidFill>
                <a:latin typeface="Helvetica"/>
              </a:rPr>
              <a:t> Les élèves policiers n'ont qu'un matricule. Le FPPN attend l'attribution des mécanos, puis reporte chaque mécano sur les fiches de souscription avant de les inscrire au fichier aller. Le premier précompte peut être décalé d'un mois (déclaration du responsable des cotisations, entretien du 19/10/2026, à confirmer par document).</a:t>
            </a:r>
          </a:p>
          <a:p>
            <a:pPr algn="just">
              <a:spcAft>
                <a:spcPts val="600"/>
              </a:spcAft>
            </a:pPr>
            <a:r>
              <a:rPr sz="1200" b="1">
                <a:solidFill>
                  <a:srgbClr val="060606"/>
                </a:solidFill>
                <a:latin typeface="Helvetica"/>
              </a:rPr>
              <a:t>Le report en masse des mécanos est une étape à risque.</a:t>
            </a:r>
            <a:r>
              <a:rPr sz="1200" b="0">
                <a:solidFill>
                  <a:srgbClr val="060606"/>
                </a:solidFill>
                <a:latin typeface="Helvetica"/>
              </a:rPr>
              <a:t> Il peut produire des erreurs d'appariement, et donc des précomptes sur la mauvaise personne. Il crée un retard entre la souscription et le premier versement.</a:t>
            </a:r>
          </a:p>
          <a:p>
            <a:pPr algn="just">
              <a:spcAft>
                <a:spcPts val="600"/>
              </a:spcAft>
            </a:pPr>
            <a:r>
              <a:rPr sz="1200" b="0">
                <a:solidFill>
                  <a:srgbClr val="060606"/>
                </a:solidFill>
                <a:latin typeface="Helvetica"/>
              </a:rPr>
              <a:t>Une table de correspondance entre matricule et mécano, fournie par la direction du personnel de la Police, éviterait le report manuel et sécuriserait le premier précompte (PBC, item 67).</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3388733555"/>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encaisse davantage chaque année grâce aux recrues, mais il applique trois clés différentes pour partager les cotisations entre maladie et décès.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compte 31 198 cotisants en août 2026. La Solde retient 3,77 % et 1,23 %, alors que les statuts (art. 17) prévoient 3,5 % et 1,5 %.</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résultat de chaque garantie et la réserve obligatoire par risque dépendent d'une clé qui n'est fixée par aucun document transmis.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barème officiel, les dates de naissance et les motifs de sortie des agents.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effectifs et cotisations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augmentent avec les effectifs, mais leur répartition doit être clarifiée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Effectifs en hausse d'un tiers, taux total de 5 % respecté, trois clés de répartition différentes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695162893"/>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5</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Sinistralité et résultat</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Prestations, frais de gestion, résultat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663257712"/>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Formule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 d'une garantie rapporte ses prestations comptabilisées de l'année à ses cotisations comptabilisées de la même année, de 2020 à 2026.</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maladie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601, 6013, 6018 et 60800007, soit douze comptes de prestations maladie en 2025.</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décès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6021 et 6024. En 2020, la prime d'assurance décès (65180000) s'y ajoute, car un assureur portait alors la garantie.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Norme et 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fixe une sinistralité entre 70 % et 80 %. Le ratio comptable mélange les soins de l'année et des factures d'années antérieures.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sinistralité comptable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rapporte les prestations de l'année aux cotisations de l'année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 prestations comptabilisées / cotisations comptabilisées, par garantie et par exercice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934918390"/>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S/C maladie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comptes de prestations divisés par un compte de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1 771 635 361 FCFA / 2 409 281 030 FCFA = 73,53 %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 (Sage 100). Traitements Adenka</a:t>
            </a:r>
          </a:p>
        </p:txBody>
      </p:sp>
      <p:sp>
        <p:nvSpPr>
          <p:cNvPr id="31" name="TextBox 30"/>
          <p:cNvSpPr txBox="1"/>
          <p:nvPr/>
        </p:nvSpPr>
        <p:spPr>
          <a:xfrm>
            <a:off x="503999" y="1350000"/>
            <a:ext cx="734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344000" cy="2970000"/>
        </p:xfrm>
        <a:graphic>
          <a:graphicData uri="http://schemas.openxmlformats.org/drawingml/2006/table">
            <a:tbl>
              <a:tblPr firstRow="0" bandRow="0">
                <a:tableStyleId>{5940675A-B579-460E-94D1-54222C63F5DA}</a:tableStyleId>
              </a:tblPr>
              <a:tblGrid>
                <a:gridCol w="1224000"/>
                <a:gridCol w="3960000"/>
                <a:gridCol w="2160000"/>
              </a:tblGrid>
              <a:tr h="198000">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2025</a:t>
                      </a:r>
                    </a:p>
                  </a:txBody>
                  <a:tcPr marL="43200" marR="43200" marT="14400" marB="14400" anchor="ctr">
                    <a:solidFill>
                      <a:srgbClr val="060606"/>
                    </a:solidFill>
                  </a:tcPr>
                </a:tc>
              </a:tr>
              <a:tr h="198000">
                <a:tc>
                  <a:txBody>
                    <a:bodyPr/>
                    <a:lstStyle/>
                    <a:p>
                      <a:pPr marL="0" indent="0" lvl="0">
                        <a:buNone/>
                      </a:pPr>
                      <a:r>
                        <a:rPr sz="900" b="1">
                          <a:solidFill>
                            <a:srgbClr val="060606"/>
                          </a:solidFill>
                          <a:latin typeface="Helvetica"/>
                        </a:rPr>
                        <a:t>60111000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Pharmacie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38 076 031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Consultations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173 759 919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60113000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Hospitalisations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23 247 618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60114000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Analyses Médicales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234 266 144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60115000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Radio Imagérie &amp; Echographie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249 812 169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60118000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Transport Médicalisé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1 265 340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60119000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Traitements médicaux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14 461 585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Charges de Prestations Maladie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989 729 545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60121000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 de soins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4 881 810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Allocation naissance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60130000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Charges de prestat°séance réducat°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9 485 200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60800007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Bons de prise en charge médicale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31 950 000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70100000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MALADIES ACQUISES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2 409 281 030 FCFA</a:t>
                      </a:r>
                    </a:p>
                  </a:txBody>
                  <a:tcPr marL="43200" marR="43200" marT="14400" marB="14400" anchor="ctr">
                    <a:solidFill>
                      <a:srgbClr val="F2F2F2"/>
                    </a:solidFill>
                  </a:tcPr>
                </a:tc>
              </a:tr>
            </a:tbl>
          </a:graphicData>
        </a:graphic>
      </p:graphicFrame>
      <p:sp>
        <p:nvSpPr>
          <p:cNvPr id="33" name="Rounded Rectangle 32"/>
          <p:cNvSpPr/>
          <p:nvPr/>
        </p:nvSpPr>
        <p:spPr>
          <a:xfrm>
            <a:off x="5670000" y="312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8000" y="297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670000" y="411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68000" y="396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670000" y="4309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68000" y="415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8063999"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424000" y="1530000"/>
            <a:ext cx="3312000" cy="670023"/>
          </a:xfrm>
          <a:prstGeom prst="rect">
            <a:avLst/>
          </a:prstGeom>
          <a:noFill/>
        </p:spPr>
        <p:txBody>
          <a:bodyPr wrap="square" anchor="t" lIns="54000" rIns="54000"/>
          <a:lstStyle/>
          <a:p>
            <a:pPr algn="l"/>
            <a:r>
              <a:rPr sz="1200" b="0">
                <a:solidFill>
                  <a:srgbClr val="060606"/>
                </a:solidFill>
                <a:latin typeface="Helvetica"/>
              </a:rPr>
              <a:t>Le compte global 60120000 porte plus de la moitié des prestations, sans détail de nature.</a:t>
            </a:r>
          </a:p>
        </p:txBody>
      </p:sp>
      <p:sp>
        <p:nvSpPr>
          <p:cNvPr id="41" name="Oval 40"/>
          <p:cNvSpPr/>
          <p:nvPr/>
        </p:nvSpPr>
        <p:spPr>
          <a:xfrm>
            <a:off x="8063999"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424000" y="2290023"/>
            <a:ext cx="3312000" cy="484084"/>
          </a:xfrm>
          <a:prstGeom prst="rect">
            <a:avLst/>
          </a:prstGeom>
          <a:noFill/>
        </p:spPr>
        <p:txBody>
          <a:bodyPr wrap="square" anchor="t" lIns="54000" rIns="54000"/>
          <a:lstStyle/>
          <a:p>
            <a:pPr algn="l"/>
            <a:r>
              <a:rPr sz="1200" b="0">
                <a:solidFill>
                  <a:srgbClr val="060606"/>
                </a:solidFill>
                <a:latin typeface="Helvetica"/>
              </a:rPr>
              <a:t>Les douze comptes de prestations maladie totalisent ce montant.</a:t>
            </a:r>
          </a:p>
        </p:txBody>
      </p:sp>
      <p:sp>
        <p:nvSpPr>
          <p:cNvPr id="43" name="Oval 42"/>
          <p:cNvSpPr/>
          <p:nvPr/>
        </p:nvSpPr>
        <p:spPr>
          <a:xfrm>
            <a:off x="8063999"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424000" y="2864108"/>
            <a:ext cx="3312000" cy="484084"/>
          </a:xfrm>
          <a:prstGeom prst="rect">
            <a:avLst/>
          </a:prstGeom>
          <a:noFill/>
        </p:spPr>
        <p:txBody>
          <a:bodyPr wrap="square" anchor="t" lIns="54000" rIns="54000"/>
          <a:lstStyle/>
          <a:p>
            <a:pPr algn="l"/>
            <a:r>
              <a:rPr sz="1200" b="0">
                <a:solidFill>
                  <a:srgbClr val="060606"/>
                </a:solidFill>
                <a:latin typeface="Helvetica"/>
              </a:rPr>
              <a:t>Les cotisations maladie acquises forment le dénominateur du ratio.</a:t>
            </a:r>
          </a:p>
        </p:txBody>
      </p:sp>
      <p:sp>
        <p:nvSpPr>
          <p:cNvPr id="45" name="TextBox 44"/>
          <p:cNvSpPr txBox="1"/>
          <p:nvPr/>
        </p:nvSpPr>
        <p:spPr>
          <a:xfrm>
            <a:off x="8063999" y="3528192"/>
            <a:ext cx="3672000" cy="2339807"/>
          </a:xfrm>
          <a:prstGeom prst="rect">
            <a:avLst/>
          </a:prstGeom>
          <a:noFill/>
        </p:spPr>
        <p:txBody>
          <a:bodyPr wrap="square" lIns="54000" rIns="54000"/>
          <a:lstStyle/>
          <a:p>
            <a:pPr algn="just">
              <a:spcAft>
                <a:spcPts val="600"/>
              </a:spcAft>
            </a:pPr>
            <a:r>
              <a:rPr sz="1200" b="1">
                <a:solidFill>
                  <a:srgbClr val="060606"/>
                </a:solidFill>
                <a:latin typeface="Helvetica"/>
              </a:rPr>
              <a:t>Appliquée à la seule maladie, la fourchette réglementaire de 70 % à 80 % est respectée en 2025.</a:t>
            </a:r>
            <a:r>
              <a:rPr sz="1200" b="0">
                <a:solidFill>
                  <a:srgbClr val="060606"/>
                </a:solidFill>
                <a:latin typeface="Helvetica"/>
              </a:rPr>
              <a:t> Le compte global empêche pourtant de savoir quels soins font monter le ratio.</a:t>
            </a:r>
          </a:p>
          <a:p>
            <a:pPr algn="just">
              <a:spcAft>
                <a:spcPts val="600"/>
              </a:spcAft>
            </a:pPr>
            <a:r>
              <a:rPr sz="1200" b="0">
                <a:solidFill>
                  <a:srgbClr val="060606"/>
                </a:solidFill>
                <a:latin typeface="Helvetica"/>
              </a:rPr>
              <a:t>Le FPPN doit ventiler le compte 60120000 par nature de soins et par prestataire, ce qui permettra de cibler les mesures de maîtrise des dépenses.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3989502614"/>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absorbent presque toutes les cotisations maladie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 6,00 % en 2021, 73,53 % en 2025, 97,40 %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15 : Prestations comptabilisées / cotisations (S/C)</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 de la garantie</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 ratio maladie a été multiplié par 12,26 entre 2021 et 2025.</a:t>
            </a:r>
            <a:r>
              <a:rPr sz="1400" b="0">
                <a:solidFill>
                  <a:srgbClr val="060606"/>
                </a:solidFill>
                <a:latin typeface="Helvetica"/>
              </a:rPr>
              <a:t> Il dépasse la fourchette réglementaire sur les huit premiers mois de 2026.</a:t>
            </a:r>
          </a:p>
          <a:p>
            <a:pPr algn="just">
              <a:spcAft>
                <a:spcPts val="600"/>
              </a:spcAft>
            </a:pPr>
            <a:r>
              <a:rPr sz="1400" b="1">
                <a:solidFill>
                  <a:srgbClr val="060606"/>
                </a:solidFill>
                <a:latin typeface="Helvetica"/>
              </a:rPr>
              <a:t>Les ratios très bas de 2020 à 2022 sont suspects.</a:t>
            </a:r>
            <a:r>
              <a:rPr sz="1400" b="0">
                <a:solidFill>
                  <a:srgbClr val="060606"/>
                </a:solidFill>
                <a:latin typeface="Helvetica"/>
              </a:rPr>
              <a:t> Des factures de ces années ont probablement été comptabilisées plus tard, ce que seule la base des prestations permettra de vérifier.</a:t>
            </a:r>
          </a:p>
          <a:p>
            <a:pPr algn="just">
              <a:spcAft>
                <a:spcPts val="600"/>
              </a:spcAft>
            </a:pPr>
            <a:r>
              <a:rPr sz="1400" b="1">
                <a:solidFill>
                  <a:srgbClr val="060606"/>
                </a:solidFill>
                <a:latin typeface="Helvetica"/>
              </a:rPr>
              <a:t>En décès, le ratio oscille entre 15,21 % et 21,81 % depuis 2022.</a:t>
            </a:r>
            <a:r>
              <a:rPr sz="1400" b="0">
                <a:solidFill>
                  <a:srgbClr val="060606"/>
                </a:solidFill>
                <a:latin typeface="Helvetica"/>
              </a:rPr>
              <a:t> La garantie décès reste largement excédentaire.</a:t>
            </a:r>
          </a:p>
          <a:p>
            <a:pPr algn="just">
              <a:spcAft>
                <a:spcPts val="600"/>
              </a:spcAft>
            </a:pPr>
            <a:r>
              <a:rPr sz="1400" b="0">
                <a:solidFill>
                  <a:srgbClr val="060606"/>
                </a:solidFill>
                <a:latin typeface="Helvetica"/>
              </a:rPr>
              <a:t>À ce rythme, les prestations maladie dépasseront les cotisations maladie : sans mesure de maîtrise ou révision du barème, la garantie maladie deviendra déficitaire et pèsera sur la réserve obligatoire.</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601, 6013, 6018, 60800007, 6021 et 6024 (prestations) et 7010, 7021 (cotisations) des balances « BALANCE FORMAT EXCEL DE 09-2020 AU 31-12-2020.xlsx » à « BALANCE FPPN DU 01-01-2026 AU 31-08-2026.xlsx », 2020 à 2025 et du 01/01 au 31/08/2026. Sans provisions ni sinistres tardifs.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346868245"/>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fixe un taux global, le rapport ajoute un taux par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méthode du FPPN, communiquée le 22/10/2026, ignore les provisions et applique la norme globale à chaque garantie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et § 1.2.1.2.5.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23 : Formules du taux de sinistralité comparées</a:t>
            </a:r>
          </a:p>
        </p:txBody>
      </p:sp>
      <p:graphicFrame>
        <p:nvGraphicFramePr>
          <p:cNvPr id="32" name="Table 31"/>
          <p:cNvGraphicFramePr>
            <a:graphicFrameLocks noGrp="1"/>
          </p:cNvGraphicFramePr>
          <p:nvPr/>
        </p:nvGraphicFramePr>
        <p:xfrm>
          <a:off x="503999" y="1655999"/>
          <a:ext cx="11231999" cy="1464915"/>
        </p:xfrm>
        <a:graphic>
          <a:graphicData uri="http://schemas.openxmlformats.org/drawingml/2006/table">
            <a:tbl>
              <a:tblPr firstRow="0" bandRow="0">
                <a:tableStyleId>{5940675A-B579-460E-94D1-54222C63F5DA}</a:tableStyleId>
              </a:tblPr>
              <a:tblGrid>
                <a:gridCol w="1512000"/>
                <a:gridCol w="3024000"/>
                <a:gridCol w="3096000"/>
                <a:gridCol w="1584000"/>
                <a:gridCol w="2015999"/>
              </a:tblGrid>
              <a:tr h="194768">
                <a:tc>
                  <a:txBody>
                    <a:bodyPr/>
                    <a:lstStyle/>
                    <a:p>
                      <a:pPr marL="0" indent="0" lvl="0">
                        <a:buNone/>
                      </a:pPr>
                      <a:r>
                        <a:rPr sz="9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qu'elle mesure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Texte (Décision n° 05/2022)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 + 6901 - 7901) / (70 + 7906 - 6906)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Toutes les prestations de l'année, variation des provisions comprise, sur toutes les cotisations acquises.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70 % à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au texte</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Prestations payées / cotisations payées, par garantie et global, sans provisions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Communiquée le 22/10/2026 (étude des ratios) : 12,95 % en décès, 99,23 % en maladie, 78,49 % au total au 30/06/2026.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70 % à 80 % appliqués à chaque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Divergent du texte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Par garantie (rapport)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Maladie : (601 + 6013 + 6018 + 60800007) / 7010. Décès : (6021 + 6024) / 7021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part des cotisations d'une garantie consommée par ses propres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(norme globale)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Divergent, justifié</a:t>
                      </a:r>
                    </a:p>
                  </a:txBody>
                  <a:tcPr marL="43200" marR="43200" marT="14400" marB="14400" anchor="ctr">
                    <a:solidFill>
                      <a:srgbClr val="FFFFFF"/>
                    </a:solidFill>
                  </a:tcPr>
                </a:tc>
              </a:tr>
            </a:tbl>
          </a:graphicData>
        </a:graphic>
      </p:graphicFrame>
      <p:sp>
        <p:nvSpPr>
          <p:cNvPr id="33" name="TextBox 32"/>
          <p:cNvSpPr txBox="1"/>
          <p:nvPr/>
        </p:nvSpPr>
        <p:spPr>
          <a:xfrm>
            <a:off x="503999" y="3228917"/>
            <a:ext cx="11232000" cy="306000"/>
          </a:xfrm>
          <a:prstGeom prst="rect">
            <a:avLst/>
          </a:prstGeom>
          <a:noFill/>
        </p:spPr>
        <p:txBody>
          <a:bodyPr wrap="square" anchor="t" lIns="54000" rIns="54000"/>
          <a:lstStyle/>
          <a:p>
            <a:pPr algn="l"/>
            <a:r>
              <a:rPr sz="850" b="0">
                <a:solidFill>
                  <a:srgbClr val="53565A"/>
                </a:solidFill>
                <a:latin typeface="Helvetica"/>
              </a:rPr>
              <a:t>Valable pour : formules de la Décision n° 05/2022 (annexe, § 1.1.1 et § 1.2.1.2.5) appliquées aux comptes de prestations (601 à 6024), de cotisations (7010, 7021) et de provisions (158) des balances « BALANCE FORMAT EXCEL DE 09-2020 AU 31-12-2020.xlsx » à « BALANCE FPPN DU 01-01-2026 AU 31-08-2026.xlsx ».</a:t>
            </a:r>
          </a:p>
        </p:txBody>
      </p:sp>
      <p:sp>
        <p:nvSpPr>
          <p:cNvPr id="34" name="TextBox 33"/>
          <p:cNvSpPr txBox="1"/>
          <p:nvPr/>
        </p:nvSpPr>
        <p:spPr>
          <a:xfrm>
            <a:off x="503999" y="3678917"/>
            <a:ext cx="11232000" cy="2189082"/>
          </a:xfrm>
          <a:prstGeom prst="rect">
            <a:avLst/>
          </a:prstGeom>
          <a:noFill/>
        </p:spPr>
        <p:txBody>
          <a:bodyPr wrap="square" lIns="54000" rIns="54000"/>
          <a:lstStyle/>
          <a:p>
            <a:pPr algn="just">
              <a:spcAft>
                <a:spcPts val="600"/>
              </a:spcAft>
            </a:pPr>
            <a:r>
              <a:rPr sz="1300" b="1">
                <a:solidFill>
                  <a:srgbClr val="060606"/>
                </a:solidFill>
                <a:latin typeface="Helvetica"/>
              </a:rPr>
              <a:t>Le taux par garantie n'est pas un choix libre : il découle du texte.</a:t>
            </a:r>
            <a:r>
              <a:rPr sz="1300" b="0">
                <a:solidFill>
                  <a:srgbClr val="060606"/>
                </a:solidFill>
                <a:latin typeface="Helvetica"/>
              </a:rPr>
              <a:t> La Décision n° 05/2022 (§ 1.1.1) impose de doter la réserve obligatoire d'au moins 30 % de l'excédent maladie et 50 % de l'excédent des autres risques. Il faut donc connaître le résultat de chaque garantie, et donc son taux de sinistralité.</a:t>
            </a:r>
          </a:p>
          <a:p>
            <a:pPr algn="just">
              <a:spcAft>
                <a:spcPts val="600"/>
              </a:spcAft>
            </a:pPr>
            <a:r>
              <a:rPr sz="1300" b="1">
                <a:solidFill>
                  <a:srgbClr val="060606"/>
                </a:solidFill>
                <a:latin typeface="Helvetica"/>
              </a:rPr>
              <a:t>Les deux formules du texte donnent ici le même résultat.</a:t>
            </a:r>
            <a:r>
              <a:rPr sz="1300" b="0">
                <a:solidFill>
                  <a:srgbClr val="060606"/>
                </a:solidFill>
                <a:latin typeface="Helvetica"/>
              </a:rPr>
              <a:t> Le FPPN n'a passé aucune dotation ni reprise de provision technique (comptes 6901, 7901, 7906 et 6906 absents) : la variation des provisions vaut zéro chaque année.</a:t>
            </a:r>
          </a:p>
          <a:p>
            <a:pPr algn="just">
              <a:spcAft>
                <a:spcPts val="600"/>
              </a:spcAft>
            </a:pPr>
            <a:r>
              <a:rPr sz="1300" b="0">
                <a:solidFill>
                  <a:srgbClr val="060606"/>
                </a:solidFill>
                <a:latin typeface="Helvetica"/>
              </a:rPr>
              <a:t>Seul le taux global est comparé à la norme de 70 % à 80 %. Le taux par garantie sert à calculer l'excédent de chaque risque. La méthode du FPPN est détaillée et chiffrée dans la diapositive « Méthode de sinistralité du FPPN ».</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904120281"/>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selon la formule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Formule du texte et taux par garantie racontent la même hausse, à des niveaux différents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57,48 % selon le texte, 73,53 % en maladie, 19,16 % en décès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16 : Taux de sinistralité selon la formule, 2020 au 31/08/2026</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1.2.1.2.5. Balances des comptes du FPPN de 2020 au 31/08/2026 (provisoire), fichiers « BALANCE … » listés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taux global du texte reste sous la fourchette de 70 % à 80 % de 2022 à 2025</a:t>
            </a:r>
            <a:r>
              <a:rPr sz="1400" b="0">
                <a:solidFill>
                  <a:srgbClr val="060606"/>
                </a:solidFill>
                <a:latin typeface="Helvetica"/>
              </a:rPr>
              <a:t> : il passe de 9,06 % en 2022 à 57,48 % en 2025. Il atteint 75,20 % sur huit mois de 2026.</a:t>
            </a:r>
          </a:p>
          <a:p>
            <a:pPr algn="just">
              <a:spcAft>
                <a:spcPts val="600"/>
              </a:spcAft>
            </a:pPr>
            <a:r>
              <a:rPr sz="1400" b="1">
                <a:solidFill>
                  <a:srgbClr val="060606"/>
                </a:solidFill>
                <a:latin typeface="Helvetica"/>
              </a:rPr>
              <a:t>Le taux global est plus bas que le taux maladie, car il mélange une garantie maladie chargée et une garantie décès excédentaire.</a:t>
            </a:r>
            <a:r>
              <a:rPr sz="1400" b="0">
                <a:solidFill>
                  <a:srgbClr val="060606"/>
                </a:solidFill>
                <a:latin typeface="Helvetica"/>
              </a:rPr>
              <a:t> La moyenne masque le déséquilibre de la maladie.</a:t>
            </a:r>
          </a:p>
          <a:p>
            <a:pPr algn="just">
              <a:spcAft>
                <a:spcPts val="600"/>
              </a:spcAft>
            </a:pPr>
            <a:r>
              <a:rPr sz="1400" b="1">
                <a:solidFill>
                  <a:srgbClr val="060606"/>
                </a:solidFill>
                <a:latin typeface="Helvetica"/>
              </a:rPr>
              <a:t>Retirer les bons de prise en charge (60800007, 60800008) ou les cotisations MEDOC (7022) change peu le taux</a:t>
            </a:r>
            <a:r>
              <a:rPr sz="1400" b="0">
                <a:solidFill>
                  <a:srgbClr val="060606"/>
                </a:solidFill>
                <a:latin typeface="Helvetica"/>
              </a:rPr>
              <a:t> : 56,55 % sans les bons et 57,49 % sans MEDOC en 2025.</a:t>
            </a:r>
          </a:p>
          <a:p>
            <a:pPr algn="just">
              <a:spcAft>
                <a:spcPts val="600"/>
              </a:spcAft>
            </a:pPr>
            <a:r>
              <a:rPr sz="1400" b="0">
                <a:solidFill>
                  <a:srgbClr val="060606"/>
                </a:solidFill>
                <a:latin typeface="Helvetica"/>
              </a:rPr>
              <a:t>La conclusion ne dépend pas du choix entre ces variantes : la maladie se rapproche du niveau de ses cotisations, quelle que soit la formule. En revanche, un taux global sous la norme ne prouve pas que chaque garantie est équilibrée.</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comptes de prestations, de cotisations (7010, 7021) et de provisions (158) des balances « BALANCE FORMAT EXCEL DE 09-2020 AU 31-12-2020.xlsx » à « BALANCE FPPN DU 01-01-2026 AU 31-08-2026.xlsx », 2020 à 2025 et du 01/01 au 31/08/2026. Variation de provision nulle car les provisions ne bougent pas.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3316163801"/>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de sinistralité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rapporte les prestations payées aux cotisations payées, sans provisions, garantie par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30/06/2026, le FPPN calcule 12,95 % en décès, 99,23 % en maladie et 78,49 % pour l'ensemble. Sa propre note écrit aussi 19,66 % et 107 %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 Décision n° 05/2022/COM/UEMOA du 1er juin 2022, annexe, § 1.2.1.2.5.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24 : Méthode du FPPN et méthode réglementaire au 30/06/2026</a:t>
            </a:r>
          </a:p>
        </p:txBody>
      </p:sp>
      <p:graphicFrame>
        <p:nvGraphicFramePr>
          <p:cNvPr id="32" name="Table 31"/>
          <p:cNvGraphicFramePr>
            <a:graphicFrameLocks noGrp="1"/>
          </p:cNvGraphicFramePr>
          <p:nvPr/>
        </p:nvGraphicFramePr>
        <p:xfrm>
          <a:off x="503999" y="1655999"/>
          <a:ext cx="11232000" cy="1828228"/>
        </p:xfrm>
        <a:graphic>
          <a:graphicData uri="http://schemas.openxmlformats.org/drawingml/2006/table">
            <a:tbl>
              <a:tblPr firstRow="0" bandRow="0">
                <a:tableStyleId>{5940675A-B579-460E-94D1-54222C63F5DA}</a:tableStyleId>
              </a:tblPr>
              <a:tblGrid>
                <a:gridCol w="1872000"/>
                <a:gridCol w="4680000"/>
                <a:gridCol w="4680000"/>
              </a:tblGrid>
              <a:tr h="187148">
                <a:tc>
                  <a:txBody>
                    <a:bodyPr/>
                    <a:lstStyle/>
                    <a:p>
                      <a:pPr marL="0" indent="0" lvl="0">
                        <a:buNone/>
                      </a:pPr>
                      <a:r>
                        <a:rPr sz="85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réglementaire (Décision n° 05/2022)</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payées : allocations décès et frais funéraires au barème. Prestations maladie de l'état des hospitalisations et consultations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Charges de prestations (comptes 60) et variation des provisions techniques (6901 - 7901)</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Dénominateur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Cotisations payées : policiers en activité, civils de la Direction Générale, retraités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Cotisations acquises (comptes 70) et variation des provisions sur cotisations (7906 - 6906)</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55 600 000 / 429 215 718 = 12,95 % (« TSD = 13 % »), la même note écrit aussi « TS = 19, 66 %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Pas de taux par garantie dans le texte. Taux par garantie du rapport : partie 5</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Maladie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1 345 906 033 / 1 356 344 706 = 99,23 % (« TSM »), la même note écrit aussi « TS = 107 %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de taux par garantie dans le texte</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Ensemble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1 401 506 033 / 1 785 560 424 = 78,49 % (« TSP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global au 31/08/2026 : 75,20 % (balance provisoire, huit mois)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Norme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compare chaque taux à 70 % à 80 %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70 % à 80 % pour le seul taux global</a:t>
                      </a:r>
                    </a:p>
                  </a:txBody>
                  <a:tcPr marL="43200" marR="43200" marT="14400" marB="14400" anchor="ctr">
                    <a:solidFill>
                      <a:srgbClr val="F2F2F2"/>
                    </a:solidFill>
                  </a:tcPr>
                </a:tc>
              </a:tr>
            </a:tbl>
          </a:graphicData>
        </a:graphic>
      </p:graphicFrame>
      <p:sp>
        <p:nvSpPr>
          <p:cNvPr id="33" name="TextBox 32"/>
          <p:cNvSpPr txBox="1"/>
          <p:nvPr/>
        </p:nvSpPr>
        <p:spPr>
          <a:xfrm>
            <a:off x="503999" y="3592229"/>
            <a:ext cx="11232000" cy="162000"/>
          </a:xfrm>
          <a:prstGeom prst="rect">
            <a:avLst/>
          </a:prstGeom>
          <a:noFill/>
        </p:spPr>
        <p:txBody>
          <a:bodyPr wrap="square" anchor="t" lIns="54000" rIns="54000"/>
          <a:lstStyle/>
          <a:p>
            <a:pPr algn="l"/>
            <a:r>
              <a:rPr sz="850" b="0">
                <a:solidFill>
                  <a:srgbClr val="53565A"/>
                </a:solidFill>
                <a:latin typeface="Helvetica"/>
              </a:rPr>
              <a:t>Valable pour : période du 01/01 au 30/06/2026 pour les taux du FPPN, du 01/01 au 31/08/2026 pour le taux réglementaire.</a:t>
            </a:r>
          </a:p>
        </p:txBody>
      </p:sp>
      <p:sp>
        <p:nvSpPr>
          <p:cNvPr id="34" name="TextBox 33"/>
          <p:cNvSpPr txBox="1"/>
          <p:nvPr/>
        </p:nvSpPr>
        <p:spPr>
          <a:xfrm>
            <a:off x="503999" y="3898229"/>
            <a:ext cx="11232000" cy="1969770"/>
          </a:xfrm>
          <a:prstGeom prst="rect">
            <a:avLst/>
          </a:prstGeom>
          <a:noFill/>
        </p:spPr>
        <p:txBody>
          <a:bodyPr wrap="square" lIns="54000" rIns="54000"/>
          <a:lstStyle/>
          <a:p>
            <a:pPr algn="just">
              <a:spcAft>
                <a:spcPts val="600"/>
              </a:spcAft>
            </a:pPr>
            <a:r>
              <a:rPr sz="1300" b="1">
                <a:solidFill>
                  <a:srgbClr val="060606"/>
                </a:solidFill>
                <a:latin typeface="Helvetica"/>
              </a:rPr>
              <a:t>La méthode du FPPN ignore les provisions et compare chaque garantie à la norme globale.</a:t>
            </a:r>
            <a:r>
              <a:rPr sz="1300" b="0">
                <a:solidFill>
                  <a:srgbClr val="060606"/>
                </a:solidFill>
                <a:latin typeface="Helvetica"/>
              </a:rPr>
              <a:t> La norme de 70 % à 80 % de la Décision s'applique au seul taux global, provisions comprises.</a:t>
            </a:r>
          </a:p>
          <a:p>
            <a:pPr algn="just">
              <a:spcAft>
                <a:spcPts val="600"/>
              </a:spcAft>
            </a:pPr>
            <a:r>
              <a:rPr sz="1300" b="1">
                <a:solidFill>
                  <a:srgbClr val="060606"/>
                </a:solidFill>
                <a:latin typeface="Helvetica"/>
              </a:rPr>
              <a:t>La note du FPPN contient deux taux différents pour le décès et pour la maladie.</a:t>
            </a:r>
            <a:r>
              <a:rPr sz="1300" b="0">
                <a:solidFill>
                  <a:srgbClr val="060606"/>
                </a:solidFill>
                <a:latin typeface="Helvetica"/>
              </a:rPr>
              <a:t> Les quotients écrits donnent 12,95 % et 99,23 %. Les mentions 19,66 % et 107 % ne correspondent à aucun calcul affiché.</a:t>
            </a:r>
          </a:p>
          <a:p>
            <a:pPr algn="just">
              <a:spcAft>
                <a:spcPts val="600"/>
              </a:spcAft>
            </a:pPr>
            <a:r>
              <a:rPr sz="1300" b="0">
                <a:solidFill>
                  <a:srgbClr val="060606"/>
                </a:solidFill>
                <a:latin typeface="Helvetica"/>
              </a:rPr>
              <a:t>La méthode du FPPN est désormais connue : le registre des formules (onglet 11_formules) la reprend. Elle convient au pilotage par garantie, pas à la conformité, qui exige la formule du texte avec les provisions.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904615286"/>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décès : le FPPN et les 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 2022 à 2025, les cotisations et les sinistres du FPPN sont ceux de la comptabilité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rapport sinistres / cotisations du FPPN égale le taux décès par garantie du rapport de 2022 à 2025. 2020 et 2021 diffèrent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 Balances des comptes du FPPN de 2020 au 31/08/2026 (provisoire), fichiers « BALANCE … » listés en annexe « Fichiers sources ». Traitements Adenka</a:t>
            </a:r>
          </a:p>
        </p:txBody>
      </p:sp>
      <p:sp>
        <p:nvSpPr>
          <p:cNvPr id="31" name="TextBox 30"/>
          <p:cNvSpPr txBox="1"/>
          <p:nvPr/>
        </p:nvSpPr>
        <p:spPr>
          <a:xfrm>
            <a:off x="503999" y="1386000"/>
            <a:ext cx="10800000" cy="216000"/>
          </a:xfrm>
          <a:prstGeom prst="rect">
            <a:avLst/>
          </a:prstGeom>
          <a:noFill/>
        </p:spPr>
        <p:txBody>
          <a:bodyPr wrap="square" anchor="t" lIns="54000" rIns="54000"/>
          <a:lstStyle/>
          <a:p>
            <a:pPr algn="ctr"/>
            <a:r>
              <a:rPr sz="1200" b="0">
                <a:solidFill>
                  <a:srgbClr val="EFAC62"/>
                </a:solidFill>
                <a:latin typeface="Helvetica"/>
              </a:rPr>
              <a:t>Tableau 25 : Sinistralité décès selon le FPPN et selon les comptes</a:t>
            </a:r>
          </a:p>
        </p:txBody>
      </p:sp>
      <p:graphicFrame>
        <p:nvGraphicFramePr>
          <p:cNvPr id="32" name="Table 31"/>
          <p:cNvGraphicFramePr>
            <a:graphicFrameLocks noGrp="1"/>
          </p:cNvGraphicFramePr>
          <p:nvPr/>
        </p:nvGraphicFramePr>
        <p:xfrm>
          <a:off x="503999" y="1655999"/>
          <a:ext cx="10800000" cy="1363376"/>
        </p:xfrm>
        <a:graphic>
          <a:graphicData uri="http://schemas.openxmlformats.org/drawingml/2006/table">
            <a:tbl>
              <a:tblPr firstRow="0" bandRow="0">
                <a:tableStyleId>{5940675A-B579-460E-94D1-54222C63F5DA}</a:tableStyleId>
              </a:tblPr>
              <a:tblGrid>
                <a:gridCol w="936000"/>
                <a:gridCol w="1800000"/>
                <a:gridCol w="1728000"/>
                <a:gridCol w="1224000"/>
                <a:gridCol w="1944000"/>
                <a:gridCol w="1944000"/>
                <a:gridCol w="1224000"/>
              </a:tblGrid>
              <a:tr h="194768">
                <a:tc>
                  <a:txBody>
                    <a:bodyPr/>
                    <a:lstStyle/>
                    <a:p>
                      <a:pPr marL="0" indent="0" lvl="0">
                        <a:buNone/>
                      </a:pPr>
                      <a:r>
                        <a:rPr sz="900" b="1">
                          <a:solidFill>
                            <a:srgbClr val="FFFFFF"/>
                          </a:solidFill>
                          <a:latin typeface="Helvetica"/>
                        </a:rPr>
                        <a:t>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Cotisations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Sinistres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S/P du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Cotisations décès (comptes)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décès (comptes)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S/C (comptes)</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557 317 712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493 331 537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88,52 %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703 298 329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578 327 196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82,23 %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725 124 908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156 020 000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21,52 %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725 124 908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401 856 666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55,42 %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763 338 861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116 090 000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763 338 861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116 090 000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15,21 %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829 647 591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141 490 000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829 647 591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141 490 000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17,05 %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934 555 069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203 801 664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21,81 %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934 555 069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203 801 664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21,81 %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1 008 270 692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193 136 666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19,16 %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1 008 270 692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193 136 666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19,16 %</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garantie décès-invalidité, exercices 2020 à 2025.</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De 2022 à 2025, les deux sources donnent les mêmes cotisations, les mêmes sinistres et donc le même taux.</a:t>
            </a:r>
            <a:r>
              <a:rPr sz="1300" b="0">
                <a:solidFill>
                  <a:srgbClr val="060606"/>
                </a:solidFill>
                <a:latin typeface="Helvetica"/>
              </a:rPr>
              <a:t> Le taux décès par garantie du rapport est ainsi confirmé par le FPPN.</a:t>
            </a:r>
          </a:p>
          <a:p>
            <a:pPr algn="just">
              <a:spcAft>
                <a:spcPts val="600"/>
              </a:spcAft>
            </a:pPr>
            <a:r>
              <a:rPr sz="1300" b="1">
                <a:solidFill>
                  <a:srgbClr val="060606"/>
                </a:solidFill>
                <a:latin typeface="Helvetica"/>
              </a:rPr>
              <a:t>En 2021, le FPPN retient 156 020 000 FCFA de sinistres, contre 401 856 666 FCFA dans les comptes.</a:t>
            </a:r>
            <a:r>
              <a:rPr sz="1300" b="0">
                <a:solidFill>
                  <a:srgbClr val="060606"/>
                </a:solidFill>
                <a:latin typeface="Helvetica"/>
              </a:rPr>
              <a:t> En 2020, ses cotisations et ses sinistres diffèrent aussi des comptes, l'assureur portant alors le risque.</a:t>
            </a:r>
          </a:p>
          <a:p>
            <a:pPr algn="just">
              <a:spcAft>
                <a:spcPts val="600"/>
              </a:spcAft>
            </a:pPr>
            <a:r>
              <a:rPr sz="1300" b="0">
                <a:solidFill>
                  <a:srgbClr val="060606"/>
                </a:solidFill>
                <a:latin typeface="Helvetica"/>
              </a:rPr>
              <a:t>Pour 2022 à 2025, la garantie décès consomme moins d'un quart de ses cotisations selon les deux sources. L'écart de 2021 entre les deux sources est à expliquer par le FPPN.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 | S/P : sinistres sur primes (cotisations)</a:t>
            </a:r>
          </a:p>
        </p:txBody>
      </p:sp>
    </p:spTree>
    <p:extLst>
      <p:ext uri="{BB962C8B-B14F-4D97-AF65-F5344CB8AC3E}">
        <p14:creationId xmlns:p14="http://schemas.microsoft.com/office/powerpoint/2010/main" val="899612594"/>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brute des membres participants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Entre trois et cinq décès pour mille adhérents chaque année depuis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99 décès pour 31 678 adhérents, soit 3,13 pour mille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a:t>
            </a:r>
          </a:p>
        </p:txBody>
      </p:sp>
      <p:sp>
        <p:nvSpPr>
          <p:cNvPr id="31" name="TextBox 30"/>
          <p:cNvSpPr txBox="1"/>
          <p:nvPr/>
        </p:nvSpPr>
        <p:spPr>
          <a:xfrm>
            <a:off x="503999" y="1386000"/>
            <a:ext cx="10224000" cy="216000"/>
          </a:xfrm>
          <a:prstGeom prst="rect">
            <a:avLst/>
          </a:prstGeom>
          <a:noFill/>
        </p:spPr>
        <p:txBody>
          <a:bodyPr wrap="square" anchor="t" lIns="54000" rIns="54000"/>
          <a:lstStyle/>
          <a:p>
            <a:pPr algn="ctr"/>
            <a:r>
              <a:rPr sz="1200" b="0">
                <a:solidFill>
                  <a:srgbClr val="EFAC62"/>
                </a:solidFill>
                <a:latin typeface="Helvetica"/>
              </a:rPr>
              <a:t>Tableau 26 : Décès et taux brut de mortalité des membres participants</a:t>
            </a:r>
          </a:p>
        </p:txBody>
      </p:sp>
      <p:graphicFrame>
        <p:nvGraphicFramePr>
          <p:cNvPr id="32" name="Table 31"/>
          <p:cNvGraphicFramePr>
            <a:graphicFrameLocks noGrp="1"/>
          </p:cNvGraphicFramePr>
          <p:nvPr/>
        </p:nvGraphicFramePr>
        <p:xfrm>
          <a:off x="503999" y="1655999"/>
          <a:ext cx="10224000" cy="2337216"/>
        </p:xfrm>
        <a:graphic>
          <a:graphicData uri="http://schemas.openxmlformats.org/drawingml/2006/table">
            <a:tbl>
              <a:tblPr firstRow="0" bandRow="0">
                <a:tableStyleId>{5940675A-B579-460E-94D1-54222C63F5DA}</a:tableStyleId>
              </a:tblPr>
              <a:tblGrid>
                <a:gridCol w="1080000"/>
                <a:gridCol w="1800000"/>
                <a:gridCol w="1800000"/>
                <a:gridCol w="1800000"/>
                <a:gridCol w="1800000"/>
                <a:gridCol w="1944000"/>
              </a:tblGrid>
              <a:tr h="194768">
                <a:tc>
                  <a:txBody>
                    <a:bodyPr/>
                    <a:lstStyle/>
                    <a:p>
                      <a:pPr marL="0" indent="0" lvl="0">
                        <a:buNone/>
                      </a:pPr>
                      <a:r>
                        <a:rPr sz="900" b="1">
                          <a:solidFill>
                            <a:srgbClr val="FFFFFF"/>
                          </a:solidFill>
                          <a:latin typeface="Helvetica"/>
                        </a:rPr>
                        <a:t>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Adhérents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Décès de membres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Décès de conjoints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Décès d'enfants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brut (pour mille)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16 518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5,81</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2016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17 164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4,43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17 164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5,77</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17 164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6,53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17 824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18 654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5,79</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19 846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5,09</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19 846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3,83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23 670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3,97</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27 657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4,52</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31 678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3,13</a:t>
                      </a:r>
                    </a:p>
                  </a:txBody>
                  <a:tcPr marL="43200" marR="43200" marT="14400" marB="14400" anchor="ctr">
                    <a:solidFill>
                      <a:srgbClr val="FFFFFF"/>
                    </a:solidFill>
                  </a:tcPr>
                </a:tc>
              </a:tr>
            </a:tbl>
          </a:graphicData>
        </a:graphic>
      </p:graphicFrame>
      <p:sp>
        <p:nvSpPr>
          <p:cNvPr id="33" name="TextBox 32"/>
          <p:cNvSpPr txBox="1"/>
          <p:nvPr/>
        </p:nvSpPr>
        <p:spPr>
          <a:xfrm>
            <a:off x="503999" y="4101223"/>
            <a:ext cx="11232000" cy="162000"/>
          </a:xfrm>
          <a:prstGeom prst="rect">
            <a:avLst/>
          </a:prstGeom>
          <a:noFill/>
        </p:spPr>
        <p:txBody>
          <a:bodyPr wrap="square" anchor="t" lIns="54000" rIns="54000"/>
          <a:lstStyle/>
          <a:p>
            <a:pPr algn="l"/>
            <a:r>
              <a:rPr sz="850" b="0">
                <a:solidFill>
                  <a:srgbClr val="53565A"/>
                </a:solidFill>
                <a:latin typeface="Helvetica"/>
              </a:rPr>
              <a:t>Valable pour : membres participants recensés par le FPPN, années 2015 à 2025. Ne vaut ni par âge, ni par grade, ni pour les ayants droit.</a:t>
            </a:r>
          </a:p>
        </p:txBody>
      </p:sp>
      <p:sp>
        <p:nvSpPr>
          <p:cNvPr id="34" name="TextBox 33"/>
          <p:cNvSpPr txBox="1"/>
          <p:nvPr/>
        </p:nvSpPr>
        <p:spPr>
          <a:xfrm>
            <a:off x="503999" y="4407223"/>
            <a:ext cx="11232000" cy="1460776"/>
          </a:xfrm>
          <a:prstGeom prst="rect">
            <a:avLst/>
          </a:prstGeom>
          <a:noFill/>
        </p:spPr>
        <p:txBody>
          <a:bodyPr wrap="square" lIns="54000" rIns="54000"/>
          <a:lstStyle/>
          <a:p>
            <a:pPr algn="just">
              <a:spcAft>
                <a:spcPts val="600"/>
              </a:spcAft>
            </a:pPr>
            <a:r>
              <a:rPr sz="1300" b="1">
                <a:solidFill>
                  <a:srgbClr val="060606"/>
                </a:solidFill>
                <a:latin typeface="Helvetica"/>
              </a:rPr>
              <a:t>Le taux brut varie de 3,13 à 5,09 pour mille de 2021 à 2025.</a:t>
            </a:r>
            <a:r>
              <a:rPr sz="1300" b="0">
                <a:solidFill>
                  <a:srgbClr val="060606"/>
                </a:solidFill>
                <a:latin typeface="Helvetica"/>
              </a:rPr>
              <a:t> Le FPPN reporte le même nombre d'adhérents trois années de suite de 2016 à 2018, puis en 2021 et 2022, ce qui fragilise les taux de ces années.</a:t>
            </a:r>
          </a:p>
          <a:p>
            <a:pPr algn="just">
              <a:spcAft>
                <a:spcPts val="600"/>
              </a:spcAft>
            </a:pPr>
            <a:r>
              <a:rPr sz="1300" b="1">
                <a:solidFill>
                  <a:srgbClr val="060606"/>
                </a:solidFill>
                <a:latin typeface="Helvetica"/>
              </a:rPr>
              <a:t>Les décès d'ayants droit (conjoints et enfants) passent de 17 en 2020 à 10 en 2025.</a:t>
            </a:r>
            <a:r>
              <a:rPr sz="1300" b="0">
                <a:solidFill>
                  <a:srgbClr val="060606"/>
                </a:solidFill>
                <a:latin typeface="Helvetica"/>
              </a:rPr>
              <a:t> Le nombre d'ayants droit couverts n'est pas connu : aucun taux ne peut être calculé pour eux.</a:t>
            </a:r>
          </a:p>
          <a:p>
            <a:pPr algn="just">
              <a:spcAft>
                <a:spcPts val="600"/>
              </a:spcAft>
            </a:pPr>
            <a:r>
              <a:rPr sz="1300" b="0">
                <a:solidFill>
                  <a:srgbClr val="060606"/>
                </a:solidFill>
                <a:latin typeface="Helvetica"/>
              </a:rPr>
              <a:t>Le taux brut sert d'ordre de grandeur. La comparaison à la table CIMA H, nécessaire pour juger la cotisation décès, demande les dates de naissance des membres et la base des décès (PBC, items 9 à 11 et 28).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2792348976"/>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Nature des risques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garantie relève d'une catégorie de risque qui fixe ses provisions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textes de la mutualité distinguent risques courts et longs, la CIMA distingue vie et non-vie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8 à 15. Code CIMA (référence technique).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27 : Nature des risques par garantie et provisions attendues</a:t>
            </a:r>
          </a:p>
        </p:txBody>
      </p:sp>
      <p:graphicFrame>
        <p:nvGraphicFramePr>
          <p:cNvPr id="32" name="Table 31"/>
          <p:cNvGraphicFramePr>
            <a:graphicFrameLocks noGrp="1"/>
          </p:cNvGraphicFramePr>
          <p:nvPr/>
        </p:nvGraphicFramePr>
        <p:xfrm>
          <a:off x="503999" y="1655999"/>
          <a:ext cx="11232000" cy="1912052"/>
        </p:xfrm>
        <a:graphic>
          <a:graphicData uri="http://schemas.openxmlformats.org/drawingml/2006/table">
            <a:tbl>
              <a:tblPr firstRow="0" bandRow="0">
                <a:tableStyleId>{5940675A-B579-460E-94D1-54222C63F5DA}</a:tableStyleId>
              </a:tblPr>
              <a:tblGrid>
                <a:gridCol w="1872000"/>
                <a:gridCol w="1296000"/>
                <a:gridCol w="1584000"/>
                <a:gridCol w="3240000"/>
                <a:gridCol w="3240000"/>
              </a:tblGrid>
              <a:tr h="194768">
                <a:tc>
                  <a:txBody>
                    <a:bodyPr/>
                    <a:lstStyle/>
                    <a:p>
                      <a:pPr marL="0" indent="0" lvl="0">
                        <a:buNone/>
                      </a:pPr>
                      <a:r>
                        <a:rPr sz="9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UEMOA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CIMA (référence)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attendue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Effet sur la sinistralité</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des actifs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taux doit intégrer la variation de la PSAP.</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(capital, frais funéraires, allocations)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 si annuel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(décès temporaire)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des dossiers déclarés non payés et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doit intégrer la variation de la PSAP obsèques.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Vie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Dette d'épargne, provision mathématique si un capital est garanti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 versements et retraits d'épargne.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Santé des retraités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long si garantie à 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(rente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annuel sous-estime l'engagement futur.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champ du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au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du FPPN.</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si le FPPN porte le risque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7022 incluses dans le taux du texte.</a:t>
                      </a:r>
                    </a:p>
                  </a:txBody>
                  <a:tcPr marL="43200" marR="43200" marT="14400" marB="14400" anchor="ctr">
                    <a:solidFill>
                      <a:srgbClr val="F2F2F2"/>
                    </a:solidFill>
                  </a:tcPr>
                </a:tc>
              </a:tr>
            </a:tbl>
          </a:graphicData>
        </a:graphic>
      </p:graphicFrame>
      <p:sp>
        <p:nvSpPr>
          <p:cNvPr id="33" name="TextBox 32"/>
          <p:cNvSpPr txBox="1"/>
          <p:nvPr/>
        </p:nvSpPr>
        <p:spPr>
          <a:xfrm>
            <a:off x="503999" y="3676055"/>
            <a:ext cx="11232000" cy="162000"/>
          </a:xfrm>
          <a:prstGeom prst="rect">
            <a:avLst/>
          </a:prstGeom>
          <a:noFill/>
        </p:spPr>
        <p:txBody>
          <a:bodyPr wrap="square" anchor="t" lIns="54000" rIns="54000"/>
          <a:lstStyle/>
          <a:p>
            <a:pPr algn="l"/>
            <a:r>
              <a:rPr sz="850" b="0">
                <a:solidFill>
                  <a:srgbClr val="53565A"/>
                </a:solidFill>
                <a:latin typeface="Helvetica"/>
              </a:rPr>
              <a:t>Valable pour : garanties décrites par les statuts du 15/06/2023 et le règlement d'exécution n° 004/2022, art. 8 à 15. Qualification sans chiffre.</a:t>
            </a:r>
          </a:p>
        </p:txBody>
      </p:sp>
      <p:sp>
        <p:nvSpPr>
          <p:cNvPr id="34" name="TextBox 33"/>
          <p:cNvSpPr txBox="1"/>
          <p:nvPr/>
        </p:nvSpPr>
        <p:spPr>
          <a:xfrm>
            <a:off x="503999" y="3982055"/>
            <a:ext cx="11232000" cy="1885944"/>
          </a:xfrm>
          <a:prstGeom prst="rect">
            <a:avLst/>
          </a:prstGeom>
          <a:noFill/>
        </p:spPr>
        <p:txBody>
          <a:bodyPr wrap="square" lIns="54000" rIns="54000"/>
          <a:lstStyle/>
          <a:p>
            <a:pPr algn="just">
              <a:spcAft>
                <a:spcPts val="600"/>
              </a:spcAft>
            </a:pPr>
            <a:r>
              <a:rPr sz="1300" b="1">
                <a:solidFill>
                  <a:srgbClr val="060606"/>
                </a:solidFill>
                <a:latin typeface="Helvetica"/>
              </a:rPr>
              <a:t>Le taux de sinistralité ne mesure bien que les risques courts.</a:t>
            </a:r>
            <a:r>
              <a:rPr sz="1300" b="0">
                <a:solidFill>
                  <a:srgbClr val="060606"/>
                </a:solidFill>
                <a:latin typeface="Helvetica"/>
              </a:rPr>
              <a:t> Pour les risques longs, l'engagement se mesure par une provision mathématique, calculée avec une table de mortalité et un taux d'intérêt technique (règlement d'exécution n° 004/2022, art. 11).</a:t>
            </a:r>
          </a:p>
          <a:p>
            <a:pPr algn="just">
              <a:spcAft>
                <a:spcPts val="600"/>
              </a:spcAft>
            </a:pPr>
            <a:r>
              <a:rPr sz="1300" b="0">
                <a:solidFill>
                  <a:srgbClr val="060606"/>
                </a:solidFill>
                <a:latin typeface="Helvetica"/>
              </a:rPr>
              <a:t>Les provisions du FPPN doivent être revues garantie par garantie : seules la maladie et le décès ont une provision, figée depuis 2020 (partie 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CIMA : Conférence interafricaine des marchés d'assurances | PEP : Plan Épargne Plus | EFC : entraide fin de carrière | PSAP : provision pour sinistres à payer | GNA : assureur de la flotte automobile (compte 47111106) | MEDOC : produit santé complémentaire du poste 8Z7</a:t>
            </a:r>
          </a:p>
        </p:txBody>
      </p:sp>
    </p:spTree>
    <p:extLst>
      <p:ext uri="{BB962C8B-B14F-4D97-AF65-F5344CB8AC3E}">
        <p14:creationId xmlns:p14="http://schemas.microsoft.com/office/powerpoint/2010/main" val="2919131320"/>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Croissance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croissent beaucoup plus vite que les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croissance annuel moyen 2021 à 2025 : prestations maladie 104,42 %, cotisations 7,83 %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Fichiers de précomptes et exports du Grenier reçus le 15/10/2026 (noms exacts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28 : Taux de croissance annuels moyens</a:t>
            </a:r>
          </a:p>
        </p:txBody>
      </p:sp>
      <p:graphicFrame>
        <p:nvGraphicFramePr>
          <p:cNvPr id="32" name="Table 31"/>
          <p:cNvGraphicFramePr>
            <a:graphicFrameLocks noGrp="1"/>
          </p:cNvGraphicFramePr>
          <p:nvPr/>
        </p:nvGraphicFramePr>
        <p:xfrm>
          <a:off x="503999" y="1655999"/>
          <a:ext cx="11231997" cy="2137302"/>
        </p:xfrm>
        <a:graphic>
          <a:graphicData uri="http://schemas.openxmlformats.org/drawingml/2006/table">
            <a:tbl>
              <a:tblPr firstRow="0" bandRow="0">
                <a:tableStyleId>{5940675A-B579-460E-94D1-54222C63F5DA}</a:tableStyleId>
              </a:tblPr>
              <a:tblGrid>
                <a:gridCol w="2736000"/>
                <a:gridCol w="1655999"/>
                <a:gridCol w="2015999"/>
                <a:gridCol w="2015999"/>
                <a:gridCol w="1296000"/>
                <a:gridCol w="1512000"/>
              </a:tblGrid>
              <a:tr h="225250">
                <a:tc>
                  <a:txBody>
                    <a:bodyPr/>
                    <a:lstStyle/>
                    <a:p>
                      <a:pPr marL="0" indent="0" lvl="0">
                        <a:buNone/>
                      </a:pPr>
                      <a:r>
                        <a:rPr sz="11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de départ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d'arrivée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Multiplié par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TCAM</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Cotisations maladie et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2 344 618 501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3 417 551 722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7,83 %</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Prestations maladie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2021 à 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101 453 171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1 771 635 361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17,46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104,42 %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Épargne PEP et EFC (passif)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4,99 %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31/12/2022 à 31/12/2025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65,64 %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Production de prêts du Grenier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2022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269 775 100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1 609 400 144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5,97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81,37 %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Cotisants actifs (maladie 936)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janv. 2024 à août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23 119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31 198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12,30 %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Investissements au CMP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2 984 680 712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6 002 976 947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15,00 %</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306000"/>
          </a:xfrm>
          <a:prstGeom prst="rect">
            <a:avLst/>
          </a:prstGeom>
          <a:noFill/>
        </p:spPr>
        <p:txBody>
          <a:bodyPr wrap="square" anchor="t" lIns="54000" rIns="54000"/>
          <a:lstStyle/>
          <a:p>
            <a:pPr algn="l"/>
            <a:r>
              <a:rPr sz="850" b="0">
                <a:solidFill>
                  <a:srgbClr val="53565A"/>
                </a:solidFill>
                <a:latin typeface="Helvetica"/>
              </a:rPr>
              <a:t>Valable pour : taux annuels moyens des comptes de prestations et de cotisations (7010, 7021) des balances « BALANCE FORMAT EXCEL DE 09-2020 AU 31-12-2020.xlsx » à « BALANCE FPPN DU 01-01-2026 AU 31-08-2026.xlsx » et des fichiers de précomptes. Périodes indiquées ligne par ligne.</a:t>
            </a:r>
          </a:p>
        </p:txBody>
      </p:sp>
      <p:sp>
        <p:nvSpPr>
          <p:cNvPr id="34" name="TextBox 33"/>
          <p:cNvSpPr txBox="1"/>
          <p:nvPr/>
        </p:nvSpPr>
        <p:spPr>
          <a:xfrm>
            <a:off x="503999" y="4351305"/>
            <a:ext cx="11232000" cy="1516694"/>
          </a:xfrm>
          <a:prstGeom prst="rect">
            <a:avLst/>
          </a:prstGeom>
          <a:noFill/>
        </p:spPr>
        <p:txBody>
          <a:bodyPr wrap="square" lIns="54000" rIns="54000"/>
          <a:lstStyle/>
          <a:p>
            <a:pPr algn="just">
              <a:spcAft>
                <a:spcPts val="600"/>
              </a:spcAft>
            </a:pPr>
            <a:r>
              <a:rPr sz="1300" b="1">
                <a:solidFill>
                  <a:srgbClr val="060606"/>
                </a:solidFill>
                <a:latin typeface="Helvetica"/>
              </a:rPr>
              <a:t>Les prestations maladie et l'encours du Grenier croissent bien plus vite que les cotisations et les effectifs.</a:t>
            </a:r>
            <a:r>
              <a:rPr sz="1300" b="0">
                <a:solidFill>
                  <a:srgbClr val="060606"/>
                </a:solidFill>
                <a:latin typeface="Helvetica"/>
              </a:rPr>
              <a:t> Les ressources ne suivent pas le rythme des emplois.</a:t>
            </a:r>
          </a:p>
          <a:p>
            <a:pPr algn="just">
              <a:spcAft>
                <a:spcPts val="600"/>
              </a:spcAft>
            </a:pPr>
            <a:r>
              <a:rPr sz="1300" b="0">
                <a:solidFill>
                  <a:srgbClr val="060606"/>
                </a:solidFill>
                <a:latin typeface="Helvetica"/>
              </a:rPr>
              <a:t>Un écart durable entre la croissance des prestations et celle des cotisations conduit mécaniquement à un déficit technique : la projection devra en fixer l'horizon.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Centre Médical du Policier (rapport de gestion 2023) | TCAM : taux de croissance annuel moyen | 936 : poste maladie</a:t>
            </a:r>
          </a:p>
        </p:txBody>
      </p:sp>
    </p:spTree>
    <p:extLst>
      <p:ext uri="{BB962C8B-B14F-4D97-AF65-F5344CB8AC3E}">
        <p14:creationId xmlns:p14="http://schemas.microsoft.com/office/powerpoint/2010/main" val="2515353015"/>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Prestations maladie par nature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 de la moitié des prestations maladie est enregistrée sans détail de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le compte global porte 995 311 355 FCFA sur 1 771 635 361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17 : Prestations maladie comptabilisées par nature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prestations maladie passent de 101 453 171 FCFA en 2021 à 1 771 635 361 FCFA en 2025.</a:t>
            </a:r>
          </a:p>
          <a:p>
            <a:pPr algn="just">
              <a:spcAft>
                <a:spcPts val="600"/>
              </a:spcAft>
            </a:pPr>
            <a:r>
              <a:rPr sz="1400" b="1">
                <a:solidFill>
                  <a:srgbClr val="060606"/>
                </a:solidFill>
                <a:latin typeface="Helvetica"/>
              </a:rPr>
              <a:t>Imagerie, analyses et consultations représentent 37,13 % des prestations de 2025.</a:t>
            </a:r>
            <a:r>
              <a:rPr sz="1400" b="0">
                <a:solidFill>
                  <a:srgbClr val="060606"/>
                </a:solidFill>
                <a:latin typeface="Helvetica"/>
              </a:rPr>
              <a:t> Ce sont les natures détaillées qui progressent le plus.</a:t>
            </a:r>
          </a:p>
          <a:p>
            <a:pPr algn="just">
              <a:spcAft>
                <a:spcPts val="600"/>
              </a:spcAft>
            </a:pPr>
            <a:r>
              <a:rPr sz="1400" b="1">
                <a:solidFill>
                  <a:srgbClr val="060606"/>
                </a:solidFill>
                <a:latin typeface="Helvetica"/>
              </a:rPr>
              <a:t>Le compte global empêche le suivi par type de soins et par prestataire.</a:t>
            </a:r>
          </a:p>
          <a:p>
            <a:pPr algn="just">
              <a:spcAft>
                <a:spcPts val="600"/>
              </a:spcAft>
            </a:pPr>
            <a:r>
              <a:rPr sz="1400" b="0">
                <a:solidFill>
                  <a:srgbClr val="060606"/>
                </a:solidFill>
                <a:latin typeface="Helvetica"/>
              </a:rPr>
              <a:t>Sans détail par nature et par prestataire, le FPPN ne peut ni négocier ses tarifs, ni repérer les abus, ni calculer le taux de prestations indues exigé par la Décision n° 05/2022.</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601, 6013, 6018 et 60800007 des balances « BALANCE FORMAT EXCEL DE 09-2020 AU 31-12-2020.xlsx » à « BALANCE FPPN DU 01-01-2026 AU 31-08-2026.xlsx », 2020 à 2025 et du 01/01 au 31/08/2026. Nature telle que libellée par le FPPN.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121124405"/>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Frais de gestion et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excédents se réduisent et deviennent un déficit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net : 1 018 579 699 FCFA en 2020, 437 899 911 FCFA en 2025, -441 256 500 FCFA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18 : Frais de gestion et résultat net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frais de gestion pèsent entre 31,46 % et 40,11 % des cotisations depuis 2021.</a:t>
            </a:r>
            <a:r>
              <a:rPr sz="1400" b="0">
                <a:solidFill>
                  <a:srgbClr val="060606"/>
                </a:solidFill>
                <a:latin typeface="Helvetica"/>
              </a:rPr>
              <a:t> La Décision n° 05/2022 limite les charges de fonctionnement à 20 % des cotisations.</a:t>
            </a:r>
          </a:p>
          <a:p>
            <a:pPr algn="just">
              <a:spcAft>
                <a:spcPts val="600"/>
              </a:spcAft>
            </a:pPr>
            <a:r>
              <a:rPr sz="1400" b="1">
                <a:solidFill>
                  <a:srgbClr val="060606"/>
                </a:solidFill>
                <a:latin typeface="Helvetica"/>
              </a:rPr>
              <a:t>Le résultat baisse depuis 2021.</a:t>
            </a:r>
            <a:r>
              <a:rPr sz="1400" b="0">
                <a:solidFill>
                  <a:srgbClr val="060606"/>
                </a:solidFill>
                <a:latin typeface="Helvetica"/>
              </a:rPr>
              <a:t> Il passe de 2 083 908 202 FCFA à 437 899 911 FCFA en 2025.</a:t>
            </a:r>
          </a:p>
          <a:p>
            <a:pPr algn="just">
              <a:spcAft>
                <a:spcPts val="600"/>
              </a:spcAft>
            </a:pPr>
            <a:r>
              <a:rPr sz="1400" b="1">
                <a:solidFill>
                  <a:srgbClr val="060606"/>
                </a:solidFill>
                <a:latin typeface="Helvetica"/>
              </a:rPr>
              <a:t>Les huit premiers mois de 2026 sont déficitaires</a:t>
            </a:r>
            <a:r>
              <a:rPr sz="1400" b="0">
                <a:solidFill>
                  <a:srgbClr val="060606"/>
                </a:solidFill>
                <a:latin typeface="Helvetica"/>
              </a:rPr>
              <a:t>, avant même les écritures de fin d'année.</a:t>
            </a:r>
          </a:p>
          <a:p>
            <a:pPr algn="just">
              <a:spcAft>
                <a:spcPts val="600"/>
              </a:spcAft>
            </a:pPr>
            <a:r>
              <a:rPr sz="1400" b="0">
                <a:solidFill>
                  <a:srgbClr val="060606"/>
                </a:solidFill>
                <a:latin typeface="Helvetica"/>
              </a:rPr>
              <a:t>Les frais pèsent presque deux fois la norme réglementaire. Leur réduction est le levier le plus direct pour restaurer l'excédent pendant que la sinistralité monte.</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comptes 61 à 66 hors 6518 (frais) et résultat net des balances « BALANCE FORMAT EXCEL DE 09-2020 AU 31-12-2020.xlsx » à « BALANCE FPPN DU 01-01-2026 AU 31-08-2026.xlsx », 2020 à 2025 et du 01/01 au 31/08/2026.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4041606"/>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frais de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formule du texte et celle du rapport ne retiennent pas les mêmes comptes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32,23 % selon le rapport, 36,34 % selon le texte, pour une norme d'au plus 20 %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19 : Taux de frais selon la formule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tableau 1.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deux formules diffèrent sur trois points.</a:t>
            </a:r>
            <a:r>
              <a:rPr sz="1400" b="0">
                <a:solidFill>
                  <a:srgbClr val="060606"/>
                </a:solidFill>
                <a:latin typeface="Helvetica"/>
              </a:rPr>
              <a:t> Le texte exclut les comptes 611 et 614 à 617, et inclut les comptes 67 et 68. Il divise par toutes les cotisations acquises, MEDOC compris. Le rapport retenait les comptes 61 à 66 et les seules cotisations maladie et décès.</a:t>
            </a:r>
          </a:p>
          <a:p>
            <a:pPr algn="just">
              <a:spcAft>
                <a:spcPts val="600"/>
              </a:spcAft>
            </a:pPr>
            <a:r>
              <a:rPr sz="1400" b="1">
                <a:solidFill>
                  <a:srgbClr val="060606"/>
                </a:solidFill>
                <a:latin typeface="Helvetica"/>
              </a:rPr>
              <a:t>Seule la formule du texte est comparée à la norme de 20 %.</a:t>
            </a:r>
            <a:r>
              <a:rPr sz="1400" b="0">
                <a:solidFill>
                  <a:srgbClr val="060606"/>
                </a:solidFill>
                <a:latin typeface="Helvetica"/>
              </a:rPr>
              <a:t> La formule du rapport reste utile pour suivre les frais sur la même base que la sinistralité par garantie.</a:t>
            </a:r>
          </a:p>
          <a:p>
            <a:pPr algn="just">
              <a:spcAft>
                <a:spcPts val="600"/>
              </a:spcAft>
            </a:pPr>
            <a:r>
              <a:rPr sz="1400" b="0">
                <a:solidFill>
                  <a:srgbClr val="060606"/>
                </a:solidFill>
                <a:latin typeface="Helvetica"/>
              </a:rPr>
              <a:t>Quelle que soit la formule, les frais dépassent la norme de 20 % des cotisations : la conclusion de la partie 5 ne change pas.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formules de la Décision n° 05/2022 (annexe, tableau 1) appliquées aux comptes 61 à 66 hors 6518 et 7010, 7021 des balances « BALANCE FORMAT EXCEL DE 09-2020 AU 31-12-2020.xlsx » à « BALANCE FPPN DU 01-01-2026 AU 31-08-2026.xlsx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3846634327"/>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prestations maladie absorbent une part croissante des cotisations, et le résultat du FPPN baisse depuis 2021.</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hausse du S/C maladie est statistiquement significative, d'environ 12,91 points par an de 2020 à 2025. Les frais dépassent la norme de 20 %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Sans maîtrise des prestations et des frais, le FPPN deviendra déficitaire et ne pourra plus doter sa réserve obligatoire.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détailler le compte global de prestations par nature et par prestataire, et transmettre la base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sinistralité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approche le niveau des cotisations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S/C maladie multiplié par plus de douze depuis 2021, résultat en baisse, déficit sur 2026</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422252690"/>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6</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Épargne des mutualistes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Dette d'épargne, actifs réservés, sensibilité aux retraits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084328345"/>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Passif d'épargne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L'épargne due correspond aux soldes créditeurs des comptes 41195100 (PEP) et 41195200 (EFC). C'est une dette du FPPN envers les mutualistes.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Actifs réservés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bancaires et dépôts à terme dont l'intitulé désigne l'EFC ou le PEP (5211020x, 5221020x, 5211030x, 5221030x, 526120) et le fonds commun de placement (5330).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Couverture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couverture rapporte les actifs réservés à l'épargne due, à chaque clôture de 2020 au 31/08/2026.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règlement des produits n'a pas été transmis : la part de l'épargne exigible à court terme et l'affectation du fonds commun de placement restent à confirmer.</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adossement de l'épargne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couverture compare l'épargne due aux actifs qui lui sont réservés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(banques, dépôts à terme et fonds réservés) / (comptes PEP et EFC)</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740988539"/>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couverture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comptes de dette face à quatre comptes d'actifs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2 562 885 661 FCFA / 15 743 516 391 FCFA = 16,28 %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au 31/08/2026 (impression provisoire)</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ADENKA\DAFC\2026\BALANCE FPPN DU 01-01-2026 AU 31-08-2026.xlsx</a:t>
            </a:r>
          </a:p>
        </p:txBody>
      </p:sp>
      <p:graphicFrame>
        <p:nvGraphicFramePr>
          <p:cNvPr id="32" name="Table 31"/>
          <p:cNvGraphicFramePr>
            <a:graphicFrameLocks noGrp="1"/>
          </p:cNvGraphicFramePr>
          <p:nvPr/>
        </p:nvGraphicFramePr>
        <p:xfrm>
          <a:off x="503999" y="1548000"/>
          <a:ext cx="7704000" cy="1890081"/>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Solde au 31/08/2026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41195100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5 229 245 425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COTISATION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10 514 270 966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Total épargne due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52110200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BOA-Entraide fin de carrière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1 540 006 941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52110300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 BOA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37 336 916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52210200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 ENTRAIDE  FIN DE CARRIERE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485 541 804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53300001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Total actifs réservés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2 562 885 661 FCFA</a:t>
                      </a:r>
                    </a:p>
                  </a:txBody>
                  <a:tcPr marL="43200" marR="43200" marT="14400" marB="14400" anchor="ctr">
                    <a:solidFill>
                      <a:srgbClr val="F2F2F2"/>
                    </a:solidFill>
                  </a:tcPr>
                </a:tc>
              </a:tr>
            </a:tbl>
          </a:graphicData>
        </a:graphic>
      </p:graphicFrame>
      <p:sp>
        <p:nvSpPr>
          <p:cNvPr id="33" name="Rounded Rectangle 32"/>
          <p:cNvSpPr/>
          <p:nvPr/>
        </p:nvSpPr>
        <p:spPr>
          <a:xfrm>
            <a:off x="5813999" y="216722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217276"/>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670023"/>
          </a:xfrm>
          <a:prstGeom prst="rect">
            <a:avLst/>
          </a:prstGeom>
          <a:noFill/>
        </p:spPr>
        <p:txBody>
          <a:bodyPr wrap="square" anchor="t" lIns="54000" rIns="54000"/>
          <a:lstStyle/>
          <a:p>
            <a:pPr algn="l"/>
            <a:r>
              <a:rPr sz="1200" b="0">
                <a:solidFill>
                  <a:srgbClr val="060606"/>
                </a:solidFill>
                <a:latin typeface="Helvetica"/>
              </a:rPr>
              <a:t>Les deux comptes 41195 enregistrent la dette envers les épargnants PEP et EFC.</a:t>
            </a:r>
          </a:p>
        </p:txBody>
      </p:sp>
      <p:sp>
        <p:nvSpPr>
          <p:cNvPr id="39" name="Oval 38"/>
          <p:cNvSpPr/>
          <p:nvPr/>
        </p:nvSpPr>
        <p:spPr>
          <a:xfrm>
            <a:off x="8424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290023"/>
            <a:ext cx="2952000" cy="670023"/>
          </a:xfrm>
          <a:prstGeom prst="rect">
            <a:avLst/>
          </a:prstGeom>
          <a:noFill/>
        </p:spPr>
        <p:txBody>
          <a:bodyPr wrap="square" anchor="t" lIns="54000" rIns="54000"/>
          <a:lstStyle/>
          <a:p>
            <a:pPr algn="l"/>
            <a:r>
              <a:rPr sz="1200" b="0">
                <a:solidFill>
                  <a:srgbClr val="060606"/>
                </a:solidFill>
                <a:latin typeface="Helvetica"/>
              </a:rPr>
              <a:t>Les banques, le dépôt à terme et le fonds commun de placement forment les actifs réservés.</a:t>
            </a:r>
          </a:p>
        </p:txBody>
      </p:sp>
      <p:sp>
        <p:nvSpPr>
          <p:cNvPr id="41" name="Oval 40"/>
          <p:cNvSpPr/>
          <p:nvPr/>
        </p:nvSpPr>
        <p:spPr>
          <a:xfrm>
            <a:off x="8424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3050047"/>
            <a:ext cx="2952000" cy="484084"/>
          </a:xfrm>
          <a:prstGeom prst="rect">
            <a:avLst/>
          </a:prstGeom>
          <a:noFill/>
        </p:spPr>
        <p:txBody>
          <a:bodyPr wrap="square" anchor="t" lIns="54000" rIns="54000"/>
          <a:lstStyle/>
          <a:p>
            <a:pPr algn="l"/>
            <a:r>
              <a:rPr sz="1200" b="0">
                <a:solidFill>
                  <a:srgbClr val="060606"/>
                </a:solidFill>
                <a:latin typeface="Helvetica"/>
              </a:rPr>
              <a:t>La couverture vaut donc 16,28 % au 31/08/2026.</a:t>
            </a:r>
          </a:p>
        </p:txBody>
      </p:sp>
      <p:sp>
        <p:nvSpPr>
          <p:cNvPr id="43" name="TextBox 42"/>
          <p:cNvSpPr txBox="1"/>
          <p:nvPr/>
        </p:nvSpPr>
        <p:spPr>
          <a:xfrm>
            <a:off x="8424000" y="3714132"/>
            <a:ext cx="3312000" cy="2153867"/>
          </a:xfrm>
          <a:prstGeom prst="rect">
            <a:avLst/>
          </a:prstGeom>
          <a:noFill/>
        </p:spPr>
        <p:txBody>
          <a:bodyPr wrap="square" lIns="54000" rIns="54000"/>
          <a:lstStyle/>
          <a:p>
            <a:pPr algn="just">
              <a:spcAft>
                <a:spcPts val="600"/>
              </a:spcAft>
            </a:pPr>
            <a:r>
              <a:rPr sz="1200" b="1">
                <a:solidFill>
                  <a:srgbClr val="060606"/>
                </a:solidFill>
                <a:latin typeface="Helvetica"/>
              </a:rPr>
              <a:t>Ce ratio est aussi le ratio de solvabilité des risques longs de la Décision n° 05/2022</a:t>
            </a:r>
            <a:r>
              <a:rPr sz="1200" b="0">
                <a:solidFill>
                  <a:srgbClr val="060606"/>
                </a:solidFill>
                <a:latin typeface="Helvetica"/>
              </a:rPr>
              <a:t> (actifs admis / engagements réglementés), dont la norme est d'au moins 1.</a:t>
            </a:r>
          </a:p>
          <a:p>
            <a:pPr algn="just">
              <a:spcAft>
                <a:spcPts val="600"/>
              </a:spcAft>
            </a:pPr>
            <a:r>
              <a:rPr sz="1200" b="0">
                <a:solidFill>
                  <a:srgbClr val="060606"/>
                </a:solidFill>
                <a:latin typeface="Helvetica"/>
              </a:rPr>
              <a:t>Avec une couverture inférieure à un cinquième, le FPPN ne respecte pas cette norme : la partie 10 la reprend dans le tableau de bord sans refaire le calcul.</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DAT : dépôt à terme</a:t>
            </a:r>
          </a:p>
        </p:txBody>
      </p:sp>
    </p:spTree>
    <p:extLst>
      <p:ext uri="{BB962C8B-B14F-4D97-AF65-F5344CB8AC3E}">
        <p14:creationId xmlns:p14="http://schemas.microsoft.com/office/powerpoint/2010/main" val="3418488933"/>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des mutualistes n'est couverte qu'à 16,28 % par des 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entre 6,49 % et 19,29 % selon les années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20 : Épargne au passif et actifs réservés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dette d'épargne augmente de 45,39 % depuis 2020.</a:t>
            </a:r>
            <a:r>
              <a:rPr sz="1400" b="0">
                <a:solidFill>
                  <a:srgbClr val="060606"/>
                </a:solidFill>
                <a:latin typeface="Helvetica"/>
              </a:rPr>
              <a:t> Les actifs réservés ne suivent pas cette hausse.</a:t>
            </a:r>
          </a:p>
          <a:p>
            <a:pPr algn="just">
              <a:spcAft>
                <a:spcPts val="600"/>
              </a:spcAft>
            </a:pPr>
            <a:r>
              <a:rPr sz="1400" b="1">
                <a:solidFill>
                  <a:srgbClr val="060606"/>
                </a:solidFill>
                <a:latin typeface="Helvetica"/>
              </a:rPr>
              <a:t>L'épargne EFC triple.</a:t>
            </a:r>
            <a:r>
              <a:rPr sz="1400" b="0">
                <a:solidFill>
                  <a:srgbClr val="060606"/>
                </a:solidFill>
                <a:latin typeface="Helvetica"/>
              </a:rPr>
              <a:t> Elle passe de 3 461 975 893 FCFA en 2020 à 10 514 270 966 FCFA au 31/08/2026.</a:t>
            </a:r>
          </a:p>
          <a:p>
            <a:pPr algn="just">
              <a:spcAft>
                <a:spcPts val="600"/>
              </a:spcAft>
            </a:pPr>
            <a:r>
              <a:rPr sz="1400" b="1">
                <a:solidFill>
                  <a:srgbClr val="060606"/>
                </a:solidFill>
                <a:latin typeface="Helvetica"/>
              </a:rPr>
              <a:t>L'épargne non couverte finance des emplois peu liquides</a:t>
            </a:r>
            <a:r>
              <a:rPr sz="1400" b="0">
                <a:solidFill>
                  <a:srgbClr val="060606"/>
                </a:solidFill>
                <a:latin typeface="Helvetica"/>
              </a:rPr>
              <a:t> : investissements au CMP, terrains, créance sur l'Hôpital de la Police et prêts du Grenier.</a:t>
            </a:r>
          </a:p>
          <a:p>
            <a:pPr algn="just">
              <a:spcAft>
                <a:spcPts val="600"/>
              </a:spcAft>
            </a:pPr>
            <a:r>
              <a:rPr sz="1400" b="0">
                <a:solidFill>
                  <a:srgbClr val="060606"/>
                </a:solidFill>
                <a:latin typeface="Helvetica"/>
              </a:rPr>
              <a:t>Le règlement d'exécution n° 004/2022 impose le cantonnement des patrimoines quand une mutuelle couvre à la fois des risques courts et longs (art. 15). L'épargne n'est séparée qu'en partie des autres ressources du FPPN.</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41195100 et 41195200 (épargne) et comptes bancaires, DAT et FCP réservés à l'épargne des balances « BALANCE FORMAT EXCEL DE 09-2020 AU 31-12-2020.xlsx » à « BALANCE FPPN DU 01-01-2026 AU 31-08-2026.xlsx », au 31/12 de 2020 à 2025 et au 31/08/2026.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Centre Médical du Policier (rapport de gestion 2023) | FCP : fonds commun de placement | DAT : dépôt à terme</a:t>
            </a:r>
          </a:p>
        </p:txBody>
      </p:sp>
    </p:spTree>
    <p:extLst>
      <p:ext uri="{BB962C8B-B14F-4D97-AF65-F5344CB8AC3E}">
        <p14:creationId xmlns:p14="http://schemas.microsoft.com/office/powerpoint/2010/main" val="377083356"/>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Versements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versements au PEP ont été multipliés par quatre depuis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PEP 2025 : 2 029 929 725 FCFA versés par 16 932 épargnants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21 : Versements précomptés par produit d'épargne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(EFC à partir de 2023)</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épargnants PEP passent de 1 327 en 2020 à 17 199 en 2026.</a:t>
            </a:r>
            <a:r>
              <a:rPr sz="1400" b="0">
                <a:solidFill>
                  <a:srgbClr val="060606"/>
                </a:solidFill>
                <a:latin typeface="Helvetica"/>
              </a:rPr>
              <a:t> Le produit attire un nombre croissant de policiers.</a:t>
            </a:r>
          </a:p>
          <a:p>
            <a:pPr algn="just">
              <a:spcAft>
                <a:spcPts val="600"/>
              </a:spcAft>
            </a:pPr>
            <a:r>
              <a:rPr sz="1400" b="1">
                <a:solidFill>
                  <a:srgbClr val="060606"/>
                </a:solidFill>
                <a:latin typeface="Helvetica"/>
              </a:rPr>
              <a:t>En 2025, le PEP reçoit 2 029 929 725 FCFA mais le compte n'augmente que de 1 134 898 141 FCFA.</a:t>
            </a:r>
            <a:r>
              <a:rPr sz="1400" b="0">
                <a:solidFill>
                  <a:srgbClr val="060606"/>
                </a:solidFill>
                <a:latin typeface="Helvetica"/>
              </a:rPr>
              <a:t> La différence correspond à des sorties d'épargne.</a:t>
            </a:r>
          </a:p>
          <a:p>
            <a:pPr algn="just">
              <a:spcAft>
                <a:spcPts val="600"/>
              </a:spcAft>
            </a:pPr>
            <a:r>
              <a:rPr sz="1400" b="1">
                <a:solidFill>
                  <a:srgbClr val="060606"/>
                </a:solidFill>
                <a:latin typeface="Helvetica"/>
              </a:rPr>
              <a:t>Les sorties d'épargne atteignent 1 358 821 103 FCFA en 2025</a:t>
            </a:r>
            <a:r>
              <a:rPr sz="1400" b="0">
                <a:solidFill>
                  <a:srgbClr val="060606"/>
                </a:solidFill>
                <a:latin typeface="Helvetica"/>
              </a:rPr>
              <a:t> (débits des comptes 41195100 et 41195200).</a:t>
            </a:r>
          </a:p>
          <a:p>
            <a:pPr algn="just">
              <a:spcAft>
                <a:spcPts val="600"/>
              </a:spcAft>
            </a:pPr>
            <a:r>
              <a:rPr sz="1400" b="0">
                <a:solidFill>
                  <a:srgbClr val="060606"/>
                </a:solidFill>
                <a:latin typeface="Helvetica"/>
              </a:rPr>
              <a:t>Ces sorties sont les « engagements » d'un trimestre que la réserve de trésorerie des risques longs doit couvrir (art. 19 du règlement d'exécution) : leur suivi mensuel est nécessaire pour fixer le niveau de cette réserve.</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versements des postes 998 (PEP) et 870 (EFC) dans les fichiers retour de la Solde, mois reçus de 2023 à 2026, comparés aux crédits des comptes 41195100 et 41195200.</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870 : poste EFC | 998 : poste PEP</a:t>
            </a:r>
          </a:p>
        </p:txBody>
      </p:sp>
    </p:spTree>
    <p:extLst>
      <p:ext uri="{BB962C8B-B14F-4D97-AF65-F5344CB8AC3E}">
        <p14:creationId xmlns:p14="http://schemas.microsoft.com/office/powerpoint/2010/main" val="3451791521"/>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retraits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retrait de plus d'un cinquième de l'épargne épuiserait toute la trésorerie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réservés couvrent un retrait de 16,28 % de l'épargne. La trésorerie totale, 21,34 %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22 : Besoin de liquidités selon le taux de retrait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au 31/08/2026</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actifs réservés couvrent un retrait de 10 % de l'épargne (1 574 351 639 FCFA).</a:t>
            </a:r>
          </a:p>
          <a:p>
            <a:pPr algn="just">
              <a:spcAft>
                <a:spcPts val="600"/>
              </a:spcAft>
            </a:pPr>
            <a:r>
              <a:rPr sz="1400" b="1">
                <a:solidFill>
                  <a:srgbClr val="060606"/>
                </a:solidFill>
                <a:latin typeface="Helvetica"/>
              </a:rPr>
              <a:t>Au-delà de 21,34 % de retraits, toute la trésorerie du FPPN ne suffit plus.</a:t>
            </a:r>
          </a:p>
          <a:p>
            <a:pPr algn="just">
              <a:spcAft>
                <a:spcPts val="600"/>
              </a:spcAft>
            </a:pPr>
            <a:r>
              <a:rPr sz="1400" b="1">
                <a:solidFill>
                  <a:srgbClr val="060606"/>
                </a:solidFill>
                <a:latin typeface="Helvetica"/>
              </a:rPr>
              <a:t>Le FPPN doit alors céder ou mobiliser des actifs peu liquides</a:t>
            </a:r>
            <a:r>
              <a:rPr sz="1400" b="0">
                <a:solidFill>
                  <a:srgbClr val="060606"/>
                </a:solidFill>
                <a:latin typeface="Helvetica"/>
              </a:rPr>
              <a:t>, comme les terrains ou les avances au CMP.</a:t>
            </a:r>
          </a:p>
          <a:p>
            <a:pPr algn="just">
              <a:spcAft>
                <a:spcPts val="600"/>
              </a:spcAft>
            </a:pPr>
            <a:r>
              <a:rPr sz="1400" b="0">
                <a:solidFill>
                  <a:srgbClr val="060606"/>
                </a:solidFill>
                <a:latin typeface="Helvetica"/>
              </a:rPr>
              <a:t>Le risque de liquidité dépend des conditions de retrait du PEP et de l'EFC : le règlement de ces produits et les âges des épargnants permettront de passer de scénarios théoriques à un échéancier réel.</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épargne due et actifs à moins d'un an au 31/08/2026 (« BALANCE FPPN DU 01-01-2026 AU 31-08-2026.xlsx »). Taux de retrait hypothétiques.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Centre Médical du Policier (rapport de gestion 2023)</a:t>
            </a:r>
          </a:p>
        </p:txBody>
      </p:sp>
    </p:spTree>
    <p:extLst>
      <p:ext uri="{BB962C8B-B14F-4D97-AF65-F5344CB8AC3E}">
        <p14:creationId xmlns:p14="http://schemas.microsoft.com/office/powerpoint/2010/main" val="1896820018"/>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Poste 998 : autres références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poste de l'épargne PEP porte aussi d'autres références à expliquer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PTI, RPEP, EP et TI apparaissent à côté des références PEP sur la période 2020 à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29 : Références du poste 998, 2020 à août 2026</a:t>
            </a:r>
          </a:p>
        </p:txBody>
      </p:sp>
      <p:graphicFrame>
        <p:nvGraphicFramePr>
          <p:cNvPr id="32" name="Table 31"/>
          <p:cNvGraphicFramePr>
            <a:graphicFrameLocks noGrp="1"/>
          </p:cNvGraphicFramePr>
          <p:nvPr/>
        </p:nvGraphicFramePr>
        <p:xfrm>
          <a:off x="503999" y="1655999"/>
          <a:ext cx="6984000" cy="2027250"/>
        </p:xfrm>
        <a:graphic>
          <a:graphicData uri="http://schemas.openxmlformats.org/drawingml/2006/table">
            <a:tbl>
              <a:tblPr firstRow="0" bandRow="0">
                <a:tableStyleId>{5940675A-B579-460E-94D1-54222C63F5DA}</a:tableStyleId>
              </a:tblPr>
              <a:tblGrid>
                <a:gridCol w="1440000"/>
                <a:gridCol w="1440000"/>
                <a:gridCol w="2664000"/>
                <a:gridCol w="1440000"/>
              </a:tblGrid>
              <a:tr h="225250">
                <a:tc>
                  <a:txBody>
                    <a:bodyPr/>
                    <a:lstStyle/>
                    <a:p>
                      <a:pPr marL="0" indent="0" lvl="0">
                        <a:buNone/>
                      </a:pPr>
                      <a:r>
                        <a:rPr sz="11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total</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Mutualistes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460 252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6 270 087 894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18 495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sans référence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55 703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702 069 750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16 603</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PTI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1 206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108 489 526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51</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30 896 500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30 284 000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1 715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TI</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2 246 770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1 290 000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88</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PTQ</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1 255 064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a:t>
                      </a:r>
                    </a:p>
                  </a:txBody>
                  <a:tcPr marL="43200" marR="43200" marT="14400" marB="14400" anchor="ctr">
                    <a:solidFill>
                      <a:srgbClr val="F2F2F2"/>
                    </a:solidFill>
                  </a:tcPr>
                </a:tc>
              </a:tr>
            </a:tbl>
          </a:graphicData>
        </a:graphic>
      </p:graphicFrame>
      <p:sp>
        <p:nvSpPr>
          <p:cNvPr id="33" name="TextBox 32"/>
          <p:cNvSpPr txBox="1"/>
          <p:nvPr/>
        </p:nvSpPr>
        <p:spPr>
          <a:xfrm>
            <a:off x="503999" y="3791255"/>
            <a:ext cx="6983999" cy="306000"/>
          </a:xfrm>
          <a:prstGeom prst="rect">
            <a:avLst/>
          </a:prstGeom>
          <a:noFill/>
        </p:spPr>
        <p:txBody>
          <a:bodyPr wrap="square" anchor="t" lIns="54000" rIns="54000"/>
          <a:lstStyle/>
          <a:p>
            <a:pPr algn="l"/>
            <a:r>
              <a:rPr sz="850" b="0">
                <a:solidFill>
                  <a:srgbClr val="53565A"/>
                </a:solidFill>
                <a:latin typeface="Helvetica"/>
              </a:rPr>
              <a:t>Valable pour : références du poste 998 dans les fichiers retour « FPPN-SOLDE\PEP\FICHIER RETOUR », de 2020 à août 2026. 2001 à 2019 non retenus.</a:t>
            </a:r>
          </a:p>
        </p:txBody>
      </p:sp>
      <p:sp>
        <p:nvSpPr>
          <p:cNvPr id="34" name="TextBox 33"/>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Le poste 998 ne porte pas que de l'épargne PEP.</a:t>
            </a:r>
            <a:r>
              <a:rPr sz="1400" b="0">
                <a:solidFill>
                  <a:srgbClr val="060606"/>
                </a:solidFill>
                <a:latin typeface="Helvetica"/>
              </a:rPr>
              <a:t> D'autres références, dont PTI, apparaissent avec des montants importants et peu de mutualistes.</a:t>
            </a:r>
          </a:p>
          <a:p>
            <a:pPr algn="just">
              <a:spcAft>
                <a:spcPts val="600"/>
              </a:spcAft>
            </a:pPr>
            <a:r>
              <a:rPr sz="1400" b="1">
                <a:solidFill>
                  <a:srgbClr val="060606"/>
                </a:solidFill>
                <a:latin typeface="Helvetica"/>
              </a:rPr>
              <a:t>Leur nature n'est documentée nulle part.</a:t>
            </a:r>
            <a:r>
              <a:rPr sz="1400" b="0">
                <a:solidFill>
                  <a:srgbClr val="060606"/>
                </a:solidFill>
                <a:latin typeface="Helvetica"/>
              </a:rPr>
              <a:t> Il peut s'agir de remboursements de prêts PEP (comptes 27110000 et 27120000), ce que le FPPN doit confirmer.</a:t>
            </a:r>
          </a:p>
          <a:p>
            <a:pPr algn="just">
              <a:spcAft>
                <a:spcPts val="600"/>
              </a:spcAft>
            </a:pPr>
            <a:r>
              <a:rPr sz="1400" b="0">
                <a:solidFill>
                  <a:srgbClr val="060606"/>
                </a:solidFill>
                <a:latin typeface="Helvetica"/>
              </a:rPr>
              <a:t>Tant que ces références ne sont pas expliquées, la dette d'épargne PEP ne peut pas être reconstituée à partir des précomptes.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GNA : assureur de la flotte automobile (compte 47111106) | 998 : poste PEP</a:t>
            </a:r>
          </a:p>
        </p:txBody>
      </p:sp>
    </p:spTree>
    <p:extLst>
      <p:ext uri="{BB962C8B-B14F-4D97-AF65-F5344CB8AC3E}">
        <p14:creationId xmlns:p14="http://schemas.microsoft.com/office/powerpoint/2010/main" val="486129401"/>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553518"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537686"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33514"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62423"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dette d'épargne augmente plus vite que les actifs réservés, et l'écart finance des emplois peu liquides.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15 743 516 391 FCFA d'épargne sont dus au 31/08/2026, pour 2 562 885 661 FCFA d'actifs réservés.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pas rembourser rapidement une vague de retraits, et il ne respecte pas le ratio de solvabilité des risques longs.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règlement des produits, les comptes individuels et les conditions de retrait, puis cantonner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épargne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due aux mutualistes est très peu couverte par des actifs disponibles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16,28 % au 31/08/2026. Un retrait de 21,34 % épuiserait toute la trésorerie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882721587"/>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EFC et PEP : trois taux dans trois documents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taux servi sur l'EFC vaut 3,5 %, 5,5 % ou 14 % selon le document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Aucun document ne fixe un taux unique, signé et daté : l'engagement d'épargne ne peut pas être évalué sans ce taux</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CAHIER DE CHARGEEFC &amp; PEP 2021.pdf. MANUEL DE PRODUIT D'EPARGNE FPPN VF VF.docx. CARTOGRAPHIE DES RISQUES COUVERTS ET DES PRESTATIONS OFFERTES.docx (reçus le 22/10/2026). Entretien du chef comptable du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30 : Taux servis sur l'épargne selon les documents du FPPN</a:t>
            </a:r>
          </a:p>
        </p:txBody>
      </p:sp>
      <p:graphicFrame>
        <p:nvGraphicFramePr>
          <p:cNvPr id="32" name="Table 31"/>
          <p:cNvGraphicFramePr>
            <a:graphicFrameLocks noGrp="1"/>
          </p:cNvGraphicFramePr>
          <p:nvPr/>
        </p:nvGraphicFramePr>
        <p:xfrm>
          <a:off x="503999" y="1655999"/>
          <a:ext cx="11232000" cy="1381984"/>
        </p:xfrm>
        <a:graphic>
          <a:graphicData uri="http://schemas.openxmlformats.org/drawingml/2006/table">
            <a:tbl>
              <a:tblPr firstRow="0" bandRow="0">
                <a:tableStyleId>{5940675A-B579-460E-94D1-54222C63F5DA}</a:tableStyleId>
              </a:tblPr>
              <a:tblGrid>
                <a:gridCol w="3744000"/>
                <a:gridCol w="1080000"/>
                <a:gridCol w="2592000"/>
                <a:gridCol w="3816000"/>
              </a:tblGrid>
              <a:tr h="187148">
                <a:tc>
                  <a:txBody>
                    <a:bodyPr/>
                    <a:lstStyle/>
                    <a:p>
                      <a:pPr marL="0" indent="0" lvl="0">
                        <a:buNone/>
                      </a:pPr>
                      <a:r>
                        <a:rPr sz="850" b="1">
                          <a:solidFill>
                            <a:srgbClr val="FFFFFF"/>
                          </a:solidFill>
                          <a:latin typeface="Helvetica"/>
                        </a:rPr>
                        <a:t>Document (fichier exact)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Taux écrit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Portée</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CAHIER DE CHARGEEFC &amp; PEP 2021.pdf, « B- Taux d'intérêt applicable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 d'intérêt simple, sans période indiquée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Cotisations au-delà de 2024 et souscriptions postérieures au cahier des charges. Bonus de 300 000 FCFA si à jour</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MANUEL DE PRODUIT D'EPARGNE FPPN VF VF.docx</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5,5 % l'an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Rémunération de l'EFC. Certificat d'adoption non signé</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MANUEL DE PRODUIT D'EPARGNE FPPN VF VF.docx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 tous les ans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Rémunération du PEP</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CARTOGRAPHIE DES RISQUES COUVERTS ET DES PRESTATIONS OFFERTES.docx</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5,5 % à partir de 2024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d'intérêt de l'EFC</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Entretien du chef comptable, 19/10/2026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servi déclaré, sans document</a:t>
                      </a:r>
                    </a:p>
                  </a:txBody>
                  <a:tcPr marL="43200" marR="43200" marT="14400" marB="14400" anchor="ctr">
                    <a:solidFill>
                      <a:srgbClr val="FFFFFF"/>
                    </a:solidFill>
                  </a:tcPr>
                </a:tc>
              </a:tr>
            </a:tbl>
          </a:graphicData>
        </a:graphic>
      </p:graphicFrame>
      <p:sp>
        <p:nvSpPr>
          <p:cNvPr id="33" name="TextBox 32"/>
          <p:cNvSpPr txBox="1"/>
          <p:nvPr/>
        </p:nvSpPr>
        <p:spPr>
          <a:xfrm>
            <a:off x="503999" y="3145985"/>
            <a:ext cx="11232000" cy="162000"/>
          </a:xfrm>
          <a:prstGeom prst="rect">
            <a:avLst/>
          </a:prstGeom>
          <a:noFill/>
        </p:spPr>
        <p:txBody>
          <a:bodyPr wrap="square" anchor="t" lIns="54000" rIns="54000"/>
          <a:lstStyle/>
          <a:p>
            <a:pPr algn="l"/>
            <a:r>
              <a:rPr sz="850" b="0">
                <a:solidFill>
                  <a:srgbClr val="53565A"/>
                </a:solidFill>
                <a:latin typeface="Helvetica"/>
              </a:rPr>
              <a:t>Valable pour : documents du FPPN reçus le 22/10/2026 et entretien du 19/10/2026. Le taux réellement appliqué aux mutualistes n'est pas connu.</a:t>
            </a:r>
          </a:p>
        </p:txBody>
      </p:sp>
      <p:sp>
        <p:nvSpPr>
          <p:cNvPr id="34" name="TextBox 33"/>
          <p:cNvSpPr txBox="1"/>
          <p:nvPr/>
        </p:nvSpPr>
        <p:spPr>
          <a:xfrm>
            <a:off x="503999" y="3451985"/>
            <a:ext cx="11232000" cy="2416014"/>
          </a:xfrm>
          <a:prstGeom prst="rect">
            <a:avLst/>
          </a:prstGeom>
          <a:noFill/>
        </p:spPr>
        <p:txBody>
          <a:bodyPr wrap="square" lIns="54000" rIns="54000"/>
          <a:lstStyle/>
          <a:p>
            <a:pPr algn="just">
              <a:spcAft>
                <a:spcPts val="600"/>
              </a:spcAft>
            </a:pPr>
            <a:r>
              <a:rPr sz="1300" b="1">
                <a:solidFill>
                  <a:srgbClr val="060606"/>
                </a:solidFill>
                <a:latin typeface="Helvetica"/>
              </a:rPr>
              <a:t>Pour l'EFC, trois taux coexistent : 3,5 %, 5,5 % l'an et 14 % d'intérêt simple.</a:t>
            </a:r>
            <a:r>
              <a:rPr sz="1300" b="0">
                <a:solidFill>
                  <a:srgbClr val="060606"/>
                </a:solidFill>
                <a:latin typeface="Helvetica"/>
              </a:rPr>
              <a:t> Le cahier des charges n'indique pas si les 14 % s'appliquent une fois ou chaque année.</a:t>
            </a:r>
          </a:p>
          <a:p>
            <a:pPr algn="just">
              <a:spcAft>
                <a:spcPts val="600"/>
              </a:spcAft>
            </a:pPr>
            <a:r>
              <a:rPr sz="1300" b="1">
                <a:solidFill>
                  <a:srgbClr val="060606"/>
                </a:solidFill>
                <a:latin typeface="Helvetica"/>
              </a:rPr>
              <a:t>Aucun des trois documents n'est accompagné d'une décision d'adoption signée.</a:t>
            </a:r>
            <a:r>
              <a:rPr sz="1300" b="0">
                <a:solidFill>
                  <a:srgbClr val="060606"/>
                </a:solidFill>
                <a:latin typeface="Helvetica"/>
              </a:rPr>
              <a:t> Le manuel porte un certificat d'adoption non signé.</a:t>
            </a:r>
          </a:p>
          <a:p>
            <a:pPr algn="just">
              <a:spcAft>
                <a:spcPts val="600"/>
              </a:spcAft>
            </a:pPr>
            <a:r>
              <a:rPr sz="1300" b="0">
                <a:solidFill>
                  <a:srgbClr val="060606"/>
                </a:solidFill>
                <a:latin typeface="Helvetica"/>
              </a:rPr>
              <a:t>Le taux applicable doit être arrêté par une décision des organes du FPPN, puis appliqué de manière identique aux comptes, aux relevés individuels et au calcul de l'engagement (PBC, item 99).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3052961241"/>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Intérêts servis : aucune écriture dans les 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comptes d'épargne ne reçoivent que des cotisations et ne versent que des remboursements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2024, aucune écriture d'intérêts n'est passée sur les comptes PEP et EFC, et aucune balance de 2020 à 2026 ne porte de charge d'intérêts servis aux épargnants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GRAND LIVRE FPPN 2024.xlsx (comptes 41195100 et 41195200). Balances des comptes du FPPN de 2020 au 31/08/2026 (provisoire), fichiers « BALANCE … » listés en annexe « Fichiers sources ». Traitements Adenka</a:t>
            </a:r>
          </a:p>
        </p:txBody>
      </p:sp>
      <p:sp>
        <p:nvSpPr>
          <p:cNvPr id="31" name="TextBox 30"/>
          <p:cNvSpPr txBox="1"/>
          <p:nvPr/>
        </p:nvSpPr>
        <p:spPr>
          <a:xfrm>
            <a:off x="503999" y="1386000"/>
            <a:ext cx="10656000" cy="216000"/>
          </a:xfrm>
          <a:prstGeom prst="rect">
            <a:avLst/>
          </a:prstGeom>
          <a:noFill/>
        </p:spPr>
        <p:txBody>
          <a:bodyPr wrap="square" anchor="t" lIns="54000" rIns="54000"/>
          <a:lstStyle/>
          <a:p>
            <a:pPr algn="ctr"/>
            <a:r>
              <a:rPr sz="1200" b="0">
                <a:solidFill>
                  <a:srgbClr val="EFAC62"/>
                </a:solidFill>
                <a:latin typeface="Helvetica"/>
              </a:rPr>
              <a:t>Tableau 31 : Écritures 2024 des comptes d'épargne par nature</a:t>
            </a:r>
          </a:p>
        </p:txBody>
      </p:sp>
      <p:graphicFrame>
        <p:nvGraphicFramePr>
          <p:cNvPr id="32" name="Table 31"/>
          <p:cNvGraphicFramePr>
            <a:graphicFrameLocks noGrp="1"/>
          </p:cNvGraphicFramePr>
          <p:nvPr/>
        </p:nvGraphicFramePr>
        <p:xfrm>
          <a:off x="503999" y="1655999"/>
          <a:ext cx="10656000" cy="1558144"/>
        </p:xfrm>
        <a:graphic>
          <a:graphicData uri="http://schemas.openxmlformats.org/drawingml/2006/table">
            <a:tbl>
              <a:tblPr firstRow="0" bandRow="0">
                <a:tableStyleId>{5940675A-B579-460E-94D1-54222C63F5DA}</a:tableStyleId>
              </a:tblPr>
              <a:tblGrid>
                <a:gridCol w="1584000"/>
                <a:gridCol w="2160000"/>
                <a:gridCol w="1296000"/>
                <a:gridCol w="2160000"/>
                <a:gridCol w="1296000"/>
                <a:gridCol w="2160000"/>
              </a:tblGrid>
              <a:tr h="194768">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Écritures au débit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Débit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Écritures au crédit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Crédit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Précomptes et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1 453 812 250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Remboursements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788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1 163 234 713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Rachats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32 124 275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Autres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-4 678 500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7 086 400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Précomptes et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1 837 450 440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Règlements 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442 318 346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Remboursements 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1 862 400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bl>
          </a:graphicData>
        </a:graphic>
      </p:graphicFrame>
      <p:sp>
        <p:nvSpPr>
          <p:cNvPr id="33" name="TextBox 32"/>
          <p:cNvSpPr txBox="1"/>
          <p:nvPr/>
        </p:nvSpPr>
        <p:spPr>
          <a:xfrm>
            <a:off x="503999" y="3322149"/>
            <a:ext cx="11232000" cy="162000"/>
          </a:xfrm>
          <a:prstGeom prst="rect">
            <a:avLst/>
          </a:prstGeom>
          <a:noFill/>
        </p:spPr>
        <p:txBody>
          <a:bodyPr wrap="square" anchor="t" lIns="54000" rIns="54000"/>
          <a:lstStyle/>
          <a:p>
            <a:pPr algn="l"/>
            <a:r>
              <a:rPr sz="850" b="0">
                <a:solidFill>
                  <a:srgbClr val="53565A"/>
                </a:solidFill>
                <a:latin typeface="Helvetica"/>
              </a:rPr>
              <a:t>Valable pour : grand livre 2024 pour le détail des écritures. Balances de 2020 au 31/08/2026 pour l'absence de charge d'intérêts.</a:t>
            </a:r>
          </a:p>
        </p:txBody>
      </p:sp>
      <p:sp>
        <p:nvSpPr>
          <p:cNvPr id="34" name="TextBox 33"/>
          <p:cNvSpPr txBox="1"/>
          <p:nvPr/>
        </p:nvSpPr>
        <p:spPr>
          <a:xfrm>
            <a:off x="503999" y="3628149"/>
            <a:ext cx="11232000" cy="2239850"/>
          </a:xfrm>
          <a:prstGeom prst="rect">
            <a:avLst/>
          </a:prstGeom>
          <a:noFill/>
        </p:spPr>
        <p:txBody>
          <a:bodyPr wrap="square" lIns="54000" rIns="54000"/>
          <a:lstStyle/>
          <a:p>
            <a:pPr algn="just">
              <a:spcAft>
                <a:spcPts val="600"/>
              </a:spcAft>
            </a:pPr>
            <a:r>
              <a:rPr sz="1300" b="1">
                <a:solidFill>
                  <a:srgbClr val="060606"/>
                </a:solidFill>
                <a:latin typeface="Helvetica"/>
              </a:rPr>
              <a:t>Aucune écriture d'intérêts ne figure sur les comptes d'épargne en 2024, et aucun compte de charge d'intérêts servis n'existe dans les balances de 2020 au 31/08/2026.</a:t>
            </a:r>
            <a:r>
              <a:rPr sz="1300" b="0">
                <a:solidFill>
                  <a:srgbClr val="060606"/>
                </a:solidFill>
                <a:latin typeface="Helvetica"/>
              </a:rPr>
              <a:t> En 2024, le solde comptable de l'épargne n'évolue donc que par les cotisations, les remboursements et les rachats.</a:t>
            </a:r>
          </a:p>
          <a:p>
            <a:pPr algn="just">
              <a:spcAft>
                <a:spcPts val="600"/>
              </a:spcAft>
            </a:pPr>
            <a:r>
              <a:rPr sz="1300" b="1">
                <a:solidFill>
                  <a:srgbClr val="060606"/>
                </a:solidFill>
                <a:latin typeface="Helvetica"/>
              </a:rPr>
              <a:t>En 2024, 355 règlements EFC ont été payés pour 442 318 346 FCFA.</a:t>
            </a:r>
            <a:r>
              <a:rPr sz="1300" b="0">
                <a:solidFill>
                  <a:srgbClr val="060606"/>
                </a:solidFill>
                <a:latin typeface="Helvetica"/>
              </a:rPr>
              <a:t> Le grand livre ne dit pas si ces règlements comprennent des intérêts calculés hors comptabilité.</a:t>
            </a:r>
          </a:p>
          <a:p>
            <a:pPr algn="just">
              <a:spcAft>
                <a:spcPts val="600"/>
              </a:spcAft>
            </a:pPr>
            <a:r>
              <a:rPr sz="1300" b="0">
                <a:solidFill>
                  <a:srgbClr val="060606"/>
                </a:solidFill>
                <a:latin typeface="Helvetica"/>
              </a:rPr>
              <a:t>Si un taux est dû aux mutualistes, la dette d'épargne inscrite au bilan est inférieure à l'engagement réel du montant des intérêts acquis et non comptabilisés. Ce montant ne peut être chiffré qu'avec le taux applicable et l'historique individuel des versements.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2783012405"/>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intérêts annuels dus sur l'EFC</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 taux de 5,5 %, les intérêts dus chaque année dépassent les produits financiers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EFC au 31/12/2025 : 8 848 845 044 FCFA. Intérêts d'une année à 5,5 % : 486 686 477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CAHIER DE CHARGEEFC &amp; PEP 2021.pdf. MANUEL DE PRODUIT D'EPARGNE FPPN VF VF.docx. CARTOGRAPHIE DES RISQUES COUVERTS ET DES PRESTATIONS OFFERTES.docx (reçus le 22/10/2026). Entretien du chef comptable du 19/10/2026. Balances des comptes du FPPN de 2020 au 31/08/2026 (provisoire), fichiers « BALANCE … » listés en annexe « Fichiers sources ». Traitements Adenka</a:t>
            </a:r>
          </a:p>
        </p:txBody>
      </p:sp>
      <p:sp>
        <p:nvSpPr>
          <p:cNvPr id="31" name="TextBox 30"/>
          <p:cNvSpPr txBox="1"/>
          <p:nvPr/>
        </p:nvSpPr>
        <p:spPr>
          <a:xfrm>
            <a:off x="503999" y="1386000"/>
            <a:ext cx="11160000" cy="216000"/>
          </a:xfrm>
          <a:prstGeom prst="rect">
            <a:avLst/>
          </a:prstGeom>
          <a:noFill/>
        </p:spPr>
        <p:txBody>
          <a:bodyPr wrap="square" anchor="t" lIns="54000" rIns="54000"/>
          <a:lstStyle/>
          <a:p>
            <a:pPr algn="ctr"/>
            <a:r>
              <a:rPr sz="1200" b="0">
                <a:solidFill>
                  <a:srgbClr val="EFAC62"/>
                </a:solidFill>
                <a:latin typeface="Helvetica"/>
              </a:rPr>
              <a:t>Tableau 32 : Intérêts d'une année sur l'encours EFC selon le taux servi</a:t>
            </a:r>
          </a:p>
        </p:txBody>
      </p:sp>
      <p:graphicFrame>
        <p:nvGraphicFramePr>
          <p:cNvPr id="32" name="Table 31"/>
          <p:cNvGraphicFramePr>
            <a:graphicFrameLocks noGrp="1"/>
          </p:cNvGraphicFramePr>
          <p:nvPr/>
        </p:nvGraphicFramePr>
        <p:xfrm>
          <a:off x="503999" y="1655999"/>
          <a:ext cx="11159999" cy="1558144"/>
        </p:xfrm>
        <a:graphic>
          <a:graphicData uri="http://schemas.openxmlformats.org/drawingml/2006/table">
            <a:tbl>
              <a:tblPr firstRow="0" bandRow="0">
                <a:tableStyleId>{5940675A-B579-460E-94D1-54222C63F5DA}</a:tableStyleId>
              </a:tblPr>
              <a:tblGrid>
                <a:gridCol w="1080000"/>
                <a:gridCol w="2160000"/>
                <a:gridCol w="1872000"/>
                <a:gridCol w="1872000"/>
                <a:gridCol w="2160000"/>
                <a:gridCol w="2015999"/>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EFC (41195200)</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Intérêts à 3,5 %</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Intérêts à 5,5 %</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Intérêts à 14 % (borne haute)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Produits financiers</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3 461 975 893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121 169 156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190 408 674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484 676 625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3 785 064 982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132 477 274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208 178 574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529 909 097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32 409 354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4 453 948 287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155 888 190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244 967 156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623 552 760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7 258 416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5 561 470 959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194 651 484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305 880 903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778 605 934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7 124 778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6 954 740 653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243 415 923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382 510 736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973 663 691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9 176 280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8 848 845 044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309 709 577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486 686 477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1 238 838 306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117 912 488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10 514 270 966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367 999 484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578 284 903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1 471 997 935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r>
            </a:tbl>
          </a:graphicData>
        </a:graphic>
      </p:graphicFrame>
      <p:sp>
        <p:nvSpPr>
          <p:cNvPr id="33" name="TextBox 32"/>
          <p:cNvSpPr txBox="1"/>
          <p:nvPr/>
        </p:nvSpPr>
        <p:spPr>
          <a:xfrm>
            <a:off x="503999" y="3322149"/>
            <a:ext cx="11232000" cy="162000"/>
          </a:xfrm>
          <a:prstGeom prst="rect">
            <a:avLst/>
          </a:prstGeom>
          <a:noFill/>
        </p:spPr>
        <p:txBody>
          <a:bodyPr wrap="square" anchor="t" lIns="54000" rIns="54000"/>
          <a:lstStyle/>
          <a:p>
            <a:pPr algn="l"/>
            <a:r>
              <a:rPr sz="850" b="0">
                <a:solidFill>
                  <a:srgbClr val="53565A"/>
                </a:solidFill>
                <a:latin typeface="Helvetica"/>
              </a:rPr>
              <a:t>Valable pour : encours EFC comptable au 31/12 de 2020 à 2025 et au 31/08/2026, une année d'intérêts, sans projection ni capitalisation.</a:t>
            </a:r>
          </a:p>
        </p:txBody>
      </p:sp>
      <p:sp>
        <p:nvSpPr>
          <p:cNvPr id="34" name="TextBox 33"/>
          <p:cNvSpPr txBox="1"/>
          <p:nvPr/>
        </p:nvSpPr>
        <p:spPr>
          <a:xfrm>
            <a:off x="503999" y="3628149"/>
            <a:ext cx="11232000" cy="2239850"/>
          </a:xfrm>
          <a:prstGeom prst="rect">
            <a:avLst/>
          </a:prstGeom>
          <a:noFill/>
        </p:spPr>
        <p:txBody>
          <a:bodyPr wrap="square" lIns="54000" rIns="54000"/>
          <a:lstStyle/>
          <a:p>
            <a:pPr algn="just">
              <a:spcAft>
                <a:spcPts val="600"/>
              </a:spcAft>
            </a:pPr>
            <a:r>
              <a:rPr sz="1300" b="1">
                <a:solidFill>
                  <a:srgbClr val="060606"/>
                </a:solidFill>
                <a:latin typeface="Helvetica"/>
              </a:rPr>
              <a:t>Même au taux le plus bas (3,5 %), les intérêts d'une année sur l'EFC (309 709 577 FCFA en 2025) dépassent, chaque année de 2021 à 2025, les produits financiers de l'année.</a:t>
            </a:r>
          </a:p>
          <a:p>
            <a:pPr algn="just">
              <a:spcAft>
                <a:spcPts val="600"/>
              </a:spcAft>
            </a:pPr>
            <a:r>
              <a:rPr sz="1300" b="1">
                <a:solidFill>
                  <a:srgbClr val="060606"/>
                </a:solidFill>
                <a:latin typeface="Helvetica"/>
              </a:rPr>
              <a:t>L'épargne n'est couverte qu'en faible part par des actifs qui lui sont réservés (partie 6, adossement de l'épargne).</a:t>
            </a:r>
            <a:r>
              <a:rPr sz="1300" b="0">
                <a:solidFill>
                  <a:srgbClr val="060606"/>
                </a:solidFill>
                <a:latin typeface="Helvetica"/>
              </a:rPr>
              <a:t> Les produits de ces actifs ne suffisent pas à servir un taux, quel qu'il soit, sans recourir aux cotisations des garanties.</a:t>
            </a:r>
          </a:p>
          <a:p>
            <a:pPr algn="just">
              <a:spcAft>
                <a:spcPts val="600"/>
              </a:spcAft>
            </a:pPr>
            <a:r>
              <a:rPr sz="1300" b="0">
                <a:solidFill>
                  <a:srgbClr val="060606"/>
                </a:solidFill>
                <a:latin typeface="Helvetica"/>
              </a:rPr>
              <a:t>Le taux promis aux mutualistes doit être cohérent avec le rendement des actifs qui couvrent l'épargne. À défaut, chaque point de taux servi crée une perte récurrente que les excédents des garanties maladie et décès devront combler.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1366228370"/>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Épargne : intérêts dus non comptabilisés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Du 01/01/2020 au 31/08/2026, les intérêts dus selon le manuel d'épargne atteignent 3 278 913 238 FCFA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Engagement d'épargne au 31/08/2026 : 15 743 516 391 FCFA au bilan, 19 022 429 629 FCFA avec les intérêts dus (PEP 3,5 %, EFC 5,5 %)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CAHIER DE CHARGEEFC &amp; PEP 2021.pdf. MANUEL DE PRODUIT D'EPARGNE FPPN VF VF.docx. CARTOGRAPHIE DES RISQUES COUVERTS ET DES PRESTATIONS OFFERTES.docx (reçus le 22/10/2026). Entretien du chef comptable du 19/10/2026. Balances des comptes du FPPN de 2020 au 31/08/2026 (provisoire), fichiers « BALANCE … » listés en annexe « Fichiers sources ». Traitements Adenka. Onglet 21 du classeur des calculs</a:t>
            </a:r>
          </a:p>
        </p:txBody>
      </p:sp>
      <p:sp>
        <p:nvSpPr>
          <p:cNvPr id="31" name="TextBox 30"/>
          <p:cNvSpPr txBox="1"/>
          <p:nvPr/>
        </p:nvSpPr>
        <p:spPr>
          <a:xfrm>
            <a:off x="503999" y="1386000"/>
            <a:ext cx="11016000" cy="216000"/>
          </a:xfrm>
          <a:prstGeom prst="rect">
            <a:avLst/>
          </a:prstGeom>
          <a:noFill/>
        </p:spPr>
        <p:txBody>
          <a:bodyPr wrap="square" anchor="t" lIns="54000" rIns="54000"/>
          <a:lstStyle/>
          <a:p>
            <a:pPr algn="ctr"/>
            <a:r>
              <a:rPr sz="1200" b="0">
                <a:solidFill>
                  <a:srgbClr val="EFAC62"/>
                </a:solidFill>
                <a:latin typeface="Helvetica"/>
              </a:rPr>
              <a:t>Tableau 33 : Intérêts dus sur l'épargne, par exercice</a:t>
            </a:r>
          </a:p>
        </p:txBody>
      </p:sp>
      <p:graphicFrame>
        <p:nvGraphicFramePr>
          <p:cNvPr id="32" name="Table 31"/>
          <p:cNvGraphicFramePr>
            <a:graphicFrameLocks noGrp="1"/>
          </p:cNvGraphicFramePr>
          <p:nvPr/>
        </p:nvGraphicFramePr>
        <p:xfrm>
          <a:off x="503999" y="1655999"/>
          <a:ext cx="11015998" cy="1684332"/>
        </p:xfrm>
        <a:graphic>
          <a:graphicData uri="http://schemas.openxmlformats.org/drawingml/2006/table">
            <a:tbl>
              <a:tblPr firstRow="0" bandRow="0">
                <a:tableStyleId>{5940675A-B579-460E-94D1-54222C63F5DA}</a:tableStyleId>
              </a:tblPr>
              <a:tblGrid>
                <a:gridCol w="1080000"/>
                <a:gridCol w="1728000"/>
                <a:gridCol w="1728000"/>
                <a:gridCol w="1584000"/>
                <a:gridCol w="1584000"/>
                <a:gridCol w="1655999"/>
                <a:gridCol w="1655999"/>
              </a:tblGrid>
              <a:tr h="187148">
                <a:tc>
                  <a:txBody>
                    <a:bodyPr/>
                    <a:lstStyle/>
                    <a:p>
                      <a:pPr marL="0" indent="0" lvl="0">
                        <a:buNone/>
                      </a:pPr>
                      <a:r>
                        <a:rPr sz="85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PEP moyen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EFC moyenne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Intérêts PEP (3,5 %)</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Intérêts EFC (5,5 %)</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Total de l'année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Total si EFC à 3,5 %</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7 539 594 956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3 490 677 433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263 885 823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191 987 259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455 873 082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386 059 534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6 864 293 020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3 623 520 438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240 250 256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199 293 624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439 543 880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367 073 471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5 636 626 650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4 119 506 634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197 281 933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226 572 865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423 854 798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341 464 665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4 235 501 312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5 007 709 623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148 242 546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275 424 029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423 666 575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323 512 383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3 695 214 698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6 258 105 806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129 332 514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344 195 819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473 528 334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348 366 218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4 397 772 850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7 901 792 848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153 922 050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434 598 607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588 520 656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430 484 799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2026 (8 mois)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5 097 233 672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9 681 558 005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118 935 452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354 990 460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473 925 913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344 838 472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Total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1 251 850 574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2 027 062 663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3 278 913 238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2 541 799 542 FCFA</a:t>
                      </a:r>
                    </a:p>
                  </a:txBody>
                  <a:tcPr marL="43200" marR="43200" marT="14400" marB="14400" anchor="ctr">
                    <a:solidFill>
                      <a:srgbClr val="F2F2F2"/>
                    </a:solidFill>
                  </a:tcPr>
                </a:tc>
              </a:tr>
            </a:tbl>
          </a:graphicData>
        </a:graphic>
      </p:graphicFrame>
      <p:sp>
        <p:nvSpPr>
          <p:cNvPr id="33" name="TextBox 32"/>
          <p:cNvSpPr txBox="1"/>
          <p:nvPr/>
        </p:nvSpPr>
        <p:spPr>
          <a:xfrm>
            <a:off x="503999" y="3448333"/>
            <a:ext cx="11232000" cy="306000"/>
          </a:xfrm>
          <a:prstGeom prst="rect">
            <a:avLst/>
          </a:prstGeom>
          <a:noFill/>
        </p:spPr>
        <p:txBody>
          <a:bodyPr wrap="square" anchor="t" lIns="54000" rIns="54000"/>
          <a:lstStyle/>
          <a:p>
            <a:pPr algn="l"/>
            <a:r>
              <a:rPr sz="850" b="0">
                <a:solidFill>
                  <a:srgbClr val="53565A"/>
                </a:solidFill>
                <a:latin typeface="Helvetica"/>
              </a:rPr>
              <a:t>Valable pour : soldes des comptes 41195100 (PEP) et 41195200 (EFC) du 01/09/2020 au 31/08/2026 (balances 2020 à 2025 et provisoire 2026), 2020 approché par les soldes du 01/09 et du 31/12. Taux du manuel d'épargne. Intérêts antérieurs au 01/01/2020 et capitalisation non comptés.</a:t>
            </a:r>
          </a:p>
        </p:txBody>
      </p:sp>
      <p:sp>
        <p:nvSpPr>
          <p:cNvPr id="34" name="TextBox 33"/>
          <p:cNvSpPr txBox="1"/>
          <p:nvPr/>
        </p:nvSpPr>
        <p:spPr>
          <a:xfrm>
            <a:off x="503999" y="3898333"/>
            <a:ext cx="11232000" cy="1969666"/>
          </a:xfrm>
          <a:prstGeom prst="rect">
            <a:avLst/>
          </a:prstGeom>
          <a:noFill/>
        </p:spPr>
        <p:txBody>
          <a:bodyPr wrap="square" lIns="54000" rIns="54000"/>
          <a:lstStyle/>
          <a:p>
            <a:pPr algn="just">
              <a:spcAft>
                <a:spcPts val="600"/>
              </a:spcAft>
            </a:pPr>
            <a:r>
              <a:rPr sz="1300" b="1">
                <a:solidFill>
                  <a:srgbClr val="060606"/>
                </a:solidFill>
                <a:latin typeface="Helvetica"/>
              </a:rPr>
              <a:t>Selon le taux retenu pour l'EFC, les intérêts dus depuis le 01/01/2020 sont compris entre 2 541 799 542 FCFA et 3 278 913 238 FCFA.</a:t>
            </a:r>
            <a:r>
              <a:rPr sz="1300" b="0">
                <a:solidFill>
                  <a:srgbClr val="060606"/>
                </a:solidFill>
                <a:latin typeface="Helvetica"/>
              </a:rPr>
              <a:t> Aucun de ces montants n'est comptabilisé : il n'existe ni charge d'intérêts ni dette d'intérêts dans les balances.</a:t>
            </a:r>
          </a:p>
          <a:p>
            <a:pPr algn="just">
              <a:spcAft>
                <a:spcPts val="600"/>
              </a:spcAft>
            </a:pPr>
            <a:r>
              <a:rPr sz="1300" b="1">
                <a:solidFill>
                  <a:srgbClr val="060606"/>
                </a:solidFill>
                <a:latin typeface="Helvetica"/>
              </a:rPr>
              <a:t>Au 31/12/2025, les intérêts dus atteignent déjà 2 804 987 325 FCFA</a:t>
            </a:r>
            <a:r>
              <a:rPr sz="1300" b="0">
                <a:solidFill>
                  <a:srgbClr val="060606"/>
                </a:solidFill>
                <a:latin typeface="Helvetica"/>
              </a:rPr>
              <a:t>, soit 16,1 fois les produits financiers du FPPN de 2021 à 2025 (173 881 316 FCFA).</a:t>
            </a:r>
          </a:p>
          <a:p>
            <a:pPr algn="just">
              <a:spcAft>
                <a:spcPts val="600"/>
              </a:spcAft>
            </a:pPr>
            <a:r>
              <a:rPr sz="1300" b="0">
                <a:solidFill>
                  <a:srgbClr val="060606"/>
                </a:solidFill>
                <a:latin typeface="Helvetica"/>
              </a:rPr>
              <a:t>Les intérêts dus sont une dette envers les mutualistes. Le taux servi doit être arrêté par une décision signée, puis les intérêts calculés compte par compte et comptabilisés chaque année.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2403824991"/>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Rapport de gestion 2025 : l'épargne présentée est la collecte de l'année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annonce 4,39 milliards de FCFA d'épargne, alors que la dette d'épargne atteint 13,81 milliards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montants du rapport de gestion 2025 sont les crédits de l'année des comptes 41195100 et 41195200, présentés comme « le montant de ces épargnes au 31/12/2025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de Gestion  2025 Final (2).pdf, pages 97 et 98, tableau 2 (III). Balances des comptes du FPPN de 2020 au 31/08/2026 (provisoire), fichiers « BALANCE … » listés en annexe « Fichiers sources ». Traitements Adenka</a:t>
            </a:r>
          </a:p>
        </p:txBody>
      </p:sp>
      <p:sp>
        <p:nvSpPr>
          <p:cNvPr id="31" name="TextBox 30"/>
          <p:cNvSpPr txBox="1"/>
          <p:nvPr/>
        </p:nvSpPr>
        <p:spPr>
          <a:xfrm>
            <a:off x="503999" y="1386000"/>
            <a:ext cx="11160000" cy="216000"/>
          </a:xfrm>
          <a:prstGeom prst="rect">
            <a:avLst/>
          </a:prstGeom>
          <a:noFill/>
        </p:spPr>
        <p:txBody>
          <a:bodyPr wrap="square" anchor="t" lIns="54000" rIns="54000"/>
          <a:lstStyle/>
          <a:p>
            <a:pPr algn="ctr"/>
            <a:r>
              <a:rPr sz="1200" b="0">
                <a:solidFill>
                  <a:srgbClr val="EFAC62"/>
                </a:solidFill>
                <a:latin typeface="Helvetica"/>
              </a:rPr>
              <a:t>Tableau 34 : Épargne au 31/12/2025 : rapport de gestion et balance</a:t>
            </a:r>
          </a:p>
        </p:txBody>
      </p:sp>
      <p:graphicFrame>
        <p:nvGraphicFramePr>
          <p:cNvPr id="32" name="Table 31"/>
          <p:cNvGraphicFramePr>
            <a:graphicFrameLocks noGrp="1"/>
          </p:cNvGraphicFramePr>
          <p:nvPr/>
        </p:nvGraphicFramePr>
        <p:xfrm>
          <a:off x="503999" y="1655999"/>
          <a:ext cx="11159999" cy="779072"/>
        </p:xfrm>
        <a:graphic>
          <a:graphicData uri="http://schemas.openxmlformats.org/drawingml/2006/table">
            <a:tbl>
              <a:tblPr firstRow="0" bandRow="0">
                <a:tableStyleId>{5940675A-B579-460E-94D1-54222C63F5DA}</a:tableStyleId>
              </a:tblPr>
              <a:tblGrid>
                <a:gridCol w="1655999"/>
                <a:gridCol w="2304000"/>
                <a:gridCol w="2304000"/>
                <a:gridCol w="2448000"/>
                <a:gridCol w="2448000"/>
              </a:tblGrid>
              <a:tr h="194768">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Rapport de gestion 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Crédits de l'année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au 31/12/2025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au 31/12/2024 (balance)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2 038 935 495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2 038 935 495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4 965 221 920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3 830 323 779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2 348 888 140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2 348 888 140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8 848 845 044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6 954 740 653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4 387 823 635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4 387 823 635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10 785 064 432 FCFA</a:t>
                      </a:r>
                    </a:p>
                  </a:txBody>
                  <a:tcPr marL="43200" marR="43200" marT="14400" marB="14400" anchor="ctr">
                    <a:solidFill>
                      <a:srgbClr val="FFFFFF"/>
                    </a:solidFill>
                  </a:tcPr>
                </a:tc>
              </a:tr>
            </a:tbl>
          </a:graphicData>
        </a:graphic>
      </p:graphicFrame>
      <p:sp>
        <p:nvSpPr>
          <p:cNvPr id="33" name="TextBox 32"/>
          <p:cNvSpPr txBox="1"/>
          <p:nvPr/>
        </p:nvSpPr>
        <p:spPr>
          <a:xfrm>
            <a:off x="503999" y="2543074"/>
            <a:ext cx="11232000" cy="162000"/>
          </a:xfrm>
          <a:prstGeom prst="rect">
            <a:avLst/>
          </a:prstGeom>
          <a:noFill/>
        </p:spPr>
        <p:txBody>
          <a:bodyPr wrap="square" anchor="t" lIns="54000" rIns="54000"/>
          <a:lstStyle/>
          <a:p>
            <a:pPr algn="l"/>
            <a:r>
              <a:rPr sz="850" b="0">
                <a:solidFill>
                  <a:srgbClr val="53565A"/>
                </a:solidFill>
                <a:latin typeface="Helvetica"/>
              </a:rPr>
              <a:t>Valable pour : exercice 2025. Les rapports de gestion des autres années n'ont pas été contrôlés sur ce point.</a:t>
            </a:r>
          </a:p>
        </p:txBody>
      </p:sp>
      <p:sp>
        <p:nvSpPr>
          <p:cNvPr id="34" name="TextBox 33"/>
          <p:cNvSpPr txBox="1"/>
          <p:nvPr/>
        </p:nvSpPr>
        <p:spPr>
          <a:xfrm>
            <a:off x="503999" y="2849074"/>
            <a:ext cx="11232000" cy="3018925"/>
          </a:xfrm>
          <a:prstGeom prst="rect">
            <a:avLst/>
          </a:prstGeom>
          <a:noFill/>
        </p:spPr>
        <p:txBody>
          <a:bodyPr wrap="square" lIns="54000" rIns="54000"/>
          <a:lstStyle/>
          <a:p>
            <a:pPr algn="just">
              <a:spcAft>
                <a:spcPts val="600"/>
              </a:spcAft>
            </a:pPr>
            <a:r>
              <a:rPr sz="1300" b="1">
                <a:solidFill>
                  <a:srgbClr val="060606"/>
                </a:solidFill>
                <a:latin typeface="Helvetica"/>
              </a:rPr>
              <a:t>Les montants du rapport de gestion sont exactement les crédits de l'année dans la balance</a:t>
            </a:r>
            <a:r>
              <a:rPr sz="1300" b="0">
                <a:solidFill>
                  <a:srgbClr val="060606"/>
                </a:solidFill>
                <a:latin typeface="Helvetica"/>
              </a:rPr>
              <a:t>, c'est-à-dire les cotisations d'épargne collectées en 2025, et non l'épargne due aux mutualistes.</a:t>
            </a:r>
          </a:p>
          <a:p>
            <a:pPr algn="just">
              <a:spcAft>
                <a:spcPts val="600"/>
              </a:spcAft>
            </a:pPr>
            <a:r>
              <a:rPr sz="1300" b="1">
                <a:solidFill>
                  <a:srgbClr val="060606"/>
                </a:solidFill>
                <a:latin typeface="Helvetica"/>
              </a:rPr>
              <a:t>La dette d'épargne réelle au 31/12/2025 est plus de trois fois supérieure au montant présenté.</a:t>
            </a:r>
            <a:r>
              <a:rPr sz="1300" b="0">
                <a:solidFill>
                  <a:srgbClr val="060606"/>
                </a:solidFill>
                <a:latin typeface="Helvetica"/>
              </a:rPr>
              <a:t> Le rapport compare aussi la collecte 2025 à la collecte 2024 en la qualifiant de « variation » de l'épargne.</a:t>
            </a:r>
          </a:p>
          <a:p>
            <a:pPr algn="just">
              <a:spcAft>
                <a:spcPts val="600"/>
              </a:spcAft>
            </a:pPr>
            <a:r>
              <a:rPr sz="1300" b="0">
                <a:solidFill>
                  <a:srgbClr val="060606"/>
                </a:solidFill>
                <a:latin typeface="Helvetica"/>
              </a:rPr>
              <a:t>L'information donnée à l'Assemblée générale minore l'engagement d'épargne du FPPN. Le rapport de gestion doit présenter le solde dû aux mutualistes, distinct de la collecte de l'année (PBC, item 112).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269710852"/>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7</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Prêts du Grenier</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Encours, production, retards, précomptes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969923761"/>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(montant)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l'encours des prêts en retard de plus de 30 jours à l'encours total, sur les 37 balances âgées reçues.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(nombre)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 nombre de prêts en retard au nombre de prêts au 31/08/2026, avec un intervalle de confiance de Wilson à 95 %.</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Précompte des échéances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les précomptes 9X4 du mois aux échéances des prêts en cours, pour les mois de 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retard est celui que calcule le logiciel de prêts. Il dépend de la date à laquelle la Solde verse les précomptes.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risque de crédit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risque des prêts se mesure par la part de l'encours en retard</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encours total, à chaque date de balance âgée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9X4 : poste Grenier</a:t>
            </a:r>
          </a:p>
        </p:txBody>
      </p:sp>
    </p:spTree>
    <p:extLst>
      <p:ext uri="{BB962C8B-B14F-4D97-AF65-F5344CB8AC3E}">
        <p14:creationId xmlns:p14="http://schemas.microsoft.com/office/powerpoint/2010/main" val="720690014"/>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Encours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L'encours de prêts a été multiplié par 132 depuis fin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2 959 prêts, 1 044 302 107 FCFA, dont 915 477 260 FCFA financés par le FPPN</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23 : Encours des prêts et financement du FPPN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L'encours passe de 7 900 000 FCFA fin 2021 à 1 044 302 107 FCFA au 31/08/2026</a:t>
            </a:r>
            <a:r>
              <a:rPr sz="1400" b="0">
                <a:solidFill>
                  <a:srgbClr val="060606"/>
                </a:solidFill>
                <a:latin typeface="Helvetica"/>
              </a:rPr>
              <a:t>, soit 132,19 fois plus.</a:t>
            </a:r>
          </a:p>
          <a:p>
            <a:pPr algn="just">
              <a:spcAft>
                <a:spcPts val="600"/>
              </a:spcAft>
            </a:pPr>
            <a:r>
              <a:rPr sz="1400" b="1">
                <a:solidFill>
                  <a:srgbClr val="060606"/>
                </a:solidFill>
                <a:latin typeface="Helvetica"/>
              </a:rPr>
              <a:t>Le FPPN finance 87,66 % de l'encours.</a:t>
            </a:r>
            <a:r>
              <a:rPr sz="1400" b="0">
                <a:solidFill>
                  <a:srgbClr val="060606"/>
                </a:solidFill>
                <a:latin typeface="Helvetica"/>
              </a:rPr>
              <a:t> Le Grenier repose donc presque entièrement sur les ressources du FPPN.</a:t>
            </a:r>
          </a:p>
          <a:p>
            <a:pPr algn="just">
              <a:spcAft>
                <a:spcPts val="600"/>
              </a:spcAft>
            </a:pPr>
            <a:r>
              <a:rPr sz="1400" b="1">
                <a:solidFill>
                  <a:srgbClr val="060606"/>
                </a:solidFill>
                <a:latin typeface="Helvetica"/>
              </a:rPr>
              <a:t>Les prêts sont courts et chers.</a:t>
            </a:r>
            <a:r>
              <a:rPr sz="1400" b="0">
                <a:solidFill>
                  <a:srgbClr val="060606"/>
                </a:solidFill>
                <a:latin typeface="Helvetica"/>
              </a:rPr>
              <a:t> La durée médiane est de 10 mois et le taux médian de 18,00 %.</a:t>
            </a:r>
          </a:p>
          <a:p>
            <a:pPr algn="just">
              <a:spcAft>
                <a:spcPts val="600"/>
              </a:spcAft>
            </a:pPr>
            <a:r>
              <a:rPr sz="1400" b="0">
                <a:solidFill>
                  <a:srgbClr val="060606"/>
                </a:solidFill>
                <a:latin typeface="Helvetica"/>
              </a:rPr>
              <a:t>Si le Grenier relève des activités génératrices de revenus, le règlement d'exécution n° 004/2022 les autorise à condition qu'elles ne mettent pas en péril l'activité d'assurance et que leurs pertes ne soient pas couvertes par les cotisations ni par les réserves (art. 26) : le financement du Grenier doit être encadré par une décision formelle.</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encours des exports « BalanceAgeeDetaille … .xls » du logiciel de prêts du Grenier aux arrêtés du 31/12/2021 au 31/12/2025 et mensuels de 2026. Financement : compte 47111102 des balances « BALANCE FORMAT EXCEL DE 09-2020 AU 31-12-2020.xlsx » à « BALANCE FPPN DU 01-01-2026 AU 31-08-2026.xlsx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91460629"/>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Production de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crédits scolaires et habitat portent la croissance de la production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Montants débloqués : 269 775 100 FCFA en 2022, 1 609 400 144 FCFA en 2025 (4 774 prêts)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24 : Montants débloqués par type de crédit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production a été multipliée par 5,97 entre 2022 et 2025.</a:t>
            </a:r>
          </a:p>
          <a:p>
            <a:pPr algn="just">
              <a:spcAft>
                <a:spcPts val="600"/>
              </a:spcAft>
            </a:pPr>
            <a:r>
              <a:rPr sz="1400" b="1">
                <a:solidFill>
                  <a:srgbClr val="060606"/>
                </a:solidFill>
                <a:latin typeface="Helvetica"/>
              </a:rPr>
              <a:t>Les crédits scolaires et habitat font 66,12 % des montants de 2025.</a:t>
            </a:r>
          </a:p>
          <a:p>
            <a:pPr algn="just">
              <a:spcAft>
                <a:spcPts val="600"/>
              </a:spcAft>
            </a:pPr>
            <a:r>
              <a:rPr sz="1400" b="1">
                <a:solidFill>
                  <a:srgbClr val="060606"/>
                </a:solidFill>
                <a:latin typeface="Helvetica"/>
              </a:rPr>
              <a:t>Le crédit habitat, aux montants unitaires plus importants, allonge la durée du risque.</a:t>
            </a:r>
          </a:p>
          <a:p>
            <a:pPr algn="just">
              <a:spcAft>
                <a:spcPts val="600"/>
              </a:spcAft>
            </a:pPr>
            <a:r>
              <a:rPr sz="1400" b="0">
                <a:solidFill>
                  <a:srgbClr val="060606"/>
                </a:solidFill>
                <a:latin typeface="Helvetica"/>
              </a:rPr>
              <a:t>Une production qui croît plus vite que les ressources propres du Grenier augmente le besoin de financement du FPPN : la politique de crédit doit fixer un plafond d'encours rapporté aux ressources disponibles.</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montants débloqués des exports « production_de_la_periode … .xls » du logiciel de prêts du Grenier, 2021 à septembre 2026, par type de crédit. Prêts non rapprochés des contrats.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5782691"/>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Retards de remboursement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ont culminé début 2026 avant de revenir à un niveau faible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61,96 % fin janvier 2026, 1,83 %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25 : Part de l'encours en retard de plus de 30 et 90 jours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l'encours</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Fin janvier 2026, la plus grande part de l'encours avait entre 31 et 90 jours de retard.</a:t>
            </a:r>
          </a:p>
          <a:p>
            <a:pPr algn="just">
              <a:spcAft>
                <a:spcPts val="600"/>
              </a:spcAft>
            </a:pPr>
            <a:r>
              <a:rPr sz="1400" b="1">
                <a:solidFill>
                  <a:srgbClr val="060606"/>
                </a:solidFill>
                <a:latin typeface="Helvetica"/>
              </a:rPr>
              <a:t>Ces retards se sont résorbés en quelques mois.</a:t>
            </a:r>
            <a:r>
              <a:rPr sz="1400" b="0">
                <a:solidFill>
                  <a:srgbClr val="060606"/>
                </a:solidFill>
                <a:latin typeface="Helvetica"/>
              </a:rPr>
              <a:t> Ce profil fait penser à des échéances non précomptées en fin d'année 2025.</a:t>
            </a:r>
          </a:p>
          <a:p>
            <a:pPr algn="just">
              <a:spcAft>
                <a:spcPts val="600"/>
              </a:spcAft>
            </a:pPr>
            <a:r>
              <a:rPr sz="1400" b="1">
                <a:solidFill>
                  <a:srgbClr val="060606"/>
                </a:solidFill>
                <a:latin typeface="Helvetica"/>
              </a:rPr>
              <a:t>126 prêts ont plus de 180 jours de retard.</a:t>
            </a:r>
            <a:r>
              <a:rPr sz="1400" b="0">
                <a:solidFill>
                  <a:srgbClr val="060606"/>
                </a:solidFill>
                <a:latin typeface="Helvetica"/>
              </a:rPr>
              <a:t> Ces prêts doivent être provisionnés.</a:t>
            </a:r>
          </a:p>
          <a:p>
            <a:pPr algn="just">
              <a:spcAft>
                <a:spcPts val="600"/>
              </a:spcAft>
            </a:pPr>
            <a:r>
              <a:rPr sz="1400" b="0">
                <a:solidFill>
                  <a:srgbClr val="060606"/>
                </a:solidFill>
                <a:latin typeface="Helvetica"/>
              </a:rPr>
              <a:t>Les retards dépendent surtout du circuit de précompte, pas de la solvabilité des emprunteurs : le FPPN doit obtenir de la Solde un calendrier fiable et suivre chaque mois les échéances non précomptées.</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colonne « retard » des exports « BalanceAgeeDetaille … .xls » du logiciel de prêts du Grenier, arrêtés du 31/12/2021 au 31/08/2026. Retard compté sur l'échéance la plus ancienne impayée.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85454726"/>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prêts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les plus anciens dépassent trois ans et révèlent des mécanos anormaux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prêts les plus en retard au 31/08/2026 ont entre 1 105 et 1 308 jours de retard</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 Noms masqués</a:t>
            </a:r>
          </a:p>
        </p:txBody>
      </p:sp>
      <p:sp>
        <p:nvSpPr>
          <p:cNvPr id="31" name="TextBox 30"/>
          <p:cNvSpPr txBox="1"/>
          <p:nvPr/>
        </p:nvSpPr>
        <p:spPr>
          <a:xfrm>
            <a:off x="503999" y="1350000"/>
            <a:ext cx="8496000" cy="180000"/>
          </a:xfrm>
          <a:prstGeom prst="rect">
            <a:avLst/>
          </a:prstGeom>
          <a:noFill/>
        </p:spPr>
        <p:txBody>
          <a:bodyPr wrap="square" anchor="t" lIns="54000" rIns="54000"/>
          <a:lstStyle/>
          <a:p>
            <a:pPr algn="l"/>
            <a:r>
              <a:rPr sz="900" b="0">
                <a:solidFill>
                  <a:srgbClr val="53565A"/>
                </a:solidFill>
                <a:latin typeface="Helvetica"/>
              </a:rPr>
              <a:t>Extrait : AUDIT ADENKA\SERVICE GRENIER DU POLICIER\FICHIER ALLER\GRENIER AOÛT 2026\BalanceAgeeDetaille AOUT 2026.xls</a:t>
            </a:r>
          </a:p>
        </p:txBody>
      </p:sp>
      <p:graphicFrame>
        <p:nvGraphicFramePr>
          <p:cNvPr id="32" name="Table 31"/>
          <p:cNvGraphicFramePr>
            <a:graphicFrameLocks noGrp="1"/>
          </p:cNvGraphicFramePr>
          <p:nvPr/>
        </p:nvGraphicFramePr>
        <p:xfrm>
          <a:off x="503999" y="1548000"/>
          <a:ext cx="8495998" cy="1050045"/>
        </p:xfrm>
        <a:graphic>
          <a:graphicData uri="http://schemas.openxmlformats.org/drawingml/2006/table">
            <a:tbl>
              <a:tblPr firstRow="0" bandRow="0">
                <a:tableStyleId>{5940675A-B579-460E-94D1-54222C63F5DA}</a:tableStyleId>
              </a:tblPr>
              <a:tblGrid>
                <a:gridCol w="1224000"/>
                <a:gridCol w="1440000"/>
                <a:gridCol w="2160000"/>
                <a:gridCol w="2015999"/>
                <a:gridCol w="1655999"/>
              </a:tblGrid>
              <a:tr h="210009">
                <a:tc>
                  <a:txBody>
                    <a:bodyPr/>
                    <a:lstStyle/>
                    <a:p>
                      <a:pPr marL="0" indent="0" lvl="0">
                        <a:buNone/>
                      </a:pPr>
                      <a:r>
                        <a:rPr sz="1000" b="1">
                          <a:solidFill>
                            <a:srgbClr val="FFFFFF"/>
                          </a:solidFill>
                          <a:latin typeface="Helvetica"/>
                        </a:rPr>
                        <a:t>Mécano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débloqué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Retard (jours)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90 536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1308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 K. M.</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83 743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1279</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166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 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60 468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1189</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418***9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K. A.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1105</a:t>
                      </a:r>
                    </a:p>
                  </a:txBody>
                  <a:tcPr marL="43200" marR="43200" marT="14400" marB="14400" anchor="ctr">
                    <a:solidFill>
                      <a:srgbClr val="F2F2F2"/>
                    </a:solidFill>
                  </a:tcPr>
                </a:tc>
              </a:tr>
            </a:tbl>
          </a:graphicData>
        </a:graphic>
      </p:graphicFrame>
      <p:sp>
        <p:nvSpPr>
          <p:cNvPr id="33" name="Rounded Rectangle 32"/>
          <p:cNvSpPr/>
          <p:nvPr/>
        </p:nvSpPr>
        <p:spPr>
          <a:xfrm>
            <a:off x="48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4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325999" y="1747209"/>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20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485999" y="195721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92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9576000" y="1530000"/>
            <a:ext cx="2160000" cy="670023"/>
          </a:xfrm>
          <a:prstGeom prst="rect">
            <a:avLst/>
          </a:prstGeom>
          <a:noFill/>
        </p:spPr>
        <p:txBody>
          <a:bodyPr wrap="square" anchor="t" lIns="54000" rIns="54000"/>
          <a:lstStyle/>
          <a:p>
            <a:pPr algn="l"/>
            <a:r>
              <a:rPr sz="1200" b="0">
                <a:solidFill>
                  <a:srgbClr val="060606"/>
                </a:solidFill>
                <a:latin typeface="Helvetica"/>
              </a:rPr>
              <a:t>Ces prêts ont un mécano de 2 ou 3 chiffres, ce qui révèle une saisie anormale.</a:t>
            </a:r>
          </a:p>
        </p:txBody>
      </p:sp>
      <p:sp>
        <p:nvSpPr>
          <p:cNvPr id="41" name="Oval 40"/>
          <p:cNvSpPr/>
          <p:nvPr/>
        </p:nvSpPr>
        <p:spPr>
          <a:xfrm>
            <a:off x="921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9576000" y="2290023"/>
            <a:ext cx="2160000" cy="670023"/>
          </a:xfrm>
          <a:prstGeom prst="rect">
            <a:avLst/>
          </a:prstGeom>
          <a:noFill/>
        </p:spPr>
        <p:txBody>
          <a:bodyPr wrap="square" anchor="t" lIns="54000" rIns="54000"/>
          <a:lstStyle/>
          <a:p>
            <a:pPr algn="l"/>
            <a:r>
              <a:rPr sz="1200" b="0">
                <a:solidFill>
                  <a:srgbClr val="060606"/>
                </a:solidFill>
                <a:latin typeface="Helvetica"/>
              </a:rPr>
              <a:t>Le plus ancien de ces prêts a plus de trois ans de retard.</a:t>
            </a:r>
          </a:p>
        </p:txBody>
      </p:sp>
      <p:sp>
        <p:nvSpPr>
          <p:cNvPr id="43" name="Oval 42"/>
          <p:cNvSpPr/>
          <p:nvPr/>
        </p:nvSpPr>
        <p:spPr>
          <a:xfrm>
            <a:off x="921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9576000" y="3050047"/>
            <a:ext cx="2160000" cy="670023"/>
          </a:xfrm>
          <a:prstGeom prst="rect">
            <a:avLst/>
          </a:prstGeom>
          <a:noFill/>
        </p:spPr>
        <p:txBody>
          <a:bodyPr wrap="square" anchor="t" lIns="54000" rIns="54000"/>
          <a:lstStyle/>
          <a:p>
            <a:pPr algn="l"/>
            <a:r>
              <a:rPr sz="1200" b="0">
                <a:solidFill>
                  <a:srgbClr val="060606"/>
                </a:solidFill>
                <a:latin typeface="Helvetica"/>
              </a:rPr>
              <a:t>Ces prêts ont encore un encours inscrit, qui doit être provisionné.</a:t>
            </a:r>
          </a:p>
        </p:txBody>
      </p:sp>
      <p:sp>
        <p:nvSpPr>
          <p:cNvPr id="45" name="TextBox 44"/>
          <p:cNvSpPr txBox="1"/>
          <p:nvPr/>
        </p:nvSpPr>
        <p:spPr>
          <a:xfrm>
            <a:off x="9216000" y="3900071"/>
            <a:ext cx="2520000" cy="1967928"/>
          </a:xfrm>
          <a:prstGeom prst="rect">
            <a:avLst/>
          </a:prstGeom>
          <a:noFill/>
        </p:spPr>
        <p:txBody>
          <a:bodyPr wrap="square" lIns="54000" rIns="54000"/>
          <a:lstStyle/>
          <a:p>
            <a:pPr algn="just">
              <a:spcAft>
                <a:spcPts val="600"/>
              </a:spcAft>
            </a:pPr>
            <a:r>
              <a:rPr sz="1150" b="1">
                <a:solidFill>
                  <a:srgbClr val="060606"/>
                </a:solidFill>
                <a:latin typeface="Helvetica"/>
              </a:rPr>
              <a:t>Les prêts les plus anciens ne peuvent plus être précomptés, car leur mécano est faux.</a:t>
            </a:r>
            <a:r>
              <a:rPr sz="1150" b="0">
                <a:solidFill>
                  <a:srgbClr val="060606"/>
                </a:solidFill>
                <a:latin typeface="Helvetica"/>
              </a:rPr>
              <a:t> Sans mécano valide, la Solde ne peut pas retenir l'échéance sur le salaire.</a:t>
            </a:r>
          </a:p>
          <a:p>
            <a:pPr algn="just">
              <a:spcAft>
                <a:spcPts val="600"/>
              </a:spcAft>
            </a:pPr>
            <a:r>
              <a:rPr sz="1150" b="0">
                <a:solidFill>
                  <a:srgbClr val="060606"/>
                </a:solidFill>
                <a:latin typeface="Helvetica"/>
              </a:rPr>
              <a:t>Le Grenier doit corriger ces identifiants et décider, pour chaque prêt, d'une provision ou d'un passage en perte.</a:t>
            </a:r>
          </a:p>
        </p:txBody>
      </p:sp>
    </p:spTree>
    <p:extLst>
      <p:ext uri="{BB962C8B-B14F-4D97-AF65-F5344CB8AC3E}">
        <p14:creationId xmlns:p14="http://schemas.microsoft.com/office/powerpoint/2010/main" val="193183638"/>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Échéances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précomptes ne couvrent que 76 à 85 % des échéances des prêts en cours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 janvier à août 2026, l'écart mensuel va de 25 226 684 FCFA à 44 655 924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26 : Échéances des prêts en cours et précomptes 9X4, 2026</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 Fichiers de précomptes de la Solde, de la CGRAE et du FPPN reçus le 15/10/2026 (dossiers « FPPN-SOLDE », « FPPN-CGRAE », « FPPN-GNA », noms exacts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part précomptée va de 75,74 % à 85,38 % selon le mois.</a:t>
            </a:r>
          </a:p>
          <a:p>
            <a:pPr algn="just">
              <a:spcAft>
                <a:spcPts val="600"/>
              </a:spcAft>
            </a:pPr>
            <a:r>
              <a:rPr sz="1400" b="1">
                <a:solidFill>
                  <a:srgbClr val="060606"/>
                </a:solidFill>
                <a:latin typeface="Helvetica"/>
              </a:rPr>
              <a:t>L'export du logiciel perd la lettre-clé du mécano</a:t>
            </a:r>
            <a:r>
              <a:rPr sz="1400" b="0">
                <a:solidFill>
                  <a:srgbClr val="060606"/>
                </a:solidFill>
                <a:latin typeface="Helvetica"/>
              </a:rPr>
              <a:t> (321100C devient 321100), ce qui complique le rapprochement prêt par prêt.</a:t>
            </a:r>
          </a:p>
          <a:p>
            <a:pPr algn="just">
              <a:spcAft>
                <a:spcPts val="600"/>
              </a:spcAft>
            </a:pPr>
            <a:r>
              <a:rPr sz="1400" b="1">
                <a:solidFill>
                  <a:srgbClr val="060606"/>
                </a:solidFill>
                <a:latin typeface="Helvetica"/>
              </a:rPr>
              <a:t>Un rapprochement avec les encaissements bancaires du Grenier est nécessaire</a:t>
            </a:r>
            <a:r>
              <a:rPr sz="1400" b="0">
                <a:solidFill>
                  <a:srgbClr val="060606"/>
                </a:solidFill>
                <a:latin typeface="Helvetica"/>
              </a:rPr>
              <a:t> pour savoir si l'écart est payé autrement.</a:t>
            </a:r>
          </a:p>
          <a:p>
            <a:pPr algn="just">
              <a:spcAft>
                <a:spcPts val="600"/>
              </a:spcAft>
            </a:pPr>
            <a:r>
              <a:rPr sz="1400" b="0">
                <a:solidFill>
                  <a:srgbClr val="060606"/>
                </a:solidFill>
                <a:latin typeface="Helvetica"/>
              </a:rPr>
              <a:t>Si l'écart n'est pas encaissé par un autre canal, il alimente chaque mois de nouveaux retards : c'est la question à poser en priorité au service du Grenier.</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échéances des prêts en cours des exports « BalanceAgeeDetaille … .xls » du logiciel de prêts du Grenier et précomptes du poste 9X4 (« FPPN-SOLDE\GRENIER\FICHIER ALLER RETOUR »), mois de 2026 reçus.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9X4 : poste Grenier</a:t>
            </a:r>
          </a:p>
        </p:txBody>
      </p:sp>
    </p:spTree>
    <p:extLst>
      <p:ext uri="{BB962C8B-B14F-4D97-AF65-F5344CB8AC3E}">
        <p14:creationId xmlns:p14="http://schemas.microsoft.com/office/powerpoint/2010/main" val="1135720199"/>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pertes sur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une perte totale sur les prêts très en retard reste limitée en montant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180 jours : 14 826 812 FCFA. De plus de 90 jours : 17 845 260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 BalanceAgeeDetaille … .xls » et « production_de_la_periode … .xls »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35 : Provision selon le taux de perte</a:t>
            </a:r>
          </a:p>
        </p:txBody>
      </p:sp>
      <p:graphicFrame>
        <p:nvGraphicFramePr>
          <p:cNvPr id="32" name="Table 31"/>
          <p:cNvGraphicFramePr>
            <a:graphicFrameLocks noGrp="1"/>
          </p:cNvGraphicFramePr>
          <p:nvPr/>
        </p:nvGraphicFramePr>
        <p:xfrm>
          <a:off x="503999" y="1655999"/>
          <a:ext cx="6984000" cy="901000"/>
        </p:xfrm>
        <a:graphic>
          <a:graphicData uri="http://schemas.openxmlformats.org/drawingml/2006/table">
            <a:tbl>
              <a:tblPr firstRow="0" bandRow="0">
                <a:tableStyleId>{5940675A-B579-460E-94D1-54222C63F5DA}</a:tableStyleId>
              </a:tblPr>
              <a:tblGrid>
                <a:gridCol w="1800000"/>
                <a:gridCol w="2592000"/>
                <a:gridCol w="2592000"/>
              </a:tblGrid>
              <a:tr h="225250">
                <a:tc>
                  <a:txBody>
                    <a:bodyPr/>
                    <a:lstStyle/>
                    <a:p>
                      <a:pPr marL="0" indent="0" lvl="0">
                        <a:buNone/>
                      </a:pPr>
                      <a:r>
                        <a:rPr sz="1100" b="1">
                          <a:solidFill>
                            <a:srgbClr val="FFFFFF"/>
                          </a:solidFill>
                          <a:latin typeface="Helvetica"/>
                        </a:rPr>
                        <a:t>Taux de perte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180 jours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90 jours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25,00 %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3 706 703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4 461 315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50,00 %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7 413 406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8 922 630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14 826 812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17 845 260 FCFA</a:t>
                      </a:r>
                    </a:p>
                  </a:txBody>
                  <a:tcPr marL="43200" marR="43200" marT="14400" marB="14400" anchor="ctr">
                    <a:solidFill>
                      <a:srgbClr val="FFFFFF"/>
                    </a:solidFill>
                  </a:tcPr>
                </a:tc>
              </a:tr>
            </a:tbl>
          </a:graphicData>
        </a:graphic>
      </p:graphicFrame>
      <p:sp>
        <p:nvSpPr>
          <p:cNvPr id="33" name="TextBox 32"/>
          <p:cNvSpPr txBox="1"/>
          <p:nvPr/>
        </p:nvSpPr>
        <p:spPr>
          <a:xfrm>
            <a:off x="503999" y="2665002"/>
            <a:ext cx="6983999" cy="306000"/>
          </a:xfrm>
          <a:prstGeom prst="rect">
            <a:avLst/>
          </a:prstGeom>
          <a:noFill/>
        </p:spPr>
        <p:txBody>
          <a:bodyPr wrap="square" anchor="t" lIns="54000" rIns="54000"/>
          <a:lstStyle/>
          <a:p>
            <a:pPr algn="l"/>
            <a:r>
              <a:rPr sz="850" b="0">
                <a:solidFill>
                  <a:srgbClr val="53565A"/>
                </a:solidFill>
                <a:latin typeface="Helvetica"/>
              </a:rPr>
              <a:t>Valable pour : encours au 31/08/2026 des exports « BalanceAgeeDetaille … .xls » du logiciel de prêts du Grenier. Taux de perte hypothétiques (la politique de crédit est appliquée en partie 9).</a:t>
            </a:r>
          </a:p>
        </p:txBody>
      </p:sp>
      <p:sp>
        <p:nvSpPr>
          <p:cNvPr id="34" name="TextBox 33"/>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Une perte totale sur les prêts en retard de plus de 90 jours coûterait 17 845 260 FCFA.</a:t>
            </a:r>
            <a:r>
              <a:rPr sz="1400" b="0">
                <a:solidFill>
                  <a:srgbClr val="060606"/>
                </a:solidFill>
                <a:latin typeface="Helvetica"/>
              </a:rPr>
              <a:t> Ce montant reste faible au regard de l'encours.</a:t>
            </a:r>
          </a:p>
          <a:p>
            <a:pPr algn="just">
              <a:spcAft>
                <a:spcPts val="600"/>
              </a:spcAft>
            </a:pPr>
            <a:r>
              <a:rPr sz="1400" b="1">
                <a:solidFill>
                  <a:srgbClr val="060606"/>
                </a:solidFill>
                <a:latin typeface="Helvetica"/>
              </a:rPr>
              <a:t>Le risque du Grenier n'est donc pas la perte sur prêts.</a:t>
            </a:r>
            <a:r>
              <a:rPr sz="1400" b="0">
                <a:solidFill>
                  <a:srgbClr val="060606"/>
                </a:solidFill>
                <a:latin typeface="Helvetica"/>
              </a:rPr>
              <a:t> Il tient au volume de ressources du FPPN immobilisées dans les prêts.</a:t>
            </a:r>
          </a:p>
          <a:p>
            <a:pPr algn="just">
              <a:spcAft>
                <a:spcPts val="600"/>
              </a:spcAft>
            </a:pPr>
            <a:r>
              <a:rPr sz="1400" b="0">
                <a:solidFill>
                  <a:srgbClr val="060606"/>
                </a:solidFill>
                <a:latin typeface="Helvetica"/>
              </a:rPr>
              <a:t>Une politique de provisionnement écrite (taux par tranche de retard) suffirait à couvrir ce risque, mais elle ne règle pas la question de la liquidité de l'épargne.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453406054"/>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Grenier a multiplié ses prêts en s'appuyant presque entièrement sur les ressources du FPPN.</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L'encours atteint 1 044 302 107 FCFA au 31/08/2026. Les précomptes couvrent 76 à 85 % des échéances, et 126 prêts ont plus de 180 jours de retard.</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principal risque n'est pas la perte sur prêts, limitée, mais l'immobilisation de l'épargne des mutualistes dans les prêts.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une politique de crédit lisible, les encaissements hors Solde et la décision qui encadre le financement du Grenier.</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Grenier</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croît très vite grâce au financement du FPPN</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multiplié par 132, financé à 87,66 %, retards maîtrisés mais précomptes incomplets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357279036"/>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8</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Retraités et 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CGRAE, flotte automobile, MEDOC, projets immobiliers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987021336"/>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cotisants sont passés de 16 à 610 en deux ans et demi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Précompte moyen de 11 940 FCFA par mois sur la pension. Données depuis février 2024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27 : Retraités précomptés par la CGRAE,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retraités</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610 retraités sont précomptés en août 2026.</a:t>
            </a:r>
            <a:r>
              <a:rPr sz="1400" b="0">
                <a:solidFill>
                  <a:srgbClr val="060606"/>
                </a:solidFill>
                <a:latin typeface="Helvetica"/>
              </a:rPr>
              <a:t> Leur nombre augmente chaque mois depuis février 2024.</a:t>
            </a:r>
          </a:p>
          <a:p>
            <a:pPr algn="just">
              <a:spcAft>
                <a:spcPts val="600"/>
              </a:spcAft>
            </a:pPr>
            <a:r>
              <a:rPr sz="1400" b="1">
                <a:solidFill>
                  <a:srgbClr val="060606"/>
                </a:solidFill>
                <a:latin typeface="Helvetica"/>
              </a:rPr>
              <a:t>Plusieurs anomalies de gestion apparaissent dans les fichiers</a:t>
            </a:r>
            <a:r>
              <a:rPr sz="1400" b="0">
                <a:solidFill>
                  <a:srgbClr val="060606"/>
                </a:solidFill>
                <a:latin typeface="Helvetica"/>
              </a:rPr>
              <a:t> : précomptes en double ou indus remboursés, numéros de décision erronés, précomptes non effectués.</a:t>
            </a:r>
          </a:p>
          <a:p>
            <a:pPr algn="just">
              <a:spcAft>
                <a:spcPts val="600"/>
              </a:spcAft>
            </a:pPr>
            <a:r>
              <a:rPr sz="1400" b="1">
                <a:solidFill>
                  <a:srgbClr val="060606"/>
                </a:solidFill>
                <a:latin typeface="Helvetica"/>
              </a:rPr>
              <a:t>La CGRAE précompte 100,19 % des montants demandés</a:t>
            </a:r>
            <a:r>
              <a:rPr sz="1400" b="0">
                <a:solidFill>
                  <a:srgbClr val="060606"/>
                </a:solidFill>
                <a:latin typeface="Helvetica"/>
              </a:rPr>
              <a:t> sur 30 mois communs.</a:t>
            </a:r>
          </a:p>
          <a:p>
            <a:pPr algn="just">
              <a:spcAft>
                <a:spcPts val="600"/>
              </a:spcAft>
            </a:pPr>
            <a:r>
              <a:rPr sz="1400" b="0">
                <a:solidFill>
                  <a:srgbClr val="060606"/>
                </a:solidFill>
                <a:latin typeface="Helvetica"/>
              </a:rPr>
              <a:t>Si la garantie santé est maintenue à vie aux retraités pour une cotisation inférieure à son coût, elle devient un engagement viager : sa valeur se calculera avec la table CIMA F (partie 11) dès que les âges et les coûts de soins seront transmis.</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retraités précomptés dans les fichiers retour de la CGRAE (dossier « FPPN-CGRAE\PRECOMTES\FICHIER RETOUR (CGRAE) »), février 2024 à septembre 2026. Ne couvre pas les retraités sans quotité cessible.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 | GNA : assureur de la flotte automobile (compte 47111106)</a:t>
            </a:r>
          </a:p>
        </p:txBody>
      </p:sp>
    </p:spTree>
    <p:extLst>
      <p:ext uri="{BB962C8B-B14F-4D97-AF65-F5344CB8AC3E}">
        <p14:creationId xmlns:p14="http://schemas.microsoft.com/office/powerpoint/2010/main" val="2495088964"/>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Convention IPS-CGRAE : santé des policiers retraités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assure la santé des retraités souscripteurs, même si la CGRAE reverse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convention organise le précompte des cotisations sur les pensions. Elle confirme une garantie santé des retraités, donc un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CONVENTION DE PARTENARIAT ENTRE IPS-CGRAE ET LE FPPN.pdf (scan lu par reconnaissance de caractères, articles 3 à 7).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36 : Clauses de la convention IPS-CGRAE utiles à la mission</a:t>
            </a:r>
          </a:p>
        </p:txBody>
      </p:sp>
      <p:graphicFrame>
        <p:nvGraphicFramePr>
          <p:cNvPr id="32" name="Table 31"/>
          <p:cNvGraphicFramePr>
            <a:graphicFrameLocks noGrp="1"/>
          </p:cNvGraphicFramePr>
          <p:nvPr/>
        </p:nvGraphicFramePr>
        <p:xfrm>
          <a:off x="503999" y="1655999"/>
          <a:ext cx="11232000" cy="1381984"/>
        </p:xfrm>
        <a:graphic>
          <a:graphicData uri="http://schemas.openxmlformats.org/drawingml/2006/table">
            <a:tbl>
              <a:tblPr firstRow="0" bandRow="0">
                <a:tableStyleId>{5940675A-B579-460E-94D1-54222C63F5DA}</a:tableStyleId>
              </a:tblPr>
              <a:tblGrid>
                <a:gridCol w="1080000"/>
                <a:gridCol w="5472000"/>
                <a:gridCol w="4680000"/>
              </a:tblGrid>
              <a:tr h="187148">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Clause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Art. 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Précompte, sur la pension, des cotisations de prise en charge médicale du policier retraité qui l'autorise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Les retraités deviennent des cotisants à part entière (partie 8 : 610 en août 26)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Art. 4.1 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ne suspend aucune prestation pour cause de retard de reversement par l'IPS-CGRAE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porte le risque de trésorerie entre le soin et l'encaissement</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Art. 4.2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Précompte dans la limite de la quotité cessible. Seuls les retraités qui en disposent sont précomptés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Une partie des retraités souscripteurs peut ne pas être précomptée</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Art.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Aucun frais de gestion facturé par l'IPS-CGRAE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de charge de gestion à prévoir</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Art. 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En cas de décès, le FPPN reverse les précomptes perçus après le 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Dette envers la CGRAE à suivre</a:t>
                      </a:r>
                    </a:p>
                  </a:txBody>
                  <a:tcPr marL="43200" marR="43200" marT="14400" marB="14400" anchor="ctr">
                    <a:solidFill>
                      <a:srgbClr val="FFFFFF"/>
                    </a:solidFill>
                  </a:tcPr>
                </a:tc>
              </a:tr>
            </a:tbl>
          </a:graphicData>
        </a:graphic>
      </p:graphicFrame>
      <p:sp>
        <p:nvSpPr>
          <p:cNvPr id="33" name="TextBox 32"/>
          <p:cNvSpPr txBox="1"/>
          <p:nvPr/>
        </p:nvSpPr>
        <p:spPr>
          <a:xfrm>
            <a:off x="503999" y="3145985"/>
            <a:ext cx="11232000" cy="162000"/>
          </a:xfrm>
          <a:prstGeom prst="rect">
            <a:avLst/>
          </a:prstGeom>
          <a:noFill/>
        </p:spPr>
        <p:txBody>
          <a:bodyPr wrap="square" anchor="t" lIns="54000" rIns="54000"/>
          <a:lstStyle/>
          <a:p>
            <a:pPr algn="l"/>
            <a:r>
              <a:rPr sz="850" b="0">
                <a:solidFill>
                  <a:srgbClr val="53565A"/>
                </a:solidFill>
                <a:latin typeface="Helvetica"/>
              </a:rPr>
              <a:t>Valable pour : texte de la convention reçu le 22/10/2026. Son application (nombre de retraités, montants précomptés) est mesurée en partie 8 de février 2024 à septembre 2026.</a:t>
            </a:r>
          </a:p>
        </p:txBody>
      </p:sp>
      <p:sp>
        <p:nvSpPr>
          <p:cNvPr id="34" name="TextBox 33"/>
          <p:cNvSpPr txBox="1"/>
          <p:nvPr/>
        </p:nvSpPr>
        <p:spPr>
          <a:xfrm>
            <a:off x="503999" y="3451985"/>
            <a:ext cx="11232000" cy="2416014"/>
          </a:xfrm>
          <a:prstGeom prst="rect">
            <a:avLst/>
          </a:prstGeom>
          <a:noFill/>
        </p:spPr>
        <p:txBody>
          <a:bodyPr wrap="square" lIns="54000" rIns="54000"/>
          <a:lstStyle/>
          <a:p>
            <a:pPr algn="just">
              <a:spcAft>
                <a:spcPts val="600"/>
              </a:spcAft>
            </a:pPr>
            <a:r>
              <a:rPr sz="1300" b="1">
                <a:solidFill>
                  <a:srgbClr val="060606"/>
                </a:solidFill>
                <a:latin typeface="Helvetica"/>
              </a:rPr>
              <a:t>La convention confirme que le FPPN assure la santé des policiers retraités qui y souscrivent.</a:t>
            </a:r>
            <a:r>
              <a:rPr sz="1300" b="0">
                <a:solidFill>
                  <a:srgbClr val="060606"/>
                </a:solidFill>
                <a:latin typeface="Helvetica"/>
              </a:rPr>
              <a:t> Les statuts (art. 7 et 80) laissaient la question ouverte.</a:t>
            </a:r>
          </a:p>
          <a:p>
            <a:pPr algn="just">
              <a:spcAft>
                <a:spcPts val="600"/>
              </a:spcAft>
            </a:pPr>
            <a:r>
              <a:rPr sz="1300" b="1">
                <a:solidFill>
                  <a:srgbClr val="060606"/>
                </a:solidFill>
                <a:latin typeface="Helvetica"/>
              </a:rPr>
              <a:t>La garantie santé des retraités relève des risques longs</a:t>
            </a:r>
            <a:r>
              <a:rPr sz="1300" b="0">
                <a:solidFill>
                  <a:srgbClr val="060606"/>
                </a:solidFill>
                <a:latin typeface="Helvetica"/>
              </a:rPr>
              <a:t> : sa tarification et sa provision demandent les âges des retraités, leurs consommations et la cotisation appliquée.</a:t>
            </a:r>
          </a:p>
          <a:p>
            <a:pPr algn="just">
              <a:spcAft>
                <a:spcPts val="600"/>
              </a:spcAft>
            </a:pPr>
            <a:r>
              <a:rPr sz="1300" b="0">
                <a:solidFill>
                  <a:srgbClr val="060606"/>
                </a:solidFill>
                <a:latin typeface="Helvetica"/>
              </a:rPr>
              <a:t>L'engagement santé des retraités doit être évalué séparément de celui des actifs, avec ses propres cotisations (PBC, items 108 et 114).</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PBC : liste des documents demandés au client | GNA : assureur de la flotte automobile (compte 47111106) | IPS-CGRAE : Institution de prévoyance sociale - Caisse générale de retraite des agents de l'État</a:t>
            </a:r>
          </a:p>
        </p:txBody>
      </p:sp>
    </p:spTree>
    <p:extLst>
      <p:ext uri="{BB962C8B-B14F-4D97-AF65-F5344CB8AC3E}">
        <p14:creationId xmlns:p14="http://schemas.microsoft.com/office/powerpoint/2010/main" val="2418213915"/>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Santé des retraités : ce que l'on peut mesurer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précomptés passent de 16 en févr. 24 à 610 en août 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cotisations des retraités sont mesurées. Leurs prestations, leurs âges et donc l'engagement à vie du FPPN ne le sont pas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CONVENTION DE PARTENARIAT ENTRE IPS-CGRAE ET LE FPPN.pdf. Onglet 22 du classeur des calculs</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37 : Retraités précomptés par la CGRAE</a:t>
            </a:r>
          </a:p>
        </p:txBody>
      </p:sp>
      <p:graphicFrame>
        <p:nvGraphicFramePr>
          <p:cNvPr id="32" name="Table 31"/>
          <p:cNvGraphicFramePr>
            <a:graphicFrameLocks noGrp="1"/>
          </p:cNvGraphicFramePr>
          <p:nvPr/>
        </p:nvGraphicFramePr>
        <p:xfrm>
          <a:off x="503999" y="1655999"/>
          <a:ext cx="7056000" cy="1947680"/>
        </p:xfrm>
        <a:graphic>
          <a:graphicData uri="http://schemas.openxmlformats.org/drawingml/2006/table">
            <a:tbl>
              <a:tblPr firstRow="0" bandRow="0">
                <a:tableStyleId>{5940675A-B579-460E-94D1-54222C63F5DA}</a:tableStyleId>
              </a:tblPr>
              <a:tblGrid>
                <a:gridCol w="1634400"/>
                <a:gridCol w="1634400"/>
                <a:gridCol w="1958400"/>
                <a:gridCol w="1828800"/>
              </a:tblGrid>
              <a:tr h="194768">
                <a:tc>
                  <a:txBody>
                    <a:bodyPr/>
                    <a:lstStyle/>
                    <a:p>
                      <a:pPr marL="0" indent="0" lvl="0">
                        <a:buNone/>
                      </a:pPr>
                      <a:r>
                        <a:rPr sz="9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Retraités précomptés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précompté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Cotisation moyenne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févr. 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202 655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12 666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juil. 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2 097 392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11 917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nov. 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280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3 347 635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11 956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mars 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3 945 438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12 253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juil. 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4 646 872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12 039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nov. 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506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6 010 492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11 878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mars 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6 862 774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11 751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juil. 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7 117 178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11 862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août 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7 292 072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11 954 FCFA</a:t>
                      </a:r>
                    </a:p>
                  </a:txBody>
                  <a:tcPr marL="43200" marR="43200" marT="14400" marB="14400" anchor="ctr">
                    <a:solidFill>
                      <a:srgbClr val="FFFFFF"/>
                    </a:solidFill>
                  </a:tcPr>
                </a:tc>
              </a:tr>
            </a:tbl>
          </a:graphicData>
        </a:graphic>
      </p:graphicFrame>
      <p:sp>
        <p:nvSpPr>
          <p:cNvPr id="33" name="TextBox 32"/>
          <p:cNvSpPr txBox="1"/>
          <p:nvPr/>
        </p:nvSpPr>
        <p:spPr>
          <a:xfrm>
            <a:off x="503999" y="3711686"/>
            <a:ext cx="7056000" cy="306000"/>
          </a:xfrm>
          <a:prstGeom prst="rect">
            <a:avLst/>
          </a:prstGeom>
          <a:noFill/>
        </p:spPr>
        <p:txBody>
          <a:bodyPr wrap="square" anchor="t" lIns="54000" rIns="54000"/>
          <a:lstStyle/>
          <a:p>
            <a:pPr algn="l"/>
            <a:r>
              <a:rPr sz="850" b="0">
                <a:solidFill>
                  <a:srgbClr val="53565A"/>
                </a:solidFill>
                <a:latin typeface="Helvetica"/>
              </a:rPr>
              <a:t>Valable pour : fichiers retour de la CGRAE reçus le 15/10/2026, févr. 24 à août 26 (un mois sur quatre affiché, tous les mois dans le classeur). Ne couvre pas les retraités non précomptés.</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Les retraités sont une population cotisante en forte hausse.</a:t>
            </a:r>
            <a:r>
              <a:rPr sz="1400" b="0">
                <a:solidFill>
                  <a:srgbClr val="060606"/>
                </a:solidFill>
                <a:latin typeface="Helvetica"/>
              </a:rPr>
              <a:t> Leurs prestations ne sont pas isolées dans les comptes ni dans les fichiers reçus.</a:t>
            </a:r>
          </a:p>
          <a:p>
            <a:pPr algn="just">
              <a:spcAft>
                <a:spcPts val="600"/>
              </a:spcAft>
            </a:pPr>
            <a:r>
              <a:rPr sz="1400" b="1">
                <a:solidFill>
                  <a:srgbClr val="060606"/>
                </a:solidFill>
                <a:latin typeface="Helvetica"/>
              </a:rPr>
              <a:t>Les fichiers retour de la CGRAE de février à avril 2024 donnent la date de naissance de 105 retraités, âgés en moyenne de 63,3 ans au 30/09/2026.</a:t>
            </a:r>
            <a:r>
              <a:rPr sz="1400" b="0">
                <a:solidFill>
                  <a:srgbClr val="060606"/>
                </a:solidFill>
                <a:latin typeface="Helvetica"/>
              </a:rPr>
              <a:t> Aucun fichier ne donne les dates des autres retraités ni les soins de chacun : l'engagement à vie ne peut pas être calculé (annexe « Méthodes non retenues et pourquoi »).</a:t>
            </a:r>
          </a:p>
          <a:p>
            <a:pPr algn="just">
              <a:spcAft>
                <a:spcPts val="600"/>
              </a:spcAft>
            </a:pPr>
            <a:r>
              <a:rPr sz="1400" b="0">
                <a:solidFill>
                  <a:srgbClr val="060606"/>
                </a:solidFill>
                <a:latin typeface="Helvetica"/>
              </a:rPr>
              <a:t>Tant que ces données manquent, le FPPN ne peut pas savoir si la cotisation des retraités couvre leurs soins jusqu'à la fin de leur vie.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GNA : assureur de la flotte automobile (compte 47111106) | IPS-CGRAE : Institution de prévoyance sociale - Caisse générale de retraite des agents de l'État</a:t>
            </a:r>
          </a:p>
        </p:txBody>
      </p:sp>
    </p:spTree>
    <p:extLst>
      <p:ext uri="{BB962C8B-B14F-4D97-AF65-F5344CB8AC3E}">
        <p14:creationId xmlns:p14="http://schemas.microsoft.com/office/powerpoint/2010/main" val="243334620"/>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Produits annexes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produits sont précomptés sans documentation transmise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Flotte automobile (9W3) et MEDOC (8Z7) : nature, garanties et comptabilisation à préciser. Projets immobiliers suivis en compte d'attente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(dossiers « FPPN-SOLDE », « FPPN-CGRAE », « FPPN-GNA », noms exacts en annexe « Fichiers sources »). Traitements Adenka.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38 : Produits annexes et points à clarifier</a:t>
            </a:r>
          </a:p>
        </p:txBody>
      </p:sp>
      <p:graphicFrame>
        <p:nvGraphicFramePr>
          <p:cNvPr id="32" name="Table 31"/>
          <p:cNvGraphicFramePr>
            <a:graphicFrameLocks noGrp="1"/>
          </p:cNvGraphicFramePr>
          <p:nvPr/>
        </p:nvGraphicFramePr>
        <p:xfrm>
          <a:off x="503999" y="1655999"/>
          <a:ext cx="11232000" cy="2132154"/>
        </p:xfrm>
        <a:graphic>
          <a:graphicData uri="http://schemas.openxmlformats.org/drawingml/2006/table">
            <a:tbl>
              <a:tblPr firstRow="0" bandRow="0">
                <a:tableStyleId>{5940675A-B579-460E-94D1-54222C63F5DA}</a:tableStyleId>
              </a:tblPr>
              <a:tblGrid>
                <a:gridCol w="1728000"/>
                <a:gridCol w="4752000"/>
                <a:gridCol w="4752000"/>
              </a:tblGrid>
              <a:tr h="225250">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que montrent les données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À obtenir du FPPN</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Solde précompte environ 10 000 FCFA par mois et par adhérent de 2023 à 2026. Le compte 47111106 « GNA ASSURANCE » suit l'assureur.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convention avec GNA, les primes reversées, les sinistres et les soldes par adhérent : selon le responsable des cotisations, GNA met mal à jour les soldes (entretien du 19/10/2026).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FPPN précompte 5 000 FCFA par mois depuis novembre 2025. Les retours de février et avril 2026 sont vides.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La période de fonctionnement et la décision de suspension : produit décrit comme un complément pharmacie, en pause depuis environ deux mois (entretien du 19/10/2026).</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Projets immobiliers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comptes 47111200 et 47111201 portent des projets immobiliers. Aucun compte n'est intitulé SCI.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statut juridique des projets et le lien éventuel avec la SCI « La Prévoyance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Identifiants « 183FPPN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fichiers aller PEP et Grenier de 2025 et 2026 contiennent 34 identifiants sans mécano.</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L'identité et le mécano de ces personnes.</a:t>
                      </a:r>
                    </a:p>
                  </a:txBody>
                  <a:tcPr marL="43200" marR="43200" marT="14400" marB="14400" anchor="ctr">
                    <a:solidFill>
                      <a:srgbClr val="F2F2F2"/>
                    </a:solidFill>
                  </a:tcPr>
                </a:tc>
              </a:tr>
            </a:tbl>
          </a:graphicData>
        </a:graphic>
      </p:graphicFrame>
      <p:sp>
        <p:nvSpPr>
          <p:cNvPr id="33" name="TextBox 32"/>
          <p:cNvSpPr txBox="1"/>
          <p:nvPr/>
        </p:nvSpPr>
        <p:spPr>
          <a:xfrm>
            <a:off x="503999" y="3896156"/>
            <a:ext cx="11232000" cy="306000"/>
          </a:xfrm>
          <a:prstGeom prst="rect">
            <a:avLst/>
          </a:prstGeom>
          <a:noFill/>
        </p:spPr>
        <p:txBody>
          <a:bodyPr wrap="square" anchor="t" lIns="54000" rIns="54000"/>
          <a:lstStyle/>
          <a:p>
            <a:pPr algn="l"/>
            <a:r>
              <a:rPr sz="850" b="0">
                <a:solidFill>
                  <a:srgbClr val="53565A"/>
                </a:solidFill>
                <a:latin typeface="Helvetica"/>
              </a:rPr>
              <a:t>Valable pour : postes 9W3 (GNA) et 8Z7 (MEDOC) des fichiers « FPPN-GNA » et « FPPN-SOLDE\MEDOC », mois reçus de 2023 à 2026. Compte 71800000 des balances « BALANCE FORMAT EXCEL DE 09-2020 AU 31-12-2020.xlsx » à « BALANCE FPPN DU 01-01-2026 AU 31-08-2026.xlsx ».</a:t>
            </a:r>
          </a:p>
        </p:txBody>
      </p:sp>
      <p:sp>
        <p:nvSpPr>
          <p:cNvPr id="34" name="TextBox 33"/>
          <p:cNvSpPr txBox="1"/>
          <p:nvPr/>
        </p:nvSpPr>
        <p:spPr>
          <a:xfrm>
            <a:off x="503999" y="4346156"/>
            <a:ext cx="11232000" cy="1521843"/>
          </a:xfrm>
          <a:prstGeom prst="rect">
            <a:avLst/>
          </a:prstGeom>
          <a:noFill/>
        </p:spPr>
        <p:txBody>
          <a:bodyPr wrap="square" lIns="54000" rIns="54000"/>
          <a:lstStyle/>
          <a:p>
            <a:pPr algn="just">
              <a:spcAft>
                <a:spcPts val="600"/>
              </a:spcAft>
            </a:pPr>
            <a:r>
              <a:rPr sz="1300" b="1">
                <a:solidFill>
                  <a:srgbClr val="060606"/>
                </a:solidFill>
                <a:latin typeface="Helvetica"/>
              </a:rPr>
              <a:t>Ces activités engagent le FPPN sans que leurs règles soient documentées.</a:t>
            </a:r>
            <a:r>
              <a:rPr sz="1300" b="0">
                <a:solidFill>
                  <a:srgbClr val="060606"/>
                </a:solidFill>
                <a:latin typeface="Helvetica"/>
              </a:rPr>
              <a:t> Le FPPN encaisse des précomptes pour le compte de tiers ou pour des produits dont la nature n'est pas écrite.</a:t>
            </a:r>
          </a:p>
          <a:p>
            <a:pPr algn="just">
              <a:spcAft>
                <a:spcPts val="600"/>
              </a:spcAft>
            </a:pPr>
            <a:r>
              <a:rPr sz="1300" b="0">
                <a:solidFill>
                  <a:srgbClr val="060606"/>
                </a:solidFill>
                <a:latin typeface="Helvetica"/>
              </a:rPr>
              <a:t>Si le FPPN porte lui-même le risque de la flotte automobile, il exerce une activité d'assurance de dommages qui sort du champ des mutuelles sociales : la convention doit le préciser.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GNA : assureur de la flotte automobile (compte 47111106) | MEDOC : produit santé complémentaire du poste 8Z7 | SCI : société civile immobilière | 9W3 : poste flotte automobile | 8Z7 : poste MEDOC</a:t>
            </a:r>
          </a:p>
        </p:txBody>
      </p:sp>
    </p:spTree>
    <p:extLst>
      <p:ext uri="{BB962C8B-B14F-4D97-AF65-F5344CB8AC3E}">
        <p14:creationId xmlns:p14="http://schemas.microsoft.com/office/powerpoint/2010/main" val="2010307897"/>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Bilan, provisions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Provisions par produit, adossement, fonds propres, rendement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791950948"/>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Provisions techniques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lit les comptes 19011000 et 19012000 jusqu'en 2023, puis 15801000 et 15802000 à partir de 2024 (prestations à payer).</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Fonds propres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fonds propres additionnent les comptes 10, 11 et 12 et le résultat de l'exercice, à chaque clôture.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Adossement par échéance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classe l'actif selon son délai de mobilisation et le passif selon son échéance, puis compare les deux, tranche par tranche.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bilan n'a pas été transmis, et le 31/08/2026 est provisoire : il ne comprend ni amortissements ni écritures de fin d'année.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lecture du bilan</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est reconstitué compte par compte à partir des balances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épargne, actifs et fonds propres sont calculés à chaque clôture, de 2020 au 31/08/2026</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2374695473"/>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comptes de provisions portent exactement le même montant sept ans de suite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2 867 602 878 FCFA et obsèques 1 961 695 412 FCFA à chaque clôture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1" name="TextBox 30"/>
          <p:cNvSpPr txBox="1"/>
          <p:nvPr/>
        </p:nvSpPr>
        <p:spPr>
          <a:xfrm>
            <a:off x="503999" y="1350000"/>
            <a:ext cx="9072000" cy="180000"/>
          </a:xfrm>
          <a:prstGeom prst="rect">
            <a:avLst/>
          </a:prstGeom>
          <a:noFill/>
        </p:spPr>
        <p:txBody>
          <a:bodyPr wrap="square" anchor="t" lIns="54000" rIns="54000"/>
          <a:lstStyle/>
          <a:p>
            <a:pPr algn="l"/>
            <a:r>
              <a:rPr sz="900" b="0">
                <a:solidFill>
                  <a:srgbClr val="53565A"/>
                </a:solidFill>
                <a:latin typeface="Helvetica"/>
              </a:rPr>
              <a:t>Extrait : AUDIT ADENKA\DAFC\2020 à 2026 (balances des comptes)</a:t>
            </a:r>
          </a:p>
        </p:txBody>
      </p:sp>
      <p:graphicFrame>
        <p:nvGraphicFramePr>
          <p:cNvPr id="32" name="Table 31"/>
          <p:cNvGraphicFramePr>
            <a:graphicFrameLocks noGrp="1"/>
          </p:cNvGraphicFramePr>
          <p:nvPr/>
        </p:nvGraphicFramePr>
        <p:xfrm>
          <a:off x="503999" y="1548000"/>
          <a:ext cx="9072000" cy="1680072"/>
        </p:xfrm>
        <a:graphic>
          <a:graphicData uri="http://schemas.openxmlformats.org/drawingml/2006/table">
            <a:tbl>
              <a:tblPr firstRow="0" bandRow="0">
                <a:tableStyleId>{5940675A-B579-460E-94D1-54222C63F5DA}</a:tableStyleId>
              </a:tblPr>
              <a:tblGrid>
                <a:gridCol w="1296000"/>
                <a:gridCol w="1440000"/>
                <a:gridCol w="2448000"/>
                <a:gridCol w="1440000"/>
                <a:gridCol w="2448000"/>
              </a:tblGrid>
              <a:tr h="210009">
                <a:tc>
                  <a:txBody>
                    <a:bodyPr/>
                    <a:lstStyle/>
                    <a:p>
                      <a:pPr marL="0" indent="0" lvl="0">
                        <a:buNone/>
                      </a:pPr>
                      <a:r>
                        <a:rPr sz="10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obsèques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obsèques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bl>
          </a:graphicData>
        </a:graphic>
      </p:graphicFrame>
      <p:sp>
        <p:nvSpPr>
          <p:cNvPr id="33" name="Rounded Rectangle 32"/>
          <p:cNvSpPr/>
          <p:nvPr/>
        </p:nvSpPr>
        <p:spPr>
          <a:xfrm>
            <a:off x="3221999" y="1747209"/>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50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3221999" y="3007267"/>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08000"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1782000" y="2587247"/>
            <a:ext cx="147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0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3354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3336076"/>
            <a:ext cx="8712000" cy="298144"/>
          </a:xfrm>
          <a:prstGeom prst="rect">
            <a:avLst/>
          </a:prstGeom>
          <a:noFill/>
        </p:spPr>
        <p:txBody>
          <a:bodyPr wrap="square" anchor="t" lIns="54000" rIns="54000"/>
          <a:lstStyle/>
          <a:p>
            <a:pPr algn="l"/>
            <a:r>
              <a:rPr sz="1200" b="0">
                <a:solidFill>
                  <a:srgbClr val="060606"/>
                </a:solidFill>
                <a:latin typeface="Helvetica"/>
              </a:rPr>
              <a:t>La provision maladie vaut le même montant en 2020…</a:t>
            </a:r>
          </a:p>
        </p:txBody>
      </p:sp>
      <p:sp>
        <p:nvSpPr>
          <p:cNvPr id="41" name="Oval 40"/>
          <p:cNvSpPr/>
          <p:nvPr/>
        </p:nvSpPr>
        <p:spPr>
          <a:xfrm>
            <a:off x="503999" y="3742221"/>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3724221"/>
            <a:ext cx="8712000" cy="298144"/>
          </a:xfrm>
          <a:prstGeom prst="rect">
            <a:avLst/>
          </a:prstGeom>
          <a:noFill/>
        </p:spPr>
        <p:txBody>
          <a:bodyPr wrap="square" anchor="t" lIns="54000" rIns="54000"/>
          <a:lstStyle/>
          <a:p>
            <a:pPr algn="l"/>
            <a:r>
              <a:rPr sz="1200" b="0">
                <a:solidFill>
                  <a:srgbClr val="060606"/>
                </a:solidFill>
                <a:latin typeface="Helvetica"/>
              </a:rPr>
              <a:t>… et au 31/08/2026, au franc près.</a:t>
            </a:r>
          </a:p>
        </p:txBody>
      </p:sp>
      <p:sp>
        <p:nvSpPr>
          <p:cNvPr id="43" name="Oval 42"/>
          <p:cNvSpPr/>
          <p:nvPr/>
        </p:nvSpPr>
        <p:spPr>
          <a:xfrm>
            <a:off x="503999" y="413036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4112365"/>
            <a:ext cx="8712000" cy="298144"/>
          </a:xfrm>
          <a:prstGeom prst="rect">
            <a:avLst/>
          </a:prstGeom>
          <a:noFill/>
        </p:spPr>
        <p:txBody>
          <a:bodyPr wrap="square" anchor="t" lIns="54000" rIns="54000"/>
          <a:lstStyle/>
          <a:p>
            <a:pPr algn="l"/>
            <a:r>
              <a:rPr sz="1200" b="0">
                <a:solidFill>
                  <a:srgbClr val="060606"/>
                </a:solidFill>
                <a:latin typeface="Helvetica"/>
              </a:rPr>
              <a:t>Seul le numéro de compte change en 2024, du compte 19 vers le compte 158.</a:t>
            </a:r>
          </a:p>
        </p:txBody>
      </p:sp>
      <p:sp>
        <p:nvSpPr>
          <p:cNvPr id="45" name="TextBox 44"/>
          <p:cNvSpPr txBox="1"/>
          <p:nvPr/>
        </p:nvSpPr>
        <p:spPr>
          <a:xfrm>
            <a:off x="503999" y="4554510"/>
            <a:ext cx="11232000" cy="1313489"/>
          </a:xfrm>
          <a:prstGeom prst="rect">
            <a:avLst/>
          </a:prstGeom>
          <a:noFill/>
        </p:spPr>
        <p:txBody>
          <a:bodyPr wrap="square" lIns="54000" rIns="54000"/>
          <a:lstStyle/>
          <a:p>
            <a:pPr algn="just">
              <a:spcAft>
                <a:spcPts val="600"/>
              </a:spcAft>
            </a:pPr>
            <a:r>
              <a:rPr sz="1200" b="1">
                <a:solidFill>
                  <a:srgbClr val="060606"/>
                </a:solidFill>
                <a:latin typeface="Helvetica"/>
              </a:rPr>
              <a:t>La provision n'est pas recalculée.</a:t>
            </a:r>
            <a:r>
              <a:rPr sz="1200" b="0">
                <a:solidFill>
                  <a:srgbClr val="060606"/>
                </a:solidFill>
                <a:latin typeface="Helvetica"/>
              </a:rPr>
              <a:t> Un montant identique au franc près pendant sept ans ne peut pas résulter d'une évaluation des dossiers en cours.</a:t>
            </a:r>
          </a:p>
          <a:p>
            <a:pPr algn="just">
              <a:spcAft>
                <a:spcPts val="600"/>
              </a:spcAft>
            </a:pPr>
            <a:r>
              <a:rPr sz="1200" b="0">
                <a:solidFill>
                  <a:srgbClr val="060606"/>
                </a:solidFill>
                <a:latin typeface="Helvetica"/>
              </a:rPr>
              <a:t>Le règlement d'exécution n° 004/2022 impose une provision pour prestations à payer calculée exercice par exercice, dossier par dossier, augmentée des sinistres non déclarés (art. 10). Le compte 158 est par ailleurs réservé aux provisions réglementées à caractère fiscal.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892525749"/>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techniques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ne couvre plus que 21 mois de prestations, contre 115 en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 prestations mensuelles : 115,14 mois en 2021, 29,50 en 2025, 21,48 en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28 : Mois de prestations couverts par les provisions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de prestations</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provision vaut 4 829 298 290 FCFA chaque année.</a:t>
            </a:r>
          </a:p>
          <a:p>
            <a:pPr algn="just">
              <a:spcAft>
                <a:spcPts val="600"/>
              </a:spcAft>
            </a:pPr>
            <a:r>
              <a:rPr sz="1400" b="1">
                <a:solidFill>
                  <a:srgbClr val="060606"/>
                </a:solidFill>
                <a:latin typeface="Helvetica"/>
              </a:rPr>
              <a:t>Les prestations mensuelles passent de 41 942 486 FCFA en 2021 à 224 856 973 FCFA en 2026.</a:t>
            </a:r>
            <a:r>
              <a:rPr sz="1400" b="0">
                <a:solidFill>
                  <a:srgbClr val="060606"/>
                </a:solidFill>
                <a:latin typeface="Helvetica"/>
              </a:rPr>
              <a:t> La provision représente donc de moins en moins de mois de prestations.</a:t>
            </a:r>
          </a:p>
          <a:p>
            <a:pPr algn="just">
              <a:spcAft>
                <a:spcPts val="600"/>
              </a:spcAft>
            </a:pPr>
            <a:r>
              <a:rPr sz="1400" b="1">
                <a:solidFill>
                  <a:srgbClr val="060606"/>
                </a:solidFill>
                <a:latin typeface="Helvetica"/>
              </a:rPr>
              <a:t>Le calcul de la provision (PSAP, Chain Ladder) suppose les bases de prestations demandées</a:t>
            </a:r>
            <a:r>
              <a:rPr sz="1400" b="0">
                <a:solidFill>
                  <a:srgbClr val="060606"/>
                </a:solidFill>
                <a:latin typeface="Helvetica"/>
              </a:rPr>
              <a:t> (partie 12).</a:t>
            </a:r>
          </a:p>
          <a:p>
            <a:pPr algn="just">
              <a:spcAft>
                <a:spcPts val="600"/>
              </a:spcAft>
            </a:pPr>
            <a:r>
              <a:rPr sz="1400" b="0">
                <a:solidFill>
                  <a:srgbClr val="060606"/>
                </a:solidFill>
                <a:latin typeface="Helvetica"/>
              </a:rPr>
              <a:t>Si les délais de paiement s'allongent pendant que les prestations augmentent, la provision deviendra insuffisante : son recalcul est la première tâche dès réception des bases de prestations.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15801 et 15802 (19011 et 19012 avant leur reclassement) des balances « BALANCE FORMAT EXCEL DE 09-2020 AU 31-12-2020.xlsx » à « BALANCE FPPN DU 01-01-2026 AU 31-08-2026.xlsx », rapportés aux prestations de l'année. 2026 sur huit mois.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PSAP : provision pour sinistres à payer</a:t>
            </a:r>
          </a:p>
        </p:txBody>
      </p:sp>
    </p:spTree>
    <p:extLst>
      <p:ext uri="{BB962C8B-B14F-4D97-AF65-F5344CB8AC3E}">
        <p14:creationId xmlns:p14="http://schemas.microsoft.com/office/powerpoint/2010/main" val="3126433200"/>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attendues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Seules la maladie et le décès ont une provision, figée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d'exécution n° 004/2022 prévoit quatre provisions techniques. Le FPPN n'en a constitué qu'une, sans la recalculer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7 à 11. PCMS.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39 : Provisions exigées et provisions au bilan, par produit</a:t>
            </a:r>
          </a:p>
        </p:txBody>
      </p:sp>
      <p:graphicFrame>
        <p:nvGraphicFramePr>
          <p:cNvPr id="32" name="Table 31"/>
          <p:cNvGraphicFramePr>
            <a:graphicFrameLocks noGrp="1"/>
          </p:cNvGraphicFramePr>
          <p:nvPr/>
        </p:nvGraphicFramePr>
        <p:xfrm>
          <a:off x="503999" y="1655999"/>
          <a:ext cx="11231998" cy="2575925"/>
        </p:xfrm>
        <a:graphic>
          <a:graphicData uri="http://schemas.openxmlformats.org/drawingml/2006/table">
            <a:tbl>
              <a:tblPr firstRow="0" bandRow="0">
                <a:tableStyleId>{5940675A-B579-460E-94D1-54222C63F5DA}</a:tableStyleId>
              </a:tblPr>
              <a:tblGrid>
                <a:gridCol w="1655999"/>
                <a:gridCol w="3384000"/>
                <a:gridCol w="2520000"/>
                <a:gridCol w="3671999"/>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exigée (texte)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Au bilan du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hérité d'environ 2004, non calculé. Besoin mesuré de quelques millions de FCFA (méthode courte).</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Décès (obsèques)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Montant hérité d'environ 2004, inchangé. Le calcul annuel des allocations restant à payer est passé au compte 41591000.</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Toutes garanties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pour risques en cours (art. 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Cotisation précomptée sur le mois qu'elle couvre : provision nulle (statuts, art. 88).</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si un capital est garanti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Dettes d'épargne seulement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Intérêts dus non comptabilisés : 3 278 913 238 FCFA au 31/08/2026 (PEP 3,5 %, EFC 5,5 %).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Santé des retraités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mathématique si garantie à vie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Âges et règles de la garantie non reçus.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Prêts du Grenier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Dépréciation des créances (PCMS, prudence)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depuis 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Dépréciation calculée avec la politique de crédit du Grenier (40 %, 80 %, 100 %).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(risque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Compte de tiers 47111106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Trop-perçus à traiter comme une dette envers les adhérents.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Personnel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Indemnités de départ à la retraite (SYSCOHADA révisé)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annuelle au compte 196, méthode non communiquée.</a:t>
                      </a:r>
                    </a:p>
                  </a:txBody>
                  <a:tcPr marL="43200" marR="43200" marT="14400" marB="14400" anchor="ctr">
                    <a:solidFill>
                      <a:srgbClr val="F2F2F2"/>
                    </a:solidFill>
                  </a:tcPr>
                </a:tc>
              </a:tr>
            </a:tbl>
          </a:graphicData>
        </a:graphic>
      </p:graphicFrame>
      <p:sp>
        <p:nvSpPr>
          <p:cNvPr id="33" name="TextBox 32"/>
          <p:cNvSpPr txBox="1"/>
          <p:nvPr/>
        </p:nvSpPr>
        <p:spPr>
          <a:xfrm>
            <a:off x="503999" y="4339929"/>
            <a:ext cx="11232000" cy="162000"/>
          </a:xfrm>
          <a:prstGeom prst="rect">
            <a:avLst/>
          </a:prstGeom>
          <a:noFill/>
        </p:spPr>
        <p:txBody>
          <a:bodyPr wrap="square" anchor="t" lIns="54000" rIns="54000"/>
          <a:lstStyle/>
          <a:p>
            <a:pPr algn="l"/>
            <a:r>
              <a:rPr sz="850" b="0">
                <a:solidFill>
                  <a:srgbClr val="53565A"/>
                </a:solidFill>
                <a:latin typeface="Helvetica"/>
              </a:rPr>
              <a:t>Valable pour : provisions au 31/12/2025 des comptes 158 et 196 de « BALANCE FPPN 2025.xlsx ». Besoins mesurés dans les diapositives suivantes de la partie 9.</a:t>
            </a:r>
          </a:p>
        </p:txBody>
      </p:sp>
      <p:sp>
        <p:nvSpPr>
          <p:cNvPr id="34" name="TextBox 33"/>
          <p:cNvSpPr txBox="1"/>
          <p:nvPr/>
        </p:nvSpPr>
        <p:spPr>
          <a:xfrm>
            <a:off x="503999" y="4645929"/>
            <a:ext cx="11232000" cy="1222070"/>
          </a:xfrm>
          <a:prstGeom prst="rect">
            <a:avLst/>
          </a:prstGeom>
          <a:noFill/>
        </p:spPr>
        <p:txBody>
          <a:bodyPr wrap="square" lIns="54000" rIns="54000"/>
          <a:lstStyle/>
          <a:p>
            <a:pPr algn="just">
              <a:spcAft>
                <a:spcPts val="600"/>
              </a:spcAft>
            </a:pPr>
            <a:r>
              <a:rPr sz="1300" b="1">
                <a:solidFill>
                  <a:srgbClr val="060606"/>
                </a:solidFill>
                <a:latin typeface="Helvetica"/>
              </a:rPr>
              <a:t>La revue produit par produit montre trois manques : provision non recalculée, provisions mathématiques absentes, dépréciation des prêts absente.</a:t>
            </a:r>
            <a:r>
              <a:rPr sz="1300" b="0">
                <a:solidFill>
                  <a:srgbClr val="060606"/>
                </a:solidFill>
                <a:latin typeface="Helvetica"/>
              </a:rPr>
              <a:t> Le sens des écritures est correct (provisions au passif, au crédit), mais leur montant n'est pas une estimation.</a:t>
            </a:r>
          </a:p>
          <a:p>
            <a:pPr algn="just">
              <a:spcAft>
                <a:spcPts val="600"/>
              </a:spcAft>
            </a:pPr>
            <a:r>
              <a:rPr sz="1300" b="0">
                <a:solidFill>
                  <a:srgbClr val="060606"/>
                </a:solidFill>
                <a:latin typeface="Helvetica"/>
              </a:rPr>
              <a:t>Le FPPN ne peut pas justifier « à tout moment » des provisions suffisantes, comme l'exige l'article 7 du règlement d'exécution n° 004/2022. Les diapositives suivantes détaillent chaque point.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PSAP : provision pour sinistres à payer | SYSCOHADA : système comptable de l'OHADA | GNA : assureur de la flotte automobile (compte 47111106)</a:t>
            </a:r>
          </a:p>
        </p:txBody>
      </p:sp>
    </p:spTree>
    <p:extLst>
      <p:ext uri="{BB962C8B-B14F-4D97-AF65-F5344CB8AC3E}">
        <p14:creationId xmlns:p14="http://schemas.microsoft.com/office/powerpoint/2010/main" val="1471796943"/>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PSAP et dettes envers les cliniques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factures des cliniques déjà enregistrées ne représentent qu'une petite part de la provision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PSAP maladie 2 867 602 878 FCFA, dettes envers les cliniques 242 140 869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29 : PSAP maladie et dettes envers les cliniques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factures enregistrées représentent 1,64 mois de prestations en 2025, la PSAP 19,42 mois.</a:t>
            </a:r>
            <a:r>
              <a:rPr sz="1400" b="0">
                <a:solidFill>
                  <a:srgbClr val="060606"/>
                </a:solidFill>
                <a:latin typeface="Helvetica"/>
              </a:rPr>
              <a:t> La PSAP vaut 11,84 fois les dettes envers les cliniques.</a:t>
            </a:r>
          </a:p>
          <a:p>
            <a:pPr algn="just">
              <a:spcAft>
                <a:spcPts val="600"/>
              </a:spcAft>
            </a:pPr>
            <a:r>
              <a:rPr sz="1400" b="1">
                <a:solidFill>
                  <a:srgbClr val="060606"/>
                </a:solidFill>
                <a:latin typeface="Helvetica"/>
              </a:rPr>
              <a:t>La provision décès représente 121,88 mois de prestations décès de 2025.</a:t>
            </a:r>
            <a:r>
              <a:rPr sz="1400" b="0">
                <a:solidFill>
                  <a:srgbClr val="060606"/>
                </a:solidFill>
                <a:latin typeface="Helvetica"/>
              </a:rPr>
              <a:t> Un tel niveau n'a de sens que s'il correspond à des dossiers anciens non payés, dont la liste a été demandée.</a:t>
            </a:r>
          </a:p>
          <a:p>
            <a:pPr algn="just">
              <a:spcAft>
                <a:spcPts val="600"/>
              </a:spcAft>
            </a:pPr>
            <a:r>
              <a:rPr sz="1400" b="1">
                <a:solidFill>
                  <a:srgbClr val="060606"/>
                </a:solidFill>
                <a:latin typeface="Helvetica"/>
              </a:rPr>
              <a:t>Sans la base des prestations, on ne peut dire si la provision est trop forte ou trop faible.</a:t>
            </a:r>
            <a:r>
              <a:rPr sz="1400" b="0">
                <a:solidFill>
                  <a:srgbClr val="060606"/>
                </a:solidFill>
                <a:latin typeface="Helvetica"/>
              </a:rPr>
              <a:t> On peut seulement dire qu'elle ne suit ni les dettes, ni les prestations.</a:t>
            </a:r>
          </a:p>
          <a:p>
            <a:pPr algn="just">
              <a:spcAft>
                <a:spcPts val="600"/>
              </a:spcAft>
            </a:pPr>
            <a:r>
              <a:rPr sz="1400" b="0">
                <a:solidFill>
                  <a:srgbClr val="060606"/>
                </a:solidFill>
                <a:latin typeface="Helvetica"/>
              </a:rPr>
              <a:t>Les trois diapositives suivantes mesurent la provision maladie nécessaire avec la méthode courte que permettent le règlement intérieur et les factures reçues.</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compte 15801000 et compte 40110000 (dettes envers les cliniques) des balances « BALANCE FORMAT EXCEL DE 09-2020 AU 31-12-2020.xlsx » à « BALANCE FPPN DU 01-01-2026 AU 31-08-2026.xlsx », au 31/12 de 2020 à 2025 et au 31/08/2026.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PSAP : provision pour sinistres à payer</a:t>
            </a:r>
          </a:p>
        </p:txBody>
      </p:sp>
    </p:spTree>
    <p:extLst>
      <p:ext uri="{BB962C8B-B14F-4D97-AF65-F5344CB8AC3E}">
        <p14:creationId xmlns:p14="http://schemas.microsoft.com/office/powerpoint/2010/main" val="117984458"/>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maladie : délais de paiement des cliniques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délai moyen de paiement passe de 53,4 mois en 2020 à 2,62 mois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règle des trois mois (règlement intérieur, art. 52) est approchée depuis 2024 mais pas respectée chaque année. Elle justifie une provision calculée sur quelques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intérieur du FPPN édité le 15/06/2023, art. 52, 57 et 60. Balances des comptes du FPPN de 2020 au 31/08/2026 (provisoire), fichiers « BALANCE … » listés en annexe « Fichiers sources ». Traitements Adenka. Onglet 18a du classeur des calculs</a:t>
            </a:r>
          </a:p>
        </p:txBody>
      </p:sp>
      <p:sp>
        <p:nvSpPr>
          <p:cNvPr id="31" name="TextBox 30"/>
          <p:cNvSpPr txBox="1"/>
          <p:nvPr/>
        </p:nvSpPr>
        <p:spPr>
          <a:xfrm>
            <a:off x="503999" y="1386000"/>
            <a:ext cx="10872000" cy="216000"/>
          </a:xfrm>
          <a:prstGeom prst="rect">
            <a:avLst/>
          </a:prstGeom>
          <a:noFill/>
        </p:spPr>
        <p:txBody>
          <a:bodyPr wrap="square" anchor="t" lIns="54000" rIns="54000"/>
          <a:lstStyle/>
          <a:p>
            <a:pPr algn="ctr"/>
            <a:r>
              <a:rPr sz="1200" b="0">
                <a:solidFill>
                  <a:srgbClr val="EFAC62"/>
                </a:solidFill>
                <a:latin typeface="Helvetica"/>
              </a:rPr>
              <a:t>Tableau 40 : Factures de cliniques (compte 40110000) et délai moyen de paiement</a:t>
            </a:r>
          </a:p>
        </p:txBody>
      </p:sp>
      <p:graphicFrame>
        <p:nvGraphicFramePr>
          <p:cNvPr id="32" name="Table 31"/>
          <p:cNvGraphicFramePr>
            <a:graphicFrameLocks noGrp="1"/>
          </p:cNvGraphicFramePr>
          <p:nvPr/>
        </p:nvGraphicFramePr>
        <p:xfrm>
          <a:off x="503999" y="1655999"/>
          <a:ext cx="10871998" cy="1558144"/>
        </p:xfrm>
        <a:graphic>
          <a:graphicData uri="http://schemas.openxmlformats.org/drawingml/2006/table">
            <a:tbl>
              <a:tblPr firstRow="0" bandRow="0">
                <a:tableStyleId>{5940675A-B579-460E-94D1-54222C63F5DA}</a:tableStyleId>
              </a:tblPr>
              <a:tblGrid>
                <a:gridCol w="1152000"/>
                <a:gridCol w="2015999"/>
                <a:gridCol w="2015999"/>
                <a:gridCol w="2088000"/>
                <a:gridCol w="1440000"/>
                <a:gridCol w="2160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enregistrées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payées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Non payées en fin de période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Délai moyen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maladie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313 578 298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315 748 758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1 394 774 547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53,38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205 812 056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103 385 027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622 939 017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875 220 557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101,59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101 453 171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104 085 535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446 161 744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533 144 348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61,47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115 237 773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312 091 366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573 964 958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271 270 756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10,43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521 004 362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613 863 474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648 416 917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236 353 873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1 060 419 627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1 107 859 142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1 102 072 146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242 140 869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1 104 671 563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656 525 181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690 234 451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1 646 039 117 FCFA</a:t>
                      </a:r>
                    </a:p>
                  </a:txBody>
                  <a:tcPr marL="43200" marR="43200" marT="14400" marB="14400" anchor="ctr">
                    <a:solidFill>
                      <a:srgbClr val="FFFFFF"/>
                    </a:solidFill>
                  </a:tcPr>
                </a:tc>
              </a:tr>
            </a:tbl>
          </a:graphicData>
        </a:graphic>
      </p:graphicFrame>
      <p:sp>
        <p:nvSpPr>
          <p:cNvPr id="33" name="TextBox 32"/>
          <p:cNvSpPr txBox="1"/>
          <p:nvPr/>
        </p:nvSpPr>
        <p:spPr>
          <a:xfrm>
            <a:off x="503999" y="3322149"/>
            <a:ext cx="11232000" cy="306000"/>
          </a:xfrm>
          <a:prstGeom prst="rect">
            <a:avLst/>
          </a:prstGeom>
          <a:noFill/>
        </p:spPr>
        <p:txBody>
          <a:bodyPr wrap="square" anchor="t" lIns="54000" rIns="54000"/>
          <a:lstStyle/>
          <a:p>
            <a:pPr algn="l"/>
            <a:r>
              <a:rPr sz="850" b="0">
                <a:solidFill>
                  <a:srgbClr val="53565A"/>
                </a:solidFill>
                <a:latin typeface="Helvetica"/>
              </a:rPr>
              <a:t>Valable pour : factures de cliniques enregistrées au compte 40110000, exercices 2020 à 2025 et du 01/01 au 31/08/2026. Ne couvre pas les remboursements aux mutualistes ni les bons payés hors de ce compte.</a:t>
            </a:r>
          </a:p>
        </p:txBody>
      </p:sp>
      <p:sp>
        <p:nvSpPr>
          <p:cNvPr id="34" name="TextBox 33"/>
          <p:cNvSpPr txBox="1"/>
          <p:nvPr/>
        </p:nvSpPr>
        <p:spPr>
          <a:xfrm>
            <a:off x="503999" y="3772149"/>
            <a:ext cx="11232000" cy="2095850"/>
          </a:xfrm>
          <a:prstGeom prst="rect">
            <a:avLst/>
          </a:prstGeom>
          <a:noFill/>
        </p:spPr>
        <p:txBody>
          <a:bodyPr wrap="square" lIns="54000" rIns="54000"/>
          <a:lstStyle/>
          <a:p>
            <a:pPr algn="just">
              <a:spcAft>
                <a:spcPts val="600"/>
              </a:spcAft>
            </a:pPr>
            <a:r>
              <a:rPr sz="1300" b="1">
                <a:solidFill>
                  <a:srgbClr val="060606"/>
                </a:solidFill>
                <a:latin typeface="Helvetica"/>
              </a:rPr>
              <a:t>De 2020 à 2022, les factures non payées représentent de 53 à 102 mois de factures : ce sont des arriérés, non un délai normal.</a:t>
            </a:r>
            <a:r>
              <a:rPr sz="1300" b="0">
                <a:solidFill>
                  <a:srgbClr val="060606"/>
                </a:solidFill>
                <a:latin typeface="Helvetica"/>
              </a:rPr>
              <a:t> Depuis 2024, le délai moyen est compris entre 2,62 et 5,00 mois.</a:t>
            </a:r>
          </a:p>
          <a:p>
            <a:pPr algn="just">
              <a:spcAft>
                <a:spcPts val="600"/>
              </a:spcAft>
            </a:pPr>
            <a:r>
              <a:rPr sz="1300" b="1">
                <a:solidFill>
                  <a:srgbClr val="060606"/>
                </a:solidFill>
                <a:latin typeface="Helvetica"/>
              </a:rPr>
              <a:t>La règle des trois mois est donc approchée, pas garantie.</a:t>
            </a:r>
            <a:r>
              <a:rPr sz="1300" b="0">
                <a:solidFill>
                  <a:srgbClr val="060606"/>
                </a:solidFill>
                <a:latin typeface="Helvetica"/>
              </a:rPr>
              <a:t> Elle limite la durée pendant laquelle une prestation reste à payer, ce qui rend inutile une méthode sur plusieurs années (voir l'annexe des méthodes non retenues).</a:t>
            </a:r>
          </a:p>
          <a:p>
            <a:pPr algn="just">
              <a:spcAft>
                <a:spcPts val="600"/>
              </a:spcAft>
            </a:pPr>
            <a:r>
              <a:rPr sz="1300" b="0">
                <a:solidFill>
                  <a:srgbClr val="060606"/>
                </a:solidFill>
                <a:latin typeface="Helvetica"/>
              </a:rPr>
              <a:t>La provision maladie se calcule sur quelques mois : factures reçues non payées (déjà au passif) et soins de l'année facturés plus tard.</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68688586"/>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maladie : factures arrivées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Moins de 1 % des factures d'une année sont enregistrées l'année suivante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soins d'une année facturés l'année suivante sont le seul montant que la provision maladie doit couvrir en plus des factures reçues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grands livres des tiers 2023 à 2025 (« GRAND LIVRE DES TIERS FPPN 2023.xlsx » et suivants) (journal SIN, colonne « N° facture »). Circulaire n° 00230/CIMA/CRCA/PDT/2005. Onglet 18b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41 : Factures de cliniques d'une année enregistrées l'année suivante</a:t>
            </a:r>
          </a:p>
        </p:txBody>
      </p:sp>
      <p:graphicFrame>
        <p:nvGraphicFramePr>
          <p:cNvPr id="32" name="Table 31"/>
          <p:cNvGraphicFramePr>
            <a:graphicFrameLocks noGrp="1"/>
          </p:cNvGraphicFramePr>
          <p:nvPr/>
        </p:nvGraphicFramePr>
        <p:xfrm>
          <a:off x="503999" y="1655999"/>
          <a:ext cx="11232000" cy="916241"/>
        </p:xfrm>
        <a:graphic>
          <a:graphicData uri="http://schemas.openxmlformats.org/drawingml/2006/table">
            <a:tbl>
              <a:tblPr firstRow="0" bandRow="0">
                <a:tableStyleId>{5940675A-B579-460E-94D1-54222C63F5DA}</a:tableStyleId>
              </a:tblPr>
              <a:tblGrid>
                <a:gridCol w="1080000"/>
                <a:gridCol w="3384000"/>
                <a:gridCol w="1872000"/>
                <a:gridCol w="1584000"/>
                <a:gridCol w="1872000"/>
                <a:gridCol w="1440000"/>
              </a:tblGrid>
              <a:tr h="331937">
                <a:tc>
                  <a:txBody>
                    <a:bodyPr/>
                    <a:lstStyle/>
                    <a:p>
                      <a:pPr marL="0" indent="0" lvl="0">
                        <a:buNone/>
                      </a:pPr>
                      <a:r>
                        <a:rPr sz="9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Grand livre lu</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du journal SIN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Part dont l'année est lisible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de l'année de clôture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Part en retard</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31/12/2022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GRAND LIVRE DES TIERS FPPN 2023.xlsx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309 338 647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81,29 %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2 748 440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0,89 %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31/12/2023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GRAND LIVRE DES TIERS 2024.xlsx</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609 600 324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86,95 %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1 308 550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31/12/2024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GRAND LIVRES DES TIERS 2025.xlsx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844 124 742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15,57 %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1 215 600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0,14 %</a:t>
                      </a:r>
                    </a:p>
                  </a:txBody>
                  <a:tcPr marL="43200" marR="43200" marT="14400" marB="14400" anchor="ctr">
                    <a:solidFill>
                      <a:srgbClr val="FFFFFF"/>
                    </a:solidFill>
                  </a:tcPr>
                </a:tc>
              </a:tr>
            </a:tbl>
          </a:graphicData>
        </a:graphic>
      </p:graphicFrame>
      <p:sp>
        <p:nvSpPr>
          <p:cNvPr id="33" name="TextBox 32"/>
          <p:cNvSpPr txBox="1"/>
          <p:nvPr/>
        </p:nvSpPr>
        <p:spPr>
          <a:xfrm>
            <a:off x="503999" y="2680243"/>
            <a:ext cx="11232000" cy="162000"/>
          </a:xfrm>
          <a:prstGeom prst="rect">
            <a:avLst/>
          </a:prstGeom>
          <a:noFill/>
        </p:spPr>
        <p:txBody>
          <a:bodyPr wrap="square" anchor="t" lIns="54000" rIns="54000"/>
          <a:lstStyle/>
          <a:p>
            <a:pPr algn="l"/>
            <a:r>
              <a:rPr sz="850" b="0">
                <a:solidFill>
                  <a:srgbClr val="53565A"/>
                </a:solidFill>
                <a:latin typeface="Helvetica"/>
              </a:rPr>
              <a:t>Valable pour : factures de cliniques enregistrées au journal SIN en 2023, 2024 et 2025, dont l'année figure dans le numéro. Ne couvre pas les factures sans année lisible.</a:t>
            </a:r>
          </a:p>
        </p:txBody>
      </p:sp>
      <p:sp>
        <p:nvSpPr>
          <p:cNvPr id="34" name="TextBox 33"/>
          <p:cNvSpPr txBox="1"/>
          <p:nvPr/>
        </p:nvSpPr>
        <p:spPr>
          <a:xfrm>
            <a:off x="503999" y="2986243"/>
            <a:ext cx="11232000" cy="2881756"/>
          </a:xfrm>
          <a:prstGeom prst="rect">
            <a:avLst/>
          </a:prstGeom>
          <a:noFill/>
        </p:spPr>
        <p:txBody>
          <a:bodyPr wrap="square" lIns="54000" rIns="54000"/>
          <a:lstStyle/>
          <a:p>
            <a:pPr algn="just">
              <a:spcAft>
                <a:spcPts val="600"/>
              </a:spcAft>
            </a:pPr>
            <a:r>
              <a:rPr sz="1300" b="1">
                <a:solidFill>
                  <a:srgbClr val="060606"/>
                </a:solidFill>
                <a:latin typeface="Helvetica"/>
              </a:rPr>
              <a:t>Les factures en retard représentent de 1 215 600 FCFA à 2 748 440 FCFA selon la clôture.</a:t>
            </a:r>
            <a:r>
              <a:rPr sz="1300" b="0">
                <a:solidFill>
                  <a:srgbClr val="060606"/>
                </a:solidFill>
                <a:latin typeface="Helvetica"/>
              </a:rPr>
              <a:t> Le FPPN enregistre l'essentiel des factures de l'année avant le 31 décembre.</a:t>
            </a:r>
          </a:p>
          <a:p>
            <a:pPr algn="just">
              <a:spcAft>
                <a:spcPts val="600"/>
              </a:spcAft>
            </a:pPr>
            <a:r>
              <a:rPr sz="1300" b="1">
                <a:solidFill>
                  <a:srgbClr val="060606"/>
                </a:solidFill>
                <a:latin typeface="Helvetica"/>
              </a:rPr>
              <a:t>Dans le grand livre 2025, l'année n'est lisible que pour 15,57 % des factures</a:t>
            </a:r>
            <a:r>
              <a:rPr sz="1300" b="0">
                <a:solidFill>
                  <a:srgbClr val="060606"/>
                </a:solidFill>
                <a:latin typeface="Helvetica"/>
              </a:rPr>
              <a:t> : la clôture 2024 est donc mesurée avec moins de précision.</a:t>
            </a:r>
          </a:p>
          <a:p>
            <a:pPr algn="just">
              <a:spcAft>
                <a:spcPts val="600"/>
              </a:spcAft>
            </a:pPr>
            <a:r>
              <a:rPr sz="1300" b="0">
                <a:solidFill>
                  <a:srgbClr val="060606"/>
                </a:solidFill>
                <a:latin typeface="Helvetica"/>
              </a:rPr>
              <a:t>La cadence de première année est faible : la provision pour sinistres tardifs en maladie est de l'ordre de quelques millions de FCFA, non de quelques milliards.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a:t>
            </a:r>
          </a:p>
        </p:txBody>
      </p:sp>
    </p:spTree>
    <p:extLst>
      <p:ext uri="{BB962C8B-B14F-4D97-AF65-F5344CB8AC3E}">
        <p14:creationId xmlns:p14="http://schemas.microsoft.com/office/powerpoint/2010/main" val="967725427"/>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maladie : montant nécessaire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besoin estimé est de quelques millions de FCFA. La provision du bilan vaut 2 867 602 878 FCFA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31/12/2024 : besoin estimé 12 481 392 FCFA, soit 230 fois moins que la provision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du FPPN édités le 15/06/2023, art. 85 et 89. Règlement d'exécution n° 004/2022/COM/UEMOA du 1er juin 2022, art. 10. Grands livres des tiers 2023 à 2025 (« GRAND LIVRE DES TIERS FPPN 2023.xlsx » et suivants). Balances des comptes du FPPN de 2020 au 31/08/2026 (provisoire), fichiers « BALANCE … » listés en annexe « Fichiers sources ». Traitements Adenka. Onglet 18c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42 : Provision maladie nécessaire et provision du bilan</a:t>
            </a:r>
          </a:p>
        </p:txBody>
      </p:sp>
      <p:graphicFrame>
        <p:nvGraphicFramePr>
          <p:cNvPr id="32" name="Table 31"/>
          <p:cNvGraphicFramePr>
            <a:graphicFrameLocks noGrp="1"/>
          </p:cNvGraphicFramePr>
          <p:nvPr/>
        </p:nvGraphicFramePr>
        <p:xfrm>
          <a:off x="503999" y="1655999"/>
          <a:ext cx="11231998" cy="916241"/>
        </p:xfrm>
        <a:graphic>
          <a:graphicData uri="http://schemas.openxmlformats.org/drawingml/2006/table">
            <a:tbl>
              <a:tblPr firstRow="0" bandRow="0">
                <a:tableStyleId>{5940675A-B579-460E-94D1-54222C63F5DA}</a:tableStyleId>
              </a:tblPr>
              <a:tblGrid>
                <a:gridCol w="1080000"/>
                <a:gridCol w="2015999"/>
                <a:gridCol w="1872000"/>
                <a:gridCol w="2160000"/>
                <a:gridCol w="2015999"/>
                <a:gridCol w="2088000"/>
              </a:tblGrid>
              <a:tr h="331937">
                <a:tc>
                  <a:txBody>
                    <a:bodyPr/>
                    <a:lstStyle/>
                    <a:p>
                      <a:pPr marL="0" indent="0" lvl="0">
                        <a:buNone/>
                      </a:pPr>
                      <a:r>
                        <a:rPr sz="9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reçues non payées (au passif)</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Factures en retard mesurées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nécessaire (estimation élargie)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du bilan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31/12/2022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533 144 348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2 748 440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5 644 139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2 861 958 739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31/12/2023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271 270 756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1 308 550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2 599 652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2 865 003 226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31/12/2024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236 353 873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1 215 600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12 481 392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2 855 121 486 FCFA</a:t>
                      </a:r>
                    </a:p>
                  </a:txBody>
                  <a:tcPr marL="43200" marR="43200" marT="14400" marB="14400" anchor="ctr">
                    <a:solidFill>
                      <a:srgbClr val="FFFFFF"/>
                    </a:solidFill>
                  </a:tcPr>
                </a:tc>
              </a:tr>
            </a:tbl>
          </a:graphicData>
        </a:graphic>
      </p:graphicFrame>
      <p:sp>
        <p:nvSpPr>
          <p:cNvPr id="33" name="TextBox 32"/>
          <p:cNvSpPr txBox="1"/>
          <p:nvPr/>
        </p:nvSpPr>
        <p:spPr>
          <a:xfrm>
            <a:off x="503999" y="2680243"/>
            <a:ext cx="11232000" cy="162000"/>
          </a:xfrm>
          <a:prstGeom prst="rect">
            <a:avLst/>
          </a:prstGeom>
          <a:noFill/>
        </p:spPr>
        <p:txBody>
          <a:bodyPr wrap="square" anchor="t" lIns="54000" rIns="54000"/>
          <a:lstStyle/>
          <a:p>
            <a:pPr algn="l"/>
            <a:r>
              <a:rPr sz="850" b="0">
                <a:solidFill>
                  <a:srgbClr val="53565A"/>
                </a:solidFill>
                <a:latin typeface="Helvetica"/>
              </a:rPr>
              <a:t>Valable pour : clôtures 2022, 2023 et 2024. Prestations maladie des balances. Factures de cliniques du journal SIN.</a:t>
            </a:r>
          </a:p>
        </p:txBody>
      </p:sp>
      <p:sp>
        <p:nvSpPr>
          <p:cNvPr id="34" name="TextBox 33"/>
          <p:cNvSpPr txBox="1"/>
          <p:nvPr/>
        </p:nvSpPr>
        <p:spPr>
          <a:xfrm>
            <a:off x="503999" y="2986243"/>
            <a:ext cx="11232000" cy="2881756"/>
          </a:xfrm>
          <a:prstGeom prst="rect">
            <a:avLst/>
          </a:prstGeom>
          <a:noFill/>
        </p:spPr>
        <p:txBody>
          <a:bodyPr wrap="square" lIns="54000" rIns="54000"/>
          <a:lstStyle/>
          <a:p>
            <a:pPr algn="just">
              <a:spcAft>
                <a:spcPts val="600"/>
              </a:spcAft>
            </a:pPr>
            <a:r>
              <a:rPr sz="1300" b="1">
                <a:solidFill>
                  <a:srgbClr val="060606"/>
                </a:solidFill>
                <a:latin typeface="Helvetica"/>
              </a:rPr>
              <a:t>La provision maladie du bilan ne correspond à aucun calcul et vaut de 230 à 1 103 fois le besoin mesuré.</a:t>
            </a:r>
            <a:r>
              <a:rPr sz="1300" b="0">
                <a:solidFill>
                  <a:srgbClr val="060606"/>
                </a:solidFill>
                <a:latin typeface="Helvetica"/>
              </a:rPr>
              <a:t> Son montant est identique de 2020 au 31/08/2026, alors que les prestations maladie ont été multipliées par 8,6 de 2020 à 2025.</a:t>
            </a:r>
          </a:p>
          <a:p>
            <a:pPr algn="just">
              <a:spcAft>
                <a:spcPts val="600"/>
              </a:spcAft>
            </a:pPr>
            <a:r>
              <a:rPr sz="1300" b="1">
                <a:solidFill>
                  <a:srgbClr val="060606"/>
                </a:solidFill>
                <a:latin typeface="Helvetica"/>
              </a:rPr>
              <a:t>Le besoin n'est pas nul</a:t>
            </a:r>
            <a:r>
              <a:rPr sz="1300" b="0">
                <a:solidFill>
                  <a:srgbClr val="060606"/>
                </a:solidFill>
                <a:latin typeface="Helvetica"/>
              </a:rPr>
              <a:t> : l'article 89 des statuts et l'article 10 du règlement d'exécution n° 004/2022 imposent de l'estimer chaque année.</a:t>
            </a:r>
          </a:p>
          <a:p>
            <a:pPr algn="just">
              <a:spcAft>
                <a:spcPts val="600"/>
              </a:spcAft>
            </a:pPr>
            <a:r>
              <a:rPr sz="1300" b="0">
                <a:solidFill>
                  <a:srgbClr val="060606"/>
                </a:solidFill>
                <a:latin typeface="Helvetica"/>
              </a:rPr>
              <a:t>L'excédent est en réalité une réserve. Son reclassement relève d'une décision de l'Assemblée générale (statuts, art. 85) et du dialogue avec l'AIRMS. Il ne peut se faire qu'avec une base des prestations portant les dates des soins, du dépôt et du paiement (PBC, item 71).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PBC : liste des documents demandés au client</a:t>
            </a:r>
          </a:p>
        </p:txBody>
      </p:sp>
    </p:spTree>
    <p:extLst>
      <p:ext uri="{BB962C8B-B14F-4D97-AF65-F5344CB8AC3E}">
        <p14:creationId xmlns:p14="http://schemas.microsoft.com/office/powerpoint/2010/main" val="3120400407"/>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méthode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dossiers non payés sont valorisés au barème et passés en dette au compte 41591000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états de fin d'année reçus le 22/10/2026 confirment le circuit décrit en entretien et en donnent le compte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(16h) avec M. Koffi, chef comptable (déclarations à confirmer par document)</a:t>
            </a:r>
          </a:p>
        </p:txBody>
      </p:sp>
      <p:sp>
        <p:nvSpPr>
          <p:cNvPr id="31" name="Logigramme d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Liste des décès</a:t>
            </a:r>
          </a:p>
          <a:p>
            <a:pPr algn="ctr"/>
            <a:r>
              <a:rPr sz="900" b="1">
                <a:solidFill>
                  <a:srgbClr val="FFFFFF"/>
                </a:solidFill>
                <a:latin typeface="Helvetica"/>
              </a:rPr>
              <a:t>(direction du personnel)</a:t>
            </a:r>
          </a:p>
        </p:txBody>
      </p:sp>
      <p:sp>
        <p:nvSpPr>
          <p:cNvPr id="32" name="Logigramme d2"/>
          <p:cNvSpPr/>
          <p:nvPr/>
        </p:nvSpPr>
        <p:spPr>
          <a:xfrm>
            <a:off x="2178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Informaticien :</a:t>
            </a:r>
          </a:p>
          <a:p>
            <a:pPr algn="ctr"/>
            <a:r>
              <a:rPr sz="900" b="0">
                <a:solidFill>
                  <a:srgbClr val="060606"/>
                </a:solidFill>
                <a:latin typeface="Helvetica"/>
              </a:rPr>
              <a:t>arrêt du précompte</a:t>
            </a:r>
          </a:p>
        </p:txBody>
      </p:sp>
      <p:sp>
        <p:nvSpPr>
          <p:cNvPr id="33" name="Logigramme d3"/>
          <p:cNvSpPr/>
          <p:nvPr/>
        </p:nvSpPr>
        <p:spPr>
          <a:xfrm>
            <a:off x="3780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Liste annuelle</a:t>
            </a:r>
          </a:p>
          <a:p>
            <a:pPr algn="ctr"/>
            <a:r>
              <a:rPr sz="900" b="0">
                <a:solidFill>
                  <a:srgbClr val="060606"/>
                </a:solidFill>
                <a:latin typeface="Helvetica"/>
              </a:rPr>
              <a:t>au chef comptable</a:t>
            </a:r>
          </a:p>
        </p:txBody>
      </p:sp>
      <p:sp>
        <p:nvSpPr>
          <p:cNvPr id="34" name="Logigramme d4"/>
          <p:cNvSpPr/>
          <p:nvPr/>
        </p:nvSpPr>
        <p:spPr>
          <a:xfrm>
            <a:off x="5382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Pointage avec les</a:t>
            </a:r>
          </a:p>
          <a:p>
            <a:pPr algn="ctr"/>
            <a:r>
              <a:rPr sz="900" b="0">
                <a:solidFill>
                  <a:srgbClr val="060606"/>
                </a:solidFill>
                <a:latin typeface="Helvetica"/>
              </a:rPr>
              <a:t>allocations payées</a:t>
            </a:r>
          </a:p>
        </p:txBody>
      </p:sp>
      <p:sp>
        <p:nvSpPr>
          <p:cNvPr id="35" name="Logigramme d5"/>
          <p:cNvSpPr/>
          <p:nvPr/>
        </p:nvSpPr>
        <p:spPr>
          <a:xfrm>
            <a:off x="6984000" y="16019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Allocation</a:t>
            </a:r>
          </a:p>
          <a:p>
            <a:pPr algn="ctr"/>
            <a:r>
              <a:rPr sz="850" b="0">
                <a:solidFill>
                  <a:srgbClr val="060606"/>
                </a:solidFill>
                <a:latin typeface="Helvetica"/>
              </a:rPr>
              <a:t>payée ?</a:t>
            </a:r>
          </a:p>
        </p:txBody>
      </p:sp>
      <p:sp>
        <p:nvSpPr>
          <p:cNvPr id="36" name="Logigramme d6"/>
          <p:cNvSpPr/>
          <p:nvPr/>
        </p:nvSpPr>
        <p:spPr>
          <a:xfrm>
            <a:off x="858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Charge de</a:t>
            </a:r>
          </a:p>
          <a:p>
            <a:pPr algn="ctr"/>
            <a:r>
              <a:rPr sz="900" b="1">
                <a:solidFill>
                  <a:srgbClr val="FFFFFF"/>
                </a:solidFill>
                <a:latin typeface="Helvetica"/>
              </a:rPr>
              <a:t>l'exercice</a:t>
            </a:r>
          </a:p>
        </p:txBody>
      </p:sp>
      <p:sp>
        <p:nvSpPr>
          <p:cNvPr id="37" name="Logigramme d7"/>
          <p:cNvSpPr/>
          <p:nvPr/>
        </p:nvSpPr>
        <p:spPr>
          <a:xfrm>
            <a:off x="6984000" y="2951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Valorisation au</a:t>
            </a:r>
          </a:p>
          <a:p>
            <a:pPr algn="ctr"/>
            <a:r>
              <a:rPr sz="900" b="0">
                <a:solidFill>
                  <a:srgbClr val="060606"/>
                </a:solidFill>
                <a:latin typeface="Helvetica"/>
              </a:rPr>
              <a:t>barème par grade</a:t>
            </a:r>
          </a:p>
        </p:txBody>
      </p:sp>
      <p:sp>
        <p:nvSpPr>
          <p:cNvPr id="38" name="Logigramme d8"/>
          <p:cNvSpPr/>
          <p:nvPr/>
        </p:nvSpPr>
        <p:spPr>
          <a:xfrm>
            <a:off x="8586000" y="2951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Dette envers les</a:t>
            </a:r>
          </a:p>
          <a:p>
            <a:pPr algn="ctr"/>
            <a:r>
              <a:rPr sz="900" b="1">
                <a:solidFill>
                  <a:srgbClr val="FFFFFF"/>
                </a:solidFill>
                <a:latin typeface="Helvetica"/>
              </a:rPr>
              <a:t>bénéficiaires (41591000)</a:t>
            </a:r>
          </a:p>
        </p:txBody>
      </p:sp>
      <p:sp>
        <p:nvSpPr>
          <p:cNvPr id="39" name="Logigramme d9"/>
          <p:cNvSpPr/>
          <p:nvPr/>
        </p:nvSpPr>
        <p:spPr>
          <a:xfrm>
            <a:off x="57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Décès d'ayants droit</a:t>
            </a:r>
          </a:p>
          <a:p>
            <a:pPr algn="ctr"/>
            <a:r>
              <a:rPr sz="900" b="1">
                <a:solidFill>
                  <a:srgbClr val="C00000"/>
                </a:solidFill>
                <a:latin typeface="Helvetica"/>
              </a:rPr>
              <a:t>non déclarés</a:t>
            </a:r>
          </a:p>
        </p:txBody>
      </p:sp>
      <p:cxnSp>
        <p:nvCxnSpPr>
          <p:cNvPr id="40" name="Flèche d1 vers d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Flèche d2 vers d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d3 vers d4"/>
          <p:cNvCxnSpPr>
            <a:stCxn id="33" idx="3"/>
            <a:endCxn id="34" idx="1"/>
          </p:cNvCxnSpPr>
          <p:nvPr/>
        </p:nvCxnSpPr>
        <p:spPr>
          <a:xfrm flipV="1">
            <a:off x="5076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d4 vers d5"/>
          <p:cNvCxnSpPr>
            <a:stCxn id="34" idx="3"/>
            <a:endCxn id="35" idx="1"/>
          </p:cNvCxnSpPr>
          <p:nvPr/>
        </p:nvCxnSpPr>
        <p:spPr>
          <a:xfrm flipV="1">
            <a:off x="6678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d5 vers d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323200" y="1763998"/>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d5 vers d7"/>
          <p:cNvCxnSpPr>
            <a:stCxn id="35" idx="2"/>
            <a:endCxn id="37" idx="0"/>
          </p:cNvCxnSpPr>
          <p:nvPr/>
        </p:nvCxnSpPr>
        <p:spPr>
          <a:xfrm flipH="1">
            <a:off x="7632000" y="2285999"/>
            <a:ext cx="0" cy="66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685999" y="2303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d7 vers d8"/>
          <p:cNvCxnSpPr>
            <a:stCxn id="37" idx="3"/>
            <a:endCxn id="38" idx="1"/>
          </p:cNvCxnSpPr>
          <p:nvPr/>
        </p:nvCxnSpPr>
        <p:spPr>
          <a:xfrm flipV="1">
            <a:off x="8280000" y="3239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d1 vers d9"/>
          <p:cNvCxnSpPr>
            <a:stCxn id="31" idx="2"/>
            <a:endCxn id="39" idx="0"/>
          </p:cNvCxnSpPr>
          <p:nvPr/>
        </p:nvCxnSpPr>
        <p:spPr>
          <a:xfrm flipH="1">
            <a:off x="1224000" y="2231999"/>
            <a:ext cx="0" cy="720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278000" y="2249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hors liste</a:t>
            </a:r>
          </a:p>
        </p:txBody>
      </p:sp>
      <p:sp>
        <p:nvSpPr>
          <p:cNvPr id="51" name="TextBox 50"/>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La méthode du FPPN se rapproche d'une évaluation dossier par dossier.</a:t>
            </a:r>
            <a:r>
              <a:rPr sz="1200" b="0">
                <a:solidFill>
                  <a:srgbClr val="060606"/>
                </a:solidFill>
                <a:latin typeface="Helvetica"/>
              </a:rPr>
              <a:t> La liste des décès transmise par la direction du personnel est rapprochée des allocations payées. Les dossiers restants sont valorisés au barème par grade.</a:t>
            </a:r>
          </a:p>
          <a:p>
            <a:pPr algn="just">
              <a:spcAft>
                <a:spcPts val="600"/>
              </a:spcAft>
            </a:pPr>
            <a:r>
              <a:rPr sz="1200" b="1">
                <a:solidFill>
                  <a:srgbClr val="060606"/>
                </a:solidFill>
                <a:latin typeface="Helvetica"/>
              </a:rPr>
              <a:t>Le calcul annuel est comptabilisé en dette au compte 41591000, non au compte de provision 15802000</a:t>
            </a:r>
            <a:r>
              <a:rPr sz="1200" b="0">
                <a:solidFill>
                  <a:srgbClr val="060606"/>
                </a:solidFill>
                <a:latin typeface="Helvetica"/>
              </a:rPr>
              <a:t>, qui ne bouge pas depuis 2020 (diapositive suivante).</a:t>
            </a:r>
          </a:p>
          <a:p>
            <a:pPr algn="just">
              <a:spcAft>
                <a:spcPts val="600"/>
              </a:spcAft>
            </a:pPr>
            <a:r>
              <a:rPr sz="1200" b="1">
                <a:solidFill>
                  <a:srgbClr val="060606"/>
                </a:solidFill>
                <a:latin typeface="Helvetica"/>
              </a:rPr>
              <a:t>Les décès de conjoints et d'enfants n'apparaissent que s'ils sont déclarés.</a:t>
            </a:r>
            <a:r>
              <a:rPr sz="1200" b="0">
                <a:solidFill>
                  <a:srgbClr val="060606"/>
                </a:solidFill>
                <a:latin typeface="Helvetica"/>
              </a:rPr>
              <a:t> Ils relèvent des sinistres tardifs.</a:t>
            </a:r>
          </a:p>
          <a:p>
            <a:pPr algn="just">
              <a:spcAft>
                <a:spcPts val="600"/>
              </a:spcAft>
            </a:pPr>
            <a:r>
              <a:rPr sz="1200" b="0">
                <a:solidFill>
                  <a:srgbClr val="060606"/>
                </a:solidFill>
                <a:latin typeface="Helvetica"/>
              </a:rPr>
              <a:t>Le règlement d'exécution n° 004/2022 (art. 10) demande cette évaluation dossier par dossier, plus les sinistres tardifs. La méthode du FPPN peut servir de base, si son résultat est comptabilisé et documenté.</a:t>
            </a:r>
          </a:p>
        </p:txBody>
      </p:sp>
      <p:sp>
        <p:nvSpPr>
          <p:cNvPr id="52" name="TextBox 5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043581105"/>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états de fin d'année et compte 41591000</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calcul de fin d'année du FPPN est comptabilisé au compte 41591000, au franc près en 2024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31 décembre, le FPPN liste les décès non payés, applique le barème du grade et passe le total en dette envers les bénéficiaires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états de fin d'année des allocations décès 2021 à 2025 (« PROV ALLOCATION DECES 2021.xlsx » et suivants, voir l'annexe « Fichiers sources »). « GRAND LIVRE FPPN 2024.xlsx » (compte 41591000). « CARTOGRAPHIE DES RISQUES COUVERTS ET DES PRESTATIONS OFFERTES.docx ». Balances 2021 à 2025. Onglet 19a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43 : États de fin d'année des allocations décès et crédits du compte 41591000</a:t>
            </a:r>
          </a:p>
        </p:txBody>
      </p:sp>
      <p:graphicFrame>
        <p:nvGraphicFramePr>
          <p:cNvPr id="32" name="Table 31"/>
          <p:cNvGraphicFramePr>
            <a:graphicFrameLocks noGrp="1"/>
          </p:cNvGraphicFramePr>
          <p:nvPr/>
        </p:nvGraphicFramePr>
        <p:xfrm>
          <a:off x="503999" y="1655999"/>
          <a:ext cx="11231998" cy="1122888"/>
        </p:xfrm>
        <a:graphic>
          <a:graphicData uri="http://schemas.openxmlformats.org/drawingml/2006/table">
            <a:tbl>
              <a:tblPr firstRow="0" bandRow="0">
                <a:tableStyleId>{5940675A-B579-460E-94D1-54222C63F5DA}</a:tableStyleId>
              </a:tblPr>
              <a:tblGrid>
                <a:gridCol w="936000"/>
                <a:gridCol w="4320000"/>
                <a:gridCol w="1007999"/>
                <a:gridCol w="1655999"/>
                <a:gridCol w="1728000"/>
                <a:gridCol w="1584000"/>
              </a:tblGrid>
              <a:tr h="187148">
                <a:tc>
                  <a:txBody>
                    <a:bodyPr/>
                    <a:lstStyle/>
                    <a:p>
                      <a:pPr marL="0" indent="0" lvl="0">
                        <a:buNone/>
                      </a:pPr>
                      <a:r>
                        <a:rPr sz="85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Dossiers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Total du fichier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Crédit au 41591000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Écart</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 ALLOCATION DECES 2021.xlsx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112 820 000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370 503 332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257 683 332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 ALLOCATION DECES 2022.xlsx</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88 000 000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97 653 333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9 653 333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ALLOC DECES 2023 PAYER ET A PROVISIONNER .xlsx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124 690 000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120 690 000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-4 000 000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 ALLOCATION DECES 2024.xlsx</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140 800 000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140 800 000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 ALLOCATIONS DECES ET FRAIS FUNERAIRES 2025.xlsx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130 600 000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130 600 000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 FCFA</a:t>
                      </a:r>
                    </a:p>
                  </a:txBody>
                  <a:tcPr marL="43200" marR="43200" marT="14400" marB="14400" anchor="ctr">
                    <a:solidFill>
                      <a:srgbClr val="FFFFFF"/>
                    </a:solidFill>
                  </a:tcPr>
                </a:tc>
              </a:tr>
            </a:tbl>
          </a:graphicData>
        </a:graphic>
      </p:graphicFrame>
      <p:sp>
        <p:nvSpPr>
          <p:cNvPr id="33" name="TextBox 32"/>
          <p:cNvSpPr txBox="1"/>
          <p:nvPr/>
        </p:nvSpPr>
        <p:spPr>
          <a:xfrm>
            <a:off x="503999" y="2886888"/>
            <a:ext cx="11232000" cy="162000"/>
          </a:xfrm>
          <a:prstGeom prst="rect">
            <a:avLst/>
          </a:prstGeom>
          <a:noFill/>
        </p:spPr>
        <p:txBody>
          <a:bodyPr wrap="square" anchor="t" lIns="54000" rIns="54000"/>
          <a:lstStyle/>
          <a:p>
            <a:pPr algn="l"/>
            <a:r>
              <a:rPr sz="850" b="0">
                <a:solidFill>
                  <a:srgbClr val="53565A"/>
                </a:solidFill>
                <a:latin typeface="Helvetica"/>
              </a:rPr>
              <a:t>Valable pour : états de fin d'année 2021 à 2025 tels que reçus le 22/10/2026. Crédits du compte 41591000 des balances 2021 à 2025.</a:t>
            </a:r>
          </a:p>
        </p:txBody>
      </p:sp>
      <p:sp>
        <p:nvSpPr>
          <p:cNvPr id="34" name="TextBox 33"/>
          <p:cNvSpPr txBox="1"/>
          <p:nvPr/>
        </p:nvSpPr>
        <p:spPr>
          <a:xfrm>
            <a:off x="503999" y="3192888"/>
            <a:ext cx="11232000" cy="2675111"/>
          </a:xfrm>
          <a:prstGeom prst="rect">
            <a:avLst/>
          </a:prstGeom>
          <a:noFill/>
        </p:spPr>
        <p:txBody>
          <a:bodyPr wrap="square" lIns="54000" rIns="54000"/>
          <a:lstStyle/>
          <a:p>
            <a:pPr algn="just">
              <a:spcAft>
                <a:spcPts val="600"/>
              </a:spcAft>
            </a:pPr>
            <a:r>
              <a:rPr sz="1300" b="1">
                <a:solidFill>
                  <a:srgbClr val="060606"/>
                </a:solidFill>
                <a:latin typeface="Helvetica"/>
              </a:rPr>
              <a:t>En 2024 et 2025, le crédit de l'année au compte 41591000 est exactement le total du fichier.</a:t>
            </a:r>
            <a:r>
              <a:rPr sz="1300" b="0">
                <a:solidFill>
                  <a:srgbClr val="060606"/>
                </a:solidFill>
                <a:latin typeface="Helvetica"/>
              </a:rPr>
              <a:t> Le grand livre 2024 montre l'écriture du 31/12/2024 « PROVISION ALLO DECES 2024 » de 140 800 000 FCFA.</a:t>
            </a:r>
          </a:p>
          <a:p>
            <a:pPr algn="just">
              <a:spcAft>
                <a:spcPts val="600"/>
              </a:spcAft>
            </a:pPr>
            <a:r>
              <a:rPr sz="1300" b="1">
                <a:solidFill>
                  <a:srgbClr val="060606"/>
                </a:solidFill>
                <a:latin typeface="Helvetica"/>
              </a:rPr>
              <a:t>En 2022 et 2023, les écarts restent à expliquer. En 2021, le premier crédit reprend aussi des dossiers antérieurs à l'ouverture du compte.</a:t>
            </a:r>
            <a:r>
              <a:rPr sz="1300" b="0">
                <a:solidFill>
                  <a:srgbClr val="060606"/>
                </a:solidFill>
                <a:latin typeface="Helvetica"/>
              </a:rPr>
              <a:t> Le fichier 2024 porte la mention « BILAN NON EXHAUSTIF » et la somme de ses lignes dépasse son total de 1 400 000 FCFA.</a:t>
            </a:r>
          </a:p>
          <a:p>
            <a:pPr algn="just">
              <a:spcAft>
                <a:spcPts val="600"/>
              </a:spcAft>
            </a:pPr>
            <a:r>
              <a:rPr sz="1300" b="0">
                <a:solidFill>
                  <a:srgbClr val="060606"/>
                </a:solidFill>
                <a:latin typeface="Helvetica"/>
              </a:rPr>
              <a:t>La méthode du FPPN est bien une évaluation dossier par dossier (statuts, art. 89). Elle est comptabilisée comme une dette, non comme une provision : la provision obsèques ne doit pas la reprendre une seconde fois.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765774915"/>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dette réelle et provision obsèques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obsèques vaut 4,0 fois la dette décès calculée par le FPPN au 31/08/2026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Dette décès (41591000 et 41592000) : 489 419 669 FCFA. Provision obsèques inchangée depuis 2020 : 1 961 695 412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 GRAND LIVRE FPPN 2024.xlsx » (journaux BQ PEP, BQEFC). Règlement intérieur du FPPN édité le 15/06/2023, art. 58. Onglet 19b du classeur des calculs</a:t>
            </a:r>
          </a:p>
        </p:txBody>
      </p:sp>
      <p:sp>
        <p:nvSpPr>
          <p:cNvPr id="31" name="TextBox 30"/>
          <p:cNvSpPr txBox="1"/>
          <p:nvPr/>
        </p:nvSpPr>
        <p:spPr>
          <a:xfrm>
            <a:off x="503999" y="1386000"/>
            <a:ext cx="11016000" cy="216000"/>
          </a:xfrm>
          <a:prstGeom prst="rect">
            <a:avLst/>
          </a:prstGeom>
          <a:noFill/>
        </p:spPr>
        <p:txBody>
          <a:bodyPr wrap="square" anchor="t" lIns="54000" rIns="54000"/>
          <a:lstStyle/>
          <a:p>
            <a:pPr algn="ctr"/>
            <a:r>
              <a:rPr sz="1200" b="0">
                <a:solidFill>
                  <a:srgbClr val="EFAC62"/>
                </a:solidFill>
                <a:latin typeface="Helvetica"/>
              </a:rPr>
              <a:t>Tableau 44 : Dette décès du FPPN et provision obsèques</a:t>
            </a:r>
          </a:p>
        </p:txBody>
      </p:sp>
      <p:graphicFrame>
        <p:nvGraphicFramePr>
          <p:cNvPr id="32" name="Table 31"/>
          <p:cNvGraphicFramePr>
            <a:graphicFrameLocks noGrp="1"/>
          </p:cNvGraphicFramePr>
          <p:nvPr/>
        </p:nvGraphicFramePr>
        <p:xfrm>
          <a:off x="503999" y="1655999"/>
          <a:ext cx="11015996" cy="1363376"/>
        </p:xfrm>
        <a:graphic>
          <a:graphicData uri="http://schemas.openxmlformats.org/drawingml/2006/table">
            <a:tbl>
              <a:tblPr firstRow="0" bandRow="0">
                <a:tableStyleId>{5940675A-B579-460E-94D1-54222C63F5DA}</a:tableStyleId>
              </a:tblPr>
              <a:tblGrid>
                <a:gridCol w="1080000"/>
                <a:gridCol w="1655999"/>
                <a:gridCol w="1655999"/>
                <a:gridCol w="1655999"/>
                <a:gridCol w="1584000"/>
                <a:gridCol w="1655999"/>
                <a:gridCol w="1728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Allocations ajoutées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Allocations payées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Dette allocations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Dette frais funéraires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Dette décès totale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obsèques</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370 503 332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370 503 332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370 503 332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97 653 333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87 638 748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380 517 917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380 517 917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120 690 000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64 112 728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437 095 189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437 095 189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140 800 000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185 943 302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391 951 887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391 951 887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130 600 000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107 207 220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415 344 667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17 100 000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432 444 667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111 000 000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69 324 998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457 019 669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32 400 000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489 419 669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comptes 41591000, 41592000, 19012000 et 15802000, exercices 2021 à 2025 et du 01/01 au 31/08/2026 (provisoire). Paiements par banque d'après le grand livre 2024 seulement.</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Chaque année, le FPPN ajoute plus d'allocations qu'il n'en paie : la dette passe de 370 503 332 FCFA fin 2021 à 489 419 669 FCFA au 31/08/2026.</a:t>
            </a:r>
            <a:r>
              <a:rPr sz="1300" b="0">
                <a:solidFill>
                  <a:srgbClr val="060606"/>
                </a:solidFill>
                <a:latin typeface="Helvetica"/>
              </a:rPr>
              <a:t> Le stock contient donc des dossiers de plusieurs années.</a:t>
            </a:r>
          </a:p>
          <a:p>
            <a:pPr algn="just">
              <a:spcAft>
                <a:spcPts val="600"/>
              </a:spcAft>
            </a:pPr>
            <a:r>
              <a:rPr sz="1300" b="1">
                <a:solidFill>
                  <a:srgbClr val="060606"/>
                </a:solidFill>
                <a:latin typeface="Helvetica"/>
              </a:rPr>
              <a:t>En 2024, des allocations ont été payées depuis les comptes bancaires de l'épargne</a:t>
            </a:r>
            <a:r>
              <a:rPr sz="1300" b="0">
                <a:solidFill>
                  <a:srgbClr val="060606"/>
                </a:solidFill>
                <a:latin typeface="Helvetica"/>
              </a:rPr>
              <a:t> : 93 paiements pour 49 000 000 FCFA par le compte BOA PEP et 9 pour 4 288 000 FCFA par le compte BOA EFC (grand livre 2024).</a:t>
            </a:r>
          </a:p>
          <a:p>
            <a:pPr algn="just">
              <a:spcAft>
                <a:spcPts val="600"/>
              </a:spcAft>
            </a:pPr>
            <a:r>
              <a:rPr sz="1300" b="0">
                <a:solidFill>
                  <a:srgbClr val="060606"/>
                </a:solidFill>
                <a:latin typeface="Helvetica"/>
              </a:rPr>
              <a:t>La provision obsèques fait double emploi avec la dette du 41591000. La dette elle-même doit être justifiée dossier par dossier, avec la date de dépôt de chaque demande, pour écarter les demandes frappées de forclusion (règlement intérieur, art. 58 : 3 ans pour un membre, 12 mois pour un ayant droit).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2256900702"/>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décès connus après la clôture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6 décès d'une année n'ont été enregistrés que l'année suivante, pour 7 100 000 FCFA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décès manquent dans l'état du 31 décembre : ils donnent l'ordre de grandeur de la provision pour décès survenus non déclarés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PROV ALLOCATION DECES 2021.xlsx » (feuille IMPAYEES GLOBAL 2021). « ALLOC DECES 2023 PAYER ET A PROVISIONNER .xlsx » (feuille ALL DECES  A PROVISIONNER 2023). Onglet 19c du classeur des calculs</a:t>
            </a:r>
          </a:p>
        </p:txBody>
      </p:sp>
      <p:sp>
        <p:nvSpPr>
          <p:cNvPr id="31" name="TextBox 30"/>
          <p:cNvSpPr txBox="1"/>
          <p:nvPr/>
        </p:nvSpPr>
        <p:spPr>
          <a:xfrm>
            <a:off x="503999" y="1386000"/>
            <a:ext cx="7776000" cy="216000"/>
          </a:xfrm>
          <a:prstGeom prst="rect">
            <a:avLst/>
          </a:prstGeom>
          <a:noFill/>
        </p:spPr>
        <p:txBody>
          <a:bodyPr wrap="square" anchor="t" lIns="54000" rIns="54000"/>
          <a:lstStyle/>
          <a:p>
            <a:pPr algn="ctr"/>
            <a:r>
              <a:rPr sz="1200" b="0">
                <a:solidFill>
                  <a:srgbClr val="EFAC62"/>
                </a:solidFill>
                <a:latin typeface="Helvetica"/>
              </a:rPr>
              <a:t>Tableau 45 : Décès enregistrés l'année suivant le décès</a:t>
            </a:r>
          </a:p>
        </p:txBody>
      </p:sp>
      <p:graphicFrame>
        <p:nvGraphicFramePr>
          <p:cNvPr id="32" name="Table 31"/>
          <p:cNvGraphicFramePr>
            <a:graphicFrameLocks noGrp="1"/>
          </p:cNvGraphicFramePr>
          <p:nvPr/>
        </p:nvGraphicFramePr>
        <p:xfrm>
          <a:off x="503999" y="1655999"/>
          <a:ext cx="7776000" cy="1363376"/>
        </p:xfrm>
        <a:graphic>
          <a:graphicData uri="http://schemas.openxmlformats.org/drawingml/2006/table">
            <a:tbl>
              <a:tblPr firstRow="0" bandRow="0">
                <a:tableStyleId>{5940675A-B579-460E-94D1-54222C63F5DA}</a:tableStyleId>
              </a:tblPr>
              <a:tblGrid>
                <a:gridCol w="1296000"/>
                <a:gridCol w="2160000"/>
                <a:gridCol w="2160000"/>
                <a:gridCol w="2160000"/>
              </a:tblGrid>
              <a:tr h="194768">
                <a:tc>
                  <a:txBody>
                    <a:bodyPr/>
                    <a:lstStyle/>
                    <a:p>
                      <a:pPr marL="0" indent="0" lvl="0">
                        <a:buNone/>
                      </a:pPr>
                      <a:r>
                        <a:rPr sz="900" b="1">
                          <a:solidFill>
                            <a:srgbClr val="FFFFFF"/>
                          </a:solidFill>
                          <a:latin typeface="Helvetica"/>
                        </a:rPr>
                        <a:t>État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Date du décès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Date d'enregistrement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27/12/2021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03/01/2022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1 400 000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02/11/2021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05/01/2022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600 000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21/12/2021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12/01/2022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1 400 000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15/12/2021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12/01/2022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1 400 000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22/12/2021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14/01/2022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1 600 000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16/08/2021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28/03/2022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états de fin d'année 2021 et 2023, seuls à porter la date d'enregistrement. Dossiers de membres et d'ayants droit valorisés.</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Les décès déclarés tardivement représentent 7 100 000 FCFA sur deux états, soit quelques dossiers par an.</a:t>
            </a:r>
            <a:r>
              <a:rPr sz="1300" b="0">
                <a:solidFill>
                  <a:srgbClr val="060606"/>
                </a:solidFill>
                <a:latin typeface="Helvetica"/>
              </a:rPr>
              <a:t> Le délai de forclusion de trois ans (art. 58) borne la période pendant laquelle un décès peut encore être déclaré.</a:t>
            </a:r>
          </a:p>
          <a:p>
            <a:pPr algn="just">
              <a:spcAft>
                <a:spcPts val="600"/>
              </a:spcAft>
            </a:pPr>
            <a:r>
              <a:rPr sz="1300" b="0">
                <a:solidFill>
                  <a:srgbClr val="060606"/>
                </a:solidFill>
                <a:latin typeface="Helvetica"/>
              </a:rPr>
              <a:t>La provision décès nécessaire est la dette du 41591000, justifiée dossier par dossier, plus une estimation des décès non encore déclarés de quelques millions de FCFA par an.</a:t>
            </a:r>
          </a:p>
        </p:txBody>
      </p:sp>
    </p:spTree>
    <p:extLst>
      <p:ext uri="{BB962C8B-B14F-4D97-AF65-F5344CB8AC3E}">
        <p14:creationId xmlns:p14="http://schemas.microsoft.com/office/powerpoint/2010/main" val="2122495366"/>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pour risques courts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provision n'est nécessaire : les cotisations mensuelles couvrent leur propre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provision pour risques courts (statuts, art. 88) couvre la période entre la clôture et la prochaine échéance de cotisation. Cette période est nulle au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du FPPN édités le 15/06/2023, art. 88. Code CIMA, art. 334-10 (référence technique). Fichiers de précomptes de la Solde, de la CGRAE et du FPPN reçus le 15/10/2026 (dossiers « FPPN-SOLDE », « FPPN-CGRAE », « FPPN-GNA », noms exacts en annexe « Fichiers sources »). Traitements Adenka. Onglet 20 du classeur des calculs</a:t>
            </a:r>
          </a:p>
        </p:txBody>
      </p:sp>
      <p:sp>
        <p:nvSpPr>
          <p:cNvPr id="31" name="TextBox 30"/>
          <p:cNvSpPr txBox="1"/>
          <p:nvPr/>
        </p:nvSpPr>
        <p:spPr>
          <a:xfrm>
            <a:off x="503999" y="1386000"/>
            <a:ext cx="8856000" cy="216000"/>
          </a:xfrm>
          <a:prstGeom prst="rect">
            <a:avLst/>
          </a:prstGeom>
          <a:noFill/>
        </p:spPr>
        <p:txBody>
          <a:bodyPr wrap="square" anchor="t" lIns="54000" rIns="54000"/>
          <a:lstStyle/>
          <a:p>
            <a:pPr algn="ctr"/>
            <a:r>
              <a:rPr sz="1200" b="0">
                <a:solidFill>
                  <a:srgbClr val="EFAC62"/>
                </a:solidFill>
                <a:latin typeface="Helvetica"/>
              </a:rPr>
              <a:t>Tableau 46 : Provision pour risques courts au 31 décembre</a:t>
            </a:r>
          </a:p>
        </p:txBody>
      </p:sp>
      <p:graphicFrame>
        <p:nvGraphicFramePr>
          <p:cNvPr id="32" name="Table 31"/>
          <p:cNvGraphicFramePr>
            <a:graphicFrameLocks noGrp="1"/>
          </p:cNvGraphicFramePr>
          <p:nvPr/>
        </p:nvGraphicFramePr>
        <p:xfrm>
          <a:off x="503999" y="1655999"/>
          <a:ext cx="8856000" cy="1363376"/>
        </p:xfrm>
        <a:graphic>
          <a:graphicData uri="http://schemas.openxmlformats.org/drawingml/2006/table">
            <a:tbl>
              <a:tblPr firstRow="0" bandRow="0">
                <a:tableStyleId>{5940675A-B579-460E-94D1-54222C63F5DA}</a:tableStyleId>
              </a:tblPr>
              <a:tblGrid>
                <a:gridCol w="1296000"/>
                <a:gridCol w="2880000"/>
                <a:gridCol w="2520000"/>
                <a:gridCol w="2160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et frais de l'année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Jours non couverts par une cotisation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1 420 369 950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1 465 285 314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1 251 789 161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1 702 471 561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2 251 530 156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3 066 122 048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cotisations maladie et décès précomptées par la Solde (postes 936 et 8Z6, janvier 2024 à septembre 2026) et par la CGRAE (février 2024 à septembre 2026).</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La provision pour risques courts est nulle tant que les cotisations sont précomptées sur la solde ou la pension du mois qu'elles couvrent.</a:t>
            </a:r>
            <a:r>
              <a:rPr sz="1300" b="0">
                <a:solidFill>
                  <a:srgbClr val="060606"/>
                </a:solidFill>
                <a:latin typeface="Helvetica"/>
              </a:rPr>
              <a:t> Elle deviendrait nécessaire si des cotisations étaient encaissées d'avance pour plusieurs mois.</a:t>
            </a:r>
          </a:p>
          <a:p>
            <a:pPr algn="just">
              <a:spcAft>
                <a:spcPts val="600"/>
              </a:spcAft>
            </a:pPr>
            <a:r>
              <a:rPr sz="1300" b="0">
                <a:solidFill>
                  <a:srgbClr val="060606"/>
                </a:solidFill>
                <a:latin typeface="Helvetica"/>
              </a:rPr>
              <a:t>Le FPPN n'a pas de provision pour risques courts à constituer. Il doit le justifier par écrit dans sa note de calcul annuelle des provisions.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 | GNA : assureur de la flotte automobile (compte 47111106) | 936 : poste maladie | 8Z6 : poste décès</a:t>
            </a:r>
          </a:p>
        </p:txBody>
      </p:sp>
    </p:spTree>
    <p:extLst>
      <p:ext uri="{BB962C8B-B14F-4D97-AF65-F5344CB8AC3E}">
        <p14:creationId xmlns:p14="http://schemas.microsoft.com/office/powerpoint/2010/main" val="480010201"/>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Prêts du Grenier : dépréciation selon la politique de crédit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politique du Grenier conduit à déprécier 14 016 392 FCFA au 31/08/2026. Les comptes n'en portent aucune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la politique de crédit (chapitre XI.3) : 40 % de 3 à 6 mois de retard, 80 % de 6 à 12 mois, 100 % de 12 à 24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POLITIK DE CREDIT DU GRENIER VFVF.doc », chapitre XI.3. Exports du logiciel de prêts du Grenier du Policier « BalanceAgeeDetaille … .xls » et « production_de_la_periode … .xls » reçus le 15/10/2026. Traitements Adenka. Onglet 23 du classeur des calculs</a:t>
            </a:r>
          </a:p>
        </p:txBody>
      </p:sp>
      <p:sp>
        <p:nvSpPr>
          <p:cNvPr id="31" name="TextBox 30"/>
          <p:cNvSpPr txBox="1"/>
          <p:nvPr/>
        </p:nvSpPr>
        <p:spPr>
          <a:xfrm>
            <a:off x="503999" y="1386000"/>
            <a:ext cx="9360000" cy="216000"/>
          </a:xfrm>
          <a:prstGeom prst="rect">
            <a:avLst/>
          </a:prstGeom>
          <a:noFill/>
        </p:spPr>
        <p:txBody>
          <a:bodyPr wrap="square" anchor="t" lIns="54000" rIns="54000"/>
          <a:lstStyle/>
          <a:p>
            <a:pPr algn="ctr"/>
            <a:r>
              <a:rPr sz="1200" b="0">
                <a:solidFill>
                  <a:srgbClr val="EFAC62"/>
                </a:solidFill>
                <a:latin typeface="Helvetica"/>
              </a:rPr>
              <a:t>Tableau 47 : Dépréciation des prêts du Grenier selon sa politique de crédit</a:t>
            </a:r>
          </a:p>
        </p:txBody>
      </p:sp>
      <p:graphicFrame>
        <p:nvGraphicFramePr>
          <p:cNvPr id="32" name="Table 31"/>
          <p:cNvGraphicFramePr>
            <a:graphicFrameLocks noGrp="1"/>
          </p:cNvGraphicFramePr>
          <p:nvPr/>
        </p:nvGraphicFramePr>
        <p:xfrm>
          <a:off x="503999" y="1655999"/>
          <a:ext cx="9359997" cy="1310036"/>
        </p:xfrm>
        <a:graphic>
          <a:graphicData uri="http://schemas.openxmlformats.org/drawingml/2006/table">
            <a:tbl>
              <a:tblPr firstRow="0" bandRow="0">
                <a:tableStyleId>{5940675A-B579-460E-94D1-54222C63F5DA}</a:tableStyleId>
              </a:tblPr>
              <a:tblGrid>
                <a:gridCol w="1296000"/>
                <a:gridCol w="2015999"/>
                <a:gridCol w="1007999"/>
                <a:gridCol w="2015999"/>
                <a:gridCol w="1080000"/>
                <a:gridCol w="1944000"/>
              </a:tblGrid>
              <a:tr h="187148">
                <a:tc>
                  <a:txBody>
                    <a:bodyPr/>
                    <a:lstStyle/>
                    <a:p>
                      <a:pPr marL="0" indent="0" lvl="0">
                        <a:buNone/>
                      </a:pPr>
                      <a:r>
                        <a:rPr sz="850" b="1">
                          <a:solidFill>
                            <a:srgbClr val="FFFFFF"/>
                          </a:solidFill>
                          <a:latin typeface="Helvetica"/>
                        </a:rPr>
                        <a:t>Arrêté</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Tranche de retard</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Prêts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Dépréciation</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31/12/2025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91 à 180 jours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2 683 220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40,00 %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1 073 288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31/12/2025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181 à 365 jours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3 441 406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80,00 %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2 753 125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31/12/2025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Plus de 365 jours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919 716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919 716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91 à 180 jours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3 018 448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40,00 %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1 207 379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181 à 365 jours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10 088 997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80,00 %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8 071 198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Plus de 365 jours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4 737 815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100,00 %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4 737 815 FCFA</a:t>
                      </a:r>
                    </a:p>
                  </a:txBody>
                  <a:tcPr marL="43200" marR="43200" marT="14400" marB="14400" anchor="ctr">
                    <a:solidFill>
                      <a:srgbClr val="F2F2F2"/>
                    </a:solidFill>
                  </a:tcPr>
                </a:tc>
              </a:tr>
            </a:tbl>
          </a:graphicData>
        </a:graphic>
      </p:graphicFrame>
      <p:sp>
        <p:nvSpPr>
          <p:cNvPr id="33" name="TextBox 32"/>
          <p:cNvSpPr txBox="1"/>
          <p:nvPr/>
        </p:nvSpPr>
        <p:spPr>
          <a:xfrm>
            <a:off x="503999" y="3074037"/>
            <a:ext cx="11232000" cy="162000"/>
          </a:xfrm>
          <a:prstGeom prst="rect">
            <a:avLst/>
          </a:prstGeom>
          <a:noFill/>
        </p:spPr>
        <p:txBody>
          <a:bodyPr wrap="square" anchor="t" lIns="54000" rIns="54000"/>
          <a:lstStyle/>
          <a:p>
            <a:pPr algn="l"/>
            <a:r>
              <a:rPr sz="850" b="0">
                <a:solidFill>
                  <a:srgbClr val="53565A"/>
                </a:solidFill>
                <a:latin typeface="Helvetica"/>
              </a:rPr>
              <a:t>Valable pour : prêts du Grenier aux arrêtés du 31/12/2025 et du 31/08/2026, tranches de retard du logiciel de prêts.</a:t>
            </a:r>
          </a:p>
        </p:txBody>
      </p:sp>
      <p:sp>
        <p:nvSpPr>
          <p:cNvPr id="34" name="TextBox 33"/>
          <p:cNvSpPr txBox="1"/>
          <p:nvPr/>
        </p:nvSpPr>
        <p:spPr>
          <a:xfrm>
            <a:off x="503999" y="3380037"/>
            <a:ext cx="11232000" cy="2487962"/>
          </a:xfrm>
          <a:prstGeom prst="rect">
            <a:avLst/>
          </a:prstGeom>
          <a:noFill/>
        </p:spPr>
        <p:txBody>
          <a:bodyPr wrap="square" lIns="54000" rIns="54000"/>
          <a:lstStyle/>
          <a:p>
            <a:pPr algn="just">
              <a:spcAft>
                <a:spcPts val="600"/>
              </a:spcAft>
            </a:pPr>
            <a:r>
              <a:rPr sz="1300" b="1">
                <a:solidFill>
                  <a:srgbClr val="060606"/>
                </a:solidFill>
                <a:latin typeface="Helvetica"/>
              </a:rPr>
              <a:t>La dépréciation passe de 4 746 129 FCFA au 31/12/2025 à 14 016 392 FCFA au 31/08/2026.</a:t>
            </a:r>
            <a:r>
              <a:rPr sz="1300" b="0">
                <a:solidFill>
                  <a:srgbClr val="060606"/>
                </a:solidFill>
                <a:latin typeface="Helvetica"/>
              </a:rPr>
              <a:t> Le montant reste faible au regard de l'encours, mais il doit être comptabilisé.</a:t>
            </a:r>
          </a:p>
          <a:p>
            <a:pPr algn="just">
              <a:spcAft>
                <a:spcPts val="600"/>
              </a:spcAft>
            </a:pPr>
            <a:r>
              <a:rPr sz="1300" b="0">
                <a:solidFill>
                  <a:srgbClr val="060606"/>
                </a:solidFill>
                <a:latin typeface="Helvetica"/>
              </a:rPr>
              <a:t>Le risque principal du Grenier reste l'immobilisation de l'épargne dans les prêts, non la perte sur prêts.</a:t>
            </a:r>
          </a:p>
        </p:txBody>
      </p:sp>
    </p:spTree>
    <p:extLst>
      <p:ext uri="{BB962C8B-B14F-4D97-AF65-F5344CB8AC3E}">
        <p14:creationId xmlns:p14="http://schemas.microsoft.com/office/powerpoint/2010/main" val="384495699"/>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Flotte automobile : risque porté par GNA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apporteur d'affaires de GNA et ne doit pas de provision technique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Commission déclarée de 20 % des primes collectées, versée en fin d'année. Trop-perçus à traiter comme une dette envers les adhérents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entretiens du 19/10/2026 (à confirmer par document). Balances des comptes du FPPN de 2020 au 31/08/2026 (provisoire), fichiers « BALANCE … » listés en annexe « Fichiers sources ». Traitements Adenka. Fichiers de précomptes reçus le 15/10/2026</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48 : Compte GNA (47111106) et produits des activités annexes (71800000)</a:t>
            </a:r>
          </a:p>
        </p:txBody>
      </p:sp>
      <p:graphicFrame>
        <p:nvGraphicFramePr>
          <p:cNvPr id="32" name="Table 31"/>
          <p:cNvGraphicFramePr>
            <a:graphicFrameLocks noGrp="1"/>
          </p:cNvGraphicFramePr>
          <p:nvPr/>
        </p:nvGraphicFramePr>
        <p:xfrm>
          <a:off x="503999" y="1655999"/>
          <a:ext cx="7056000" cy="1293901"/>
        </p:xfrm>
        <a:graphic>
          <a:graphicData uri="http://schemas.openxmlformats.org/drawingml/2006/table">
            <a:tbl>
              <a:tblPr firstRow="0" bandRow="0">
                <a:tableStyleId>{5940675A-B579-460E-94D1-54222C63F5DA}</a:tableStyleId>
              </a:tblPr>
              <a:tblGrid>
                <a:gridCol w="1162800"/>
                <a:gridCol w="1918800"/>
                <a:gridCol w="1918800"/>
                <a:gridCol w="2055600"/>
              </a:tblGrid>
              <a:tr h="392901">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Débit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Produits annexes (71800000)</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6 024 011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4 700 492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837 513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2 457 312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43 668 069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600 586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3 057 898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932 138 FCFA</a:t>
                      </a:r>
                    </a:p>
                  </a:txBody>
                  <a:tcPr marL="43200" marR="43200" marT="14400" marB="14400" anchor="ctr">
                    <a:solidFill>
                      <a:srgbClr val="F2F2F2"/>
                    </a:solidFill>
                  </a:tcPr>
                </a:tc>
              </a:tr>
            </a:tbl>
          </a:graphicData>
        </a:graphic>
      </p:graphicFrame>
      <p:sp>
        <p:nvSpPr>
          <p:cNvPr id="33" name="TextBox 32"/>
          <p:cNvSpPr txBox="1"/>
          <p:nvPr/>
        </p:nvSpPr>
        <p:spPr>
          <a:xfrm>
            <a:off x="503999" y="3057903"/>
            <a:ext cx="7056000" cy="306000"/>
          </a:xfrm>
          <a:prstGeom prst="rect">
            <a:avLst/>
          </a:prstGeom>
          <a:noFill/>
        </p:spPr>
        <p:txBody>
          <a:bodyPr wrap="square" anchor="t" lIns="54000" rIns="54000"/>
          <a:lstStyle/>
          <a:p>
            <a:pPr algn="l"/>
            <a:r>
              <a:rPr sz="850" b="0">
                <a:solidFill>
                  <a:srgbClr val="53565A"/>
                </a:solidFill>
                <a:latin typeface="Helvetica"/>
              </a:rPr>
              <a:t>Valable pour : compte 47111106 (GNA) et compte 71800000 des balances 2023 à 2026. Précomptes 9W3 de 2024. Convention avec GNA non reçue.</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En 2024, le débit du compte GNA est égal aux produits des activités annexes</a:t>
            </a:r>
            <a:r>
              <a:rPr sz="1400" b="0">
                <a:solidFill>
                  <a:srgbClr val="060606"/>
                </a:solidFill>
                <a:latin typeface="Helvetica"/>
              </a:rPr>
              <a:t> : le compte enregistre les commissions dues par GNA. Ses crédits correspondraient aux versements de GNA (à confirmer).</a:t>
            </a:r>
          </a:p>
          <a:p>
            <a:pPr algn="just">
              <a:spcAft>
                <a:spcPts val="600"/>
              </a:spcAft>
            </a:pPr>
            <a:r>
              <a:rPr sz="1400" b="1">
                <a:solidFill>
                  <a:srgbClr val="060606"/>
                </a:solidFill>
                <a:latin typeface="Helvetica"/>
              </a:rPr>
              <a:t>La commission comptabilisée en 2024 ne vaut pas 20 % des précomptes 9W3 de l'année (7 913 002 FCFA).</a:t>
            </a:r>
            <a:r>
              <a:rPr sz="1400" b="0">
                <a:solidFill>
                  <a:srgbClr val="060606"/>
                </a:solidFill>
                <a:latin typeface="Helvetica"/>
              </a:rPr>
              <a:t> L'assiette (primes précomptées et primes payées autrement) est à préciser.</a:t>
            </a:r>
          </a:p>
          <a:p>
            <a:pPr algn="just">
              <a:spcAft>
                <a:spcPts val="600"/>
              </a:spcAft>
            </a:pPr>
            <a:r>
              <a:rPr sz="1400" b="0">
                <a:solidFill>
                  <a:srgbClr val="060606"/>
                </a:solidFill>
                <a:latin typeface="Helvetica"/>
              </a:rPr>
              <a:t>Aucune provision technique n'est due par le FPPN. La convention avec GNA doit fixer l'assiette de la commission et le traitement des trop-perçus (PBC, item 89).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GNA : assureur de la flotte automobile (compte 47111106) | 9W3 : poste flotte automobile</a:t>
            </a:r>
          </a:p>
        </p:txBody>
      </p:sp>
    </p:spTree>
    <p:extLst>
      <p:ext uri="{BB962C8B-B14F-4D97-AF65-F5344CB8AC3E}">
        <p14:creationId xmlns:p14="http://schemas.microsoft.com/office/powerpoint/2010/main" val="2902241097"/>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Départ à la retraite du personnel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du personnel est reprise puis dotée en totalité chaque 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 au compte 196 : 24 155 943 FCFA en 2020, 43 666 678 FCFA en 2025. Recalcul agent par agent dans les diapositives suivantes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Décret n° 2017-210 du 30/03/2017. Convention collective interprofessionnelle du 19/07/1977, art. 40. SYSCOHADA révisé</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49 : Provision pour départ à la retraite du personnel</a:t>
            </a:r>
          </a:p>
        </p:txBody>
      </p:sp>
      <p:graphicFrame>
        <p:nvGraphicFramePr>
          <p:cNvPr id="32" name="Table 31"/>
          <p:cNvGraphicFramePr>
            <a:graphicFrameLocks noGrp="1"/>
          </p:cNvGraphicFramePr>
          <p:nvPr/>
        </p:nvGraphicFramePr>
        <p:xfrm>
          <a:off x="503999" y="1655999"/>
          <a:ext cx="7056000" cy="1576750"/>
        </p:xfrm>
        <a:graphic>
          <a:graphicData uri="http://schemas.openxmlformats.org/drawingml/2006/table">
            <a:tbl>
              <a:tblPr firstRow="0" bandRow="0">
                <a:tableStyleId>{5940675A-B579-460E-94D1-54222C63F5DA}</a:tableStyleId>
              </a:tblPr>
              <a:tblGrid>
                <a:gridCol w="1245600"/>
                <a:gridCol w="1936800"/>
                <a:gridCol w="1936800"/>
                <a:gridCol w="19368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Provision (196)</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Dotation (6911)</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Reprise (7911)</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21 855 876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2F2F2"/>
                    </a:solidFill>
                  </a:tcPr>
                </a:tc>
              </a:tr>
            </a:tbl>
          </a:graphicData>
        </a:graphic>
      </p:graphicFrame>
      <p:sp>
        <p:nvSpPr>
          <p:cNvPr id="33" name="TextBox 32"/>
          <p:cNvSpPr txBox="1"/>
          <p:nvPr/>
        </p:nvSpPr>
        <p:spPr>
          <a:xfrm>
            <a:off x="503999" y="3340753"/>
            <a:ext cx="7056000" cy="306000"/>
          </a:xfrm>
          <a:prstGeom prst="rect">
            <a:avLst/>
          </a:prstGeom>
          <a:noFill/>
        </p:spPr>
        <p:txBody>
          <a:bodyPr wrap="square" anchor="t" lIns="54000" rIns="54000"/>
          <a:lstStyle/>
          <a:p>
            <a:pPr algn="l"/>
            <a:r>
              <a:rPr sz="850" b="0">
                <a:solidFill>
                  <a:srgbClr val="53565A"/>
                </a:solidFill>
                <a:latin typeface="Helvetica"/>
              </a:rPr>
              <a:t>Valable pour : comptes 196, 6911 et 7911 des balances « BALANCE FORMAT EXCEL DE 09-2020 AU 31-12-2020.xlsx » à « BALANCE FPPN DU 01-01-2026 AU 31-08-2026.xlsx », exercices 2020 à 2025.</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300" b="1">
                <a:solidFill>
                  <a:srgbClr val="060606"/>
                </a:solidFill>
                <a:latin typeface="Helvetica"/>
              </a:rPr>
              <a:t>Chaque année, la provision de l'année précédente est reprise en totalité et la nouvelle est dotée en totalité.</a:t>
            </a:r>
            <a:r>
              <a:rPr sz="1300" b="0">
                <a:solidFill>
                  <a:srgbClr val="060606"/>
                </a:solidFill>
                <a:latin typeface="Helvetica"/>
              </a:rPr>
              <a:t> Selon le chef comptable (entretien du 19/10/2026), le calcul applique la convention collective à l'ancienneté acquise.</a:t>
            </a:r>
          </a:p>
          <a:p>
            <a:pPr algn="just">
              <a:spcAft>
                <a:spcPts val="600"/>
              </a:spcAft>
            </a:pPr>
            <a:r>
              <a:rPr sz="1300" b="1">
                <a:solidFill>
                  <a:srgbClr val="060606"/>
                </a:solidFill>
                <a:latin typeface="Helvetica"/>
              </a:rPr>
              <a:t>Les charges patronales s'ajoutent à l'indemnité</a:t>
            </a:r>
            <a:r>
              <a:rPr sz="1300" b="0">
                <a:solidFill>
                  <a:srgbClr val="060606"/>
                </a:solidFill>
                <a:latin typeface="Helvetica"/>
              </a:rPr>
              <a:t> : charges fiscales de 2,80 % (IS 1,20 %, FDFP 0,40 % et 1,20 %), retraite 7,70 % plafonnée à 3 375 000 FCFA, prestations familiales 5,75 % et risques professionnels 2 % (taux du FPPN), plafonnés à 75 000 FCFA.</a:t>
            </a:r>
          </a:p>
          <a:p>
            <a:pPr algn="just">
              <a:spcAft>
                <a:spcPts val="600"/>
              </a:spcAft>
            </a:pPr>
            <a:r>
              <a:rPr sz="1300" b="1">
                <a:solidFill>
                  <a:srgbClr val="060606"/>
                </a:solidFill>
                <a:latin typeface="Helvetica"/>
              </a:rPr>
              <a:t>Les DISA reçues le 22/10/2026 donnent l'âge, l'ancienneté et le salaire de chaque agent civil.</a:t>
            </a:r>
            <a:r>
              <a:rPr sz="1300" b="0">
                <a:solidFill>
                  <a:srgbClr val="060606"/>
                </a:solidFill>
                <a:latin typeface="Helvetica"/>
              </a:rPr>
              <a:t> Le recalcul est présenté dans les diapositives suivantes.</a:t>
            </a:r>
          </a:p>
          <a:p>
            <a:pPr algn="just">
              <a:spcAft>
                <a:spcPts val="600"/>
              </a:spcAft>
            </a:pPr>
            <a:r>
              <a:rPr sz="1300" b="0">
                <a:solidFill>
                  <a:srgbClr val="060606"/>
                </a:solidFill>
                <a:latin typeface="Helvetica"/>
              </a:rPr>
              <a:t>Le montant est faible au regard des provisions techniques, mais il entre dans les dettes à long terme et dans les ratios de la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IS : impôt sur les salaires (part patronale) | FDFP : Fonds de développement de la formation professionnelle | SYSCOHADA : système comptable de l'OHADA | DISA : déclaration individuelle des salaires annuels à la CNPS</a:t>
            </a:r>
          </a:p>
        </p:txBody>
      </p:sp>
    </p:spTree>
    <p:extLst>
      <p:ext uri="{BB962C8B-B14F-4D97-AF65-F5344CB8AC3E}">
        <p14:creationId xmlns:p14="http://schemas.microsoft.com/office/powerpoint/2010/main" val="1082954375"/>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 méthode et paramètres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agent civil est évalué à partir de sa déclaration CNPS, avec des paramètres observés ou fixés par les textes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des unités de crédit projetées : indemnité projetée au départ, acquise au prorata de l'ancienneté, pondérée par la survie, la rotation et l'actualisation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Décret n° 2017-210 du 30/03/2017. Convention collective du 19/07/1977, art. 40. IAS 19, § 67 et 83. Investing.com. Table CIMA F</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50 : Paramètres de la provision du personnel au 31/12/2025</a:t>
            </a:r>
          </a:p>
        </p:txBody>
      </p:sp>
      <p:graphicFrame>
        <p:nvGraphicFramePr>
          <p:cNvPr id="32" name="Table 31"/>
          <p:cNvGraphicFramePr>
            <a:graphicFrameLocks noGrp="1"/>
          </p:cNvGraphicFramePr>
          <p:nvPr/>
        </p:nvGraphicFramePr>
        <p:xfrm>
          <a:off x="503999" y="1655999"/>
          <a:ext cx="11232000" cy="1943428"/>
        </p:xfrm>
        <a:graphic>
          <a:graphicData uri="http://schemas.openxmlformats.org/drawingml/2006/table">
            <a:tbl>
              <a:tblPr firstRow="0" bandRow="0">
                <a:tableStyleId>{5940675A-B579-460E-94D1-54222C63F5DA}</a:tableStyleId>
              </a:tblPr>
              <a:tblGrid>
                <a:gridCol w="2304000"/>
                <a:gridCol w="1440000"/>
                <a:gridCol w="7488000"/>
              </a:tblGrid>
              <a:tr h="187148">
                <a:tc>
                  <a:txBody>
                    <a:bodyPr/>
                    <a:lstStyle/>
                    <a:p>
                      <a:pPr marL="0" indent="0" lvl="0">
                        <a:buNone/>
                      </a:pPr>
                      <a:r>
                        <a:rPr sz="850" b="1">
                          <a:solidFill>
                            <a:srgbClr val="FFFFFF"/>
                          </a:solidFill>
                          <a:latin typeface="Helvetica"/>
                        </a:rPr>
                        <a:t>Paramètre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Valeur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Justification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Âge de départ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55 ans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Convention collective interprofessionnelle du 19/07/1977, art. 40 : 55 ans, plus un an par enfant à charge (au plus 3). Les enfants ne figurent pas dans les fichiers reçus.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Barème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30 %. 35 %. 40 %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Décret n° 2017-210, art. 4 : jusqu'à 5 ans, de 6 à 10 ans, au-delà de 10 ans, fractions d'année au mois inférieur.</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Salaire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Brut annuel / mois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Salaire brut de la DISA divisé par la durée d'activité de l'année (salaire global mensuel moyen, art. 4).</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Taux d'actualisation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7,19 %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Moyenne de 2025 du rendement de l'obligation de l'État de Côte d'Ivoire à 10 ans, 248 cotations Investing.com (IAS 19, § 83).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Croissance des salaires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10,36 %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Médiane de la croissance annuelle observée sur les 26 agents présents douze mois en 2021 et en 2025.</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Rotation du personnel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9,79 %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Moyenne des taux annuels de sortie observés entre les DISA 2021, 2022, 2023 et 2025.</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Survie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Table CIMA 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Table de survie, prudente pour une indemnité versée si l'agent est en vie au départ (principe de prudence, partie 11).</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Entité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DG, CMP, Grenier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Listes nominatives des récapitulatifs de salaires 2024 (CMP) et 2025 (Grenier). Agents absents de ces listes : rattachement non documenté.</a:t>
                      </a:r>
                    </a:p>
                  </a:txBody>
                  <a:tcPr marL="43200" marR="43200" marT="14400" marB="14400" anchor="ctr">
                    <a:solidFill>
                      <a:srgbClr val="F2F2F2"/>
                    </a:solidFill>
                  </a:tcPr>
                </a:tc>
              </a:tr>
            </a:tbl>
          </a:graphicData>
        </a:graphic>
      </p:graphicFrame>
      <p:sp>
        <p:nvSpPr>
          <p:cNvPr id="33" name="TextBox 32"/>
          <p:cNvSpPr txBox="1"/>
          <p:nvPr/>
        </p:nvSpPr>
        <p:spPr>
          <a:xfrm>
            <a:off x="503999" y="3707429"/>
            <a:ext cx="11232000" cy="162000"/>
          </a:xfrm>
          <a:prstGeom prst="rect">
            <a:avLst/>
          </a:prstGeom>
          <a:noFill/>
        </p:spPr>
        <p:txBody>
          <a:bodyPr wrap="square" anchor="t" lIns="54000" rIns="54000"/>
          <a:lstStyle/>
          <a:p>
            <a:pPr algn="l"/>
            <a:r>
              <a:rPr sz="850" b="0">
                <a:solidFill>
                  <a:srgbClr val="53565A"/>
                </a:solidFill>
                <a:latin typeface="Helvetica"/>
              </a:rPr>
              <a:t>Valable pour : personnel civil déclaré à la CNPS (DISA), hors travailleurs occasionnels et fonctionnaires de police détachés, évaluation au 31/12.</a:t>
            </a:r>
          </a:p>
        </p:txBody>
      </p:sp>
      <p:sp>
        <p:nvSpPr>
          <p:cNvPr id="34" name="TextBox 33"/>
          <p:cNvSpPr txBox="1"/>
          <p:nvPr/>
        </p:nvSpPr>
        <p:spPr>
          <a:xfrm>
            <a:off x="503999" y="4013429"/>
            <a:ext cx="11232000" cy="1854570"/>
          </a:xfrm>
          <a:prstGeom prst="rect">
            <a:avLst/>
          </a:prstGeom>
          <a:noFill/>
        </p:spPr>
        <p:txBody>
          <a:bodyPr wrap="square" lIns="54000" rIns="54000"/>
          <a:lstStyle/>
          <a:p>
            <a:pPr algn="just">
              <a:spcAft>
                <a:spcPts val="600"/>
              </a:spcAft>
            </a:pPr>
            <a:r>
              <a:rPr sz="1300" b="1">
                <a:solidFill>
                  <a:srgbClr val="060606"/>
                </a:solidFill>
                <a:latin typeface="Helvetica"/>
              </a:rPr>
              <a:t>Tous les paramètres viennent d'un texte ou d'une observation sur les fichiers du FPPN.</a:t>
            </a:r>
            <a:r>
              <a:rPr sz="1300" b="0">
                <a:solidFill>
                  <a:srgbClr val="060606"/>
                </a:solidFill>
                <a:latin typeface="Helvetica"/>
              </a:rPr>
              <a:t> Seuls l'âge de départ, faute d'enfants déclarés, et le taux d'actualisation, faute de marché profond, relèvent d'un choix justifié.</a:t>
            </a:r>
          </a:p>
          <a:p>
            <a:pPr algn="just">
              <a:spcAft>
                <a:spcPts val="600"/>
              </a:spcAft>
            </a:pPr>
            <a:r>
              <a:rPr sz="1300" b="0">
                <a:solidFill>
                  <a:srgbClr val="060606"/>
                </a:solidFill>
                <a:latin typeface="Helvetica"/>
              </a:rPr>
              <a:t>Les effets de l'âge de départ, du taux, de la rotation et des salaires sont mesurés plus loin, une hypothèse à la fois.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CMP : Centre Médical du Policier (rapport de gestion 2023) | CNPS : Caisse nationale de prévoyance sociale | IAS, IFRS : normes comptables internationales | DISA : déclaration individuelle des salaires annuels à la CNPS | DG : Direction Générale du FPPN</a:t>
            </a:r>
          </a:p>
        </p:txBody>
      </p:sp>
    </p:spTree>
    <p:extLst>
      <p:ext uri="{BB962C8B-B14F-4D97-AF65-F5344CB8AC3E}">
        <p14:creationId xmlns:p14="http://schemas.microsoft.com/office/powerpoint/2010/main" val="191167584"/>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par entité de 2021 à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recalculée est inférieure au compte 196. Les droits acquis en sont proches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31/12/2025 : provision recalculée 24 446 566 FCFA, droits acquis 43 195 084 FCFA, compte 196 43 666 678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Balances des comptes du FPPN de 2020 au 31/08/2026 (provisoire), fichiers « BALANCE … » listés en annexe « Fichiers sources ». Traitements Adenka. Onglets 14b et 14c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51 : Provision du personnel par entité, droits acquis et compte 196</a:t>
            </a:r>
          </a:p>
        </p:txBody>
      </p:sp>
      <p:graphicFrame>
        <p:nvGraphicFramePr>
          <p:cNvPr id="32" name="Table 31"/>
          <p:cNvGraphicFramePr>
            <a:graphicFrameLocks noGrp="1"/>
          </p:cNvGraphicFramePr>
          <p:nvPr/>
        </p:nvGraphicFramePr>
        <p:xfrm>
          <a:off x="503999" y="1655999"/>
          <a:ext cx="11232000" cy="935740"/>
        </p:xfrm>
        <a:graphic>
          <a:graphicData uri="http://schemas.openxmlformats.org/drawingml/2006/table">
            <a:tbl>
              <a:tblPr firstRow="0" bandRow="0">
                <a:tableStyleId>{5940675A-B579-460E-94D1-54222C63F5DA}</a:tableStyleId>
              </a:tblPr>
              <a:tblGrid>
                <a:gridCol w="864000"/>
                <a:gridCol w="792000"/>
                <a:gridCol w="1368000"/>
                <a:gridCol w="1224000"/>
                <a:gridCol w="1152000"/>
                <a:gridCol w="1296000"/>
                <a:gridCol w="1512000"/>
                <a:gridCol w="1512000"/>
                <a:gridCol w="1512000"/>
              </a:tblGrid>
              <a:tr h="187148">
                <a:tc>
                  <a:txBody>
                    <a:bodyPr/>
                    <a:lstStyle/>
                    <a:p>
                      <a:pPr marL="0" indent="0" lvl="0">
                        <a:buNone/>
                      </a:pPr>
                      <a:r>
                        <a:rPr sz="85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Agents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Direction Générale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CMP</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Grenier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Non documentée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Provision recalculée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Compte 196 (FPPN)</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7 630 201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1 319 886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466 838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5 602 748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15 019 673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28 162 298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22 542 542</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9 003 702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2 099 651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593 156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7 367 571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19 064 081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33 558 812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28 325 794</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12 501 712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3 243 122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851 186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6 302 573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22 898 594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40 339 551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35 312 179</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16 118 202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6 680 600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1 454 296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193 469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24 446 566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43 195 084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43 666 678</a:t>
                      </a:r>
                    </a:p>
                  </a:txBody>
                  <a:tcPr marL="43200" marR="43200" marT="14400" marB="14400" anchor="ctr">
                    <a:solidFill>
                      <a:srgbClr val="F2F2F2"/>
                    </a:solidFill>
                  </a:tcPr>
                </a:tc>
              </a:tr>
            </a:tbl>
          </a:graphicData>
        </a:graphic>
      </p:graphicFrame>
      <p:sp>
        <p:nvSpPr>
          <p:cNvPr id="33" name="TextBox 32"/>
          <p:cNvSpPr txBox="1"/>
          <p:nvPr/>
        </p:nvSpPr>
        <p:spPr>
          <a:xfrm>
            <a:off x="503999" y="2699740"/>
            <a:ext cx="11232000" cy="162000"/>
          </a:xfrm>
          <a:prstGeom prst="rect">
            <a:avLst/>
          </a:prstGeom>
          <a:noFill/>
        </p:spPr>
        <p:txBody>
          <a:bodyPr wrap="square" anchor="t" lIns="54000" rIns="54000"/>
          <a:lstStyle/>
          <a:p>
            <a:pPr algn="l"/>
            <a:r>
              <a:rPr sz="850" b="0">
                <a:solidFill>
                  <a:srgbClr val="53565A"/>
                </a:solidFill>
                <a:latin typeface="Helvetica"/>
              </a:rPr>
              <a:t>Valable pour : agents des DISA 2021, 2022, 2023 et 2025 (« DISA_256927_&lt;année&gt;.xls »), au 31/12 de chaque année. 2024 non calculé (DISA scannée). Hors policiers détachés.</a:t>
            </a:r>
          </a:p>
        </p:txBody>
      </p:sp>
      <p:sp>
        <p:nvSpPr>
          <p:cNvPr id="34" name="TextBox 33"/>
          <p:cNvSpPr txBox="1"/>
          <p:nvPr/>
        </p:nvSpPr>
        <p:spPr>
          <a:xfrm>
            <a:off x="503999" y="3005740"/>
            <a:ext cx="11232000" cy="2862259"/>
          </a:xfrm>
          <a:prstGeom prst="rect">
            <a:avLst/>
          </a:prstGeom>
          <a:noFill/>
        </p:spPr>
        <p:txBody>
          <a:bodyPr wrap="square" lIns="54000" rIns="54000"/>
          <a:lstStyle/>
          <a:p>
            <a:pPr algn="just">
              <a:spcAft>
                <a:spcPts val="600"/>
              </a:spcAft>
            </a:pPr>
            <a:r>
              <a:rPr sz="1300" b="1">
                <a:solidFill>
                  <a:srgbClr val="060606"/>
                </a:solidFill>
                <a:latin typeface="Helvetica"/>
              </a:rPr>
              <a:t>Au 31/12/2025, la provision recalculée vaut 55,98 % du compte 196. Les droits acquis en valent 98,92 %.</a:t>
            </a:r>
            <a:r>
              <a:rPr sz="1300" b="0">
                <a:solidFill>
                  <a:srgbClr val="060606"/>
                </a:solidFill>
                <a:latin typeface="Helvetica"/>
              </a:rPr>
              <a:t> Le montant du FPPN est donc proche d'un calcul sans projection ni actualisation, comme l'a décrit le chef comptable.</a:t>
            </a:r>
          </a:p>
          <a:p>
            <a:pPr algn="just">
              <a:spcAft>
                <a:spcPts val="600"/>
              </a:spcAft>
            </a:pPr>
            <a:r>
              <a:rPr sz="1300" b="1">
                <a:solidFill>
                  <a:srgbClr val="060606"/>
                </a:solidFill>
                <a:latin typeface="Helvetica"/>
              </a:rPr>
              <a:t>La Direction Générale porte 65,93 % de la provision 2025 avec 20 agents.</a:t>
            </a:r>
            <a:r>
              <a:rPr sz="1300" b="0">
                <a:solidFill>
                  <a:srgbClr val="060606"/>
                </a:solidFill>
                <a:latin typeface="Helvetica"/>
              </a:rPr>
              <a:t> Le CMP compte 37 agents, dont 27 recrutés depuis 2022 : leurs droits acquis restent faibles.</a:t>
            </a:r>
          </a:p>
          <a:p>
            <a:pPr algn="just">
              <a:spcAft>
                <a:spcPts val="600"/>
              </a:spcAft>
            </a:pPr>
            <a:r>
              <a:rPr sz="1300" b="0">
                <a:solidFill>
                  <a:srgbClr val="060606"/>
                </a:solidFill>
                <a:latin typeface="Helvetica"/>
              </a:rPr>
              <a:t>Le compte 196 couvre la provision recalculée selon les deux approches. La méthode du FPPN (droits acquis) reste à confirmer par sa note de calcul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3931453533"/>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Direction Générale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cinq provisions les plus élevées font 66,04 % de la provision de l'entité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10 agents. Provision recalculée 14 040 396 FCFA. Droits acquis 21 620 323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52 : Provision du personnel au 31/12/2025 : Direction Générale (1/2)</a:t>
            </a:r>
          </a:p>
        </p:txBody>
      </p:sp>
      <p:graphicFrame>
        <p:nvGraphicFramePr>
          <p:cNvPr id="32" name="Table 31"/>
          <p:cNvGraphicFramePr>
            <a:graphicFrameLocks noGrp="1"/>
          </p:cNvGraphicFramePr>
          <p:nvPr/>
        </p:nvGraphicFramePr>
        <p:xfrm>
          <a:off x="503999" y="1655999"/>
          <a:ext cx="11231999" cy="198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28/10/2013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1 234 373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5 081 501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3 617 604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01/10/2014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1 341 090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4 984 383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2 896 107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28/10/2013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617 329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2 541 339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1 940 839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677 034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2 719 421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1 172 709</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22/07/2014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266 335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1 016 512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1 016 512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01/09/2016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609 510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1 820 911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1 003 992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28/10/2013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296 617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1 221 075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701 666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1965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235 750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676 800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676 800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01/06/2016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323 675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995 301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548 419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196 138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563 080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465 751</a:t>
                      </a:r>
                    </a:p>
                  </a:txBody>
                  <a:tcPr marL="43200" marR="43200" marT="14400" marB="14400" anchor="ctr">
                    <a:solidFill>
                      <a:srgbClr val="F2F2F2"/>
                    </a:solidFill>
                  </a:tcPr>
                </a:tc>
              </a:tr>
            </a:tbl>
          </a:graphicData>
        </a:graphic>
      </p:graphicFrame>
      <p:sp>
        <p:nvSpPr>
          <p:cNvPr id="33" name="TextBox 32"/>
          <p:cNvSpPr txBox="1"/>
          <p:nvPr/>
        </p:nvSpPr>
        <p:spPr>
          <a:xfrm>
            <a:off x="503999" y="374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050000"/>
            <a:ext cx="11232000" cy="1818000"/>
          </a:xfrm>
          <a:prstGeom prst="rect">
            <a:avLst/>
          </a:prstGeom>
          <a:noFill/>
        </p:spPr>
        <p:txBody>
          <a:bodyPr wrap="square" lIns="54000" rIns="54000"/>
          <a:lstStyle/>
          <a:p>
            <a:pPr algn="just">
              <a:spcAft>
                <a:spcPts val="600"/>
              </a:spcAft>
            </a:pPr>
            <a:r>
              <a:rPr sz="1300" b="1">
                <a:solidFill>
                  <a:srgbClr val="060606"/>
                </a:solidFill>
                <a:latin typeface="Helvetica"/>
              </a:rPr>
              <a:t>L'agent A25-01 porte la provision la plus élevée de ce tableau (3 617 604 FCFA)</a:t>
            </a:r>
            <a:r>
              <a:rPr sz="1300" b="0">
                <a:solidFill>
                  <a:srgbClr val="060606"/>
                </a:solidFill>
                <a:latin typeface="Helvetica"/>
              </a:rPr>
              <a:t>, avec 12,17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2690740067"/>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Direction Générale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cinq provisions les plus élevées font 66,04 % de la provision de l'entité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10 agents. Provision recalculée 2 077 805 FCFA. Droits acquis 5 820 351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53 : Provision du personnel au 31/12/2025 : Direction Générale (2/2)</a:t>
            </a:r>
          </a:p>
        </p:txBody>
      </p:sp>
      <p:graphicFrame>
        <p:nvGraphicFramePr>
          <p:cNvPr id="32" name="Table 31"/>
          <p:cNvGraphicFramePr>
            <a:graphicFrameLocks noGrp="1"/>
          </p:cNvGraphicFramePr>
          <p:nvPr/>
        </p:nvGraphicFramePr>
        <p:xfrm>
          <a:off x="503999" y="1655999"/>
          <a:ext cx="11231999" cy="198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226 049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569 831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338 418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477 571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1 203 877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303 590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01/10/2020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309 299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481 991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257 399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507 094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923 334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239 581</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09/08/2022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877 150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877 150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231 458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175 975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382 013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185 524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180 401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391 621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177 290</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01/09/2018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200 616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458 908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167 224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18/10/2022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292 815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278 175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136 962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235 769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253 452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40 360</a:t>
                      </a:r>
                    </a:p>
                  </a:txBody>
                  <a:tcPr marL="43200" marR="43200" marT="14400" marB="14400" anchor="ctr">
                    <a:solidFill>
                      <a:srgbClr val="F2F2F2"/>
                    </a:solidFill>
                  </a:tcPr>
                </a:tc>
              </a:tr>
            </a:tbl>
          </a:graphicData>
        </a:graphic>
      </p:graphicFrame>
      <p:sp>
        <p:nvSpPr>
          <p:cNvPr id="33" name="TextBox 32"/>
          <p:cNvSpPr txBox="1"/>
          <p:nvPr/>
        </p:nvSpPr>
        <p:spPr>
          <a:xfrm>
            <a:off x="503999" y="374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050000"/>
            <a:ext cx="11232000" cy="1818000"/>
          </a:xfrm>
          <a:prstGeom prst="rect">
            <a:avLst/>
          </a:prstGeom>
          <a:noFill/>
        </p:spPr>
        <p:txBody>
          <a:bodyPr wrap="square" lIns="54000" rIns="54000"/>
          <a:lstStyle/>
          <a:p>
            <a:pPr algn="just">
              <a:spcAft>
                <a:spcPts val="600"/>
              </a:spcAft>
            </a:pPr>
            <a:r>
              <a:rPr sz="1300" b="1">
                <a:solidFill>
                  <a:srgbClr val="060606"/>
                </a:solidFill>
                <a:latin typeface="Helvetica"/>
              </a:rPr>
              <a:t>L'agent A25-16 porte la provision la plus élevée de ce tableau (338 418 FCFA)</a:t>
            </a:r>
            <a:r>
              <a:rPr sz="1300" b="0">
                <a:solidFill>
                  <a:srgbClr val="060606"/>
                </a:solidFill>
                <a:latin typeface="Helvetica"/>
              </a:rPr>
              <a:t>, avec 7,92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1429585925"/>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CMP (1/3)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personnel récent : les droits acquis restent faibles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13 agents. Provision recalculée 5 160 374 FCFA. Droits acquis 8 217 341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54 : Provision du personnel au 31/12/2025 : CMP (1/3)</a:t>
            </a:r>
          </a:p>
        </p:txBody>
      </p:sp>
      <p:graphicFrame>
        <p:nvGraphicFramePr>
          <p:cNvPr id="32" name="Table 31"/>
          <p:cNvGraphicFramePr>
            <a:graphicFrameLocks noGrp="1"/>
          </p:cNvGraphicFramePr>
          <p:nvPr/>
        </p:nvGraphicFramePr>
        <p:xfrm>
          <a:off x="503999" y="1655999"/>
          <a:ext cx="11231999" cy="252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01/02/2019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649 853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1 391 768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1 138 786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01/07/2021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834 630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1 105 884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1 105 884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214 476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690 792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437 938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1 473 449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1 583 957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418 355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185 792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598 404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353 612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175 002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563 652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333 076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385 407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414 312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279 828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01/02/2019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206 709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442 702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230 692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164 534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357 176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213 283</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01/08/2023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375 286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262 700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187 015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256 677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275 928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165 245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228 440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245 573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155 976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264 645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284 493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140 683</a:t>
                      </a:r>
                    </a:p>
                  </a:txBody>
                  <a:tcPr marL="43200" marR="43200" marT="14400" marB="14400" anchor="ctr">
                    <a:solidFill>
                      <a:srgbClr val="FFFFFF"/>
                    </a:solidFill>
                  </a:tcPr>
                </a:tc>
              </a:tr>
            </a:tbl>
          </a:graphicData>
        </a:graphic>
      </p:graphicFrame>
      <p:sp>
        <p:nvSpPr>
          <p:cNvPr id="33" name="TextBox 32"/>
          <p:cNvSpPr txBox="1"/>
          <p:nvPr/>
        </p:nvSpPr>
        <p:spPr>
          <a:xfrm>
            <a:off x="503999" y="428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590000"/>
            <a:ext cx="11232000" cy="1278000"/>
          </a:xfrm>
          <a:prstGeom prst="rect">
            <a:avLst/>
          </a:prstGeom>
          <a:noFill/>
        </p:spPr>
        <p:txBody>
          <a:bodyPr wrap="square" lIns="54000" rIns="54000"/>
          <a:lstStyle/>
          <a:p>
            <a:pPr algn="just">
              <a:spcAft>
                <a:spcPts val="600"/>
              </a:spcAft>
            </a:pPr>
            <a:r>
              <a:rPr sz="1300" b="1">
                <a:solidFill>
                  <a:srgbClr val="060606"/>
                </a:solidFill>
                <a:latin typeface="Helvetica"/>
              </a:rPr>
              <a:t>L'agent A25-24 porte la provision la plus élevée de ce tableau (1 138 786 FCFA)</a:t>
            </a:r>
            <a:r>
              <a:rPr sz="1300" b="0">
                <a:solidFill>
                  <a:srgbClr val="060606"/>
                </a:solidFill>
                <a:latin typeface="Helvetica"/>
              </a:rPr>
              <a:t>, avec 6,83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3049855172"/>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CMP (2/3)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personnel récent : les droits acquis restent faibles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13 agents. Provision recalculée 1 179 170 FCFA. Droits acquis 2 957 567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55 : Provision du personnel au 31/12/2025 : CMP (2/3)</a:t>
            </a:r>
          </a:p>
        </p:txBody>
      </p:sp>
      <p:graphicFrame>
        <p:nvGraphicFramePr>
          <p:cNvPr id="32" name="Table 31"/>
          <p:cNvGraphicFramePr>
            <a:graphicFrameLocks noGrp="1"/>
          </p:cNvGraphicFramePr>
          <p:nvPr/>
        </p:nvGraphicFramePr>
        <p:xfrm>
          <a:off x="503999" y="1655999"/>
          <a:ext cx="11231999" cy="252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A25-34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162 362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174 539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134 789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09/06/2023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208 269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156 201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133 463</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182 299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395 742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116 694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181 222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194 814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102 876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08/05/2023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200 788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155 610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97 269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235 549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253 215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82 796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170 968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371 143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81 901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216 488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232 724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81 650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1969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23/05/2023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102 147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79 164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79 164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213 172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462 761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76 274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19/01/2024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115 067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66 163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66 163</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208 985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224 659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63 733</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177 518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190 832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62 398</a:t>
                      </a:r>
                    </a:p>
                  </a:txBody>
                  <a:tcPr marL="43200" marR="43200" marT="14400" marB="14400" anchor="ctr">
                    <a:solidFill>
                      <a:srgbClr val="FFFFFF"/>
                    </a:solidFill>
                  </a:tcPr>
                </a:tc>
              </a:tr>
            </a:tbl>
          </a:graphicData>
        </a:graphic>
      </p:graphicFrame>
      <p:sp>
        <p:nvSpPr>
          <p:cNvPr id="33" name="TextBox 32"/>
          <p:cNvSpPr txBox="1"/>
          <p:nvPr/>
        </p:nvSpPr>
        <p:spPr>
          <a:xfrm>
            <a:off x="503999" y="428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590000"/>
            <a:ext cx="11232000" cy="1278000"/>
          </a:xfrm>
          <a:prstGeom prst="rect">
            <a:avLst/>
          </a:prstGeom>
          <a:noFill/>
        </p:spPr>
        <p:txBody>
          <a:bodyPr wrap="square" lIns="54000" rIns="54000"/>
          <a:lstStyle/>
          <a:p>
            <a:pPr algn="just">
              <a:spcAft>
                <a:spcPts val="600"/>
              </a:spcAft>
            </a:pPr>
            <a:r>
              <a:rPr sz="1300" b="1">
                <a:solidFill>
                  <a:srgbClr val="060606"/>
                </a:solidFill>
                <a:latin typeface="Helvetica"/>
              </a:rPr>
              <a:t>L'agent A25-34 porte la provision la plus élevée de ce tableau (134 789 FCFA)</a:t>
            </a:r>
            <a:r>
              <a:rPr sz="1300" b="0">
                <a:solidFill>
                  <a:srgbClr val="060606"/>
                </a:solidFill>
                <a:latin typeface="Helvetica"/>
              </a:rPr>
              <a:t>, avec 3,58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432149978"/>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CMP (3/3)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personnel récent : les droits acquis restent faibles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11 agents. Provision recalculée 341 056 FCFA. Droits acquis 1 215 565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56 : Provision du personnel au 31/12/2025 : CMP (3/3)</a:t>
            </a:r>
          </a:p>
        </p:txBody>
      </p:sp>
      <p:graphicFrame>
        <p:nvGraphicFramePr>
          <p:cNvPr id="32" name="Table 31"/>
          <p:cNvGraphicFramePr>
            <a:graphicFrameLocks noGrp="1"/>
          </p:cNvGraphicFramePr>
          <p:nvPr/>
        </p:nvGraphicFramePr>
        <p:xfrm>
          <a:off x="503999" y="1655999"/>
          <a:ext cx="11231999" cy="216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27/04/2023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159 843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127 874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51 239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01/09/2022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115 273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112 391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45 228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01/09/2022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113 347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110 513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38 702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01/05/2023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114 947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89 084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35 673</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01/09/2022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108 698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105 980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32 235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149 755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160 987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31 877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27/04/2023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151 077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120 861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27 569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03/02/2025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216 752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54 188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25 877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161 414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173 520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25 689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10/06/2024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121 201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54 541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15 330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26/03/2024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201 192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105 626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11 636</a:t>
                      </a:r>
                    </a:p>
                  </a:txBody>
                  <a:tcPr marL="43200" marR="43200" marT="14400" marB="14400" anchor="ctr">
                    <a:solidFill>
                      <a:srgbClr val="FFFFFF"/>
                    </a:solidFill>
                  </a:tcPr>
                </a:tc>
              </a:tr>
            </a:tbl>
          </a:graphicData>
        </a:graphic>
      </p:graphicFrame>
      <p:sp>
        <p:nvSpPr>
          <p:cNvPr id="33" name="TextBox 32"/>
          <p:cNvSpPr txBox="1"/>
          <p:nvPr/>
        </p:nvSpPr>
        <p:spPr>
          <a:xfrm>
            <a:off x="503999" y="392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230000"/>
            <a:ext cx="11232000" cy="1638000"/>
          </a:xfrm>
          <a:prstGeom prst="rect">
            <a:avLst/>
          </a:prstGeom>
          <a:noFill/>
        </p:spPr>
        <p:txBody>
          <a:bodyPr wrap="square" lIns="54000" rIns="54000"/>
          <a:lstStyle/>
          <a:p>
            <a:pPr algn="just">
              <a:spcAft>
                <a:spcPts val="600"/>
              </a:spcAft>
            </a:pPr>
            <a:r>
              <a:rPr sz="1300" b="1">
                <a:solidFill>
                  <a:srgbClr val="060606"/>
                </a:solidFill>
                <a:latin typeface="Helvetica"/>
              </a:rPr>
              <a:t>L'agent A25-51 porte la provision la plus élevée de ce tableau (51 239 FCFA)</a:t>
            </a:r>
            <a:r>
              <a:rPr sz="1300" b="0">
                <a:solidFill>
                  <a:srgbClr val="060606"/>
                </a:solidFill>
                <a:latin typeface="Helvetica"/>
              </a:rPr>
              <a:t>, avec 2,67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726474145"/>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agents, dont un recruté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3 agents. Provision recalculée 1 454 296 FCFA. Droits acquis 2 790 059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57 : Provision du personnel au 31/12/2025 : Grenier</a:t>
            </a:r>
          </a:p>
        </p:txBody>
      </p:sp>
      <p:graphicFrame>
        <p:nvGraphicFramePr>
          <p:cNvPr id="32" name="Table 31"/>
          <p:cNvGraphicFramePr>
            <a:graphicFrameLocks noGrp="1"/>
          </p:cNvGraphicFramePr>
          <p:nvPr/>
        </p:nvGraphicFramePr>
        <p:xfrm>
          <a:off x="503999" y="1655999"/>
          <a:ext cx="11231999" cy="72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601 941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2 417 796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1 296 016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01/12/2021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278 607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334 328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155 168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01/05/2025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216 771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37 935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3 113</a:t>
                      </a:r>
                    </a:p>
                  </a:txBody>
                  <a:tcPr marL="43200" marR="43200" marT="14400" marB="14400" anchor="ctr">
                    <a:solidFill>
                      <a:srgbClr val="FFFFFF"/>
                    </a:solidFill>
                  </a:tcPr>
                </a:tc>
              </a:tr>
            </a:tbl>
          </a:graphicData>
        </a:graphic>
      </p:graphicFrame>
      <p:sp>
        <p:nvSpPr>
          <p:cNvPr id="33" name="TextBox 32"/>
          <p:cNvSpPr txBox="1"/>
          <p:nvPr/>
        </p:nvSpPr>
        <p:spPr>
          <a:xfrm>
            <a:off x="503999" y="248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2789999"/>
            <a:ext cx="11232000" cy="3078000"/>
          </a:xfrm>
          <a:prstGeom prst="rect">
            <a:avLst/>
          </a:prstGeom>
          <a:noFill/>
        </p:spPr>
        <p:txBody>
          <a:bodyPr wrap="square" lIns="54000" rIns="54000"/>
          <a:lstStyle/>
          <a:p>
            <a:pPr algn="just">
              <a:spcAft>
                <a:spcPts val="600"/>
              </a:spcAft>
            </a:pPr>
            <a:r>
              <a:rPr sz="1300" b="1">
                <a:solidFill>
                  <a:srgbClr val="060606"/>
                </a:solidFill>
                <a:latin typeface="Helvetica"/>
              </a:rPr>
              <a:t>L'agent A25-06 porte la provision la plus élevée de ce tableau (1 296 016 FCFA)</a:t>
            </a:r>
            <a:r>
              <a:rPr sz="1300" b="0">
                <a:solidFill>
                  <a:srgbClr val="060606"/>
                </a:solidFill>
                <a:latin typeface="Helvetica"/>
              </a:rPr>
              <a:t>, avec 11,92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2598677532"/>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rattachement non documenté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19 agents recrutés en 2025 ne figurent dans aucun récapitulatif de salaires par 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10 agents. Provision recalculée 143 225 FCFA. Droits acquis 355 935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58 : Provision du personnel au 31/12/2025 : Non documentée (1/2)</a:t>
            </a:r>
          </a:p>
        </p:txBody>
      </p:sp>
      <p:graphicFrame>
        <p:nvGraphicFramePr>
          <p:cNvPr id="32" name="Table 31"/>
          <p:cNvGraphicFramePr>
            <a:graphicFrameLocks noGrp="1"/>
          </p:cNvGraphicFramePr>
          <p:nvPr/>
        </p:nvGraphicFramePr>
        <p:xfrm>
          <a:off x="503999" y="1655999"/>
          <a:ext cx="11231999" cy="198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A25-68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329 861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49 479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23 500</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11/06/2025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216 619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32 493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18 608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03/02/2025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297 488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74 372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15 692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25/03/2025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95 176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21 415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14 792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215 194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32 279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14 424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07/04/2025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0,67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103 727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20 745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13 518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195 447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29 317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13 101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11/06/2025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210 908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31 636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11 638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219 636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32 945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9 212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09/06/2025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208 357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31 254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8 739</a:t>
                      </a:r>
                    </a:p>
                  </a:txBody>
                  <a:tcPr marL="43200" marR="43200" marT="14400" marB="14400" anchor="ctr">
                    <a:solidFill>
                      <a:srgbClr val="F2F2F2"/>
                    </a:solidFill>
                  </a:tcPr>
                </a:tc>
              </a:tr>
            </a:tbl>
          </a:graphicData>
        </a:graphic>
      </p:graphicFrame>
      <p:sp>
        <p:nvSpPr>
          <p:cNvPr id="33" name="TextBox 32"/>
          <p:cNvSpPr txBox="1"/>
          <p:nvPr/>
        </p:nvSpPr>
        <p:spPr>
          <a:xfrm>
            <a:off x="503999" y="374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050000"/>
            <a:ext cx="11232000" cy="1818000"/>
          </a:xfrm>
          <a:prstGeom prst="rect">
            <a:avLst/>
          </a:prstGeom>
          <a:noFill/>
        </p:spPr>
        <p:txBody>
          <a:bodyPr wrap="square" lIns="54000" rIns="54000"/>
          <a:lstStyle/>
          <a:p>
            <a:pPr algn="just">
              <a:spcAft>
                <a:spcPts val="600"/>
              </a:spcAft>
            </a:pPr>
            <a:r>
              <a:rPr sz="1300" b="1">
                <a:solidFill>
                  <a:srgbClr val="060606"/>
                </a:solidFill>
                <a:latin typeface="Helvetica"/>
              </a:rPr>
              <a:t>L'agent A25-68 porte la provision la plus élevée de ce tableau (23 500 FCFA)</a:t>
            </a:r>
            <a:r>
              <a:rPr sz="1300" b="0">
                <a:solidFill>
                  <a:srgbClr val="060606"/>
                </a:solidFill>
                <a:latin typeface="Helvetica"/>
              </a:rPr>
              <a:t>, avec 0,50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577580649"/>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rattachement non documenté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19 agents recrutés en 2025 ne figurent dans aucun récapitulatif de salaires par 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9 agents. Provision recalculée 50 244 FCFA. Droits acquis 217 943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des calculs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59 : Provision du personnel au 31/12/2025 : Non documentée (2/2)</a:t>
            </a:r>
          </a:p>
        </p:txBody>
      </p:sp>
      <p:graphicFrame>
        <p:nvGraphicFramePr>
          <p:cNvPr id="32" name="Table 31"/>
          <p:cNvGraphicFramePr>
            <a:graphicFrameLocks noGrp="1"/>
          </p:cNvGraphicFramePr>
          <p:nvPr/>
        </p:nvGraphicFramePr>
        <p:xfrm>
          <a:off x="503999" y="1655999"/>
          <a:ext cx="11231999" cy="180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A25-60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03/02/2025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251 915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62 979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8 619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194 348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24 294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7 799</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03/07/2025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137 651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17 206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6 758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115 067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14 383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6 420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09/07/2025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205 256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25 657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5 804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103 727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12 966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5 787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09/06/2025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229 527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34 429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3 518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98 590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12 324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3 211</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04/07/2025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109 642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13 705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2 328</a:t>
                      </a:r>
                    </a:p>
                  </a:txBody>
                  <a:tcPr marL="43200" marR="43200" marT="14400" marB="14400" anchor="ctr">
                    <a:solidFill>
                      <a:srgbClr val="FFFFFF"/>
                    </a:solidFill>
                  </a:tcPr>
                </a:tc>
              </a:tr>
            </a:tbl>
          </a:graphicData>
        </a:graphic>
      </p:graphicFrame>
      <p:sp>
        <p:nvSpPr>
          <p:cNvPr id="33" name="TextBox 32"/>
          <p:cNvSpPr txBox="1"/>
          <p:nvPr/>
        </p:nvSpPr>
        <p:spPr>
          <a:xfrm>
            <a:off x="503999" y="356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3870000"/>
            <a:ext cx="11232000" cy="1998000"/>
          </a:xfrm>
          <a:prstGeom prst="rect">
            <a:avLst/>
          </a:prstGeom>
          <a:noFill/>
        </p:spPr>
        <p:txBody>
          <a:bodyPr wrap="square" lIns="54000" rIns="54000"/>
          <a:lstStyle/>
          <a:p>
            <a:pPr algn="just">
              <a:spcAft>
                <a:spcPts val="600"/>
              </a:spcAft>
            </a:pPr>
            <a:r>
              <a:rPr sz="1300" b="1">
                <a:solidFill>
                  <a:srgbClr val="060606"/>
                </a:solidFill>
                <a:latin typeface="Helvetica"/>
              </a:rPr>
              <a:t>L'agent A25-60 porte la provision la plus élevée de ce tableau (8 619 FCFA)</a:t>
            </a:r>
            <a:r>
              <a:rPr sz="1300" b="0">
                <a:solidFill>
                  <a:srgbClr val="060606"/>
                </a:solidFill>
                <a:latin typeface="Helvetica"/>
              </a:rPr>
              <a:t>, avec 0,83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2246624286"/>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 sensibilités et qualité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rotation du personnel pèse plus que l'âge de départ ou le taux d'actualisation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Sans rotation, la provision passerait de 24 446 566 FCFA à 62 618 476 FCFA. 12 dates d'embauche changent dans la DISA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IAS 19, § 145. Onglets 14a à 14c du classeur des calculs</a:t>
            </a:r>
          </a:p>
        </p:txBody>
      </p:sp>
      <p:sp>
        <p:nvSpPr>
          <p:cNvPr id="31" name="TextBox 30"/>
          <p:cNvSpPr txBox="1"/>
          <p:nvPr/>
        </p:nvSpPr>
        <p:spPr>
          <a:xfrm>
            <a:off x="503999" y="1386000"/>
            <a:ext cx="10080000" cy="216000"/>
          </a:xfrm>
          <a:prstGeom prst="rect">
            <a:avLst/>
          </a:prstGeom>
          <a:noFill/>
        </p:spPr>
        <p:txBody>
          <a:bodyPr wrap="square" anchor="t" lIns="54000" rIns="54000"/>
          <a:lstStyle/>
          <a:p>
            <a:pPr algn="ctr"/>
            <a:r>
              <a:rPr sz="1200" b="0">
                <a:solidFill>
                  <a:srgbClr val="EFAC62"/>
                </a:solidFill>
                <a:latin typeface="Helvetica"/>
              </a:rPr>
              <a:t>Tableau 60 : Sensibilité de la provision du personnel au 31/12/2025</a:t>
            </a:r>
          </a:p>
        </p:txBody>
      </p:sp>
      <p:graphicFrame>
        <p:nvGraphicFramePr>
          <p:cNvPr id="32" name="Table 31"/>
          <p:cNvGraphicFramePr>
            <a:graphicFrameLocks noGrp="1"/>
          </p:cNvGraphicFramePr>
          <p:nvPr/>
        </p:nvGraphicFramePr>
        <p:xfrm>
          <a:off x="503999" y="1655999"/>
          <a:ext cx="10080000" cy="1363376"/>
        </p:xfrm>
        <a:graphic>
          <a:graphicData uri="http://schemas.openxmlformats.org/drawingml/2006/table">
            <a:tbl>
              <a:tblPr firstRow="0" bandRow="0">
                <a:tableStyleId>{5940675A-B579-460E-94D1-54222C63F5DA}</a:tableStyleId>
              </a:tblPr>
              <a:tblGrid>
                <a:gridCol w="4320000"/>
                <a:gridCol w="2880000"/>
                <a:gridCol w="2880000"/>
              </a:tblGrid>
              <a:tr h="194768">
                <a:tc>
                  <a:txBody>
                    <a:bodyPr/>
                    <a:lstStyle/>
                    <a:p>
                      <a:pPr marL="0" indent="0" lvl="0">
                        <a:buNone/>
                      </a:pPr>
                      <a:r>
                        <a:rPr sz="900" b="1">
                          <a:solidFill>
                            <a:srgbClr val="FFFFFF"/>
                          </a:solidFill>
                          <a:latin typeface="Helvetica"/>
                        </a:rPr>
                        <a:t>Hypothèse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à l'hypothèse centrale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Hypothèses centrales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24 446 566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Départ à 58 ans (trois enfants à charge)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19 848 492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-18,81 %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Départ à 60 ans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17 184 450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-29,71 %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Taux d'actualisation de 3,5 %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32 254 939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31,94 %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Sans rotation du personnel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62 618 476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156,14 %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Salaires + 1 point par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26 163 645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7,02 %</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personnel civil de la DISA 2025, évaluation au 31/12/2025. Plafond conventionnel non appliqué.</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5 agents ont déjà 55 ans ou plus et sont toujours en poste en 2025, dont un de 60 ans.</a:t>
            </a:r>
            <a:r>
              <a:rPr sz="1300" b="0">
                <a:solidFill>
                  <a:srgbClr val="060606"/>
                </a:solidFill>
                <a:latin typeface="Helvetica"/>
              </a:rPr>
              <a:t> Le FPPN n'applique donc pas l'âge de 55 ans. L'âge retenu par le FPPN est à confirmer.</a:t>
            </a:r>
          </a:p>
          <a:p>
            <a:pPr algn="just">
              <a:spcAft>
                <a:spcPts val="600"/>
              </a:spcAft>
            </a:pPr>
            <a:r>
              <a:rPr sz="1300" b="1">
                <a:solidFill>
                  <a:srgbClr val="060606"/>
                </a:solidFill>
                <a:latin typeface="Helvetica"/>
              </a:rPr>
              <a:t>Pour 12 agents, la date d'embauche de la DISA 2025 diffère de celle des DISA 2021 à 2023</a:t>
            </a:r>
            <a:r>
              <a:rPr sz="1300" b="0">
                <a:solidFill>
                  <a:srgbClr val="060606"/>
                </a:solidFill>
                <a:latin typeface="Helvetica"/>
              </a:rPr>
              <a:t>, dont 3 remplacées par le 28/10/2013. Pour l'agent A25-01, embauché le 01/01/2006 selon les DISA 2021 à 2023, l'ancienneté retenue baisse de plus de sept ans.</a:t>
            </a:r>
          </a:p>
          <a:p>
            <a:pPr algn="just">
              <a:spcAft>
                <a:spcPts val="600"/>
              </a:spcAft>
            </a:pPr>
            <a:r>
              <a:rPr sz="1300" b="1">
                <a:solidFill>
                  <a:srgbClr val="060606"/>
                </a:solidFill>
                <a:latin typeface="Helvetica"/>
              </a:rPr>
              <a:t>L'indemnité projetée la plus élevée atteint 104 542 202 FCFA</a:t>
            </a:r>
            <a:r>
              <a:rPr sz="1300" b="0">
                <a:solidFill>
                  <a:srgbClr val="060606"/>
                </a:solidFill>
                <a:latin typeface="Helvetica"/>
              </a:rPr>
              <a:t> : le plafond de 25 fois le SMIG annuel (convention, art. 40) peut s'appliquer, mais le montant du SMIG ne figure dans aucun document reçu.</a:t>
            </a:r>
          </a:p>
          <a:p>
            <a:pPr algn="just">
              <a:spcAft>
                <a:spcPts val="600"/>
              </a:spcAft>
            </a:pPr>
            <a:r>
              <a:rPr sz="1300" b="0">
                <a:solidFill>
                  <a:srgbClr val="060606"/>
                </a:solidFill>
                <a:latin typeface="Helvetica"/>
              </a:rPr>
              <a:t>Le FPPN doit confirmer l'âge de départ appliqué, les dates d'embauche, le rattachement des agents recrutés en 2025 et le nombre d'enfants à charge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IAS, IFRS : normes comptables internationales | SMIG : salaire minimum interprofessionnel garanti | DISA : déclaration individuelle des salaires annuels à la CNPS</a:t>
            </a:r>
          </a:p>
        </p:txBody>
      </p:sp>
    </p:spTree>
    <p:extLst>
      <p:ext uri="{BB962C8B-B14F-4D97-AF65-F5344CB8AC3E}">
        <p14:creationId xmlns:p14="http://schemas.microsoft.com/office/powerpoint/2010/main" val="2844304542"/>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engagements envers les adhérents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et ses intérêts dus représentent l'essentiel des engagements mesurés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Engagements mesurés au 31/08/2026 : 19 518 949 298 FCFA (épargne avec intérêts dus, allocations décès dues et décès tardifs)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diapositives diapositive 85, diapositive 112, diapositive 113, diapositive 109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61 : Engagements envers les adhérents et ayants droit : méthode et résultat</a:t>
            </a:r>
          </a:p>
        </p:txBody>
      </p:sp>
      <p:graphicFrame>
        <p:nvGraphicFramePr>
          <p:cNvPr id="32" name="Table 31"/>
          <p:cNvGraphicFramePr>
            <a:graphicFrameLocks noGrp="1"/>
          </p:cNvGraphicFramePr>
          <p:nvPr/>
        </p:nvGraphicFramePr>
        <p:xfrm>
          <a:off x="503999" y="1655999"/>
          <a:ext cx="11232000" cy="1828228"/>
        </p:xfrm>
        <a:graphic>
          <a:graphicData uri="http://schemas.openxmlformats.org/drawingml/2006/table">
            <a:tbl>
              <a:tblPr firstRow="0" bandRow="0">
                <a:tableStyleId>{5940675A-B579-460E-94D1-54222C63F5DA}</a:tableStyleId>
              </a:tblPr>
              <a:tblGrid>
                <a:gridCol w="2088000"/>
                <a:gridCol w="3384000"/>
                <a:gridCol w="1944000"/>
                <a:gridCol w="3816000"/>
              </a:tblGrid>
              <a:tr h="187148">
                <a:tc>
                  <a:txBody>
                    <a:bodyPr/>
                    <a:lstStyle/>
                    <a:p>
                      <a:pPr marL="0" indent="0" lvl="0">
                        <a:buNone/>
                      </a:pPr>
                      <a:r>
                        <a:rPr sz="850" b="1">
                          <a:solidFill>
                            <a:srgbClr val="FFFFFF"/>
                          </a:solidFill>
                          <a:latin typeface="Helvetica"/>
                        </a:rPr>
                        <a:t>Engagement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retenue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Résultat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 manque pour conclure</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Épargne PEP et EFC</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Solde comptable + intérêts dus du 01/01/2020 au taux du manuel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19 022 429 629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arrêté, relevés individuels, âge de départ de chaque titulaire d'EFC</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Allocations décès dues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Liste du FPPN des décès non payés au barème (41591000, 41592000)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489 419 669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Date de dépôt de chaque demande, pour écarter les dossiers forclos</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Décès non encore déclarés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Décès d'une année enregistrés l'année suivante (états 2021 et 2023)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7 100 000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Date d'enregistrement dans les états 2022, 2024 et 2025</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Soins faits, non encore facturés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Factures de cliniques d'une année enregistrées l'année suivante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12 481 392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Base des prestations avec dates des soins, du dépôt et du paiement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Santé des retraités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 mesurable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 mesuré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Âges et prestations des retraités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Personnel du FPPN (hors adhérents)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Recalcul agent par agent (décret n° 2017-210)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24 446 566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Fichier des agents policiers détachés</a:t>
                      </a:r>
                    </a:p>
                  </a:txBody>
                  <a:tcPr marL="43200" marR="43200" marT="14400" marB="14400" anchor="ctr">
                    <a:solidFill>
                      <a:srgbClr val="F2F2F2"/>
                    </a:solidFill>
                  </a:tcPr>
                </a:tc>
              </a:tr>
            </a:tbl>
          </a:graphicData>
        </a:graphic>
      </p:graphicFrame>
      <p:sp>
        <p:nvSpPr>
          <p:cNvPr id="33" name="TextBox 32"/>
          <p:cNvSpPr txBox="1"/>
          <p:nvPr/>
        </p:nvSpPr>
        <p:spPr>
          <a:xfrm>
            <a:off x="503999" y="3592229"/>
            <a:ext cx="11232000" cy="162000"/>
          </a:xfrm>
          <a:prstGeom prst="rect">
            <a:avLst/>
          </a:prstGeom>
          <a:noFill/>
        </p:spPr>
        <p:txBody>
          <a:bodyPr wrap="square" anchor="t" lIns="54000" rIns="54000"/>
          <a:lstStyle/>
          <a:p>
            <a:pPr algn="l"/>
            <a:r>
              <a:rPr sz="850" b="0">
                <a:solidFill>
                  <a:srgbClr val="53565A"/>
                </a:solidFill>
                <a:latin typeface="Helvetica"/>
              </a:rPr>
              <a:t>Valable pour : balance provisoire au 31/08/2026. États de fin d'année des allocations décès 2021 à 2025. Factures de cliniques du journal SIN 2023 à 2025. DISA 2021 à 2025.</a:t>
            </a:r>
          </a:p>
        </p:txBody>
      </p:sp>
      <p:sp>
        <p:nvSpPr>
          <p:cNvPr id="34" name="TextBox 33"/>
          <p:cNvSpPr txBox="1"/>
          <p:nvPr/>
        </p:nvSpPr>
        <p:spPr>
          <a:xfrm>
            <a:off x="503999" y="3898229"/>
            <a:ext cx="11232000" cy="1969770"/>
          </a:xfrm>
          <a:prstGeom prst="rect">
            <a:avLst/>
          </a:prstGeom>
          <a:noFill/>
        </p:spPr>
        <p:txBody>
          <a:bodyPr wrap="square" lIns="54000" rIns="54000"/>
          <a:lstStyle/>
          <a:p>
            <a:pPr algn="just">
              <a:spcAft>
                <a:spcPts val="600"/>
              </a:spcAft>
            </a:pPr>
            <a:r>
              <a:rPr sz="1300" b="1">
                <a:solidFill>
                  <a:srgbClr val="060606"/>
                </a:solidFill>
                <a:latin typeface="Helvetica"/>
              </a:rPr>
              <a:t>L'épargne représente 97,46 % des engagements mesurés envers les adhérents.</a:t>
            </a:r>
            <a:r>
              <a:rPr sz="1300" b="0">
                <a:solidFill>
                  <a:srgbClr val="060606"/>
                </a:solidFill>
                <a:latin typeface="Helvetica"/>
              </a:rPr>
              <a:t> Les engagements maladie et décès sont des dettes de quelques mois, réglées en principe dans les délais du règlement intérieur (art. 52, 57 et 58).</a:t>
            </a:r>
          </a:p>
          <a:p>
            <a:pPr algn="just">
              <a:spcAft>
                <a:spcPts val="600"/>
              </a:spcAft>
            </a:pPr>
            <a:r>
              <a:rPr sz="1300" b="0">
                <a:solidFill>
                  <a:srgbClr val="060606"/>
                </a:solidFill>
                <a:latin typeface="Helvetica"/>
              </a:rPr>
              <a:t>L'évaluation des engagements dépend d'abord de l'épargne : arrêter le taux servi et tenir des comptes individuels à jour sont les deux conditions d'un engagement démontré.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DISA : déclaration individuelle des salaires annuels à la CNPS</a:t>
            </a:r>
          </a:p>
        </p:txBody>
      </p:sp>
    </p:spTree>
    <p:extLst>
      <p:ext uri="{BB962C8B-B14F-4D97-AF65-F5344CB8AC3E}">
        <p14:creationId xmlns:p14="http://schemas.microsoft.com/office/powerpoint/2010/main" val="3184178387"/>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suffisance des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provisions du bilan suffisent en montant, mais aucune n'est calculée et deux manquent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maladie et obsèques au bilan : 4 829 298 290 FCFA. Besoins mesurés : 19 581 392 FCFA hors dettes déjà comptabilisées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du FPPN édités le 15/06/2023, art. 85, 88 et 89. Règlement d'exécution n° 004/2022/COM/UEMOA du 1er juin 2022, art. 10. Diapositives de détail de la partie 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62 : Provisions : méthode annuelle proposée et montants</a:t>
            </a:r>
          </a:p>
        </p:txBody>
      </p:sp>
      <p:graphicFrame>
        <p:nvGraphicFramePr>
          <p:cNvPr id="32" name="Table 31"/>
          <p:cNvGraphicFramePr>
            <a:graphicFrameLocks noGrp="1"/>
          </p:cNvGraphicFramePr>
          <p:nvPr/>
        </p:nvGraphicFramePr>
        <p:xfrm>
          <a:off x="503999" y="1655999"/>
          <a:ext cx="11232000" cy="1511532"/>
        </p:xfrm>
        <a:graphic>
          <a:graphicData uri="http://schemas.openxmlformats.org/drawingml/2006/table">
            <a:tbl>
              <a:tblPr firstRow="0" bandRow="0">
                <a:tableStyleId>{5940675A-B579-460E-94D1-54222C63F5DA}</a:tableStyleId>
              </a:tblPr>
              <a:tblGrid>
                <a:gridCol w="1728000"/>
                <a:gridCol w="3600000"/>
                <a:gridCol w="1728000"/>
                <a:gridCol w="1728000"/>
                <a:gridCol w="2448000"/>
              </a:tblGrid>
              <a:tr h="187148">
                <a:tc>
                  <a:txBody>
                    <a:bodyPr/>
                    <a:lstStyle/>
                    <a:p>
                      <a:pPr marL="0" indent="0" lvl="0">
                        <a:buNone/>
                      </a:pPr>
                      <a:r>
                        <a:rPr sz="850" b="1">
                          <a:solidFill>
                            <a:srgbClr val="FFFFFF"/>
                          </a:solidFill>
                          <a:latin typeface="Helvetica"/>
                        </a:rPr>
                        <a:t>Provision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annuelle proposée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Au bilan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Besoin mesuré</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Fichier du FPPN à utiliser</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Maladie (15801000)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Soins de l'année facturés après la clôture, mesurés sur les factures reçues de janvier à mars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12 481 392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Journal SIN, numéro et date de facture</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Décès (15802000)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Décès survenus non déclarés. Les décès connus restent au 41591000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7 100 000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État de fin d'année avec date de décès et d'enregistrement</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Risques courts (art. 88)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Période non couverte par une cotisation à la clôture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Calendrier des précomptes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Intérêts dus sur l'épargne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Épargne moyenne × taux arrêté, compte par compte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Aucune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3 278 913 238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Relevés individuels PEP et EFC</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Dépréciation des prêts du Grenier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Encours par tranche de retard × taux de la politique de crédit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14 016 392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Balance âgée du logiciel de prêts</a:t>
                      </a:r>
                    </a:p>
                  </a:txBody>
                  <a:tcPr marL="43200" marR="43200" marT="14400" marB="14400" anchor="ctr">
                    <a:solidFill>
                      <a:srgbClr val="FFFFFF"/>
                    </a:solidFill>
                  </a:tcPr>
                </a:tc>
              </a:tr>
            </a:tbl>
          </a:graphicData>
        </a:graphic>
      </p:graphicFrame>
      <p:sp>
        <p:nvSpPr>
          <p:cNvPr id="33" name="TextBox 32"/>
          <p:cNvSpPr txBox="1"/>
          <p:nvPr/>
        </p:nvSpPr>
        <p:spPr>
          <a:xfrm>
            <a:off x="503999" y="3275533"/>
            <a:ext cx="11232000" cy="162000"/>
          </a:xfrm>
          <a:prstGeom prst="rect">
            <a:avLst/>
          </a:prstGeom>
          <a:noFill/>
        </p:spPr>
        <p:txBody>
          <a:bodyPr wrap="square" anchor="t" lIns="54000" rIns="54000"/>
          <a:lstStyle/>
          <a:p>
            <a:pPr algn="l"/>
            <a:r>
              <a:rPr sz="850" b="0">
                <a:solidFill>
                  <a:srgbClr val="53565A"/>
                </a:solidFill>
                <a:latin typeface="Helvetica"/>
              </a:rPr>
              <a:t>Valable pour : provisions au bilan du 31/08/2026. Besoins mesurés aux dates indiquées dans les diapositives de détail.</a:t>
            </a:r>
          </a:p>
        </p:txBody>
      </p:sp>
      <p:sp>
        <p:nvSpPr>
          <p:cNvPr id="34" name="TextBox 33"/>
          <p:cNvSpPr txBox="1"/>
          <p:nvPr/>
        </p:nvSpPr>
        <p:spPr>
          <a:xfrm>
            <a:off x="503999" y="3581533"/>
            <a:ext cx="11232000" cy="2286466"/>
          </a:xfrm>
          <a:prstGeom prst="rect">
            <a:avLst/>
          </a:prstGeom>
          <a:noFill/>
        </p:spPr>
        <p:txBody>
          <a:bodyPr wrap="square" lIns="54000" rIns="54000"/>
          <a:lstStyle/>
          <a:p>
            <a:pPr algn="just">
              <a:spcAft>
                <a:spcPts val="600"/>
              </a:spcAft>
            </a:pPr>
            <a:r>
              <a:rPr sz="1300" b="1">
                <a:solidFill>
                  <a:srgbClr val="060606"/>
                </a:solidFill>
                <a:latin typeface="Helvetica"/>
              </a:rPr>
              <a:t>Le FPPN dispose déjà des fichiers nécessaires à un calcul annuel simple de chaque provision.</a:t>
            </a:r>
            <a:r>
              <a:rPr sz="1300" b="0">
                <a:solidFill>
                  <a:srgbClr val="060606"/>
                </a:solidFill>
                <a:latin typeface="Helvetica"/>
              </a:rPr>
              <a:t> Ce calcul n'est pas fait : les provisions maladie et obsèques sont inchangées depuis 2020.</a:t>
            </a:r>
          </a:p>
          <a:p>
            <a:pPr algn="just">
              <a:spcAft>
                <a:spcPts val="600"/>
              </a:spcAft>
            </a:pPr>
            <a:r>
              <a:rPr sz="1300" b="0">
                <a:solidFill>
                  <a:srgbClr val="060606"/>
                </a:solidFill>
                <a:latin typeface="Helvetica"/>
              </a:rPr>
              <a:t>Une note de calcul annuelle des provisions, signée et présentée à l'Assemblée générale, permettrait de démontrer leur suffisance chaque année (statuts, art. 85 et 89).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332384856"/>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Adossement actif-passif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Liquidité, écoulement de l'épargne, tests de résistance, gouvernance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744094798"/>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 l'actif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repose sur des créances et des investissements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CMP 7 083 534 565 FCFA, terrains 5 245 896 750 FCFA, trésorerie 3 359 100 618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30 : Principaux postes de l'actif</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montants « CMP » passent de 2 984 680 712 FCFA en 2020 à 7 083 534 565 FCFA au 31/08/2026.</a:t>
            </a:r>
          </a:p>
          <a:p>
            <a:pPr algn="just">
              <a:spcAft>
                <a:spcPts val="600"/>
              </a:spcAft>
            </a:pPr>
            <a:r>
              <a:rPr sz="1400" b="1">
                <a:solidFill>
                  <a:srgbClr val="060606"/>
                </a:solidFill>
                <a:latin typeface="Helvetica"/>
              </a:rPr>
              <a:t>La créance sur l'Hôpital de la Police (3 407 519 850 FCFA) n'a pas bougé depuis 2020.</a:t>
            </a:r>
            <a:r>
              <a:rPr sz="1400" b="0">
                <a:solidFill>
                  <a:srgbClr val="060606"/>
                </a:solidFill>
                <a:latin typeface="Helvetica"/>
              </a:rPr>
              <a:t> Aucun remboursement n'apparaît.</a:t>
            </a:r>
          </a:p>
          <a:p>
            <a:pPr algn="just">
              <a:spcAft>
                <a:spcPts val="600"/>
              </a:spcAft>
            </a:pPr>
            <a:r>
              <a:rPr sz="1400" b="1">
                <a:solidFill>
                  <a:srgbClr val="060606"/>
                </a:solidFill>
                <a:latin typeface="Helvetica"/>
              </a:rPr>
              <a:t>Les dettes envers les cliniques atteignent 690 234 451 FCFA au 31/08/2026.</a:t>
            </a:r>
          </a:p>
          <a:p>
            <a:pPr algn="just">
              <a:spcAft>
                <a:spcPts val="600"/>
              </a:spcAft>
            </a:pPr>
            <a:r>
              <a:rPr sz="1400" b="0">
                <a:solidFill>
                  <a:srgbClr val="060606"/>
                </a:solidFill>
                <a:latin typeface="Helvetica"/>
              </a:rPr>
              <a:t>Le FPPN finance aussi des charges de fonctionnement « au CMP ». Le règlement d'exécution n° 004/2022 interdit de couvrir les pertes d'activités sanitaires par les cotisations ou les réserves obligatoires (art. 27) : une comptabilité séparée de ces activités doit le démontrer.</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d'actif (classes 2 à 5, 41 et 47) des balances « BALANCE FORMAT EXCEL DE 09-2020 AU 31-12-2020.xlsx » à « BALANCE FPPN DU 01-01-2026 AU 31-08-2026.xlsx », au 31/12 de 2020 à 2025 et au 31/08/2026. Valeurs comptables non réévaluées.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a:t>
            </a:r>
          </a:p>
        </p:txBody>
      </p:sp>
    </p:spTree>
    <p:extLst>
      <p:ext uri="{BB962C8B-B14F-4D97-AF65-F5344CB8AC3E}">
        <p14:creationId xmlns:p14="http://schemas.microsoft.com/office/powerpoint/2010/main" val="906469872"/>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liquidité provisoire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mobilisable en moins d'un an couvre la moitié du passif à moins d'un an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mobilisable en moins d'un an 3 457 866 951 FCFA, passif à moins d'un an hors épargne 7 017 736 497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31 : Actif par délai de mobilisation et passif par échéance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Dossier de préparation de la mission, § 3.1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Plus des trois quarts de l'actif sont à plus de cinq ans ou de délai incertain.</a:t>
            </a:r>
            <a:r>
              <a:rPr sz="1400" b="0">
                <a:solidFill>
                  <a:srgbClr val="060606"/>
                </a:solidFill>
                <a:latin typeface="Helvetica"/>
              </a:rPr>
              <a:t> Cette tranche vaut 17 170 238 905 FCFA sur 21 925 420 866 FCFA au 31/08/2026.</a:t>
            </a:r>
          </a:p>
          <a:p>
            <a:pPr algn="just">
              <a:spcAft>
                <a:spcPts val="600"/>
              </a:spcAft>
            </a:pPr>
            <a:r>
              <a:rPr sz="1400" b="1">
                <a:solidFill>
                  <a:srgbClr val="060606"/>
                </a:solidFill>
                <a:latin typeface="Helvetica"/>
              </a:rPr>
              <a:t>L'actif à moins d'un an ne couvre pas le passif à moins d'un an.</a:t>
            </a:r>
            <a:r>
              <a:rPr sz="1400" b="0">
                <a:solidFill>
                  <a:srgbClr val="060606"/>
                </a:solidFill>
                <a:latin typeface="Helvetica"/>
              </a:rPr>
              <a:t> L'écart vaut 3 559 869 546 FCFA au 31/08/2026, avant même toute sortie d'épargne.</a:t>
            </a:r>
          </a:p>
          <a:p>
            <a:pPr algn="just">
              <a:spcAft>
                <a:spcPts val="600"/>
              </a:spcAft>
            </a:pPr>
            <a:r>
              <a:rPr sz="1400" b="1">
                <a:solidFill>
                  <a:srgbClr val="060606"/>
                </a:solidFill>
                <a:latin typeface="Helvetica"/>
              </a:rPr>
              <a:t>L'épargne (15 743 516 391 FCFA) n'a pas d'échéancier connu.</a:t>
            </a:r>
            <a:r>
              <a:rPr sz="1400" b="0">
                <a:solidFill>
                  <a:srgbClr val="060606"/>
                </a:solidFill>
                <a:latin typeface="Helvetica"/>
              </a:rPr>
              <a:t> Chaque départ à la retraite déclenche pourtant le versement de l'EFC.</a:t>
            </a:r>
          </a:p>
          <a:p>
            <a:pPr algn="just">
              <a:spcAft>
                <a:spcPts val="600"/>
              </a:spcAft>
            </a:pPr>
            <a:r>
              <a:rPr sz="1400" b="0">
                <a:solidFill>
                  <a:srgbClr val="060606"/>
                </a:solidFill>
                <a:latin typeface="Helvetica"/>
              </a:rPr>
              <a:t>Cet adossement est une borne favorable (diapositive suivante) : le passif à moins d'un an comprend les provisions pour prestations à payer, dont le montant n'est pas recalculé. Le FPPN finance des engagements courts avec des actifs longs : c'est le risque de liquidité central, à confirmer avec l'échéancier de l'épargne.</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actifs classés par délai de mobilisation et passif par échéance d'après la nature des comptes des balances « BALANCE FORMAT EXCEL DE 09-2020 AU 31-12-2020.xlsx » à « BALANCE FPPN DU 01-01-2026 AU 31-08-2026.xlsx », au 31/12/2025 et au 31/08/2026.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a:t>
            </a:r>
          </a:p>
        </p:txBody>
      </p:sp>
    </p:spTree>
    <p:extLst>
      <p:ext uri="{BB962C8B-B14F-4D97-AF65-F5344CB8AC3E}">
        <p14:creationId xmlns:p14="http://schemas.microsoft.com/office/powerpoint/2010/main" val="346714853"/>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l'adossement est une borne favorable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Toutes les corrections attendues augmentent le passif ou réduisent l'actif</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L'écart mesuré entre actifs et engagements est donc le meilleur cas possible : les données manquantes ne peuvent que l'aggraver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63 : Corrections attendues et sens de leur effet sur l'adossement</a:t>
            </a:r>
          </a:p>
        </p:txBody>
      </p:sp>
      <p:graphicFrame>
        <p:nvGraphicFramePr>
          <p:cNvPr id="32" name="Table 31"/>
          <p:cNvGraphicFramePr>
            <a:graphicFrameLocks noGrp="1"/>
          </p:cNvGraphicFramePr>
          <p:nvPr/>
        </p:nvGraphicFramePr>
        <p:xfrm>
          <a:off x="503999" y="1655999"/>
          <a:ext cx="11232000" cy="2533568"/>
        </p:xfrm>
        <a:graphic>
          <a:graphicData uri="http://schemas.openxmlformats.org/drawingml/2006/table">
            <a:tbl>
              <a:tblPr firstRow="0" bandRow="0">
                <a:tableStyleId>{5940675A-B579-460E-94D1-54222C63F5DA}</a:tableStyleId>
              </a:tblPr>
              <a:tblGrid>
                <a:gridCol w="792000"/>
                <a:gridCol w="2232000"/>
                <a:gridCol w="3384000"/>
                <a:gridCol w="1800000"/>
                <a:gridCol w="3024000"/>
              </a:tblGrid>
              <a:tr h="187148">
                <a:tc>
                  <a:txBody>
                    <a:bodyPr/>
                    <a:lstStyle/>
                    <a:p>
                      <a:pPr marL="0" indent="0" lvl="0">
                        <a:buNone/>
                      </a:pPr>
                      <a:r>
                        <a:rPr sz="850" b="1">
                          <a:solidFill>
                            <a:srgbClr val="FFFFFF"/>
                          </a:solidFill>
                          <a:latin typeface="Helvetica"/>
                        </a:rPr>
                        <a:t>Côté</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Situation au 31/08/2026</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Sens de la correction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Texte de référence</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Passif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Provisions maladie et 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Montants hérités d'environ 2004, jamais recalculés. Aucune provision maladie calculée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Hausse probable (sinistres tardifs, allocations restant à payer)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d'exécution n° 004/2022/COM/UEMOA du 1er juin 2022, art. 10</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Passif</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Provision mathématique (EFC, santé des retraités)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Absente du bilan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Hausse si un capital ou une garantie à vie est promis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d'exécution n° 004/2022/COM/UEMOA du 1er juin 2022, art. 11</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Passif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PEP et EFC</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15 743 516 391 FCFA, sans échéancier. Taux servi non établi (3,5 %, 5,5 % ou 14 % selon le document)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Hausse des flux futurs (intérêts servis, non comptabilisés)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Décision fixant le taux (non reçue)</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Actif</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3 407 519 850 FCFA, inchangée depuis 2020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Baisse (recouvrement non démontré)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PCMS (dépréciation des créances). Règlement d'exécution n° 004/2022/COM/UEMOA du 1er juin 2022, art. 20</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Actif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Clinique du FPPN (CMP)</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5 803 025 455 FCFA d'investissements et 1 280 300 860 FCFA de charges en comptes 47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Baisse (charges consommées, valeur de marché non établie)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d'exécution n° 004/2022/COM/UEMOA du 1er juin 2022, art. 20 et 27</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Actif</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Terrains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5 245 896 750 FCFA, sans évaluation récente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Baisse ou hausse, à établir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d'exécution n° 004/2022/COM/UEMOA du 1er juin 2022, art. 20</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Actif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Prêts du Grenier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dépréciation des prêts en retard</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Baisse (faible montant)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PCMS. Barème BCEAO des SFD</a:t>
                      </a:r>
                    </a:p>
                  </a:txBody>
                  <a:tcPr marL="43200" marR="43200" marT="14400" marB="14400" anchor="ctr">
                    <a:solidFill>
                      <a:srgbClr val="FFFFFF"/>
                    </a:solidFill>
                  </a:tcPr>
                </a:tc>
              </a:tr>
            </a:tbl>
          </a:graphicData>
        </a:graphic>
      </p:graphicFrame>
      <p:sp>
        <p:nvSpPr>
          <p:cNvPr id="33" name="TextBox 32"/>
          <p:cNvSpPr txBox="1"/>
          <p:nvPr/>
        </p:nvSpPr>
        <p:spPr>
          <a:xfrm>
            <a:off x="503999" y="4297570"/>
            <a:ext cx="11232000" cy="162000"/>
          </a:xfrm>
          <a:prstGeom prst="rect">
            <a:avLst/>
          </a:prstGeom>
          <a:noFill/>
        </p:spPr>
        <p:txBody>
          <a:bodyPr wrap="square" anchor="t" lIns="54000" rIns="54000"/>
          <a:lstStyle/>
          <a:p>
            <a:pPr algn="l"/>
            <a:r>
              <a:rPr sz="850" b="0">
                <a:solidFill>
                  <a:srgbClr val="53565A"/>
                </a:solidFill>
                <a:latin typeface="Helvetica"/>
              </a:rPr>
              <a:t>Valable pour : corrections attendues tirées des textes cités et des constats du rapport. Sens de l'effet seulement, sans montant.</a:t>
            </a:r>
          </a:p>
        </p:txBody>
      </p:sp>
      <p:sp>
        <p:nvSpPr>
          <p:cNvPr id="34" name="TextBox 33"/>
          <p:cNvSpPr txBox="1"/>
          <p:nvPr/>
        </p:nvSpPr>
        <p:spPr>
          <a:xfrm>
            <a:off x="503999" y="4603570"/>
            <a:ext cx="11232000" cy="1264429"/>
          </a:xfrm>
          <a:prstGeom prst="rect">
            <a:avLst/>
          </a:prstGeom>
          <a:noFill/>
        </p:spPr>
        <p:txBody>
          <a:bodyPr wrap="square" lIns="54000" rIns="54000"/>
          <a:lstStyle/>
          <a:p>
            <a:pPr algn="just">
              <a:spcAft>
                <a:spcPts val="600"/>
              </a:spcAft>
            </a:pPr>
            <a:r>
              <a:rPr sz="1300" b="1">
                <a:solidFill>
                  <a:srgbClr val="060606"/>
                </a:solidFill>
                <a:latin typeface="Helvetica"/>
              </a:rPr>
              <a:t>Aucune correction attendue ne peut améliorer l'adossement, sauf une réévaluation des terrains.</a:t>
            </a:r>
            <a:r>
              <a:rPr sz="1300" b="0">
                <a:solidFill>
                  <a:srgbClr val="060606"/>
                </a:solidFill>
                <a:latin typeface="Helvetica"/>
              </a:rPr>
              <a:t> Les engagements non provisionnés ajouteront du passif, et les actifs dont la valeur n'est pas démontrée réduiront l'actif.</a:t>
            </a:r>
          </a:p>
          <a:p>
            <a:pPr algn="just">
              <a:spcAft>
                <a:spcPts val="600"/>
              </a:spcAft>
            </a:pPr>
            <a:r>
              <a:rPr sz="1300" b="0">
                <a:solidFill>
                  <a:srgbClr val="060606"/>
                </a:solidFill>
                <a:latin typeface="Helvetica"/>
              </a:rPr>
              <a:t>L'écart mesuré en partie 9 est un minimum. Le rapport peut donc affirmer que le FPPN n'est pas adossé, même dans l'hypothèse la plus favorable. Seule l'ampleur de l'écart reste à préciser.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PEP : Plan Épargne Plus | EFC : entraide fin de carrière | CMP : Centre Médical du Policier (rapport de gestion 2023) | SFD : systèmes financiers décentralisés</a:t>
            </a:r>
          </a:p>
        </p:txBody>
      </p:sp>
    </p:spTree>
    <p:extLst>
      <p:ext uri="{BB962C8B-B14F-4D97-AF65-F5344CB8AC3E}">
        <p14:creationId xmlns:p14="http://schemas.microsoft.com/office/powerpoint/2010/main" val="2657170775"/>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 valorisation des actifs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textes fixent quels actifs peuvent couvrir les engagements, et à quelle valeur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scénario applique une règle tirée d'un texte, et non un taux de décote choisi par Adenka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64 : Règles de valorisation retenues dans chaque scénario</a:t>
            </a:r>
          </a:p>
        </p:txBody>
      </p:sp>
      <p:graphicFrame>
        <p:nvGraphicFramePr>
          <p:cNvPr id="32" name="Table 31"/>
          <p:cNvGraphicFramePr>
            <a:graphicFrameLocks noGrp="1"/>
          </p:cNvGraphicFramePr>
          <p:nvPr/>
        </p:nvGraphicFramePr>
        <p:xfrm>
          <a:off x="503999" y="1655999"/>
          <a:ext cx="11231998" cy="2071189"/>
        </p:xfrm>
        <a:graphic>
          <a:graphicData uri="http://schemas.openxmlformats.org/drawingml/2006/table">
            <a:tbl>
              <a:tblPr firstRow="0" bandRow="0">
                <a:tableStyleId>{5940675A-B579-460E-94D1-54222C63F5DA}</a:tableStyleId>
              </a:tblPr>
              <a:tblGrid>
                <a:gridCol w="1655999"/>
                <a:gridCol w="3456000"/>
                <a:gridCol w="3168000"/>
                <a:gridCol w="2951999"/>
              </a:tblGrid>
              <a:tr h="194768">
                <a:tc>
                  <a:txBody>
                    <a:bodyPr/>
                    <a:lstStyle/>
                    <a:p>
                      <a:pPr marL="0" indent="0" lvl="0">
                        <a:buNone/>
                      </a:pPr>
                      <a:r>
                        <a:rPr sz="90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appliquée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Actifs retirés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Fondement</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1. Lecture comptable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Valeurs des balances, continuité de l'activité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PCMS (coût historique, continuité de l'exploitation)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2. Actifs sans valeur réalisable retirés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Une dépense consommée ou une créance non recouvrée depuis 2020 n'a pas de valeur de marché démontrée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Charges de fonctionnement de la clinique (47111105)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20 et 27. PCMS (dépréciation des créances)</a:t>
                      </a:r>
                    </a:p>
                  </a:txBody>
                  <a:tcPr marL="43200" marR="43200" marT="14400" marB="14400" anchor="ctr">
                    <a:solidFill>
                      <a:srgbClr val="F2F2F2"/>
                    </a:solidFill>
                  </a:tcPr>
                </a:tc>
              </a:tr>
              <a:tr h="606274">
                <a:tc>
                  <a:txBody>
                    <a:bodyPr/>
                    <a:lstStyle/>
                    <a:p>
                      <a:pPr marL="0" indent="0" lvl="0">
                        <a:buNone/>
                      </a:pPr>
                      <a:r>
                        <a:rPr sz="900" b="1">
                          <a:solidFill>
                            <a:srgbClr val="060606"/>
                          </a:solidFill>
                          <a:latin typeface="Helvetica"/>
                        </a:rPr>
                        <a:t>3. Actifs sans valeur de marché établie retirés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 actif ne couvre les engagements que si sa valeur de marché est établie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Scénario 2, plus les investissements de la clinique (47111104) et les terrains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20. Décision n° 05/2022/COM/UEMOA du 1er juin 2022, annexe, section II, § 2.1 (actifs admis)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4. Actifs liquides à un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Seuls les actifs mobilisables en moins d'un an paient les sorties de l'année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Tout actif à plus d'un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PCMS (valeur liquidative). Règlement d'exécution n° 004/2022/COM/UEMOA du 1er juin 2022, art. 19 et 21 (liquidité)</a:t>
                      </a:r>
                    </a:p>
                  </a:txBody>
                  <a:tcPr marL="43200" marR="43200" marT="14400" marB="14400" anchor="ctr">
                    <a:solidFill>
                      <a:srgbClr val="F2F2F2"/>
                    </a:solidFill>
                  </a:tcPr>
                </a:tc>
              </a:tr>
            </a:tbl>
          </a:graphicData>
        </a:graphic>
      </p:graphicFrame>
      <p:sp>
        <p:nvSpPr>
          <p:cNvPr id="33" name="TextBox 32"/>
          <p:cNvSpPr txBox="1"/>
          <p:nvPr/>
        </p:nvSpPr>
        <p:spPr>
          <a:xfrm>
            <a:off x="503999" y="3835192"/>
            <a:ext cx="11232000" cy="162000"/>
          </a:xfrm>
          <a:prstGeom prst="rect">
            <a:avLst/>
          </a:prstGeom>
          <a:noFill/>
        </p:spPr>
        <p:txBody>
          <a:bodyPr wrap="square" anchor="t" lIns="54000" rIns="54000"/>
          <a:lstStyle/>
          <a:p>
            <a:pPr algn="l"/>
            <a:r>
              <a:rPr sz="850" b="0">
                <a:solidFill>
                  <a:srgbClr val="53565A"/>
                </a:solidFill>
                <a:latin typeface="Helvetica"/>
              </a:rPr>
              <a:t>Valable pour : règles du règlement d'exécution n° 004/2022 (art. 17, 19 à 21, 27), de la Décision n° 05/2022 et du PCMS. Liste ivoirienne des actifs admis non reçue.</a:t>
            </a:r>
          </a:p>
        </p:txBody>
      </p:sp>
      <p:sp>
        <p:nvSpPr>
          <p:cNvPr id="34" name="TextBox 33"/>
          <p:cNvSpPr txBox="1"/>
          <p:nvPr/>
        </p:nvSpPr>
        <p:spPr>
          <a:xfrm>
            <a:off x="503999" y="4141192"/>
            <a:ext cx="11232000" cy="1726807"/>
          </a:xfrm>
          <a:prstGeom prst="rect">
            <a:avLst/>
          </a:prstGeom>
          <a:noFill/>
        </p:spPr>
        <p:txBody>
          <a:bodyPr wrap="square" lIns="54000" rIns="54000"/>
          <a:lstStyle/>
          <a:p>
            <a:pPr algn="just">
              <a:spcAft>
                <a:spcPts val="600"/>
              </a:spcAft>
            </a:pPr>
            <a:r>
              <a:rPr sz="1300" b="1">
                <a:solidFill>
                  <a:srgbClr val="060606"/>
                </a:solidFill>
                <a:latin typeface="Helvetica"/>
              </a:rPr>
              <a:t>Les scénarios 2 et 3 retirent un actif tant que sa valeur n'est pas démontrée : ce ne sont pas des pertes certaines.</a:t>
            </a:r>
            <a:r>
              <a:rPr sz="1300" b="0">
                <a:solidFill>
                  <a:srgbClr val="060606"/>
                </a:solidFill>
                <a:latin typeface="Helvetica"/>
              </a:rPr>
              <a:t> Un rapport d'évaluation des terrains ou de la clinique, ou un accord de recouvrement avec l'État, permettrait de les réintégrer.</a:t>
            </a:r>
          </a:p>
          <a:p>
            <a:pPr algn="just">
              <a:spcAft>
                <a:spcPts val="600"/>
              </a:spcAft>
            </a:pPr>
            <a:r>
              <a:rPr sz="1300" b="1">
                <a:solidFill>
                  <a:srgbClr val="060606"/>
                </a:solidFill>
                <a:latin typeface="Helvetica"/>
              </a:rPr>
              <a:t>Les prêts du Grenier restent dans tous les scénarios sauf le quatrième.</a:t>
            </a:r>
            <a:r>
              <a:rPr sz="1300" b="0">
                <a:solidFill>
                  <a:srgbClr val="060606"/>
                </a:solidFill>
                <a:latin typeface="Helvetica"/>
              </a:rPr>
              <a:t> Leur dépréciation sera calculée avec le barème de la BCEAO des SFD, dès réception du texte. Les montants en retard sont faibles (partie 9).</a:t>
            </a:r>
          </a:p>
          <a:p>
            <a:pPr algn="just">
              <a:spcAft>
                <a:spcPts val="600"/>
              </a:spcAft>
            </a:pPr>
            <a:r>
              <a:rPr sz="1300" b="0">
                <a:solidFill>
                  <a:srgbClr val="060606"/>
                </a:solidFill>
                <a:latin typeface="Helvetica"/>
              </a:rPr>
              <a:t>La décision ministérielle qui fixe, en Côte d'Ivoire, les conditions de placement et la liste des actifs admis (art. 17) n'a pas été reçue (PBC, item 54). Elle permettra de remplacer ces règles générales par la liste officielle.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PCMS : plan comptable des mutuelles sociales | BCEAO : Banque centrale des États de l'Afrique de l'Ouest | SFD : systèmes financiers décentralisés | PBC : liste des documents demandés au client</a:t>
            </a:r>
          </a:p>
        </p:txBody>
      </p:sp>
    </p:spTree>
    <p:extLst>
      <p:ext uri="{BB962C8B-B14F-4D97-AF65-F5344CB8AC3E}">
        <p14:creationId xmlns:p14="http://schemas.microsoft.com/office/powerpoint/2010/main" val="1176319808"/>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Scénarios de couverture des engagements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en lecture comptable, l'actif ne couvre pas tous les engagements connus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couverture des engagements connus : 96,33 % en lecture comptable, 27,19 % sans les actifs de valeur non établie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de 2020 au 31/08/2026 (provisoire), fichiers « BALANCE … » listés en annexe « Fichiers sources ». Traitements Adenka</a:t>
            </a:r>
          </a:p>
        </p:txBody>
      </p:sp>
      <p:sp>
        <p:nvSpPr>
          <p:cNvPr id="31" name="TextBox 30"/>
          <p:cNvSpPr txBox="1"/>
          <p:nvPr/>
        </p:nvSpPr>
        <p:spPr>
          <a:xfrm>
            <a:off x="503999" y="1386000"/>
            <a:ext cx="9792000" cy="216000"/>
          </a:xfrm>
          <a:prstGeom prst="rect">
            <a:avLst/>
          </a:prstGeom>
          <a:noFill/>
        </p:spPr>
        <p:txBody>
          <a:bodyPr wrap="square" anchor="t" lIns="54000" rIns="54000"/>
          <a:lstStyle/>
          <a:p>
            <a:pPr algn="ctr"/>
            <a:r>
              <a:rPr sz="1200" b="0">
                <a:solidFill>
                  <a:srgbClr val="EFAC62"/>
                </a:solidFill>
                <a:latin typeface="Helvetica"/>
              </a:rPr>
              <a:t>Tableau 65 : Couverture des engagements connus selon le scénario</a:t>
            </a:r>
          </a:p>
        </p:txBody>
      </p:sp>
      <p:graphicFrame>
        <p:nvGraphicFramePr>
          <p:cNvPr id="32" name="Table 31"/>
          <p:cNvGraphicFramePr>
            <a:graphicFrameLocks noGrp="1"/>
          </p:cNvGraphicFramePr>
          <p:nvPr/>
        </p:nvGraphicFramePr>
        <p:xfrm>
          <a:off x="503999" y="1655999"/>
          <a:ext cx="9792000" cy="1412464"/>
        </p:xfrm>
        <a:graphic>
          <a:graphicData uri="http://schemas.openxmlformats.org/drawingml/2006/table">
            <a:tbl>
              <a:tblPr firstRow="0" bandRow="0">
                <a:tableStyleId>{5940675A-B579-460E-94D1-54222C63F5DA}</a:tableStyleId>
              </a:tblPr>
              <a:tblGrid>
                <a:gridCol w="2736000"/>
                <a:gridCol w="2232000"/>
                <a:gridCol w="1296000"/>
                <a:gridCol w="2232000"/>
                <a:gridCol w="1296000"/>
              </a:tblGrid>
              <a:tr h="210009">
                <a:tc>
                  <a:txBody>
                    <a:bodyPr/>
                    <a:lstStyle/>
                    <a:p>
                      <a:pPr marL="0" indent="0" lvl="0">
                        <a:buNone/>
                      </a:pPr>
                      <a:r>
                        <a:rPr sz="100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Actif retenu au 31/12/2025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Couverture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Actif retenu au 31/08/2026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Couverture 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 Lecture comptable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19 954 869 035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98,06 %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21 925 420 866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96,33 %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 Sans actifs de valeur non réalisable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15 732 740 110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77,31 %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17 237 600 156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75,73 %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3. Sans actifs de valeur de marché non établie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5 298 475 488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26,04 %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6 188 677 951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27,19 %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 Actifs à un an / passif à un an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2 715 008 827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41,54 %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3 457 866 951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49,27 %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Engagements connus (scénarios 1 à 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20 349 444 557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22 761 252 888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bl>
          </a:graphicData>
        </a:graphic>
      </p:graphicFrame>
      <p:sp>
        <p:nvSpPr>
          <p:cNvPr id="33" name="TextBox 32"/>
          <p:cNvSpPr txBox="1"/>
          <p:nvPr/>
        </p:nvSpPr>
        <p:spPr>
          <a:xfrm>
            <a:off x="503999" y="3176467"/>
            <a:ext cx="11232000" cy="306000"/>
          </a:xfrm>
          <a:prstGeom prst="rect">
            <a:avLst/>
          </a:prstGeom>
          <a:noFill/>
        </p:spPr>
        <p:txBody>
          <a:bodyPr wrap="square" anchor="t" lIns="54000" rIns="54000"/>
          <a:lstStyle/>
          <a:p>
            <a:pPr algn="l"/>
            <a:r>
              <a:rPr sz="850" b="0">
                <a:solidFill>
                  <a:srgbClr val="53565A"/>
                </a:solidFill>
                <a:latin typeface="Helvetica"/>
              </a:rPr>
              <a:t>Valable pour : actifs et engagements au 31/12/2025 et au 31/08/2026 des balances « BALANCE FORMAT EXCEL DE 09-2020 AU 31-12-2020.xlsx » à « BALANCE FPPN DU 01-01-2026 AU 31-08-2026.xlsx ». Valorisation selon les règles de la diapositive précédente.</a:t>
            </a:r>
          </a:p>
        </p:txBody>
      </p:sp>
      <p:sp>
        <p:nvSpPr>
          <p:cNvPr id="34" name="TextBox 33"/>
          <p:cNvSpPr txBox="1"/>
          <p:nvPr/>
        </p:nvSpPr>
        <p:spPr>
          <a:xfrm>
            <a:off x="503999" y="3626467"/>
            <a:ext cx="11232000" cy="2241532"/>
          </a:xfrm>
          <a:prstGeom prst="rect">
            <a:avLst/>
          </a:prstGeom>
          <a:noFill/>
        </p:spPr>
        <p:txBody>
          <a:bodyPr wrap="square" lIns="54000" rIns="54000"/>
          <a:lstStyle/>
          <a:p>
            <a:pPr algn="just">
              <a:spcAft>
                <a:spcPts val="600"/>
              </a:spcAft>
            </a:pPr>
            <a:r>
              <a:rPr sz="1300" b="1">
                <a:solidFill>
                  <a:srgbClr val="060606"/>
                </a:solidFill>
                <a:latin typeface="Helvetica"/>
              </a:rPr>
              <a:t>Même en lecture comptable, l'actif ne couvre que 96,33 % des engagements connus au 31/08/2026.</a:t>
            </a:r>
            <a:r>
              <a:rPr sz="1300" b="0">
                <a:solidFill>
                  <a:srgbClr val="060606"/>
                </a:solidFill>
                <a:latin typeface="Helvetica"/>
              </a:rPr>
              <a:t> C'est la traduction des fonds propres négatifs.</a:t>
            </a:r>
          </a:p>
          <a:p>
            <a:pPr algn="just">
              <a:spcAft>
                <a:spcPts val="600"/>
              </a:spcAft>
            </a:pPr>
            <a:r>
              <a:rPr sz="1300" b="1">
                <a:solidFill>
                  <a:srgbClr val="060606"/>
                </a:solidFill>
                <a:latin typeface="Helvetica"/>
              </a:rPr>
              <a:t>Sans les actifs dont la valeur n'est pas établie, la couverture tombe à 27,19 %.</a:t>
            </a:r>
            <a:r>
              <a:rPr sz="1300" b="0">
                <a:solidFill>
                  <a:srgbClr val="060606"/>
                </a:solidFill>
                <a:latin typeface="Helvetica"/>
              </a:rPr>
              <a:t> L'hôpital, la clinique et les terrains portent l'essentiel de l'actif.</a:t>
            </a:r>
          </a:p>
          <a:p>
            <a:pPr algn="just">
              <a:spcAft>
                <a:spcPts val="600"/>
              </a:spcAft>
            </a:pPr>
            <a:r>
              <a:rPr sz="1300" b="1">
                <a:solidFill>
                  <a:srgbClr val="060606"/>
                </a:solidFill>
                <a:latin typeface="Helvetica"/>
              </a:rPr>
              <a:t>À un an, l'actif liquide couvre 49,27 % du passif à un an</a:t>
            </a:r>
            <a:r>
              <a:rPr sz="1300" b="0">
                <a:solidFill>
                  <a:srgbClr val="060606"/>
                </a:solidFill>
                <a:latin typeface="Helvetica"/>
              </a:rPr>
              <a:t>, avant toute sortie d'épargne.</a:t>
            </a:r>
          </a:p>
          <a:p>
            <a:pPr algn="just">
              <a:spcAft>
                <a:spcPts val="600"/>
              </a:spcAft>
            </a:pPr>
            <a:r>
              <a:rPr sz="1300" b="0">
                <a:solidFill>
                  <a:srgbClr val="060606"/>
                </a:solidFill>
                <a:latin typeface="Helvetica"/>
              </a:rPr>
              <a:t>Ces couvertures sont des maxima : les engagements non provisionnés (provisions recalculées, provisions mathématiques) ne sont pas encore au dénominateur. Le FPPN doit faire évaluer ses actifs immobiliers et sa clinique, et documenter le recouvrement de la créance sur l'hôpital.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784220105"/>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méthodes d'adossement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méthodes de liquidité, adaptées à un passif court et à une épargne sans échéancier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méthode est retenue parce que ses conditions d'emploi sont remplies par les données du FPPN. Les méthodes écartées sont démontrées en annexe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ALM_ONT.pdf ». « Gestion des Risques Bancaires(Actif PAssif).pdf » (Sciences-Po, 2009-2010). « Ch13_Gestion_Actif-Passif_French.pdf » (Association actuarielle internationale, 2016). « Construction d'un modèle ALM.pdf ». « 2024081723_jerome-lavoie-pilote.pdf » (Institut des actuaires)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66 : Méthodes d'adossement retenues et justification</a:t>
            </a:r>
          </a:p>
        </p:txBody>
      </p:sp>
      <p:graphicFrame>
        <p:nvGraphicFramePr>
          <p:cNvPr id="32" name="Table 31"/>
          <p:cNvGraphicFramePr>
            <a:graphicFrameLocks noGrp="1"/>
          </p:cNvGraphicFramePr>
          <p:nvPr/>
        </p:nvGraphicFramePr>
        <p:xfrm>
          <a:off x="503999" y="1655999"/>
          <a:ext cx="11232000" cy="2598369"/>
        </p:xfrm>
        <a:graphic>
          <a:graphicData uri="http://schemas.openxmlformats.org/drawingml/2006/table">
            <a:tbl>
              <a:tblPr firstRow="0" bandRow="0">
                <a:tableStyleId>{5940675A-B579-460E-94D1-54222C63F5DA}</a:tableStyleId>
              </a:tblPr>
              <a:tblGrid>
                <a:gridCol w="1800000"/>
                <a:gridCol w="2448000"/>
                <a:gridCol w="3960000"/>
                <a:gridCol w="3024000"/>
              </a:tblGrid>
              <a:tr h="180000">
                <a:tc>
                  <a:txBody>
                    <a:bodyPr/>
                    <a:lstStyle/>
                    <a:p>
                      <a:pPr marL="0" indent="0" lvl="0">
                        <a:buNone/>
                      </a:pPr>
                      <a:r>
                        <a:rPr sz="80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retenue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Pourquoi (document de référence, page)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Donnée du FPPN qui le permet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Quel est l'enjeu pour la maladie et le décès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Liquidité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Contrats santé de durée courte : complexité actif-passif « faible », l'enjeu est la gestion du portefeuille d'actifs (« ALM_ONT.pdf », p. 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moyen de paiement des cliniques de 2,62 mois en 2025</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Quand l'épargne sortira-t-elle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Écoulement conventionnel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comptes d'épargne sans échéance contractuelle ont un amortissement « à modéliser » (« Gestion des Risques Bancaires(Actif PAssif).pdf » (Sciences-Po, 2009-2010), p. 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Sorties annuelles des comptes 41195100 et 41195200 de 2021 à 2025</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L'actif suit-il les sorties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Écart de liquidité par échéance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Écart entre passifs et actifs au cours du temps après écoulement des éléments du bilan (« Gestion des Risques Bancaires(Actif PAssif).pdf » (Sciences-Po, 2009-2010), p. 86)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classés par délai de mobilisation aux bilans 2025 et 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Quels actifs sont mobilisables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Classes de liquidité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titres sont classés selon leur degré de liquidité (« Gestion des Risques Bancaires(Actif PAssif).pdf » (Sciences-Po, 2009-2010), p. 95)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Nature comptable de chaque actif (banques, DAT, FCP, prêts, immeubles)</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Que se passe-t-il en cas de choc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Tests de résistance calibrés sur le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 rachat massif de 40 % de la formule standard européenne (« Construction d'un modèle ALM.pdf », p. 110) n'est pas calibré sur le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sortie maximal observé : 27,55 %. Hausse maximale des prestations maladie de 2024 et 2025 : 103,53 %</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Qui décide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Gouvernance actif-passif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 conseil d'administration fixe les limites, un comité suit les écarts (« Ch13_Gestion_Actif-Passif_French.pdf » (Association actuarielle internationale, 2016), p. 15 et 19. « 2024081723_jerome-lavoie-pilote.pdf » (Institut des actuaires), p. 8 et 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de placement par le seul directeur général (entretien du 19/10/2026)</a:t>
                      </a:r>
                    </a:p>
                  </a:txBody>
                  <a:tcPr marL="43200" marR="43200" marT="14400" marB="14400" anchor="ctr">
                    <a:solidFill>
                      <a:srgbClr val="F2F2F2"/>
                    </a:solidFill>
                  </a:tcPr>
                </a:tc>
              </a:tr>
            </a:tbl>
          </a:graphicData>
        </a:graphic>
      </p:graphicFrame>
      <p:sp>
        <p:nvSpPr>
          <p:cNvPr id="33" name="TextBox 32"/>
          <p:cNvSpPr txBox="1"/>
          <p:nvPr/>
        </p:nvSpPr>
        <p:spPr>
          <a:xfrm>
            <a:off x="503999" y="4362370"/>
            <a:ext cx="11232000" cy="162000"/>
          </a:xfrm>
          <a:prstGeom prst="rect">
            <a:avLst/>
          </a:prstGeom>
          <a:noFill/>
        </p:spPr>
        <p:txBody>
          <a:bodyPr wrap="square" anchor="t" lIns="54000" rIns="54000"/>
          <a:lstStyle/>
          <a:p>
            <a:pPr algn="l"/>
            <a:r>
              <a:rPr sz="850" b="0">
                <a:solidFill>
                  <a:srgbClr val="53565A"/>
                </a:solidFill>
                <a:latin typeface="Helvetica"/>
              </a:rPr>
              <a:t>Valable pour : choix de méthode fondé sur les documents de référence cités et sur les données du FPPN de 2020 au 31/08/2026.</a:t>
            </a:r>
          </a:p>
        </p:txBody>
      </p:sp>
      <p:sp>
        <p:nvSpPr>
          <p:cNvPr id="34" name="TextBox 33"/>
          <p:cNvSpPr txBox="1"/>
          <p:nvPr/>
        </p:nvSpPr>
        <p:spPr>
          <a:xfrm>
            <a:off x="503999" y="4668370"/>
            <a:ext cx="11232000" cy="1199629"/>
          </a:xfrm>
          <a:prstGeom prst="rect">
            <a:avLst/>
          </a:prstGeom>
          <a:noFill/>
        </p:spPr>
        <p:txBody>
          <a:bodyPr wrap="square" lIns="54000" rIns="54000"/>
          <a:lstStyle/>
          <a:p>
            <a:pPr algn="just">
              <a:spcAft>
                <a:spcPts val="600"/>
              </a:spcAft>
            </a:pPr>
            <a:r>
              <a:rPr sz="1300" b="1">
                <a:solidFill>
                  <a:srgbClr val="060606"/>
                </a:solidFill>
                <a:latin typeface="Helvetica"/>
              </a:rPr>
              <a:t>Les méthodes de taux (duration, immunisation, modèles stochastiques, VaR) ne sont pas retenues</a:t>
            </a:r>
            <a:r>
              <a:rPr sz="1300" b="0">
                <a:solidFill>
                  <a:srgbClr val="060606"/>
                </a:solidFill>
                <a:latin typeface="Helvetica"/>
              </a:rPr>
              <a:t> : elles supposent des flux de passif connus et un portefeuille obligataire, absents au FPPN (annexe « Méthodes non retenues et pourquoi »).</a:t>
            </a:r>
          </a:p>
          <a:p>
            <a:pPr algn="just">
              <a:spcAft>
                <a:spcPts val="600"/>
              </a:spcAft>
            </a:pPr>
            <a:r>
              <a:rPr sz="1300" b="0">
                <a:solidFill>
                  <a:srgbClr val="060606"/>
                </a:solidFill>
                <a:latin typeface="Helvetica"/>
              </a:rPr>
              <a:t>Les résultats de l'adossement sont des ordres de grandeur fondés sur le comportement observé des mutualistes. Ils deviendront des flux contractuels dès que l'épargne aura un échéancier.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a:t>
            </a:r>
          </a:p>
        </p:txBody>
      </p:sp>
    </p:spTree>
    <p:extLst>
      <p:ext uri="{BB962C8B-B14F-4D97-AF65-F5344CB8AC3E}">
        <p14:creationId xmlns:p14="http://schemas.microsoft.com/office/powerpoint/2010/main" val="1156082615"/>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 à quel rythme l'épargne sort-elle ?</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 2021 à 2025, il sort chaque année en moyenne 19,24 % de l'épargne du début d'année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sortie compris entre 12,60 % et 27,55 %. Le PEP sort plus vite que l'EFC</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 Gestion des Risques Bancaires(Actif PAssif).pdf » (Sciences-Po, 2009-2010), p. 33 à 36. Onglet 24a du classeur des calculs</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67 : Sorties annuelles de l'épargne et taux de sortie</a:t>
            </a:r>
          </a:p>
        </p:txBody>
      </p:sp>
      <p:graphicFrame>
        <p:nvGraphicFramePr>
          <p:cNvPr id="32" name="Table 31"/>
          <p:cNvGraphicFramePr>
            <a:graphicFrameLocks noGrp="1"/>
          </p:cNvGraphicFramePr>
          <p:nvPr/>
        </p:nvGraphicFramePr>
        <p:xfrm>
          <a:off x="503999" y="1655999"/>
          <a:ext cx="7056000" cy="1168608"/>
        </p:xfrm>
        <a:graphic>
          <a:graphicData uri="http://schemas.openxmlformats.org/drawingml/2006/table">
            <a:tbl>
              <a:tblPr firstRow="0" bandRow="0">
                <a:tableStyleId>{5940675A-B579-460E-94D1-54222C63F5DA}</a:tableStyleId>
              </a:tblPr>
              <a:tblGrid>
                <a:gridCol w="860400"/>
                <a:gridCol w="1548000"/>
                <a:gridCol w="1548000"/>
                <a:gridCol w="1033200"/>
                <a:gridCol w="1033200"/>
                <a:gridCol w="10332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Épargne au début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Sorties de l'année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PEP</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EFC</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total</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1 652 904 458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17,73 %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15,26 %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10 147 421 276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2 317 974 441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30,55 %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22,84 %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9 364 845 293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2 579 886 392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46,17 %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27,55 %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9 121 576 576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1 634 861 234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33,45 %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7,99 %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17,92 %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10 785 064 432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1 358 821 103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23,60 %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6,54 %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12,60 %</a:t>
                      </a:r>
                    </a:p>
                  </a:txBody>
                  <a:tcPr marL="43200" marR="43200" marT="14400" marB="14400" anchor="ctr">
                    <a:solidFill>
                      <a:srgbClr val="FFFFFF"/>
                    </a:solidFill>
                  </a:tcPr>
                </a:tc>
              </a:tr>
            </a:tbl>
          </a:graphicData>
        </a:graphic>
      </p:graphicFrame>
      <p:sp>
        <p:nvSpPr>
          <p:cNvPr id="33" name="TextBox 32"/>
          <p:cNvSpPr txBox="1"/>
          <p:nvPr/>
        </p:nvSpPr>
        <p:spPr>
          <a:xfrm>
            <a:off x="503999" y="2932611"/>
            <a:ext cx="7056000" cy="306000"/>
          </a:xfrm>
          <a:prstGeom prst="rect">
            <a:avLst/>
          </a:prstGeom>
          <a:noFill/>
        </p:spPr>
        <p:txBody>
          <a:bodyPr wrap="square" anchor="t" lIns="54000" rIns="54000"/>
          <a:lstStyle/>
          <a:p>
            <a:pPr algn="l"/>
            <a:r>
              <a:rPr sz="850" b="0">
                <a:solidFill>
                  <a:srgbClr val="53565A"/>
                </a:solidFill>
                <a:latin typeface="Helvetica"/>
              </a:rPr>
              <a:t>Valable pour : débits et soldes des comptes 41195100 et 41195200, balances 2020 à 2025. L'année 2020 sert de point de départ. 2026 non retenue (huit mois).</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 taux moyen (19,24 %) sert au scénario central, le taux maximal (27,55 %, en 2023) au test de résistance.</a:t>
            </a:r>
          </a:p>
          <a:p>
            <a:pPr algn="just">
              <a:spcAft>
                <a:spcPts val="600"/>
              </a:spcAft>
            </a:pPr>
            <a:r>
              <a:rPr sz="1400" b="1">
                <a:solidFill>
                  <a:srgbClr val="060606"/>
                </a:solidFill>
                <a:latin typeface="Helvetica"/>
              </a:rPr>
              <a:t>Les sorties de l'EFC suivent les départs à la retraite</a:t>
            </a:r>
            <a:r>
              <a:rPr sz="1400" b="0">
                <a:solidFill>
                  <a:srgbClr val="060606"/>
                </a:solidFill>
                <a:latin typeface="Helvetica"/>
              </a:rPr>
              <a:t>, que seules les dates de naissance permettraient de prévoir.</a:t>
            </a:r>
          </a:p>
          <a:p>
            <a:pPr algn="just">
              <a:spcAft>
                <a:spcPts val="600"/>
              </a:spcAft>
            </a:pPr>
            <a:r>
              <a:rPr sz="1400" b="0">
                <a:solidFill>
                  <a:srgbClr val="060606"/>
                </a:solidFill>
                <a:latin typeface="Helvetica"/>
              </a:rPr>
              <a:t>Les sorties d'épargne d'une année représentent plusieurs milliards de FCFA : c'est le premier besoin de liquidité du FPPN, devant les prestations.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2023783111"/>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 écarts de liquidité année par année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manque de liquidité cumulé atteint 12 596 052 822 FCFA à la fin de la cinquième 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Même en comptant à leur valeur comptable les terrains, la clinique et les créances longues, il manque 835 832 022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 Gestion des Risques Bancaires(Actif PAssif).pdf » (Sciences-Po, 2009-2010), p. 86 et 87. Onglet 24b du classeur des calculs</a:t>
            </a:r>
          </a:p>
        </p:txBody>
      </p:sp>
      <p:sp>
        <p:nvSpPr>
          <p:cNvPr id="31" name="TextBox 30"/>
          <p:cNvSpPr txBox="1"/>
          <p:nvPr/>
        </p:nvSpPr>
        <p:spPr>
          <a:xfrm>
            <a:off x="503999" y="1386000"/>
            <a:ext cx="10800000" cy="216000"/>
          </a:xfrm>
          <a:prstGeom prst="rect">
            <a:avLst/>
          </a:prstGeom>
          <a:noFill/>
        </p:spPr>
        <p:txBody>
          <a:bodyPr wrap="square" anchor="t" lIns="54000" rIns="54000"/>
          <a:lstStyle/>
          <a:p>
            <a:pPr algn="ctr"/>
            <a:r>
              <a:rPr sz="1200" b="0">
                <a:solidFill>
                  <a:srgbClr val="EFAC62"/>
                </a:solidFill>
                <a:latin typeface="Helvetica"/>
              </a:rPr>
              <a:t>Tableau 68 : Écarts de liquidité au 31/08/2026, scénario central</a:t>
            </a:r>
          </a:p>
        </p:txBody>
      </p:sp>
      <p:graphicFrame>
        <p:nvGraphicFramePr>
          <p:cNvPr id="32" name="Table 31"/>
          <p:cNvGraphicFramePr>
            <a:graphicFrameLocks noGrp="1"/>
          </p:cNvGraphicFramePr>
          <p:nvPr/>
        </p:nvGraphicFramePr>
        <p:xfrm>
          <a:off x="503999" y="1655999"/>
          <a:ext cx="10800000" cy="1363376"/>
        </p:xfrm>
        <a:graphic>
          <a:graphicData uri="http://schemas.openxmlformats.org/drawingml/2006/table">
            <a:tbl>
              <a:tblPr firstRow="0" bandRow="0">
                <a:tableStyleId>{5940675A-B579-460E-94D1-54222C63F5DA}</a:tableStyleId>
              </a:tblPr>
              <a:tblGrid>
                <a:gridCol w="1368000"/>
                <a:gridCol w="1944000"/>
                <a:gridCol w="1800000"/>
                <a:gridCol w="1800000"/>
                <a:gridCol w="1944000"/>
                <a:gridCol w="1944000"/>
              </a:tblGrid>
              <a:tr h="194768">
                <a:tc>
                  <a:txBody>
                    <a:bodyPr/>
                    <a:lstStyle/>
                    <a:p>
                      <a:pPr marL="0" indent="0" lvl="0">
                        <a:buNone/>
                      </a:pPr>
                      <a:r>
                        <a:rPr sz="900" b="1">
                          <a:solidFill>
                            <a:srgbClr val="FFFFFF"/>
                          </a:solidFill>
                          <a:latin typeface="Helvetica"/>
                        </a:rPr>
                        <a:t>Échéance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Actifs disponibles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Dettes à payer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Sorties d'épargne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de l'année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cumulé</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Année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3 457 866 951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7 017 736 497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3 028 376 687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-6 588 246 233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-6 588 246 233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Année 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324 328 752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2 445 847 020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-2 121 518 268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-8 709 764 501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Année 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324 328 752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1 975 371 053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-1 651 042 301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-10 360 806 802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Année 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324 328 752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1 595 394 465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-1 271 065 713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-11 631 872 515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Année 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324 328 752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1 288 509 060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-964 180 307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-12 596 052 822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Au-delà de 5 ans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17 170 238 905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5 410 018 105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11 760 220 800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-835 832 022 FCFA</a:t>
                      </a:r>
                    </a:p>
                  </a:txBody>
                  <a:tcPr marL="43200" marR="43200" marT="14400" marB="14400" anchor="ctr">
                    <a:solidFill>
                      <a:srgbClr val="F2F2F2"/>
                    </a:solidFill>
                  </a:tcPr>
                </a:tc>
              </a:tr>
            </a:tbl>
          </a:graphicData>
        </a:graphic>
      </p:graphicFrame>
      <p:sp>
        <p:nvSpPr>
          <p:cNvPr id="33" name="TextBox 32"/>
          <p:cNvSpPr txBox="1"/>
          <p:nvPr/>
        </p:nvSpPr>
        <p:spPr>
          <a:xfrm>
            <a:off x="503999" y="3127380"/>
            <a:ext cx="11232000" cy="162000"/>
          </a:xfrm>
          <a:prstGeom prst="rect">
            <a:avLst/>
          </a:prstGeom>
          <a:noFill/>
        </p:spPr>
        <p:txBody>
          <a:bodyPr wrap="square" anchor="t" lIns="54000" rIns="54000"/>
          <a:lstStyle/>
          <a:p>
            <a:pPr algn="l"/>
            <a:r>
              <a:rPr sz="850" b="0">
                <a:solidFill>
                  <a:srgbClr val="53565A"/>
                </a:solidFill>
                <a:latin typeface="Helvetica"/>
              </a:rPr>
              <a:t>Valable pour : bilan provisoire au 31/08/2026, actifs classés par nature comptable. Taux de sortie moyen 2021 à 2025. Sans nouveaux versements ni intérêts dus.</a:t>
            </a:r>
          </a:p>
        </p:txBody>
      </p:sp>
      <p:sp>
        <p:nvSpPr>
          <p:cNvPr id="34" name="TextBox 33"/>
          <p:cNvSpPr txBox="1"/>
          <p:nvPr/>
        </p:nvSpPr>
        <p:spPr>
          <a:xfrm>
            <a:off x="503999" y="3433380"/>
            <a:ext cx="11232000" cy="2434619"/>
          </a:xfrm>
          <a:prstGeom prst="rect">
            <a:avLst/>
          </a:prstGeom>
          <a:noFill/>
        </p:spPr>
        <p:txBody>
          <a:bodyPr wrap="square" lIns="54000" rIns="54000"/>
          <a:lstStyle/>
          <a:p>
            <a:pPr algn="just">
              <a:spcAft>
                <a:spcPts val="600"/>
              </a:spcAft>
            </a:pPr>
            <a:r>
              <a:rPr sz="1300" b="1">
                <a:solidFill>
                  <a:srgbClr val="060606"/>
                </a:solidFill>
                <a:latin typeface="Helvetica"/>
              </a:rPr>
              <a:t>Dès la première année, les paiements dépassent les actifs disponibles de 6 588 246 233 FCFA.</a:t>
            </a:r>
            <a:r>
              <a:rPr sz="1300" b="0">
                <a:solidFill>
                  <a:srgbClr val="060606"/>
                </a:solidFill>
                <a:latin typeface="Helvetica"/>
              </a:rPr>
              <a:t> L'écart se creuse chaque année : les actifs de 1 à 5 ans (prêts du Grenier, créances) sont trop faibles pour suivre les sorties.</a:t>
            </a:r>
          </a:p>
          <a:p>
            <a:pPr algn="just">
              <a:spcAft>
                <a:spcPts val="600"/>
              </a:spcAft>
            </a:pPr>
            <a:r>
              <a:rPr sz="1300" b="1">
                <a:solidFill>
                  <a:srgbClr val="060606"/>
                </a:solidFill>
                <a:latin typeface="Helvetica"/>
              </a:rPr>
              <a:t>Même en ajoutant les 17 170 238 905 FCFA d'actifs longs ou incertains (terrains, clinique, créance sur l'hôpital) à leur valeur comptable, l'écart cumulé reste négatif de 835 832 022 FCFA.</a:t>
            </a:r>
            <a:r>
              <a:rPr sz="1300" b="0">
                <a:solidFill>
                  <a:srgbClr val="060606"/>
                </a:solidFill>
                <a:latin typeface="Helvetica"/>
              </a:rPr>
              <a:t> Leur valeur de vente n'est d'ailleurs pas établie.</a:t>
            </a:r>
          </a:p>
          <a:p>
            <a:pPr algn="just">
              <a:spcAft>
                <a:spcPts val="600"/>
              </a:spcAft>
            </a:pPr>
            <a:r>
              <a:rPr sz="1300" b="0">
                <a:solidFill>
                  <a:srgbClr val="060606"/>
                </a:solidFill>
                <a:latin typeface="Helvetica"/>
              </a:rPr>
              <a:t>En pratique, l'écart est comblé chaque année par les nouvelles cotisations d'épargne et les excédents : le FPPN dépend de la poursuite des versements pour payer les sorties.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414102946"/>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 tests de résistance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dans le scénario central, l'actif à moins d'un an couvre 34,42 % des paiements de l'année au 31/08/2026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chocs sont calibrés sur les extrêmes observés au FPPN, pour rester cohérents avec le reste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Onglet 24b du classeur des calculs</a:t>
            </a:r>
          </a:p>
        </p:txBody>
      </p:sp>
      <p:sp>
        <p:nvSpPr>
          <p:cNvPr id="31" name="TextBox 30"/>
          <p:cNvSpPr txBox="1"/>
          <p:nvPr/>
        </p:nvSpPr>
        <p:spPr>
          <a:xfrm>
            <a:off x="503999" y="1386000"/>
            <a:ext cx="10872000" cy="216000"/>
          </a:xfrm>
          <a:prstGeom prst="rect">
            <a:avLst/>
          </a:prstGeom>
          <a:noFill/>
        </p:spPr>
        <p:txBody>
          <a:bodyPr wrap="square" anchor="t" lIns="54000" rIns="54000"/>
          <a:lstStyle/>
          <a:p>
            <a:pPr algn="ctr"/>
            <a:r>
              <a:rPr sz="1200" b="0">
                <a:solidFill>
                  <a:srgbClr val="EFAC62"/>
                </a:solidFill>
                <a:latin typeface="Helvetica"/>
              </a:rPr>
              <a:t>Tableau 69 : Couverture des paiements de l'année selon trois scénarios</a:t>
            </a:r>
          </a:p>
        </p:txBody>
      </p:sp>
      <p:graphicFrame>
        <p:nvGraphicFramePr>
          <p:cNvPr id="32" name="Table 31"/>
          <p:cNvGraphicFramePr>
            <a:graphicFrameLocks noGrp="1"/>
          </p:cNvGraphicFramePr>
          <p:nvPr/>
        </p:nvGraphicFramePr>
        <p:xfrm>
          <a:off x="503999" y="1655999"/>
          <a:ext cx="10872000" cy="1569132"/>
        </p:xfrm>
        <a:graphic>
          <a:graphicData uri="http://schemas.openxmlformats.org/drawingml/2006/table">
            <a:tbl>
              <a:tblPr firstRow="0" bandRow="0">
                <a:tableStyleId>{5940675A-B579-460E-94D1-54222C63F5DA}</a:tableStyleId>
              </a:tblPr>
              <a:tblGrid>
                <a:gridCol w="1080000"/>
                <a:gridCol w="1296000"/>
                <a:gridCol w="2664000"/>
                <a:gridCol w="1584000"/>
                <a:gridCol w="1584000"/>
                <a:gridCol w="1584000"/>
                <a:gridCol w="1080000"/>
              </a:tblGrid>
              <a:tr h="187148">
                <a:tc>
                  <a:txBody>
                    <a:bodyPr/>
                    <a:lstStyle/>
                    <a:p>
                      <a:pPr marL="0" indent="0" lvl="0">
                        <a:buNone/>
                      </a:pPr>
                      <a:r>
                        <a:rPr sz="85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Hypothèse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Actif à moins d'un an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Besoin de l'année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Écart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Couverture</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31/12/2025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Central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de sortie moyen 2021 à 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2 715 008 827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9 192 611 042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-6 477 602 215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29,53 %</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31/12/2025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Résistance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de sortie maximal observé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2 715 008 827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10 340 963 512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-7 625 954 685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26,25 %</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31/12/2025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Résistance sévère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maximal et hausse des prestations maladie de 103,53 %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2 715 008 827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12 175 203 736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-9 460 194 909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22,30 %</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Central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de sortie moyen 2021 à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3 457 866 951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10 046 113 184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-6 588 246 233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34,42 %</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Résistance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de sortie maximal observé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3 457 866 951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11 354 859 261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-7 896 992 310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30,45 %</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Résistance sévère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maximal et hausse des prestations maladie de 103,53 %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3 457 866 951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13 189 099 485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-9 731 232 534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26,22 %</a:t>
                      </a:r>
                    </a:p>
                  </a:txBody>
                  <a:tcPr marL="43200" marR="43200" marT="14400" marB="14400" anchor="ctr">
                    <a:solidFill>
                      <a:srgbClr val="F2F2F2"/>
                    </a:solidFill>
                  </a:tcPr>
                </a:tc>
              </a:tr>
            </a:tbl>
          </a:graphicData>
        </a:graphic>
      </p:graphicFrame>
      <p:sp>
        <p:nvSpPr>
          <p:cNvPr id="33" name="TextBox 32"/>
          <p:cNvSpPr txBox="1"/>
          <p:nvPr/>
        </p:nvSpPr>
        <p:spPr>
          <a:xfrm>
            <a:off x="503999" y="3333133"/>
            <a:ext cx="11232000" cy="162000"/>
          </a:xfrm>
          <a:prstGeom prst="rect">
            <a:avLst/>
          </a:prstGeom>
          <a:noFill/>
        </p:spPr>
        <p:txBody>
          <a:bodyPr wrap="square" anchor="t" lIns="54000" rIns="54000"/>
          <a:lstStyle/>
          <a:p>
            <a:pPr algn="l"/>
            <a:r>
              <a:rPr sz="850" b="0">
                <a:solidFill>
                  <a:srgbClr val="53565A"/>
                </a:solidFill>
                <a:latin typeface="Helvetica"/>
              </a:rPr>
              <a:t>Valable pour : bilans au 31/12/2025 et au 31/08/2026 (provisoire). Taux de sortie 2021 à 2025. Prestations maladie 2023 à 2025.</a:t>
            </a:r>
          </a:p>
        </p:txBody>
      </p:sp>
      <p:sp>
        <p:nvSpPr>
          <p:cNvPr id="34" name="TextBox 33"/>
          <p:cNvSpPr txBox="1"/>
          <p:nvPr/>
        </p:nvSpPr>
        <p:spPr>
          <a:xfrm>
            <a:off x="503999" y="3639133"/>
            <a:ext cx="11232000" cy="2228866"/>
          </a:xfrm>
          <a:prstGeom prst="rect">
            <a:avLst/>
          </a:prstGeom>
          <a:noFill/>
        </p:spPr>
        <p:txBody>
          <a:bodyPr wrap="square" lIns="54000" rIns="54000"/>
          <a:lstStyle/>
          <a:p>
            <a:pPr algn="just">
              <a:spcAft>
                <a:spcPts val="600"/>
              </a:spcAft>
            </a:pPr>
            <a:r>
              <a:rPr sz="1300" b="1">
                <a:solidFill>
                  <a:srgbClr val="060606"/>
                </a:solidFill>
                <a:latin typeface="Helvetica"/>
              </a:rPr>
              <a:t>La couverture varie entre 22,30 % et 34,42 % selon le scénario et la clôture.</a:t>
            </a:r>
            <a:r>
              <a:rPr sz="1300" b="0">
                <a:solidFill>
                  <a:srgbClr val="060606"/>
                </a:solidFill>
                <a:latin typeface="Helvetica"/>
              </a:rPr>
              <a:t> Aucun scénario n'approche 100 %.</a:t>
            </a:r>
          </a:p>
          <a:p>
            <a:pPr algn="just">
              <a:spcAft>
                <a:spcPts val="600"/>
              </a:spcAft>
            </a:pPr>
            <a:r>
              <a:rPr sz="1300" b="0">
                <a:solidFill>
                  <a:srgbClr val="060606"/>
                </a:solidFill>
                <a:latin typeface="Helvetica"/>
              </a:rPr>
              <a:t>Une réserve de liquidité égale aux sorties d'épargne d'une année au taux maximal observé est la cible minimale d'une politique actif-passif.</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149781487"/>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 gouvernance à mettre en place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des pratiques de gouvernance actif-passif de référence n'est en place au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conseil d'administration doit fixer les limites. Un comité doit suivre les écarts et en rendre compte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Ch13_Gestion_Actif-Passif_French.pdf » (Association actuarielle internationale, 2016). « 2024081723_jerome-lavoie-pilote.pdf » (Institut des actuaires). « Gestion des Risques Bancaires(Actif PAssif).pdf » (Sciences-Po, 2009-2010). Entretien du 19/10/2026 (14h) avec M. Koffi, chef comptable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70 : Gouvernance actif-passif : pratiques de référence et situation du FPPN</a:t>
            </a:r>
          </a:p>
        </p:txBody>
      </p:sp>
      <p:graphicFrame>
        <p:nvGraphicFramePr>
          <p:cNvPr id="32" name="Table 31"/>
          <p:cNvGraphicFramePr>
            <a:graphicFrameLocks noGrp="1"/>
          </p:cNvGraphicFramePr>
          <p:nvPr/>
        </p:nvGraphicFramePr>
        <p:xfrm>
          <a:off x="503999" y="1655999"/>
          <a:ext cx="11231999" cy="1641080"/>
        </p:xfrm>
        <a:graphic>
          <a:graphicData uri="http://schemas.openxmlformats.org/drawingml/2006/table">
            <a:tbl>
              <a:tblPr firstRow="0" bandRow="0">
                <a:tableStyleId>{5940675A-B579-460E-94D1-54222C63F5DA}</a:tableStyleId>
              </a:tblPr>
              <a:tblGrid>
                <a:gridCol w="2736000"/>
                <a:gridCol w="1944000"/>
                <a:gridCol w="3240000"/>
                <a:gridCol w="3311999"/>
              </a:tblGrid>
              <a:tr h="187148">
                <a:tc>
                  <a:txBody>
                    <a:bodyPr/>
                    <a:lstStyle/>
                    <a:p>
                      <a:pPr marL="0" indent="0" lvl="0">
                        <a:buNone/>
                      </a:pPr>
                      <a:r>
                        <a:rPr sz="850" b="1">
                          <a:solidFill>
                            <a:srgbClr val="FFFFFF"/>
                          </a:solidFill>
                          <a:latin typeface="Helvetica"/>
                        </a:rPr>
                        <a:t>Pratique de référence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Source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Situation du FPPN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Action proposée</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Le conseil d'administration s'engage et approuve les limites de risque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AAI, ch. 13, p. 15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limite votée. Le directeur général décide seul des placements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Faire voter une politique actif-passif et de placement</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Un comité actif-passif, avec un mandat écrit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AAI, ch. 13, p. 19. Lavoie, p. 11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de comité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Créer un comité : direction, comptabilité, actuaire</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Une politique qui encadre la gestion actif-passif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Lavoie, p. 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Pas de politique écrite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Fixer réserve de liquidité, actifs admis, rendement minimal</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Un suivi régulier des écarts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Gestion des risques bancaires, p. 86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d'échéancier de l'épargne, pas de tableau de suivi</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Écarts de liquidité trimestriels, présentés au comité</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Des engagements connus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AAI, ch. 13, p. 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servi non arrêté, comptes individuels non transmis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Arrêter le taux, tenir les comptes individuels</a:t>
                      </a:r>
                    </a:p>
                  </a:txBody>
                  <a:tcPr marL="43200" marR="43200" marT="14400" marB="14400" anchor="ctr">
                    <a:solidFill>
                      <a:srgbClr val="FFFFFF"/>
                    </a:solidFill>
                  </a:tcPr>
                </a:tc>
              </a:tr>
            </a:tbl>
          </a:graphicData>
        </a:graphic>
      </p:graphicFrame>
      <p:sp>
        <p:nvSpPr>
          <p:cNvPr id="33" name="TextBox 32"/>
          <p:cNvSpPr txBox="1"/>
          <p:nvPr/>
        </p:nvSpPr>
        <p:spPr>
          <a:xfrm>
            <a:off x="503999" y="3405081"/>
            <a:ext cx="11232000" cy="162000"/>
          </a:xfrm>
          <a:prstGeom prst="rect">
            <a:avLst/>
          </a:prstGeom>
          <a:noFill/>
        </p:spPr>
        <p:txBody>
          <a:bodyPr wrap="square" anchor="t" lIns="54000" rIns="54000"/>
          <a:lstStyle/>
          <a:p>
            <a:pPr algn="l"/>
            <a:r>
              <a:rPr sz="850" b="0">
                <a:solidFill>
                  <a:srgbClr val="53565A"/>
                </a:solidFill>
                <a:latin typeface="Helvetica"/>
              </a:rPr>
              <a:t>Valable pour : pratiques des documents de référence cités. Situation du FPPN constatée en entretien le 19/10/2026 et sur les documents reçus jusqu'au 22/10/2026.</a:t>
            </a:r>
          </a:p>
        </p:txBody>
      </p:sp>
      <p:sp>
        <p:nvSpPr>
          <p:cNvPr id="34" name="TextBox 33"/>
          <p:cNvSpPr txBox="1"/>
          <p:nvPr/>
        </p:nvSpPr>
        <p:spPr>
          <a:xfrm>
            <a:off x="503999" y="3711081"/>
            <a:ext cx="11232000" cy="2156918"/>
          </a:xfrm>
          <a:prstGeom prst="rect">
            <a:avLst/>
          </a:prstGeom>
          <a:noFill/>
        </p:spPr>
        <p:txBody>
          <a:bodyPr wrap="square" lIns="54000" rIns="54000"/>
          <a:lstStyle/>
          <a:p>
            <a:pPr algn="just">
              <a:spcAft>
                <a:spcPts val="600"/>
              </a:spcAft>
            </a:pPr>
            <a:r>
              <a:rPr sz="1300" b="1">
                <a:solidFill>
                  <a:srgbClr val="060606"/>
                </a:solidFill>
                <a:latin typeface="Helvetica"/>
              </a:rPr>
              <a:t>L'absence de gouvernance explique les constats chiffrés</a:t>
            </a:r>
            <a:r>
              <a:rPr sz="1300" b="0">
                <a:solidFill>
                  <a:srgbClr val="060606"/>
                </a:solidFill>
                <a:latin typeface="Helvetica"/>
              </a:rPr>
              <a:t> : sans limite ni suivi, l'épargne a financé des actifs longs sans que personne ne mesure l'effet sur la liquidité.</a:t>
            </a:r>
          </a:p>
          <a:p>
            <a:pPr algn="just">
              <a:spcAft>
                <a:spcPts val="600"/>
              </a:spcAft>
            </a:pPr>
            <a:r>
              <a:rPr sz="1300" b="0">
                <a:solidFill>
                  <a:srgbClr val="060606"/>
                </a:solidFill>
                <a:latin typeface="Helvetica"/>
              </a:rPr>
              <a:t>La gouvernance est le levier le moins coûteux : elle ne demande ni vente d'actif ni hausse de cotisation.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54055527"/>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adossement actif-passif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n'est pas adossé : l'épargne exigible finance des actifs longs et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des paiements de l'année au 31/08/2026 : 34,42 % (central) à 26,22 % (sévère)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diapositives diapositive 139, diapositive 140, diapositive 141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71 : Adossement actif-passif : réponse et niveau de preuve</a:t>
            </a:r>
          </a:p>
        </p:txBody>
      </p:sp>
      <p:graphicFrame>
        <p:nvGraphicFramePr>
          <p:cNvPr id="32" name="Table 31"/>
          <p:cNvGraphicFramePr>
            <a:graphicFrameLocks noGrp="1"/>
          </p:cNvGraphicFramePr>
          <p:nvPr/>
        </p:nvGraphicFramePr>
        <p:xfrm>
          <a:off x="503999" y="1655999"/>
          <a:ext cx="11231998" cy="1194836"/>
        </p:xfrm>
        <a:graphic>
          <a:graphicData uri="http://schemas.openxmlformats.org/drawingml/2006/table">
            <a:tbl>
              <a:tblPr firstRow="0" bandRow="0">
                <a:tableStyleId>{5940675A-B579-460E-94D1-54222C63F5DA}</a:tableStyleId>
              </a:tblPr>
              <a:tblGrid>
                <a:gridCol w="2160000"/>
                <a:gridCol w="3744000"/>
                <a:gridCol w="2015999"/>
                <a:gridCol w="3311999"/>
              </a:tblGrid>
              <a:tr h="187148">
                <a:tc>
                  <a:txBody>
                    <a:bodyPr/>
                    <a:lstStyle/>
                    <a:p>
                      <a:pPr marL="0" indent="0" lvl="0">
                        <a:buNone/>
                      </a:pPr>
                      <a:r>
                        <a:rPr sz="85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Réponse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Pour aller plus loin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La liquidité couvre-t-elle l'année qui vient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 : 34,42 % dans le scénario central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Écoulement conventionnel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Échéancier de l'épargne</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L'écart se résorbe-t-il dans les cinq ans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 : manque cumulé de 12 596 052 822 FCFA à cinq ans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Écarts par année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Classement contractuel des actifs</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Le FPPN résiste-t-il à un choc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 : 26,22 % dans le scénario sévère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Tests de résistance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Données de sorties par motif</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Le FPPN pilote-t-il son adossement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 : ni politique, ni comité, ni limites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Pratiques de référence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Décision du conseil d'administration</a:t>
                      </a:r>
                    </a:p>
                  </a:txBody>
                  <a:tcPr marL="43200" marR="43200" marT="14400" marB="14400" anchor="ctr">
                    <a:solidFill>
                      <a:srgbClr val="F2F2F2"/>
                    </a:solidFill>
                  </a:tcPr>
                </a:tc>
              </a:tr>
            </a:tbl>
          </a:graphicData>
        </a:graphic>
      </p:graphicFrame>
      <p:sp>
        <p:nvSpPr>
          <p:cNvPr id="33" name="TextBox 32"/>
          <p:cNvSpPr txBox="1"/>
          <p:nvPr/>
        </p:nvSpPr>
        <p:spPr>
          <a:xfrm>
            <a:off x="503999" y="2958837"/>
            <a:ext cx="11232000" cy="162000"/>
          </a:xfrm>
          <a:prstGeom prst="rect">
            <a:avLst/>
          </a:prstGeom>
          <a:noFill/>
        </p:spPr>
        <p:txBody>
          <a:bodyPr wrap="square" anchor="t" lIns="54000" rIns="54000"/>
          <a:lstStyle/>
          <a:p>
            <a:pPr algn="l"/>
            <a:r>
              <a:rPr sz="850" b="0">
                <a:solidFill>
                  <a:srgbClr val="53565A"/>
                </a:solidFill>
                <a:latin typeface="Helvetica"/>
              </a:rPr>
              <a:t>Valable pour : bilans au 31/12/2025 et au 31/08/2026 (provisoire). Comportements de sortie observés de 2021 à 2025.</a:t>
            </a:r>
          </a:p>
        </p:txBody>
      </p:sp>
      <p:sp>
        <p:nvSpPr>
          <p:cNvPr id="34" name="TextBox 33"/>
          <p:cNvSpPr txBox="1"/>
          <p:nvPr/>
        </p:nvSpPr>
        <p:spPr>
          <a:xfrm>
            <a:off x="503999" y="3264837"/>
            <a:ext cx="11232000" cy="2603162"/>
          </a:xfrm>
          <a:prstGeom prst="rect">
            <a:avLst/>
          </a:prstGeom>
          <a:noFill/>
        </p:spPr>
        <p:txBody>
          <a:bodyPr wrap="square" lIns="54000" rIns="54000"/>
          <a:lstStyle/>
          <a:p>
            <a:pPr algn="just">
              <a:spcAft>
                <a:spcPts val="600"/>
              </a:spcAft>
            </a:pPr>
            <a:r>
              <a:rPr sz="1300" b="1">
                <a:solidFill>
                  <a:srgbClr val="060606"/>
                </a:solidFill>
                <a:latin typeface="Helvetica"/>
              </a:rPr>
              <a:t>Le non-adossement est démontré avec les données du FPPN</a:t>
            </a:r>
            <a:r>
              <a:rPr sz="1300" b="0">
                <a:solidFill>
                  <a:srgbClr val="060606"/>
                </a:solidFill>
                <a:latin typeface="Helvetica"/>
              </a:rPr>
              <a:t>, quel que soit le scénario retenu. Seule l'ampleur exacte dépend de l'échéancier de l'épargne.</a:t>
            </a:r>
          </a:p>
          <a:p>
            <a:pPr algn="just">
              <a:spcAft>
                <a:spcPts val="600"/>
              </a:spcAft>
            </a:pPr>
            <a:r>
              <a:rPr sz="1300" b="0">
                <a:solidFill>
                  <a:srgbClr val="060606"/>
                </a:solidFill>
                <a:latin typeface="Helvetica"/>
              </a:rPr>
              <a:t>Le plan de redressement doit traiter en priorité la liquidité de l'épargne : réserve de liquidité, arrêt du financement d'actifs longs par l'épargne, politique actif-passif votée.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78867524"/>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Fonds propres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Fonds propres, placements, actifs immobilisés, adéquation aux engagements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721286024"/>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pertes reportées dépassent les réserves, d'où des fonds propres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-876 142 111 FCFA + résultat 437 899 911 FCFA = -438 242 200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704000" cy="1680072"/>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 (balance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Réévaluation matériels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11100000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Réserves légale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11880000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RESERVES FACULTATIVES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12900000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Report à nouveau débiteur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-5 272 983 928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Sous-total capitaux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-876 142 111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Résultat de l'exercice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813999" y="237723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007267"/>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484084"/>
          </a:xfrm>
          <a:prstGeom prst="rect">
            <a:avLst/>
          </a:prstGeom>
          <a:noFill/>
        </p:spPr>
        <p:txBody>
          <a:bodyPr wrap="square" anchor="t" lIns="54000" rIns="54000"/>
          <a:lstStyle/>
          <a:p>
            <a:pPr algn="l"/>
            <a:r>
              <a:rPr sz="1200" b="0">
                <a:solidFill>
                  <a:srgbClr val="060606"/>
                </a:solidFill>
                <a:latin typeface="Helvetica"/>
              </a:rPr>
              <a:t>Les pertes reportées (compte 129) dépassent l'ensemble des réserves.</a:t>
            </a:r>
          </a:p>
        </p:txBody>
      </p:sp>
      <p:sp>
        <p:nvSpPr>
          <p:cNvPr id="39" name="Oval 38"/>
          <p:cNvSpPr/>
          <p:nvPr/>
        </p:nvSpPr>
        <p:spPr>
          <a:xfrm>
            <a:off x="8424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104084"/>
            <a:ext cx="2952000" cy="484084"/>
          </a:xfrm>
          <a:prstGeom prst="rect">
            <a:avLst/>
          </a:prstGeom>
          <a:noFill/>
        </p:spPr>
        <p:txBody>
          <a:bodyPr wrap="square" anchor="t" lIns="54000" rIns="54000"/>
          <a:lstStyle/>
          <a:p>
            <a:pPr algn="l"/>
            <a:r>
              <a:rPr sz="1200" b="0">
                <a:solidFill>
                  <a:srgbClr val="060606"/>
                </a:solidFill>
                <a:latin typeface="Helvetica"/>
              </a:rPr>
              <a:t>Les fonds propres restent négatifs malgré le résultat positif de 2025.</a:t>
            </a:r>
          </a:p>
        </p:txBody>
      </p:sp>
      <p:sp>
        <p:nvSpPr>
          <p:cNvPr id="41" name="Oval 40"/>
          <p:cNvSpPr/>
          <p:nvPr/>
        </p:nvSpPr>
        <p:spPr>
          <a:xfrm>
            <a:off x="8424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2678168"/>
            <a:ext cx="2952000" cy="484084"/>
          </a:xfrm>
          <a:prstGeom prst="rect">
            <a:avLst/>
          </a:prstGeom>
          <a:noFill/>
        </p:spPr>
        <p:txBody>
          <a:bodyPr wrap="square" anchor="t" lIns="54000" rIns="54000"/>
          <a:lstStyle/>
          <a:p>
            <a:pPr algn="l"/>
            <a:r>
              <a:rPr sz="1200" b="0">
                <a:solidFill>
                  <a:srgbClr val="060606"/>
                </a:solidFill>
                <a:latin typeface="Helvetica"/>
              </a:rPr>
              <a:t>Les excédents futurs devront absorber ce solde négatif.</a:t>
            </a:r>
          </a:p>
        </p:txBody>
      </p:sp>
      <p:sp>
        <p:nvSpPr>
          <p:cNvPr id="43" name="TextBox 42"/>
          <p:cNvSpPr txBox="1"/>
          <p:nvPr/>
        </p:nvSpPr>
        <p:spPr>
          <a:xfrm>
            <a:off x="8424000" y="3342252"/>
            <a:ext cx="3312000" cy="2525747"/>
          </a:xfrm>
          <a:prstGeom prst="rect">
            <a:avLst/>
          </a:prstGeom>
          <a:noFill/>
        </p:spPr>
        <p:txBody>
          <a:bodyPr wrap="square" lIns="54000" rIns="54000"/>
          <a:lstStyle/>
          <a:p>
            <a:pPr algn="just">
              <a:spcAft>
                <a:spcPts val="600"/>
              </a:spcAft>
            </a:pPr>
            <a:r>
              <a:rPr sz="1200" b="1">
                <a:solidFill>
                  <a:srgbClr val="060606"/>
                </a:solidFill>
                <a:latin typeface="Helvetica"/>
              </a:rPr>
              <a:t>Les réserves existent, mais les pertes passées les dépassent.</a:t>
            </a:r>
            <a:r>
              <a:rPr sz="1200" b="0">
                <a:solidFill>
                  <a:srgbClr val="060606"/>
                </a:solidFill>
                <a:latin typeface="Helvetica"/>
              </a:rPr>
              <a:t> Le compte 10620000, intitulé « Réévaluation matériels » de 2020 à 2025, est le plus important des comptes positifs. Le chef comptable l'explique par la réévaluation du terrain du siège (partie 10).</a:t>
            </a:r>
          </a:p>
          <a:p>
            <a:pPr algn="just">
              <a:spcAft>
                <a:spcPts val="600"/>
              </a:spcAft>
            </a:pPr>
            <a:r>
              <a:rPr sz="1200" b="0">
                <a:solidFill>
                  <a:srgbClr val="060606"/>
                </a:solidFill>
                <a:latin typeface="Helvetica"/>
              </a:rPr>
              <a:t>La marge de solvabilité de la Décision n° 05/2022 se calcule sur ces réserves : selon que les pertes reportées sont déduites ou non, le FPPN est conforme ou non (partie 10).</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82472772"/>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Fonds propres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malgré six années d'excédents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-6 743 081 733 FCFA fin 2020, -438 242 200 FCFA fin 2025, -879 498 700 FCFA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32 : Fonds propres et résultat de l'exercice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excédents de 2020 à 2025 réduisent l'écart sans le combler.</a:t>
            </a:r>
            <a:r>
              <a:rPr sz="1400" b="0">
                <a:solidFill>
                  <a:srgbClr val="060606"/>
                </a:solidFill>
                <a:latin typeface="Helvetica"/>
              </a:rPr>
              <a:t> Les fonds propres passent de -6 743 081 733 FCFA à -438 242 200 FCFA.</a:t>
            </a:r>
          </a:p>
          <a:p>
            <a:pPr algn="just">
              <a:spcAft>
                <a:spcPts val="600"/>
              </a:spcAft>
            </a:pPr>
            <a:r>
              <a:rPr sz="1400" b="1">
                <a:solidFill>
                  <a:srgbClr val="060606"/>
                </a:solidFill>
                <a:latin typeface="Helvetica"/>
              </a:rPr>
              <a:t>Le déficit des huit premiers mois de 2026 inverse la tendance.</a:t>
            </a:r>
            <a:r>
              <a:rPr sz="1400" b="0">
                <a:solidFill>
                  <a:srgbClr val="060606"/>
                </a:solidFill>
                <a:latin typeface="Helvetica"/>
              </a:rPr>
              <a:t> Les fonds propres reculent à nouveau au 31/08/2026.</a:t>
            </a:r>
          </a:p>
          <a:p>
            <a:pPr algn="just">
              <a:spcAft>
                <a:spcPts val="600"/>
              </a:spcAft>
            </a:pPr>
            <a:r>
              <a:rPr sz="1400" b="1">
                <a:solidFill>
                  <a:srgbClr val="060606"/>
                </a:solidFill>
                <a:latin typeface="Helvetica"/>
              </a:rPr>
              <a:t>Le ratio des fonds propres et assimilés vaut 0,22 en 2025, pour une norme d'au moins 1.</a:t>
            </a:r>
          </a:p>
          <a:p>
            <a:pPr algn="just">
              <a:spcAft>
                <a:spcPts val="600"/>
              </a:spcAft>
            </a:pPr>
            <a:r>
              <a:rPr sz="1400" b="0">
                <a:solidFill>
                  <a:srgbClr val="060606"/>
                </a:solidFill>
                <a:latin typeface="Helvetica"/>
              </a:rPr>
              <a:t>Au rythme des excédents de 2024 et 2025, il faudrait encore au moins un exercice excédentaire pour revenir à des fonds propres positifs. Le déficit de 2026 éloigne cette échéance : le redressement dépend de la maîtrise de la sinistralité et des frais.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10, 11, 12 et résultat des balances « BALANCE FORMAT EXCEL DE 09-2020 AU 31-12-2020.xlsx » à « BALANCE FPPN DU 01-01-2026 AU 31-08-2026.xlsx », au 31/12 de 2020 à 2025 et au 31/08/2026. Sans retraitement des provisions.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853229720"/>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Placements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DAT constitué chaque année et soldé à chaque clôture, et un FCP depuis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DAT BOA : 485 541 804 FCFA au 31/08/2026. FCP géré par United Capital (SGI) : 500 000 000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 Balances des comptes du FPPN de 2020 au 31/08/2026 (provisoire), fichiers « BALANCE … » listés en annexe « Fichiers sources ». Traitements Adenka</a:t>
            </a:r>
          </a:p>
        </p:txBody>
      </p:sp>
      <p:sp>
        <p:nvSpPr>
          <p:cNvPr id="31" name="TextBox 30"/>
          <p:cNvSpPr txBox="1"/>
          <p:nvPr/>
        </p:nvSpPr>
        <p:spPr>
          <a:xfrm>
            <a:off x="503999" y="1386000"/>
            <a:ext cx="7059600" cy="216000"/>
          </a:xfrm>
          <a:prstGeom prst="rect">
            <a:avLst/>
          </a:prstGeom>
          <a:noFill/>
        </p:spPr>
        <p:txBody>
          <a:bodyPr wrap="square" anchor="t" lIns="54000" rIns="54000"/>
          <a:lstStyle/>
          <a:p>
            <a:pPr algn="ctr"/>
            <a:r>
              <a:rPr sz="1200" b="0">
                <a:solidFill>
                  <a:srgbClr val="EFAC62"/>
                </a:solidFill>
                <a:latin typeface="Helvetica"/>
              </a:rPr>
              <a:t>Tableau 72 : Mouvements annuels du DAT BOA (comptes 52210200 et 52210201)</a:t>
            </a:r>
          </a:p>
        </p:txBody>
      </p:sp>
      <p:graphicFrame>
        <p:nvGraphicFramePr>
          <p:cNvPr id="32" name="Table 31"/>
          <p:cNvGraphicFramePr>
            <a:graphicFrameLocks noGrp="1"/>
          </p:cNvGraphicFramePr>
          <p:nvPr/>
        </p:nvGraphicFramePr>
        <p:xfrm>
          <a:off x="503999" y="1655999"/>
          <a:ext cx="7059600" cy="1576750"/>
        </p:xfrm>
        <a:graphic>
          <a:graphicData uri="http://schemas.openxmlformats.org/drawingml/2006/table">
            <a:tbl>
              <a:tblPr firstRow="0" bandRow="0">
                <a:tableStyleId>{5940675A-B579-460E-94D1-54222C63F5DA}</a:tableStyleId>
              </a:tblPr>
              <a:tblGrid>
                <a:gridCol w="1152000"/>
                <a:gridCol w="1969200"/>
                <a:gridCol w="1969200"/>
                <a:gridCol w="19692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Versements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Débouclages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de fin</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2 367 038 113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2 367 038 113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2 363 639 657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2 363 499 130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140 527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1 965 985 975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1 966 126 502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2 669 457 975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2 669 457 975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3 335 116 874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3 335 116 874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2 176 471 267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1 690 929 463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485 541 804 FCFA</a:t>
                      </a:r>
                    </a:p>
                  </a:txBody>
                  <a:tcPr marL="43200" marR="43200" marT="14400" marB="14400" anchor="ctr">
                    <a:solidFill>
                      <a:srgbClr val="F2F2F2"/>
                    </a:solidFill>
                  </a:tcPr>
                </a:tc>
              </a:tr>
            </a:tbl>
          </a:graphicData>
        </a:graphic>
      </p:graphicFrame>
      <p:sp>
        <p:nvSpPr>
          <p:cNvPr id="33" name="TextBox 32"/>
          <p:cNvSpPr txBox="1"/>
          <p:nvPr/>
        </p:nvSpPr>
        <p:spPr>
          <a:xfrm>
            <a:off x="503999" y="3340753"/>
            <a:ext cx="7059600" cy="306000"/>
          </a:xfrm>
          <a:prstGeom prst="rect">
            <a:avLst/>
          </a:prstGeom>
          <a:noFill/>
        </p:spPr>
        <p:txBody>
          <a:bodyPr wrap="square" anchor="t" lIns="54000" rIns="54000"/>
          <a:lstStyle/>
          <a:p>
            <a:pPr algn="l"/>
            <a:r>
              <a:rPr sz="850" b="0">
                <a:solidFill>
                  <a:srgbClr val="53565A"/>
                </a:solidFill>
                <a:latin typeface="Helvetica"/>
              </a:rPr>
              <a:t>Valable pour : comptes 52210200 et 52210201 (DAT BOA) et 53300001 (FCP) des balances 2021 à 2026. Décision de placement selon l'entretien du 19/10/2026.</a:t>
            </a:r>
          </a:p>
        </p:txBody>
      </p:sp>
      <p:sp>
        <p:nvSpPr>
          <p:cNvPr id="34" name="TextBox 33"/>
          <p:cNvSpPr txBox="1"/>
          <p:nvPr/>
        </p:nvSpPr>
        <p:spPr>
          <a:xfrm>
            <a:off x="7779600" y="1386000"/>
            <a:ext cx="3956400" cy="4482000"/>
          </a:xfrm>
          <a:prstGeom prst="rect">
            <a:avLst/>
          </a:prstGeom>
          <a:noFill/>
        </p:spPr>
        <p:txBody>
          <a:bodyPr wrap="square" lIns="54000" rIns="54000"/>
          <a:lstStyle/>
          <a:p>
            <a:pPr algn="just">
              <a:spcAft>
                <a:spcPts val="600"/>
              </a:spcAft>
            </a:pPr>
            <a:r>
              <a:rPr sz="1400" b="1">
                <a:solidFill>
                  <a:srgbClr val="060606"/>
                </a:solidFill>
                <a:latin typeface="Helvetica"/>
              </a:rPr>
              <a:t>Le DAT annuel est le principal placement du FPPN.</a:t>
            </a:r>
            <a:r>
              <a:rPr sz="1400" b="0">
                <a:solidFill>
                  <a:srgbClr val="060606"/>
                </a:solidFill>
                <a:latin typeface="Helvetica"/>
              </a:rPr>
              <a:t> Les versements vont de 1 965 985 975 FCFA à 3 335 116 874 FCFA par an de 2021 à 2025, et le compte est soldé à chaque clôture.</a:t>
            </a:r>
          </a:p>
          <a:p>
            <a:pPr algn="just">
              <a:spcAft>
                <a:spcPts val="600"/>
              </a:spcAft>
            </a:pPr>
            <a:r>
              <a:rPr sz="1400" b="1">
                <a:solidFill>
                  <a:srgbClr val="060606"/>
                </a:solidFill>
                <a:latin typeface="Helvetica"/>
              </a:rPr>
              <a:t>Le FCP n'est pas revalorisé dans les comptes</a:t>
            </a:r>
            <a:r>
              <a:rPr sz="1400" b="0">
                <a:solidFill>
                  <a:srgbClr val="060606"/>
                </a:solidFill>
                <a:latin typeface="Helvetica"/>
              </a:rPr>
              <a:t>, et le DAT Orabank ouvert en 2022 a été soldé en 2023 après un arrêt des prélèvements par la banque.</a:t>
            </a:r>
          </a:p>
          <a:p>
            <a:pPr algn="just">
              <a:spcAft>
                <a:spcPts val="600"/>
              </a:spcAft>
            </a:pPr>
            <a:r>
              <a:rPr sz="1400" b="0">
                <a:solidFill>
                  <a:srgbClr val="060606"/>
                </a:solidFill>
                <a:latin typeface="Helvetica"/>
              </a:rPr>
              <a:t>Un placement débouclé chaque année ne couvre pas l'épargne longue : il finance les sorties de l'année. La couverture des engagements d'épargne reste faible (partie 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 | SGI : société de gestion et d'intermédiation</a:t>
            </a:r>
          </a:p>
        </p:txBody>
      </p:sp>
    </p:spTree>
    <p:extLst>
      <p:ext uri="{BB962C8B-B14F-4D97-AF65-F5344CB8AC3E}">
        <p14:creationId xmlns:p14="http://schemas.microsoft.com/office/powerpoint/2010/main" val="1152533280"/>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Décision de placement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directeur général décide seul, sur la base d'un point de trésorerie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Ni comité, ni avis du conseil d'administration, ni politique de placement écrite selon le chef comptable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Banque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générale</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DAF</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Comptabilité (chef comptable)</a:t>
            </a:r>
          </a:p>
        </p:txBody>
      </p:sp>
      <p:sp>
        <p:nvSpPr>
          <p:cNvPr id="39" name="Logigramme p1"/>
          <p:cNvSpPr/>
          <p:nvPr/>
        </p:nvSpPr>
        <p:spPr>
          <a:xfrm>
            <a:off x="2015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Proposition</a:t>
            </a:r>
          </a:p>
          <a:p>
            <a:pPr algn="ctr"/>
            <a:r>
              <a:rPr sz="850" b="1">
                <a:solidFill>
                  <a:srgbClr val="FFFFFF"/>
                </a:solidFill>
                <a:latin typeface="Helvetica"/>
              </a:rPr>
              <a:t>de placement</a:t>
            </a:r>
          </a:p>
        </p:txBody>
      </p:sp>
      <p:sp>
        <p:nvSpPr>
          <p:cNvPr id="40" name="Logigramme p2"/>
          <p:cNvSpPr/>
          <p:nvPr/>
        </p:nvSpPr>
        <p:spPr>
          <a:xfrm>
            <a:off x="3401999" y="2385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 de</a:t>
            </a:r>
          </a:p>
          <a:p>
            <a:pPr algn="ctr"/>
            <a:r>
              <a:rPr sz="850" b="0">
                <a:solidFill>
                  <a:srgbClr val="060606"/>
                </a:solidFill>
                <a:latin typeface="Helvetica"/>
              </a:rPr>
              <a:t>la proposition</a:t>
            </a:r>
          </a:p>
        </p:txBody>
      </p:sp>
      <p:sp>
        <p:nvSpPr>
          <p:cNvPr id="41" name="Logigramme p3"/>
          <p:cNvSpPr/>
          <p:nvPr/>
        </p:nvSpPr>
        <p:spPr>
          <a:xfrm>
            <a:off x="4788000" y="3231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Demande du point</a:t>
            </a:r>
          </a:p>
          <a:p>
            <a:pPr algn="ctr"/>
            <a:r>
              <a:rPr sz="850" b="0">
                <a:solidFill>
                  <a:srgbClr val="060606"/>
                </a:solidFill>
                <a:latin typeface="Helvetica"/>
              </a:rPr>
              <a:t>de trésorerie</a:t>
            </a:r>
          </a:p>
        </p:txBody>
      </p:sp>
      <p:sp>
        <p:nvSpPr>
          <p:cNvPr id="42" name="Logigramme p4"/>
          <p:cNvSpPr/>
          <p:nvPr/>
        </p:nvSpPr>
        <p:spPr>
          <a:xfrm>
            <a:off x="4788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Point de</a:t>
            </a:r>
          </a:p>
          <a:p>
            <a:pPr algn="ctr"/>
            <a:r>
              <a:rPr sz="850" b="0">
                <a:solidFill>
                  <a:srgbClr val="060606"/>
                </a:solidFill>
                <a:latin typeface="Helvetica"/>
              </a:rPr>
              <a:t>trésorerie</a:t>
            </a:r>
          </a:p>
        </p:txBody>
      </p:sp>
      <p:sp>
        <p:nvSpPr>
          <p:cNvPr id="43" name="Logigramme p5"/>
          <p:cNvSpPr/>
          <p:nvPr/>
        </p:nvSpPr>
        <p:spPr>
          <a:xfrm>
            <a:off x="6173999" y="2331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Investir ?</a:t>
            </a:r>
          </a:p>
        </p:txBody>
      </p:sp>
      <p:sp>
        <p:nvSpPr>
          <p:cNvPr id="44" name="Logigramme p6"/>
          <p:cNvSpPr/>
          <p:nvPr/>
        </p:nvSpPr>
        <p:spPr>
          <a:xfrm>
            <a:off x="6173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Pas de</a:t>
            </a:r>
          </a:p>
          <a:p>
            <a:pPr algn="ctr"/>
            <a:r>
              <a:rPr sz="850" b="1">
                <a:solidFill>
                  <a:srgbClr val="FFFFFF"/>
                </a:solidFill>
                <a:latin typeface="Helvetica"/>
              </a:rPr>
              <a:t>placement</a:t>
            </a:r>
          </a:p>
        </p:txBody>
      </p:sp>
      <p:sp>
        <p:nvSpPr>
          <p:cNvPr id="45" name="Logigramme p7"/>
          <p:cNvSpPr/>
          <p:nvPr/>
        </p:nvSpPr>
        <p:spPr>
          <a:xfrm>
            <a:off x="7560000" y="3231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Lettre d'ouverture</a:t>
            </a:r>
          </a:p>
          <a:p>
            <a:pPr algn="ctr"/>
            <a:r>
              <a:rPr sz="850" b="0">
                <a:solidFill>
                  <a:srgbClr val="060606"/>
                </a:solidFill>
                <a:latin typeface="Helvetica"/>
              </a:rPr>
              <a:t>à la banque</a:t>
            </a:r>
          </a:p>
        </p:txBody>
      </p:sp>
      <p:sp>
        <p:nvSpPr>
          <p:cNvPr id="46" name="Logigramme p8"/>
          <p:cNvSpPr/>
          <p:nvPr/>
        </p:nvSpPr>
        <p:spPr>
          <a:xfrm>
            <a:off x="8946000" y="1539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Prélèvements</a:t>
            </a:r>
          </a:p>
          <a:p>
            <a:pPr algn="ctr"/>
            <a:r>
              <a:rPr sz="850" b="0">
                <a:solidFill>
                  <a:srgbClr val="060606"/>
                </a:solidFill>
                <a:latin typeface="Helvetica"/>
              </a:rPr>
              <a:t>mensuels</a:t>
            </a:r>
          </a:p>
        </p:txBody>
      </p:sp>
      <p:sp>
        <p:nvSpPr>
          <p:cNvPr id="47" name="Logigramme p9"/>
          <p:cNvSpPr/>
          <p:nvPr/>
        </p:nvSpPr>
        <p:spPr>
          <a:xfrm>
            <a:off x="10332000" y="1539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Relevés</a:t>
            </a:r>
          </a:p>
          <a:p>
            <a:pPr algn="ctr"/>
            <a:r>
              <a:rPr sz="850" b="0">
                <a:solidFill>
                  <a:srgbClr val="060606"/>
                </a:solidFill>
                <a:latin typeface="Helvetica"/>
              </a:rPr>
              <a:t>bancaires</a:t>
            </a:r>
          </a:p>
        </p:txBody>
      </p:sp>
      <p:sp>
        <p:nvSpPr>
          <p:cNvPr id="48" name="Logigramme p10"/>
          <p:cNvSpPr/>
          <p:nvPr/>
        </p:nvSpPr>
        <p:spPr>
          <a:xfrm>
            <a:off x="10332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Comptabilisation</a:t>
            </a:r>
          </a:p>
          <a:p>
            <a:pPr algn="ctr"/>
            <a:r>
              <a:rPr sz="850" b="0">
                <a:solidFill>
                  <a:srgbClr val="060606"/>
                </a:solidFill>
                <a:latin typeface="Helvetica"/>
              </a:rPr>
              <a:t>sur relevés</a:t>
            </a:r>
          </a:p>
        </p:txBody>
      </p:sp>
      <p:sp>
        <p:nvSpPr>
          <p:cNvPr id="49" name="Logigramme p11"/>
          <p:cNvSpPr/>
          <p:nvPr/>
        </p:nvSpPr>
        <p:spPr>
          <a:xfrm>
            <a:off x="8946000" y="4077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Débouclage, dont</a:t>
            </a:r>
          </a:p>
          <a:p>
            <a:pPr algn="ctr"/>
            <a:r>
              <a:rPr sz="850" b="1">
                <a:solidFill>
                  <a:srgbClr val="FFFFFF"/>
                </a:solidFill>
                <a:latin typeface="Helvetica"/>
              </a:rPr>
              <a:t>paiement de l'EFC</a:t>
            </a:r>
          </a:p>
        </p:txBody>
      </p:sp>
      <p:sp>
        <p:nvSpPr>
          <p:cNvPr id="50" name="Logigramme p12"/>
          <p:cNvSpPr/>
          <p:nvPr/>
        </p:nvSpPr>
        <p:spPr>
          <a:xfrm>
            <a:off x="7560000" y="4077000"/>
            <a:ext cx="1224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Ni comité, ni</a:t>
            </a:r>
          </a:p>
          <a:p>
            <a:pPr algn="ctr"/>
            <a:r>
              <a:rPr sz="850" b="1">
                <a:solidFill>
                  <a:srgbClr val="C00000"/>
                </a:solidFill>
                <a:latin typeface="Helvetica"/>
              </a:rPr>
              <a:t>procédure écrite</a:t>
            </a:r>
          </a:p>
        </p:txBody>
      </p:sp>
      <p:cxnSp>
        <p:nvCxnSpPr>
          <p:cNvPr id="51" name="Flèche p1 vers p2"/>
          <p:cNvCxnSpPr>
            <a:stCxn id="39" idx="3"/>
            <a:endCxn id="40" idx="0"/>
          </p:cNvCxnSpPr>
          <p:nvPr/>
        </p:nvCxnSpPr>
        <p:spPr>
          <a:xfrm>
            <a:off x="3239999" y="1827000"/>
            <a:ext cx="774000"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Flèche p2 vers p3"/>
          <p:cNvCxnSpPr>
            <a:stCxn id="40" idx="3"/>
            <a:endCxn id="41" idx="0"/>
          </p:cNvCxnSpPr>
          <p:nvPr/>
        </p:nvCxnSpPr>
        <p:spPr>
          <a:xfrm>
            <a:off x="4625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p3 vers p4"/>
          <p:cNvCxnSpPr>
            <a:stCxn id="41" idx="2"/>
            <a:endCxn id="42" idx="0"/>
          </p:cNvCxnSpPr>
          <p:nvPr/>
        </p:nvCxnSpPr>
        <p:spPr>
          <a:xfrm flipH="1">
            <a:off x="5400000" y="3807000"/>
            <a:ext cx="0" cy="270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Flèche p4 vers p5"/>
          <p:cNvCxnSpPr>
            <a:stCxn id="42" idx="3"/>
            <a:endCxn id="43" idx="2"/>
          </p:cNvCxnSpPr>
          <p:nvPr/>
        </p:nvCxnSpPr>
        <p:spPr>
          <a:xfrm flipV="1">
            <a:off x="6012000" y="3015000"/>
            <a:ext cx="773999" cy="1350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Flèche p5 vers p6"/>
          <p:cNvCxnSpPr>
            <a:stCxn id="43" idx="0"/>
            <a:endCxn id="44" idx="2"/>
          </p:cNvCxnSpPr>
          <p:nvPr/>
        </p:nvCxnSpPr>
        <p:spPr>
          <a:xfrm flipH="1" flipV="1">
            <a:off x="6785999" y="2115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839998" y="2151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7" name="Flèche p5 vers p7"/>
          <p:cNvCxnSpPr>
            <a:stCxn id="43" idx="3"/>
            <a:endCxn id="45" idx="0"/>
          </p:cNvCxnSpPr>
          <p:nvPr/>
        </p:nvCxnSpPr>
        <p:spPr>
          <a:xfrm>
            <a:off x="7397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441199"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9" name="Flèche p7 vers p8"/>
          <p:cNvCxnSpPr>
            <a:stCxn id="45" idx="3"/>
            <a:endCxn id="46" idx="2"/>
          </p:cNvCxnSpPr>
          <p:nvPr/>
        </p:nvCxnSpPr>
        <p:spPr>
          <a:xfrm flipV="1">
            <a:off x="8784000" y="2115000"/>
            <a:ext cx="774000" cy="1404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p8 vers p9"/>
          <p:cNvCxnSpPr>
            <a:stCxn id="46" idx="3"/>
            <a:endCxn id="47" idx="1"/>
          </p:cNvCxnSpPr>
          <p:nvPr/>
        </p:nvCxnSpPr>
        <p:spPr>
          <a:xfrm flipV="1">
            <a:off x="10170000" y="182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p9 vers p10"/>
          <p:cNvCxnSpPr>
            <a:stCxn id="47" idx="2"/>
            <a:endCxn id="48" idx="0"/>
          </p:cNvCxnSpPr>
          <p:nvPr/>
        </p:nvCxnSpPr>
        <p:spPr>
          <a:xfrm flipH="1">
            <a:off x="10944000" y="2115000"/>
            <a:ext cx="0" cy="196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p10 vers p11"/>
          <p:cNvCxnSpPr>
            <a:stCxn id="48" idx="1"/>
            <a:endCxn id="49" idx="3"/>
          </p:cNvCxnSpPr>
          <p:nvPr/>
        </p:nvCxnSpPr>
        <p:spPr>
          <a:xfrm flipH="1" flipV="1">
            <a:off x="10170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3999" y="4878000"/>
            <a:ext cx="11232000" cy="990000"/>
          </a:xfrm>
          <a:prstGeom prst="rect">
            <a:avLst/>
          </a:prstGeom>
          <a:noFill/>
        </p:spPr>
        <p:txBody>
          <a:bodyPr wrap="square" lIns="54000" rIns="54000"/>
          <a:lstStyle/>
          <a:p>
            <a:pPr algn="just">
              <a:spcAft>
                <a:spcPts val="600"/>
              </a:spcAft>
            </a:pPr>
            <a:r>
              <a:rPr sz="1200" b="1">
                <a:solidFill>
                  <a:srgbClr val="060606"/>
                </a:solidFill>
                <a:latin typeface="Helvetica"/>
              </a:rPr>
              <a:t>Le choix des placements ne suit aucune politique validée par les organes du FPPN.</a:t>
            </a:r>
            <a:r>
              <a:rPr sz="1200" b="0">
                <a:solidFill>
                  <a:srgbClr val="060606"/>
                </a:solidFill>
                <a:latin typeface="Helvetica"/>
              </a:rPr>
              <a:t> La banque propose, le directeur général décide après un point de trésorerie, et la comptabilité enregistre sur la base des relevés.</a:t>
            </a:r>
          </a:p>
          <a:p>
            <a:pPr algn="just">
              <a:spcAft>
                <a:spcPts val="600"/>
              </a:spcAft>
            </a:pPr>
            <a:r>
              <a:rPr sz="1200" b="0">
                <a:solidFill>
                  <a:srgbClr val="060606"/>
                </a:solidFill>
                <a:latin typeface="Helvetica"/>
              </a:rPr>
              <a:t>Le règlement d'exécution n° 004/2022 (art. 17) exige que les placements satisfassent aux conditions de sécurité, de rendement, de liquidité et de diversification : sans politique écrite, le FPPN ne peut pas démontrer le respect de ces conditions.</a:t>
            </a:r>
          </a:p>
        </p:txBody>
      </p:sp>
      <p:sp>
        <p:nvSpPr>
          <p:cNvPr id="64" name="TextBox 6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DAF : directeur administratif et financier</a:t>
            </a:r>
          </a:p>
        </p:txBody>
      </p:sp>
    </p:spTree>
    <p:extLst>
      <p:ext uri="{BB962C8B-B14F-4D97-AF65-F5344CB8AC3E}">
        <p14:creationId xmlns:p14="http://schemas.microsoft.com/office/powerpoint/2010/main" val="3446773962"/>
      </p:ext>
    </p:extLst>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Clinique, projet de Cocody et désignation du directeur général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documents établissent la propriété de la clinique et le projet de Cocody, pas leur valeur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Clinique, terrains et créance sur l'hôpital au 31/08/2026 : 15 736 951 165 FCFA, financés en grande partie par l'épargne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0027/MSHP/DGS/DEPS du 10/02/2020. Lettre de dérogation d'urbanisme de janvier 2025. Attestation de désignation du 04/09/2020 (noms exacts en annexe « Fichiers sources »). Règlement d'exécution n° 004/2022/COM/UEMOA du 1er juin 2022, art. 27.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73 : Documents sur les actifs immobilisés et la gouvernance</a:t>
            </a:r>
          </a:p>
        </p:txBody>
      </p:sp>
      <p:graphicFrame>
        <p:nvGraphicFramePr>
          <p:cNvPr id="32" name="Table 31"/>
          <p:cNvGraphicFramePr>
            <a:graphicFrameLocks noGrp="1"/>
          </p:cNvGraphicFramePr>
          <p:nvPr/>
        </p:nvGraphicFramePr>
        <p:xfrm>
          <a:off x="503999" y="1655999"/>
          <a:ext cx="11232000" cy="1328221"/>
        </p:xfrm>
        <a:graphic>
          <a:graphicData uri="http://schemas.openxmlformats.org/drawingml/2006/table">
            <a:tbl>
              <a:tblPr firstRow="0" bandRow="0">
                <a:tableStyleId>{5940675A-B579-460E-94D1-54222C63F5DA}</a:tableStyleId>
              </a:tblPr>
              <a:tblGrid>
                <a:gridCol w="2304000"/>
                <a:gridCol w="3600000"/>
                <a:gridCol w="3096000"/>
                <a:gridCol w="2232000"/>
              </a:tblGrid>
              <a:tr h="180000">
                <a:tc>
                  <a:txBody>
                    <a:bodyPr/>
                    <a:lstStyle/>
                    <a:p>
                      <a:pPr marL="0" indent="0" lvl="0">
                        <a:buNone/>
                      </a:pPr>
                      <a:r>
                        <a:rPr sz="800" b="1">
                          <a:solidFill>
                            <a:srgbClr val="FFFFFF"/>
                          </a:solidFill>
                          <a:latin typeface="Helvetica"/>
                        </a:rPr>
                        <a:t>Document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qu'il établit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qu'il n'établit pas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Montant au bilan au 31/08/2026</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Arrêté n° 0027/MSHP/DGS/DEPS du 10/02/2020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 « Centre médical du FPPN », établissement sanitaire privé mutualiste à Yopougon Andokoi, est autorisé et immatriculé (art. 1 et 2). Le FPPN en est le promoteur et propriétaire (art. 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de la clinique, résultat de son activité, comptabilité séparée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7 083 534 565 FCFA (investissements au CMP)</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Lettre du ministre de la Construction, janvier 2025 (jour illisible)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Accord pour quatre immeubles R+5 sur les lots 3005 à 3007, îlot 83, 5 007 m², titre foncier n° 119 230, Deux Plateaux, Cocody. Le FPPN avait demandé R+6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Budget, financement, calendrier, rendement attendu, décision des organes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5 245 896 750 FCFA (terrains, tous sites)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Attestation du 04/09/2020 du président du conseil d'administration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Désignation du directeur général pour la mandature 2020-2023, après l'Assemblée générale du 27/08/2020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Désignation ou prolongation après 2023. Délégation de pouvoir pour les placements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r>
            </a:tbl>
          </a:graphicData>
        </a:graphic>
      </p:graphicFrame>
      <p:sp>
        <p:nvSpPr>
          <p:cNvPr id="33" name="TextBox 32"/>
          <p:cNvSpPr txBox="1"/>
          <p:nvPr/>
        </p:nvSpPr>
        <p:spPr>
          <a:xfrm>
            <a:off x="503999" y="3092221"/>
            <a:ext cx="11232000" cy="162000"/>
          </a:xfrm>
          <a:prstGeom prst="rect">
            <a:avLst/>
          </a:prstGeom>
          <a:noFill/>
        </p:spPr>
        <p:txBody>
          <a:bodyPr wrap="square" anchor="t" lIns="54000" rIns="54000"/>
          <a:lstStyle/>
          <a:p>
            <a:pPr algn="l"/>
            <a:r>
              <a:rPr sz="850" b="0">
                <a:solidFill>
                  <a:srgbClr val="53565A"/>
                </a:solidFill>
                <a:latin typeface="Helvetica"/>
              </a:rPr>
              <a:t>Valable pour : documents reçus le 22/10/2026 (scans lus par reconnaissance de caractères). Montants des comptes 222, 47111101, 47111104, 47111105 et 47111100 au 31/08/2026 (provisoire).</a:t>
            </a:r>
          </a:p>
        </p:txBody>
      </p:sp>
      <p:sp>
        <p:nvSpPr>
          <p:cNvPr id="34" name="TextBox 33"/>
          <p:cNvSpPr txBox="1"/>
          <p:nvPr/>
        </p:nvSpPr>
        <p:spPr>
          <a:xfrm>
            <a:off x="503999" y="3398221"/>
            <a:ext cx="11232000" cy="2469778"/>
          </a:xfrm>
          <a:prstGeom prst="rect">
            <a:avLst/>
          </a:prstGeom>
          <a:noFill/>
        </p:spPr>
        <p:txBody>
          <a:bodyPr wrap="square" lIns="54000" rIns="54000"/>
          <a:lstStyle/>
          <a:p>
            <a:pPr algn="just">
              <a:spcAft>
                <a:spcPts val="600"/>
              </a:spcAft>
            </a:pPr>
            <a:r>
              <a:rPr sz="1300" b="1">
                <a:solidFill>
                  <a:srgbClr val="060606"/>
                </a:solidFill>
                <a:latin typeface="Helvetica"/>
              </a:rPr>
              <a:t>Le projet de Cocody engagerait l'épargne dans un actif immobilier de long terme, alors que l'épargne est exigible et que la liquidité ne couvre pas l'année qui vient.</a:t>
            </a:r>
            <a:r>
              <a:rPr sz="1300" b="0">
                <a:solidFill>
                  <a:srgbClr val="060606"/>
                </a:solidFill>
                <a:latin typeface="Helvetica"/>
              </a:rPr>
              <a:t> Aucun document reçu n'en donne le coût ni le mode de financement.</a:t>
            </a:r>
          </a:p>
          <a:p>
            <a:pPr algn="just">
              <a:spcAft>
                <a:spcPts val="600"/>
              </a:spcAft>
            </a:pPr>
            <a:r>
              <a:rPr sz="1300" b="1">
                <a:solidFill>
                  <a:srgbClr val="060606"/>
                </a:solidFill>
                <a:latin typeface="Helvetica"/>
              </a:rPr>
              <a:t>Le règlement d'exécution n° 004/2022 interdit de couvrir les pertes d'une activité sanitaire par les cotisations ou les réserves obligatoires (art. 27)</a:t>
            </a:r>
            <a:r>
              <a:rPr sz="1300" b="0">
                <a:solidFill>
                  <a:srgbClr val="060606"/>
                </a:solidFill>
                <a:latin typeface="Helvetica"/>
              </a:rPr>
              <a:t> : la clinique doit avoir une comptabilité séparée pour le démontrer.</a:t>
            </a:r>
          </a:p>
          <a:p>
            <a:pPr algn="just">
              <a:spcAft>
                <a:spcPts val="600"/>
              </a:spcAft>
            </a:pPr>
            <a:r>
              <a:rPr sz="1300" b="0">
                <a:solidFill>
                  <a:srgbClr val="060606"/>
                </a:solidFill>
                <a:latin typeface="Helvetica"/>
              </a:rPr>
              <a:t>Avant tout engagement sur le projet de Cocody, le FPPN doit présenter aux organes son budget, son financement et son effet sur la liquidité de l'épargne (PBC, nouveaux items).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CMP : Centre Médical du Policier (rapport de gestion 2023) | PBC : liste des documents demandés au client</a:t>
            </a:r>
          </a:p>
        </p:txBody>
      </p:sp>
    </p:spTree>
    <p:extLst>
      <p:ext uri="{BB962C8B-B14F-4D97-AF65-F5344CB8AC3E}">
        <p14:creationId xmlns:p14="http://schemas.microsoft.com/office/powerpoint/2010/main" val="2819785235"/>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problème des placements est leur faible volume, pas leur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moyen apparent 2021 à 2025 : 6,48 % par an. Taux directeur BCEAO entre 2,00 % et 3,50 %</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33 : Taux directeur de la BCEAO</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date d'effet</a:t>
            </a:r>
          </a:p>
        </p:txBody>
      </p:sp>
      <p:graphicFrame>
        <p:nvGraphicFramePr>
          <p:cNvPr id="32" name="Chart 31"/>
          <p:cNvGraphicFramePr>
            <a:graphicFrameLocks noGrp="1"/>
          </p:cNvGraphicFramePr>
          <p:nvPr/>
        </p:nvGraphicFramePr>
        <p:xfrm>
          <a:off x="503999" y="1782000"/>
          <a:ext cx="5976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communiqués du Comité de politique monétaire. Balances des comptes du FPPN de 2020 au 31/08/2026 (provisoire), fichiers « BALANCE … » listés en annexe « Fichiers sources ».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300" b="1">
                <a:solidFill>
                  <a:srgbClr val="060606"/>
                </a:solidFill>
                <a:latin typeface="Helvetica"/>
              </a:rPr>
              <a:t>Les produits financiers de 2021 à 2025 atteignent 173 881 316 FCFA</a:t>
            </a:r>
            <a:r>
              <a:rPr sz="1300" b="0">
                <a:solidFill>
                  <a:srgbClr val="060606"/>
                </a:solidFill>
                <a:latin typeface="Helvetica"/>
              </a:rPr>
              <a:t>, pour un encours moyen de placements d'environ 536 763 072 FCFA.</a:t>
            </a:r>
          </a:p>
          <a:p>
            <a:pPr algn="just">
              <a:spcAft>
                <a:spcPts val="600"/>
              </a:spcAft>
            </a:pPr>
            <a:r>
              <a:rPr sz="1300" b="1">
                <a:solidFill>
                  <a:srgbClr val="060606"/>
                </a:solidFill>
                <a:latin typeface="Helvetica"/>
              </a:rPr>
              <a:t>Le rendement moyen dépasse le taux directeur, mais il est irrégulier.</a:t>
            </a:r>
            <a:r>
              <a:rPr sz="1300" b="0">
                <a:solidFill>
                  <a:srgbClr val="060606"/>
                </a:solidFill>
                <a:latin typeface="Helvetica"/>
              </a:rPr>
              <a:t> L'essentiel des intérêts est comptabilisé en 2025, à la clôture d'un dépôt à terme.</a:t>
            </a:r>
          </a:p>
          <a:p>
            <a:pPr algn="just">
              <a:spcAft>
                <a:spcPts val="600"/>
              </a:spcAft>
            </a:pPr>
            <a:r>
              <a:rPr sz="1300" b="1">
                <a:solidFill>
                  <a:srgbClr val="060606"/>
                </a:solidFill>
                <a:latin typeface="Helvetica"/>
              </a:rPr>
              <a:t>Le taux servi sur l'épargne (3,5 % sur le PEP, 3,5 % ou 5,5 % sur l'EFC selon le document) est un engagement de rendement</a:t>
            </a:r>
            <a:r>
              <a:rPr sz="1300" b="0">
                <a:solidFill>
                  <a:srgbClr val="060606"/>
                </a:solidFill>
                <a:latin typeface="Helvetica"/>
              </a:rPr>
              <a:t> que les produits des placements ne couvrent pas (partie 6).</a:t>
            </a:r>
          </a:p>
          <a:p>
            <a:pPr algn="just">
              <a:spcAft>
                <a:spcPts val="600"/>
              </a:spcAft>
            </a:pPr>
            <a:r>
              <a:rPr sz="1300" b="1">
                <a:solidFill>
                  <a:srgbClr val="060606"/>
                </a:solidFill>
                <a:latin typeface="Helvetica"/>
              </a:rPr>
              <a:t>Le vrai sujet est le volume placé</a:t>
            </a:r>
            <a:r>
              <a:rPr sz="1300" b="0">
                <a:solidFill>
                  <a:srgbClr val="060606"/>
                </a:solidFill>
                <a:latin typeface="Helvetica"/>
              </a:rPr>
              <a:t>, face à 15 743 516 391 FCFA d'épargne à restituer. Le solde des comptes courants non rémunérés atteint 2 356 399 123 FCFA au 31/08/2026.</a:t>
            </a:r>
          </a:p>
          <a:p>
            <a:pPr algn="just">
              <a:spcAft>
                <a:spcPts val="600"/>
              </a:spcAft>
            </a:pPr>
            <a:r>
              <a:rPr sz="1300" b="0">
                <a:solidFill>
                  <a:srgbClr val="060606"/>
                </a:solidFill>
                <a:latin typeface="Helvetica"/>
              </a:rPr>
              <a:t>La Décision n° 05/2022 demande aux mutuelles qui gèrent des risques longs un solde des comptes courants non rémunérés proche de zéro : une partie de cette trésorerie peut être placée à terme sans nuire à la liquidité.</a:t>
            </a:r>
          </a:p>
        </p:txBody>
      </p:sp>
      <p:sp>
        <p:nvSpPr>
          <p:cNvPr id="35" name="TextBox 34"/>
          <p:cNvSpPr txBox="1"/>
          <p:nvPr/>
        </p:nvSpPr>
        <p:spPr>
          <a:xfrm>
            <a:off x="503999" y="5526000"/>
            <a:ext cx="5976000" cy="306000"/>
          </a:xfrm>
          <a:prstGeom prst="rect">
            <a:avLst/>
          </a:prstGeom>
          <a:noFill/>
        </p:spPr>
        <p:txBody>
          <a:bodyPr wrap="square" anchor="t" lIns="54000" rIns="54000"/>
          <a:lstStyle/>
          <a:p>
            <a:pPr algn="l"/>
            <a:r>
              <a:rPr sz="850" b="0">
                <a:solidFill>
                  <a:srgbClr val="53565A"/>
                </a:solidFill>
                <a:latin typeface="Helvetica"/>
              </a:rPr>
              <a:t>Valable pour : produits financiers (classe 77) et placements moyens (comptes 52 et 53) des balances 2021 à 2025. Taux directeurs de la BCEAO de 2020 à 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 | PEP : Plan Épargne Plus | EFC : entraide fin de carrière</a:t>
            </a:r>
          </a:p>
        </p:txBody>
      </p:sp>
    </p:spTree>
    <p:extLst>
      <p:ext uri="{BB962C8B-B14F-4D97-AF65-F5344CB8AC3E}">
        <p14:creationId xmlns:p14="http://schemas.microsoft.com/office/powerpoint/2010/main" val="1401146690"/>
      </p:ext>
    </p:extLst>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adéquation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placements ne sont adéquats ni en volume, ni en liquidité, ni en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Aucune des quatre conditions de l'article 17 (sécurité, rendement, liquidité, diversification) n'est démontrée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Balances des comptes du FPPN de 2020 au 31/08/2026 (provisoire), fichiers « BALANCE … » listés en annexe « Fichiers sources ». Traitements Adenka. Diapositives diapositive 140, diapositive 85, diapositive 149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74 : Placements et emplois du FPPN confrontés aux conditions de l'article 17</a:t>
            </a:r>
          </a:p>
        </p:txBody>
      </p:sp>
      <p:graphicFrame>
        <p:nvGraphicFramePr>
          <p:cNvPr id="32" name="Table 31"/>
          <p:cNvGraphicFramePr>
            <a:graphicFrameLocks noGrp="1"/>
          </p:cNvGraphicFramePr>
          <p:nvPr/>
        </p:nvGraphicFramePr>
        <p:xfrm>
          <a:off x="503999" y="1655999"/>
          <a:ext cx="11232000" cy="1194836"/>
        </p:xfrm>
        <a:graphic>
          <a:graphicData uri="http://schemas.openxmlformats.org/drawingml/2006/table">
            <a:tbl>
              <a:tblPr firstRow="0" bandRow="0">
                <a:tableStyleId>{5940675A-B579-460E-94D1-54222C63F5DA}</a:tableStyleId>
              </a:tblPr>
              <a:tblGrid>
                <a:gridCol w="1296000"/>
                <a:gridCol w="3024000"/>
                <a:gridCol w="5040000"/>
                <a:gridCol w="1872000"/>
              </a:tblGrid>
              <a:tr h="187148">
                <a:tc>
                  <a:txBody>
                    <a:bodyPr/>
                    <a:lstStyle/>
                    <a:p>
                      <a:pPr marL="0" indent="0" lvl="0">
                        <a:buNone/>
                      </a:pPr>
                      <a:r>
                        <a:rPr sz="850" b="1">
                          <a:solidFill>
                            <a:srgbClr val="FFFFFF"/>
                          </a:solidFill>
                          <a:latin typeface="Helvetica"/>
                        </a:rPr>
                        <a:t>Condition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qu'il faudrait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que montrent les chiffres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Appréciation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Liquidité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Couvrir les paiements de l'année, sorties d'épargne comprises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Couverture de 34,42 % au 31/08/2026 (scénario central)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 remplie</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Rendement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Couvrir les intérêts dus sur l'épargne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Produits financiers 2021 à 2025 : 173 881 316 FCFA. Intérêts dus sur la même période : 2 349 114 243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 remplie</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Sécurité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Actifs évalués et contreparties solides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Clinique, terrains et créance sur l'hôpital non évalués. FCP non garanti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 démontrée</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Diversification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de concentration sur un emploi</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Plus des trois quarts de l'actif à plus de cinq ans ou à délai incertain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 remplie</a:t>
                      </a:r>
                    </a:p>
                  </a:txBody>
                  <a:tcPr marL="43200" marR="43200" marT="14400" marB="14400" anchor="ctr">
                    <a:solidFill>
                      <a:srgbClr val="F2F2F2"/>
                    </a:solidFill>
                  </a:tcPr>
                </a:tc>
              </a:tr>
            </a:tbl>
          </a:graphicData>
        </a:graphic>
      </p:graphicFrame>
      <p:sp>
        <p:nvSpPr>
          <p:cNvPr id="33" name="TextBox 32"/>
          <p:cNvSpPr txBox="1"/>
          <p:nvPr/>
        </p:nvSpPr>
        <p:spPr>
          <a:xfrm>
            <a:off x="503999" y="2958837"/>
            <a:ext cx="11232000" cy="162000"/>
          </a:xfrm>
          <a:prstGeom prst="rect">
            <a:avLst/>
          </a:prstGeom>
          <a:noFill/>
        </p:spPr>
        <p:txBody>
          <a:bodyPr wrap="square" anchor="t" lIns="54000" rIns="54000"/>
          <a:lstStyle/>
          <a:p>
            <a:pPr algn="l"/>
            <a:r>
              <a:rPr sz="850" b="0">
                <a:solidFill>
                  <a:srgbClr val="53565A"/>
                </a:solidFill>
                <a:latin typeface="Helvetica"/>
              </a:rPr>
              <a:t>Valable pour : placements et produits financiers de 2021 à 2025. Actifs et épargne au 31/08/2026 (provisoire). Intérêts dus aux taux du manuel d'épargne.</a:t>
            </a:r>
          </a:p>
        </p:txBody>
      </p:sp>
      <p:sp>
        <p:nvSpPr>
          <p:cNvPr id="34" name="TextBox 33"/>
          <p:cNvSpPr txBox="1"/>
          <p:nvPr/>
        </p:nvSpPr>
        <p:spPr>
          <a:xfrm>
            <a:off x="503999" y="3264837"/>
            <a:ext cx="11232000" cy="2603162"/>
          </a:xfrm>
          <a:prstGeom prst="rect">
            <a:avLst/>
          </a:prstGeom>
          <a:noFill/>
        </p:spPr>
        <p:txBody>
          <a:bodyPr wrap="square" lIns="54000" rIns="54000"/>
          <a:lstStyle/>
          <a:p>
            <a:pPr algn="just">
              <a:spcAft>
                <a:spcPts val="600"/>
              </a:spcAft>
            </a:pPr>
            <a:r>
              <a:rPr sz="1300" b="1">
                <a:solidFill>
                  <a:srgbClr val="060606"/>
                </a:solidFill>
                <a:latin typeface="Helvetica"/>
              </a:rPr>
              <a:t>Le portefeuille est inadéquat d'abord parce que l'épargne finance des actifs qui ne produisent ni revenu financier ni liquidité.</a:t>
            </a:r>
            <a:r>
              <a:rPr sz="1300" b="0">
                <a:solidFill>
                  <a:srgbClr val="060606"/>
                </a:solidFill>
                <a:latin typeface="Helvetica"/>
              </a:rPr>
              <a:t> Le rendement des placements financiers eux-mêmes n'est pas le problème principal.</a:t>
            </a:r>
          </a:p>
          <a:p>
            <a:pPr algn="just">
              <a:spcAft>
                <a:spcPts val="600"/>
              </a:spcAft>
            </a:pPr>
            <a:r>
              <a:rPr sz="1300" b="0">
                <a:solidFill>
                  <a:srgbClr val="060606"/>
                </a:solidFill>
                <a:latin typeface="Helvetica"/>
              </a:rPr>
              <a:t>Une politique de placement votée par le conseil d'administration doit fixer une réserve de liquidité, un rendement minimal au regard du taux servi arrêté et des limites sur les actifs immobiliers, avant tout nouvel investissement.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a:t>
            </a:r>
          </a:p>
        </p:txBody>
      </p:sp>
    </p:spTree>
    <p:extLst>
      <p:ext uri="{BB962C8B-B14F-4D97-AF65-F5344CB8AC3E}">
        <p14:creationId xmlns:p14="http://schemas.microsoft.com/office/powerpoint/2010/main" val="3474049246"/>
      </p:ext>
    </p:extLst>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porte des engagements courts et une épargne croissante avec des actifs longs, des provisions non recalculées et des fonds propres négatifs.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provisions gardent le même montant de 2020 à 2026, les fonds propres sont négatifs à chaque clôture, et plus des trois quarts de l'actif sont à plus de cinq ans ou de délai incertain.</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absorber ni un choc de prestations, ni une vague de retraits, sans céder des actifs peu liquides.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adopter une politique de provisionnement, une politique de placement et un encadrement écrit des investissements dans les structures liées.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bilan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combine provisions figées, fonds propres négatifs et actifs peu liquides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fragilités cumulées limitent la capacité du FPPN à faire face à un choc</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35324419"/>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10</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Conformité prudentielle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Textes UEMOA, ratios, réserves, plan comptable, leviers de conformité</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272375906"/>
      </p:ext>
    </p:extLst>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Textes applicables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textes fixent les règles prudentielles que le FPPN doit respecter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articles cités sont lus dans les textes intégraux. Les pages scannées ont été lues par reconnaissance optique de caractères (OCR) et vérifiées à l'image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(validée)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75 : Textes de la mutualité sociale appliqués au FPPN</a:t>
            </a:r>
          </a:p>
        </p:txBody>
      </p:sp>
      <p:graphicFrame>
        <p:nvGraphicFramePr>
          <p:cNvPr id="32" name="Table 31"/>
          <p:cNvGraphicFramePr>
            <a:graphicFrameLocks noGrp="1"/>
          </p:cNvGraphicFramePr>
          <p:nvPr/>
        </p:nvGraphicFramePr>
        <p:xfrm>
          <a:off x="503999" y="1655999"/>
          <a:ext cx="11232000" cy="2189754"/>
        </p:xfrm>
        <a:graphic>
          <a:graphicData uri="http://schemas.openxmlformats.org/drawingml/2006/table">
            <a:tbl>
              <a:tblPr firstRow="0" bandRow="0">
                <a:tableStyleId>{5940675A-B579-460E-94D1-54222C63F5DA}</a:tableStyleId>
              </a:tblPr>
              <a:tblGrid>
                <a:gridCol w="3096000"/>
                <a:gridCol w="5688000"/>
                <a:gridCol w="2448000"/>
              </a:tblGrid>
              <a:tr h="225250">
                <a:tc>
                  <a:txBody>
                    <a:bodyPr/>
                    <a:lstStyle/>
                    <a:p>
                      <a:pPr marL="0" indent="0" lvl="0">
                        <a:buNone/>
                      </a:pPr>
                      <a:r>
                        <a:rPr sz="11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qu'il impose au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Articles utilisés</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impose l'agrément, une comptabilité selon le plan comptable, la répartition des excédents en réserves et le placement des fonds en banque.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 22, 28, 60 à 63, 83, 84</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impose des provisions suffisantes, une réserve légale, des règles propres aux risques longs et le cantonnement des patrimoines.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3 à 27, 35</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13 indicateurs de gouvernance, 11 indicateurs de contrôle, 9 ratios pour les risques longs, la marge de solvabilité et l'affectation des excédents.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tableaux 1 et 2, § 1.1 à 2.9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 de mai 2012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à partir de l'exercice ouvert le 1er janvier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2. Liste des comptes. Fiches 1, 2, 6, 25</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Arrêté n° 00115/MEPS/CAB du 12/12/2023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les sanctions administratives et pécuniaires en cas de manquement.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lignes 6 et 13</a:t>
                      </a:r>
                    </a:p>
                  </a:txBody>
                  <a:tcPr marL="43200" marR="43200" marT="14400" marB="14400" anchor="ctr">
                    <a:solidFill>
                      <a:srgbClr val="FFFFFF"/>
                    </a:solidFill>
                  </a:tcPr>
                </a:tc>
              </a:tr>
            </a:tbl>
          </a:graphicData>
        </a:graphic>
      </p:graphicFrame>
      <p:sp>
        <p:nvSpPr>
          <p:cNvPr id="33" name="TextBox 32"/>
          <p:cNvSpPr txBox="1"/>
          <p:nvPr/>
        </p:nvSpPr>
        <p:spPr>
          <a:xfrm>
            <a:off x="503999" y="3953756"/>
            <a:ext cx="11232000" cy="162000"/>
          </a:xfrm>
          <a:prstGeom prst="rect">
            <a:avLst/>
          </a:prstGeom>
          <a:noFill/>
        </p:spPr>
        <p:txBody>
          <a:bodyPr wrap="square" anchor="t" lIns="54000" rIns="54000"/>
          <a:lstStyle/>
          <a:p>
            <a:pPr algn="l"/>
            <a:r>
              <a:rPr sz="850" b="0">
                <a:solidFill>
                  <a:srgbClr val="53565A"/>
                </a:solidFill>
                <a:latin typeface="Helvetica"/>
              </a:rPr>
              <a:t>Valable pour : textes de la mutualité sociale UEMOA et ivoirienne fournis le 18/10/2026. Versions en vigueur au 22/10/2026.</a:t>
            </a:r>
          </a:p>
        </p:txBody>
      </p:sp>
      <p:sp>
        <p:nvSpPr>
          <p:cNvPr id="34" name="TextBox 33"/>
          <p:cNvSpPr txBox="1"/>
          <p:nvPr/>
        </p:nvSpPr>
        <p:spPr>
          <a:xfrm>
            <a:off x="503999" y="4259756"/>
            <a:ext cx="11232000" cy="1608243"/>
          </a:xfrm>
          <a:prstGeom prst="rect">
            <a:avLst/>
          </a:prstGeom>
          <a:noFill/>
        </p:spPr>
        <p:txBody>
          <a:bodyPr wrap="square" lIns="54000" rIns="54000"/>
          <a:lstStyle/>
          <a:p>
            <a:pPr algn="just">
              <a:spcAft>
                <a:spcPts val="600"/>
              </a:spcAft>
            </a:pPr>
            <a:r>
              <a:rPr sz="1300" b="1">
                <a:solidFill>
                  <a:srgbClr val="060606"/>
                </a:solidFill>
                <a:latin typeface="Helvetica"/>
              </a:rPr>
              <a:t>Ces textes forment un ensemble complet et chiffré depuis juin 2022.</a:t>
            </a:r>
            <a:r>
              <a:rPr sz="1300" b="0">
                <a:solidFill>
                  <a:srgbClr val="060606"/>
                </a:solidFill>
                <a:latin typeface="Helvetica"/>
              </a:rPr>
              <a:t> Ils couvrent la comptabilité, les provisions, les réserves, la liquidité et les sanctions.</a:t>
            </a:r>
          </a:p>
          <a:p>
            <a:pPr algn="just">
              <a:spcAft>
                <a:spcPts val="600"/>
              </a:spcAft>
            </a:pPr>
            <a:r>
              <a:rPr sz="1300" b="0">
                <a:solidFill>
                  <a:srgbClr val="060606"/>
                </a:solidFill>
                <a:latin typeface="Helvetica"/>
              </a:rPr>
              <a:t>Le FPPN dépasse les seuils du système normal du plan comptable (plus de 10 millions de FCFA de cotisations ou plus de 1 000 adhérents, art. 4 du règlement d'exécution) : il doit tenir une comptabilité d'engagement et produire un TAFIRE (art. 5).</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S/C : prestations / cotisations | MEPS : ministère de l'Emploi et de la Protection sociale | TAFIRE : tableau financier des ressources et des emplois | OCR : reconnaissance optique de caractères</a:t>
            </a:r>
          </a:p>
        </p:txBody>
      </p:sp>
    </p:spTree>
    <p:extLst>
      <p:ext uri="{BB962C8B-B14F-4D97-AF65-F5344CB8AC3E}">
        <p14:creationId xmlns:p14="http://schemas.microsoft.com/office/powerpoint/2010/main" val="2290559282"/>
      </p:ext>
    </p:extLst>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Risques courts et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couvre des risques courts et, avec l'épargne, des risques longs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risque est long quand plus d'un an sépare la cotisation de la prestation (règlement d'exécution n° 004/2022, art.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 3, 12 à 15. Fichiers de précomptes. Balances du FPPN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76 : Qualification des garanties du FPPN</a:t>
            </a:r>
          </a:p>
        </p:txBody>
      </p:sp>
      <p:graphicFrame>
        <p:nvGraphicFramePr>
          <p:cNvPr id="32" name="Table 31"/>
          <p:cNvGraphicFramePr>
            <a:graphicFrameLocks noGrp="1"/>
          </p:cNvGraphicFramePr>
          <p:nvPr/>
        </p:nvGraphicFramePr>
        <p:xfrm>
          <a:off x="503999" y="1655999"/>
          <a:ext cx="11232000" cy="1629203"/>
        </p:xfrm>
        <a:graphic>
          <a:graphicData uri="http://schemas.openxmlformats.org/drawingml/2006/table">
            <a:tbl>
              <a:tblPr firstRow="0" bandRow="0">
                <a:tableStyleId>{5940675A-B579-460E-94D1-54222C63F5DA}</a:tableStyleId>
              </a:tblPr>
              <a:tblGrid>
                <a:gridCol w="1584000"/>
                <a:gridCol w="3024000"/>
                <a:gridCol w="2376000"/>
                <a:gridCol w="4248000"/>
              </a:tblGrid>
              <a:tr h="225250">
                <a:tc>
                  <a:txBody>
                    <a:bodyPr/>
                    <a:lstStyle/>
                    <a:p>
                      <a:pPr marL="0" indent="0" lvl="0">
                        <a:buNone/>
                      </a:pPr>
                      <a:r>
                        <a:rPr sz="11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Délai entre cotisation et prestation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Qualification proposée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Maladie (936,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soins sont payés dans l'année.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du tableau 1 de la Décision n° 05/2022.</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capital est payé au décès, sans capitalisation connue.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du tableau 1. Qualification à revoir si un mécanisme de capitalisation existe.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versée en fin de carrière, des années après les versements.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long (vieillesse)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de la section II, réserve de trésorerie, étude actuarielle, certification.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L'épargne est restituée à l'échéance du plan, en général après plus d'un an.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long, à confirmer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Mêmes obligations que l'EFC si la durée du plan dépasse un an.</a:t>
                      </a:r>
                    </a:p>
                  </a:txBody>
                  <a:tcPr marL="43200" marR="43200" marT="14400" marB="14400" anchor="ctr">
                    <a:solidFill>
                      <a:srgbClr val="F2F2F2"/>
                    </a:solidFill>
                  </a:tcPr>
                </a:tc>
              </a:tr>
            </a:tbl>
          </a:graphicData>
        </a:graphic>
      </p:graphicFrame>
      <p:sp>
        <p:nvSpPr>
          <p:cNvPr id="33" name="TextBox 32"/>
          <p:cNvSpPr txBox="1"/>
          <p:nvPr/>
        </p:nvSpPr>
        <p:spPr>
          <a:xfrm>
            <a:off x="503999" y="3393204"/>
            <a:ext cx="11232000" cy="306000"/>
          </a:xfrm>
          <a:prstGeom prst="rect">
            <a:avLst/>
          </a:prstGeom>
          <a:noFill/>
        </p:spPr>
        <p:txBody>
          <a:bodyPr wrap="square" anchor="t" lIns="54000" rIns="54000"/>
          <a:lstStyle/>
          <a:p>
            <a:pPr algn="l"/>
            <a:r>
              <a:rPr sz="850" b="0">
                <a:solidFill>
                  <a:srgbClr val="53565A"/>
                </a:solidFill>
                <a:latin typeface="Helvetica"/>
              </a:rPr>
              <a:t>Valable pour : garanties du FPPN qualifiées selon le règlement d'exécution n° 004/2022 (art. 1, 3, 12 à 15), sur les fichiers de précomptes et les balances « BALANCE FORMAT EXCEL DE 09-2020 AU 31-12-2020.xlsx » à « BALANCE FPPN DU 01-01-2026 AU 31-08-2026.xlsx ».</a:t>
            </a:r>
          </a:p>
        </p:txBody>
      </p:sp>
      <p:sp>
        <p:nvSpPr>
          <p:cNvPr id="34" name="TextBox 33"/>
          <p:cNvSpPr txBox="1"/>
          <p:nvPr/>
        </p:nvSpPr>
        <p:spPr>
          <a:xfrm>
            <a:off x="503999" y="3843204"/>
            <a:ext cx="11232000" cy="2024795"/>
          </a:xfrm>
          <a:prstGeom prst="rect">
            <a:avLst/>
          </a:prstGeom>
          <a:noFill/>
        </p:spPr>
        <p:txBody>
          <a:bodyPr wrap="square" lIns="54000" rIns="54000"/>
          <a:lstStyle/>
          <a:p>
            <a:pPr algn="just">
              <a:spcAft>
                <a:spcPts val="600"/>
              </a:spcAft>
            </a:pPr>
            <a:r>
              <a:rPr sz="1300" b="1">
                <a:solidFill>
                  <a:srgbClr val="060606"/>
                </a:solidFill>
                <a:latin typeface="Helvetica"/>
              </a:rPr>
              <a:t>Avec l'EFC et le PEP, le FPPN entre dans le champ des risques longs.</a:t>
            </a:r>
            <a:r>
              <a:rPr sz="1300" b="0">
                <a:solidFill>
                  <a:srgbClr val="060606"/>
                </a:solidFill>
                <a:latin typeface="Helvetica"/>
              </a:rPr>
              <a:t> Ces deux produits représentent 15 743 516 391 FCFA d'engagements au 31/08/2026.</a:t>
            </a:r>
          </a:p>
          <a:p>
            <a:pPr algn="just">
              <a:spcAft>
                <a:spcPts val="600"/>
              </a:spcAft>
            </a:pPr>
            <a:r>
              <a:rPr sz="1300" b="0">
                <a:solidFill>
                  <a:srgbClr val="060606"/>
                </a:solidFill>
                <a:latin typeface="Helvetica"/>
              </a:rPr>
              <a:t>Une mutuelle qui couvre à la fois des risques courts et longs doit cantonner ses patrimoines et séparer ses opérations (art. 15), faire certifier ses comptes par un commissaire aux comptes (art. 12) et réaliser une étude actuarielle tous les cinq ans (art. 14).</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 | PEP : Plan Épargne Plus | EFC : entraide fin de carrière | 936 : poste maladie | 8Z6 : poste décès | 870 : poste EFC | 998 : poste PEP</a:t>
            </a:r>
          </a:p>
        </p:txBody>
      </p:sp>
    </p:spTree>
    <p:extLst>
      <p:ext uri="{BB962C8B-B14F-4D97-AF65-F5344CB8AC3E}">
        <p14:creationId xmlns:p14="http://schemas.microsoft.com/office/powerpoint/2010/main" val="1825121347"/>
      </p:ext>
    </p:extLst>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8E3EC90-0B67-5A40-9A33-0584F45B7F83}"/>
              </a:ext>
            </a:extLst>
          </p:cNvPr>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5" name="ZoneTexte 14">
            <a:extLst>
              <a:ext uri="{FF2B5EF4-FFF2-40B4-BE49-F238E27FC236}">
                <a16:creationId xmlns:a16="http://schemas.microsoft.com/office/drawing/2014/main" id="{105C7D73-CA09-E6BB-E55A-DE5ED4264F4C}"/>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 name="Rounded Rectangle 5">
            <a:extLst>
              <a:ext uri="{FF2B5EF4-FFF2-40B4-BE49-F238E27FC236}">
                <a16:creationId xmlns:a16="http://schemas.microsoft.com/office/drawing/2014/main" id="{F036A678-2139-4604-A2D8-3656B956898F}"/>
              </a:ext>
            </a:extLst>
          </p:cNvPr>
          <p:cNvSpPr/>
          <p:nvPr/>
        </p:nvSpPr>
        <p:spPr>
          <a:xfrm>
            <a:off x="3129156" y="1489204"/>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4" name="Rounded Rectangle 5">
            <a:extLst>
              <a:ext uri="{FF2B5EF4-FFF2-40B4-BE49-F238E27FC236}">
                <a16:creationId xmlns:a16="http://schemas.microsoft.com/office/drawing/2014/main" id="{7D09F7F3-AD70-F22F-FF80-50BF6DD57968}"/>
              </a:ext>
            </a:extLst>
          </p:cNvPr>
          <p:cNvSpPr/>
          <p:nvPr/>
        </p:nvSpPr>
        <p:spPr>
          <a:xfrm>
            <a:off x="6391951" y="3585630"/>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5" name="Rounded Rectangle 5">
            <a:extLst>
              <a:ext uri="{FF2B5EF4-FFF2-40B4-BE49-F238E27FC236}">
                <a16:creationId xmlns:a16="http://schemas.microsoft.com/office/drawing/2014/main" id="{91CD7C4B-BFBA-DBCC-083F-B9F54E841171}"/>
              </a:ext>
            </a:extLst>
          </p:cNvPr>
          <p:cNvSpPr/>
          <p:nvPr/>
        </p:nvSpPr>
        <p:spPr>
          <a:xfrm flipV="1">
            <a:off x="6514797" y="1769837"/>
            <a:ext cx="2434660" cy="1710001"/>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6" name="Rectangle 5">
            <a:extLst>
              <a:ext uri="{FF2B5EF4-FFF2-40B4-BE49-F238E27FC236}">
                <a16:creationId xmlns:a16="http://schemas.microsoft.com/office/drawing/2014/main" id="{B8A5BA39-707D-4505-CF26-1E9EC5011AB5}"/>
              </a:ext>
            </a:extLst>
          </p:cNvPr>
          <p:cNvSpPr/>
          <p:nvPr/>
        </p:nvSpPr>
        <p:spPr>
          <a:xfrm>
            <a:off x="3817401" y="1634006"/>
            <a:ext cx="242658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Ressources longues</a:t>
            </a:r>
          </a:p>
          <a:p>
            <a:pPr>
              <a:spcBef>
                <a:spcPts val="600"/>
              </a:spcBef>
            </a:pPr>
            <a:r>
              <a:rPr lang="fr-CI" sz="1200" noProof="0" b="0">
                <a:latin typeface="Helvetica" panose="020B0604020202020204" pitchFamily="34" charset="0"/>
                <a:cs typeface="Helvetica" panose="020B0604020202020204" pitchFamily="34" charset="0"/>
              </a:rPr>
              <a:t>Argent qui reste longtemps à la disposition du FPPN : fonds propres, provisions, emprunts.</a:t>
            </a:r>
          </a:p>
        </p:txBody>
      </p:sp>
      <p:cxnSp>
        <p:nvCxnSpPr>
          <p:cNvPr id="7" name="Straight Connector 51">
            <a:extLst>
              <a:ext uri="{FF2B5EF4-FFF2-40B4-BE49-F238E27FC236}">
                <a16:creationId xmlns:a16="http://schemas.microsoft.com/office/drawing/2014/main" id="{D644D8CD-15C8-1174-426A-80C46730AB94}"/>
              </a:ext>
            </a:extLst>
          </p:cNvPr>
          <p:cNvCxnSpPr/>
          <p:nvPr/>
        </p:nvCxnSpPr>
        <p:spPr>
          <a:xfrm>
            <a:off x="3823408" y="1885769"/>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5BAC69A-93C6-4C68-2B4D-52264A7239C0}"/>
              </a:ext>
            </a:extLst>
          </p:cNvPr>
          <p:cNvSpPr/>
          <p:nvPr/>
        </p:nvSpPr>
        <p:spPr>
          <a:xfrm>
            <a:off x="6667705" y="2099782"/>
            <a:ext cx="1900232"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Dettes à court terme</a:t>
            </a:r>
          </a:p>
          <a:p>
            <a:pPr>
              <a:spcBef>
                <a:spcPts val="600"/>
              </a:spcBef>
            </a:pPr>
            <a:r>
              <a:rPr lang="fr-CI" sz="1200" noProof="0" b="0">
                <a:latin typeface="Helvetica" panose="020B0604020202020204" pitchFamily="34" charset="0"/>
                <a:cs typeface="Helvetica" panose="020B0604020202020204" pitchFamily="34" charset="0"/>
              </a:rPr>
              <a:t>Argent que le FPPN doit rendre dans l'année : fournisseurs, cliniques, État.</a:t>
            </a:r>
          </a:p>
        </p:txBody>
      </p:sp>
      <p:cxnSp>
        <p:nvCxnSpPr>
          <p:cNvPr id="9" name="Straight Connector 53">
            <a:extLst>
              <a:ext uri="{FF2B5EF4-FFF2-40B4-BE49-F238E27FC236}">
                <a16:creationId xmlns:a16="http://schemas.microsoft.com/office/drawing/2014/main" id="{88E2B00B-A730-792A-F766-F69869238B01}"/>
              </a:ext>
            </a:extLst>
          </p:cNvPr>
          <p:cNvCxnSpPr/>
          <p:nvPr/>
        </p:nvCxnSpPr>
        <p:spPr>
          <a:xfrm>
            <a:off x="6637478" y="2360100"/>
            <a:ext cx="1489591"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9CF9D8-9183-05A2-006C-E37491C14CB6}"/>
              </a:ext>
            </a:extLst>
          </p:cNvPr>
          <p:cNvSpPr/>
          <p:nvPr/>
        </p:nvSpPr>
        <p:spPr>
          <a:xfrm>
            <a:off x="6725638" y="3799190"/>
            <a:ext cx="2304183"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Trésorerie</a:t>
            </a:r>
          </a:p>
          <a:p>
            <a:pPr>
              <a:spcBef>
                <a:spcPts val="600"/>
              </a:spcBef>
            </a:pPr>
            <a:r>
              <a:rPr lang="fr-CI" sz="1200" noProof="0" b="0">
                <a:latin typeface="Helvetica" panose="020B0604020202020204" pitchFamily="34" charset="0"/>
                <a:cs typeface="Helvetica" panose="020B0604020202020204" pitchFamily="34" charset="0"/>
              </a:rPr>
              <a:t>Argent disponible tout de suite ou presque : caisse, comptes en banque, dépôts à terme.</a:t>
            </a:r>
          </a:p>
        </p:txBody>
      </p:sp>
      <p:cxnSp>
        <p:nvCxnSpPr>
          <p:cNvPr id="11" name="Straight Connector 59">
            <a:extLst>
              <a:ext uri="{FF2B5EF4-FFF2-40B4-BE49-F238E27FC236}">
                <a16:creationId xmlns:a16="http://schemas.microsoft.com/office/drawing/2014/main" id="{B837FEE1-6F73-8BCD-FE32-7B970AB912B9}"/>
              </a:ext>
            </a:extLst>
          </p:cNvPr>
          <p:cNvCxnSpPr/>
          <p:nvPr/>
        </p:nvCxnSpPr>
        <p:spPr>
          <a:xfrm>
            <a:off x="6725637" y="4046526"/>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Rounded Rectangle 5">
            <a:extLst>
              <a:ext uri="{FF2B5EF4-FFF2-40B4-BE49-F238E27FC236}">
                <a16:creationId xmlns:a16="http://schemas.microsoft.com/office/drawing/2014/main" id="{F4681A56-7E9F-9A36-2D0F-B0DE5726AF2E}"/>
              </a:ext>
            </a:extLst>
          </p:cNvPr>
          <p:cNvSpPr/>
          <p:nvPr/>
        </p:nvSpPr>
        <p:spPr>
          <a:xfrm flipV="1">
            <a:off x="2851616" y="3585630"/>
            <a:ext cx="3540335" cy="2211916"/>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13" name="Rectangle 12">
            <a:extLst>
              <a:ext uri="{FF2B5EF4-FFF2-40B4-BE49-F238E27FC236}">
                <a16:creationId xmlns:a16="http://schemas.microsoft.com/office/drawing/2014/main" id="{1F18419A-23F6-2CD0-B648-53C2736789A0}"/>
              </a:ext>
            </a:extLst>
          </p:cNvPr>
          <p:cNvSpPr/>
          <p:nvPr/>
        </p:nvSpPr>
        <p:spPr>
          <a:xfrm>
            <a:off x="3806664" y="3779137"/>
            <a:ext cx="239500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Emplois longs</a:t>
            </a:r>
          </a:p>
          <a:p>
            <a:pPr>
              <a:spcBef>
                <a:spcPts val="600"/>
              </a:spcBef>
            </a:pPr>
            <a:r>
              <a:rPr lang="fr-CI" sz="1200" noProof="0" b="0">
                <a:latin typeface="Helvetica" panose="020B0604020202020204" pitchFamily="34" charset="0"/>
                <a:cs typeface="Helvetica" panose="020B0604020202020204" pitchFamily="34" charset="0"/>
              </a:rPr>
              <a:t>Argent placé pour longtemps : terrains, bâtiments, prêts, avances aux structures liées.</a:t>
            </a:r>
          </a:p>
        </p:txBody>
      </p:sp>
      <p:cxnSp>
        <p:nvCxnSpPr>
          <p:cNvPr id="14" name="Straight Connector 67">
            <a:extLst>
              <a:ext uri="{FF2B5EF4-FFF2-40B4-BE49-F238E27FC236}">
                <a16:creationId xmlns:a16="http://schemas.microsoft.com/office/drawing/2014/main" id="{1187744F-1BE7-3A28-DBC2-3AB195946082}"/>
              </a:ext>
            </a:extLst>
          </p:cNvPr>
          <p:cNvCxnSpPr/>
          <p:nvPr/>
        </p:nvCxnSpPr>
        <p:spPr>
          <a:xfrm>
            <a:off x="3806664" y="4026471"/>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DB69389C-778C-9663-739F-408FE8EC148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19997307">
            <a:off x="3353573" y="1583438"/>
            <a:ext cx="372797" cy="372797"/>
          </a:xfrm>
          <a:prstGeom prst="rect">
            <a:avLst/>
          </a:prstGeom>
        </p:spPr>
      </p:pic>
      <p:pic>
        <p:nvPicPr>
          <p:cNvPr id="21" name="Image 20">
            <a:extLst>
              <a:ext uri="{FF2B5EF4-FFF2-40B4-BE49-F238E27FC236}">
                <a16:creationId xmlns:a16="http://schemas.microsoft.com/office/drawing/2014/main" id="{DC22CFF3-27E2-3D77-5D88-C5CF6EB053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72301" y="3639438"/>
            <a:ext cx="398425" cy="407086"/>
          </a:xfrm>
          <a:prstGeom prst="rect">
            <a:avLst/>
          </a:prstGeom>
        </p:spPr>
      </p:pic>
      <p:pic>
        <p:nvPicPr>
          <p:cNvPr id="22" name="Image 21">
            <a:extLst>
              <a:ext uri="{FF2B5EF4-FFF2-40B4-BE49-F238E27FC236}">
                <a16:creationId xmlns:a16="http://schemas.microsoft.com/office/drawing/2014/main" id="{6B846A96-4C92-37D4-AE1E-706483CE7B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78416" y="1993990"/>
            <a:ext cx="331566" cy="331566"/>
          </a:xfrm>
          <a:prstGeom prst="rect">
            <a:avLst/>
          </a:prstGeom>
        </p:spPr>
      </p:pic>
      <p:pic>
        <p:nvPicPr>
          <p:cNvPr id="23" name="Image 22">
            <a:extLst>
              <a:ext uri="{FF2B5EF4-FFF2-40B4-BE49-F238E27FC236}">
                <a16:creationId xmlns:a16="http://schemas.microsoft.com/office/drawing/2014/main" id="{78F0071B-D442-D38C-01FF-77DDC6787EA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131664" y="3693061"/>
            <a:ext cx="573169" cy="579832"/>
          </a:xfrm>
          <a:prstGeom prst="rect">
            <a:avLst/>
          </a:prstGeom>
        </p:spPr>
      </p:pic>
      <p:sp>
        <p:nvSpPr>
          <p:cNvPr id="2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Lire un ratio : les tiroirs du bilan</a:t>
            </a:r>
          </a:p>
        </p:txBody>
      </p:sp>
      <p:sp>
        <p:nvSpPr>
          <p:cNvPr id="2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compte est rangé dans un tiroir selon le temps que met l'argent à entrer ou sortir</a:t>
            </a:r>
          </a:p>
        </p:txBody>
      </p:sp>
      <p:sp>
        <p:nvSpPr>
          <p:cNvPr id="2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ratio compare le contenu de deux tiroirs. Le classement des comptes décide donc du résultat</a:t>
            </a:r>
          </a:p>
        </p:txBody>
      </p:sp>
      <p:sp>
        <p:nvSpPr>
          <p:cNvPr id="2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(structure des classes de comptes). Adenka</a:t>
            </a:r>
          </a:p>
        </p:txBody>
      </p:sp>
      <p:sp>
        <p:nvSpPr>
          <p:cNvPr id="28" name="TextBox 2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a:t>
            </a:r>
          </a:p>
        </p:txBody>
      </p:sp>
    </p:spTree>
    <p:extLst>
      <p:ext uri="{BB962C8B-B14F-4D97-AF65-F5344CB8AC3E}">
        <p14:creationId xmlns:p14="http://schemas.microsoft.com/office/powerpoint/2010/main" val="141916872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Deux lectures : comme le FPPN, puis retraitée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groupes de comptes sont rangés dans un tiroir qui ne reflète pas leur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Adenka calcule d'abord chaque ratio avec les comptes tels qu'ils sont tenus, puis avec trois reclassements motivés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fiches n° 1 et 25. Règlement d'exécution n° 004/2022/COM/UEMOA du 1er juin 2022, art. 3. Balances du FPPN. Classement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77 : Reclassements de la lecture retraitée</a:t>
            </a:r>
          </a:p>
        </p:txBody>
      </p:sp>
      <p:graphicFrame>
        <p:nvGraphicFramePr>
          <p:cNvPr id="32" name="Table 31"/>
          <p:cNvGraphicFramePr>
            <a:graphicFrameLocks noGrp="1"/>
          </p:cNvGraphicFramePr>
          <p:nvPr/>
        </p:nvGraphicFramePr>
        <p:xfrm>
          <a:off x="503999" y="1655999"/>
          <a:ext cx="11232000" cy="1739253"/>
        </p:xfrm>
        <a:graphic>
          <a:graphicData uri="http://schemas.openxmlformats.org/drawingml/2006/table">
            <a:tbl>
              <a:tblPr firstRow="0" bandRow="0">
                <a:tableStyleId>{5940675A-B579-460E-94D1-54222C63F5DA}</a:tableStyleId>
              </a:tblPr>
              <a:tblGrid>
                <a:gridCol w="2376000"/>
                <a:gridCol w="1944000"/>
                <a:gridCol w="1944000"/>
                <a:gridCol w="4968000"/>
              </a:tblGrid>
              <a:tr h="225250">
                <a:tc>
                  <a:txBody>
                    <a:bodyPr/>
                    <a:lstStyle/>
                    <a:p>
                      <a:pPr marL="0" indent="0" lvl="0">
                        <a:buNone/>
                      </a:pPr>
                      <a:r>
                        <a:rPr sz="11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Raison du reclassement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41195100, 41195200 : épargne PEP et 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Dette à court terme (classe 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Ressource longue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un risque long (art. 3 du règlement d'exécution) : elle n'est pas exigible en totalité dans l'année.</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47111100 à 47111105, 47111201, 485 : avances et créances durables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Créance à court terme (classe 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Emploi long</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Ces montants financent le CMP, le Grenier et l'Hôpital de la Police depuis plusieurs années, sans remboursement à court terme.</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10620000 : réévaluation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libre (libellé « Réserve disponible » en 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Écart de réévaluation (terrain du siège selon le chef comptable)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PCMS réserve le compte 106 aux écarts de réévaluation des immeubles, qui ne comptent pas dans la marge de solvabilité.</a:t>
                      </a:r>
                    </a:p>
                  </a:txBody>
                  <a:tcPr marL="43200" marR="43200" marT="14400" marB="14400" anchor="ctr">
                    <a:solidFill>
                      <a:srgbClr val="FFFFFF"/>
                    </a:solidFill>
                  </a:tcPr>
                </a:tc>
              </a:tr>
            </a:tbl>
          </a:graphicData>
        </a:graphic>
      </p:graphicFrame>
      <p:sp>
        <p:nvSpPr>
          <p:cNvPr id="33" name="TextBox 32"/>
          <p:cNvSpPr txBox="1"/>
          <p:nvPr/>
        </p:nvSpPr>
        <p:spPr>
          <a:xfrm>
            <a:off x="503999" y="3503255"/>
            <a:ext cx="11232000" cy="306000"/>
          </a:xfrm>
          <a:prstGeom prst="rect">
            <a:avLst/>
          </a:prstGeom>
          <a:noFill/>
        </p:spPr>
        <p:txBody>
          <a:bodyPr wrap="square" anchor="t" lIns="54000" rIns="54000"/>
          <a:lstStyle/>
          <a:p>
            <a:pPr algn="l"/>
            <a:r>
              <a:rPr sz="850" b="0">
                <a:solidFill>
                  <a:srgbClr val="53565A"/>
                </a:solidFill>
                <a:latin typeface="Helvetica"/>
              </a:rPr>
              <a:t>Valable pour : reclassements de comptes selon le PCMS (fiches 1 et 25) appliqués aux balances « BALANCE FORMAT EXCEL DE 09-2020 AU 31-12-2020.xlsx » à « BALANCE FPPN DU 01-01-2026 AU 31-08-2026.xlsx ».</a:t>
            </a:r>
          </a:p>
        </p:txBody>
      </p:sp>
      <p:sp>
        <p:nvSpPr>
          <p:cNvPr id="34" name="TextBox 33"/>
          <p:cNvSpPr txBox="1"/>
          <p:nvPr/>
        </p:nvSpPr>
        <p:spPr>
          <a:xfrm>
            <a:off x="503999" y="3953255"/>
            <a:ext cx="11232000" cy="1914744"/>
          </a:xfrm>
          <a:prstGeom prst="rect">
            <a:avLst/>
          </a:prstGeom>
          <a:noFill/>
        </p:spPr>
        <p:txBody>
          <a:bodyPr wrap="square" lIns="54000" rIns="54000"/>
          <a:lstStyle/>
          <a:p>
            <a:pPr algn="just">
              <a:spcAft>
                <a:spcPts val="600"/>
              </a:spcAft>
            </a:pPr>
            <a:r>
              <a:rPr sz="1300" b="1">
                <a:solidFill>
                  <a:srgbClr val="060606"/>
                </a:solidFill>
                <a:latin typeface="Helvetica"/>
              </a:rPr>
              <a:t>Les deux lectures encadrent la réalité.</a:t>
            </a:r>
            <a:r>
              <a:rPr sz="1300" b="0">
                <a:solidFill>
                  <a:srgbClr val="060606"/>
                </a:solidFill>
                <a:latin typeface="Helvetica"/>
              </a:rPr>
              <a:t> La lecture comme le FPPN est prudente pour l'épargne, mais optimiste pour les avances durables. La lecture retraitée corrige les deux.</a:t>
            </a:r>
          </a:p>
          <a:p>
            <a:pPr algn="just">
              <a:spcAft>
                <a:spcPts val="600"/>
              </a:spcAft>
            </a:pPr>
            <a:r>
              <a:rPr sz="1300" b="0">
                <a:solidFill>
                  <a:srgbClr val="060606"/>
                </a:solidFill>
                <a:latin typeface="Helvetica"/>
              </a:rPr>
              <a:t>La réponse définitive dépend de l'échéancier réel de l'épargne : les conditions de retrait et les âges des épargnants trancheront entre les deux lectures.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CMP : Centre Médical du Policier (rapport de gestion 2023)</a:t>
            </a:r>
          </a:p>
        </p:txBody>
      </p:sp>
    </p:spTree>
    <p:extLst>
      <p:ext uri="{BB962C8B-B14F-4D97-AF65-F5344CB8AC3E}">
        <p14:creationId xmlns:p14="http://schemas.microsoft.com/office/powerpoint/2010/main" val="2838976342"/>
      </p:ext>
    </p:extLst>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Conforme ou non conforme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conforme quand sa valeur respecte la norme chiffrée de la Décision n° 05/2022. Il est non conforme sinon. Pour une fourchette, une valeur au-dessus de la borne haute est signalée à part.</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 attente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en attente quand une donnée nécessaire n'a pas été transmise : fichiers aller des postes 936 et 8Z6 (détenus par la direction du personnel de la Police), procès-verbaux, registre des contrôles, cotisation au FNG.</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À apprécier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à apprécier quand la norme n'est pas chiffrée : délai contractuel, objectif du plan stratégique, solde « avoisinant zéro », taux moyen du marché.</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Période jugée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est entrée en vigueur le 1er juin 2022 : 2020 et 2021 sont indicatifs, comme les huit mois provisoires de 2026. Deux exercices non conformes de suite sont signalés, car l'article 84 du règlement n° 07/2009 prévoit alors le retrait d'agrément.</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 de statut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et vérifiable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statut compare la valeur calculée à la norme du texte. Il est jugé sur les exercices 2022 à 2025</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article 3. Règlement n° 07/2009/CM/UEMOA du 26 juin 2009, art. 84.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FNG : fonds national de garantie | 936 : poste maladie | 8Z6 : poste décès</a:t>
            </a:r>
          </a:p>
        </p:txBody>
      </p:sp>
    </p:spTree>
    <p:extLst>
      <p:ext uri="{BB962C8B-B14F-4D97-AF65-F5344CB8AC3E}">
        <p14:creationId xmlns:p14="http://schemas.microsoft.com/office/powerpoint/2010/main" val="2960442975"/>
      </p:ext>
    </p:extLst>
  </p:cSld>
  <p:clrMapOvr>
    <a:masterClrMapping/>
  </p:clrMapOvr>
  <p:transition>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1" name="ZoneTexte 20">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9"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Google Shape;6489;p32"/>
          <p:cNvSpPr/>
          <p:nvPr/>
        </p:nvSpPr>
        <p:spPr>
          <a:xfrm rot="6194666">
            <a:off x="7534623" y="3415586"/>
            <a:ext cx="510848" cy="195608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6" name="Google Shape;6489;p32"/>
          <p:cNvSpPr/>
          <p:nvPr/>
        </p:nvSpPr>
        <p:spPr>
          <a:xfrm rot="14662897">
            <a:off x="7323071" y="1857476"/>
            <a:ext cx="426766" cy="1747435"/>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7"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8" name="Google Shape;6489;p32"/>
          <p:cNvSpPr/>
          <p:nvPr/>
        </p:nvSpPr>
        <p:spPr>
          <a:xfrm rot="7166758">
            <a:off x="4528324" y="1602745"/>
            <a:ext cx="510848" cy="2185420"/>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0" name="Google Shape;6489;p32"/>
          <p:cNvSpPr/>
          <p:nvPr/>
        </p:nvSpPr>
        <p:spPr>
          <a:xfrm rot="15357084">
            <a:off x="4507070" y="3638509"/>
            <a:ext cx="510848" cy="199826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1" name="Rectangle 30"/>
          <p:cNvSpPr/>
          <p:nvPr/>
        </p:nvSpPr>
        <p:spPr>
          <a:xfrm>
            <a:off x="8333454" y="1834006"/>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Réserves et fonds propres</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Réserve obligatoire, fonds propres et assimilés, fonds des risques longs : ces ratios disent si le FPPN a mis de côté assez de ressources propres.</a:t>
            </a:r>
            <a:endParaRPr lang="fr-CI" sz="1600" noProof="0"/>
          </a:p>
        </p:txBody>
      </p:sp>
      <p:sp>
        <p:nvSpPr>
          <p:cNvPr id="32" name="Rectangle 31"/>
          <p:cNvSpPr/>
          <p:nvPr/>
        </p:nvSpPr>
        <p:spPr>
          <a:xfrm>
            <a:off x="327639" y="4236148"/>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Liquidité et équilibre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Liquidité, trésorerie à échéance et immédiate, équilibre stable, solvabilité de l'épargne : ces ratios disent si l'argent est disponible à temps.</a:t>
            </a:r>
            <a:endParaRPr lang="fr-CI" sz="1600" noProof="0"/>
          </a:p>
        </p:txBody>
      </p:sp>
      <p:sp>
        <p:nvSpPr>
          <p:cNvPr id="34" name="Rectangle 33"/>
          <p:cNvSpPr/>
          <p:nvPr/>
        </p:nvSpPr>
        <p:spPr>
          <a:xfrm>
            <a:off x="362962" y="1811347"/>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et solvabilité</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Sinistralité, marge de solvabilité, autonomie financière, excédent net : ces ratios disent si les cotisations suffisent et si le FPPN peut absorber un choc.</a:t>
            </a:r>
            <a:endParaRPr lang="fr-CI" sz="1600" noProof="0">
              <a:solidFill>
                <a:schemeClr val="bg1"/>
              </a:solidFill>
            </a:endParaRPr>
          </a:p>
        </p:txBody>
      </p:sp>
      <p:sp>
        <p:nvSpPr>
          <p:cNvPr id="42" name="Rectangle 41"/>
          <p:cNvSpPr/>
          <p:nvPr/>
        </p:nvSpPr>
        <p:spPr>
          <a:xfrm>
            <a:off x="8677463" y="4236148"/>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Gestion et gouvernance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Frais, personnel, recouvrement, délais, contrôles, réunions des organes, FNG : ces ratios disent si l'organisation est efficace et contrôlée.</a:t>
            </a:r>
            <a:endParaRPr lang="fr-CI" sz="1600" noProof="0"/>
          </a:p>
        </p:txBody>
      </p:sp>
      <p:pic>
        <p:nvPicPr>
          <p:cNvPr id="43" name="Image 42"/>
          <p:cNvPicPr>
            <a:picLocks noChangeAspect="1"/>
          </p:cNvPicPr>
          <p:nvPr/>
        </p:nvPicPr>
        <p:blipFill rotWithShape="1">
          <a:blip r:embed="rId3">
            <a:extLst>
              <a:ext uri="{28A0092B-C50C-407E-A947-70E740481C1C}">
                <a14:useLocalDpi xmlns:a14="http://schemas.microsoft.com/office/drawing/2010/main" val="0"/>
              </a:ext>
            </a:extLst>
          </a:blip>
          <a:srcRect l="4165" t="11941" r="73679" b="13899"/>
          <a:stretch/>
        </p:blipFill>
        <p:spPr>
          <a:xfrm>
            <a:off x="5257860" y="2529185"/>
            <a:ext cx="2172929" cy="2231923"/>
          </a:xfrm>
          <a:prstGeom prst="rect">
            <a:avLst/>
          </a:prstGeom>
        </p:spPr>
      </p:pic>
      <p:sp>
        <p:nvSpPr>
          <p:cNvPr id="4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familles de ratios</a:t>
            </a:r>
          </a:p>
        </p:txBody>
      </p:sp>
      <p:sp>
        <p:nvSpPr>
          <p:cNvPr id="4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36 indicateurs examinés se regroupent en quatre familles, de la plus actuarielle à la gouvernance</a:t>
            </a:r>
          </a:p>
        </p:txBody>
      </p:sp>
      <p:sp>
        <p:nvSpPr>
          <p:cNvPr id="4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L'ordre de priorité suit l'importance pour la protection des adhérents : solvabilité d'abord, gouvernance ensuite</a:t>
            </a:r>
          </a:p>
        </p:txBody>
      </p:sp>
      <p:sp>
        <p:nvSpPr>
          <p:cNvPr id="4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Classement Adenka</a:t>
            </a:r>
          </a:p>
        </p:txBody>
      </p:sp>
      <p:sp>
        <p:nvSpPr>
          <p:cNvPr id="48" name="TextBox 4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1762640310"/>
      </p:ext>
    </p:extLst>
  </p:cSld>
  <p:clrMapOvr>
    <a:masterClrMapping/>
  </p:clrMapOvr>
  <p:transition>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(1/4) : solvabilité et réserves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les réserves, les fonds propres et la liquidité sont non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actuarielle 1 à 9, lecture comme le FPPN. 2026 est indicatif</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78 : Tableau de bord des ratios prudentiels, priorités 1 à 9</a:t>
            </a:r>
          </a:p>
        </p:txBody>
      </p:sp>
      <p:graphicFrame>
        <p:nvGraphicFramePr>
          <p:cNvPr id="32" name="Table 31"/>
          <p:cNvGraphicFramePr>
            <a:graphicFrameLocks noGrp="1"/>
          </p:cNvGraphicFramePr>
          <p:nvPr/>
        </p:nvGraphicFramePr>
        <p:xfrm>
          <a:off x="503999" y="1655999"/>
          <a:ext cx="11232000" cy="194768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9,06 %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24,56 %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40,34 %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6,65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7,15</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3,25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3,65 mois</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d'autonomie financière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0,84</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80,64 %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33,55 %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25,18 %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-18,45 %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financement propre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240,20 %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146,82 %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132,48 %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113,47 %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84,54 %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bl>
          </a:graphicData>
        </a:graphic>
      </p:graphicFrame>
      <p:sp>
        <p:nvSpPr>
          <p:cNvPr id="33" name="TextBox 32"/>
          <p:cNvSpPr txBox="1"/>
          <p:nvPr/>
        </p:nvSpPr>
        <p:spPr>
          <a:xfrm>
            <a:off x="503999" y="3711686"/>
            <a:ext cx="11232000" cy="306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 BALANCE FORMAT EXCEL DE 09-2020 AU 31-12-2020.xlsx » à « BALANCE FPPN DU 01-01-2026 AU 31-08-2026.xlsx », 2020 au 31/08/2026. Statut opposable de 2022 à 2025, indicatif en 2020, 2021 et 2026.</a:t>
            </a:r>
          </a:p>
        </p:txBody>
      </p:sp>
      <p:sp>
        <p:nvSpPr>
          <p:cNvPr id="34" name="TextBox 33"/>
          <p:cNvSpPr txBox="1"/>
          <p:nvPr/>
        </p:nvSpPr>
        <p:spPr>
          <a:xfrm>
            <a:off x="503999" y="4161686"/>
            <a:ext cx="11232000" cy="1706313"/>
          </a:xfrm>
          <a:prstGeom prst="rect">
            <a:avLst/>
          </a:prstGeom>
          <a:noFill/>
        </p:spPr>
        <p:txBody>
          <a:bodyPr wrap="square" lIns="54000" rIns="54000"/>
          <a:lstStyle/>
          <a:p>
            <a:pPr algn="just">
              <a:spcAft>
                <a:spcPts val="600"/>
              </a:spcAft>
            </a:pPr>
            <a:r>
              <a:rPr sz="1300" b="1">
                <a:solidFill>
                  <a:srgbClr val="060606"/>
                </a:solidFill>
                <a:latin typeface="Helvetica"/>
              </a:rPr>
              <a:t>Six des neuf ratios prioritaires sont non conformes plusieurs années de suite.</a:t>
            </a:r>
            <a:r>
              <a:rPr sz="1300" b="0">
                <a:solidFill>
                  <a:srgbClr val="060606"/>
                </a:solidFill>
                <a:latin typeface="Helvetica"/>
              </a:rPr>
              <a:t> Seuls l'autonomie financière, le financement propre et la marge de solvabilité calculée comme le FPPN respectent la norme.</a:t>
            </a:r>
          </a:p>
          <a:p>
            <a:pPr algn="just">
              <a:spcAft>
                <a:spcPts val="600"/>
              </a:spcAft>
            </a:pPr>
            <a:r>
              <a:rPr sz="1300" b="0">
                <a:solidFill>
                  <a:srgbClr val="060606"/>
                </a:solidFill>
                <a:latin typeface="Helvetica"/>
              </a:rPr>
              <a:t>La non-conformité répétée de la réserve obligatoire, des fonds propres et de la liquidité expose le FPPN aux sanctions prévues pour le non-respect des règles prudentielles sur deux exercices.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232429221"/>
      </p:ext>
    </p:extLst>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(2/4) :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ratio propre aux risques longs n'est respecté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10 à 16, applicables à l'épargne EFC et PEP qualifiée de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79 : Tableau de bord des ratios des risques longs, priorités 10 à 16</a:t>
            </a:r>
          </a:p>
        </p:txBody>
      </p:sp>
      <p:graphicFrame>
        <p:nvGraphicFramePr>
          <p:cNvPr id="32" name="Table 31"/>
          <p:cNvGraphicFramePr>
            <a:graphicFrameLocks noGrp="1"/>
          </p:cNvGraphicFramePr>
          <p:nvPr/>
        </p:nvGraphicFramePr>
        <p:xfrm>
          <a:off x="503999" y="1655999"/>
          <a:ext cx="11232000" cy="210682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solvabilité de la branche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0,16</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trésorerie à échéance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Supérieur à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trésorerie immédiate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Réserve de trésorerie des risques longs (un trimestre d'engagements et de frais)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Fonds propres / prestations des risques longs des deux derniers exercices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-0,65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-0,31</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brut de rentabilité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le taux moyen du marché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22,88 %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Solde moyen des comptes courants non rémunérés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Avoisinant zéro</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2 356 399 123 FCFA</a:t>
                      </a:r>
                    </a:p>
                  </a:txBody>
                  <a:tcPr marL="43200" marR="43200" marT="14400" marB="14400" anchor="ctr">
                    <a:solidFill>
                      <a:srgbClr val="FFFFFF"/>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bl>
          </a:graphicData>
        </a:graphic>
      </p:graphicFrame>
      <p:sp>
        <p:nvSpPr>
          <p:cNvPr id="33" name="TextBox 32"/>
          <p:cNvSpPr txBox="1"/>
          <p:nvPr/>
        </p:nvSpPr>
        <p:spPr>
          <a:xfrm>
            <a:off x="503999" y="3870823"/>
            <a:ext cx="11232000" cy="306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 BALANCE FORMAT EXCEL DE 09-2020 AU 31-12-2020.xlsx » à « BALANCE FPPN DU 01-01-2026 AU 31-08-2026.xlsx », 2020 au 31/08/2026. Épargne traitée comme risque long. Statut opposable de 2022 à 2025.</a:t>
            </a:r>
          </a:p>
        </p:txBody>
      </p:sp>
      <p:sp>
        <p:nvSpPr>
          <p:cNvPr id="34" name="TextBox 33"/>
          <p:cNvSpPr txBox="1"/>
          <p:nvPr/>
        </p:nvSpPr>
        <p:spPr>
          <a:xfrm>
            <a:off x="503999" y="4320823"/>
            <a:ext cx="11232000" cy="1547176"/>
          </a:xfrm>
          <a:prstGeom prst="rect">
            <a:avLst/>
          </a:prstGeom>
          <a:noFill/>
        </p:spPr>
        <p:txBody>
          <a:bodyPr wrap="square" lIns="54000" rIns="54000"/>
          <a:lstStyle/>
          <a:p>
            <a:pPr algn="just">
              <a:spcAft>
                <a:spcPts val="600"/>
              </a:spcAft>
            </a:pPr>
            <a:r>
              <a:rPr sz="1300" b="1">
                <a:solidFill>
                  <a:srgbClr val="060606"/>
                </a:solidFill>
                <a:latin typeface="Helvetica"/>
              </a:rPr>
              <a:t>Les engagements d'épargne ne sont adossés ni à des actifs réservés suffisants, ni à une réserve de trésorerie, ni à des fonds propres positifs.</a:t>
            </a:r>
            <a:r>
              <a:rPr sz="1300" b="0">
                <a:solidFill>
                  <a:srgbClr val="060606"/>
                </a:solidFill>
                <a:latin typeface="Helvetica"/>
              </a:rPr>
              <a:t> Les deux derniers indicateurs n'ont pas de seuil chiffré et sont à apprécier.</a:t>
            </a:r>
          </a:p>
          <a:p>
            <a:pPr algn="just">
              <a:spcAft>
                <a:spcPts val="600"/>
              </a:spcAft>
            </a:pPr>
            <a:r>
              <a:rPr sz="1300" b="0">
                <a:solidFill>
                  <a:srgbClr val="060606"/>
                </a:solidFill>
                <a:latin typeface="Helvetica"/>
              </a:rPr>
              <a:t>Pour les risques longs, le règlement d'exécution exige aussi une étude actuarielle tous les cinq ans et la certification des comptes : le FPPN doit indiquer s'il les a réalisées.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243524920"/>
      </p:ext>
    </p:extLst>
  </p:cSld>
  <p:clrMapOvr>
    <a:masterClrMapping/>
  </p:clrMapOvr>
  <p:transition>
    <p:fade/>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(3/4) :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frais dépassent nettement les normes, alors que le personnel et la fidélisation sont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gestion de priorité 17 à 25. Le recouvrement n'est mesurable que pour les retraités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Fichiers de précomptes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80 : Tableau de bord des ratios de gestion, priorités 17 à 25</a:t>
            </a:r>
          </a:p>
        </p:txBody>
      </p:sp>
      <p:graphicFrame>
        <p:nvGraphicFramePr>
          <p:cNvPr id="32" name="Table 31"/>
          <p:cNvGraphicFramePr>
            <a:graphicFrameLocks noGrp="1"/>
          </p:cNvGraphicFramePr>
          <p:nvPr/>
        </p:nvGraphicFramePr>
        <p:xfrm>
          <a:off x="503999" y="1655999"/>
          <a:ext cx="11232000" cy="2359187"/>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47,35 %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36,07 %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44,12 %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des charges de fonctionnement brut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36,20 %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34,86 %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43,74 %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Coût par unité monétaire prestée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522,78 %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182,49 %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89,40 %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58,67 %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charges de personnel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85 %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19,26 %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24,83 %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26,57 %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25,83 %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fidélisation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97,83 %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moyen de paiement des prestataires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contractuel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841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68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93 jours</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194768">
                <a:tc>
                  <a:txBody>
                    <a:bodyPr/>
                    <a:lstStyle/>
                    <a:p>
                      <a:pPr marL="0" indent="0" lvl="0">
                        <a:buNone/>
                      </a:pPr>
                      <a:r>
                        <a:rPr sz="9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d'investissement brut en formation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0,75 %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croissance brute des bénéficiaires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recouvrement des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90 %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 (retraités)</a:t>
                      </a:r>
                    </a:p>
                  </a:txBody>
                  <a:tcPr marL="43200" marR="43200" marT="14400" marB="14400" anchor="ctr">
                    <a:solidFill>
                      <a:srgbClr val="112A40"/>
                    </a:solidFill>
                  </a:tcPr>
                </a:tc>
              </a:tr>
            </a:tbl>
          </a:graphicData>
        </a:graphic>
      </p:graphicFrame>
      <p:sp>
        <p:nvSpPr>
          <p:cNvPr id="33" name="TextBox 32"/>
          <p:cNvSpPr txBox="1"/>
          <p:nvPr/>
        </p:nvSpPr>
        <p:spPr>
          <a:xfrm>
            <a:off x="503999" y="4123192"/>
            <a:ext cx="11232000" cy="306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 BALANCE FORMAT EXCEL DE 09-2020 AU 31-12-2020.xlsx » à « BALANCE FPPN DU 01-01-2026 AU 31-08-2026.xlsx » et des fichiers de précomptes (mois reçus). Statut opposable de 2022 à 2025.</a:t>
            </a:r>
          </a:p>
        </p:txBody>
      </p:sp>
      <p:sp>
        <p:nvSpPr>
          <p:cNvPr id="34" name="TextBox 33"/>
          <p:cNvSpPr txBox="1"/>
          <p:nvPr/>
        </p:nvSpPr>
        <p:spPr>
          <a:xfrm>
            <a:off x="503999" y="4573192"/>
            <a:ext cx="11232000" cy="1294807"/>
          </a:xfrm>
          <a:prstGeom prst="rect">
            <a:avLst/>
          </a:prstGeom>
          <a:noFill/>
        </p:spPr>
        <p:txBody>
          <a:bodyPr wrap="square" lIns="54000" rIns="54000"/>
          <a:lstStyle/>
          <a:p>
            <a:pPr algn="just">
              <a:spcAft>
                <a:spcPts val="600"/>
              </a:spcAft>
            </a:pPr>
            <a:r>
              <a:rPr sz="1300" b="1">
                <a:solidFill>
                  <a:srgbClr val="060606"/>
                </a:solidFill>
                <a:latin typeface="Helvetica"/>
              </a:rPr>
              <a:t>Les trois ratios de frais sont non conformes chaque année.</a:t>
            </a:r>
            <a:r>
              <a:rPr sz="1300" b="0">
                <a:solidFill>
                  <a:srgbClr val="060606"/>
                </a:solidFill>
                <a:latin typeface="Helvetica"/>
              </a:rPr>
              <a:t> Les frais de fonctionnement absorbent plus d'un tiers des cotisations, contre 20 % au plus selon la norme.</a:t>
            </a:r>
          </a:p>
          <a:p>
            <a:pPr algn="just">
              <a:spcAft>
                <a:spcPts val="600"/>
              </a:spcAft>
            </a:pPr>
            <a:r>
              <a:rPr sz="1300" b="0">
                <a:solidFill>
                  <a:srgbClr val="060606"/>
                </a:solidFill>
                <a:latin typeface="Helvetica"/>
              </a:rPr>
              <a:t>La baisse du coût par unité prestée vient surtout de la hausse des prestations, pas d'une baisse des frais : le FPPN doit présenter un plan de réduction des charges de fonctionnement.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495777761"/>
      </p:ext>
    </p:extLst>
  </p:cSld>
  <p:clrMapOvr>
    <a:masterClrMapping/>
  </p:clrMapOvr>
  <p:transition>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(4/4) : données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indicateurs attendent des documents de gestion ou de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indicateurs ne sont pas exclus : ils seront calculés dès réception des pièces demandées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81 : Indicateurs en attente de documents, priorités 26 à 36</a:t>
            </a:r>
          </a:p>
        </p:txBody>
      </p:sp>
      <p:graphicFrame>
        <p:nvGraphicFramePr>
          <p:cNvPr id="32" name="Table 31"/>
          <p:cNvGraphicFramePr>
            <a:graphicFrameLocks noGrp="1"/>
          </p:cNvGraphicFramePr>
          <p:nvPr/>
        </p:nvGraphicFramePr>
        <p:xfrm>
          <a:off x="503999" y="1655999"/>
          <a:ext cx="11232000" cy="3023061"/>
        </p:xfrm>
        <a:graphic>
          <a:graphicData uri="http://schemas.openxmlformats.org/drawingml/2006/table">
            <a:tbl>
              <a:tblPr firstRow="0" bandRow="0">
                <a:tableStyleId>{5940675A-B579-460E-94D1-54222C63F5DA}</a:tableStyleId>
              </a:tblPr>
              <a:tblGrid>
                <a:gridCol w="324000"/>
                <a:gridCol w="3960000"/>
                <a:gridCol w="2160000"/>
                <a:gridCol w="4788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Pièce à obtenir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bénéficiaire-adhérent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 des ayants droit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pénétration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Effectif total de la Police nationale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prestations indues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Rapports de contrôle a posteriori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contrôle a posteriori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5 % (10 % pour les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Registre des contrôles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liquidation des premières demandes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Dossiers de prestations avec dates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Restes à traiter en fin de période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Dossiers de prestations avec statut non transmis.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remise en banque des titres de paiement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Registre des encaissements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règlement de la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FNG (FOMUS-CI) dans les balances : adhésion et cotisation à confirmer.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tenue des réunions des organes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Procès-verbaux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 des outils de suivi administratif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 des outils de suivi comptable et financier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FFFFF"/>
                    </a:solidFill>
                  </a:tcPr>
                </a:tc>
              </a:tr>
            </a:tbl>
          </a:graphicData>
        </a:graphic>
      </p:graphicFrame>
      <p:sp>
        <p:nvSpPr>
          <p:cNvPr id="33" name="TextBox 32"/>
          <p:cNvSpPr txBox="1"/>
          <p:nvPr/>
        </p:nvSpPr>
        <p:spPr>
          <a:xfrm>
            <a:off x="503999" y="4787066"/>
            <a:ext cx="11232000" cy="162000"/>
          </a:xfrm>
          <a:prstGeom prst="rect">
            <a:avLst/>
          </a:prstGeom>
          <a:noFill/>
        </p:spPr>
        <p:txBody>
          <a:bodyPr wrap="square" anchor="t" lIns="54000" rIns="54000"/>
          <a:lstStyle/>
          <a:p>
            <a:pPr algn="l"/>
            <a:r>
              <a:rPr sz="850" b="0">
                <a:solidFill>
                  <a:srgbClr val="53565A"/>
                </a:solidFill>
                <a:latin typeface="Helvetica"/>
              </a:rPr>
              <a:t>Valable pour : indicateurs de la Décision n° 05/2022 non calculables avec les documents reçus au 22/10/2026. Numéros de la PBC.</a:t>
            </a:r>
          </a:p>
        </p:txBody>
      </p:sp>
      <p:sp>
        <p:nvSpPr>
          <p:cNvPr id="34" name="TextBox 33"/>
          <p:cNvSpPr txBox="1"/>
          <p:nvPr/>
        </p:nvSpPr>
        <p:spPr>
          <a:xfrm>
            <a:off x="503999" y="5093066"/>
            <a:ext cx="11232000" cy="774933"/>
          </a:xfrm>
          <a:prstGeom prst="rect">
            <a:avLst/>
          </a:prstGeom>
          <a:noFill/>
        </p:spPr>
        <p:txBody>
          <a:bodyPr wrap="square" lIns="54000" rIns="54000"/>
          <a:lstStyle/>
          <a:p>
            <a:pPr algn="just">
              <a:spcAft>
                <a:spcPts val="600"/>
              </a:spcAft>
            </a:pPr>
            <a:r>
              <a:rPr sz="1300" b="1">
                <a:solidFill>
                  <a:srgbClr val="060606"/>
                </a:solidFill>
                <a:latin typeface="Helvetica"/>
              </a:rPr>
              <a:t>L'absence de compte du fonds national de garantie dans les balances est le point le plus sensible.</a:t>
            </a:r>
            <a:r>
              <a:rPr sz="1300" b="0">
                <a:solidFill>
                  <a:srgbClr val="060606"/>
                </a:solidFill>
                <a:latin typeface="Helvetica"/>
              </a:rPr>
              <a:t> L'adhésion au fonds est obligatoire (règlement n° 07/2009, art. 63), et son défaut est sanctionné (arrêté n° 00115/MEPS/CAB, ligne 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S/C : prestations / cotisations | PBC : liste des documents demandés au client | FNG : fonds national de garantie | FOMUS-CI : fonds de garantie des mutuelles sociales de Côte d'Ivoire | MEPS : ministère de l'Emploi et de la Protection sociale</a:t>
            </a:r>
          </a:p>
        </p:txBody>
      </p:sp>
    </p:spTree>
    <p:extLst>
      <p:ext uri="{BB962C8B-B14F-4D97-AF65-F5344CB8AC3E}">
        <p14:creationId xmlns:p14="http://schemas.microsoft.com/office/powerpoint/2010/main" val="1821445654"/>
      </p:ext>
    </p:extLst>
  </p:cSld>
  <p:clrMapOvr>
    <a:masterClrMapping/>
  </p:clrMapOvr>
  <p:transition>
    <p:fade/>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et équilibre : deux lectures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classement de l'épargne décide de la conformité de la liquidité et de l'équilibre stable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2025 : 0,13 comme le FPPN, 1,15 retraitée. Équilibre stable 2025 : 1,54 et 0,94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34 : Liquidité et équilibre stable, comme le FPPN et retraités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Ratio (sans unité)</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Comme le FPPN tient ses comptes, la liquidité n'atteint jamais 1.</a:t>
            </a:r>
            <a:r>
              <a:rPr sz="1400" b="0">
                <a:solidFill>
                  <a:srgbClr val="060606"/>
                </a:solidFill>
                <a:latin typeface="Helvetica"/>
              </a:rPr>
              <a:t> Elle vaut au mieux 0,19 en 2021, car l'épargne figure parmi les dettes à court terme.</a:t>
            </a:r>
          </a:p>
          <a:p>
            <a:pPr algn="just">
              <a:spcAft>
                <a:spcPts val="600"/>
              </a:spcAft>
            </a:pPr>
            <a:r>
              <a:rPr sz="1400" b="1">
                <a:solidFill>
                  <a:srgbClr val="060606"/>
                </a:solidFill>
                <a:latin typeface="Helvetica"/>
              </a:rPr>
              <a:t>Retraitée, la liquidité devient conforme en 2025 et sur les huit mois de 2026.</a:t>
            </a:r>
            <a:r>
              <a:rPr sz="1400" b="0">
                <a:solidFill>
                  <a:srgbClr val="060606"/>
                </a:solidFill>
                <a:latin typeface="Helvetica"/>
              </a:rPr>
              <a:t> La trésorerie a fortement augmenté pendant que les dettes à court terme hors épargne restaient stables.</a:t>
            </a:r>
          </a:p>
          <a:p>
            <a:pPr algn="just">
              <a:spcAft>
                <a:spcPts val="600"/>
              </a:spcAft>
            </a:pPr>
            <a:r>
              <a:rPr sz="1400" b="1">
                <a:solidFill>
                  <a:srgbClr val="060606"/>
                </a:solidFill>
                <a:latin typeface="Helvetica"/>
              </a:rPr>
              <a:t>Retraité, l'équilibre stable devient conforme en 2025</a:t>
            </a:r>
            <a:r>
              <a:rPr sz="1400" b="0">
                <a:solidFill>
                  <a:srgbClr val="060606"/>
                </a:solidFill>
                <a:latin typeface="Helvetica"/>
              </a:rPr>
              <a:t> (0,94), car l'épargne finance alors durablement les emplois longs.</a:t>
            </a:r>
          </a:p>
          <a:p>
            <a:pPr algn="just">
              <a:spcAft>
                <a:spcPts val="600"/>
              </a:spcAft>
            </a:pPr>
            <a:r>
              <a:rPr sz="1400" b="0">
                <a:solidFill>
                  <a:srgbClr val="060606"/>
                </a:solidFill>
                <a:latin typeface="Helvetica"/>
              </a:rPr>
              <a:t>La conformité dépend de la part réellement exigible de l'épargne dans l'année : le FPPN doit établir l'échéancier de l'EFC (départs à la retraite) et du PEP (échéances des plans).</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 BALANCE FORMAT EXCEL DE 09-2020 AU 31-12-2020.xlsx » à « BALANCE FPPN DU 01-01-2026 AU 31-08-2026.xlsx », lecture comme le FPPN et lecture retraitée, 2020 au 31/08/2026.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048759551"/>
      </p:ext>
    </p:extLst>
  </p:cSld>
  <p:clrMapOvr>
    <a:masterClrMapping/>
  </p:clrMapOvr>
  <p:transition>
    <p:fade/>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sinistralité réglementaire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est sous la fourchette parce que le décès consomme peu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Charges de prestations 1 964 772 027 FCFA / cotisations acquises 3 418 141 722 FCFA = 57,48 %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1.2.1.2.5</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1999" cy="2100090"/>
        </p:xfrm>
        <a:graphic>
          <a:graphicData uri="http://schemas.openxmlformats.org/drawingml/2006/table">
            <a:tbl>
              <a:tblPr firstRow="0" bandRow="0">
                <a:tableStyleId>{5940675A-B579-460E-94D1-54222C63F5DA}</a:tableStyleId>
              </a:tblPr>
              <a:tblGrid>
                <a:gridCol w="2232000"/>
                <a:gridCol w="2304000"/>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2 409 281 030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décès et 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1 008 860 692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produits techniques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601, 6013, 6018, 60800007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1 771 635 361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Prestations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6021, 6024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193 136 666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60800008, 60850000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57,48 %</a:t>
                      </a:r>
                    </a:p>
                  </a:txBody>
                  <a:tcPr marL="43200" marR="43200" marT="14400" marB="14400" anchor="ctr">
                    <a:solidFill>
                      <a:srgbClr val="FFFFFF"/>
                    </a:solidFill>
                  </a:tcPr>
                </a:tc>
              </a:tr>
            </a:tbl>
          </a:graphicData>
        </a:graphic>
      </p:graphicFrame>
      <p:sp>
        <p:nvSpPr>
          <p:cNvPr id="33" name="Rounded Rectangle 32"/>
          <p:cNvSpPr/>
          <p:nvPr/>
        </p:nvSpPr>
        <p:spPr>
          <a:xfrm>
            <a:off x="5022000"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22000" y="321727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22000" y="342728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2760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cotisations acquises additionnent toute la classe 70, y compris les autres produits techniques.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Les charges de prestations additionnent toute la classe 60, maladie et décès confondus.</a:t>
            </a:r>
          </a:p>
        </p:txBody>
      </p:sp>
      <p:sp>
        <p:nvSpPr>
          <p:cNvPr id="43" name="Oval 42"/>
          <p:cNvSpPr/>
          <p:nvPr/>
        </p:nvSpPr>
        <p:spPr>
          <a:xfrm>
            <a:off x="7272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678168"/>
            <a:ext cx="4104000" cy="484084"/>
          </a:xfrm>
          <a:prstGeom prst="rect">
            <a:avLst/>
          </a:prstGeom>
          <a:noFill/>
        </p:spPr>
        <p:txBody>
          <a:bodyPr wrap="square" anchor="t" lIns="54000" rIns="54000"/>
          <a:lstStyle/>
          <a:p>
            <a:pPr algn="l"/>
            <a:r>
              <a:rPr sz="1200" b="0">
                <a:solidFill>
                  <a:srgbClr val="060606"/>
                </a:solidFill>
                <a:latin typeface="Helvetica"/>
              </a:rPr>
              <a:t>Le taux global se situe sous la borne basse de 70 % de la norme.</a:t>
            </a:r>
          </a:p>
        </p:txBody>
      </p:sp>
      <p:sp>
        <p:nvSpPr>
          <p:cNvPr id="45" name="TextBox 44"/>
          <p:cNvSpPr txBox="1"/>
          <p:nvPr/>
        </p:nvSpPr>
        <p:spPr>
          <a:xfrm>
            <a:off x="7272000" y="3342252"/>
            <a:ext cx="4464000" cy="2525747"/>
          </a:xfrm>
          <a:prstGeom prst="rect">
            <a:avLst/>
          </a:prstGeom>
          <a:noFill/>
        </p:spPr>
        <p:txBody>
          <a:bodyPr wrap="square" lIns="54000" rIns="54000"/>
          <a:lstStyle/>
          <a:p>
            <a:pPr algn="just">
              <a:spcAft>
                <a:spcPts val="600"/>
              </a:spcAft>
            </a:pPr>
            <a:r>
              <a:rPr sz="1200" b="1">
                <a:solidFill>
                  <a:srgbClr val="060606"/>
                </a:solidFill>
                <a:latin typeface="Helvetica"/>
              </a:rPr>
              <a:t>Une sinistralité trop basse est aussi un écart à la norme.</a:t>
            </a:r>
            <a:r>
              <a:rPr sz="1200" b="0">
                <a:solidFill>
                  <a:srgbClr val="060606"/>
                </a:solidFill>
                <a:latin typeface="Helvetica"/>
              </a:rPr>
              <a:t> La fourchette de 70 % à 80 % vise à ce que les cotisations reviennent aux adhérents sous forme de prestations.</a:t>
            </a:r>
          </a:p>
          <a:p>
            <a:pPr algn="just">
              <a:spcAft>
                <a:spcPts val="600"/>
              </a:spcAft>
            </a:pPr>
            <a:r>
              <a:rPr sz="1200" b="0">
                <a:solidFill>
                  <a:srgbClr val="060606"/>
                </a:solidFill>
                <a:latin typeface="Helvetica"/>
              </a:rPr>
              <a:t>Appliqué à la seule maladie, le taux 2025 (73,53 %) se situe dans la fourchette. L'écart global vient de la garantie décès : son niveau de cotisation mérite d'être revu au vu de la mortalité observée, dès réception des données.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2363022534"/>
      </p:ext>
    </p:extLst>
  </p:cSld>
  <p:clrMapOvr>
    <a:masterClrMapping/>
  </p:clrMapOvr>
  <p:transition>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marge de solvabilité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est conforme si l'on ignore les pertes reportées, non conforme sinon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Marge exigée 566 209 845 FCFA. Marge disponible 4 396 841 817 FCFA comme le FPPN, -438 242 200 FCFA nette des pertes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1.1.1. PCMS, fiche n° 2</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6000" cy="2404910"/>
        </p:xfrm>
        <a:graphic>
          <a:graphicData uri="http://schemas.openxmlformats.org/drawingml/2006/table">
            <a:tbl>
              <a:tblPr firstRow="0" bandRow="0">
                <a:tableStyleId>{5940675A-B579-460E-94D1-54222C63F5DA}</a:tableStyleId>
              </a:tblPr>
              <a:tblGrid>
                <a:gridCol w="2376000"/>
                <a:gridCol w="2520000"/>
                <a:gridCol w="1800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18 % des cotisations acquises 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18 % x 3 145 610 249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26 % des prestations maladie 2023 à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26 % x moyenne sur 3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290 598 477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exigée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maximum des deux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Réserves libres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106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+ 1188 + 106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4 396 841 817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Pertes reportées et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129, 121, résultat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-4 835 084 017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nette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382000" y="2472047"/>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3208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82000" y="3312086"/>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31608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82000" y="3732105"/>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58090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La marge exigée vient de la règle des 18 % des cotisations, supérieure à celle des prestations.</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Sans déduire les pertes, la marge disponible dépasse largement la marge exigée.</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Une fois les pertes reportées déduites, la marge disponible devient négative.</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La conformité dépend de la lecture des pertes reportées.</a:t>
            </a:r>
            <a:r>
              <a:rPr sz="1200" b="0">
                <a:solidFill>
                  <a:srgbClr val="060606"/>
                </a:solidFill>
                <a:latin typeface="Helvetica"/>
              </a:rPr>
              <a:t> Le ratio vaut 7,77 comme le FPPN et -0,77 net des pertes.</a:t>
            </a:r>
          </a:p>
          <a:p>
            <a:pPr algn="just">
              <a:spcAft>
                <a:spcPts val="600"/>
              </a:spcAft>
            </a:pPr>
            <a:r>
              <a:rPr sz="1200" b="0">
                <a:solidFill>
                  <a:srgbClr val="060606"/>
                </a:solidFill>
                <a:latin typeface="Helvetica"/>
              </a:rPr>
              <a:t>Le FPPN n'a pas de fonds d'établissement, alors que la Décision exige un niveau minimal égal au tiers de la marge exigée, soit 188 736 615 FCFA en 2025.</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281281350"/>
      </p:ext>
    </p:extLst>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 obligatoire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réserve obligatoire couvre cinq mois de prestations, contre six au minimum</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820 232 819 FCFA x 12 / 1 964 772 027 FCFA = 5,01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tableau 1 et § 1.2.2.5.4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1260054"/>
        </p:xfrm>
        <a:graphic>
          <a:graphicData uri="http://schemas.openxmlformats.org/drawingml/2006/table">
            <a:tbl>
              <a:tblPr firstRow="0" bandRow="0">
                <a:tableStyleId>{5940675A-B579-460E-94D1-54222C63F5DA}</a:tableStyleId>
              </a:tblPr>
              <a:tblGrid>
                <a:gridCol w="2448000"/>
                <a:gridCol w="1872000"/>
                <a:gridCol w="2232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x 12 / 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5,01 mois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nécessaire pour 6 mois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 x 6 / 12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982 386 014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Écart à combler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besoin - réserve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162 153 194 FCFA</a:t>
                      </a:r>
                    </a:p>
                  </a:txBody>
                  <a:tcPr marL="43200" marR="43200" marT="14400" marB="14400" anchor="ctr">
                    <a:solidFill>
                      <a:srgbClr val="FFFFFF"/>
                    </a:solidFill>
                  </a:tcPr>
                </a:tc>
              </a:tr>
            </a:tbl>
          </a:graphicData>
        </a:graphic>
      </p:graphicFrame>
      <p:sp>
        <p:nvSpPr>
          <p:cNvPr id="33" name="Rounded Rectangle 32"/>
          <p:cNvSpPr/>
          <p:nvPr/>
        </p:nvSpPr>
        <p:spPr>
          <a:xfrm>
            <a:off x="4806000" y="2167228"/>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806000" y="2587247"/>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La réserve obligatoire couvre un peu plus de cinq mois de prestations.</a:t>
            </a:r>
          </a:p>
        </p:txBody>
      </p:sp>
      <p:sp>
        <p:nvSpPr>
          <p:cNvPr id="39" name="Oval 38"/>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Il manque ce montant pour atteindre la borne basse de six mois.</a:t>
            </a:r>
          </a:p>
        </p:txBody>
      </p:sp>
      <p:sp>
        <p:nvSpPr>
          <p:cNvPr id="41" name="TextBox 40"/>
          <p:cNvSpPr txBox="1"/>
          <p:nvPr/>
        </p:nvSpPr>
        <p:spPr>
          <a:xfrm>
            <a:off x="7272000" y="2768168"/>
            <a:ext cx="4464000" cy="3099831"/>
          </a:xfrm>
          <a:prstGeom prst="rect">
            <a:avLst/>
          </a:prstGeom>
          <a:noFill/>
        </p:spPr>
        <p:txBody>
          <a:bodyPr wrap="square" lIns="54000" rIns="54000"/>
          <a:lstStyle/>
          <a:p>
            <a:pPr algn="just">
              <a:spcAft>
                <a:spcPts val="600"/>
              </a:spcAft>
            </a:pPr>
            <a:r>
              <a:rPr sz="1200" b="1">
                <a:solidFill>
                  <a:srgbClr val="060606"/>
                </a:solidFill>
                <a:latin typeface="Helvetica"/>
              </a:rPr>
              <a:t>La réserve progresse, mais moins vite que les prestations.</a:t>
            </a:r>
            <a:r>
              <a:rPr sz="1200" b="0">
                <a:solidFill>
                  <a:srgbClr val="060606"/>
                </a:solidFill>
                <a:latin typeface="Helvetica"/>
              </a:rPr>
              <a:t> Elle vaut zéro jusqu'en 2022 et couvre 3,25 mois en 2023, puis 5,01 mois en 2025.</a:t>
            </a:r>
          </a:p>
          <a:p>
            <a:pPr algn="just">
              <a:spcAft>
                <a:spcPts val="600"/>
              </a:spcAft>
            </a:pPr>
            <a:r>
              <a:rPr sz="1200" b="0">
                <a:solidFill>
                  <a:srgbClr val="060606"/>
                </a:solidFill>
                <a:latin typeface="Helvetica"/>
              </a:rPr>
              <a:t>Comme les prestations augmentent chaque année, le besoin de réserve augmente aussi : la dotation annuelle doit suivre la sinistralité et non seulement le résultat.</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04495852"/>
      </p:ext>
    </p:extLst>
  </p:cSld>
  <p:clrMapOvr>
    <a:masterClrMapping/>
  </p:clrMapOvr>
  <p:transition>
    <p:fad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et assimilés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propres et les provisions couvrent un cinquième des dettes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et assimilés 4 391 056 090 FCFA / dettes 20 393 111 235 FCFA = 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1.2.2.5.3</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347311"/>
        </p:xfrm>
        <a:graphic>
          <a:graphicData uri="http://schemas.openxmlformats.org/drawingml/2006/table">
            <a:tbl>
              <a:tblPr firstRow="0" bandRow="0">
                <a:tableStyleId>{5940675A-B579-460E-94D1-54222C63F5DA}</a:tableStyleId>
              </a:tblPr>
              <a:tblGrid>
                <a:gridCol w="2448000"/>
                <a:gridCol w="2160000"/>
                <a:gridCol w="1944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11, 12, résultat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15801000, 15802000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4 391 056 090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 et autres dettes longues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15, 16, 196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4 872 964 968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provisions comprises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dénominateur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20 393 111 235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numérateur / dénominateur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0,22</a:t>
                      </a:r>
                    </a:p>
                  </a:txBody>
                  <a:tcPr marL="43200" marR="43200" marT="14400" marB="14400" anchor="ctr">
                    <a:solidFill>
                      <a:srgbClr val="F2F2F2"/>
                    </a:solidFill>
                  </a:tcPr>
                </a:tc>
              </a:tr>
            </a:tbl>
          </a:graphicData>
        </a:graphic>
      </p:graphicFrame>
      <p:sp>
        <p:nvSpPr>
          <p:cNvPr id="33" name="Rounded Rectangle 32"/>
          <p:cNvSpPr/>
          <p:nvPr/>
        </p:nvSpPr>
        <p:spPr>
          <a:xfrm>
            <a:off x="5094000" y="1747209"/>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94000" y="2739657"/>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5884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94000" y="3522096"/>
            <a:ext cx="1980000" cy="3840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fonds propres sont négatifs : seules les provisions rendent le numérateur positif.</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L'épargne représente l'essentiel des dettes.</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298144"/>
          </a:xfrm>
          <a:prstGeom prst="rect">
            <a:avLst/>
          </a:prstGeom>
          <a:noFill/>
        </p:spPr>
        <p:txBody>
          <a:bodyPr wrap="square" anchor="t" lIns="54000" rIns="54000"/>
          <a:lstStyle/>
          <a:p>
            <a:pPr algn="l"/>
            <a:r>
              <a:rPr sz="1200" b="0">
                <a:solidFill>
                  <a:srgbClr val="060606"/>
                </a:solidFill>
                <a:latin typeface="Helvetica"/>
              </a:rPr>
              <a:t>Le ratio reste très loin de la norme d'au moins 1.</a:t>
            </a:r>
          </a:p>
        </p:txBody>
      </p:sp>
      <p:sp>
        <p:nvSpPr>
          <p:cNvPr id="45" name="TextBox 44"/>
          <p:cNvSpPr txBox="1"/>
          <p:nvPr/>
        </p:nvSpPr>
        <p:spPr>
          <a:xfrm>
            <a:off x="7272000" y="2970373"/>
            <a:ext cx="4464000" cy="2897626"/>
          </a:xfrm>
          <a:prstGeom prst="rect">
            <a:avLst/>
          </a:prstGeom>
          <a:noFill/>
        </p:spPr>
        <p:txBody>
          <a:bodyPr wrap="square" lIns="54000" rIns="54000"/>
          <a:lstStyle/>
          <a:p>
            <a:pPr algn="just">
              <a:spcAft>
                <a:spcPts val="600"/>
              </a:spcAft>
            </a:pPr>
            <a:r>
              <a:rPr sz="1200" b="1">
                <a:solidFill>
                  <a:srgbClr val="060606"/>
                </a:solidFill>
                <a:latin typeface="Helvetica"/>
              </a:rPr>
              <a:t>Même en comptant les provisions comme des fonds propres, le FPPN reste loin de la norme.</a:t>
            </a:r>
            <a:r>
              <a:rPr sz="1200" b="0">
                <a:solidFill>
                  <a:srgbClr val="060606"/>
                </a:solidFill>
                <a:latin typeface="Helvetica"/>
              </a:rPr>
              <a:t> Le ratio passe de 0,13 en 2022 à 0,22 en 2025.</a:t>
            </a:r>
          </a:p>
          <a:p>
            <a:pPr algn="just">
              <a:spcAft>
                <a:spcPts val="600"/>
              </a:spcAft>
            </a:pPr>
            <a:r>
              <a:rPr sz="1200" b="0">
                <a:solidFill>
                  <a:srgbClr val="060606"/>
                </a:solidFill>
                <a:latin typeface="Helvetica"/>
              </a:rPr>
              <a:t>Ce ratio ne peut s'améliorer que par des excédents mis en réserve pendant plusieurs années : il mesure la profondeur du retard de fonds propres, plus qu'un problème de l'année.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205692360"/>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liquidité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trésorerie couvre un huitième des dettes à court terme, épargne comprise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0,13 comme le FPPN, 1,15 sans l'épargne. Trésorerie à échéance 0,17 et 1,59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1.2.2.5.2 et section II</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832482"/>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Trésorerie actif</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5 débitrice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1 964 171 543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Créances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classes 3 et 4 débitrices, hors avances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750 837 284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1 706 079 303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Liquidité comme le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trésorerie / dettes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0,13</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Liquidité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trésorerie / dettes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1,15</a:t>
                      </a:r>
                    </a:p>
                  </a:txBody>
                  <a:tcPr marL="43200" marR="43200" marT="14400" marB="14400" anchor="ctr">
                    <a:solidFill>
                      <a:srgbClr val="FFFFFF"/>
                    </a:solidFill>
                  </a:tcPr>
                </a:tc>
              </a:tr>
            </a:tbl>
          </a:graphicData>
        </a:graphic>
      </p:graphicFrame>
      <p:sp>
        <p:nvSpPr>
          <p:cNvPr id="33" name="Rounded Rectangle 32"/>
          <p:cNvSpPr/>
          <p:nvPr/>
        </p:nvSpPr>
        <p:spPr>
          <a:xfrm>
            <a:off x="5526000" y="25296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94966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7984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1596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30084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L'épargne représente presque toutes les dettes à court terme du plan comptable.</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Dans cette lecture, la trésorerie couvre environ un huitième des dettes.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Sans l'épargne, la trésorerie couvre toutes les dettes à court terme.</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Toute la question de la liquidité se ramène à l'épargne.</a:t>
            </a:r>
            <a:r>
              <a:rPr sz="1200" b="0">
                <a:solidFill>
                  <a:srgbClr val="060606"/>
                </a:solidFill>
                <a:latin typeface="Helvetica"/>
              </a:rPr>
              <a:t> Les autres dettes à court terme sont couvertes par la trésorerie en 2025.</a:t>
            </a:r>
          </a:p>
          <a:p>
            <a:pPr algn="just">
              <a:spcAft>
                <a:spcPts val="600"/>
              </a:spcAft>
            </a:pPr>
            <a:r>
              <a:rPr sz="1200" b="0">
                <a:solidFill>
                  <a:srgbClr val="060606"/>
                </a:solidFill>
                <a:latin typeface="Helvetica"/>
              </a:rPr>
              <a:t>Le FPPN doit connaître la part de l'épargne exigible dans l'année : sans cet échéancier, la lecture prudente du plan comptable s'impose et la liquidité est non conforme.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711402011"/>
      </p:ext>
    </p:extLst>
  </p:cSld>
  <p:clrMapOvr>
    <a:masterClrMapping/>
  </p:clrMapOvr>
  <p:transition>
    <p:fad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équilibre stable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emplois longs dépassent les ressources longues, sauf si l'épargne est une ressource longue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Équilibre stable 1,54 comme le FPPN, 0,94 retraité. Norme d'au plus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1.2.3.1</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470063"/>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Actif immobilisé net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6 814 784 076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Avances et créances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47111100 à 47111105, 47111201, 485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10 425 076 132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Ressources longues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à 19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4 434 722 768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Équilibre stable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 / classe 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stable retraité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 avances) / (1 + 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0,94</a:t>
                      </a:r>
                    </a:p>
                  </a:txBody>
                  <a:tcPr marL="43200" marR="43200" marT="14400" marB="14400" anchor="ctr">
                    <a:solidFill>
                      <a:srgbClr val="F2F2F2"/>
                    </a:solidFill>
                  </a:tcPr>
                </a:tc>
              </a:tr>
            </a:tbl>
          </a:graphicData>
        </a:graphic>
      </p:graphicFrame>
      <p:sp>
        <p:nvSpPr>
          <p:cNvPr id="33" name="Rounded Rectangle 32"/>
          <p:cNvSpPr/>
          <p:nvPr/>
        </p:nvSpPr>
        <p:spPr>
          <a:xfrm>
            <a:off x="5526000" y="1957219"/>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872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Des avances durables supérieures à l'actif immobilisé sont suivies hors de la classe 2.</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Comme le FPPN, les emplois longs valent plus d'une fois et demie les ressources longues.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Avec l'épargne en ressource longue, l'équilibre est respecté de peu.</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L'épargne des adhérents finance les emplois longs du FPPN.</a:t>
            </a:r>
            <a:r>
              <a:rPr sz="1200" b="0">
                <a:solidFill>
                  <a:srgbClr val="060606"/>
                </a:solidFill>
                <a:latin typeface="Helvetica"/>
              </a:rPr>
              <a:t> Sans elle, les ressources longues ne couvrent pas les terrains, les bâtiments et les avances durables.</a:t>
            </a:r>
          </a:p>
          <a:p>
            <a:pPr algn="just">
              <a:spcAft>
                <a:spcPts val="600"/>
              </a:spcAft>
            </a:pPr>
            <a:r>
              <a:rPr sz="1200" b="0">
                <a:solidFill>
                  <a:srgbClr val="060606"/>
                </a:solidFill>
                <a:latin typeface="Helvetica"/>
              </a:rPr>
              <a:t>Financer des emplois longs avec de l'épargne n'est soutenable que si cette épargne reste longtemps : c'est précisément ce que l'échéancier de l'EFC et du PEP doit démontrer.</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494413892"/>
      </p:ext>
    </p:extLst>
  </p:cSld>
  <p:clrMapOvr>
    <a:masterClrMapping/>
  </p:clrMapOvr>
  <p:transition>
    <p:fade/>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d'excédent net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L'excédent dépasse le plafond de 5 % des cotisations, ce qui sert à reconstituer les fonds propres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net 437 899 911 FCFA / cotisations acquises 3 418 141 722 FCFA = 12,81 %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1.2.2.5.5</a:t>
            </a:r>
          </a:p>
        </p:txBody>
      </p:sp>
      <p:sp>
        <p:nvSpPr>
          <p:cNvPr id="31" name="TextBox 30"/>
          <p:cNvSpPr txBox="1"/>
          <p:nvPr/>
        </p:nvSpPr>
        <p:spPr>
          <a:xfrm>
            <a:off x="503999" y="1350000"/>
            <a:ext cx="6480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479998" cy="1470063"/>
        </p:xfrm>
        <a:graphic>
          <a:graphicData uri="http://schemas.openxmlformats.org/drawingml/2006/table">
            <a:tbl>
              <a:tblPr firstRow="0" bandRow="0">
                <a:tableStyleId>{5940675A-B579-460E-94D1-54222C63F5DA}</a:tableStyleId>
              </a:tblPr>
              <a:tblGrid>
                <a:gridCol w="2448000"/>
                <a:gridCol w="2015999"/>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Produits des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3 671 499 865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des activités ordinaires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3 250 431 812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Résultat hors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16 831 858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7 - 6 + 8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excédent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12,81 %</a:t>
                      </a:r>
                    </a:p>
                  </a:txBody>
                  <a:tcPr marL="43200" marR="43200" marT="14400" marB="14400" anchor="ctr">
                    <a:solidFill>
                      <a:srgbClr val="F2F2F2"/>
                    </a:solidFill>
                  </a:tcPr>
                </a:tc>
              </a:tr>
            </a:tbl>
          </a:graphicData>
        </a:graphic>
      </p:graphicFrame>
      <p:sp>
        <p:nvSpPr>
          <p:cNvPr id="33" name="Rounded Rectangle 32"/>
          <p:cNvSpPr/>
          <p:nvPr/>
        </p:nvSpPr>
        <p:spPr>
          <a:xfrm>
            <a:off x="4949999"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03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949999" y="2797257"/>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03999"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0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560000" y="1530000"/>
            <a:ext cx="4176000" cy="484084"/>
          </a:xfrm>
          <a:prstGeom prst="rect">
            <a:avLst/>
          </a:prstGeom>
          <a:noFill/>
        </p:spPr>
        <p:txBody>
          <a:bodyPr wrap="square" anchor="t" lIns="54000" rIns="54000"/>
          <a:lstStyle/>
          <a:p>
            <a:pPr algn="l"/>
            <a:r>
              <a:rPr sz="1200" b="0">
                <a:solidFill>
                  <a:srgbClr val="060606"/>
                </a:solidFill>
                <a:latin typeface="Helvetica"/>
              </a:rPr>
              <a:t>L'excédent net 2025 est positif, mais il baisse depuis 2021.</a:t>
            </a:r>
          </a:p>
        </p:txBody>
      </p:sp>
      <p:sp>
        <p:nvSpPr>
          <p:cNvPr id="39" name="Oval 38"/>
          <p:cNvSpPr/>
          <p:nvPr/>
        </p:nvSpPr>
        <p:spPr>
          <a:xfrm>
            <a:off x="720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560000" y="2104084"/>
            <a:ext cx="4176000" cy="298144"/>
          </a:xfrm>
          <a:prstGeom prst="rect">
            <a:avLst/>
          </a:prstGeom>
          <a:noFill/>
        </p:spPr>
        <p:txBody>
          <a:bodyPr wrap="square" anchor="t" lIns="54000" rIns="54000"/>
          <a:lstStyle/>
          <a:p>
            <a:pPr algn="l"/>
            <a:r>
              <a:rPr sz="1200" b="0">
                <a:solidFill>
                  <a:srgbClr val="060606"/>
                </a:solidFill>
                <a:latin typeface="Helvetica"/>
              </a:rPr>
              <a:t>Le taux dépasse le plafond de 5 % fixé par la norme.</a:t>
            </a:r>
          </a:p>
        </p:txBody>
      </p:sp>
      <p:sp>
        <p:nvSpPr>
          <p:cNvPr id="41" name="TextBox 40"/>
          <p:cNvSpPr txBox="1"/>
          <p:nvPr/>
        </p:nvSpPr>
        <p:spPr>
          <a:xfrm>
            <a:off x="7200000" y="2582228"/>
            <a:ext cx="4536000" cy="3285771"/>
          </a:xfrm>
          <a:prstGeom prst="rect">
            <a:avLst/>
          </a:prstGeom>
          <a:noFill/>
        </p:spPr>
        <p:txBody>
          <a:bodyPr wrap="square" lIns="54000" rIns="54000"/>
          <a:lstStyle/>
          <a:p>
            <a:pPr algn="just">
              <a:spcAft>
                <a:spcPts val="600"/>
              </a:spcAft>
            </a:pPr>
            <a:r>
              <a:rPr sz="1200" b="1">
                <a:solidFill>
                  <a:srgbClr val="060606"/>
                </a:solidFill>
                <a:latin typeface="Helvetica"/>
              </a:rPr>
              <a:t>Ce dépassement n'est pas un défaut en soi pour le FPPN.</a:t>
            </a:r>
            <a:r>
              <a:rPr sz="1200" b="0">
                <a:solidFill>
                  <a:srgbClr val="060606"/>
                </a:solidFill>
                <a:latin typeface="Helvetica"/>
              </a:rPr>
              <a:t> Ses fonds propres sont négatifs, et les excédents sont le seul moyen de les reconstituer et de doter la réserve obligatoire.</a:t>
            </a:r>
          </a:p>
          <a:p>
            <a:pPr algn="just">
              <a:spcAft>
                <a:spcPts val="600"/>
              </a:spcAft>
            </a:pPr>
            <a:r>
              <a:rPr sz="1200" b="0">
                <a:solidFill>
                  <a:srgbClr val="060606"/>
                </a:solidFill>
                <a:latin typeface="Helvetica"/>
              </a:rPr>
              <a:t>Un plan de mise en conformité présenté à l'AIRMS doit justifier ce dépassement temporaire par l'objectif de fonds propres, avec un calendrier de retour sous le plafond.</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836358314"/>
      </p:ext>
    </p:extLst>
  </p:cSld>
  <p:clrMapOvr>
    <a:masterClrMapping/>
  </p:clrMapOvr>
  <p:transition>
    <p:fade/>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frais de fonctionnement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charges de fonctionnement absorbent plus d'un tiers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des charges de fonctionnement 36,34 % (norme 20 %), brut 34,86 % (norme 15 %), par unité prestée 63,21 % (norme 15 %)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1.2.1.2.1 à 1.2.1.2.4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252500"/>
        </p:xfrm>
        <a:graphic>
          <a:graphicData uri="http://schemas.openxmlformats.org/drawingml/2006/table">
            <a:tbl>
              <a:tblPr firstRow="0" bandRow="0">
                <a:tableStyleId>{5940675A-B579-460E-94D1-54222C63F5DA}</a:tableStyleId>
              </a:tblPr>
              <a:tblGrid>
                <a:gridCol w="2592000"/>
                <a:gridCol w="2232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612, 613, 618, 62 à 68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1 241 993 107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norme : au plus 20 %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36,34 %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fonctionnement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61 à 68, 691, 697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1 285 659 785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Total des produits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liste de l'annexe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3 688 331 723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34,86 %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63,21 %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Charges de personnel / fonctionnement brut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66, norme : moins de 85 %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26,57 %</a:t>
                      </a:r>
                    </a:p>
                  </a:txBody>
                  <a:tcPr marL="43200" marR="43200" marT="14400" marB="14400" anchor="ctr">
                    <a:solidFill>
                      <a:srgbClr val="FFFFFF"/>
                    </a:solidFill>
                  </a:tcPr>
                </a:tc>
              </a:tr>
            </a:tbl>
          </a:graphicData>
        </a:graphic>
      </p:graphicFrame>
      <p:sp>
        <p:nvSpPr>
          <p:cNvPr id="33" name="Rounded Rectangle 32"/>
          <p:cNvSpPr/>
          <p:nvPr/>
        </p:nvSpPr>
        <p:spPr>
          <a:xfrm>
            <a:off x="5310000" y="2167228"/>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10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10000" y="32172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charges de fonctionnement représentent plus d'un tiers des cotisations.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Le taux brut dépasse aussi sa norme de 15 %.</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484084"/>
          </a:xfrm>
          <a:prstGeom prst="rect">
            <a:avLst/>
          </a:prstGeom>
          <a:noFill/>
        </p:spPr>
        <p:txBody>
          <a:bodyPr wrap="square" anchor="t" lIns="54000" rIns="54000"/>
          <a:lstStyle/>
          <a:p>
            <a:pPr algn="l"/>
            <a:r>
              <a:rPr sz="1200" b="0">
                <a:solidFill>
                  <a:srgbClr val="060606"/>
                </a:solidFill>
                <a:latin typeface="Helvetica"/>
              </a:rPr>
              <a:t>Le FPPN dépense 63 FCFA de fonctionnement pour 100 FCFA de prestations.</a:t>
            </a:r>
          </a:p>
        </p:txBody>
      </p:sp>
      <p:sp>
        <p:nvSpPr>
          <p:cNvPr id="45" name="TextBox 44"/>
          <p:cNvSpPr txBox="1"/>
          <p:nvPr/>
        </p:nvSpPr>
        <p:spPr>
          <a:xfrm>
            <a:off x="7272000" y="3156312"/>
            <a:ext cx="4464000" cy="2711687"/>
          </a:xfrm>
          <a:prstGeom prst="rect">
            <a:avLst/>
          </a:prstGeom>
          <a:noFill/>
        </p:spPr>
        <p:txBody>
          <a:bodyPr wrap="square" lIns="54000" rIns="54000"/>
          <a:lstStyle/>
          <a:p>
            <a:pPr algn="just">
              <a:spcAft>
                <a:spcPts val="600"/>
              </a:spcAft>
            </a:pPr>
            <a:r>
              <a:rPr sz="1200" b="1">
                <a:solidFill>
                  <a:srgbClr val="060606"/>
                </a:solidFill>
                <a:latin typeface="Helvetica"/>
              </a:rPr>
              <a:t>Le personnel n'explique pas l'écart.</a:t>
            </a:r>
            <a:r>
              <a:rPr sz="1200" b="0">
                <a:solidFill>
                  <a:srgbClr val="060606"/>
                </a:solidFill>
                <a:latin typeface="Helvetica"/>
              </a:rPr>
              <a:t> Les charges de personnel ne représentent qu'un quart des charges de fonctionnement brut. Les indemnités des organes, les services extérieurs et les amortissements pèsent ensemble davantage.</a:t>
            </a:r>
          </a:p>
          <a:p>
            <a:pPr algn="just">
              <a:spcAft>
                <a:spcPts val="600"/>
              </a:spcAft>
            </a:pPr>
            <a:r>
              <a:rPr sz="1200" b="0">
                <a:solidFill>
                  <a:srgbClr val="060606"/>
                </a:solidFill>
                <a:latin typeface="Helvetica"/>
              </a:rPr>
              <a:t>Pour atteindre 20 % des cotisations de 2025, les charges de fonctionnement doivent baisser de 558 364 763 FCFA : l'effort doit porter sur les postes autres que le personnel.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670683014"/>
      </p:ext>
    </p:extLst>
  </p:cSld>
  <p:clrMapOvr>
    <a:masterClrMapping/>
  </p:clrMapOvr>
  <p:transition>
    <p:fade/>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réserves des risques longs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réserve de trésorerie n'est constituée pour l'épargne, et les fonds propres sont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Besoin d'un trimestre d'engagements et de frais : 588 613 821 FCFA. Réserve de trésorerie constituée : 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Règlement d'exécution n° 004/2022/COM/UEMOA du 1er juin 2022, art. 19 et 21</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5999" cy="2194901"/>
        </p:xfrm>
        <a:graphic>
          <a:graphicData uri="http://schemas.openxmlformats.org/drawingml/2006/table">
            <a:tbl>
              <a:tblPr firstRow="0" bandRow="0">
                <a:tableStyleId>{5940675A-B579-460E-94D1-54222C63F5DA}</a:tableStyleId>
              </a:tblPr>
              <a:tblGrid>
                <a:gridCol w="2520000"/>
                <a:gridCol w="2520000"/>
                <a:gridCol w="165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Sorties d'épargne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débits 41195100 et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Frais attribués à l'épargne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prorata épargne / (épargne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995 634 179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Besoin d'un trimestre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(sorties + frais) / 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588 613 821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de trésorerie constituée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aucun compte identifié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Actifs réservés à l'épargne (pour comparaison)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banques, DAT et FCP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1 608 155 525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à 14 +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Sorties d'épargne 2024 et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art. 21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2 993 682 337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 / sorties de deux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moins 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bl>
          </a:graphicData>
        </a:graphic>
      </p:graphicFrame>
      <p:sp>
        <p:nvSpPr>
          <p:cNvPr id="33" name="Rounded Rectangle 32"/>
          <p:cNvSpPr/>
          <p:nvPr/>
        </p:nvSpPr>
        <p:spPr>
          <a:xfrm>
            <a:off x="5526000" y="2319638"/>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168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29647"/>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522096"/>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Le besoin d'un trimestre se calcule à partir des sorties réelles d'épargne.</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Aucun compte de réserve de trésorerie n'existe dans les balances.</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Les fonds propres négatifs rendent le ratio de l'article 21 négatif.</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Les actifs réservés à l'épargne dépassent le besoin d'un trimestre, mais ils ne forment pas une réserve.</a:t>
            </a:r>
            <a:r>
              <a:rPr sz="1200" b="0">
                <a:solidFill>
                  <a:srgbClr val="060606"/>
                </a:solidFill>
                <a:latin typeface="Helvetica"/>
              </a:rPr>
              <a:t> Une réserve est une part des fonds propres affectée, et les fonds propres du FPPN sont négatifs.</a:t>
            </a:r>
          </a:p>
          <a:p>
            <a:pPr algn="just">
              <a:spcAft>
                <a:spcPts val="600"/>
              </a:spcAft>
            </a:pPr>
            <a:r>
              <a:rPr sz="1200" b="0">
                <a:solidFill>
                  <a:srgbClr val="060606"/>
                </a:solidFill>
                <a:latin typeface="Helvetica"/>
              </a:rPr>
              <a:t>La constitution de cette réserve passe par l'affectation d'excédents futurs, après reconstitution des fonds propres : elle doit figurer dans le plan de mise en conformité.</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 | DAT : dépôt à terme</a:t>
            </a:r>
          </a:p>
        </p:txBody>
      </p:sp>
    </p:spTree>
    <p:extLst>
      <p:ext uri="{BB962C8B-B14F-4D97-AF65-F5344CB8AC3E}">
        <p14:creationId xmlns:p14="http://schemas.microsoft.com/office/powerpoint/2010/main" val="455098236"/>
      </p:ext>
    </p:extLst>
  </p:cSld>
  <p:clrMapOvr>
    <a:masterClrMapping/>
  </p:clrMapOvr>
  <p:transition>
    <p:fade/>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dit la norme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impose d'affecter à la réserve obligatoire au moins 30 % de l'excédent net du risque maladie et au moins 50 % de celui des autres risques (§ 1.1.1). Le règlement d'exécution fixe une dotation de 20 à 50 % du résultat excédentaire de l'exercice précédent (art. 18).</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qui nous y a conduits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global du FPPN est positif, mais la sinistralité maladie monte vite pendant que le décès reste très excédentaire (partie 5). Un excédent global peut donc cacher un déficit de la maladie, ce que la norme veut précisément rendre visible.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fait le FPPN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comptabilité sépare les cotisations et les prestations de chaque risque, mais pas les frais de fonctionnement. Adenka reprend d'abord la dotation réellement passée en réserve, telle que le FPPN l'a décidée.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Pourquoi répartir les frais</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L'excédent par risque est la différence entre les produits et toutes les charges affectées au risque (Décision, § 1.1.1). Sans clé fournie par le FPPN, Adenka répartit les frais au prorata des cotisations de chaque risque, la clé la plus neutre.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 : pourquoi le calculer</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norme d'affectation des excédents oblige à connaître le résultat de chaque risque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FPPN ne présente qu'un résultat global. Adenka reconstitue le résultat de la maladie et du décès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Règlement d'exécution n° 004/2022/COM/UEMOA du 1er juin 2022, art. 18.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581286310"/>
      </p:ext>
    </p:extLst>
  </p:cSld>
  <p:clrMapOvr>
    <a:masterClrMapping/>
  </p:clrMapOvr>
  <p:transition>
    <p:fade/>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2025, la maladie est déficitaire et le décès finance l'ensemble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maladie 2025 : -237 774 567 FCFA. Excédent décès 2025 : 449 151 155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35 : Excédent technique par risque, frais répartis au prorata des cotisations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Répartition des frais par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maladie devient déficitaire en 2025, une fois ses frais pris en compte.</a:t>
            </a:r>
            <a:r>
              <a:rPr sz="1400" b="0">
                <a:solidFill>
                  <a:srgbClr val="060606"/>
                </a:solidFill>
                <a:latin typeface="Helvetica"/>
              </a:rPr>
              <a:t> Son excédent passe de 818 990 532 FCFA en 2022 à -237 774 567 FCFA en 2025.</a:t>
            </a:r>
          </a:p>
          <a:p>
            <a:pPr algn="just">
              <a:spcAft>
                <a:spcPts val="600"/>
              </a:spcAft>
            </a:pPr>
            <a:r>
              <a:rPr sz="1400" b="1">
                <a:solidFill>
                  <a:srgbClr val="060606"/>
                </a:solidFill>
                <a:latin typeface="Helvetica"/>
              </a:rPr>
              <a:t>Le décès est excédentaire chaque année depuis 2022.</a:t>
            </a:r>
            <a:r>
              <a:rPr sz="1400" b="0">
                <a:solidFill>
                  <a:srgbClr val="060606"/>
                </a:solidFill>
                <a:latin typeface="Helvetica"/>
              </a:rPr>
              <a:t> Il dégage 449 151 155 FCFA en 2025.</a:t>
            </a:r>
          </a:p>
          <a:p>
            <a:pPr algn="just">
              <a:spcAft>
                <a:spcPts val="600"/>
              </a:spcAft>
            </a:pPr>
            <a:r>
              <a:rPr sz="1400" b="1">
                <a:solidFill>
                  <a:srgbClr val="060606"/>
                </a:solidFill>
                <a:latin typeface="Helvetica"/>
              </a:rPr>
              <a:t>Sur les huit mois de 2026, le déficit maladie atteint -701 679 552 FCFA.</a:t>
            </a:r>
          </a:p>
          <a:p>
            <a:pPr algn="just">
              <a:spcAft>
                <a:spcPts val="600"/>
              </a:spcAft>
            </a:pPr>
            <a:r>
              <a:rPr sz="1400" b="0">
                <a:solidFill>
                  <a:srgbClr val="060606"/>
                </a:solidFill>
                <a:latin typeface="Helvetica"/>
              </a:rPr>
              <a:t>Le décès subventionne la maladie : si le barème officiel confirme une clé de 70 % pour la maladie, la cotisation maladie ne couvre plus son coût complet et doit être revue.</a:t>
            </a:r>
          </a:p>
        </p:txBody>
      </p:sp>
      <p:sp>
        <p:nvSpPr>
          <p:cNvPr id="35" name="TextBox 34"/>
          <p:cNvSpPr txBox="1"/>
          <p:nvPr/>
        </p:nvSpPr>
        <p:spPr>
          <a:xfrm>
            <a:off x="503999" y="5382000"/>
            <a:ext cx="6552000" cy="450000"/>
          </a:xfrm>
          <a:prstGeom prst="rect">
            <a:avLst/>
          </a:prstGeom>
          <a:noFill/>
        </p:spPr>
        <p:txBody>
          <a:bodyPr wrap="square" anchor="t" lIns="54000" rIns="54000"/>
          <a:lstStyle/>
          <a:p>
            <a:pPr algn="l"/>
            <a:r>
              <a:rPr sz="850" b="0">
                <a:solidFill>
                  <a:srgbClr val="53565A"/>
                </a:solidFill>
                <a:latin typeface="Helvetica"/>
              </a:rPr>
              <a:t>Valable pour : comptes de prestations, de frais (61 à 66 hors 6518) et de cotisations (7010, 7021) des balances « BALANCE FORMAT EXCEL DE 09-2020 AU 31-12-2020.xlsx » à « BALANCE FPPN DU 01-01-2026 AU 31-08-2026.xlsx », 2020 à 2025. Frais répartis au prorata des cotisations (choix Adenka).</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861687807"/>
      </p:ext>
    </p:extLst>
  </p:cSld>
  <p:clrMapOvr>
    <a:masterClrMapping/>
  </p:clrMapOvr>
  <p:transition>
    <p:fade/>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Affectation des excédents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2024, la dotation à la réserve obligatoire atteint le minimum exigé par risque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Dotation de la réserve légale (compte 111) rapportée au résultat de l'exercice précédent, puis comparée aux deux normes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1.1.1. Règlement d'exécution n° 004/2022/COM/UEMOA du 1er juin 2022, art. 18</a:t>
            </a:r>
          </a:p>
        </p:txBody>
      </p:sp>
      <p:sp>
        <p:nvSpPr>
          <p:cNvPr id="31" name="TextBox 30"/>
          <p:cNvSpPr txBox="1"/>
          <p:nvPr/>
        </p:nvSpPr>
        <p:spPr>
          <a:xfrm>
            <a:off x="503999" y="1386000"/>
            <a:ext cx="10368000" cy="216000"/>
          </a:xfrm>
          <a:prstGeom prst="rect">
            <a:avLst/>
          </a:prstGeom>
          <a:noFill/>
        </p:spPr>
        <p:txBody>
          <a:bodyPr wrap="square" anchor="t" lIns="54000" rIns="54000"/>
          <a:lstStyle/>
          <a:p>
            <a:pPr algn="ctr"/>
            <a:r>
              <a:rPr sz="1200" b="0">
                <a:solidFill>
                  <a:srgbClr val="EFAC62"/>
                </a:solidFill>
                <a:latin typeface="Helvetica"/>
              </a:rPr>
              <a:t>Tableau 82 : Dotation de la réserve obligatoire et normes</a:t>
            </a:r>
          </a:p>
        </p:txBody>
      </p:sp>
      <p:graphicFrame>
        <p:nvGraphicFramePr>
          <p:cNvPr id="32" name="Table 31"/>
          <p:cNvGraphicFramePr>
            <a:graphicFrameLocks noGrp="1"/>
          </p:cNvGraphicFramePr>
          <p:nvPr/>
        </p:nvGraphicFramePr>
        <p:xfrm>
          <a:off x="503999" y="1655999"/>
          <a:ext cx="10368000" cy="992446"/>
        </p:xfrm>
        <a:graphic>
          <a:graphicData uri="http://schemas.openxmlformats.org/drawingml/2006/table">
            <a:tbl>
              <a:tblPr firstRow="0" bandRow="0">
                <a:tableStyleId>{5940675A-B579-460E-94D1-54222C63F5DA}</a:tableStyleId>
              </a:tblPr>
              <a:tblGrid>
                <a:gridCol w="1152000"/>
                <a:gridCol w="1800000"/>
                <a:gridCol w="1584000"/>
                <a:gridCol w="936000"/>
                <a:gridCol w="1584000"/>
                <a:gridCol w="1584000"/>
                <a:gridCol w="1728000"/>
              </a:tblGrid>
              <a:tr h="362419">
                <a:tc>
                  <a:txBody>
                    <a:bodyPr/>
                    <a:lstStyle/>
                    <a:p>
                      <a:pPr marL="0" indent="0" lvl="0">
                        <a:buNone/>
                      </a:pPr>
                      <a:r>
                        <a:rPr sz="1000" b="1">
                          <a:solidFill>
                            <a:srgbClr val="FFFFFF"/>
                          </a:solidFill>
                          <a:latin typeface="Helvetica"/>
                        </a:rPr>
                        <a:t>Affectation en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Résultat de l'exercice précédent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Dotation réelle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de 20 %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par risque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Écart au minimum par risque</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184 219 879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8,94 %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412 066 535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387 843 936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-203 624 057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930 629 102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335 026 477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36,00 %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186 125 820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320 983 343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14 043 134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300 986 463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38,00 %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158 413 928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300 300 308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686 155 FCFA</a:t>
                      </a:r>
                    </a:p>
                  </a:txBody>
                  <a:tcPr marL="43200" marR="43200" marT="14400" marB="14400" anchor="ctr">
                    <a:solidFill>
                      <a:srgbClr val="FFFFFF"/>
                    </a:solidFill>
                  </a:tcPr>
                </a:tc>
              </a:tr>
            </a:tbl>
          </a:graphicData>
        </a:graphic>
      </p:graphicFrame>
      <p:sp>
        <p:nvSpPr>
          <p:cNvPr id="33" name="TextBox 32"/>
          <p:cNvSpPr txBox="1"/>
          <p:nvPr/>
        </p:nvSpPr>
        <p:spPr>
          <a:xfrm>
            <a:off x="503999" y="2756448"/>
            <a:ext cx="11232000" cy="306000"/>
          </a:xfrm>
          <a:prstGeom prst="rect">
            <a:avLst/>
          </a:prstGeom>
          <a:noFill/>
        </p:spPr>
        <p:txBody>
          <a:bodyPr wrap="square" anchor="t" lIns="54000" rIns="54000"/>
          <a:lstStyle/>
          <a:p>
            <a:pPr algn="l"/>
            <a:r>
              <a:rPr sz="850" b="0">
                <a:solidFill>
                  <a:srgbClr val="53565A"/>
                </a:solidFill>
                <a:latin typeface="Helvetica"/>
              </a:rPr>
              <a:t>Valable pour : résultats et réserves (comptes 10 à 13) des balances « BALANCE FORMAT EXCEL DE 09-2020 AU 31-12-2020.xlsx » à « BALANCE FPPN DU 01-01-2026 AU 31-08-2026.xlsx », affectations de 2021 à 2025.</a:t>
            </a:r>
          </a:p>
        </p:txBody>
      </p:sp>
      <p:sp>
        <p:nvSpPr>
          <p:cNvPr id="34" name="TextBox 33"/>
          <p:cNvSpPr txBox="1"/>
          <p:nvPr/>
        </p:nvSpPr>
        <p:spPr>
          <a:xfrm>
            <a:off x="503999" y="3206448"/>
            <a:ext cx="11232000" cy="2661552"/>
          </a:xfrm>
          <a:prstGeom prst="rect">
            <a:avLst/>
          </a:prstGeom>
          <a:noFill/>
        </p:spPr>
        <p:txBody>
          <a:bodyPr wrap="square" lIns="54000" rIns="54000"/>
          <a:lstStyle/>
          <a:p>
            <a:pPr algn="just">
              <a:spcAft>
                <a:spcPts val="600"/>
              </a:spcAft>
            </a:pPr>
            <a:r>
              <a:rPr sz="1300" b="1">
                <a:solidFill>
                  <a:srgbClr val="060606"/>
                </a:solidFill>
                <a:latin typeface="Helvetica"/>
              </a:rPr>
              <a:t>La dotation passe de 8,94 % du résultat en 2023 à 38,00 % en 2025.</a:t>
            </a:r>
            <a:r>
              <a:rPr sz="1300" b="0">
                <a:solidFill>
                  <a:srgbClr val="060606"/>
                </a:solidFill>
                <a:latin typeface="Helvetica"/>
              </a:rPr>
              <a:t> En 2023, elle restait sous les deux minimums, pendant le délai de mise en conformité de trois ans.</a:t>
            </a:r>
          </a:p>
          <a:p>
            <a:pPr algn="just">
              <a:spcAft>
                <a:spcPts val="600"/>
              </a:spcAft>
            </a:pPr>
            <a:r>
              <a:rPr sz="1300" b="1">
                <a:solidFill>
                  <a:srgbClr val="060606"/>
                </a:solidFill>
                <a:latin typeface="Helvetica"/>
              </a:rPr>
              <a:t>En 2024, une partie des excédents a aussi servi à apurer les pertes reportées et à doter les réserves facultatives.</a:t>
            </a:r>
          </a:p>
          <a:p>
            <a:pPr algn="just">
              <a:spcAft>
                <a:spcPts val="600"/>
              </a:spcAft>
            </a:pPr>
            <a:r>
              <a:rPr sz="1300" b="0">
                <a:solidFill>
                  <a:srgbClr val="060606"/>
                </a:solidFill>
                <a:latin typeface="Helvetica"/>
              </a:rPr>
              <a:t>Le FPPN respecte désormais la règle d'affectation, mais la réserve reste sous six mois de prestations : la règle d'affectation seule ne suffit pas à rattraper le retard.</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787500695"/>
      </p:ext>
    </p:extLst>
  </p:cSld>
  <p:clrMapOvr>
    <a:masterClrMapping/>
  </p:clrMapOvr>
  <p:transition>
    <p:fade/>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Marge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disponible ne couvre la marge exigée que si l'on ignore les pertes reportées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marge exigée 566 209 845 FCFA, disponible 4 396 841 817 FCFA comme le FPPN, -438 242 200 FCFA nette des pertes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36 : Marge de solvabilité exigée et disponible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3600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Décision n° 05/2022/COM/UEMOA du 1er juin 2022, annexe, § 1.1.1. PCMS, fiche n° 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marge disponible comme le FPPN repose surtout sur le compte 10620000</a:t>
            </a:r>
            <a:r>
              <a:rPr sz="1400" b="0">
                <a:solidFill>
                  <a:srgbClr val="060606"/>
                </a:solidFill>
                <a:latin typeface="Helvetica"/>
              </a:rPr>
              <a:t> (2 899 400 000 FCFA). Le chef comptable l'explique par la réévaluation du terrain du siège, ce que son intitulé de 2020 à 2025 (« Réévaluation matériels ») ne contredit pas.</a:t>
            </a:r>
          </a:p>
          <a:p>
            <a:pPr algn="just">
              <a:spcAft>
                <a:spcPts val="600"/>
              </a:spcAft>
            </a:pPr>
            <a:r>
              <a:rPr sz="1400" b="1">
                <a:solidFill>
                  <a:srgbClr val="060606"/>
                </a:solidFill>
                <a:latin typeface="Helvetica"/>
              </a:rPr>
              <a:t>Nette des pertes reportées, la marge disponible est négative chaque année</a:t>
            </a:r>
            <a:r>
              <a:rPr sz="1400" b="0">
                <a:solidFill>
                  <a:srgbClr val="060606"/>
                </a:solidFill>
                <a:latin typeface="Helvetica"/>
              </a:rPr>
              <a:t>, même si elle se rapproche de zéro jusqu'en 2025.</a:t>
            </a:r>
          </a:p>
          <a:p>
            <a:pPr algn="just">
              <a:spcAft>
                <a:spcPts val="600"/>
              </a:spcAft>
            </a:pPr>
            <a:r>
              <a:rPr sz="1400" b="1">
                <a:solidFill>
                  <a:srgbClr val="060606"/>
                </a:solidFill>
                <a:latin typeface="Helvetica"/>
              </a:rPr>
              <a:t>La marge exigée augmente avec les cotisations</a:t>
            </a:r>
            <a:r>
              <a:rPr sz="1400" b="0">
                <a:solidFill>
                  <a:srgbClr val="060606"/>
                </a:solidFill>
                <a:latin typeface="Helvetica"/>
              </a:rPr>
              <a:t> : elle passe de 423 039 138 FCFA en 2021 à 615 265 510 FCFA en 2026.</a:t>
            </a:r>
          </a:p>
          <a:p>
            <a:pPr algn="just">
              <a:spcAft>
                <a:spcPts val="600"/>
              </a:spcAft>
            </a:pPr>
            <a:r>
              <a:rPr sz="1400" b="0">
                <a:solidFill>
                  <a:srgbClr val="060606"/>
                </a:solidFill>
                <a:latin typeface="Helvetica"/>
              </a:rPr>
              <a:t>Un écart de réévaluation ne compte pas dans la marge de solvabilité : la lecture retraitée, qui l'exclut, devient la lecture de référence, et le FPPN est non conforme. Le rapport de réévaluation reste à transmettre (PBC, item 86).</a:t>
            </a:r>
          </a:p>
        </p:txBody>
      </p:sp>
      <p:sp>
        <p:nvSpPr>
          <p:cNvPr id="35" name="TextBox 34"/>
          <p:cNvSpPr txBox="1"/>
          <p:nvPr/>
        </p:nvSpPr>
        <p:spPr>
          <a:xfrm>
            <a:off x="503999" y="5382000"/>
            <a:ext cx="5976000" cy="450000"/>
          </a:xfrm>
          <a:prstGeom prst="rect">
            <a:avLst/>
          </a:prstGeom>
          <a:noFill/>
        </p:spPr>
        <p:txBody>
          <a:bodyPr wrap="square" anchor="t" lIns="54000" rIns="54000"/>
          <a:lstStyle/>
          <a:p>
            <a:pPr algn="l"/>
            <a:r>
              <a:rPr sz="850" b="0">
                <a:solidFill>
                  <a:srgbClr val="53565A"/>
                </a:solidFill>
                <a:latin typeface="Helvetica"/>
              </a:rPr>
              <a:t>Valable pour : marge de la Décision n° 05/2022 (annexe, § 1.1.1) sur les balances « BALANCE FORMAT EXCEL DE 09-2020 AU 31-12-2020.xlsx » à « BALANCE FPPN DU 01-01-2026 AU 31-08-2026.xlsx », 2020 au 31/08/2026. Pertes reportées déduites ou non selon la lecture.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PBC : liste des documents demandés au client</a:t>
            </a:r>
          </a:p>
        </p:txBody>
      </p:sp>
    </p:spTree>
    <p:extLst>
      <p:ext uri="{BB962C8B-B14F-4D97-AF65-F5344CB8AC3E}">
        <p14:creationId xmlns:p14="http://schemas.microsoft.com/office/powerpoint/2010/main" val="2066675801"/>
      </p:ext>
    </p:extLst>
  </p:cSld>
  <p:clrMapOvr>
    <a:masterClrMapping/>
  </p:clrMapOvr>
  <p:transition>
    <p:fade/>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du plan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écarts au plan comptable touchent directement les calculs actuariels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Contrôle limité aux comptes qui alimentent les provisions, les réserves, l'épargne, les cotisations, les prestations et les placements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(mai 2012), liste des comptes et fiches n° 1, 2, 6 et 25. Balances du FPPN</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83 : Contrôle du classement des comptes selon le PCMS</a:t>
            </a:r>
          </a:p>
        </p:txBody>
      </p:sp>
      <p:graphicFrame>
        <p:nvGraphicFramePr>
          <p:cNvPr id="32" name="Table 31"/>
          <p:cNvGraphicFramePr>
            <a:graphicFrameLocks noGrp="1"/>
          </p:cNvGraphicFramePr>
          <p:nvPr/>
        </p:nvGraphicFramePr>
        <p:xfrm>
          <a:off x="503999" y="1655999"/>
          <a:ext cx="11231996" cy="3051760"/>
        </p:xfrm>
        <a:graphic>
          <a:graphicData uri="http://schemas.openxmlformats.org/drawingml/2006/table">
            <a:tbl>
              <a:tblPr firstRow="0" bandRow="0">
                <a:tableStyleId>{5940675A-B579-460E-94D1-54222C63F5DA}</a:tableStyleId>
              </a:tblPr>
              <a:tblGrid>
                <a:gridCol w="1655999"/>
                <a:gridCol w="2951999"/>
                <a:gridCol w="3311999"/>
                <a:gridCol w="3311999"/>
              </a:tblGrid>
              <a:tr h="187148">
                <a:tc>
                  <a:txBody>
                    <a:bodyPr/>
                    <a:lstStyle/>
                    <a:p>
                      <a:pPr marL="0" indent="0" lvl="0">
                        <a:buNone/>
                      </a:pPr>
                      <a:r>
                        <a:rPr sz="85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Attendu selon le PCMS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Incidence</a:t>
                      </a:r>
                    </a:p>
                  </a:txBody>
                  <a:tcPr marL="43200" marR="43200" marT="14400" marB="14400" anchor="ctr">
                    <a:solidFill>
                      <a:srgbClr val="060606"/>
                    </a:solidFill>
                  </a:tcPr>
                </a:tc>
              </a:tr>
              <a:tr h="575792">
                <a:tc>
                  <a:txBody>
                    <a:bodyPr/>
                    <a:lstStyle/>
                    <a:p>
                      <a:pPr marL="0" indent="0" lvl="0">
                        <a:buNone/>
                      </a:pPr>
                      <a:r>
                        <a:rPr sz="850" b="1">
                          <a:solidFill>
                            <a:srgbClr val="060606"/>
                          </a:solidFill>
                          <a:latin typeface="Helvetica"/>
                        </a:rPr>
                        <a:t>Provisions pour prestations à payer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19011 et 19012 (classe 19, provisions techniques). La rubrique 15 est réservée aux provisions réglementées à caractère fiscal.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Conforme de 2020 à 2023. Depuis 2024, les provisions techniques sont classées en provisions réglementées (158), sans changement de montant.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sur les montants. Les provisions techniques n'apparaissent plus comme telles dans le bilan, ce qui gêne leur lecture et le contrôle de l'article 7 du règlement d'exécution.</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106 = écarts de réévaluation des immeubles (fonds mutualistes). Les réserves vont en 11.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Libellé et rubrique ne concordent pas. L'origine du montant (réévaluation ou excédents mis en réserve) n'est pas documentée.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montant compte ou non dans la marge de solvabilité selon sa nature : à confirmer par le FPPN.</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Réserves légales et facultatives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111 réserves légales, 118 autres réserves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Conforme.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Base du ratio de réserve obligatoire et de la marge de solvabilité.</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Épargne des adhérents (PEP, EFC)</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41195 « Autres comptes créditeurs des adhérents » (classe 4, tiers).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Compte conforme au PCMS. Le PCMS ne prévoit pas de compte propre aux risques longs. Le règlement d'exécution exige des états financiers par risque long (art. 13).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Classée en dette à court terme, l'épargne pèse sur les ratios de liquidité. Son échéance réelle reste à établir avec les âges.</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Avances au CMP, au Grenier et créance sur l'Hôpital de la Police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471 = comptes d'attente débiteurs (opérations à régulariser). Les prêts et placements durables relèvent des classes 26 et 27.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Des emplois durables de 11 603 989 675 FCFA au 31/08/2026 sont suivis en comptes d'attente ou de tiers.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Ils sont comptés en court terme dans les ratios de liquidité et absents des emplois longs du ratio d'équilibre stable.</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Cotisations et prestations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701 maladie, 702 décès. 601 maladie, 602 obsèques, 608 autres prestations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Conforme.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Base de la sinistralité réglementaire.</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Primes, indemnités et supplément familial du personnel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641 = impôts et taxes sur salaires. Les rémunérations relèvent de 66.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Ces montants sont classés en impôts et taxes.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Faible (moins de 8 000 000 FCFA par an) : le taux de charges de personnel est légèrement sous-estimé.</a:t>
                      </a:r>
                    </a:p>
                  </a:txBody>
                  <a:tcPr marL="43200" marR="43200" marT="14400" marB="14400" anchor="ctr">
                    <a:solidFill>
                      <a:srgbClr val="FFFFFF"/>
                    </a:solidFill>
                  </a:tcPr>
                </a:tc>
              </a:tr>
            </a:tbl>
          </a:graphicData>
        </a:graphic>
      </p:graphicFrame>
      <p:sp>
        <p:nvSpPr>
          <p:cNvPr id="33" name="TextBox 32"/>
          <p:cNvSpPr txBox="1"/>
          <p:nvPr/>
        </p:nvSpPr>
        <p:spPr>
          <a:xfrm>
            <a:off x="503999" y="4815763"/>
            <a:ext cx="11232000" cy="306000"/>
          </a:xfrm>
          <a:prstGeom prst="rect">
            <a:avLst/>
          </a:prstGeom>
          <a:noFill/>
        </p:spPr>
        <p:txBody>
          <a:bodyPr wrap="square" anchor="t" lIns="54000" rIns="54000"/>
          <a:lstStyle/>
          <a:p>
            <a:pPr algn="l"/>
            <a:r>
              <a:rPr sz="850" b="0">
                <a:solidFill>
                  <a:srgbClr val="53565A"/>
                </a:solidFill>
                <a:latin typeface="Helvetica"/>
              </a:rPr>
              <a:t>Valable pour : comptes des balances « BALANCE FORMAT EXCEL DE 09-2020 AU 31-12-2020.xlsx » à « BALANCE FPPN DU 01-01-2026 AU 31-08-2026.xlsx » comparés à la liste des comptes du PCMS (mai 2012, fiches 1, 2, 6 et 25).</a:t>
            </a:r>
          </a:p>
        </p:txBody>
      </p:sp>
      <p:sp>
        <p:nvSpPr>
          <p:cNvPr id="34" name="TextBox 33"/>
          <p:cNvSpPr txBox="1"/>
          <p:nvPr/>
        </p:nvSpPr>
        <p:spPr>
          <a:xfrm>
            <a:off x="503999" y="5265763"/>
            <a:ext cx="11232000" cy="602236"/>
          </a:xfrm>
          <a:prstGeom prst="rect">
            <a:avLst/>
          </a:prstGeom>
          <a:noFill/>
        </p:spPr>
        <p:txBody>
          <a:bodyPr wrap="square" lIns="54000" rIns="54000"/>
          <a:lstStyle/>
          <a:p>
            <a:pPr algn="just">
              <a:spcAft>
                <a:spcPts val="600"/>
              </a:spcAft>
            </a:pPr>
            <a:r>
              <a:rPr sz="1300" b="1">
                <a:solidFill>
                  <a:srgbClr val="060606"/>
                </a:solidFill>
                <a:latin typeface="Helvetica"/>
              </a:rPr>
              <a:t>Le reclassement des provisions techniques en provisions réglementées depuis 2024 et l'usage du compte 106 sont les deux écarts qui changent la lecture du bilan.</a:t>
            </a:r>
            <a:r>
              <a:rPr sz="1300" b="0">
                <a:solidFill>
                  <a:srgbClr val="060606"/>
                </a:solidFill>
                <a:latin typeface="Helvetica"/>
              </a:rPr>
              <a:t> Les autres comptes suivent le plan comptable.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PEP : Plan Épargne Plus | EFC : entraide fin de carrière | CMP : Centre Médical du Policier (rapport de gestion 2023)</a:t>
            </a:r>
          </a:p>
        </p:txBody>
      </p:sp>
    </p:spTree>
    <p:extLst>
      <p:ext uri="{BB962C8B-B14F-4D97-AF65-F5344CB8AC3E}">
        <p14:creationId xmlns:p14="http://schemas.microsoft.com/office/powerpoint/2010/main" val="1892821429"/>
      </p:ext>
    </p:extLst>
  </p:cSld>
  <p:clrMapOvr>
    <a:masterClrMapping/>
  </p:clrMapOvr>
  <p:transition>
    <p:fade/>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Exigences non chiffrées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Plusieurs obligations du règlement d'exécution ne se mesurent pas par un ratio</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obligation est comparée aux pièces disponibles. Plusieurs restent à documenter par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Règlement n° 07/2009/CM/UEMOA du 26 juin 2009. Documents reçus le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84 : Exigences non chiffrées et situation du FPPN</a:t>
            </a:r>
          </a:p>
        </p:txBody>
      </p:sp>
      <p:graphicFrame>
        <p:nvGraphicFramePr>
          <p:cNvPr id="32" name="Table 31"/>
          <p:cNvGraphicFramePr>
            <a:graphicFrameLocks noGrp="1"/>
          </p:cNvGraphicFramePr>
          <p:nvPr/>
        </p:nvGraphicFramePr>
        <p:xfrm>
          <a:off x="503999" y="1655999"/>
          <a:ext cx="11232000" cy="2301588"/>
        </p:xfrm>
        <a:graphic>
          <a:graphicData uri="http://schemas.openxmlformats.org/drawingml/2006/table">
            <a:tbl>
              <a:tblPr firstRow="0" bandRow="0">
                <a:tableStyleId>{5940675A-B579-460E-94D1-54222C63F5DA}</a:tableStyleId>
              </a:tblPr>
              <a:tblGrid>
                <a:gridCol w="3456000"/>
                <a:gridCol w="2232000"/>
                <a:gridCol w="5544000"/>
              </a:tblGrid>
              <a:tr h="194768">
                <a:tc>
                  <a:txBody>
                    <a:bodyPr/>
                    <a:lstStyle/>
                    <a:p>
                      <a:pPr marL="0" indent="0" lvl="0">
                        <a:buNone/>
                      </a:pPr>
                      <a:r>
                        <a:rPr sz="900" b="1">
                          <a:solidFill>
                            <a:srgbClr val="FFFFFF"/>
                          </a:solidFill>
                          <a:latin typeface="Helvetica"/>
                        </a:rPr>
                        <a:t>Exigence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constatée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Provisions techniques suffisantes à tout moment, calculées dossier par dossier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7 à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identique de 2020 à 2026 : la provision n'est pas recalculée (partie 9).</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Comptes certifiés par un commissaire aux comptes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rapport de commissaire aux comptes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États financiers propres à chaque 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balances ne séparent pas l'EFC et le PEP en états distincts.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Étude actuarielle tous les cinq ans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étude antérieure n'a été transmise. La présente mission peut y contribuer.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Cantonnement des patrimoines entre risques courts et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comptes bancaires réservés existent, mais ils couvrent seulement 16,28 % de l'épargne.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Placements sûrs, rentables, liquides et diversifiés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décision ministérielle qui fixe ces conditions n'a pas été transmise.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Pertes des activités sanitaires non couvertes par les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FPPN finance des charges de fonctionnement « au CMP » sans comptabilité séparée transmise.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Adhésion et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n° 07/2009, art. 63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du fonds de garantie n'apparaît dans les balances.</a:t>
                      </a:r>
                    </a:p>
                  </a:txBody>
                  <a:tcPr marL="43200" marR="43200" marT="14400" marB="14400" anchor="ctr">
                    <a:solidFill>
                      <a:srgbClr val="F2F2F2"/>
                    </a:solidFill>
                  </a:tcPr>
                </a:tc>
              </a:tr>
            </a:tbl>
          </a:graphicData>
        </a:graphic>
      </p:graphicFrame>
      <p:sp>
        <p:nvSpPr>
          <p:cNvPr id="33" name="TextBox 32"/>
          <p:cNvSpPr txBox="1"/>
          <p:nvPr/>
        </p:nvSpPr>
        <p:spPr>
          <a:xfrm>
            <a:off x="503999" y="4065592"/>
            <a:ext cx="11232000" cy="162000"/>
          </a:xfrm>
          <a:prstGeom prst="rect">
            <a:avLst/>
          </a:prstGeom>
          <a:noFill/>
        </p:spPr>
        <p:txBody>
          <a:bodyPr wrap="square" anchor="t" lIns="54000" rIns="54000"/>
          <a:lstStyle/>
          <a:p>
            <a:pPr algn="l"/>
            <a:r>
              <a:rPr sz="850" b="0">
                <a:solidFill>
                  <a:srgbClr val="53565A"/>
                </a:solidFill>
                <a:latin typeface="Helvetica"/>
              </a:rPr>
              <a:t>Valable pour : exigences des textes cités confrontées aux documents reçus jusqu'au 22/10/2026.</a:t>
            </a:r>
          </a:p>
        </p:txBody>
      </p:sp>
      <p:sp>
        <p:nvSpPr>
          <p:cNvPr id="34" name="TextBox 33"/>
          <p:cNvSpPr txBox="1"/>
          <p:nvPr/>
        </p:nvSpPr>
        <p:spPr>
          <a:xfrm>
            <a:off x="503999" y="4371592"/>
            <a:ext cx="11232000" cy="1496407"/>
          </a:xfrm>
          <a:prstGeom prst="rect">
            <a:avLst/>
          </a:prstGeom>
          <a:noFill/>
        </p:spPr>
        <p:txBody>
          <a:bodyPr wrap="square" lIns="54000" rIns="54000"/>
          <a:lstStyle/>
          <a:p>
            <a:pPr algn="just">
              <a:spcAft>
                <a:spcPts val="600"/>
              </a:spcAft>
            </a:pPr>
            <a:r>
              <a:rPr sz="1300" b="1">
                <a:solidFill>
                  <a:srgbClr val="060606"/>
                </a:solidFill>
                <a:latin typeface="Helvetica"/>
              </a:rPr>
              <a:t>Les exigences propres aux risques longs ne sont pas documentées.</a:t>
            </a:r>
            <a:r>
              <a:rPr sz="1300" b="0">
                <a:solidFill>
                  <a:srgbClr val="060606"/>
                </a:solidFill>
                <a:latin typeface="Helvetica"/>
              </a:rPr>
              <a:t> Elles découlent pourtant directement de la gestion de l'EFC et du PEP.</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CMP : Centre Médical du Policier (rapport de gestion 2023)</a:t>
            </a:r>
          </a:p>
        </p:txBody>
      </p:sp>
    </p:spTree>
    <p:extLst>
      <p:ext uri="{BB962C8B-B14F-4D97-AF65-F5344CB8AC3E}">
        <p14:creationId xmlns:p14="http://schemas.microsoft.com/office/powerpoint/2010/main" val="2283932597"/>
      </p:ext>
    </p:extLst>
  </p:cSld>
  <p:clrMapOvr>
    <a:masterClrMapping/>
  </p:clrMapOvr>
  <p:transition>
    <p:fade/>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Exposition aux sanctions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non-respect des règles prudentielles expose le FPPN à des sanctions graduées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l'arrêté n° 00115/MEPS/CAB du 12/12/2023 pour une mutuelle de plus de 10 000 000 FCFA de cotisations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00115/MEPS/CAB du 12/12/2023, annexe. Règlement n° 07/2009/CM/UEMOA du 26 juin 2009, art. 83 et 84. Règlement d'exécution n° 004/2022/COM/UEMOA du 1er juin 2022, art. 38 à 41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85 : Manquements liés aux constats du rapport et sanctions prévues</a:t>
            </a:r>
          </a:p>
        </p:txBody>
      </p:sp>
      <p:graphicFrame>
        <p:nvGraphicFramePr>
          <p:cNvPr id="32" name="Table 31"/>
          <p:cNvGraphicFramePr>
            <a:graphicFrameLocks noGrp="1"/>
          </p:cNvGraphicFramePr>
          <p:nvPr/>
        </p:nvGraphicFramePr>
        <p:xfrm>
          <a:off x="503999" y="1655999"/>
          <a:ext cx="11231999" cy="1602085"/>
        </p:xfrm>
        <a:graphic>
          <a:graphicData uri="http://schemas.openxmlformats.org/drawingml/2006/table">
            <a:tbl>
              <a:tblPr firstRow="0" bandRow="0">
                <a:tableStyleId>{5940675A-B579-460E-94D1-54222C63F5DA}</a:tableStyleId>
              </a:tblPr>
              <a:tblGrid>
                <a:gridCol w="3600000"/>
                <a:gridCol w="1224000"/>
                <a:gridCol w="3671999"/>
                <a:gridCol w="2736000"/>
              </a:tblGrid>
              <a:tr h="362419">
                <a:tc>
                  <a:txBody>
                    <a:bodyPr/>
                    <a:lstStyle/>
                    <a:p>
                      <a:pPr marL="0" indent="0" lvl="0">
                        <a:buNone/>
                      </a:pPr>
                      <a:r>
                        <a:rPr sz="1000" b="1">
                          <a:solidFill>
                            <a:srgbClr val="FFFFFF"/>
                          </a:solidFill>
                          <a:latin typeface="Helvetica"/>
                        </a:rPr>
                        <a:t>Manquement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 de l'arrêté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Sanction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Peine pécuniaire</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Non-respect des règles comptables et prudentielles durant un exercice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Avertissement, injonction de régularisation, suspension des dirigeants ou suspension provisoire de l'agrément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Défaut d'adhésion ou de versement au fonds national de garantie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Mêmes sanctions que la ligne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Non-respect des règles prudentielles sur deux exercices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Retrait de l'agrément (règlement n° 07/2009, art. 84)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3 000 000 FCFA</a:t>
                      </a:r>
                    </a:p>
                  </a:txBody>
                  <a:tcPr marL="43200" marR="43200" marT="14400" marB="14400" anchor="ctr">
                    <a:solidFill>
                      <a:srgbClr val="FFFFFF"/>
                    </a:solidFill>
                  </a:tcPr>
                </a:tc>
              </a:tr>
            </a:tbl>
          </a:graphicData>
        </a:graphic>
      </p:graphicFrame>
      <p:sp>
        <p:nvSpPr>
          <p:cNvPr id="33" name="TextBox 32"/>
          <p:cNvSpPr txBox="1"/>
          <p:nvPr/>
        </p:nvSpPr>
        <p:spPr>
          <a:xfrm>
            <a:off x="503999" y="3366086"/>
            <a:ext cx="11232000" cy="162000"/>
          </a:xfrm>
          <a:prstGeom prst="rect">
            <a:avLst/>
          </a:prstGeom>
          <a:noFill/>
        </p:spPr>
        <p:txBody>
          <a:bodyPr wrap="square" anchor="t" lIns="54000" rIns="54000"/>
          <a:lstStyle/>
          <a:p>
            <a:pPr algn="l"/>
            <a:r>
              <a:rPr sz="850" b="0">
                <a:solidFill>
                  <a:srgbClr val="53565A"/>
                </a:solidFill>
                <a:latin typeface="Helvetica"/>
              </a:rPr>
              <a:t>Valable pour : sanctions de l'arrêté n° 00115/MEPS/CAB du 12/12/2023 et du règlement n° 07/2009 rapprochées des constats du rapport. Ne vaut pas avis juridique.</a:t>
            </a:r>
          </a:p>
        </p:txBody>
      </p:sp>
      <p:sp>
        <p:nvSpPr>
          <p:cNvPr id="34" name="TextBox 33"/>
          <p:cNvSpPr txBox="1"/>
          <p:nvPr/>
        </p:nvSpPr>
        <p:spPr>
          <a:xfrm>
            <a:off x="503999" y="3672086"/>
            <a:ext cx="11232000" cy="2195913"/>
          </a:xfrm>
          <a:prstGeom prst="rect">
            <a:avLst/>
          </a:prstGeom>
          <a:noFill/>
        </p:spPr>
        <p:txBody>
          <a:bodyPr wrap="square" lIns="54000" rIns="54000"/>
          <a:lstStyle/>
          <a:p>
            <a:pPr algn="just">
              <a:spcAft>
                <a:spcPts val="600"/>
              </a:spcAft>
            </a:pPr>
            <a:r>
              <a:rPr sz="1300" b="1">
                <a:solidFill>
                  <a:srgbClr val="060606"/>
                </a:solidFill>
                <a:latin typeface="Helvetica"/>
              </a:rPr>
              <a:t>Les peines pécuniaires sont faibles. La sanction lourde est le retrait d'agrément.</a:t>
            </a:r>
            <a:r>
              <a:rPr sz="1300" b="0">
                <a:solidFill>
                  <a:srgbClr val="060606"/>
                </a:solidFill>
                <a:latin typeface="Helvetica"/>
              </a:rPr>
              <a:t> Celui-ci emporte la dissolution de la mutuelle dès sa publication au Journal officiel (règlement n° 07/2009, art. 84).</a:t>
            </a:r>
          </a:p>
          <a:p>
            <a:pPr algn="just">
              <a:spcAft>
                <a:spcPts val="600"/>
              </a:spcAft>
            </a:pPr>
            <a:r>
              <a:rPr sz="1300" b="0">
                <a:solidFill>
                  <a:srgbClr val="060606"/>
                </a:solidFill>
                <a:latin typeface="Helvetica"/>
              </a:rPr>
              <a:t>Un plan de mise en conformité daté et chiffré, présenté à l'AIRMS, est le meilleur moyen de démontrer la volonté de régularisation et d'éviter les sanctions les plus lourdes.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S/C : prestations / cotisations | MEPS : ministère de l'Emploi et de la Protection sociale</a:t>
            </a:r>
          </a:p>
        </p:txBody>
      </p:sp>
    </p:spTree>
    <p:extLst>
      <p:ext uri="{BB962C8B-B14F-4D97-AF65-F5344CB8AC3E}">
        <p14:creationId xmlns:p14="http://schemas.microsoft.com/office/powerpoint/2010/main" val="2071319613"/>
      </p:ext>
    </p:extLst>
  </p:cSld>
  <p:clrMapOvr>
    <a:masterClrMapping/>
  </p:clrMapOvr>
  <p:transition>
    <p:fade/>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respecte les ratios d'activité courante, mais pas ceux de réserves, de fonds propres, de liquidité et de frais.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réserve obligatoire couvre 5,01 mois de prestations, les fonds propres et assimilés 0,22 fois les dettes, et les frais 36,34 %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Des non-conformités répétées exposent le FPPN au retrait d'agrément prévu par l'article 84 du règlement n° 07/2009.</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présenter à l'AIRMS un plan de mise en conformité daté, et documenter le compte 106, le fonds de garantie et l'échéancier de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conformité prudentielle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normes de solidité financière de l'UEMOA ne sont pas respectées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14 ratios non conformes sur 36, souvent plusieurs années de suite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2398052554"/>
      </p:ext>
    </p:extLst>
  </p:cSld>
  <p:clrMapOvr>
    <a:masterClrMapping/>
  </p:clrMapOvr>
  <p:transition>
    <p:fade/>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de sensibilité : méthode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étapes, chacune appuyée sur un texte ou une norme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montants à combler viennent de la formule du texte inversée. Les leviers viennent des statuts et des textes UEMOA. Tout est recalculé par formules dans le classeur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Association Actuarielle Internationale, ISAP 1 (adoptée le 01/12/2018), § 2.7.7. IAS 19 révisée, § 145. IFRS 17, § 128 et 129. IFRS 7, § 40. Textes cités. Classeur des calculs, onglet 13a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86 : Étapes des analyses de sensibilité et références</a:t>
            </a:r>
          </a:p>
        </p:txBody>
      </p:sp>
      <p:graphicFrame>
        <p:nvGraphicFramePr>
          <p:cNvPr id="32" name="Table 31"/>
          <p:cNvGraphicFramePr>
            <a:graphicFrameLocks noGrp="1"/>
          </p:cNvGraphicFramePr>
          <p:nvPr/>
        </p:nvGraphicFramePr>
        <p:xfrm>
          <a:off x="503999" y="1655999"/>
          <a:ext cx="11231999" cy="2371591"/>
        </p:xfrm>
        <a:graphic>
          <a:graphicData uri="http://schemas.openxmlformats.org/drawingml/2006/table">
            <a:tbl>
              <a:tblPr firstRow="0" bandRow="0">
                <a:tableStyleId>{5940675A-B579-460E-94D1-54222C63F5DA}</a:tableStyleId>
              </a:tblPr>
              <a:tblGrid>
                <a:gridCol w="1512000"/>
                <a:gridCol w="6768000"/>
                <a:gridCol w="2951999"/>
              </a:tblGrid>
              <a:tr h="180000">
                <a:tc>
                  <a:txBody>
                    <a:bodyPr/>
                    <a:lstStyle/>
                    <a:p>
                      <a:pPr marL="0" indent="0" lvl="0">
                        <a:buNone/>
                      </a:pPr>
                      <a:r>
                        <a:rPr sz="75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Ce qui est fait</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Référence</a:t>
                      </a:r>
                    </a:p>
                  </a:txBody>
                  <a:tcPr marL="43200" marR="43200" marT="14400" marB="14400" anchor="ctr">
                    <a:solidFill>
                      <a:srgbClr val="060606"/>
                    </a:solidFill>
                  </a:tcPr>
                </a:tc>
              </a:tr>
              <a:tr h="286214">
                <a:tc>
                  <a:txBody>
                    <a:bodyPr/>
                    <a:lstStyle/>
                    <a:p>
                      <a:pPr marL="0" indent="0" lvl="0">
                        <a:buNone/>
                      </a:pPr>
                      <a:r>
                        <a:rPr sz="750" b="1">
                          <a:solidFill>
                            <a:srgbClr val="060606"/>
                          </a:solidFill>
                          <a:latin typeface="Helvetica"/>
                        </a:rPr>
                        <a:t>1. Données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Numérateurs et dénominateurs des ratios, recalculés depuis les balances de 2020 au 31/08/2026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Décision n° 05/2022/COM/UEMOA du 1er juin 2022, annexe, tableaux 1 et 2</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2. Statut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Conforme si la valeur respecte la borne du texte. Un excédent ou des ressources longues négatifs sont non conformes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Décision n° 05/2022/COM/UEMOA du 1er juin 2022, annexe</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3. Qualification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 : non conforme toutes les années mesurées. Récurrent : au moins deux exercices de 2022 à 2025</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Règlement n° 07/2009/CM/UEMOA du 26 juin 2009, art. 83 et 84. Arrêté n° 00115/MEPS/CAB, ligne 13</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4. Montant à combler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Montant qui ramène le ratio sur la borne la plus proche, les autres termes restant inchangés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Décision n° 05/2022/COM/UEMOA du 1er juin 2022, annexe (formule inversée)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5. Facteurs récurrents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Regroupement des ratios par comptes qui expliquent l'écart chaque année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Balances du FPPN. PCMS</a:t>
                      </a:r>
                    </a:p>
                  </a:txBody>
                  <a:tcPr marL="43200" marR="43200" marT="14400" marB="14400" anchor="ctr">
                    <a:solidFill>
                      <a:srgbClr val="FFFFFF"/>
                    </a:solidFill>
                  </a:tcPr>
                </a:tc>
              </a:tr>
              <a:tr h="400521">
                <a:tc>
                  <a:txBody>
                    <a:bodyPr/>
                    <a:lstStyle/>
                    <a:p>
                      <a:pPr marL="0" indent="0" lvl="0">
                        <a:buNone/>
                      </a:pPr>
                      <a:r>
                        <a:rPr sz="750" b="1">
                          <a:solidFill>
                            <a:srgbClr val="060606"/>
                          </a:solidFill>
                          <a:latin typeface="Helvetica"/>
                        </a:rPr>
                        <a:t>6. Leviers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Montant d'équilibre de chaque levier, et effet d'un choc de 100 000 000 FCFA enregistré en partie double, une hypothèse à la fois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Statuts, art. 17, 79, 81, 85, 90 et 93. Règlement d'exécution n° 004/2022/COM/UEMOA du 1er juin 2022, art. 16, 17, 19 et 21. IAS 19, § 145</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7. Faisabilité conjointe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Démonstration algébrique : les normes de flux peuvent-elles être respectées ensemble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Décision n° 05/2022/COM/UEMOA du 1er juin 2022, annexe, tableau 1, lignes 2 et 5. Tableau 2, lignes 5 et 10</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8. Inflation et rendement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Sous-indices de prix de la santé pondérés par les prestations du FPPN. Rendement comparé aux taux du marché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ANStat (IHPC). BCEAO, Rapport sur la Politique Monétaire, mars 2026, tableaux 12, 17 et 22. Investing.com</a:t>
                      </a:r>
                    </a:p>
                  </a:txBody>
                  <a:tcPr marL="43200" marR="43200" marT="14400" marB="14400" anchor="ctr">
                    <a:solidFill>
                      <a:srgbClr val="F2F2F2"/>
                    </a:solidFill>
                  </a:tcPr>
                </a:tc>
              </a:tr>
            </a:tbl>
          </a:graphicData>
        </a:graphic>
      </p:graphicFrame>
      <p:sp>
        <p:nvSpPr>
          <p:cNvPr id="33" name="TextBox 32"/>
          <p:cNvSpPr txBox="1"/>
          <p:nvPr/>
        </p:nvSpPr>
        <p:spPr>
          <a:xfrm>
            <a:off x="503999" y="4135593"/>
            <a:ext cx="11232000" cy="162000"/>
          </a:xfrm>
          <a:prstGeom prst="rect">
            <a:avLst/>
          </a:prstGeom>
          <a:noFill/>
        </p:spPr>
        <p:txBody>
          <a:bodyPr wrap="square" anchor="t" lIns="54000" rIns="54000"/>
          <a:lstStyle/>
          <a:p>
            <a:pPr algn="l"/>
            <a:r>
              <a:rPr sz="850" b="0">
                <a:solidFill>
                  <a:srgbClr val="53565A"/>
                </a:solidFill>
                <a:latin typeface="Helvetica"/>
              </a:rPr>
              <a:t>Valable pour : méthode appliquée dans les classeur des calculs, onglets 13a à 13i. Références ISAP 1, IAS 19, IFRS 17 et IFRS 7.</a:t>
            </a:r>
          </a:p>
        </p:txBody>
      </p:sp>
      <p:sp>
        <p:nvSpPr>
          <p:cNvPr id="34" name="TextBox 33"/>
          <p:cNvSpPr txBox="1"/>
          <p:nvPr/>
        </p:nvSpPr>
        <p:spPr>
          <a:xfrm>
            <a:off x="503999" y="4441593"/>
            <a:ext cx="11232000" cy="1426406"/>
          </a:xfrm>
          <a:prstGeom prst="rect">
            <a:avLst/>
          </a:prstGeom>
          <a:noFill/>
        </p:spPr>
        <p:txBody>
          <a:bodyPr wrap="square" lIns="54000" rIns="54000"/>
          <a:lstStyle/>
          <a:p>
            <a:pPr algn="just">
              <a:spcAft>
                <a:spcPts val="600"/>
              </a:spcAft>
            </a:pPr>
            <a:r>
              <a:rPr sz="1300" b="1">
                <a:solidFill>
                  <a:srgbClr val="060606"/>
                </a:solidFill>
                <a:latin typeface="Helvetica"/>
              </a:rPr>
              <a:t>La démarche suit la norme internationale de pratique actuarielle ISAP 1 (§ 2.7.7) : l'actuaire examine la sensibilité des résultats aux variations des hypothèses clés.</a:t>
            </a:r>
            <a:r>
              <a:rPr sz="1300" b="0">
                <a:solidFill>
                  <a:srgbClr val="060606"/>
                </a:solidFill>
                <a:latin typeface="Helvetica"/>
              </a:rPr>
              <a:t> Les normes IAS 19 (§ 145) et IFRS 17 (§ 128) fixent la présentation : une hypothèse à la fois, changements raisonnablement possibles, méthode et limites décrites.</a:t>
            </a:r>
          </a:p>
          <a:p>
            <a:pPr algn="just">
              <a:spcAft>
                <a:spcPts val="600"/>
              </a:spcAft>
            </a:pPr>
            <a:r>
              <a:rPr sz="1300" b="0">
                <a:solidFill>
                  <a:srgbClr val="060606"/>
                </a:solidFill>
                <a:latin typeface="Helvetica"/>
              </a:rPr>
              <a:t>Les normes ISAP 1, IAS 19 et IFRS 17 sont des références de bonne pratique, retenues pour la méthode. Elles ne sont pas opposables au FPPN. Les textes UEMOA et les statuts, eux, le sont.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S/C : prestations / cotisations | MEPS : ministère de l'Emploi et de la Protection sociale | ANStat : Agence nationale de la statistique de Côte d'Ivoire | IHPC : indice harmonisé des prix à la consommation | ISAP : norme internationale de pratique actuarielle de l'Association Actuarielle Internationale | IAS, IFRS : normes comptables internationales</a:t>
            </a:r>
          </a:p>
        </p:txBody>
      </p:sp>
    </p:spTree>
    <p:extLst>
      <p:ext uri="{BB962C8B-B14F-4D97-AF65-F5344CB8AC3E}">
        <p14:creationId xmlns:p14="http://schemas.microsoft.com/office/powerpoint/2010/main" val="3023347593"/>
      </p:ext>
    </p:extLst>
  </p:cSld>
  <p:clrMapOvr>
    <a:masterClrMapping/>
  </p:clrMapOvr>
  <p:transition>
    <p:fade/>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Ratios non conformes de 2020 au 31/08/2026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13 ratios sur 14 sont non conformes toutes les années mesurées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écarts ne sont pas accidentels : ils se répètent chaque année, ce qui les rend structurels au sens des textes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Règlement n° 07/2009/CM/UEMOA du 26 juin 2009, art. 84</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87 : Conformité de chaque ratio, année par année</a:t>
            </a:r>
          </a:p>
        </p:txBody>
      </p:sp>
      <p:graphicFrame>
        <p:nvGraphicFramePr>
          <p:cNvPr id="32" name="Table 31"/>
          <p:cNvGraphicFramePr>
            <a:graphicFrameLocks noGrp="1"/>
          </p:cNvGraphicFramePr>
          <p:nvPr/>
        </p:nvGraphicFramePr>
        <p:xfrm>
          <a:off x="503999" y="1655999"/>
          <a:ext cx="11231993" cy="2700000"/>
        </p:xfrm>
        <a:graphic>
          <a:graphicData uri="http://schemas.openxmlformats.org/drawingml/2006/table">
            <a:tbl>
              <a:tblPr firstRow="0" bandRow="0">
                <a:tableStyleId>{5940675A-B579-460E-94D1-54222C63F5DA}</a:tableStyleId>
              </a:tblPr>
              <a:tblGrid>
                <a:gridCol w="2520000"/>
                <a:gridCol w="1584000"/>
                <a:gridCol w="827999"/>
                <a:gridCol w="827999"/>
                <a:gridCol w="827999"/>
                <a:gridCol w="827999"/>
                <a:gridCol w="827999"/>
                <a:gridCol w="827999"/>
                <a:gridCol w="827999"/>
                <a:gridCol w="1332000"/>
              </a:tblGrid>
              <a:tr h="180000">
                <a:tc>
                  <a:txBody>
                    <a:bodyPr/>
                    <a:lstStyle/>
                    <a:p>
                      <a:pPr marL="0" indent="0" lvl="0">
                        <a:buNone/>
                      </a:pPr>
                      <a:r>
                        <a:rPr sz="75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Qualification</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70,00 % à 80,00 %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Récurrent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6 à 9 mois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Équilibre stable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plus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0,00 % à 5,00 %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Trésorerie à échéance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Plus de 1</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Trésorerie immédiate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Réserve de trésorerie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 prestations longues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plus 20,00 %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Charges de fonctionnement brut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plus 15,00 %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plus 15,00 %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bl>
          </a:graphicData>
        </a:graphic>
      </p:graphicFrame>
      <p:sp>
        <p:nvSpPr>
          <p:cNvPr id="33" name="TextBox 32"/>
          <p:cNvSpPr txBox="1"/>
          <p:nvPr/>
        </p:nvSpPr>
        <p:spPr>
          <a:xfrm>
            <a:off x="503999" y="4464000"/>
            <a:ext cx="11232000" cy="306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 BALANCE FORMAT EXCEL DE 09-2020 AU 31-12-2020.xlsx » à « BALANCE FPPN DU 01-01-2026 AU 31-08-2026.xlsx », 2020 au 31/08/2026, recalculés par formules dans les classeur des calculs, onglets 13a à 13i.</a:t>
            </a:r>
          </a:p>
        </p:txBody>
      </p:sp>
      <p:sp>
        <p:nvSpPr>
          <p:cNvPr id="34" name="TextBox 33"/>
          <p:cNvSpPr txBox="1"/>
          <p:nvPr/>
        </p:nvSpPr>
        <p:spPr>
          <a:xfrm>
            <a:off x="503999" y="4914000"/>
            <a:ext cx="11232000" cy="954000"/>
          </a:xfrm>
          <a:prstGeom prst="rect">
            <a:avLst/>
          </a:prstGeom>
          <a:noFill/>
        </p:spPr>
        <p:txBody>
          <a:bodyPr wrap="square" lIns="54000" rIns="54000"/>
          <a:lstStyle/>
          <a:p>
            <a:pPr algn="just">
              <a:spcAft>
                <a:spcPts val="600"/>
              </a:spcAft>
            </a:pPr>
            <a:r>
              <a:rPr sz="900" b="1">
                <a:solidFill>
                  <a:srgbClr val="060606"/>
                </a:solidFill>
                <a:latin typeface="Helvetica"/>
              </a:rPr>
              <a:t>13 ratios sont non conformes toutes les années mesurées, et la sinistralité l'est de 2020 à 2025.</a:t>
            </a:r>
            <a:r>
              <a:rPr sz="900" b="0">
                <a:solidFill>
                  <a:srgbClr val="060606"/>
                </a:solidFill>
                <a:latin typeface="Helvetica"/>
              </a:rPr>
              <a:t> Seule la sinistralité de 2026 respecte sa norme, sur huit mois.</a:t>
            </a:r>
          </a:p>
          <a:p>
            <a:pPr algn="just">
              <a:spcAft>
                <a:spcPts val="600"/>
              </a:spcAft>
            </a:pPr>
            <a:r>
              <a:rPr sz="900" b="1">
                <a:solidFill>
                  <a:srgbClr val="060606"/>
                </a:solidFill>
                <a:latin typeface="Helvetica"/>
              </a:rPr>
              <a:t>Le règlement n° 07/2009 (art. 84) prévoit le retrait d'agrément pour un non-respect des règles prudentielles sur deux exercices.</a:t>
            </a:r>
            <a:r>
              <a:rPr sz="900" b="0">
                <a:solidFill>
                  <a:srgbClr val="060606"/>
                </a:solidFill>
                <a:latin typeface="Helvetica"/>
              </a:rPr>
              <a:t> Tous ces ratios dépassent ce seuil sur la période 2022 à 2025.</a:t>
            </a:r>
          </a:p>
          <a:p>
            <a:pPr algn="just">
              <a:spcAft>
                <a:spcPts val="600"/>
              </a:spcAft>
            </a:pPr>
            <a:r>
              <a:rPr sz="900" b="0">
                <a:solidFill>
                  <a:srgbClr val="060606"/>
                </a:solidFill>
                <a:latin typeface="Helvetica"/>
              </a:rPr>
              <a:t>Un écart structurel ne se corrige pas par un ajustement d'une année : il faut traiter les causes qui se répètent. Les diapositives suivantes les identifient et chiffrent ce qu'il faudrait changer.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298865584"/>
      </p:ext>
    </p:extLst>
  </p:cSld>
  <p:clrMapOvr>
    <a:masterClrMapping/>
  </p:clrMapOvr>
  <p:transition>
    <p:fade/>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Cinq facteurs récurrents expliquent les écarts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facteur se retrouve dans les comptes de chacune des sept années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L'épargne non adossée, les pertes reportées, la réserve tardive, des frais au-delà des plafonds et des prestations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88 : Facteurs récurrents, comptes en cause et preuves</a:t>
            </a:r>
          </a:p>
        </p:txBody>
      </p:sp>
      <p:graphicFrame>
        <p:nvGraphicFramePr>
          <p:cNvPr id="32" name="Table 31"/>
          <p:cNvGraphicFramePr>
            <a:graphicFrameLocks noGrp="1"/>
          </p:cNvGraphicFramePr>
          <p:nvPr/>
        </p:nvGraphicFramePr>
        <p:xfrm>
          <a:off x="503999" y="1655999"/>
          <a:ext cx="11231999" cy="2288820"/>
        </p:xfrm>
        <a:graphic>
          <a:graphicData uri="http://schemas.openxmlformats.org/drawingml/2006/table">
            <a:tbl>
              <a:tblPr firstRow="0" bandRow="0">
                <a:tableStyleId>{5940675A-B579-460E-94D1-54222C63F5DA}</a:tableStyleId>
              </a:tblPr>
              <a:tblGrid>
                <a:gridCol w="2304000"/>
                <a:gridCol w="2160000"/>
                <a:gridCol w="2015999"/>
                <a:gridCol w="1800000"/>
                <a:gridCol w="1800000"/>
                <a:gridCol w="1152000"/>
              </a:tblGrid>
              <a:tr h="187148">
                <a:tc>
                  <a:txBody>
                    <a:bodyPr/>
                    <a:lstStyle/>
                    <a:p>
                      <a:pPr marL="0" indent="0" lvl="0">
                        <a:buNone/>
                      </a:pPr>
                      <a:r>
                        <a:rPr sz="850" b="1">
                          <a:solidFill>
                            <a:srgbClr val="FFFFFF"/>
                          </a:solidFill>
                          <a:latin typeface="Helvetica"/>
                        </a:rPr>
                        <a:t>Facteur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Comptes en cause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Ratios touchés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Preuve 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Preuve 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Structurels</a:t>
                      </a:r>
                    </a:p>
                  </a:txBody>
                  <a:tcPr marL="43200" marR="43200" marT="14400" marB="14400" anchor="ctr">
                    <a:solidFill>
                      <a:srgbClr val="060606"/>
                    </a:solidFill>
                  </a:tcPr>
                </a:tc>
              </a:tr>
              <a:tr h="575792">
                <a:tc>
                  <a:txBody>
                    <a:bodyPr/>
                    <a:lstStyle/>
                    <a:p>
                      <a:pPr marL="0" indent="0" lvl="0">
                        <a:buNone/>
                      </a:pPr>
                      <a:r>
                        <a:rPr sz="850" b="1">
                          <a:solidFill>
                            <a:srgbClr val="060606"/>
                          </a:solidFill>
                          <a:latin typeface="Helvetica"/>
                        </a:rPr>
                        <a:t>F1. Épargne des adhérents non adossée à des actifs liquides dédiés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41195100 et 41195200 (épargne) en dettes à court terme. Classe 5 et DAT dédiés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Liquidité, Solvabilité de l'épargne, Trésorerie à échéance, Trésorerie immédiate, Réserve de trésorerie, Équilibre stable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couverte à 6,59 %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couverte à 11,64 %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 6</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F2. Pertes reportées non apurées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129 (report à nouveau débiteur) dans les fonds propres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Fonds propres et assimilés, Fonds propres / prestations longues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11 391 759 309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5 272 983 928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 2</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F3. Réserve obligatoire absente puis insuffisante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111 (réserve légale). Affectations des excédents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nulle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820 232 819 FCFA pour 982 386 014 FCFA requis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 1</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F4. Charges de fonctionnement au-delà des plafonds de la Décision (cotisations et prestations)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612, 613, 618, 62 à 68 (dont 6518, prime de la garantie décès, en 2020)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Charges de fonctionnement, Charges de fonctionnement brut, Coût par unité prestée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84,31 %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36,34 %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 3</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F5. Prestations faibles par rapport aux cotisations (couverture limitée à l'hospitalisation, provisions figées)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60 (prestations), 70 (cotisations), 6901 et 7901 absents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 Excédent net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 8,92 % des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 57,48 % des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 2</a:t>
                      </a:r>
                    </a:p>
                  </a:txBody>
                  <a:tcPr marL="43200" marR="43200" marT="14400" marB="14400" anchor="ctr">
                    <a:solidFill>
                      <a:srgbClr val="FFFFFF"/>
                    </a:solidFill>
                  </a:tcPr>
                </a:tc>
              </a:tr>
            </a:tbl>
          </a:graphicData>
        </a:graphic>
      </p:graphicFrame>
      <p:sp>
        <p:nvSpPr>
          <p:cNvPr id="33" name="TextBox 32"/>
          <p:cNvSpPr txBox="1"/>
          <p:nvPr/>
        </p:nvSpPr>
        <p:spPr>
          <a:xfrm>
            <a:off x="503999" y="4052822"/>
            <a:ext cx="11232000" cy="306000"/>
          </a:xfrm>
          <a:prstGeom prst="rect">
            <a:avLst/>
          </a:prstGeom>
          <a:noFill/>
        </p:spPr>
        <p:txBody>
          <a:bodyPr wrap="square" anchor="t" lIns="54000" rIns="54000"/>
          <a:lstStyle/>
          <a:p>
            <a:pPr algn="l"/>
            <a:r>
              <a:rPr sz="850" b="0">
                <a:solidFill>
                  <a:srgbClr val="53565A"/>
                </a:solidFill>
                <a:latin typeface="Helvetica"/>
              </a:rPr>
              <a:t>Valable pour : comptes en cause des balances « BALANCE FORMAT EXCEL DE 09-2020 AU 31-12-2020.xlsx » à « BALANCE FPPN DU 01-01-2026 AU 31-08-2026.xlsx », 2020 au 31/08/2026. Classeur des calculs, onglets 13a à 13i.</a:t>
            </a:r>
          </a:p>
        </p:txBody>
      </p:sp>
      <p:sp>
        <p:nvSpPr>
          <p:cNvPr id="34" name="TextBox 33"/>
          <p:cNvSpPr txBox="1"/>
          <p:nvPr/>
        </p:nvSpPr>
        <p:spPr>
          <a:xfrm>
            <a:off x="503999" y="4502822"/>
            <a:ext cx="11232000" cy="1365177"/>
          </a:xfrm>
          <a:prstGeom prst="rect">
            <a:avLst/>
          </a:prstGeom>
          <a:noFill/>
        </p:spPr>
        <p:txBody>
          <a:bodyPr wrap="square" lIns="54000" rIns="54000"/>
          <a:lstStyle/>
          <a:p>
            <a:pPr algn="just">
              <a:spcAft>
                <a:spcPts val="600"/>
              </a:spcAft>
            </a:pPr>
            <a:r>
              <a:rPr sz="1200" b="1">
                <a:solidFill>
                  <a:srgbClr val="060606"/>
                </a:solidFill>
                <a:latin typeface="Helvetica"/>
              </a:rPr>
              <a:t>Les facteurs F1 et F2 expliquent à eux seuls huit ratios : ce sont des problèmes de bilan, hérités et cumulés, que l'excédent d'une année ne peut pas corriger.</a:t>
            </a:r>
          </a:p>
          <a:p>
            <a:pPr algn="just">
              <a:spcAft>
                <a:spcPts val="600"/>
              </a:spcAft>
            </a:pPr>
            <a:r>
              <a:rPr sz="1200" b="1">
                <a:solidFill>
                  <a:srgbClr val="060606"/>
                </a:solidFill>
                <a:latin typeface="Helvetica"/>
              </a:rPr>
              <a:t>Les facteurs F4 et F5 sont des problèmes de compte de résultat</a:t>
            </a:r>
            <a:r>
              <a:rPr sz="1200" b="0">
                <a:solidFill>
                  <a:srgbClr val="060606"/>
                </a:solidFill>
                <a:latin typeface="Helvetica"/>
              </a:rPr>
              <a:t> : les frais dépassent les plafonds fixés en proportion des cotisations et des prestations, et les prestations restent sous 70 % des cotisations jusqu'en 2025.</a:t>
            </a:r>
          </a:p>
          <a:p>
            <a:pPr algn="just">
              <a:spcAft>
                <a:spcPts val="600"/>
              </a:spcAft>
            </a:pPr>
            <a:r>
              <a:rPr sz="1200" b="0">
                <a:solidFill>
                  <a:srgbClr val="060606"/>
                </a:solidFill>
                <a:latin typeface="Helvetica"/>
              </a:rPr>
              <a:t>Les leviers doivent viser les facteurs, pas les ratios un par un : un même levier agit sur plusieurs ratios, parfois en sens contraire.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DAT : dépôt à terme</a:t>
            </a:r>
          </a:p>
        </p:txBody>
      </p:sp>
    </p:spTree>
    <p:extLst>
      <p:ext uri="{BB962C8B-B14F-4D97-AF65-F5344CB8AC3E}">
        <p14:creationId xmlns:p14="http://schemas.microsoft.com/office/powerpoint/2010/main" val="621315256"/>
      </p:ext>
    </p:extLst>
  </p:cSld>
  <p:clrMapOvr>
    <a:masterClrMapping/>
  </p:clrMapOvr>
  <p:transition>
    <p:fade/>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Montant à combler par ratio</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et les fonds propres concentrent l'essentiel des écarts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13 555 974 724 FCFA de trésorerie et 16 002 055 145 FCFA de fonds propres manquent pour atteindre la norme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89 : Montant à combler par ratio (FCFA)</a:t>
            </a:r>
          </a:p>
        </p:txBody>
      </p:sp>
      <p:graphicFrame>
        <p:nvGraphicFramePr>
          <p:cNvPr id="32" name="Table 31"/>
          <p:cNvGraphicFramePr>
            <a:graphicFrameLocks noGrp="1"/>
          </p:cNvGraphicFramePr>
          <p:nvPr/>
        </p:nvGraphicFramePr>
        <p:xfrm>
          <a:off x="503999" y="1655999"/>
          <a:ext cx="11231999" cy="2700000"/>
        </p:xfrm>
        <a:graphic>
          <a:graphicData uri="http://schemas.openxmlformats.org/drawingml/2006/table">
            <a:tbl>
              <a:tblPr firstRow="0" bandRow="0">
                <a:tableStyleId>{5940675A-B579-460E-94D1-54222C63F5DA}</a:tableStyleId>
              </a:tblPr>
              <a:tblGrid>
                <a:gridCol w="2015999"/>
                <a:gridCol w="3096000"/>
                <a:gridCol w="1512000"/>
                <a:gridCol w="1512000"/>
                <a:gridCol w="1512000"/>
                <a:gridCol w="1584000"/>
              </a:tblGrid>
              <a:tr h="180000">
                <a:tc>
                  <a:txBody>
                    <a:bodyPr/>
                    <a:lstStyle/>
                    <a:p>
                      <a:pPr marL="0" indent="0" lvl="0">
                        <a:buNone/>
                      </a:pPr>
                      <a:r>
                        <a:rPr sz="75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Variable d'ajustement</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Moyenne 2020-2026</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Prestations à ajouter (+) ou à retirer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1 435 406 814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427 927 178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972 352 423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Réserve obligatoire à constituer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104 872 696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162 153 194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79 195 072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140 750 908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propres à constituer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21 892 570 704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16 002 055 145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18 855 119 976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16 922 874 366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Trésorerie à constituer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14 230 404 472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13 555 974 724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14 572 853 980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12 524 806 990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Équilibre stable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Ressources longues à ajouter (ou emplois longs à céder)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7 296 144 385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2 380 061 308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2 870 097 972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3 492 842 881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Excédent à réduire (déficit à combler si négatif)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901 068 827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266 992 825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441 256 500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990 198 700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Actifs admis à affecter à l'épargne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10 114 162 856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12 205 911 439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13 180 630 730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10 076 345 639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Trésorerie à échéance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Valeurs réalisables ou disponibles à constituer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14 118 394 524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12 805 137 440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14 474 087 647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12 234 546 477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Trésorerie immédiate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Disponibilités à constituer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14 230 404 472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13 555 974 724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14 572 853 980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12 524 806 990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Réserve de trésorerie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Réserve de trésorerie à constituer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576 084 804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588 613 821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597 868 370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677 039 532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 prestations longues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propres à constituer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3 431 924 537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3 713 553 360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5 393 423 695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Charges de fonctionnement à réduire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1 511 349 815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558 364 763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577 021 368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745 442 862 FCFA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Charges de fonctionnement brut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Charges brutes à réduire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1 422 334 629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732 410 027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693 501 819 FCFA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804 346 104 FCFA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Charges de fonctionnement à réduire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1 949 931 493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947 277 303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785 632 470 FCFA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1 147 274 623 FCFA</a:t>
                      </a:r>
                    </a:p>
                  </a:txBody>
                  <a:tcPr marL="43200" marR="43200" marT="14400" marB="14400" anchor="ctr">
                    <a:solidFill>
                      <a:srgbClr val="F2F2F2"/>
                    </a:solidFill>
                  </a:tcPr>
                </a:tc>
              </a:tr>
            </a:tbl>
          </a:graphicData>
        </a:graphic>
      </p:graphicFrame>
      <p:sp>
        <p:nvSpPr>
          <p:cNvPr id="33" name="TextBox 32"/>
          <p:cNvSpPr txBox="1"/>
          <p:nvPr/>
        </p:nvSpPr>
        <p:spPr>
          <a:xfrm>
            <a:off x="503999" y="4464000"/>
            <a:ext cx="11232000" cy="162000"/>
          </a:xfrm>
          <a:prstGeom prst="rect">
            <a:avLst/>
          </a:prstGeom>
          <a:noFill/>
        </p:spPr>
        <p:txBody>
          <a:bodyPr wrap="square" anchor="t" lIns="54000" rIns="54000"/>
          <a:lstStyle/>
          <a:p>
            <a:pPr algn="l"/>
            <a:r>
              <a:rPr sz="850" b="0">
                <a:solidFill>
                  <a:srgbClr val="53565A"/>
                </a:solidFill>
                <a:latin typeface="Helvetica"/>
              </a:rPr>
              <a:t>Valable pour : écarts aux normes de la Décision n° 05/2022 calculés dans les classeur des calculs, onglets 13a à 13i, 2020 au 31/08/2026.</a:t>
            </a:r>
          </a:p>
        </p:txBody>
      </p:sp>
      <p:sp>
        <p:nvSpPr>
          <p:cNvPr id="34" name="TextBox 33"/>
          <p:cNvSpPr txBox="1"/>
          <p:nvPr/>
        </p:nvSpPr>
        <p:spPr>
          <a:xfrm>
            <a:off x="503999" y="4770000"/>
            <a:ext cx="11232000" cy="1098000"/>
          </a:xfrm>
          <a:prstGeom prst="rect">
            <a:avLst/>
          </a:prstGeom>
          <a:noFill/>
        </p:spPr>
        <p:txBody>
          <a:bodyPr wrap="square" lIns="54000" rIns="54000"/>
          <a:lstStyle/>
          <a:p>
            <a:pPr algn="just">
              <a:spcAft>
                <a:spcPts val="600"/>
              </a:spcAft>
            </a:pPr>
            <a:r>
              <a:rPr sz="1100" b="1">
                <a:solidFill>
                  <a:srgbClr val="060606"/>
                </a:solidFill>
                <a:latin typeface="Helvetica"/>
              </a:rPr>
              <a:t>Les écarts de bilan se comptent en milliards : 12 205 911 439 FCFA d'actifs à affecter à l'épargne en 2025, et 16 002 055 145 FCFA de fonds propres.</a:t>
            </a:r>
          </a:p>
          <a:p>
            <a:pPr algn="just">
              <a:spcAft>
                <a:spcPts val="600"/>
              </a:spcAft>
            </a:pPr>
            <a:r>
              <a:rPr sz="1100" b="1">
                <a:solidFill>
                  <a:srgbClr val="060606"/>
                </a:solidFill>
                <a:latin typeface="Helvetica"/>
              </a:rPr>
              <a:t>Les écarts de compte de résultat se comptent en centaines de millions : 558 364 763 FCFA de charges de fonctionnement à réduire pour le taux des charges en 2025.</a:t>
            </a:r>
          </a:p>
          <a:p>
            <a:pPr algn="just">
              <a:spcAft>
                <a:spcPts val="600"/>
              </a:spcAft>
            </a:pPr>
            <a:r>
              <a:rPr sz="1100" b="0">
                <a:solidFill>
                  <a:srgbClr val="060606"/>
                </a:solidFill>
                <a:latin typeface="Helvetica"/>
              </a:rPr>
              <a:t>Les écarts de bilan ne peuvent pas être comblés par les seuls excédents annuels : ils demandent des décisions de structure (adossement de l'épargne, apurement des pertes, politique de réserves).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544713909"/>
      </p:ext>
    </p:extLst>
  </p:cSld>
  <p:clrMapOvr>
    <a:masterClrMapping/>
  </p:clrMapOvr>
  <p:transition>
    <p:fade/>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Effet de chaque levier sur chaque ratio</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levier n'améliore tous les ratios. Plusieurs en dégradent certains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Choc de 100 000 000 FCFA sur l'exercice 2025, enregistré en partie double, une hypothèse à la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Statuts, art. 79, 81, 85, 90 et 93</a:t>
            </a:r>
          </a:p>
        </p:txBody>
      </p:sp>
      <p:sp>
        <p:nvSpPr>
          <p:cNvPr id="31" name="TextBox 30"/>
          <p:cNvSpPr txBox="1"/>
          <p:nvPr/>
        </p:nvSpPr>
        <p:spPr>
          <a:xfrm>
            <a:off x="503999" y="1386000"/>
            <a:ext cx="11217600" cy="216000"/>
          </a:xfrm>
          <a:prstGeom prst="rect">
            <a:avLst/>
          </a:prstGeom>
          <a:noFill/>
        </p:spPr>
        <p:txBody>
          <a:bodyPr wrap="square" anchor="t" lIns="54000" rIns="54000"/>
          <a:lstStyle/>
          <a:p>
            <a:pPr algn="ctr"/>
            <a:r>
              <a:rPr sz="1200" b="0">
                <a:solidFill>
                  <a:srgbClr val="EFAC62"/>
                </a:solidFill>
                <a:latin typeface="Helvetica"/>
              </a:rPr>
              <a:t>Tableau 90 : Sens de l'effet d'un choc de 100 000 000 FCFA (exercice 2025)</a:t>
            </a:r>
          </a:p>
        </p:txBody>
      </p:sp>
      <p:graphicFrame>
        <p:nvGraphicFramePr>
          <p:cNvPr id="32" name="Table 31"/>
          <p:cNvGraphicFramePr>
            <a:graphicFrameLocks noGrp="1"/>
          </p:cNvGraphicFramePr>
          <p:nvPr/>
        </p:nvGraphicFramePr>
        <p:xfrm>
          <a:off x="503999" y="1655999"/>
          <a:ext cx="11217600" cy="1457660"/>
        </p:xfrm>
        <a:graphic>
          <a:graphicData uri="http://schemas.openxmlformats.org/drawingml/2006/table">
            <a:tbl>
              <a:tblPr firstRow="0" bandRow="0">
                <a:tableStyleId>{5940675A-B579-460E-94D1-54222C63F5DA}</a:tableStyleId>
              </a:tblPr>
              <a:tblGrid>
                <a:gridCol w="1944000"/>
                <a:gridCol w="662400"/>
                <a:gridCol w="662400"/>
                <a:gridCol w="662400"/>
                <a:gridCol w="662400"/>
                <a:gridCol w="662400"/>
                <a:gridCol w="662400"/>
                <a:gridCol w="662400"/>
                <a:gridCol w="662400"/>
                <a:gridCol w="662400"/>
                <a:gridCol w="662400"/>
                <a:gridCol w="662400"/>
                <a:gridCol w="662400"/>
                <a:gridCol w="662400"/>
                <a:gridCol w="662400"/>
              </a:tblGrid>
              <a:tr h="377660">
                <a:tc>
                  <a:txBody>
                    <a:bodyPr/>
                    <a:lstStyle/>
                    <a:p>
                      <a:pPr marL="0" indent="0" lvl="0">
                        <a:buNone/>
                      </a:pPr>
                      <a:r>
                        <a:rPr sz="700" b="1">
                          <a:solidFill>
                            <a:srgbClr val="FFFFFF"/>
                          </a:solidFill>
                          <a:latin typeface="Helvetica"/>
                        </a:rPr>
                        <a:t>Levier</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Sinistralité</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Réserve obligatoire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Fonds propres et assimilés</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Liquidité</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Équilibre stable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Excédent net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Solvabilité de l'épargne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Trésorerie à échéance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Trésorerie immédiate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Réserve de trésorerie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Fonds propres / prestations longues</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Charges de fonctionnement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Charges de fonctionnement brut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Coût par unité prestée</a:t>
                      </a:r>
                    </a:p>
                  </a:txBody>
                  <a:tcPr marL="43200" marR="43200" marT="14400" marB="14400" anchor="ctr">
                    <a:solidFill>
                      <a:srgbClr val="060606"/>
                    </a:solidFill>
                  </a:tcPr>
                </a:tc>
              </a:tr>
              <a:tr h="180000">
                <a:tc>
                  <a:txBody>
                    <a:bodyPr/>
                    <a:lstStyle/>
                    <a:p>
                      <a:pPr marL="0" indent="0" lvl="0">
                        <a:buNone/>
                      </a:pPr>
                      <a:r>
                        <a:rPr sz="700" b="1">
                          <a:solidFill>
                            <a:srgbClr val="060606"/>
                          </a:solidFill>
                          <a:latin typeface="Helvetica"/>
                        </a:rPr>
                        <a:t>Hausse des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Hausse des prestations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Baisse des charges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Dotation à la réserve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Réallocation des placements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Apport en fonds propres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r>
            </a:tbl>
          </a:graphicData>
        </a:graphic>
      </p:graphicFrame>
      <p:sp>
        <p:nvSpPr>
          <p:cNvPr id="33" name="TextBox 32"/>
          <p:cNvSpPr txBox="1"/>
          <p:nvPr/>
        </p:nvSpPr>
        <p:spPr>
          <a:xfrm>
            <a:off x="503999" y="3221660"/>
            <a:ext cx="11232000" cy="162000"/>
          </a:xfrm>
          <a:prstGeom prst="rect">
            <a:avLst/>
          </a:prstGeom>
          <a:noFill/>
        </p:spPr>
        <p:txBody>
          <a:bodyPr wrap="square" anchor="t" lIns="54000" rIns="54000"/>
          <a:lstStyle/>
          <a:p>
            <a:pPr algn="l"/>
            <a:r>
              <a:rPr sz="850" b="0">
                <a:solidFill>
                  <a:srgbClr val="53565A"/>
                </a:solidFill>
                <a:latin typeface="Helvetica"/>
              </a:rPr>
              <a:t>Valable pour : choc de 100 000 000 FCFA appliqué à l'exercice 2025 dans les classeur des calculs, onglets 13a à 13i. Effets de premier ordre seulement.</a:t>
            </a:r>
          </a:p>
        </p:txBody>
      </p:sp>
      <p:sp>
        <p:nvSpPr>
          <p:cNvPr id="34" name="TextBox 33"/>
          <p:cNvSpPr txBox="1"/>
          <p:nvPr/>
        </p:nvSpPr>
        <p:spPr>
          <a:xfrm>
            <a:off x="503999" y="3527660"/>
            <a:ext cx="11232000" cy="2340339"/>
          </a:xfrm>
          <a:prstGeom prst="rect">
            <a:avLst/>
          </a:prstGeom>
          <a:noFill/>
        </p:spPr>
        <p:txBody>
          <a:bodyPr wrap="square" lIns="54000" rIns="54000"/>
          <a:lstStyle/>
          <a:p>
            <a:pPr algn="just">
              <a:spcAft>
                <a:spcPts val="600"/>
              </a:spcAft>
            </a:pPr>
            <a:r>
              <a:rPr sz="1300" b="1">
                <a:solidFill>
                  <a:srgbClr val="060606"/>
                </a:solidFill>
                <a:latin typeface="Helvetica"/>
              </a:rPr>
              <a:t>La hausse des cotisations améliore les frais et la liquidité, mais éloigne la sinistralité et l'excédent net de leur norme.</a:t>
            </a:r>
            <a:r>
              <a:rPr sz="1300" b="0">
                <a:solidFill>
                  <a:srgbClr val="060606"/>
                </a:solidFill>
                <a:latin typeface="Helvetica"/>
              </a:rPr>
              <a:t> La hausse des prestations fait l'inverse.</a:t>
            </a:r>
          </a:p>
          <a:p>
            <a:pPr algn="just">
              <a:spcAft>
                <a:spcPts val="600"/>
              </a:spcAft>
            </a:pPr>
            <a:r>
              <a:rPr sz="1300" b="1">
                <a:solidFill>
                  <a:srgbClr val="060606"/>
                </a:solidFill>
                <a:latin typeface="Helvetica"/>
              </a:rPr>
              <a:t>La dotation à la réserve, la réallocation des placements et l'apport en fonds propres n'ont aucun effet défavorable. La baisse des charges n'éloigne que l'excédent net de sa norme.</a:t>
            </a:r>
          </a:p>
          <a:p>
            <a:pPr algn="just">
              <a:spcAft>
                <a:spcPts val="600"/>
              </a:spcAft>
            </a:pPr>
            <a:r>
              <a:rPr sz="1300" b="0">
                <a:solidFill>
                  <a:srgbClr val="060606"/>
                </a:solidFill>
                <a:latin typeface="Helvetica"/>
              </a:rPr>
              <a:t>Le plan de redressement prévu par les statuts (art. 93) doit combiner les leviers : agir sur les cotisations seules ne peut pas rendre le FPPN conforme.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612451818"/>
      </p:ext>
    </p:extLst>
  </p:cSld>
  <p:clrMapOvr>
    <a:masterClrMapping/>
  </p:clrMapOvr>
  <p:transition>
    <p:fade/>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Montants d'équilibre de chaque levier en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Sur quoi agir, et de combien, pour rendre chaque ratio conforme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cotisation : 4,11 % pour la sinistralité, mais 9,08 % pour les frais. Réduction des frais de 44,96 % pour le taux des charges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Statuts, art. 17, 79, 81, 85, 90 et 93</a:t>
            </a:r>
          </a:p>
        </p:txBody>
      </p:sp>
      <p:sp>
        <p:nvSpPr>
          <p:cNvPr id="31" name="TextBox 30"/>
          <p:cNvSpPr txBox="1"/>
          <p:nvPr/>
        </p:nvSpPr>
        <p:spPr>
          <a:xfrm>
            <a:off x="503999" y="1386000"/>
            <a:ext cx="10872000" cy="216000"/>
          </a:xfrm>
          <a:prstGeom prst="rect">
            <a:avLst/>
          </a:prstGeom>
          <a:noFill/>
        </p:spPr>
        <p:txBody>
          <a:bodyPr wrap="square" anchor="t" lIns="54000" rIns="54000"/>
          <a:lstStyle/>
          <a:p>
            <a:pPr algn="ctr"/>
            <a:r>
              <a:rPr sz="1200" b="0">
                <a:solidFill>
                  <a:srgbClr val="EFAC62"/>
                </a:solidFill>
                <a:latin typeface="Helvetica"/>
              </a:rPr>
              <a:t>Tableau 91 : Montants d'équilibre 2025 par levier et par ratio</a:t>
            </a:r>
          </a:p>
        </p:txBody>
      </p:sp>
      <p:graphicFrame>
        <p:nvGraphicFramePr>
          <p:cNvPr id="32" name="Table 31"/>
          <p:cNvGraphicFramePr>
            <a:graphicFrameLocks noGrp="1"/>
          </p:cNvGraphicFramePr>
          <p:nvPr/>
        </p:nvGraphicFramePr>
        <p:xfrm>
          <a:off x="503999" y="1655999"/>
          <a:ext cx="10872000" cy="2058628"/>
        </p:xfrm>
        <a:graphic>
          <a:graphicData uri="http://schemas.openxmlformats.org/drawingml/2006/table">
            <a:tbl>
              <a:tblPr firstRow="0" bandRow="0">
                <a:tableStyleId>{5940675A-B579-460E-94D1-54222C63F5DA}</a:tableStyleId>
              </a:tblPr>
              <a:tblGrid>
                <a:gridCol w="2592000"/>
                <a:gridCol w="1944000"/>
                <a:gridCol w="1800000"/>
                <a:gridCol w="3456000"/>
                <a:gridCol w="1080000"/>
              </a:tblGrid>
              <a:tr h="187148">
                <a:tc>
                  <a:txBody>
                    <a:bodyPr/>
                    <a:lstStyle/>
                    <a:p>
                      <a:pPr marL="0" indent="0" lvl="0">
                        <a:buNone/>
                      </a:pPr>
                      <a:r>
                        <a:rPr sz="850" b="1">
                          <a:solidFill>
                            <a:srgbClr val="FFFFFF"/>
                          </a:solidFill>
                          <a:latin typeface="Helvetica"/>
                        </a:rPr>
                        <a:t>Levier (texte)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Ratio visé</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Montant 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Lecture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Années d'effort</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Cotisations (statuts, art. 17 et 93)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-611 324 541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de cotisation ramené à 4,11 %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Cotisations (statuts, art. 17 et 93)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2 791 823 813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de cotisation porté à 9,08 %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Prestations (statuts, art. 93)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427 927 178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21,78 % de prestations en plus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Prestations (statuts, art. 93)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266 992 825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13,59 % de prestations en plus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Charges (Décision n° 05/2022)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558 364 763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44,96 % des charges en moins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Charges (Décision n° 05/2022)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947 277 303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76,27 % des charges en moins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Réserve légale (statuts, art. 90)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162 153 194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Dotation supplémentaire, interne aux fonds propres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Placements (statuts, art. 85)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13 555 974 724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Supérieur à toute la classe 2 (6 814 784 076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Placements (statuts, art. 85)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12 205 911 439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Actifs à affecter à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Fonds propres (statuts, art. 79 et 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Fonds propres et assimilés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16 002 055 145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22,22 années d'excédent moyen 2023 à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bl>
          </a:graphicData>
        </a:graphic>
      </p:graphicFrame>
      <p:sp>
        <p:nvSpPr>
          <p:cNvPr id="33" name="TextBox 32"/>
          <p:cNvSpPr txBox="1"/>
          <p:nvPr/>
        </p:nvSpPr>
        <p:spPr>
          <a:xfrm>
            <a:off x="503999" y="3822629"/>
            <a:ext cx="11232000" cy="162000"/>
          </a:xfrm>
          <a:prstGeom prst="rect">
            <a:avLst/>
          </a:prstGeom>
          <a:noFill/>
        </p:spPr>
        <p:txBody>
          <a:bodyPr wrap="square" anchor="t" lIns="54000" rIns="54000"/>
          <a:lstStyle/>
          <a:p>
            <a:pPr algn="l"/>
            <a:r>
              <a:rPr sz="850" b="0">
                <a:solidFill>
                  <a:srgbClr val="53565A"/>
                </a:solidFill>
                <a:latin typeface="Helvetica"/>
              </a:rPr>
              <a:t>Valable pour : exercice 2025, classeur des calculs, onglets 13a à 13i. Un levier à la fois, sans interaction.</a:t>
            </a:r>
          </a:p>
        </p:txBody>
      </p:sp>
      <p:sp>
        <p:nvSpPr>
          <p:cNvPr id="34" name="TextBox 33"/>
          <p:cNvSpPr txBox="1"/>
          <p:nvPr/>
        </p:nvSpPr>
        <p:spPr>
          <a:xfrm>
            <a:off x="503999" y="4128629"/>
            <a:ext cx="11232000" cy="1739370"/>
          </a:xfrm>
          <a:prstGeom prst="rect">
            <a:avLst/>
          </a:prstGeom>
          <a:noFill/>
        </p:spPr>
        <p:txBody>
          <a:bodyPr wrap="square" lIns="54000" rIns="54000"/>
          <a:lstStyle/>
          <a:p>
            <a:pPr algn="just">
              <a:spcAft>
                <a:spcPts val="600"/>
              </a:spcAft>
            </a:pPr>
            <a:r>
              <a:rPr sz="1150" b="1">
                <a:solidFill>
                  <a:srgbClr val="060606"/>
                </a:solidFill>
                <a:latin typeface="Helvetica"/>
              </a:rPr>
              <a:t>Pour la sinistralité, il faudrait baisser le taux de cotisation ou servir 427 927 178 FCFA de prestations en plus. Pour les frais, il faudrait au contraire presque doubler le taux.</a:t>
            </a:r>
            <a:r>
              <a:rPr sz="1150" b="0">
                <a:solidFill>
                  <a:srgbClr val="060606"/>
                </a:solidFill>
                <a:latin typeface="Helvetica"/>
              </a:rPr>
              <a:t> Le levier des cotisations est donc contradictoire.</a:t>
            </a:r>
          </a:p>
          <a:p>
            <a:pPr algn="just">
              <a:spcAft>
                <a:spcPts val="600"/>
              </a:spcAft>
            </a:pPr>
            <a:r>
              <a:rPr sz="1150" b="1">
                <a:solidFill>
                  <a:srgbClr val="060606"/>
                </a:solidFill>
                <a:latin typeface="Helvetica"/>
              </a:rPr>
              <a:t>Le levier le plus direct est la baisse des charges de fonctionnement</a:t>
            </a:r>
            <a:r>
              <a:rPr sz="1150" b="0">
                <a:solidFill>
                  <a:srgbClr val="060606"/>
                </a:solidFill>
                <a:latin typeface="Helvetica"/>
              </a:rPr>
              <a:t> : 558 364 763 FCFA en 2025 pour le taux des charges, davantage pour le coût par unité prestée.</a:t>
            </a:r>
          </a:p>
          <a:p>
            <a:pPr algn="just">
              <a:spcAft>
                <a:spcPts val="600"/>
              </a:spcAft>
            </a:pPr>
            <a:r>
              <a:rPr sz="1150" b="1">
                <a:solidFill>
                  <a:srgbClr val="060606"/>
                </a:solidFill>
                <a:latin typeface="Helvetica"/>
              </a:rPr>
              <a:t>Les écarts de bilan dépassent les moyens du FPPN</a:t>
            </a:r>
            <a:r>
              <a:rPr sz="1150" b="0">
                <a:solidFill>
                  <a:srgbClr val="060606"/>
                </a:solidFill>
                <a:latin typeface="Helvetica"/>
              </a:rPr>
              <a:t> : la trésorerie manquante excède toute la classe 2, et les fonds propres demanderaient 22,22 années d'excédent moyen.</a:t>
            </a:r>
          </a:p>
          <a:p>
            <a:pPr algn="just">
              <a:spcAft>
                <a:spcPts val="600"/>
              </a:spcAft>
            </a:pPr>
            <a:r>
              <a:rPr sz="1150" b="0">
                <a:solidFill>
                  <a:srgbClr val="060606"/>
                </a:solidFill>
                <a:latin typeface="Helvetica"/>
              </a:rPr>
              <a:t>Les ratios de compte de résultat peuvent être corrigés en quelques exercices par une maîtrise des frais et une revue du régime des prestations. Les ratios de bilan demandent un plan pluriannuel, présenté à l'AIRMS.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140065987"/>
      </p:ext>
    </p:extLst>
  </p:cSld>
  <p:clrMapOvr>
    <a:masterClrMapping/>
  </p:clrMapOvr>
  <p:transition>
    <p:fade/>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 deux ratios demandent des mouvements opposés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appelle une baisse du taux, les frais une hausse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taux de cotisation équivalent : 4,11 % pour la sinistralité, 9,08 % pour le taux des charges, contre 5,00 % dans les statuts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37 : Taux de cotisation équivalent selon le ratio visé</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la solde de base</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Statuts, art. 17</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L'écart entre les deux exigences se réduit, mais reste large : de 0,64 % contre 21,08 % en 2020, à 4,11 % contre 9,08 % en 2025.</a:t>
            </a:r>
          </a:p>
          <a:p>
            <a:pPr algn="just">
              <a:spcAft>
                <a:spcPts val="600"/>
              </a:spcAft>
            </a:pPr>
            <a:r>
              <a:rPr sz="1400" b="1">
                <a:solidFill>
                  <a:srgbClr val="060606"/>
                </a:solidFill>
                <a:latin typeface="Helvetica"/>
              </a:rPr>
              <a:t>La hausse des prestations maladie rapproche la sinistralité de sa norme</a:t>
            </a:r>
            <a:r>
              <a:rPr sz="1400" b="0">
                <a:solidFill>
                  <a:srgbClr val="060606"/>
                </a:solidFill>
                <a:latin typeface="Helvetica"/>
              </a:rPr>
              <a:t> : en 2026, sur huit mois, le taux de 5 % suffit à la respecter.</a:t>
            </a:r>
          </a:p>
          <a:p>
            <a:pPr algn="just">
              <a:spcAft>
                <a:spcPts val="600"/>
              </a:spcAft>
            </a:pPr>
            <a:r>
              <a:rPr sz="1400" b="0">
                <a:solidFill>
                  <a:srgbClr val="060606"/>
                </a:solidFill>
                <a:latin typeface="Helvetica"/>
              </a:rPr>
              <a:t>Le taux de cotisation n'est pas le bon levier pour les frais : c'est le niveau des charges qui dépasse les plafonds du texte. Le taux devra être revu une fois les provisions recalculées, car elles entrent dans la sinistralité.</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exercice 2025, cotisations des comptes 7010 et 7021 de « BALANCE FPPN 2025.xlsx ». Classeur des calculs, onglets 13a à 13i.</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439294303"/>
      </p:ext>
    </p:extLst>
  </p:cSld>
  <p:clrMapOvr>
    <a:masterClrMapping/>
  </p:clrMapOvr>
  <p:transition>
    <p:fade/>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 la vente des placements longs ne suffirait pas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en vendant toute la classe 2, la liquidité resterait sous la norme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maximale théorique : 0,57 en 2025. Liquidité hors épargne : 1,15, conforme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Règlement d'exécution n° 004/2022/COM/UEMOA du 1er juin 2022, art. 3, 17 et 19</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92 : Liquidité : écart, plafond de réallocation et lecture hors épargne</a:t>
            </a:r>
          </a:p>
        </p:txBody>
      </p:sp>
      <p:graphicFrame>
        <p:nvGraphicFramePr>
          <p:cNvPr id="32" name="Table 31"/>
          <p:cNvGraphicFramePr>
            <a:graphicFrameLocks noGrp="1"/>
          </p:cNvGraphicFramePr>
          <p:nvPr/>
        </p:nvGraphicFramePr>
        <p:xfrm>
          <a:off x="503999" y="1655999"/>
          <a:ext cx="11217599" cy="1252436"/>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Trésorerie manquante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14 230 404 472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11 761 869 725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10 573 204 487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10 196 077 155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12 783 264 390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13 555 974 724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14 572 853 980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Classe 2 nette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5 420 135 286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4 916 701 524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4 888 463 485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5 151 329 261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6 790 107 498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6 814 784 076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6 863 564 240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Liquidité maximale théorique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Liquidité hors épargne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0,64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0,51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0,54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0,33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1,53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Conforme hors épargne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r>
            </a:tbl>
          </a:graphicData>
        </a:graphic>
      </p:graphicFrame>
      <p:sp>
        <p:nvSpPr>
          <p:cNvPr id="33" name="TextBox 32"/>
          <p:cNvSpPr txBox="1"/>
          <p:nvPr/>
        </p:nvSpPr>
        <p:spPr>
          <a:xfrm>
            <a:off x="503999" y="3016437"/>
            <a:ext cx="11232000" cy="162000"/>
          </a:xfrm>
          <a:prstGeom prst="rect">
            <a:avLst/>
          </a:prstGeom>
          <a:noFill/>
        </p:spPr>
        <p:txBody>
          <a:bodyPr wrap="square" anchor="t" lIns="54000" rIns="54000"/>
          <a:lstStyle/>
          <a:p>
            <a:pPr algn="l"/>
            <a:r>
              <a:rPr sz="850" b="0">
                <a:solidFill>
                  <a:srgbClr val="53565A"/>
                </a:solidFill>
                <a:latin typeface="Helvetica"/>
              </a:rPr>
              <a:t>Valable pour : bilan au 31/12/2025 de « BALANCE FPPN 2025.xlsx ». Plafonds de réallocation des classeur des calculs, onglets 13a à 13i.</a:t>
            </a:r>
          </a:p>
        </p:txBody>
      </p:sp>
      <p:sp>
        <p:nvSpPr>
          <p:cNvPr id="34" name="TextBox 33"/>
          <p:cNvSpPr txBox="1"/>
          <p:nvPr/>
        </p:nvSpPr>
        <p:spPr>
          <a:xfrm>
            <a:off x="503999" y="3322437"/>
            <a:ext cx="11232000" cy="2545562"/>
          </a:xfrm>
          <a:prstGeom prst="rect">
            <a:avLst/>
          </a:prstGeom>
          <a:noFill/>
        </p:spPr>
        <p:txBody>
          <a:bodyPr wrap="square" lIns="54000" rIns="54000"/>
          <a:lstStyle/>
          <a:p>
            <a:pPr algn="just">
              <a:spcAft>
                <a:spcPts val="600"/>
              </a:spcAft>
            </a:pPr>
            <a:r>
              <a:rPr sz="1300" b="1">
                <a:solidFill>
                  <a:srgbClr val="060606"/>
                </a:solidFill>
                <a:latin typeface="Helvetica"/>
              </a:rPr>
              <a:t>La trésorerie manquante dépasse, chaque année, toute la classe 2 : la réallocation des placements, seule, ne peut pas rendre la liquidité conforme.</a:t>
            </a:r>
          </a:p>
          <a:p>
            <a:pPr algn="just">
              <a:spcAft>
                <a:spcPts val="600"/>
              </a:spcAft>
            </a:pPr>
            <a:r>
              <a:rPr sz="1300" b="1">
                <a:solidFill>
                  <a:srgbClr val="060606"/>
                </a:solidFill>
                <a:latin typeface="Helvetica"/>
              </a:rPr>
              <a:t>Hors épargne, la liquidité devient conforme en 2025 et au 31/08/2026.</a:t>
            </a:r>
            <a:r>
              <a:rPr sz="1300" b="0">
                <a:solidFill>
                  <a:srgbClr val="060606"/>
                </a:solidFill>
                <a:latin typeface="Helvetica"/>
              </a:rPr>
              <a:t> Le problème de liquidité est donc celui de l'épargne PEP et EFC, classée en dettes à court terme.</a:t>
            </a:r>
          </a:p>
          <a:p>
            <a:pPr algn="just">
              <a:spcAft>
                <a:spcPts val="600"/>
              </a:spcAft>
            </a:pPr>
            <a:r>
              <a:rPr sz="1300" b="0">
                <a:solidFill>
                  <a:srgbClr val="060606"/>
                </a:solidFill>
                <a:latin typeface="Helvetica"/>
              </a:rPr>
              <a:t>Le levier de liquidité est l'adossement de l'épargne : des actifs dédiés, constitués au fil des versements, et un échéancier qui justifie le classement de l'épargne en ressource longue. Sans échéancier, ce classement n'est pas démontré.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885095905"/>
      </p:ext>
    </p:extLst>
  </p:cSld>
  <p:clrMapOvr>
    <a:masterClrMapping/>
  </p:clrMapOvr>
  <p:transition>
    <p:fade/>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Réserve et fonds propres : la règle des statuts aurait suffi pour la réserve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Avec 20 % des excédents depuis 2020, la réserve aurait été conforme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Réserve obligatoire 2025 : 5,01 mois réels. 8,41 mois avec 20 % des excédents passés. Norme de 6 à 9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Statuts, art. 81 et 90</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93 : Réserve obligatoire selon la dotation statutaire, et horizon des fonds propres</a:t>
            </a:r>
          </a:p>
        </p:txBody>
      </p:sp>
      <p:graphicFrame>
        <p:nvGraphicFramePr>
          <p:cNvPr id="32" name="Table 31"/>
          <p:cNvGraphicFramePr>
            <a:graphicFrameLocks noGrp="1"/>
          </p:cNvGraphicFramePr>
          <p:nvPr/>
        </p:nvGraphicFramePr>
        <p:xfrm>
          <a:off x="503999" y="1655999"/>
          <a:ext cx="11217599" cy="1122888"/>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Réserve réelle (mois)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4,91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5,01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5,47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Avec 20 % des excédents (mois)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4,86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32,17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18,19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11,52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8,41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9,77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Conforme avec 20 %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Avec 50 % des excédents (mois)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12,14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80,44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45,47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28,81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21,03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24,43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Années d'excédent pour les fonds propres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30,40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26,97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20,09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18,25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20,38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26,18</a:t>
                      </a:r>
                    </a:p>
                  </a:txBody>
                  <a:tcPr marL="43200" marR="43200" marT="14400" marB="14400" anchor="ctr">
                    <a:solidFill>
                      <a:srgbClr val="FFFFFF"/>
                    </a:solidFill>
                  </a:tcPr>
                </a:tc>
              </a:tr>
            </a:tbl>
          </a:graphicData>
        </a:graphic>
      </p:graphicFrame>
      <p:sp>
        <p:nvSpPr>
          <p:cNvPr id="33" name="TextBox 32"/>
          <p:cNvSpPr txBox="1"/>
          <p:nvPr/>
        </p:nvSpPr>
        <p:spPr>
          <a:xfrm>
            <a:off x="503999" y="2886888"/>
            <a:ext cx="11232000" cy="306000"/>
          </a:xfrm>
          <a:prstGeom prst="rect">
            <a:avLst/>
          </a:prstGeom>
          <a:noFill/>
        </p:spPr>
        <p:txBody>
          <a:bodyPr wrap="square" anchor="t" lIns="54000" rIns="54000"/>
          <a:lstStyle/>
          <a:p>
            <a:pPr algn="l"/>
            <a:r>
              <a:rPr sz="850" b="0">
                <a:solidFill>
                  <a:srgbClr val="53565A"/>
                </a:solidFill>
                <a:latin typeface="Helvetica"/>
              </a:rPr>
              <a:t>Valable pour : dotation statutaire (statuts, art. 81 et 90) appliquée aux excédents de 2020 à 2025 des balances « BALANCE FORMAT EXCEL DE 09-2020 AU 31-12-2020.xlsx » à « BALANCE FPPN DU 01-01-2026 AU 31-08-2026.xlsx ».</a:t>
            </a:r>
          </a:p>
        </p:txBody>
      </p:sp>
      <p:sp>
        <p:nvSpPr>
          <p:cNvPr id="34" name="TextBox 33"/>
          <p:cNvSpPr txBox="1"/>
          <p:nvPr/>
        </p:nvSpPr>
        <p:spPr>
          <a:xfrm>
            <a:off x="503999" y="3336888"/>
            <a:ext cx="11232000" cy="2531111"/>
          </a:xfrm>
          <a:prstGeom prst="rect">
            <a:avLst/>
          </a:prstGeom>
          <a:noFill/>
        </p:spPr>
        <p:txBody>
          <a:bodyPr wrap="square" lIns="54000" rIns="54000"/>
          <a:lstStyle/>
          <a:p>
            <a:pPr algn="just">
              <a:spcAft>
                <a:spcPts val="600"/>
              </a:spcAft>
            </a:pPr>
            <a:r>
              <a:rPr sz="1300" b="1">
                <a:solidFill>
                  <a:srgbClr val="060606"/>
                </a:solidFill>
                <a:latin typeface="Helvetica"/>
              </a:rPr>
              <a:t>Une dotation de 20 % des excédents dès 2020 aurait donné une réserve conforme en 2025. Au-delà de 9 mois, la réserve dépasse la borne haute.</a:t>
            </a:r>
            <a:r>
              <a:rPr sz="1300" b="0">
                <a:solidFill>
                  <a:srgbClr val="060606"/>
                </a:solidFill>
                <a:latin typeface="Helvetica"/>
              </a:rPr>
              <a:t> Le problème de la réserve tient à l'affectation des excédents, pas à leur montant.</a:t>
            </a:r>
          </a:p>
          <a:p>
            <a:pPr algn="just">
              <a:spcAft>
                <a:spcPts val="600"/>
              </a:spcAft>
            </a:pPr>
            <a:r>
              <a:rPr sz="1300" b="1">
                <a:solidFill>
                  <a:srgbClr val="060606"/>
                </a:solidFill>
                <a:latin typeface="Helvetica"/>
              </a:rPr>
              <a:t>Les fonds propres demanderaient 22,22 années d'excédent moyen pour atteindre la norme</a:t>
            </a:r>
            <a:r>
              <a:rPr sz="1300" b="0">
                <a:solidFill>
                  <a:srgbClr val="060606"/>
                </a:solidFill>
                <a:latin typeface="Helvetica"/>
              </a:rPr>
              <a:t> : l'excédent seul ne peut pas les reconstituer dans un délai raisonnable.</a:t>
            </a:r>
          </a:p>
          <a:p>
            <a:pPr algn="just">
              <a:spcAft>
                <a:spcPts val="600"/>
              </a:spcAft>
            </a:pPr>
            <a:r>
              <a:rPr sz="1300" b="0">
                <a:solidFill>
                  <a:srgbClr val="060606"/>
                </a:solidFill>
                <a:latin typeface="Helvetica"/>
              </a:rPr>
              <a:t>La réserve obligatoire peut être mise en conformité par la seule application de l'article 90 des statuts. Les fonds propres demandent d'autres ressources (dons et legs, art. 81) ou une réduction des dettes, à inscrire dans le plan de redressement.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853412517"/>
      </p:ext>
    </p:extLst>
  </p:cSld>
  <p:clrMapOvr>
    <a:masterClrMapping/>
  </p:clrMapOvr>
  <p:transition>
    <p:fade/>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Les normes de flux ne peuvent pas être respectées ensemble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Avec les formules de la Décision, sinistralité, coût par unité prestée et excédent net se contredisent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Il faudrait que les autres éléments du résultat soient une charge d'au moins 3,00 % des cotisations. Ils sont un produit de 6,63 % en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onglets 13a à 13i (formules). Décision n° 05/2022/COM/UEMOA du 1er juin 2022, annexe. Balances du FPPN. Calculs Adenka. Décision n° 05/2022/COM/UEMOA du 1er juin 2022, annexe, tableau 1, lignes 2 et 5. Tableau 2, lignes 5 et 10</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94 : Condition de faisabilité conjointe des normes de flux</a:t>
            </a:r>
          </a:p>
        </p:txBody>
      </p:sp>
      <p:graphicFrame>
        <p:nvGraphicFramePr>
          <p:cNvPr id="32" name="Table 31"/>
          <p:cNvGraphicFramePr>
            <a:graphicFrameLocks noGrp="1"/>
          </p:cNvGraphicFramePr>
          <p:nvPr/>
        </p:nvGraphicFramePr>
        <p:xfrm>
          <a:off x="503999" y="1655999"/>
          <a:ext cx="11217599" cy="1122888"/>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Autres éléments du résultat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859 500 956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1 327 261 802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946 571 355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81 577 995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50 025 847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226 523 323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20 862 774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 en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36,57 %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54,77 %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37,05 %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2,94 %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1,59 %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6,63 %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0,87 %</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Seuil maximal de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Normes conciliables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Exercices pour 6 mois de réserve à 5 % d'excédent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0,89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0,91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2,46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4,03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5,75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7,52</a:t>
                      </a:r>
                    </a:p>
                  </a:txBody>
                  <a:tcPr marL="43200" marR="43200" marT="14400" marB="14400" anchor="ctr">
                    <a:solidFill>
                      <a:srgbClr val="FFFFFF"/>
                    </a:solidFill>
                  </a:tcPr>
                </a:tc>
              </a:tr>
            </a:tbl>
          </a:graphicData>
        </a:graphic>
      </p:graphicFrame>
      <p:sp>
        <p:nvSpPr>
          <p:cNvPr id="33" name="TextBox 32"/>
          <p:cNvSpPr txBox="1"/>
          <p:nvPr/>
        </p:nvSpPr>
        <p:spPr>
          <a:xfrm>
            <a:off x="503999" y="2886888"/>
            <a:ext cx="11232000" cy="162000"/>
          </a:xfrm>
          <a:prstGeom prst="rect">
            <a:avLst/>
          </a:prstGeom>
          <a:noFill/>
        </p:spPr>
        <p:txBody>
          <a:bodyPr wrap="square" anchor="t" lIns="54000" rIns="54000"/>
          <a:lstStyle/>
          <a:p>
            <a:pPr algn="l"/>
            <a:r>
              <a:rPr sz="850" b="0">
                <a:solidFill>
                  <a:srgbClr val="53565A"/>
                </a:solidFill>
                <a:latin typeface="Helvetica"/>
              </a:rPr>
              <a:t>Valable pour : normes du tableau 1 (lignes 2 et 5) et du tableau 2 de la Décision n° 05/2022, exercice 2025.</a:t>
            </a:r>
          </a:p>
        </p:txBody>
      </p:sp>
      <p:sp>
        <p:nvSpPr>
          <p:cNvPr id="34" name="TextBox 33"/>
          <p:cNvSpPr txBox="1"/>
          <p:nvPr/>
        </p:nvSpPr>
        <p:spPr>
          <a:xfrm>
            <a:off x="503999" y="3192888"/>
            <a:ext cx="11232000" cy="2675111"/>
          </a:xfrm>
          <a:prstGeom prst="rect">
            <a:avLst/>
          </a:prstGeom>
          <a:noFill/>
        </p:spPr>
        <p:txBody>
          <a:bodyPr wrap="square" lIns="54000" rIns="54000"/>
          <a:lstStyle/>
          <a:p>
            <a:pPr algn="just">
              <a:spcAft>
                <a:spcPts val="600"/>
              </a:spcAft>
            </a:pPr>
            <a:r>
              <a:rPr sz="1300" b="1">
                <a:solidFill>
                  <a:srgbClr val="060606"/>
                </a:solidFill>
                <a:latin typeface="Helvetica"/>
              </a:rPr>
              <a:t>Tant que les produits financiers et autres produits dépassent les autres charges, aucune combinaison des cotisations, des prestations et des frais ne respecte en même temps la sinistralité, le coût par unité prestée et l'excédent net.</a:t>
            </a:r>
          </a:p>
          <a:p>
            <a:pPr algn="just">
              <a:spcAft>
                <a:spcPts val="600"/>
              </a:spcAft>
            </a:pPr>
            <a:r>
              <a:rPr sz="1300" b="1">
                <a:solidFill>
                  <a:srgbClr val="060606"/>
                </a:solidFill>
                <a:latin typeface="Helvetica"/>
              </a:rPr>
              <a:t>Les normes se contraignent aussi dans le temps</a:t>
            </a:r>
            <a:r>
              <a:rPr sz="1300" b="0">
                <a:solidFill>
                  <a:srgbClr val="060606"/>
                </a:solidFill>
                <a:latin typeface="Helvetica"/>
              </a:rPr>
              <a:t> : avec un excédent plafonné à 5 % et la sinistralité de 2025, constituer six mois de réserve prend 5,75 exercices.</a:t>
            </a:r>
          </a:p>
          <a:p>
            <a:pPr algn="just">
              <a:spcAft>
                <a:spcPts val="600"/>
              </a:spcAft>
            </a:pPr>
            <a:r>
              <a:rPr sz="1300" b="0">
                <a:solidFill>
                  <a:srgbClr val="060606"/>
                </a:solidFill>
                <a:latin typeface="Helvetica"/>
              </a:rPr>
              <a:t>Cette tension tient aux formules du texte, pas à la gestion du FPPN. Elle doit être exposée à l'AIRMS : le plan de mise en conformité doit dire quels ratios de flux sont visés en priorité et sur quel horizon.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810735405"/>
      </p:ext>
    </p:extLst>
  </p:cSld>
  <p:clrMapOvr>
    <a:masterClrMapping/>
  </p:clrMapOvr>
  <p:transition>
    <p:fade/>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Inflation médicale : sous-indices de prix de la santé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prix des analyses et de l'imagerie ont le plus augmenté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Inflation médicale pondérée par les prestations du FPPN : 3,21 % par an en moyenne de 2021 à 2024, 8,04 % au plus (2022)</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38 : Variation annuelle des prix de la santé retenus et inflation pondérée du FPPN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2024 : glissement d'octobre pour l'inflation pondérée, moyenne de janvier à octobre pour les postes</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ANStat, IHPC par poste de consommation (national), extraction du 19/10/2026. BCEAO, Rapport sur la Politique Monétaire dans l'UMOA, mars 2026, tableau 12. Prestations du FPPN (balances 2025). Classeur des calculs, onglet 13g</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analyses et l'imagerie, qui pèsent 67,31 % des prestations détaillées du FPPN, ont connu un saut de prix en 2022.</a:t>
            </a:r>
            <a:r>
              <a:rPr sz="1400" b="0">
                <a:solidFill>
                  <a:srgbClr val="060606"/>
                </a:solidFill>
                <a:latin typeface="Helvetica"/>
              </a:rPr>
              <a:t> L'indice passe de 102,79 en avril à 124,25 en juillet 2022.</a:t>
            </a:r>
          </a:p>
          <a:p>
            <a:pPr algn="just">
              <a:spcAft>
                <a:spcPts val="600"/>
              </a:spcAft>
            </a:pPr>
            <a:r>
              <a:rPr sz="1400" b="1">
                <a:solidFill>
                  <a:srgbClr val="060606"/>
                </a:solidFill>
                <a:latin typeface="Helvetica"/>
              </a:rPr>
              <a:t>En 2025, faute de série ANStat, l'inflation de la santé de l'UEMOA est négative (-1,87 % en moyenne de trois trimestres)</a:t>
            </a:r>
            <a:r>
              <a:rPr sz="1400" b="0">
                <a:solidFill>
                  <a:srgbClr val="060606"/>
                </a:solidFill>
                <a:latin typeface="Helvetica"/>
              </a:rPr>
              <a:t> selon la BCEAO.</a:t>
            </a:r>
          </a:p>
          <a:p>
            <a:pPr algn="just">
              <a:spcAft>
                <a:spcPts val="600"/>
              </a:spcAft>
            </a:pPr>
            <a:r>
              <a:rPr sz="1400" b="0">
                <a:solidFill>
                  <a:srgbClr val="060606"/>
                </a:solidFill>
                <a:latin typeface="Helvetica"/>
              </a:rPr>
              <a:t>Les prix de la santé ont augmenté d'au plus 8,04 % par an, alors que les prestations maladie ont été multipliées par 8,61 de 2020 à 2025 : l'essentiel de la hausse vient du volume des soins, pas des prix. La série ANStat après octobre 2024 et les pondérations officielles restent à obtenir.</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IHPC santé de l'ANStat (national, extraction du 19/10/2026), 2020 à 2025, pondéré par les prestations maladie 2025 du FPPN.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BCEAO : Banque centrale des États de l'Afrique de l'Ouest | ANStat : Agence nationale de la statistique de Côte d'Ivoire | IHPC : indice harmonisé des prix à la consommation | UMOA : Union monétaire ouest-africaine</a:t>
            </a:r>
          </a:p>
        </p:txBody>
      </p:sp>
    </p:spTree>
    <p:extLst>
      <p:ext uri="{BB962C8B-B14F-4D97-AF65-F5344CB8AC3E}">
        <p14:creationId xmlns:p14="http://schemas.microsoft.com/office/powerpoint/2010/main" val="1950059316"/>
      </p:ext>
    </p:extLst>
  </p:cSld>
  <p:clrMapOvr>
    <a:masterClrMapping/>
  </p:clrMapOvr>
  <p:transition>
    <p:fade/>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face à une hausse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hausse de 6,39 % des prestations de 2026 ferait dépasser 80 %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Seuil de dépassement : 6,39 % de hausse sur 2026. L'inflation pondérée maximale observée (8,04 %) le franchirait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onglet 13g. ANStat. Décision n° 05/2022/COM/UEMOA du 1er juin 2022, annexe, tableau 1, ligne 5</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95 : Sinistralité selon la hausse des prestations</a:t>
            </a:r>
          </a:p>
        </p:txBody>
      </p:sp>
      <p:graphicFrame>
        <p:nvGraphicFramePr>
          <p:cNvPr id="32" name="Table 31"/>
          <p:cNvGraphicFramePr>
            <a:graphicFrameLocks noGrp="1"/>
          </p:cNvGraphicFramePr>
          <p:nvPr/>
        </p:nvGraphicFramePr>
        <p:xfrm>
          <a:off x="503999" y="1655999"/>
          <a:ext cx="7056000" cy="2222018"/>
        </p:xfrm>
        <a:graphic>
          <a:graphicData uri="http://schemas.openxmlformats.org/drawingml/2006/table">
            <a:tbl>
              <a:tblPr firstRow="0" bandRow="0">
                <a:tableStyleId>{5940675A-B579-460E-94D1-54222C63F5DA}</a:tableStyleId>
              </a:tblPr>
              <a:tblGrid>
                <a:gridCol w="2116800"/>
                <a:gridCol w="1360800"/>
                <a:gridCol w="1108800"/>
                <a:gridCol w="1360800"/>
                <a:gridCol w="1108800"/>
              </a:tblGrid>
              <a:tr h="194768">
                <a:tc>
                  <a:txBody>
                    <a:bodyPr/>
                    <a:lstStyle/>
                    <a:p>
                      <a:pPr marL="0" indent="0" lvl="0">
                        <a:buNone/>
                      </a:pPr>
                      <a:r>
                        <a:rPr sz="900" b="1">
                          <a:solidFill>
                            <a:srgbClr val="FFFFFF"/>
                          </a:solidFill>
                          <a:latin typeface="Helvetica"/>
                        </a:rPr>
                        <a:t>Hausse des prestations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Sinistralité 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Conforme 2025 ?</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Sinistralité 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Conforme 2026 ?</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56,33 %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73,69 %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76,70 %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59,78 %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78,20 %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6,00 %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60,93 %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79,71 %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62,08 %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81,21 %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10,00 %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82,72 %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Inflation moyenne 2021-2024 : 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59,32 %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77,61 %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Inflation maximale 2018-2024 : 8,04 %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62,10 %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81,24 %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r>
            </a:tbl>
          </a:graphicData>
        </a:graphic>
      </p:graphicFrame>
      <p:sp>
        <p:nvSpPr>
          <p:cNvPr id="33" name="TextBox 32"/>
          <p:cNvSpPr txBox="1"/>
          <p:nvPr/>
        </p:nvSpPr>
        <p:spPr>
          <a:xfrm>
            <a:off x="503999" y="3986023"/>
            <a:ext cx="7056000" cy="306000"/>
          </a:xfrm>
          <a:prstGeom prst="rect">
            <a:avLst/>
          </a:prstGeom>
          <a:noFill/>
        </p:spPr>
        <p:txBody>
          <a:bodyPr wrap="square" anchor="t" lIns="54000" rIns="54000"/>
          <a:lstStyle/>
          <a:p>
            <a:pPr algn="l"/>
            <a:r>
              <a:rPr sz="850" b="0">
                <a:solidFill>
                  <a:srgbClr val="53565A"/>
                </a:solidFill>
                <a:latin typeface="Helvetica"/>
              </a:rPr>
              <a:t>Valable pour : exercice 2025. Hausses de prestations hypothétiques appliquées aux prestations de « BALANCE FPPN 2025.xlsx ».</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En 2026, la sinistralité est déjà proche de sa borne haute</a:t>
            </a:r>
            <a:r>
              <a:rPr sz="1400" b="0">
                <a:solidFill>
                  <a:srgbClr val="060606"/>
                </a:solidFill>
                <a:latin typeface="Helvetica"/>
              </a:rPr>
              <a:t> : une hausse de 6,39 % des prestations la porterait au-delà de 80 %.</a:t>
            </a:r>
          </a:p>
          <a:p>
            <a:pPr algn="just">
              <a:spcAft>
                <a:spcPts val="600"/>
              </a:spcAft>
            </a:pPr>
            <a:r>
              <a:rPr sz="1400" b="1">
                <a:solidFill>
                  <a:srgbClr val="060606"/>
                </a:solidFill>
                <a:latin typeface="Helvetica"/>
              </a:rPr>
              <a:t>En 2025, il faudrait au contraire 21,78 % de prestations en plus pour atteindre 70 %.</a:t>
            </a:r>
          </a:p>
          <a:p>
            <a:pPr algn="just">
              <a:spcAft>
                <a:spcPts val="600"/>
              </a:spcAft>
            </a:pPr>
            <a:r>
              <a:rPr sz="1400" b="0">
                <a:solidFill>
                  <a:srgbClr val="060606"/>
                </a:solidFill>
                <a:latin typeface="Helvetica"/>
              </a:rPr>
              <a:t>La sinistralité est passée en deux ans d'un excès de marge à une marge faible : la revue du régime des prestations doit intégrer une hypothèse d'inflation médicale, et le recalcul des provisions, qui entre dans le ratio.</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ANStat : Agence nationale de la statistique de Côte d'Ivoire</a:t>
            </a:r>
          </a:p>
        </p:txBody>
      </p:sp>
    </p:spTree>
    <p:extLst>
      <p:ext uri="{BB962C8B-B14F-4D97-AF65-F5344CB8AC3E}">
        <p14:creationId xmlns:p14="http://schemas.microsoft.com/office/powerpoint/2010/main" val="1369833798"/>
      </p:ext>
    </p:extLst>
  </p:cSld>
  <p:clrMapOvr>
    <a:masterClrMapping/>
  </p:clrMapOvr>
  <p:transition>
    <p:fade/>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 et taux du marché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rendement du FPPN est inférieur aux taux du marché de 2022 à 2024</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Obligations de l'État de Côte d'Ivoire : 7,11 % à 5 ans (15/10/2026), 7,40 % à 10 ans (19/10/2026). Taux servi sur l'épargne : 3,50 % selon le chef comptable, 5,50 % selon le manuel d'épargne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Rapport sur la Politique Monétaire dans l'UMOA, mars 2026, tableaux 17 et 22. Investing.com, « Rendement de l'Obligation Cote d'Ivoire 5-Year / 10-Year - Données Historiques », export du 19/10/2026. Classeur des calculs, onglet 13i. Entretien du 19/10/2026 (taux servi)</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96 : Rendement du FPPN et taux du marché, 2021 à 2025</a:t>
            </a:r>
          </a:p>
        </p:txBody>
      </p:sp>
      <p:graphicFrame>
        <p:nvGraphicFramePr>
          <p:cNvPr id="32" name="Table 31"/>
          <p:cNvGraphicFramePr>
            <a:graphicFrameLocks noGrp="1"/>
          </p:cNvGraphicFramePr>
          <p:nvPr/>
        </p:nvGraphicFramePr>
        <p:xfrm>
          <a:off x="503999" y="1655999"/>
          <a:ext cx="11232000" cy="1921455"/>
        </p:xfrm>
        <a:graphic>
          <a:graphicData uri="http://schemas.openxmlformats.org/drawingml/2006/table">
            <a:tbl>
              <a:tblPr firstRow="0" bandRow="0">
                <a:tableStyleId>{5940675A-B579-460E-94D1-54222C63F5DA}</a:tableStyleId>
              </a:tblPr>
              <a:tblGrid>
                <a:gridCol w="3168000"/>
                <a:gridCol w="1044000"/>
                <a:gridCol w="1044000"/>
                <a:gridCol w="1044000"/>
                <a:gridCol w="1044000"/>
                <a:gridCol w="1044000"/>
                <a:gridCol w="2844000"/>
              </a:tblGrid>
              <a:tr h="180000">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Rendement brut des placements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6,20 %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1,30 %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22,88 %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Partie 10</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Dépôts à terme, Côte d'Ivoire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4,25 %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4,72 %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BCEAO, tableau 22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État de Côte d'Ivoire, 5 ans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5,66 %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5,19 %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6,86 %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7,73 %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7,68 %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Investing.com</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État de Côte d'Ivoire, 10 ans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6,19 %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5,93 %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7,79 %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7,70 %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7,19 %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Investing.com</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Obligations de l'UMOA, 5 ans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6,94 %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 tableau 17</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Conforme face aux dépôts à terme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Oui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Onglet 13i</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Conforme face à l'État à 5 ans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Onglet 13i</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Solde moyen non rémunéré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2 274 615 536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638 155 842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695 388 139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438 360 275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1 449 586 812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Partie 10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Produit possible au taux des dépôts à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18 608 394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68 492 977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Onglet 13i</a:t>
                      </a:r>
                    </a:p>
                  </a:txBody>
                  <a:tcPr marL="43200" marR="43200" marT="14400" marB="14400" anchor="ctr">
                    <a:solidFill>
                      <a:srgbClr val="FFFFFF"/>
                    </a:solidFill>
                  </a:tcPr>
                </a:tc>
              </a:tr>
            </a:tbl>
          </a:graphicData>
        </a:graphic>
      </p:graphicFrame>
      <p:sp>
        <p:nvSpPr>
          <p:cNvPr id="33" name="TextBox 32"/>
          <p:cNvSpPr txBox="1"/>
          <p:nvPr/>
        </p:nvSpPr>
        <p:spPr>
          <a:xfrm>
            <a:off x="503999" y="3685455"/>
            <a:ext cx="11232000" cy="162000"/>
          </a:xfrm>
          <a:prstGeom prst="rect">
            <a:avLst/>
          </a:prstGeom>
          <a:noFill/>
        </p:spPr>
        <p:txBody>
          <a:bodyPr wrap="square" anchor="t" lIns="54000" rIns="54000"/>
          <a:lstStyle/>
          <a:p>
            <a:pPr algn="l"/>
            <a:r>
              <a:rPr sz="850" b="0">
                <a:solidFill>
                  <a:srgbClr val="53565A"/>
                </a:solidFill>
                <a:latin typeface="Helvetica"/>
              </a:rPr>
              <a:t>Valable pour : rendement du FPPN de 2021 à 2025 (classe 77 et comptes 52 et 53). Taux de la BCEAO et obligations ivoiriennes à 5 et 10 ans.</a:t>
            </a:r>
          </a:p>
        </p:txBody>
      </p:sp>
      <p:sp>
        <p:nvSpPr>
          <p:cNvPr id="34" name="TextBox 33"/>
          <p:cNvSpPr txBox="1"/>
          <p:nvPr/>
        </p:nvSpPr>
        <p:spPr>
          <a:xfrm>
            <a:off x="503999" y="3991455"/>
            <a:ext cx="11232000" cy="1876544"/>
          </a:xfrm>
          <a:prstGeom prst="rect">
            <a:avLst/>
          </a:prstGeom>
          <a:noFill/>
        </p:spPr>
        <p:txBody>
          <a:bodyPr wrap="square" lIns="54000" rIns="54000"/>
          <a:lstStyle/>
          <a:p>
            <a:pPr algn="just">
              <a:spcAft>
                <a:spcPts val="600"/>
              </a:spcAft>
            </a:pPr>
            <a:r>
              <a:rPr sz="1300" b="1">
                <a:solidFill>
                  <a:srgbClr val="060606"/>
                </a:solidFill>
                <a:latin typeface="Helvetica"/>
              </a:rPr>
              <a:t>De 2022 à 2024, le rendement des placements est inférieur à toutes les références de marché disponibles.</a:t>
            </a:r>
            <a:r>
              <a:rPr sz="1300" b="0">
                <a:solidFill>
                  <a:srgbClr val="060606"/>
                </a:solidFill>
                <a:latin typeface="Helvetica"/>
              </a:rPr>
              <a:t> Celui de 2025 les dépasse seulement parce que les intérêts d'un dépôt à terme sont comptabilisés à sa clôture.</a:t>
            </a:r>
          </a:p>
          <a:p>
            <a:pPr algn="just">
              <a:spcAft>
                <a:spcPts val="600"/>
              </a:spcAft>
            </a:pPr>
            <a:r>
              <a:rPr sz="1300" b="1">
                <a:solidFill>
                  <a:srgbClr val="060606"/>
                </a:solidFill>
                <a:latin typeface="Helvetica"/>
              </a:rPr>
              <a:t>Le taux servi de 3,5 % sur l'épargne est inférieur de 3,61 % au rendement actuel des obligations de l'État à 5 ans</a:t>
            </a:r>
            <a:r>
              <a:rPr sz="1300" b="0">
                <a:solidFill>
                  <a:srgbClr val="060606"/>
                </a:solidFill>
                <a:latin typeface="Helvetica"/>
              </a:rPr>
              <a:t> : un adossement de l'épargne en titres publics couvrirait le taux servi avec une marge.</a:t>
            </a:r>
          </a:p>
          <a:p>
            <a:pPr algn="just">
              <a:spcAft>
                <a:spcPts val="600"/>
              </a:spcAft>
            </a:pPr>
            <a:r>
              <a:rPr sz="1300" b="0">
                <a:solidFill>
                  <a:srgbClr val="060606"/>
                </a:solidFill>
                <a:latin typeface="Helvetica"/>
              </a:rPr>
              <a:t>Placer le solde non rémunéré rapporterait 68 492 977 FCFA par an au taux des dépôts à terme de 2025, sans réduire la liquidité au sens du texte, car un dépôt à terme reste en classe 5. Les échéances doivent suivre l'échéancier de l'épargne, à établir.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 | UMOA : Union monétaire ouest-africaine</a:t>
            </a:r>
          </a:p>
        </p:txBody>
      </p:sp>
    </p:spTree>
    <p:extLst>
      <p:ext uri="{BB962C8B-B14F-4D97-AF65-F5344CB8AC3E}">
        <p14:creationId xmlns:p14="http://schemas.microsoft.com/office/powerpoint/2010/main" val="489283938"/>
      </p:ext>
    </p:extLst>
  </p:cSld>
  <p:clrMapOvr>
    <a:masterClrMapping/>
  </p:clrMapOvr>
  <p:transition>
    <p:fade/>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écarts de bilan (épargne, fonds propres) dépassent les moyens annuels du FPPN. Les écarts de compte de résultat (frais, réserve) peuvent être corrigés en quelques exercices.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Trésorerie manquante de 13 555 974 724 FCFA en 2025, supérieure à toute la classe 2. Fonds propres manquants de 16 002 055 145 FCFA. Frais à réduire de 558 364 763 FCFA. Une dotation de 20 % des excédents aurait suffi pour la réserve en 2025.</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taux de cotisation ne peut pas, seul, rendre le FPPN conforme : il améliore les frais mais éloigne la sinistralité et l'excédent net de leur norme. Les normes de flux ne sont pas conciliables tant que les autres produits dépassent les autres charges.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proposer à l'AIRMS un plan pluriannuel : maîtrise des frais, dotation statutaire de la réserve, adossement de l'épargne sur un échéancier, ressources propres, revue du régime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leviers de conformité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écarts sont structurels. Seuls des leviers combinés peuvent rendre le FPPN conforme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13 ratios non conformes toutes les années, cinq facteurs récurrents, des leviers parfois contradictoires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a:t>
            </a:r>
          </a:p>
        </p:txBody>
      </p:sp>
    </p:spTree>
    <p:extLst>
      <p:ext uri="{BB962C8B-B14F-4D97-AF65-F5344CB8AC3E}">
        <p14:creationId xmlns:p14="http://schemas.microsoft.com/office/powerpoint/2010/main" val="555993351"/>
      </p:ext>
    </p:extLst>
  </p:cSld>
  <p:clrMapOvr>
    <a:masterClrMapping/>
  </p:clrMapOvr>
  <p:transition>
    <p:fade/>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Tables de mortalité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Rôle, choix des tables, indicateurs de référence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207207671"/>
      </p:ext>
    </p:extLst>
  </p:cSld>
  <p:clrMapOvr>
    <a:masterClrMapping/>
  </p:clrMapOvr>
  <p:transition>
    <p:fade/>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qx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pour chaque âge x, la probabilité de décéder avant l'âge x + 1. C'est la brique de base de tous les calculs.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aussi le nombre de survivants à chaque âge, sur 1 000 000 de naissances. Le rapport de deux Lx donne une probabilité de survie.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Premier usage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Comparer la mortalité réelle des policiers à la table de référence dit si la cotisation décès est bien calibrée.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Second usage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tables permettent de calculer la valeur des engagements qui durent toute la vie, comme une prise en charge santé maintenue aux retraités.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des tables de mortalité</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servent à mesurer et à évaluer tout engagement lié à la vie humaine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Elles préparent deux analyses de la mission : la mortalité des policiers et les engagements viagers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Lx : survivants à l'âge x | TD, TV : anciennes tables CIMA de décès et de survie</a:t>
            </a:r>
          </a:p>
        </p:txBody>
      </p:sp>
    </p:spTree>
    <p:extLst>
      <p:ext uri="{BB962C8B-B14F-4D97-AF65-F5344CB8AC3E}">
        <p14:creationId xmlns:p14="http://schemas.microsoft.com/office/powerpoint/2010/main" val="513459661"/>
      </p:ext>
    </p:extLst>
  </p:cSld>
  <p:clrMapOvr>
    <a:masterClrMapping/>
  </p:clrMapOvr>
  <p:transition>
    <p:fade/>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tables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principe de prudence fixe la table selon le risque porté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CIMA H pour le risque décès, CIMA F pour le risque de survie, TD et TV en comparaison historique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97 : Tables de mortalité CIMA et usage retenu</a:t>
            </a:r>
          </a:p>
        </p:txBody>
      </p:sp>
      <p:graphicFrame>
        <p:nvGraphicFramePr>
          <p:cNvPr id="32" name="Table 31"/>
          <p:cNvGraphicFramePr>
            <a:graphicFrameLocks noGrp="1"/>
          </p:cNvGraphicFramePr>
          <p:nvPr/>
        </p:nvGraphicFramePr>
        <p:xfrm>
          <a:off x="503999" y="1655999"/>
          <a:ext cx="11231999" cy="1461552"/>
        </p:xfrm>
        <a:graphic>
          <a:graphicData uri="http://schemas.openxmlformats.org/drawingml/2006/table">
            <a:tbl>
              <a:tblPr firstRow="0" bandRow="0">
                <a:tableStyleId>{5940675A-B579-460E-94D1-54222C63F5DA}</a:tableStyleId>
              </a:tblPr>
              <a:tblGrid>
                <a:gridCol w="1368000"/>
                <a:gridCol w="2015999"/>
                <a:gridCol w="2520000"/>
                <a:gridCol w="5328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Feuille du 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Risque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la mission</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CIMA_H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(paiement au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Calibrage de la cotisation décès et comparaison à la mortalité observée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CIMA_F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(paiement tant que la personne vit)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Engagements viagers : prise en charge des retraités, rentes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TD_CIMA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(ancienne 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TV_CIMA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(ancienne 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2F2F2"/>
                    </a:solidFill>
                  </a:tcPr>
                </a:tc>
              </a:tr>
            </a:tbl>
          </a:graphicData>
        </a:graphic>
      </p:graphicFrame>
      <p:sp>
        <p:nvSpPr>
          <p:cNvPr id="33" name="TextBox 32"/>
          <p:cNvSpPr txBox="1"/>
          <p:nvPr/>
        </p:nvSpPr>
        <p:spPr>
          <a:xfrm>
            <a:off x="503999" y="3225553"/>
            <a:ext cx="11232000" cy="162000"/>
          </a:xfrm>
          <a:prstGeom prst="rect">
            <a:avLst/>
          </a:prstGeom>
          <a:noFill/>
        </p:spPr>
        <p:txBody>
          <a:bodyPr wrap="square" anchor="t" lIns="54000" rIns="54000"/>
          <a:lstStyle/>
          <a:p>
            <a:pPr algn="l"/>
            <a:r>
              <a:rPr sz="850" b="0">
                <a:solidFill>
                  <a:srgbClr val="53565A"/>
                </a:solidFill>
                <a:latin typeface="Helvetica"/>
              </a:rPr>
              <a:t>Valable pour : tables « CIMA_H.xlsx », « CIMA_F.xlsx », « TD_CIMA.xlsx », « TV_CIMA.xlsx » fournies le 18/10/2026. Non comparées à la mortalité des policiers.</a:t>
            </a:r>
          </a:p>
        </p:txBody>
      </p:sp>
      <p:sp>
        <p:nvSpPr>
          <p:cNvPr id="34" name="TextBox 33"/>
          <p:cNvSpPr txBox="1"/>
          <p:nvPr/>
        </p:nvSpPr>
        <p:spPr>
          <a:xfrm>
            <a:off x="503999" y="3531553"/>
            <a:ext cx="11232000" cy="2336446"/>
          </a:xfrm>
          <a:prstGeom prst="rect">
            <a:avLst/>
          </a:prstGeom>
          <a:noFill/>
        </p:spPr>
        <p:txBody>
          <a:bodyPr wrap="square" lIns="54000" rIns="54000"/>
          <a:lstStyle/>
          <a:p>
            <a:pPr algn="just">
              <a:spcAft>
                <a:spcPts val="600"/>
              </a:spcAft>
            </a:pPr>
            <a:r>
              <a:rPr sz="1300" b="1">
                <a:solidFill>
                  <a:srgbClr val="060606"/>
                </a:solidFill>
                <a:latin typeface="Helvetica"/>
              </a:rPr>
              <a:t>La prudence change de sens selon le risque.</a:t>
            </a:r>
            <a:r>
              <a:rPr sz="1300" b="0">
                <a:solidFill>
                  <a:srgbClr val="060606"/>
                </a:solidFill>
                <a:latin typeface="Helvetica"/>
              </a:rPr>
              <a:t> Une même table peut être prudente pour un capital décès et imprudente pour une rente : c'est pourquoi deux tables sont retenues.</a:t>
            </a:r>
          </a:p>
          <a:p>
            <a:pPr algn="just">
              <a:spcAft>
                <a:spcPts val="600"/>
              </a:spcAft>
            </a:pPr>
            <a:r>
              <a:rPr sz="1300" b="0">
                <a:solidFill>
                  <a:srgbClr val="060606"/>
                </a:solidFill>
                <a:latin typeface="Helvetica"/>
              </a:rPr>
              <a:t>Le FPPN porte les deux risques (capital décès et, potentiellement, prise en charge viagère des retraités) : chaque engagement sera évalué avec la table qui le défavorise.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284328603"/>
      </p:ext>
    </p:extLst>
  </p:cSld>
  <p:clrMapOvr>
    <a:masterClrMapping/>
  </p:clrMapOvr>
  <p:transition>
    <p:fade/>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Courbes de survie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de survie prévoient des vies plus longues que les tables de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Survivants à 60 ans sur 100 naissances : 81,51 (CIMA H), 89,58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39 : Survivants pour 100 naissances,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naissances</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L'espérance de vie à la naissance vaut 73,50 ans avec CIMA H et 81,64 ans avec CIMA F.</a:t>
            </a:r>
          </a:p>
          <a:p>
            <a:pPr algn="just">
              <a:spcAft>
                <a:spcPts val="600"/>
              </a:spcAft>
            </a:pPr>
            <a:r>
              <a:rPr sz="1400" b="1">
                <a:solidFill>
                  <a:srgbClr val="060606"/>
                </a:solidFill>
                <a:latin typeface="Helvetica"/>
              </a:rPr>
              <a:t>Les anciennes tables prévoient davantage de décès</a:t>
            </a:r>
            <a:r>
              <a:rPr sz="1400" b="0">
                <a:solidFill>
                  <a:srgbClr val="060606"/>
                </a:solidFill>
                <a:latin typeface="Helvetica"/>
              </a:rPr>
              <a:t> : 67,51 ans avec TD et 74,56 ans avec TV.</a:t>
            </a:r>
          </a:p>
          <a:p>
            <a:pPr algn="just">
              <a:spcAft>
                <a:spcPts val="600"/>
              </a:spcAft>
            </a:pPr>
            <a:r>
              <a:rPr sz="1400" b="1">
                <a:solidFill>
                  <a:srgbClr val="060606"/>
                </a:solidFill>
                <a:latin typeface="Helvetica"/>
              </a:rPr>
              <a:t>Le choix de la table change donc fortement les montants calculés.</a:t>
            </a:r>
          </a:p>
          <a:p>
            <a:pPr algn="just">
              <a:spcAft>
                <a:spcPts val="600"/>
              </a:spcAft>
            </a:pPr>
            <a:r>
              <a:rPr sz="1400" b="0">
                <a:solidFill>
                  <a:srgbClr val="060606"/>
                </a:solidFill>
                <a:latin typeface="Helvetica"/>
              </a:rPr>
              <a:t>Un engagement viager évalué avec une ancienne table est sous-estimé : les calculs de la mission utiliseront les tables en vigueur depuis 2012.</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colonne Lx des tables CIMA H, CIMA F, TD et TV, âges 0 à 110 ans. Population générale de la zone CIMA, non le FPPN.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Lx : survivants à l'âge x | TD, TV : anciennes tables CIMA de décès et de survie</a:t>
            </a:r>
          </a:p>
        </p:txBody>
      </p:sp>
    </p:spTree>
    <p:extLst>
      <p:ext uri="{BB962C8B-B14F-4D97-AF65-F5344CB8AC3E}">
        <p14:creationId xmlns:p14="http://schemas.microsoft.com/office/powerpoint/2010/main" val="1258300035"/>
      </p:ext>
    </p:extLst>
  </p:cSld>
  <p:clrMapOvr>
    <a:masterClrMapping/>
  </p:clrMapOvr>
  <p:transition>
    <p:fade/>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Probabilités de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probabilité de décès double environ tous les dix ans aux âges actifs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Probabilité de décès à 40 ans : 3,50 pour mille (CIMA H), 1,89 pour mille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40 : Probabilité de décès dans l'année (qx),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pour mille</a:t>
            </a:r>
          </a:p>
        </p:txBody>
      </p:sp>
      <p:graphicFrame>
        <p:nvGraphicFramePr>
          <p:cNvPr id="32" name="Chart 31"/>
          <p:cNvGraphicFramePr>
            <a:graphicFrameLocks noGrp="1"/>
          </p:cNvGraphicFramePr>
          <p:nvPr/>
        </p:nvGraphicFramePr>
        <p:xfrm>
          <a:off x="503999" y="1782000"/>
          <a:ext cx="6552000" cy="3744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À 55 ans, la probabilité de décès vaut 9,38 pour mille avec CIMA H et 5,09 pour mille avec CIMA F.</a:t>
            </a:r>
          </a:p>
          <a:p>
            <a:pPr algn="just">
              <a:spcAft>
                <a:spcPts val="600"/>
              </a:spcAft>
            </a:pPr>
            <a:r>
              <a:rPr sz="1400" b="1">
                <a:solidFill>
                  <a:srgbClr val="060606"/>
                </a:solidFill>
                <a:latin typeface="Helvetica"/>
              </a:rPr>
              <a:t>Entre 20 et 60 ans, CIMA H prévoit 18,77 % de décès de moins que TD</a:t>
            </a:r>
            <a:r>
              <a:rPr sz="1400" b="0">
                <a:solidFill>
                  <a:srgbClr val="060606"/>
                </a:solidFill>
                <a:latin typeface="Helvetica"/>
              </a:rPr>
              <a:t>, et CIMA F 9,06 % de moins que TV.</a:t>
            </a:r>
          </a:p>
          <a:p>
            <a:pPr algn="just">
              <a:spcAft>
                <a:spcPts val="600"/>
              </a:spcAft>
            </a:pPr>
            <a:r>
              <a:rPr sz="1400" b="1">
                <a:solidFill>
                  <a:srgbClr val="060606"/>
                </a:solidFill>
                <a:latin typeface="Helvetica"/>
              </a:rPr>
              <a:t>La table ronde CIMA FANAF de 2011 indique des écarts de 17 % pour CIMA H et d'environ 4 % pour CIMA F, sur l'ensemble des âges.</a:t>
            </a:r>
          </a:p>
          <a:p>
            <a:pPr algn="just">
              <a:spcAft>
                <a:spcPts val="600"/>
              </a:spcAft>
            </a:pPr>
            <a:r>
              <a:rPr sz="1400" b="0">
                <a:solidFill>
                  <a:srgbClr val="060606"/>
                </a:solidFill>
                <a:latin typeface="Helvetica"/>
              </a:rPr>
              <a:t>Pour une population de policiers, exposée à des risques professionnels, la mortalité réelle peut s'écarter de la table : seul le rapport décès observés / décès attendus le dira.</a:t>
            </a:r>
          </a:p>
        </p:txBody>
      </p:sp>
      <p:sp>
        <p:nvSpPr>
          <p:cNvPr id="35" name="TextBox 34"/>
          <p:cNvSpPr txBox="1"/>
          <p:nvPr/>
        </p:nvSpPr>
        <p:spPr>
          <a:xfrm>
            <a:off x="503999" y="5526000"/>
            <a:ext cx="6552000" cy="306000"/>
          </a:xfrm>
          <a:prstGeom prst="rect">
            <a:avLst/>
          </a:prstGeom>
          <a:noFill/>
        </p:spPr>
        <p:txBody>
          <a:bodyPr wrap="square" anchor="t" lIns="54000" rIns="54000"/>
          <a:lstStyle/>
          <a:p>
            <a:pPr algn="l"/>
            <a:r>
              <a:rPr sz="850" b="0">
                <a:solidFill>
                  <a:srgbClr val="53565A"/>
                </a:solidFill>
                <a:latin typeface="Helvetica"/>
              </a:rPr>
              <a:t>Valable pour : colonne qx des tables CIMA H, CIMA F, TD et TV, âges 20 à 80 ans. Population générale de la zone CIMA, non le FPPN.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qx : probabilité de décès entre x et x + 1 ans | TD, TV : anciennes tables CIMA de décès et de survie</a:t>
            </a:r>
          </a:p>
        </p:txBody>
      </p:sp>
    </p:spTree>
    <p:extLst>
      <p:ext uri="{BB962C8B-B14F-4D97-AF65-F5344CB8AC3E}">
        <p14:creationId xmlns:p14="http://schemas.microsoft.com/office/powerpoint/2010/main" val="1722860586"/>
      </p:ext>
    </p:extLst>
  </p:cSld>
  <p:clrMapOvr>
    <a:masterClrMapping/>
  </p:clrMapOvr>
  <p:transition>
    <p:fade/>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de référence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rente viagère vaut entre 12 et 18 années de paiement selon l'âge et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Valeur d'une rente de 1 FCFA par an à 60 ans, au taux de 3,5 % : 16,84 (CIMA F), 14,26 (CIMA H)</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6768000" cy="216000"/>
          </a:xfrm>
          <a:prstGeom prst="rect">
            <a:avLst/>
          </a:prstGeom>
          <a:noFill/>
        </p:spPr>
        <p:txBody>
          <a:bodyPr wrap="square" anchor="t" lIns="54000" rIns="54000"/>
          <a:lstStyle/>
          <a:p>
            <a:pPr algn="ctr"/>
            <a:r>
              <a:rPr sz="1200" b="0">
                <a:solidFill>
                  <a:srgbClr val="EFAC62"/>
                </a:solidFill>
                <a:latin typeface="Helvetica"/>
              </a:rPr>
              <a:t>Tableau 98 : Espérance de vie et valeur de la rente viagère (taux de 3,5 %)</a:t>
            </a:r>
          </a:p>
        </p:txBody>
      </p:sp>
      <p:graphicFrame>
        <p:nvGraphicFramePr>
          <p:cNvPr id="32" name="Table 31"/>
          <p:cNvGraphicFramePr>
            <a:graphicFrameLocks noGrp="1"/>
          </p:cNvGraphicFramePr>
          <p:nvPr/>
        </p:nvGraphicFramePr>
        <p:xfrm>
          <a:off x="503999" y="1655999"/>
          <a:ext cx="6768000" cy="1126250"/>
        </p:xfrm>
        <a:graphic>
          <a:graphicData uri="http://schemas.openxmlformats.org/drawingml/2006/table">
            <a:tbl>
              <a:tblPr firstRow="0" bandRow="0">
                <a:tableStyleId>{5940675A-B579-460E-94D1-54222C63F5DA}</a:tableStyleId>
              </a:tblPr>
              <a:tblGrid>
                <a:gridCol w="1368000"/>
                <a:gridCol w="1080000"/>
                <a:gridCol w="1080000"/>
                <a:gridCol w="1080000"/>
                <a:gridCol w="1080000"/>
                <a:gridCol w="1080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e55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e60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ä55</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ä60</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ä65</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24,15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20,34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15,96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12,52</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26,04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18,39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16,84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15,17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15,80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13,82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11,98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10,13</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16,10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14,20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12,21</a:t>
                      </a:r>
                    </a:p>
                  </a:txBody>
                  <a:tcPr marL="43200" marR="43200" marT="14400" marB="14400" anchor="ctr">
                    <a:solidFill>
                      <a:srgbClr val="F2F2F2"/>
                    </a:solidFill>
                  </a:tcPr>
                </a:tc>
              </a:tr>
            </a:tbl>
          </a:graphicData>
        </a:graphic>
      </p:graphicFrame>
      <p:sp>
        <p:nvSpPr>
          <p:cNvPr id="33" name="TextBox 32"/>
          <p:cNvSpPr txBox="1"/>
          <p:nvPr/>
        </p:nvSpPr>
        <p:spPr>
          <a:xfrm>
            <a:off x="503999" y="2890252"/>
            <a:ext cx="6768000" cy="306000"/>
          </a:xfrm>
          <a:prstGeom prst="rect">
            <a:avLst/>
          </a:prstGeom>
          <a:noFill/>
        </p:spPr>
        <p:txBody>
          <a:bodyPr wrap="square" anchor="t" lIns="54000" rIns="54000"/>
          <a:lstStyle/>
          <a:p>
            <a:pPr algn="l"/>
            <a:r>
              <a:rPr sz="850" b="0">
                <a:solidFill>
                  <a:srgbClr val="53565A"/>
                </a:solidFill>
                <a:latin typeface="Helvetica"/>
              </a:rPr>
              <a:t>Valable pour : tables CIMA H, CIMA F, TD et TV, taux technique de 3,5 %. Valeurs de référence, non engagements du FPPN.</a:t>
            </a:r>
          </a:p>
        </p:txBody>
      </p:sp>
      <p:sp>
        <p:nvSpPr>
          <p:cNvPr id="34" name="TextBox 33"/>
          <p:cNvSpPr txBox="1"/>
          <p:nvPr/>
        </p:nvSpPr>
        <p:spPr>
          <a:xfrm>
            <a:off x="7488000" y="1386000"/>
            <a:ext cx="4248000" cy="4482000"/>
          </a:xfrm>
          <a:prstGeom prst="rect">
            <a:avLst/>
          </a:prstGeom>
          <a:noFill/>
        </p:spPr>
        <p:txBody>
          <a:bodyPr wrap="square" lIns="54000" rIns="54000"/>
          <a:lstStyle/>
          <a:p>
            <a:pPr algn="just">
              <a:spcAft>
                <a:spcPts val="600"/>
              </a:spcAft>
            </a:pPr>
            <a:r>
              <a:rPr sz="1400" b="1">
                <a:solidFill>
                  <a:srgbClr val="060606"/>
                </a:solidFill>
                <a:latin typeface="Helvetica"/>
              </a:rPr>
              <a:t>Une rente servie à partir de 60 ans vaut 16,84 années de paiement avec CIMA F.</a:t>
            </a:r>
            <a:r>
              <a:rPr sz="1400" b="0">
                <a:solidFill>
                  <a:srgbClr val="060606"/>
                </a:solidFill>
                <a:latin typeface="Helvetica"/>
              </a:rPr>
              <a:t> Avec CIMA H, elle n'en vaut que 14,26.</a:t>
            </a:r>
          </a:p>
          <a:p>
            <a:pPr algn="just">
              <a:spcAft>
                <a:spcPts val="600"/>
              </a:spcAft>
            </a:pPr>
            <a:r>
              <a:rPr sz="1400" b="1">
                <a:solidFill>
                  <a:srgbClr val="060606"/>
                </a:solidFill>
                <a:latin typeface="Helvetica"/>
              </a:rPr>
              <a:t>L'écart entre les deux tables dépasse deux années de paiement à 60 ans.</a:t>
            </a:r>
            <a:r>
              <a:rPr sz="1400" b="0">
                <a:solidFill>
                  <a:srgbClr val="060606"/>
                </a:solidFill>
                <a:latin typeface="Helvetica"/>
              </a:rPr>
              <a:t> C'est l'ordre de grandeur de l'enjeu du choix de la table.</a:t>
            </a:r>
          </a:p>
          <a:p>
            <a:pPr algn="just">
              <a:spcAft>
                <a:spcPts val="600"/>
              </a:spcAft>
            </a:pPr>
            <a:r>
              <a:rPr sz="1400" b="0">
                <a:solidFill>
                  <a:srgbClr val="060606"/>
                </a:solidFill>
                <a:latin typeface="Helvetica"/>
              </a:rPr>
              <a:t>Ces facteurs serviront à évaluer tout engagement viager du FPPN dès que les âges et les coûts annuels seront connus.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FANAF : Fédération des sociétés d'assurances de droit national africaines | e_x : espérance de vie à l'âge x | ä_x : valeur d'une rente viagère de 1 par an à l'âge x | TD, TV : anciennes tables CIMA de décès et de survie</a:t>
            </a:r>
          </a:p>
        </p:txBody>
      </p:sp>
    </p:spTree>
    <p:extLst>
      <p:ext uri="{BB962C8B-B14F-4D97-AF65-F5344CB8AC3E}">
        <p14:creationId xmlns:p14="http://schemas.microsoft.com/office/powerpoint/2010/main" val="434750965"/>
      </p:ext>
    </p:extLst>
  </p:cSld>
  <p:clrMapOvr>
    <a:masterClrMapping/>
  </p:clrMapOvr>
  <p:transition>
    <p:fade/>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outils de calcul sont en place, mais ils ne peuvent pas être appliqués aux mutualistes du FPPN sans leurs âges.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Une rente à 60 ans vaut 16,84 années de paiement avec CIMA F, contre 14,26 avec CIMA H. Les anciennes tables sous-estiment la durée de vie.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mortalité des policiers et la valeur des engagements viagers restent inconnues tant que les dates de naissance manquent.</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fichier des mutualistes avec date de naissance et sexe (PBC, item 9) et la base des décès (item 28).</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tables de mortalité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CIMA sont prêtes. Il manque les dates de naissance pour les appliquer</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Choix prudent : CIMA H pour le décès, CIMA F pour la survie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303883888"/>
      </p:ext>
    </p:extLst>
  </p:cSld>
  <p:clrMapOvr>
    <a:masterClrMapping/>
  </p:clrMapOvr>
  <p:transition>
    <p:fade/>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Projection de l'équilibre technique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Avertissement, point de blocage, deux scénarios de 2026 à 2030</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539227653"/>
      </p:ext>
    </p:extLst>
  </p:cSld>
  <p:clrMapOvr>
    <a:masterClrMapping/>
  </p:clrMapOvr>
  <p:transition>
    <p:fade/>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 avertissement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Sans les âges des mutualistes, la projection ne peut être qu'agrégée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projection actuarielle bloque dès sa première étape : aucun fichier reçu ne donne la date de naissance des mutualistes en activité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liste des documents demandés (PBC) pointée au 22/10/2026.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99 : Étapes d'une projection actuarielle et point de blocage</a:t>
            </a:r>
          </a:p>
        </p:txBody>
      </p:sp>
      <p:graphicFrame>
        <p:nvGraphicFramePr>
          <p:cNvPr id="32" name="Table 31"/>
          <p:cNvGraphicFramePr>
            <a:graphicFrameLocks noGrp="1"/>
          </p:cNvGraphicFramePr>
          <p:nvPr/>
        </p:nvGraphicFramePr>
        <p:xfrm>
          <a:off x="503999" y="1655999"/>
          <a:ext cx="11231999" cy="1698680"/>
        </p:xfrm>
        <a:graphic>
          <a:graphicData uri="http://schemas.openxmlformats.org/drawingml/2006/table">
            <a:tbl>
              <a:tblPr firstRow="0" bandRow="0">
                <a:tableStyleId>{5940675A-B579-460E-94D1-54222C63F5DA}</a:tableStyleId>
              </a:tblPr>
              <a:tblGrid>
                <a:gridCol w="1800000"/>
                <a:gridCol w="3311999"/>
                <a:gridCol w="1152000"/>
                <a:gridCol w="4968000"/>
              </a:tblGrid>
              <a:tr h="187148">
                <a:tc>
                  <a:txBody>
                    <a:bodyPr/>
                    <a:lstStyle/>
                    <a:p>
                      <a:pPr marL="0" indent="0" lvl="0">
                        <a:buNone/>
                      </a:pPr>
                      <a:r>
                        <a:rPr sz="85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Donnée nécessaire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Reçue ?</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Conséquence</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1. Population par âge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Date de naissance et sexe de chaque mutualiste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Blocage : les fichiers de la Solde et le fichier des effectifs ne portent que la date de recrutement. La CGRAE ne donne la date de naissance que de 105 retraités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 Vieillissement et décès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Âge de chaque mutualiste et table CIMA H</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Table seulement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Impossible sans l'étape 1 : la table ne s'applique qu'à un âge</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3. Départs à la retraite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Âge et grade (âge légal de départ)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Grade seulement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Impossible : on ne peut dater ni les départs, ni les versements de l'EFC qu'ils déclenchent</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4. Entrées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Promotions de recrues prévues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Passées seulement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Possible en tendance (partie 4)</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5. Cotisations et prestations par âge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Salaires et coût des soins par âge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Impossible : seuls les totaux annuels sont connus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6. Équilibre de chaque année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Résultats des étapes 1 à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Partiel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Remplacé par le prolongement des tendances agrégées de 2023 à 2025</a:t>
                      </a:r>
                    </a:p>
                  </a:txBody>
                  <a:tcPr marL="43200" marR="43200" marT="14400" marB="14400" anchor="ctr">
                    <a:solidFill>
                      <a:srgbClr val="F2F2F2"/>
                    </a:solidFill>
                  </a:tcPr>
                </a:tc>
              </a:tr>
            </a:tbl>
          </a:graphicData>
        </a:graphic>
      </p:graphicFrame>
      <p:sp>
        <p:nvSpPr>
          <p:cNvPr id="33" name="TextBox 32"/>
          <p:cNvSpPr txBox="1"/>
          <p:nvPr/>
        </p:nvSpPr>
        <p:spPr>
          <a:xfrm>
            <a:off x="503999" y="3462681"/>
            <a:ext cx="11232000" cy="306000"/>
          </a:xfrm>
          <a:prstGeom prst="rect">
            <a:avLst/>
          </a:prstGeom>
          <a:noFill/>
        </p:spPr>
        <p:txBody>
          <a:bodyPr wrap="square" anchor="t" lIns="54000" rIns="54000"/>
          <a:lstStyle/>
          <a:p>
            <a:pPr algn="l"/>
            <a:r>
              <a:rPr sz="850" b="0">
                <a:solidFill>
                  <a:srgbClr val="53565A"/>
                </a:solidFill>
                <a:latin typeface="Helvetica"/>
              </a:rPr>
              <a:t>Valable pour : fichiers reçus jusqu'au 22/10/2026 : précomptes de la Solde (postes 936, 8Z6, 998, 870), fichier des effectifs du FPPN, fichiers retour de la CGRAE (dates de naissance de février à avril 2024 seulement).</a:t>
            </a:r>
          </a:p>
        </p:txBody>
      </p:sp>
      <p:sp>
        <p:nvSpPr>
          <p:cNvPr id="34" name="TextBox 33"/>
          <p:cNvSpPr txBox="1"/>
          <p:nvPr/>
        </p:nvSpPr>
        <p:spPr>
          <a:xfrm>
            <a:off x="503999" y="3912681"/>
            <a:ext cx="11232000" cy="1955318"/>
          </a:xfrm>
          <a:prstGeom prst="rect">
            <a:avLst/>
          </a:prstGeom>
          <a:noFill/>
        </p:spPr>
        <p:txBody>
          <a:bodyPr wrap="square" lIns="54000" rIns="54000"/>
          <a:lstStyle/>
          <a:p>
            <a:pPr algn="just">
              <a:spcAft>
                <a:spcPts val="600"/>
              </a:spcAft>
            </a:pPr>
            <a:r>
              <a:rPr sz="1300" b="1">
                <a:solidFill>
                  <a:srgbClr val="060606"/>
                </a:solidFill>
                <a:latin typeface="Helvetica"/>
              </a:rPr>
              <a:t>La projection présentée ensuite prolonge les tendances passées, sans les expliquer.</a:t>
            </a:r>
            <a:r>
              <a:rPr sz="1300" b="0">
                <a:solidFill>
                  <a:srgbClr val="060606"/>
                </a:solidFill>
                <a:latin typeface="Helvetica"/>
              </a:rPr>
              <a:t> Elle ne dit pas pourquoi les prestations augmentent (vieillissement, prix des soins, nombre de bénéficiaires) et ne peut donc pas tester l'effet d'une mesure ciblée.</a:t>
            </a:r>
          </a:p>
          <a:p>
            <a:pPr algn="just">
              <a:spcAft>
                <a:spcPts val="600"/>
              </a:spcAft>
            </a:pPr>
            <a:r>
              <a:rPr sz="1300" b="0">
                <a:solidFill>
                  <a:srgbClr val="060606"/>
                </a:solidFill>
                <a:latin typeface="Helvetica"/>
              </a:rPr>
              <a:t>Le fichier des mutualistes avec date de naissance et sexe (PBC, item 9) est la donnée qui débloque à la fois la projection, la mortalité observée et l'engagement santé des retraités.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CGRAE : Caisse générale de retraite des agents de l'État | EFC : entraide fin de carrière | PBC : liste des documents demandés au client | GNA : assureur de la flotte automobile (compte 47111106) | 936 : poste maladie | 8Z6 : poste décès</a:t>
            </a:r>
          </a:p>
        </p:txBody>
      </p:sp>
    </p:spTree>
    <p:extLst>
      <p:ext uri="{BB962C8B-B14F-4D97-AF65-F5344CB8AC3E}">
        <p14:creationId xmlns:p14="http://schemas.microsoft.com/office/powerpoint/2010/main" val="2991517705"/>
      </p:ext>
    </p:extLst>
  </p:cSld>
  <p:clrMapOvr>
    <a:masterClrMapping/>
  </p:clrMapOvr>
  <p:transition>
    <p:fade/>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agrégée : deux scénarios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Si les tendances de 2023 à 2025 se prolongent, le résultat technique devient négatif dès 2026 (-717 817 033 FCFA)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Scénario A (tendance) : -25 229 464 300 FCFA en 2030. Scénario B (prestations au rythme des cotisations) : 1 195 261 600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Onglet 25 du classeur des calculs</a:t>
            </a:r>
          </a:p>
        </p:txBody>
      </p:sp>
      <p:sp>
        <p:nvSpPr>
          <p:cNvPr id="31" name="TextBox 30"/>
          <p:cNvSpPr txBox="1"/>
          <p:nvPr/>
        </p:nvSpPr>
        <p:spPr>
          <a:xfrm>
            <a:off x="503999" y="1386000"/>
            <a:ext cx="10800000" cy="216000"/>
          </a:xfrm>
          <a:prstGeom prst="rect">
            <a:avLst/>
          </a:prstGeom>
          <a:noFill/>
        </p:spPr>
        <p:txBody>
          <a:bodyPr wrap="square" anchor="t" lIns="54000" rIns="54000"/>
          <a:lstStyle/>
          <a:p>
            <a:pPr algn="ctr"/>
            <a:r>
              <a:rPr sz="1200" b="0">
                <a:solidFill>
                  <a:srgbClr val="EFAC62"/>
                </a:solidFill>
                <a:latin typeface="Helvetica"/>
              </a:rPr>
              <a:t>Tableau 100 : Projection agrégée du résultat technique, maladie et décès</a:t>
            </a:r>
          </a:p>
        </p:txBody>
      </p:sp>
      <p:graphicFrame>
        <p:nvGraphicFramePr>
          <p:cNvPr id="32" name="Table 31"/>
          <p:cNvGraphicFramePr>
            <a:graphicFrameLocks noGrp="1"/>
          </p:cNvGraphicFramePr>
          <p:nvPr/>
        </p:nvGraphicFramePr>
        <p:xfrm>
          <a:off x="503999" y="1655999"/>
          <a:ext cx="10800000" cy="1168608"/>
        </p:xfrm>
        <a:graphic>
          <a:graphicData uri="http://schemas.openxmlformats.org/drawingml/2006/table">
            <a:tbl>
              <a:tblPr firstRow="0" bandRow="0">
                <a:tableStyleId>{5940675A-B579-460E-94D1-54222C63F5DA}</a:tableStyleId>
              </a:tblPr>
              <a:tblGrid>
                <a:gridCol w="1080000"/>
                <a:gridCol w="1944000"/>
                <a:gridCol w="1944000"/>
                <a:gridCol w="1944000"/>
                <a:gridCol w="1944000"/>
                <a:gridCol w="1944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Cotisations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Résultat 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B</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Résultat B</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3 799 150 023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3 383 585 508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-717 817 033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2 184 155 295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481 613 179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4 223 356 972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5 826 961 465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-2 769 949 168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2 428 034 545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628 977 752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4 694 930 185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10 034 763 370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-6 540 099 684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2 699 144 957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795 518 729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5 219 158 499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17 281 129 539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-13 297 145 940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3 000 527 119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983 456 480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5 801 921 300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29 760 287 027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-25 229 464 300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3 335 561 127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1 195 261 600 FCFA</a:t>
                      </a:r>
                    </a:p>
                  </a:txBody>
                  <a:tcPr marL="43200" marR="43200" marT="14400" marB="14400" anchor="ctr">
                    <a:solidFill>
                      <a:srgbClr val="FFFFFF"/>
                    </a:solidFill>
                  </a:tcPr>
                </a:tc>
              </a:tr>
            </a:tbl>
          </a:graphicData>
        </a:graphic>
      </p:graphicFrame>
      <p:sp>
        <p:nvSpPr>
          <p:cNvPr id="33" name="TextBox 32"/>
          <p:cNvSpPr txBox="1"/>
          <p:nvPr/>
        </p:nvSpPr>
        <p:spPr>
          <a:xfrm>
            <a:off x="503999" y="2932611"/>
            <a:ext cx="11232000" cy="162000"/>
          </a:xfrm>
          <a:prstGeom prst="rect">
            <a:avLst/>
          </a:prstGeom>
          <a:noFill/>
        </p:spPr>
        <p:txBody>
          <a:bodyPr wrap="square" anchor="t" lIns="54000" rIns="54000"/>
          <a:lstStyle/>
          <a:p>
            <a:pPr algn="l"/>
            <a:r>
              <a:rPr sz="850" b="0">
                <a:solidFill>
                  <a:srgbClr val="53565A"/>
                </a:solidFill>
                <a:latin typeface="Helvetica"/>
              </a:rPr>
              <a:t>Valable pour : cotisations, prestations et frais de gestion des comptes 2023 à 2025, garanties maladie et décès prises ensemble. Hors épargne, Grenier et produits financiers.</a:t>
            </a:r>
          </a:p>
        </p:txBody>
      </p:sp>
      <p:sp>
        <p:nvSpPr>
          <p:cNvPr id="34" name="TextBox 33"/>
          <p:cNvSpPr txBox="1"/>
          <p:nvPr/>
        </p:nvSpPr>
        <p:spPr>
          <a:xfrm>
            <a:off x="503999" y="3238611"/>
            <a:ext cx="11232000" cy="2629388"/>
          </a:xfrm>
          <a:prstGeom prst="rect">
            <a:avLst/>
          </a:prstGeom>
          <a:noFill/>
        </p:spPr>
        <p:txBody>
          <a:bodyPr wrap="square" lIns="54000" rIns="54000"/>
          <a:lstStyle/>
          <a:p>
            <a:pPr algn="just">
              <a:spcAft>
                <a:spcPts val="600"/>
              </a:spcAft>
            </a:pPr>
            <a:r>
              <a:rPr sz="1300" b="1">
                <a:solidFill>
                  <a:srgbClr val="060606"/>
                </a:solidFill>
                <a:latin typeface="Helvetica"/>
              </a:rPr>
              <a:t>Au rythme de 2023 à 2025, les prestations croissent de 72,21 % par an et les cotisations de 11,17 % : l'équilibre technique ne tient pas.</a:t>
            </a:r>
          </a:p>
          <a:p>
            <a:pPr algn="just">
              <a:spcAft>
                <a:spcPts val="600"/>
              </a:spcAft>
            </a:pPr>
            <a:r>
              <a:rPr sz="1300" b="1">
                <a:solidFill>
                  <a:srgbClr val="060606"/>
                </a:solidFill>
                <a:latin typeface="Helvetica"/>
              </a:rPr>
              <a:t>La hausse des prestations maladie ralentit déjà : 103,53 % en 2024, 67,07 % en 2025.</a:t>
            </a:r>
            <a:r>
              <a:rPr sz="1300" b="0">
                <a:solidFill>
                  <a:srgbClr val="060606"/>
                </a:solidFill>
                <a:latin typeface="Helvetica"/>
              </a:rPr>
              <a:t> Prolonger le rythme moyen est donc une hypothèse pessimiste.</a:t>
            </a:r>
          </a:p>
          <a:p>
            <a:pPr algn="just">
              <a:spcAft>
                <a:spcPts val="600"/>
              </a:spcAft>
            </a:pPr>
            <a:r>
              <a:rPr sz="1300" b="1">
                <a:solidFill>
                  <a:srgbClr val="060606"/>
                </a:solidFill>
                <a:latin typeface="Helvetica"/>
              </a:rPr>
              <a:t>Le scénario B montre l'équilibre atteint si les prestations suivent les cotisations.</a:t>
            </a:r>
            <a:r>
              <a:rPr sz="1300" b="0">
                <a:solidFill>
                  <a:srgbClr val="060606"/>
                </a:solidFill>
                <a:latin typeface="Helvetica"/>
              </a:rPr>
              <a:t> La réalité se situe entre les deux scénarios. Seule une projection par âge permettrait de la situer.</a:t>
            </a:r>
          </a:p>
          <a:p>
            <a:pPr algn="just">
              <a:spcAft>
                <a:spcPts val="600"/>
              </a:spcAft>
            </a:pPr>
            <a:r>
              <a:rPr sz="1300" b="0">
                <a:solidFill>
                  <a:srgbClr val="060606"/>
                </a:solidFill>
                <a:latin typeface="Helvetica"/>
              </a:rPr>
              <a:t>Le FPPN doit suivre chaque trimestre le rapport prestations / cotisations de la maladie : c'est l'indicateur avancé du déséquilibre que montre le scénario A.</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98856278"/>
      </p:ext>
    </p:extLst>
  </p:cSld>
  <p:clrMapOvr>
    <a:masterClrMapping/>
  </p:clrMapOvr>
  <p:transition>
    <p:fade/>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agrégée : évolution du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L'écart entre les deux scénarios mesure l'incertitude laissée par l'absence des âges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scénario A sert d'alerte, le scénario B de cible : le pilotage des prestations maladie fait passer de l'un à l'autre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41 : Résultat technique projeté selon deux scénarios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de 2020 au 31/08/2026 (provisoire), fichiers « BALANCE … » listés en annexe « Fichiers sources ». Traitements Adenka. Onglet 25 du classeur des calculs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2030, l'écart entre les deux scénarios atteint 26 424 725 900 FCFA.</a:t>
            </a:r>
          </a:p>
          <a:p>
            <a:pPr algn="just">
              <a:spcAft>
                <a:spcPts val="600"/>
              </a:spcAft>
            </a:pPr>
            <a:r>
              <a:rPr sz="1400" b="1">
                <a:solidFill>
                  <a:srgbClr val="060606"/>
                </a:solidFill>
                <a:latin typeface="Helvetica"/>
              </a:rPr>
              <a:t>Aucun des deux scénarios n'est une prévision</a:t>
            </a:r>
            <a:r>
              <a:rPr sz="1400" b="0">
                <a:solidFill>
                  <a:srgbClr val="060606"/>
                </a:solidFill>
                <a:latin typeface="Helvetica"/>
              </a:rPr>
              <a:t> : ce sont deux bornes construites sur les seules données agrégées disponibles.</a:t>
            </a:r>
          </a:p>
          <a:p>
            <a:pPr algn="just">
              <a:spcAft>
                <a:spcPts val="600"/>
              </a:spcAft>
            </a:pPr>
            <a:r>
              <a:rPr sz="1400" b="0">
                <a:solidFill>
                  <a:srgbClr val="060606"/>
                </a:solidFill>
                <a:latin typeface="Helvetica"/>
              </a:rPr>
              <a:t>La projection par âge doit être refaite dès réception du fichier des mutualistes. Elle remplacera ces deux bornes par un scénario central expliqué.</a:t>
            </a:r>
          </a:p>
        </p:txBody>
      </p:sp>
      <p:sp>
        <p:nvSpPr>
          <p:cNvPr id="35" name="TextBox 34"/>
          <p:cNvSpPr txBox="1"/>
          <p:nvPr/>
        </p:nvSpPr>
        <p:spPr>
          <a:xfrm>
            <a:off x="503999" y="5670000"/>
            <a:ext cx="6552000" cy="162000"/>
          </a:xfrm>
          <a:prstGeom prst="rect">
            <a:avLst/>
          </a:prstGeom>
          <a:noFill/>
        </p:spPr>
        <p:txBody>
          <a:bodyPr wrap="square" anchor="t" lIns="54000" rIns="54000"/>
          <a:lstStyle/>
          <a:p>
            <a:pPr algn="l"/>
            <a:r>
              <a:rPr sz="850" b="0">
                <a:solidFill>
                  <a:srgbClr val="53565A"/>
                </a:solidFill>
                <a:latin typeface="Helvetica"/>
              </a:rPr>
              <a:t>Valable pour : mêmes données et hypothèses que la diapositive précédente.</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812040103"/>
      </p:ext>
    </p:extLst>
  </p:cSld>
  <p:clrMapOvr>
    <a:masterClrMapping/>
  </p:clrMapOvr>
  <p:transition>
    <p:fade/>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Outils et traçabilité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Traitement des données, extraits de code, contrôle des chiffres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397861139"/>
      </p:ext>
    </p:extLst>
  </p:cSld>
  <p:clrMapOvr>
    <a:masterClrMapping/>
  </p:clrMapOvr>
  <p:transition>
    <p:fade/>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Environnement de travail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traitements sont écrits en Python et exécutés dans VS Code sous Windows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Dix scripts conservés, rejouables à chaque nouvel envoi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dépôt de la mission (dossier scripts)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101 : Scripts de la mission</a:t>
            </a:r>
          </a:p>
        </p:txBody>
      </p:sp>
      <p:graphicFrame>
        <p:nvGraphicFramePr>
          <p:cNvPr id="32" name="Table 31"/>
          <p:cNvGraphicFramePr>
            <a:graphicFrameLocks noGrp="1"/>
          </p:cNvGraphicFramePr>
          <p:nvPr/>
        </p:nvGraphicFramePr>
        <p:xfrm>
          <a:off x="503999" y="1655999"/>
          <a:ext cx="11232000" cy="3033155"/>
        </p:xfrm>
        <a:graphic>
          <a:graphicData uri="http://schemas.openxmlformats.org/drawingml/2006/table">
            <a:tbl>
              <a:tblPr firstRow="0" bandRow="0">
                <a:tableStyleId>{5940675A-B579-460E-94D1-54222C63F5DA}</a:tableStyleId>
              </a:tblPr>
              <a:tblGrid>
                <a:gridCol w="2664000"/>
                <a:gridCol w="4464000"/>
                <a:gridCol w="4104000"/>
              </a:tblGrid>
              <a:tr h="225250">
                <a:tc>
                  <a:txBody>
                    <a:bodyPr/>
                    <a:lstStyle/>
                    <a:p>
                      <a:pPr marL="0" indent="0" lvl="0">
                        <a:buNone/>
                      </a:pPr>
                      <a:r>
                        <a:rPr sz="1100" b="1">
                          <a:solidFill>
                            <a:srgbClr val="FFFFFF"/>
                          </a:solidFill>
                          <a:latin typeface="Helvetica"/>
                        </a:rPr>
                        <a:t>Script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Contrôle intégré</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extraction_fppn.py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Extraction sans perte, archive découpée pour l'envoi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empreintes numériques, lignes et cellules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envoi_fichiers_fppn.py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Envoi de fichiers précis en parties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Empreinte de chaque partie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base_fppn.py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 d'analyse : lecture par en-tête ou par contenu</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Lignes de total, montants doublés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grenier_fppn.py, compta_fppn.py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des exports du logiciel de prêts et des balances Sage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Totaux imprimés retrouvés, débit = crédit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analyses_fppn.py, analyses_complements_fppn.py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Indicateurs, tests, sensibilités, tables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Classeur des calculs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ratios_airms_fppn.py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prudentiels, classement des comptes, excédent par risque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Rapprochement avec les agrégats du premier traitement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provisions_fppn.py, formules_fppn.py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Provisions, variantes de sinistralité, registre des formules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Rapprochement avec les balances</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rapport_v9_fppn.py, donnees_v9_fppn.py, sensibilites_fppn.py, logigramme_fppn.py, classeur_v2_fppn.py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logigrammes et graphiques natifs, classeur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Contrôle automatique des chiffres</a:t>
                      </a:r>
                    </a:p>
                  </a:txBody>
                  <a:tcPr marL="43200" marR="43200" marT="14400" marB="14400" anchor="ctr">
                    <a:solidFill>
                      <a:srgbClr val="F2F2F2"/>
                    </a:solidFill>
                  </a:tcPr>
                </a:tc>
              </a:tr>
            </a:tbl>
          </a:graphicData>
        </a:graphic>
      </p:graphicFrame>
      <p:sp>
        <p:nvSpPr>
          <p:cNvPr id="33" name="TextBox 32"/>
          <p:cNvSpPr txBox="1"/>
          <p:nvPr/>
        </p:nvSpPr>
        <p:spPr>
          <a:xfrm>
            <a:off x="503999" y="4797158"/>
            <a:ext cx="11232000" cy="162000"/>
          </a:xfrm>
          <a:prstGeom prst="rect">
            <a:avLst/>
          </a:prstGeom>
          <a:noFill/>
        </p:spPr>
        <p:txBody>
          <a:bodyPr wrap="square" anchor="t" lIns="54000" rIns="54000"/>
          <a:lstStyle/>
          <a:p>
            <a:pPr algn="l"/>
            <a:r>
              <a:rPr sz="850" b="0">
                <a:solidFill>
                  <a:srgbClr val="53565A"/>
                </a:solidFill>
                <a:latin typeface="Helvetica"/>
              </a:rPr>
              <a:t>Valable pour : scripts du dossier de la mission tels qu'utilisés pour ce rapport.</a:t>
            </a:r>
          </a:p>
        </p:txBody>
      </p:sp>
      <p:sp>
        <p:nvSpPr>
          <p:cNvPr id="34" name="TextBox 33"/>
          <p:cNvSpPr txBox="1"/>
          <p:nvPr/>
        </p:nvSpPr>
        <p:spPr>
          <a:xfrm>
            <a:off x="503999" y="5103158"/>
            <a:ext cx="11232000" cy="764841"/>
          </a:xfrm>
          <a:prstGeom prst="rect">
            <a:avLst/>
          </a:prstGeom>
          <a:noFill/>
        </p:spPr>
        <p:txBody>
          <a:bodyPr wrap="square" lIns="54000" rIns="54000"/>
          <a:lstStyle/>
          <a:p>
            <a:pPr algn="just">
              <a:spcAft>
                <a:spcPts val="600"/>
              </a:spcAft>
            </a:pPr>
            <a:r>
              <a:rPr sz="1300" b="1">
                <a:solidFill>
                  <a:srgbClr val="060606"/>
                </a:solidFill>
                <a:latin typeface="Helvetica"/>
              </a:rPr>
              <a:t>Chaque chiffre du rapport peut être recalculé par un tiers.</a:t>
            </a:r>
            <a:r>
              <a:rPr sz="1300" b="0">
                <a:solidFill>
                  <a:srgbClr val="060606"/>
                </a:solidFill>
                <a:latin typeface="Helvetica"/>
              </a:rPr>
              <a:t> Les scripts sont conservés dans le dossier de la mission et rejoués à chaque nouvel envoi.</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a:t>
            </a:r>
          </a:p>
        </p:txBody>
      </p:sp>
    </p:spTree>
    <p:extLst>
      <p:ext uri="{BB962C8B-B14F-4D97-AF65-F5344CB8AC3E}">
        <p14:creationId xmlns:p14="http://schemas.microsoft.com/office/powerpoint/2010/main" val="3893287465"/>
      </p:ext>
    </p:extLst>
  </p:cSld>
  <p:clrMapOvr>
    <a:masterClrMapping/>
  </p:clrMapOvr>
  <p:transition>
    <p:fade/>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Étapes du traitement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étape transforme une entrée en sortie, avec un contrôle automatique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du logigramme de la partie 2, chacune avec son entrée, son traitement, son contrôle et sa sortie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102 : Entrée, traitement, contrôle et sortie de chaque étape</a:t>
            </a:r>
          </a:p>
        </p:txBody>
      </p:sp>
      <p:graphicFrame>
        <p:nvGraphicFramePr>
          <p:cNvPr id="32" name="Table 31"/>
          <p:cNvGraphicFramePr>
            <a:graphicFrameLocks noGrp="1"/>
          </p:cNvGraphicFramePr>
          <p:nvPr/>
        </p:nvGraphicFramePr>
        <p:xfrm>
          <a:off x="503999" y="1655999"/>
          <a:ext cx="11231999" cy="2872230"/>
        </p:xfrm>
        <a:graphic>
          <a:graphicData uri="http://schemas.openxmlformats.org/drawingml/2006/table">
            <a:tbl>
              <a:tblPr firstRow="0" bandRow="0">
                <a:tableStyleId>{5940675A-B579-460E-94D1-54222C63F5DA}</a:tableStyleId>
              </a:tblPr>
              <a:tblGrid>
                <a:gridCol w="936000"/>
                <a:gridCol w="2376000"/>
                <a:gridCol w="2951999"/>
                <a:gridCol w="2808000"/>
                <a:gridCol w="2160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Entrée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Traitement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Contrôle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Réception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4 287 fichiers envoyés par le FPPN, dont des exports de logiciels et des PDF.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dresse l'inventaire, repère doublons, fichiers vides et formats mal nommés.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Chaque fichier reçoit une empreinte numérique qui prouve qu'il n'a pas changé.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Inventaire des fichiers et liste des fichiers à renvoyer.</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Extraction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Tableurs Excel, pages web nommées « .xls » et fichiers texte de la Solde.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lit les premiers octets pour reconnaître le vrai format, puis convertit chaque feuille en CSV sans perte.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lignes et les cellules sont comptées avant et après conversion : 491 feuilles identiques.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CSV et journal des feuilles converties.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Base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CSV des précomptes, des balances et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reconnaît les colonnes par leur en-tête ou par leur contenu, puis réunit 4,45 millions de lignes.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lignes de total et les montants doublés sont écartés et enregistrés à part.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d'analyse au format Parquet et journal des rejets.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Contrôles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d'analyse et totaux imprimés par les logiciels.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recalcule les totaux et rapproche les fichiers aller et retour, poste par poste et mois par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37 balances âgées retrouvent leurs totaux et les 7 exercices sont équilibrés.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Tableaux de contrôle et anomalies signalées au FPPN.</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Analyses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contrôlée, données externes validées et textes de l'UEMOA.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scripts calculent les indicateurs, les tests statistiques, les tables CIMA et les 36 ratios prudentiels.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agrégats recalculés sont comparés à ceux de la version précédente au franc près.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de résultats et classeur des calculs.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Rapport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 résultats et gabarits Timesaver Adenka.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construit les graphiques et tableaux natifs, les schémas modifiables et les notes.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Chaque chiffre affiché est relu dans le PowerPoint produit et comparé à sa valeur exacte.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Rapport PowerPoint et onglet de traçabilité.</a:t>
                      </a:r>
                    </a:p>
                  </a:txBody>
                  <a:tcPr marL="43200" marR="43200" marT="14400" marB="14400" anchor="ctr">
                    <a:solidFill>
                      <a:srgbClr val="F2F2F2"/>
                    </a:solidFill>
                  </a:tcPr>
                </a:tc>
              </a:tr>
            </a:tbl>
          </a:graphicData>
        </a:graphic>
      </p:graphicFrame>
      <p:sp>
        <p:nvSpPr>
          <p:cNvPr id="33" name="TextBox 32"/>
          <p:cNvSpPr txBox="1"/>
          <p:nvPr/>
        </p:nvSpPr>
        <p:spPr>
          <a:xfrm>
            <a:off x="503999" y="4636235"/>
            <a:ext cx="11232000" cy="162000"/>
          </a:xfrm>
          <a:prstGeom prst="rect">
            <a:avLst/>
          </a:prstGeom>
          <a:noFill/>
        </p:spPr>
        <p:txBody>
          <a:bodyPr wrap="square" anchor="t" lIns="54000" rIns="54000"/>
          <a:lstStyle/>
          <a:p>
            <a:pPr algn="l"/>
            <a:r>
              <a:rPr sz="850" b="0">
                <a:solidFill>
                  <a:srgbClr val="53565A"/>
                </a:solidFill>
                <a:latin typeface="Helvetica"/>
              </a:rPr>
              <a:t>Valable pour : traitements des fichiers reçus jusqu'au 22/10/2026.</a:t>
            </a:r>
          </a:p>
        </p:txBody>
      </p:sp>
      <p:sp>
        <p:nvSpPr>
          <p:cNvPr id="34" name="TextBox 33"/>
          <p:cNvSpPr txBox="1"/>
          <p:nvPr/>
        </p:nvSpPr>
        <p:spPr>
          <a:xfrm>
            <a:off x="503999" y="4942235"/>
            <a:ext cx="11232000" cy="925764"/>
          </a:xfrm>
          <a:prstGeom prst="rect">
            <a:avLst/>
          </a:prstGeom>
          <a:noFill/>
        </p:spPr>
        <p:txBody>
          <a:bodyPr wrap="square" lIns="54000" rIns="54000"/>
          <a:lstStyle/>
          <a:p>
            <a:pPr algn="just">
              <a:spcAft>
                <a:spcPts val="600"/>
              </a:spcAft>
            </a:pPr>
            <a:r>
              <a:rPr sz="1300" b="1">
                <a:solidFill>
                  <a:srgbClr val="060606"/>
                </a:solidFill>
                <a:latin typeface="Helvetica"/>
              </a:rPr>
              <a:t>Chaque étape produit une trace vérifiable.</a:t>
            </a:r>
            <a:r>
              <a:rPr sz="1300" b="0">
                <a:solidFill>
                  <a:srgbClr val="060606"/>
                </a:solidFill>
                <a:latin typeface="Helvetica"/>
              </a:rPr>
              <a:t> L'inventaire, le journal des conversions, le journal des rejets, les tableaux de contrôle et l'onglet de traçabilité permettent à un tiers de refaire le chemin.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CSV : fichier texte de tableau</a:t>
            </a:r>
          </a:p>
        </p:txBody>
      </p:sp>
    </p:spTree>
    <p:extLst>
      <p:ext uri="{BB962C8B-B14F-4D97-AF65-F5344CB8AC3E}">
        <p14:creationId xmlns:p14="http://schemas.microsoft.com/office/powerpoint/2010/main" val="1293278523"/>
      </p:ext>
    </p:extLst>
  </p:cSld>
  <p:clrMapOvr>
    <a:masterClrMapping/>
  </p:clrMapOvr>
  <p:transition>
    <p:fade/>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reconnaître le vrai format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script lit les premiers octets pour reconnaître le vrai format d'un fichier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C'est ainsi que les 70 fichiers « .xls » du Grenier ont été reconnus comme des pages web lisibles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extraction.png"/>
          <p:cNvPicPr>
            <a:picLocks noChangeAspect="1"/>
          </p:cNvPicPr>
          <p:nvPr/>
        </p:nvPicPr>
        <p:blipFill>
          <a:blip r:embed="rId6"/>
          <a:stretch>
            <a:fillRect/>
          </a:stretch>
        </p:blipFill>
        <p:spPr>
          <a:xfrm>
            <a:off x="503999" y="1674000"/>
            <a:ext cx="7848000" cy="3205288"/>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42 : Extrait du script dans VS Code sous Windows (reconnaître le vrai format)</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Un fichier Excel moderne commence par les octets « PK », un ancien par d'autres octets.</a:t>
            </a:r>
          </a:p>
          <a:p>
            <a:pPr algn="just">
              <a:spcAft>
                <a:spcPts val="600"/>
              </a:spcAft>
            </a:pPr>
            <a:r>
              <a:rPr sz="1300" b="1">
                <a:solidFill>
                  <a:srgbClr val="060606"/>
                </a:solidFill>
                <a:latin typeface="Helvetica"/>
              </a:rPr>
              <a:t>Une page web contient « &lt;html » ou « &lt;table ».</a:t>
            </a:r>
            <a:r>
              <a:rPr sz="1300" b="0">
                <a:solidFill>
                  <a:srgbClr val="060606"/>
                </a:solidFill>
                <a:latin typeface="Helvetica"/>
              </a:rPr>
              <a:t> Le script la lit alors comme un tableau.</a:t>
            </a:r>
          </a:p>
          <a:p>
            <a:pPr algn="just">
              <a:spcAft>
                <a:spcPts val="600"/>
              </a:spcAft>
            </a:pPr>
            <a:r>
              <a:rPr sz="1300" b="1">
                <a:solidFill>
                  <a:srgbClr val="060606"/>
                </a:solidFill>
                <a:latin typeface="Helvetica"/>
              </a:rPr>
              <a:t>Le terminal montre la sortie réelle de l'extraction sur le poste de la mission</a:t>
            </a:r>
            <a:r>
              <a:rPr sz="1300" b="0">
                <a:solidFill>
                  <a:srgbClr val="060606"/>
                </a:solidFill>
                <a:latin typeface="Helvetica"/>
              </a:rPr>
              <a:t> : 91,5 Mo en 5 parties.</a:t>
            </a:r>
          </a:p>
          <a:p>
            <a:pPr algn="just">
              <a:spcAft>
                <a:spcPts val="600"/>
              </a:spcAft>
            </a:pPr>
            <a:r>
              <a:rPr sz="1300" b="0">
                <a:solidFill>
                  <a:srgbClr val="060606"/>
                </a:solidFill>
                <a:latin typeface="Helvetica"/>
              </a:rPr>
              <a:t>Ce test évite de déclarer illisible un fichier simplement mal nommé : aucun fichier du Grenier n'a été perdu.</a:t>
            </a:r>
          </a:p>
        </p:txBody>
      </p:sp>
    </p:spTree>
    <p:extLst>
      <p:ext uri="{BB962C8B-B14F-4D97-AF65-F5344CB8AC3E}">
        <p14:creationId xmlns:p14="http://schemas.microsoft.com/office/powerpoint/2010/main" val="1170160436"/>
      </p:ext>
    </p:extLst>
  </p:cSld>
  <p:clrMapOvr>
    <a:masterClrMapping/>
  </p:clrMapOvr>
  <p:transition>
    <p:fade/>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écarter les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égale à la somme des autres est écartée automatiquement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Règle appliquée feuille par feuille, avec une tolérance de 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total.png"/>
          <p:cNvPicPr>
            <a:picLocks noChangeAspect="1"/>
          </p:cNvPicPr>
          <p:nvPr/>
        </p:nvPicPr>
        <p:blipFill>
          <a:blip r:embed="rId6"/>
          <a:stretch>
            <a:fillRect/>
          </a:stretch>
        </p:blipFill>
        <p:spPr>
          <a:xfrm>
            <a:off x="503999" y="1674000"/>
            <a:ext cx="7848000" cy="259810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43 : Extrait du script dans VS Code sous Windows (écarter les lignes de total)</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calcule la somme de la feuille.</a:t>
            </a:r>
          </a:p>
          <a:p>
            <a:pPr algn="just">
              <a:spcAft>
                <a:spcPts val="600"/>
              </a:spcAft>
            </a:pPr>
            <a:r>
              <a:rPr sz="1300" b="1">
                <a:solidFill>
                  <a:srgbClr val="060606"/>
                </a:solidFill>
                <a:latin typeface="Helvetica"/>
              </a:rPr>
              <a:t>Une ligne dont le montant égale la somme des autres est un total</a:t>
            </a:r>
            <a:r>
              <a:rPr sz="1300" b="0">
                <a:solidFill>
                  <a:srgbClr val="060606"/>
                </a:solidFill>
                <a:latin typeface="Helvetica"/>
              </a:rPr>
              <a:t>, pas un mutualiste.</a:t>
            </a:r>
          </a:p>
          <a:p>
            <a:pPr algn="just">
              <a:spcAft>
                <a:spcPts val="600"/>
              </a:spcAft>
            </a:pPr>
            <a:r>
              <a:rPr sz="1300" b="1">
                <a:solidFill>
                  <a:srgbClr val="060606"/>
                </a:solidFill>
                <a:latin typeface="Helvetica"/>
              </a:rPr>
              <a:t>Chaque ligne écartée est enregistrée</a:t>
            </a:r>
            <a:r>
              <a:rPr sz="1300" b="0">
                <a:solidFill>
                  <a:srgbClr val="060606"/>
                </a:solidFill>
                <a:latin typeface="Helvetica"/>
              </a:rPr>
              <a:t> avec son fichier et son montant.</a:t>
            </a:r>
          </a:p>
          <a:p>
            <a:pPr algn="just">
              <a:spcAft>
                <a:spcPts val="600"/>
              </a:spcAft>
            </a:pPr>
            <a:r>
              <a:rPr sz="1300" b="0">
                <a:solidFill>
                  <a:srgbClr val="060606"/>
                </a:solidFill>
                <a:latin typeface="Helvetica"/>
              </a:rPr>
              <a:t>La règle est automatique et tracée : le FPPN peut vérifier chaque ligne écartée dans le journal des rejets.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42666581"/>
      </p:ext>
    </p:extLst>
  </p:cSld>
  <p:clrMapOvr>
    <a:masterClrMapping/>
  </p:clrMapOvr>
  <p:transition>
    <p:fade/>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corriger les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écrits deux fois à la suite sont corrigés et signalés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Correction limitée au poste décès, au-delà d'un million de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double.png"/>
          <p:cNvPicPr>
            <a:picLocks noChangeAspect="1"/>
          </p:cNvPicPr>
          <p:nvPr/>
        </p:nvPicPr>
        <p:blipFill>
          <a:blip r:embed="rId6"/>
          <a:stretch>
            <a:fillRect/>
          </a:stretch>
        </p:blipFill>
        <p:spPr>
          <a:xfrm>
            <a:off x="503999" y="1674000"/>
            <a:ext cx="7848000" cy="3007023"/>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44 : Extrait du script dans VS Code sous Windows (corriger les montants doublés)</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découpe le montant en deux moitiés.</a:t>
            </a:r>
          </a:p>
          <a:p>
            <a:pPr algn="just">
              <a:spcAft>
                <a:spcPts val="600"/>
              </a:spcAft>
            </a:pPr>
            <a:r>
              <a:rPr sz="1300" b="1">
                <a:solidFill>
                  <a:srgbClr val="060606"/>
                </a:solidFill>
                <a:latin typeface="Helvetica"/>
              </a:rPr>
              <a:t>Si les deux moitiés sont identiques, il retient la première.</a:t>
            </a:r>
          </a:p>
          <a:p>
            <a:pPr algn="just">
              <a:spcAft>
                <a:spcPts val="600"/>
              </a:spcAft>
            </a:pPr>
            <a:r>
              <a:rPr sz="1300" b="1">
                <a:solidFill>
                  <a:srgbClr val="060606"/>
                </a:solidFill>
                <a:latin typeface="Helvetica"/>
              </a:rPr>
              <a:t>Le montant d'origine est conservé</a:t>
            </a:r>
            <a:r>
              <a:rPr sz="1300" b="0">
                <a:solidFill>
                  <a:srgbClr val="060606"/>
                </a:solidFill>
                <a:latin typeface="Helvetica"/>
              </a:rPr>
              <a:t> dans une colonne à part.</a:t>
            </a:r>
          </a:p>
          <a:p>
            <a:pPr algn="just">
              <a:spcAft>
                <a:spcPts val="600"/>
              </a:spcAft>
            </a:pPr>
            <a:r>
              <a:rPr sz="1300" b="0">
                <a:solidFill>
                  <a:srgbClr val="060606"/>
                </a:solidFill>
                <a:latin typeface="Helvetica"/>
              </a:rPr>
              <a:t>La correction est réversible : le montant d'origine reste disponible pour le FPPN.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769246049"/>
      </p:ext>
    </p:extLst>
  </p:cSld>
  <p:clrMapOvr>
    <a:masterClrMapping/>
  </p:clrMapOvr>
  <p:transition>
    <p:fade/>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lire les montants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imprimés avec espaces et « XOF » sont convertis sans perte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totaux recalculés sont égaux aux totaux imprimés dans les 37 balances âgées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grenier.png"/>
          <p:cNvPicPr>
            <a:picLocks noChangeAspect="1"/>
          </p:cNvPicPr>
          <p:nvPr/>
        </p:nvPicPr>
        <p:blipFill>
          <a:blip r:embed="rId6"/>
          <a:stretch>
            <a:fillRect/>
          </a:stretch>
        </p:blipFill>
        <p:spPr>
          <a:xfrm>
            <a:off x="503999" y="1674000"/>
            <a:ext cx="7848000" cy="205287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45 : Extrait du script dans VS Code sous Windows (lire les montants du Grenier)</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retire les espaces, y compris insécables.</a:t>
            </a:r>
          </a:p>
          <a:p>
            <a:pPr algn="just">
              <a:spcAft>
                <a:spcPts val="600"/>
              </a:spcAft>
            </a:pPr>
            <a:r>
              <a:rPr sz="1300" b="1">
                <a:solidFill>
                  <a:srgbClr val="060606"/>
                </a:solidFill>
                <a:latin typeface="Helvetica"/>
              </a:rPr>
              <a:t>Il retire aussi la mention « XOF ».</a:t>
            </a:r>
          </a:p>
          <a:p>
            <a:pPr algn="just">
              <a:spcAft>
                <a:spcPts val="600"/>
              </a:spcAft>
            </a:pPr>
            <a:r>
              <a:rPr sz="1300" b="1">
                <a:solidFill>
                  <a:srgbClr val="060606"/>
                </a:solidFill>
                <a:latin typeface="Helvetica"/>
              </a:rPr>
              <a:t>Le nombre obtenu est comparé au total imprimé</a:t>
            </a:r>
            <a:r>
              <a:rPr sz="1300" b="0">
                <a:solidFill>
                  <a:srgbClr val="060606"/>
                </a:solidFill>
                <a:latin typeface="Helvetica"/>
              </a:rPr>
              <a:t> par le logiciel.</a:t>
            </a:r>
          </a:p>
          <a:p>
            <a:pPr algn="just">
              <a:spcAft>
                <a:spcPts val="600"/>
              </a:spcAft>
            </a:pPr>
            <a:r>
              <a:rPr sz="1300" b="0">
                <a:solidFill>
                  <a:srgbClr val="060606"/>
                </a:solidFill>
                <a:latin typeface="Helvetica"/>
              </a:rPr>
              <a:t>L'égalité des totaux sur les 37 balances prouve que la lecture n'a rien perdu.</a:t>
            </a:r>
          </a:p>
        </p:txBody>
      </p:sp>
    </p:spTree>
    <p:extLst>
      <p:ext uri="{BB962C8B-B14F-4D97-AF65-F5344CB8AC3E}">
        <p14:creationId xmlns:p14="http://schemas.microsoft.com/office/powerpoint/2010/main" val="2084475952"/>
      </p:ext>
    </p:extLst>
  </p:cSld>
  <p:clrMapOvr>
    <a:masterClrMapping/>
  </p:clrMapOvr>
  <p:transition>
    <p:fade/>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calculer la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est calculé compte par compte, pour chaque exercice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compte utilisé est cité dans l'annexe des méthodes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c.png"/>
          <p:cNvPicPr>
            <a:picLocks noChangeAspect="1"/>
          </p:cNvPicPr>
          <p:nvPr/>
        </p:nvPicPr>
        <p:blipFill>
          <a:blip r:embed="rId6"/>
          <a:stretch>
            <a:fillRect/>
          </a:stretch>
        </p:blipFill>
        <p:spPr>
          <a:xfrm>
            <a:off x="503999" y="1674000"/>
            <a:ext cx="7848000" cy="3824867"/>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46 : Extrait du script dans VS Code sous Windows (calculer la sinistralité)</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Les cotisations viennent des comptes 7010 et 7021.</a:t>
            </a:r>
          </a:p>
          <a:p>
            <a:pPr algn="just">
              <a:spcAft>
                <a:spcPts val="600"/>
              </a:spcAft>
            </a:pPr>
            <a:r>
              <a:rPr sz="1300" b="1">
                <a:solidFill>
                  <a:srgbClr val="060606"/>
                </a:solidFill>
                <a:latin typeface="Helvetica"/>
              </a:rPr>
              <a:t>Les prestations viennent des comptes 601, 6013, 6018, 60800007, 6021 et 6024.</a:t>
            </a:r>
          </a:p>
          <a:p>
            <a:pPr algn="just">
              <a:spcAft>
                <a:spcPts val="600"/>
              </a:spcAft>
            </a:pPr>
            <a:r>
              <a:rPr sz="1300" b="1">
                <a:solidFill>
                  <a:srgbClr val="060606"/>
                </a:solidFill>
                <a:latin typeface="Helvetica"/>
              </a:rPr>
              <a:t>Le résultat est écrit dans le classeur des calculs.</a:t>
            </a:r>
          </a:p>
          <a:p>
            <a:pPr algn="just">
              <a:spcAft>
                <a:spcPts val="600"/>
              </a:spcAft>
            </a:pPr>
            <a:r>
              <a:rPr sz="1300" b="0">
                <a:solidFill>
                  <a:srgbClr val="060606"/>
                </a:solidFill>
                <a:latin typeface="Helvetica"/>
              </a:rPr>
              <a:t>Le choix des comptes est explicite dans le code : un lecteur peut le contester et le modifier.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2655417678"/>
      </p:ext>
    </p:extLst>
  </p:cSld>
  <p:clrMapOvr>
    <a:masterClrMapping/>
  </p:clrMapOvr>
  <p:transition>
    <p:fade/>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intervalle de confiance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L'intervalle de Wilson encadre la proportion de prêts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adaptée aux proportions, même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s.png"/>
          <p:cNvPicPr>
            <a:picLocks noChangeAspect="1"/>
          </p:cNvPicPr>
          <p:nvPr/>
        </p:nvPicPr>
        <p:blipFill>
          <a:blip r:embed="rId6"/>
          <a:stretch>
            <a:fillRect/>
          </a:stretch>
        </p:blipFill>
        <p:spPr>
          <a:xfrm>
            <a:off x="503999" y="1674000"/>
            <a:ext cx="7848000" cy="1780256"/>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47 : Extrait du script dans VS Code sous Windows (intervalle de confiance)</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La proportion vaut le nombre de prêts en retard divisé par le nombre de prêts.</a:t>
            </a:r>
          </a:p>
          <a:p>
            <a:pPr algn="just">
              <a:spcAft>
                <a:spcPts val="600"/>
              </a:spcAft>
            </a:pPr>
            <a:r>
              <a:rPr sz="1300" b="1">
                <a:solidFill>
                  <a:srgbClr val="060606"/>
                </a:solidFill>
                <a:latin typeface="Helvetica"/>
              </a:rPr>
              <a:t>L'intervalle est centré et élargi</a:t>
            </a:r>
            <a:r>
              <a:rPr sz="1300" b="0">
                <a:solidFill>
                  <a:srgbClr val="060606"/>
                </a:solidFill>
                <a:latin typeface="Helvetica"/>
              </a:rPr>
              <a:t> pour rester entre 0 et 1.</a:t>
            </a:r>
          </a:p>
          <a:p>
            <a:pPr algn="just">
              <a:spcAft>
                <a:spcPts val="600"/>
              </a:spcAft>
            </a:pPr>
            <a:r>
              <a:rPr sz="1300" b="1">
                <a:solidFill>
                  <a:srgbClr val="060606"/>
                </a:solidFill>
                <a:latin typeface="Helvetica"/>
              </a:rPr>
              <a:t>z vaut 1,96 pour un niveau de confiance de 95 %.</a:t>
            </a:r>
          </a:p>
          <a:p>
            <a:pPr algn="just">
              <a:spcAft>
                <a:spcPts val="600"/>
              </a:spcAft>
            </a:pPr>
            <a:r>
              <a:rPr sz="1300" b="0">
                <a:solidFill>
                  <a:srgbClr val="060606"/>
                </a:solidFill>
                <a:latin typeface="Helvetica"/>
              </a:rPr>
              <a:t>L'intervalle dit dans quelle plage se situe la vraie proportion de prêts en retard, compte tenu du hasard.</a:t>
            </a:r>
          </a:p>
        </p:txBody>
      </p:sp>
    </p:spTree>
    <p:extLst>
      <p:ext uri="{BB962C8B-B14F-4D97-AF65-F5344CB8AC3E}">
        <p14:creationId xmlns:p14="http://schemas.microsoft.com/office/powerpoint/2010/main" val="935619941"/>
      </p:ext>
    </p:extLst>
  </p:cSld>
  <p:clrMapOvr>
    <a:masterClrMapping/>
  </p:clrMapOvr>
  <p:transition>
    <p:fade/>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statut d'un ratio prudentiel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dans le code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Conforme, non conforme, en attente ou à apprécier, selon la norme du texte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ut.png"/>
          <p:cNvPicPr>
            <a:picLocks noChangeAspect="1"/>
          </p:cNvPicPr>
          <p:nvPr/>
        </p:nvPicPr>
        <p:blipFill>
          <a:blip r:embed="rId6"/>
          <a:stretch>
            <a:fillRect/>
          </a:stretch>
        </p:blipFill>
        <p:spPr>
          <a:xfrm>
            <a:off x="503999" y="1674000"/>
            <a:ext cx="7798815" cy="4158000"/>
          </a:xfrm>
          <a:prstGeom prst="rect">
            <a:avLst/>
          </a:prstGeom>
        </p:spPr>
      </p:pic>
      <p:sp>
        <p:nvSpPr>
          <p:cNvPr id="32" name="TextBox 31"/>
          <p:cNvSpPr txBox="1"/>
          <p:nvPr/>
        </p:nvSpPr>
        <p:spPr>
          <a:xfrm>
            <a:off x="503999" y="1386000"/>
            <a:ext cx="7798815" cy="251999"/>
          </a:xfrm>
          <a:prstGeom prst="rect">
            <a:avLst/>
          </a:prstGeom>
          <a:noFill/>
        </p:spPr>
        <p:txBody>
          <a:bodyPr wrap="square" anchor="t" lIns="54000" rIns="54000"/>
          <a:lstStyle/>
          <a:p>
            <a:pPr algn="ctr"/>
            <a:r>
              <a:rPr sz="1200" b="0">
                <a:solidFill>
                  <a:srgbClr val="EFAC62"/>
                </a:solidFill>
                <a:latin typeface="Helvetica"/>
              </a:rPr>
              <a:t>Figure 48 : Extrait du script dans VS Code sous Windows (statut d'un ratio prudentiel)</a:t>
            </a:r>
          </a:p>
        </p:txBody>
      </p:sp>
      <p:sp>
        <p:nvSpPr>
          <p:cNvPr id="33" name="TextBox 32"/>
          <p:cNvSpPr txBox="1"/>
          <p:nvPr/>
        </p:nvSpPr>
        <p:spPr>
          <a:xfrm>
            <a:off x="8518815" y="1440000"/>
            <a:ext cx="3217184" cy="4428000"/>
          </a:xfrm>
          <a:prstGeom prst="rect">
            <a:avLst/>
          </a:prstGeom>
          <a:noFill/>
        </p:spPr>
        <p:txBody>
          <a:bodyPr wrap="square" lIns="54000" rIns="54000"/>
          <a:lstStyle/>
          <a:p>
            <a:pPr algn="just">
              <a:spcAft>
                <a:spcPts val="600"/>
              </a:spcAft>
            </a:pPr>
            <a:r>
              <a:rPr sz="1300" b="1">
                <a:solidFill>
                  <a:srgbClr val="060606"/>
                </a:solidFill>
                <a:latin typeface="Helvetica"/>
              </a:rPr>
              <a:t>Une valeur absente donne « En attente ». Une norme non chiffrée donne « À apprécier ».</a:t>
            </a:r>
          </a:p>
          <a:p>
            <a:pPr algn="just">
              <a:spcAft>
                <a:spcPts val="600"/>
              </a:spcAft>
            </a:pPr>
            <a:r>
              <a:rPr sz="1300" b="1">
                <a:solidFill>
                  <a:srgbClr val="060606"/>
                </a:solidFill>
                <a:latin typeface="Helvetica"/>
              </a:rPr>
              <a:t>Le test compare la valeur à la norme</a:t>
            </a:r>
            <a:r>
              <a:rPr sz="1300" b="0">
                <a:solidFill>
                  <a:srgbClr val="060606"/>
                </a:solidFill>
                <a:latin typeface="Helvetica"/>
              </a:rPr>
              <a:t> : fourchette, minimum ou maximum.</a:t>
            </a:r>
          </a:p>
          <a:p>
            <a:pPr algn="just">
              <a:spcAft>
                <a:spcPts val="600"/>
              </a:spcAft>
            </a:pPr>
            <a:r>
              <a:rPr sz="1300" b="1">
                <a:solidFill>
                  <a:srgbClr val="060606"/>
                </a:solidFill>
                <a:latin typeface="Helvetica"/>
              </a:rPr>
              <a:t>Les années 2020, 2021 et 2026 portent la mention « indicatif ».</a:t>
            </a:r>
            <a:r>
              <a:rPr sz="1300" b="0">
                <a:solidFill>
                  <a:srgbClr val="060606"/>
                </a:solidFill>
                <a:latin typeface="Helvetica"/>
              </a:rPr>
              <a:t> Le terminal montre la sortie réelle du script.</a:t>
            </a:r>
          </a:p>
          <a:p>
            <a:pPr algn="just">
              <a:spcAft>
                <a:spcPts val="600"/>
              </a:spcAft>
            </a:pPr>
            <a:r>
              <a:rPr sz="1300" b="0">
                <a:solidFill>
                  <a:srgbClr val="060606"/>
                </a:solidFill>
                <a:latin typeface="Helvetica"/>
              </a:rPr>
              <a:t>La règle de statut est la même pour les 36 indicateurs : elle ne laisse aucune place à l'appréciation au cas par cas.</a:t>
            </a:r>
          </a:p>
        </p:txBody>
      </p:sp>
    </p:spTree>
    <p:extLst>
      <p:ext uri="{BB962C8B-B14F-4D97-AF65-F5344CB8AC3E}">
        <p14:creationId xmlns:p14="http://schemas.microsoft.com/office/powerpoint/2010/main" val="3948921263"/>
      </p:ext>
    </p:extLst>
  </p:cSld>
  <p:clrMapOvr>
    <a:masterClrMapping/>
  </p:clrMapOvr>
  <p:transition>
    <p:fade/>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Enregistrement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À la construction, chaque chiffre est produit par une fonction qui garde sa valeur exacte, sa diapositive et le texte affiché.</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Relecture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Après la construction, un script relit le fichier PowerPoint, textes, tableaux et notes compris.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script vérifie la présence de chaque texte enregistré sur sa diapositive et compte les chiffres retrouvés.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Résultat</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figure dans l'onglet « Traçabilité » du classeur des calculs, ligne par ligne, avec la valeur exacte de chaque chiffre.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automatique des chiffres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du rapport est recalculé et comparé au texte affiché</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contrôle relit le PowerPoint produit et vérifie que chaque chiffre enregistré figure sur sa diapositive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1080880815"/>
      </p:ext>
    </p:extLst>
  </p:cSld>
  <p:clrMapOvr>
    <a:masterClrMapping/>
  </p:clrMapOvr>
  <p:transition>
    <p:fade/>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Analyses en attente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Documents à obtenir, risques, points à clarifier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530914170"/>
      </p:ext>
    </p:extLst>
  </p:cSld>
  <p:clrMapOvr>
    <a:masterClrMapping/>
  </p:clrMapOvr>
  <p:transition>
    <p:fade/>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analyses actuarielles centrales dépendent de trois bases non reçues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mortalité, équilibre technique, contrôles santé et onze indicateurs prudentiels seront réalisés dès réception des documents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103 : Analyses en attente et documents nécessaires</a:t>
            </a:r>
          </a:p>
        </p:txBody>
      </p:sp>
      <p:graphicFrame>
        <p:nvGraphicFramePr>
          <p:cNvPr id="32" name="Table 31"/>
          <p:cNvGraphicFramePr>
            <a:graphicFrameLocks noGrp="1"/>
          </p:cNvGraphicFramePr>
          <p:nvPr/>
        </p:nvGraphicFramePr>
        <p:xfrm>
          <a:off x="503999" y="1655999"/>
          <a:ext cx="11232000" cy="2194901"/>
        </p:xfrm>
        <a:graphic>
          <a:graphicData uri="http://schemas.openxmlformats.org/drawingml/2006/table">
            <a:tbl>
              <a:tblPr firstRow="0" bandRow="0">
                <a:tableStyleId>{5940675A-B579-460E-94D1-54222C63F5DA}</a:tableStyleId>
              </a:tblPr>
              <a:tblGrid>
                <a:gridCol w="2592000"/>
                <a:gridCol w="4176000"/>
                <a:gridCol w="446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Provisions (PSAP, Chain Ladder)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Montant restant à payer, y compris non déclaré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Prestations décès et santé, dossiers non payés (13, 14, 28, 29, 40)</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Sinistralité par année de survenance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Coût réel de chaque année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(13,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Mortalité observée (A/E)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Comparaison à CIMA 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Mutualistes avec date de naissance (9), décès (28)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Délais et dossiers en attente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Délais de déclaration et de paiement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avec dates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Contrôles santé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Doublons, bénéficiaires hors fichier, prestations indues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Factures santé (40), cartes actives (42)</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Engagements d'épargne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envers chaque épargnant et échéancier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Comptes individuels et règlements (16, 17)</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Indicateurs prudentiels en attente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Recouvrement, contrôles, réunions, fonds de garantie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Fichiers aller 936 et 8Z6 de la direction du personnel (51, 61), procès-verbaux, registres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technique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Projection sur 5 à 10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Âges, barèmes, hypothèses (1, 2, 3, 9)</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62000"/>
          </a:xfrm>
          <a:prstGeom prst="rect">
            <a:avLst/>
          </a:prstGeom>
          <a:noFill/>
        </p:spPr>
        <p:txBody>
          <a:bodyPr wrap="square" anchor="t" lIns="54000" rIns="54000"/>
          <a:lstStyle/>
          <a:p>
            <a:pPr algn="l"/>
            <a:r>
              <a:rPr sz="850" b="0">
                <a:solidFill>
                  <a:srgbClr val="53565A"/>
                </a:solidFill>
                <a:latin typeface="Helvetica"/>
              </a:rPr>
              <a:t>Valable pour : documents demandés non reçus au 22/10/2026 (PBC pointée).</a:t>
            </a:r>
          </a:p>
        </p:txBody>
      </p:sp>
      <p:sp>
        <p:nvSpPr>
          <p:cNvPr id="34" name="TextBox 33"/>
          <p:cNvSpPr txBox="1"/>
          <p:nvPr/>
        </p:nvSpPr>
        <p:spPr>
          <a:xfrm>
            <a:off x="503999" y="4264905"/>
            <a:ext cx="11232000" cy="1603094"/>
          </a:xfrm>
          <a:prstGeom prst="rect">
            <a:avLst/>
          </a:prstGeom>
          <a:noFill/>
        </p:spPr>
        <p:txBody>
          <a:bodyPr wrap="square" lIns="54000" rIns="54000"/>
          <a:lstStyle/>
          <a:p>
            <a:pPr algn="just">
              <a:spcAft>
                <a:spcPts val="600"/>
              </a:spcAft>
            </a:pPr>
            <a:r>
              <a:rPr sz="1300" b="1">
                <a:solidFill>
                  <a:srgbClr val="060606"/>
                </a:solidFill>
                <a:latin typeface="Helvetica"/>
              </a:rPr>
              <a:t>Les analyses en attente portent sur le cœur de la mission : les engagements et les provisions.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3580394406"/>
      </p:ext>
    </p:extLst>
  </p:cSld>
  <p:clrMapOvr>
    <a:masterClrMapping/>
  </p:clrMapOvr>
  <p:transition>
    <p:fade/>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à clarifier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points demandent une réponse du FPPN avant la prochaine version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relié à un constat chiffré du rapport et repris dans les guides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Guides d'entretien mis à jour</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104 : Points à clarifier avec le FPPN</a:t>
            </a:r>
          </a:p>
        </p:txBody>
      </p:sp>
      <p:graphicFrame>
        <p:nvGraphicFramePr>
          <p:cNvPr id="32" name="Table 31"/>
          <p:cNvGraphicFramePr>
            <a:graphicFrameLocks noGrp="1"/>
          </p:cNvGraphicFramePr>
          <p:nvPr/>
        </p:nvGraphicFramePr>
        <p:xfrm>
          <a:off x="503999" y="1655999"/>
          <a:ext cx="11231999" cy="2531984"/>
        </p:xfrm>
        <a:graphic>
          <a:graphicData uri="http://schemas.openxmlformats.org/drawingml/2006/table">
            <a:tbl>
              <a:tblPr firstRow="0" bandRow="0">
                <a:tableStyleId>{5940675A-B579-460E-94D1-54222C63F5DA}</a:tableStyleId>
              </a:tblPr>
              <a:tblGrid>
                <a:gridCol w="360000"/>
                <a:gridCol w="2808000"/>
                <a:gridCol w="8063999"/>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Question au FPPN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Répartition du taux de 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statuts (art. 17) fixent 3,5 / 1,5 : pourquoi la Solde applique-t-elle 3,77 / 1,23, et la comptabilité une autre clé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Provisions figées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provisions ont-elles été calculées, et pourquoi n'ont-elles pas changé depuis 2020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Quelles sont les conditions de retrait et les échéances du PEP et de l'EFC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Quelle est sa nature, et un remboursement est-il prévu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Retards du Grenier début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Pourquoi la plus grande part de l'encours était-elle en retard fin janvier 2026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Écart échéances / précomptes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échéances non précomptées sont-elles réglées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Sinistralité 2020 à 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factures de ces années ont-elles été comptabilisées plus tard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Agrément AIRMS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Quels sont le numéro, la date et les risques autorisés de l'agrément du FPPN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Sigle CMP et compte 10620000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 signifie le sigle CMP ? Le rapport de réévaluation du terrain du siège (compte 10620000) peut-il être transmis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FPPN adhère-t-il au FOMUS-CI, et à quel montant de cotisation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Une étude actuarielle et une certification des comptes ont-elles été réalisées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Données manquantes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Quand le FPPN transmettra-t-il les précomptes de 2020 à 2023, les fichiers de décembre 2024 et les grands livres endommagés ?</a:t>
                      </a:r>
                    </a:p>
                  </a:txBody>
                  <a:tcPr marL="43200" marR="43200" marT="14400" marB="14400" anchor="ctr">
                    <a:solidFill>
                      <a:srgbClr val="F2F2F2"/>
                    </a:solidFill>
                  </a:tcPr>
                </a:tc>
              </a:tr>
            </a:tbl>
          </a:graphicData>
        </a:graphic>
      </p:graphicFrame>
      <p:sp>
        <p:nvSpPr>
          <p:cNvPr id="33" name="TextBox 32"/>
          <p:cNvSpPr txBox="1"/>
          <p:nvPr/>
        </p:nvSpPr>
        <p:spPr>
          <a:xfrm>
            <a:off x="503999" y="4295992"/>
            <a:ext cx="11232000" cy="162000"/>
          </a:xfrm>
          <a:prstGeom prst="rect">
            <a:avLst/>
          </a:prstGeom>
          <a:noFill/>
        </p:spPr>
        <p:txBody>
          <a:bodyPr wrap="square" anchor="t" lIns="54000" rIns="54000"/>
          <a:lstStyle/>
          <a:p>
            <a:pPr algn="l"/>
            <a:r>
              <a:rPr sz="850" b="0">
                <a:solidFill>
                  <a:srgbClr val="53565A"/>
                </a:solidFill>
                <a:latin typeface="Helvetica"/>
              </a:rPr>
              <a:t>Valable pour : questions ouvertes au 22/10/2026.</a:t>
            </a:r>
          </a:p>
        </p:txBody>
      </p:sp>
      <p:sp>
        <p:nvSpPr>
          <p:cNvPr id="34" name="TextBox 33"/>
          <p:cNvSpPr txBox="1"/>
          <p:nvPr/>
        </p:nvSpPr>
        <p:spPr>
          <a:xfrm>
            <a:off x="503999" y="4601992"/>
            <a:ext cx="11232000" cy="1266007"/>
          </a:xfrm>
          <a:prstGeom prst="rect">
            <a:avLst/>
          </a:prstGeom>
          <a:noFill/>
        </p:spPr>
        <p:txBody>
          <a:bodyPr wrap="square" lIns="54000" rIns="54000"/>
          <a:lstStyle/>
          <a:p>
            <a:pPr algn="just">
              <a:spcAft>
                <a:spcPts val="600"/>
              </a:spcAft>
            </a:pPr>
            <a:r>
              <a:rPr sz="1300" b="1">
                <a:solidFill>
                  <a:srgbClr val="060606"/>
                </a:solidFill>
                <a:latin typeface="Helvetica"/>
              </a:rPr>
              <a:t>Les points 8 à 11 sont nouveaux : ils découlent de la lecture des textes de l'AIRMS.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Centre Médical du Policier (rapport de gestion 2023) | FOMUS-CI : fonds de garantie des mutuelles sociales de Côte d'Ivoire</a:t>
            </a:r>
          </a:p>
        </p:txBody>
      </p:sp>
    </p:spTree>
    <p:extLst>
      <p:ext uri="{BB962C8B-B14F-4D97-AF65-F5344CB8AC3E}">
        <p14:creationId xmlns:p14="http://schemas.microsoft.com/office/powerpoint/2010/main" val="1743527432"/>
      </p:ext>
    </p:extLst>
  </p:cSld>
  <p:clrMapOvr>
    <a:masterClrMapping/>
  </p:clrMapOvr>
  <p:transition>
    <p:fade/>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 l'entretien cotisations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cotisations (items 56 à 70) et dans les relances du guide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105 : Points à clarifier issus de l'entretien du 19/10/2026</a:t>
            </a:r>
          </a:p>
        </p:txBody>
      </p:sp>
      <p:graphicFrame>
        <p:nvGraphicFramePr>
          <p:cNvPr id="32" name="Table 31"/>
          <p:cNvGraphicFramePr>
            <a:graphicFrameLocks noGrp="1"/>
          </p:cNvGraphicFramePr>
          <p:nvPr/>
        </p:nvGraphicFramePr>
        <p:xfrm>
          <a:off x="503999" y="1655999"/>
          <a:ext cx="11231999" cy="1717284"/>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Délai de trois mois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délai d'au moins trois mois de cotisation s'applique-t-il à tous les produits, y compris la maladie et le décès ? L'entretien du 16/10/2026 indiquait l'absence de délai de carence.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Retours maladie et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Par quel canal le FPPN reçoit-il les fichiers retour maladie et décès, et qui les reçoit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Règles de l'EFC et du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Quelle décision a porté l'EFC à 10 000 FCFA en 2021 ? La durée d'un plan PEP est d'au moins trois ans (règlement intérieur, art. 66) : où sont enregistrés les termes choisis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Sur quelle période le produit a-t-il fonctionné, et quand a-t-il été suspendu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Types de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Quels sont les types de prêts et leurs conditions ? Trois types ont été cités, les fichiers de production en comptent huit.</a:t>
                      </a:r>
                    </a:p>
                  </a:txBody>
                  <a:tcPr marL="43200" marR="43200" marT="14400" marB="14400" anchor="ctr">
                    <a:solidFill>
                      <a:srgbClr val="FFFFFF"/>
                    </a:solidFill>
                  </a:tcPr>
                </a:tc>
              </a:tr>
            </a:tbl>
          </a:graphicData>
        </a:graphic>
      </p:graphicFrame>
      <p:sp>
        <p:nvSpPr>
          <p:cNvPr id="33" name="TextBox 32"/>
          <p:cNvSpPr txBox="1"/>
          <p:nvPr/>
        </p:nvSpPr>
        <p:spPr>
          <a:xfrm>
            <a:off x="503999" y="3481286"/>
            <a:ext cx="11232000" cy="162000"/>
          </a:xfrm>
          <a:prstGeom prst="rect">
            <a:avLst/>
          </a:prstGeom>
          <a:noFill/>
        </p:spPr>
        <p:txBody>
          <a:bodyPr wrap="square" anchor="t" lIns="54000" rIns="54000"/>
          <a:lstStyle/>
          <a:p>
            <a:pPr algn="l"/>
            <a:r>
              <a:rPr sz="850" b="0">
                <a:solidFill>
                  <a:srgbClr val="53565A"/>
                </a:solidFill>
                <a:latin typeface="Helvetica"/>
              </a:rPr>
              <a:t>Valable pour : déclarations du responsable des cotisations le 19/10/2026, non confirmées par document sauf mention.</a:t>
            </a:r>
          </a:p>
        </p:txBody>
      </p:sp>
      <p:sp>
        <p:nvSpPr>
          <p:cNvPr id="34" name="TextBox 33"/>
          <p:cNvSpPr txBox="1"/>
          <p:nvPr/>
        </p:nvSpPr>
        <p:spPr>
          <a:xfrm>
            <a:off x="503999" y="3787286"/>
            <a:ext cx="11232000" cy="2080713"/>
          </a:xfrm>
          <a:prstGeom prst="rect">
            <a:avLst/>
          </a:prstGeom>
          <a:noFill/>
        </p:spPr>
        <p:txBody>
          <a:bodyPr wrap="square" lIns="54000" rIns="54000"/>
          <a:lstStyle/>
          <a:p>
            <a:pPr algn="just">
              <a:spcAft>
                <a:spcPts val="600"/>
              </a:spcAft>
            </a:pPr>
            <a:r>
              <a:rPr sz="1300" b="1">
                <a:solidFill>
                  <a:srgbClr val="060606"/>
                </a:solidFill>
                <a:latin typeface="Helvetica"/>
              </a:rPr>
              <a:t>Le point 13 contredit une déclaration antérieure.</a:t>
            </a:r>
            <a:r>
              <a:rPr sz="1300" b="0">
                <a:solidFill>
                  <a:srgbClr val="060606"/>
                </a:solidFill>
                <a:latin typeface="Helvetica"/>
              </a:rPr>
              <a:t> Il conditionne le calcul des délais de carence dans l'analyse des prestations.</a:t>
            </a:r>
          </a:p>
          <a:p>
            <a:pPr algn="just">
              <a:spcAft>
                <a:spcPts val="600"/>
              </a:spcAft>
            </a:pPr>
            <a:r>
              <a:rPr sz="1300" b="0">
                <a:solidFill>
                  <a:srgbClr val="060606"/>
                </a:solidFill>
                <a:latin typeface="Helvetica"/>
              </a:rPr>
              <a:t>Les réponses écrites à ces cinq points seront intégrées à la version suivante du rapport. D'ici là, les déclarations sont présentées comme telles.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 | MEDOC : produit santé complémentaire du poste 8Z7</a:t>
            </a:r>
          </a:p>
        </p:txBody>
      </p:sp>
    </p:spTree>
    <p:extLst>
      <p:ext uri="{BB962C8B-B14F-4D97-AF65-F5344CB8AC3E}">
        <p14:creationId xmlns:p14="http://schemas.microsoft.com/office/powerpoint/2010/main" val="1678954654"/>
      </p:ext>
    </p:extLst>
  </p:cSld>
  <p:clrMapOvr>
    <a:masterClrMapping/>
  </p:clrMapOvr>
  <p:transition>
    <p:fade/>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documents attendus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analyses de provisions attendent des documents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analyse est décrite en partie 9 et reprise dans la PBC générale (items 71 à 109)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106 : Analyses de provisions en attente et documents nécessaires</a:t>
            </a:r>
          </a:p>
        </p:txBody>
      </p:sp>
      <p:graphicFrame>
        <p:nvGraphicFramePr>
          <p:cNvPr id="32" name="Table 31"/>
          <p:cNvGraphicFramePr>
            <a:graphicFrameLocks noGrp="1"/>
          </p:cNvGraphicFramePr>
          <p:nvPr/>
        </p:nvGraphicFramePr>
        <p:xfrm>
          <a:off x="503999" y="1655999"/>
          <a:ext cx="11232000" cy="2631741"/>
        </p:xfrm>
        <a:graphic>
          <a:graphicData uri="http://schemas.openxmlformats.org/drawingml/2006/table">
            <a:tbl>
              <a:tblPr firstRow="0" bandRow="0">
                <a:tableStyleId>{5940675A-B579-460E-94D1-54222C63F5DA}</a:tableStyleId>
              </a:tblPr>
              <a:tblGrid>
                <a:gridCol w="2304000"/>
                <a:gridCol w="4104000"/>
                <a:gridCol w="482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667238">
                <a:tc>
                  <a:txBody>
                    <a:bodyPr/>
                    <a:lstStyle/>
                    <a:p>
                      <a:pPr marL="0" indent="0" lvl="0">
                        <a:buNone/>
                      </a:pPr>
                      <a:r>
                        <a:rPr sz="1000" b="1">
                          <a:solidFill>
                            <a:srgbClr val="060606"/>
                          </a:solidFill>
                          <a:latin typeface="Helvetica"/>
                        </a:rPr>
                        <a:t>PSAP maladie et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Dossier par dossier et sinistres tardifs (méthode CIMA)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Bases de prestations avec dates de survenance, de déclaration et de paiement (71). Note de calcul et liste des dossiers provisionnés (72). Fichiers des décès et barème (92, 93). Circulaire n° 00230/CIMA/CRCA/PDT/2005 (reçue le 19/10/2026)</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Valeur actuelle des engagements (règlement d'exécution n° 004/2022, art. 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Règlements de l'EFC et du PEP (57). Règles de la garantie santé des retraités (79). Âges des mutualistes</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Dépréciation des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Encours par tranche × taux du barème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État des impayés et politique de dépréciation (73). Politique de crédit et de recouvrement (74). Barème de la BCEAO pour les SFD (recherché par Adenka)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des trop-perçus envers les adhérents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Convention avec GNA (68). Nature des mouvements du compte 47111106 (75)</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Départ à la retraite du personnel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Unités de crédit projetées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du personnel avec le statut civil ou policier (76, 103). Contrat type et convention appliquée (77, 104). Note de calcul du FPPN (78). Déclarations CNPS et fichiers de calcul (96 à 98)</a:t>
                      </a:r>
                    </a:p>
                  </a:txBody>
                  <a:tcPr marL="43200" marR="43200" marT="14400" marB="14400" anchor="ctr">
                    <a:solidFill>
                      <a:srgbClr val="FFFFFF"/>
                    </a:solidFill>
                  </a:tcPr>
                </a:tc>
              </a:tr>
            </a:tbl>
          </a:graphicData>
        </a:graphic>
      </p:graphicFrame>
      <p:sp>
        <p:nvSpPr>
          <p:cNvPr id="33" name="TextBox 32"/>
          <p:cNvSpPr txBox="1"/>
          <p:nvPr/>
        </p:nvSpPr>
        <p:spPr>
          <a:xfrm>
            <a:off x="503999" y="4395744"/>
            <a:ext cx="11232000" cy="162000"/>
          </a:xfrm>
          <a:prstGeom prst="rect">
            <a:avLst/>
          </a:prstGeom>
          <a:noFill/>
        </p:spPr>
        <p:txBody>
          <a:bodyPr wrap="square" anchor="t" lIns="54000" rIns="54000"/>
          <a:lstStyle/>
          <a:p>
            <a:pPr algn="l"/>
            <a:r>
              <a:rPr sz="850" b="0">
                <a:solidFill>
                  <a:srgbClr val="53565A"/>
                </a:solidFill>
                <a:latin typeface="Helvetica"/>
              </a:rPr>
              <a:t>Valable pour : documents de provisions demandés et non reçus au 22/10/2026 (PBC pointée).</a:t>
            </a:r>
          </a:p>
        </p:txBody>
      </p:sp>
      <p:sp>
        <p:nvSpPr>
          <p:cNvPr id="34" name="TextBox 33"/>
          <p:cNvSpPr txBox="1"/>
          <p:nvPr/>
        </p:nvSpPr>
        <p:spPr>
          <a:xfrm>
            <a:off x="503999" y="4701744"/>
            <a:ext cx="11232000" cy="1166256"/>
          </a:xfrm>
          <a:prstGeom prst="rect">
            <a:avLst/>
          </a:prstGeom>
          <a:noFill/>
        </p:spPr>
        <p:txBody>
          <a:bodyPr wrap="square" lIns="54000" rIns="54000"/>
          <a:lstStyle/>
          <a:p>
            <a:pPr algn="just">
              <a:spcAft>
                <a:spcPts val="600"/>
              </a:spcAft>
            </a:pPr>
            <a:r>
              <a:rPr sz="1300" b="1">
                <a:solidFill>
                  <a:srgbClr val="060606"/>
                </a:solidFill>
                <a:latin typeface="Helvetica"/>
              </a:rPr>
              <a:t>Les provisions sont le principal sujet en attente de la mission.</a:t>
            </a:r>
            <a:r>
              <a:rPr sz="1300" b="0">
                <a:solidFill>
                  <a:srgbClr val="060606"/>
                </a:solidFill>
                <a:latin typeface="Helvetica"/>
              </a:rPr>
              <a:t> Elles conditionnent le résultat de chaque garantie, la marge de solvabilité et la réserve obligatoire.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BCEAO : Banque centrale des États de l'Afrique de l'Ouest | PEP : Plan Épargne Plus | EFC : entraide fin de carrière | CNPS : Caisse nationale de prévoyance sociale | PSAP : provision pour sinistres à payer | SFD : systèmes financiers décentralisés | PBC : liste des documents demandés au client | GNA : assureur de la flotte automobile (compte 47111106)</a:t>
            </a:r>
          </a:p>
        </p:txBody>
      </p:sp>
    </p:spTree>
    <p:extLst>
      <p:ext uri="{BB962C8B-B14F-4D97-AF65-F5344CB8AC3E}">
        <p14:creationId xmlns:p14="http://schemas.microsoft.com/office/powerpoint/2010/main" val="1665674050"/>
      </p:ext>
    </p:extLst>
  </p:cSld>
  <p:clrMapOvr>
    <a:masterClrMapping/>
  </p:clrMapOvr>
  <p:transition>
    <p:fade/>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des entretiens du chef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Six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placements et provisions (items 80 à 99) et dans les relances des guides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 Entretien du 19/10/2026 (16h) avec M. Koffi, chef comptable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107 : Points à clarifier issus des entretiens du 19/10/2026 avec le chef comptable</a:t>
            </a:r>
          </a:p>
        </p:txBody>
      </p:sp>
      <p:graphicFrame>
        <p:nvGraphicFramePr>
          <p:cNvPr id="32" name="Table 31"/>
          <p:cNvGraphicFramePr>
            <a:graphicFrameLocks noGrp="1"/>
          </p:cNvGraphicFramePr>
          <p:nvPr/>
        </p:nvGraphicFramePr>
        <p:xfrm>
          <a:off x="503999" y="1655999"/>
          <a:ext cx="11231999" cy="1470063"/>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Allocations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Dans quel compte le calcul de fin d'année des allocations restant à payer est-il comptabilisé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Barème décès des officiers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Quel est le montant de l'allocation décès d'un officier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rapport de réévaluation du terrain du siège peut-il être transmis ? L'intitulé du compte parle de matériels.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DAT est-il un placement du FPPN ou un placement affecté à l'EFC, comme l'indique l'intitulé du compte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Commissions GNA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Sur quelle assiette la commission de 20 % est-elle calculée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Provisions héritées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Quelle décision permettra de reprendre ou de justifier les provisions passées vers 2004 ?</a:t>
                      </a:r>
                    </a:p>
                  </a:txBody>
                  <a:tcPr marL="43200" marR="43200" marT="14400" marB="14400" anchor="ctr">
                    <a:solidFill>
                      <a:srgbClr val="F2F2F2"/>
                    </a:solidFill>
                  </a:tcPr>
                </a:tc>
              </a:tr>
            </a:tbl>
          </a:graphicData>
        </a:graphic>
      </p:graphicFrame>
      <p:sp>
        <p:nvSpPr>
          <p:cNvPr id="33" name="TextBox 32"/>
          <p:cNvSpPr txBox="1"/>
          <p:nvPr/>
        </p:nvSpPr>
        <p:spPr>
          <a:xfrm>
            <a:off x="503999" y="3234067"/>
            <a:ext cx="11232000" cy="162000"/>
          </a:xfrm>
          <a:prstGeom prst="rect">
            <a:avLst/>
          </a:prstGeom>
          <a:noFill/>
        </p:spPr>
        <p:txBody>
          <a:bodyPr wrap="square" anchor="t" lIns="54000" rIns="54000"/>
          <a:lstStyle/>
          <a:p>
            <a:pPr algn="l"/>
            <a:r>
              <a:rPr sz="850" b="0">
                <a:solidFill>
                  <a:srgbClr val="53565A"/>
                </a:solidFill>
                <a:latin typeface="Helvetica"/>
              </a:rPr>
              <a:t>Valable pour : déclarations du chef comptable le 19/10/2026 (14h et 16h), non confirmées par document sauf mention.</a:t>
            </a:r>
          </a:p>
        </p:txBody>
      </p:sp>
      <p:sp>
        <p:nvSpPr>
          <p:cNvPr id="34" name="TextBox 33"/>
          <p:cNvSpPr txBox="1"/>
          <p:nvPr/>
        </p:nvSpPr>
        <p:spPr>
          <a:xfrm>
            <a:off x="503999" y="3540067"/>
            <a:ext cx="11232000" cy="2327932"/>
          </a:xfrm>
          <a:prstGeom prst="rect">
            <a:avLst/>
          </a:prstGeom>
          <a:noFill/>
        </p:spPr>
        <p:txBody>
          <a:bodyPr wrap="square" lIns="54000" rIns="54000"/>
          <a:lstStyle/>
          <a:p>
            <a:pPr algn="just">
              <a:spcAft>
                <a:spcPts val="600"/>
              </a:spcAft>
            </a:pPr>
            <a:r>
              <a:rPr sz="1300" b="1">
                <a:solidFill>
                  <a:srgbClr val="060606"/>
                </a:solidFill>
                <a:latin typeface="Helvetica"/>
              </a:rPr>
              <a:t>Les points 18 et 23 sont prioritaires</a:t>
            </a:r>
            <a:r>
              <a:rPr sz="1300" b="0">
                <a:solidFill>
                  <a:srgbClr val="060606"/>
                </a:solidFill>
                <a:latin typeface="Helvetica"/>
              </a:rPr>
              <a:t> : ils conditionnent le montant des provisions au bilan et donc le résultat et les fonds propres.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DAT : dépôt à terme | PBC : liste des documents demandés au client | GNA : assureur de la flotte automobile (compte 47111106)</a:t>
            </a:r>
          </a:p>
        </p:txBody>
      </p:sp>
    </p:spTree>
    <p:extLst>
      <p:ext uri="{BB962C8B-B14F-4D97-AF65-F5344CB8AC3E}">
        <p14:creationId xmlns:p14="http://schemas.microsoft.com/office/powerpoint/2010/main" val="919615159"/>
      </p:ext>
    </p:extLst>
  </p:cSld>
  <p:clrMapOvr>
    <a:masterClrMapping/>
  </p:clrMapOvr>
  <p:transition>
    <p:fade/>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des documents du 22/10/2026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points demandent une réponse du FPPN, chacun repris dans la PBC</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Version des comptes 2023, clé de répartition avant mars 2024, taux servis, épargne présentée en Assemblée générale, personnel, retraités, chèques en suspens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documents reçus le 22/10/2026. FPPN_PBC_complete_pointee_20261022.xlsx</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108 : Points à clarifier issus des documents du 22/10/2026</a:t>
            </a:r>
          </a:p>
        </p:txBody>
      </p:sp>
      <p:graphicFrame>
        <p:nvGraphicFramePr>
          <p:cNvPr id="32" name="Table 31"/>
          <p:cNvGraphicFramePr>
            <a:graphicFrameLocks noGrp="1"/>
          </p:cNvGraphicFramePr>
          <p:nvPr/>
        </p:nvGraphicFramePr>
        <p:xfrm>
          <a:off x="503999" y="1655999"/>
          <a:ext cx="11232000" cy="2015376"/>
        </p:xfrm>
        <a:graphic>
          <a:graphicData uri="http://schemas.openxmlformats.org/drawingml/2006/table">
            <a:tbl>
              <a:tblPr firstRow="0" bandRow="0">
                <a:tableStyleId>{5940675A-B579-460E-94D1-54222C63F5DA}</a:tableStyleId>
              </a:tblPr>
              <a:tblGrid>
                <a:gridCol w="432000"/>
                <a:gridCol w="1800000"/>
                <a:gridCol w="5040000"/>
                <a:gridCol w="3960000"/>
              </a:tblGrid>
              <a:tr h="187148">
                <a:tc>
                  <a:txBody>
                    <a:bodyPr/>
                    <a:lstStyle/>
                    <a:p>
                      <a:pPr marL="0" indent="0" lvl="0">
                        <a:buNone/>
                      </a:pPr>
                      <a:r>
                        <a:rPr sz="85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Sujet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Demande (PBC)</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Comptes 2023 et 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Deux versions des comptes 2023. Résultat au 31/08/2026 différent entre états financiers et balance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Version approuvée et explication des écarts (item 110)</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Clé maladie / décès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Autre clé que 3,77 / 1,23 en janvier et février 2024. Dix adhérents d'écart chaque mois de 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Clé appliquée avant mars 2024 et liste des écarts (item 111)</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servi sur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 5,5 % ou 14 % selon le document. Aucune écriture d'intérêts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Décision fixant le taux et relevés individuels (item 99)</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Épargne en Assemblée générale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rapport de gestion 2025 présente la collecte de l'année comme l'épargne au 31/12/2025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Rapport rectifié avec le solde dû (item 112)</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Personnel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Dates d'embauche modifiées dans la DISA 2025. Agents de plus de 55 ans en poste. Recrues de 2025 sans entité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Âge de départ, dates, entités, enfants, note de calcul (item 113)</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Cotisation des retraités souscripteurs absente de la convention IPS-CGRAE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Bulletin de souscription et barème (item 114)</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Chèques en suspens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Chèques émis depuis 2021 et non encaissés, en hausse chaque année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Liste et traitement des chèques périmés (item 91)</a:t>
                      </a:r>
                    </a:p>
                  </a:txBody>
                  <a:tcPr marL="43200" marR="43200" marT="14400" marB="14400" anchor="ctr">
                    <a:solidFill>
                      <a:srgbClr val="FFFFFF"/>
                    </a:solidFill>
                  </a:tcPr>
                </a:tc>
              </a:tr>
            </a:tbl>
          </a:graphicData>
        </a:graphic>
      </p:graphicFrame>
      <p:sp>
        <p:nvSpPr>
          <p:cNvPr id="33" name="TextBox 32"/>
          <p:cNvSpPr txBox="1"/>
          <p:nvPr/>
        </p:nvSpPr>
        <p:spPr>
          <a:xfrm>
            <a:off x="503999" y="3779377"/>
            <a:ext cx="11232000" cy="162000"/>
          </a:xfrm>
          <a:prstGeom prst="rect">
            <a:avLst/>
          </a:prstGeom>
          <a:noFill/>
        </p:spPr>
        <p:txBody>
          <a:bodyPr wrap="square" anchor="t" lIns="54000" rIns="54000"/>
          <a:lstStyle/>
          <a:p>
            <a:pPr algn="l"/>
            <a:r>
              <a:rPr sz="850" b="0">
                <a:solidFill>
                  <a:srgbClr val="53565A"/>
                </a:solidFill>
                <a:latin typeface="Helvetica"/>
              </a:rPr>
              <a:t>Valable pour : documents reçus le 22/10/2026.</a:t>
            </a:r>
          </a:p>
        </p:txBody>
      </p:sp>
      <p:sp>
        <p:nvSpPr>
          <p:cNvPr id="34" name="TextBox 33"/>
          <p:cNvSpPr txBox="1"/>
          <p:nvPr/>
        </p:nvSpPr>
        <p:spPr>
          <a:xfrm>
            <a:off x="503999" y="4085377"/>
            <a:ext cx="11232000" cy="1782622"/>
          </a:xfrm>
          <a:prstGeom prst="rect">
            <a:avLst/>
          </a:prstGeom>
          <a:noFill/>
        </p:spPr>
        <p:txBody>
          <a:bodyPr wrap="square" lIns="54000" rIns="54000"/>
          <a:lstStyle/>
          <a:p>
            <a:pPr algn="just">
              <a:spcAft>
                <a:spcPts val="600"/>
              </a:spcAft>
            </a:pPr>
            <a:r>
              <a:rPr sz="1300" b="1">
                <a:solidFill>
                  <a:srgbClr val="060606"/>
                </a:solidFill>
                <a:latin typeface="Helvetica"/>
              </a:rPr>
              <a:t>Les points 3 et 4 touchent directement l'évaluation de l'engagement d'épargne</a:t>
            </a:r>
            <a:r>
              <a:rPr sz="1300" b="0">
                <a:solidFill>
                  <a:srgbClr val="060606"/>
                </a:solidFill>
                <a:latin typeface="Helvetica"/>
              </a:rPr>
              <a:t>, la principale dette du FPPN envers ses adhérents.</a:t>
            </a:r>
          </a:p>
          <a:p>
            <a:pPr algn="just">
              <a:spcAft>
                <a:spcPts val="600"/>
              </a:spcAft>
            </a:pPr>
            <a:r>
              <a:rPr sz="1300" b="0">
                <a:solidFill>
                  <a:srgbClr val="060606"/>
                </a:solidFill>
                <a:latin typeface="Helvetica"/>
              </a:rPr>
              <a:t>Les réponses permettront de lever les réserves du rapport sur l'épargne et la provision du personnel.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PBC : liste des documents demandés au client | DISA : déclaration individuelle des salaires annuels à la CNPS | IPS-CGRAE : Institution de prévoyance sociale - Caisse générale de retraite des agents de l'État</a:t>
            </a:r>
          </a:p>
        </p:txBody>
      </p:sp>
    </p:spTree>
    <p:extLst>
      <p:ext uri="{BB962C8B-B14F-4D97-AF65-F5344CB8AC3E}">
        <p14:creationId xmlns:p14="http://schemas.microsoft.com/office/powerpoint/2010/main" val="2995536740"/>
      </p:ext>
    </p:extLst>
  </p:cSld>
  <p:clrMapOvr>
    <a:masterClrMapping/>
  </p:clrMapOvr>
  <p:transition>
    <p:fade/>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Méthodes non retenues, validité, listes, abréviations, références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785019427"/>
      </p:ext>
    </p:extLst>
  </p:cSld>
  <p:clrMapOvr>
    <a:masterClrMapping/>
  </p:clrMapOvr>
  <p:transition>
    <p:fade/>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Méthodes non retenues : vue d'ensemble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méthodes courantes ne sont pas appliquées : leurs conditions d'emploi ne sont pas remplies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Appliquer une méthode hors de ses conditions d'emploi produirait des chiffres précis en apparence et faux en réalité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d'après les références citées dans chaque diapositive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109 : Méthodes non retenues et méthodes appliquées à la place</a:t>
            </a:r>
          </a:p>
        </p:txBody>
      </p:sp>
      <p:graphicFrame>
        <p:nvGraphicFramePr>
          <p:cNvPr id="32" name="Table 31"/>
          <p:cNvGraphicFramePr>
            <a:graphicFrameLocks noGrp="1"/>
          </p:cNvGraphicFramePr>
          <p:nvPr/>
        </p:nvGraphicFramePr>
        <p:xfrm>
          <a:off x="503999" y="1655999"/>
          <a:ext cx="11232000" cy="1885828"/>
        </p:xfrm>
        <a:graphic>
          <a:graphicData uri="http://schemas.openxmlformats.org/drawingml/2006/table">
            <a:tbl>
              <a:tblPr firstRow="0" bandRow="0">
                <a:tableStyleId>{5940675A-B579-460E-94D1-54222C63F5DA}</a:tableStyleId>
              </a:tblPr>
              <a:tblGrid>
                <a:gridCol w="2304000"/>
                <a:gridCol w="3960000"/>
                <a:gridCol w="3240000"/>
                <a:gridCol w="1728000"/>
              </a:tblGrid>
              <a:tr h="187148">
                <a:tc>
                  <a:txBody>
                    <a:bodyPr/>
                    <a:lstStyle/>
                    <a:p>
                      <a:pPr marL="0" indent="0" lvl="0">
                        <a:buNone/>
                      </a:pPr>
                      <a:r>
                        <a:rPr sz="850" b="1">
                          <a:solidFill>
                            <a:srgbClr val="FFFFFF"/>
                          </a:solidFill>
                          <a:latin typeface="Helvetica"/>
                        </a:rPr>
                        <a:t>Méthode non retenue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Condition principale non remplie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appliquée à la place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Détail</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Chain Ladder et méthode CIMA des tardifs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Des paiements étalés sur plusieurs années de développement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Méthode courte sur les factures en retard</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diapositive 226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Mortalité observée par âge (A/E)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La date de naissance de chaque mutualiste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brut de mortalité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diapositive 227</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Provision mathématique santé des retraités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L'âge et le coût des soins de chaque retraité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Description des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diapositive 228</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Duration et immunisation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Des flux de passif connus et des actifs à revenu fixe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Écarts de liquidité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diapositive 229</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Modèle actif-passif stochastique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Des contrats décrits par âge et des scénarios économiques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Tests de résistance calibrés sur le FPPN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diapositive 230</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Valeur en risque (VaR)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Des actifs évalués au prix du marché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Classes de liquidité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diapositive 231</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Capital de solvabilité de type Solvabilité II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Un cadre réglementaire qui l'impose et des engagements en meilleure estimation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Marge de solvabilité de la Décision n° 05/2022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diapositive 232</a:t>
                      </a:r>
                    </a:p>
                  </a:txBody>
                  <a:tcPr marL="43200" marR="43200" marT="14400" marB="14400" anchor="ctr">
                    <a:solidFill>
                      <a:srgbClr val="FFFFFF"/>
                    </a:solidFill>
                  </a:tcPr>
                </a:tc>
              </a:tr>
            </a:tbl>
          </a:graphicData>
        </a:graphic>
      </p:graphicFrame>
      <p:sp>
        <p:nvSpPr>
          <p:cNvPr id="33" name="TextBox 32"/>
          <p:cNvSpPr txBox="1"/>
          <p:nvPr/>
        </p:nvSpPr>
        <p:spPr>
          <a:xfrm>
            <a:off x="503999" y="3649829"/>
            <a:ext cx="11232000" cy="162000"/>
          </a:xfrm>
          <a:prstGeom prst="rect">
            <a:avLst/>
          </a:prstGeom>
          <a:noFill/>
        </p:spPr>
        <p:txBody>
          <a:bodyPr wrap="square" anchor="t" lIns="54000" rIns="54000"/>
          <a:lstStyle/>
          <a:p>
            <a:pPr algn="l"/>
            <a:r>
              <a:rPr sz="850" b="0">
                <a:solidFill>
                  <a:srgbClr val="53565A"/>
                </a:solidFill>
                <a:latin typeface="Helvetica"/>
              </a:rPr>
              <a:t>Valable pour : données reçues jusqu'au 22/10/2026.</a:t>
            </a:r>
          </a:p>
        </p:txBody>
      </p:sp>
      <p:sp>
        <p:nvSpPr>
          <p:cNvPr id="34" name="TextBox 33"/>
          <p:cNvSpPr txBox="1"/>
          <p:nvPr/>
        </p:nvSpPr>
        <p:spPr>
          <a:xfrm>
            <a:off x="503999" y="3955829"/>
            <a:ext cx="11232000" cy="1912170"/>
          </a:xfrm>
          <a:prstGeom prst="rect">
            <a:avLst/>
          </a:prstGeom>
          <a:noFill/>
        </p:spPr>
        <p:txBody>
          <a:bodyPr wrap="square" lIns="54000" rIns="54000"/>
          <a:lstStyle/>
          <a:p>
            <a:pPr algn="just">
              <a:spcAft>
                <a:spcPts val="600"/>
              </a:spcAft>
            </a:pPr>
            <a:r>
              <a:rPr sz="1300" b="1">
                <a:solidFill>
                  <a:srgbClr val="060606"/>
                </a:solidFill>
                <a:latin typeface="Helvetica"/>
              </a:rPr>
              <a:t>Une même cause revient : l'absence de données individuelles (âges, dates de soins, comptes d'épargne).</a:t>
            </a:r>
            <a:r>
              <a:rPr sz="1300" b="0">
                <a:solidFill>
                  <a:srgbClr val="060606"/>
                </a:solidFill>
                <a:latin typeface="Helvetica"/>
              </a:rPr>
              <a:t> Les méthodes retenues exploitent au mieux les données agrégées reçues.</a:t>
            </a:r>
          </a:p>
          <a:p>
            <a:pPr algn="just">
              <a:spcAft>
                <a:spcPts val="600"/>
              </a:spcAft>
            </a:pPr>
            <a:r>
              <a:rPr sz="1300" b="0">
                <a:solidFill>
                  <a:srgbClr val="060606"/>
                </a:solidFill>
                <a:latin typeface="Helvetica"/>
              </a:rPr>
              <a:t>Chaque méthode non retenue pourra être appliquée dès réception des données citées dans sa diapositive.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A/E : décès observés / décès attendus</a:t>
            </a:r>
          </a:p>
        </p:txBody>
      </p:sp>
    </p:spTree>
    <p:extLst>
      <p:ext uri="{BB962C8B-B14F-4D97-AF65-F5344CB8AC3E}">
        <p14:creationId xmlns:p14="http://schemas.microsoft.com/office/powerpoint/2010/main" val="3676069544"/>
      </p:ext>
    </p:extLst>
  </p:cSld>
  <p:clrMapOvr>
    <a:masterClrMapping/>
  </p:clrMapOvr>
  <p:transition>
    <p:fade/>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Chain Ladder et méthode CIMA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factures se règlent en quelques mois : un triangle annuel n'aurait qu'une seule colonne utile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Moins de 0,89 % des factures d'une année sont enregistrées l'année suivante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circulaire n° 00230/CIMA/CRCA/PDT/2005. Règlement d'exécution n° 004/2022/COM/UEMOA du 1er juin 2022, art. 10. Règlement intérieur du FPPN édité le 15/06/2023. Grands livres des tiers 2023 à 2025 (« GRAND LIVRE DES TIERS FPPN 2023.xlsx » et suivants)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110 : Conditions d'emploi de la méthode et données du FPPN</a:t>
            </a:r>
          </a:p>
        </p:txBody>
      </p:sp>
      <p:graphicFrame>
        <p:nvGraphicFramePr>
          <p:cNvPr id="32" name="Table 31"/>
          <p:cNvGraphicFramePr>
            <a:graphicFrameLocks noGrp="1"/>
          </p:cNvGraphicFramePr>
          <p:nvPr/>
        </p:nvGraphicFramePr>
        <p:xfrm>
          <a:off x="503999" y="1655999"/>
          <a:ext cx="11232000" cy="1385820"/>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Paiements étalés sur plusieurs années de développement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circulaire n° 00230/CIMA/CRCA/PDT/2005 (cadences sur quatre années de survenance)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 des factures enregistrées l'année suivante : 0,89 %, 0,21 %, 0,14 % (clôtures 2022, 2023, 2024)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Rythme de règlement stable d'une année à l'autre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Hypothèse de base de Chain Ladder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moyen de paiement des cliniques : 53 mois en 2020, 102 en 2021, 2,62 en 2025 : le rythme a changé de nature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Base des prestations datée (soins, dépôt, paiement)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du 1er juin 2022, art.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reçue (PBC, item 71). Seule l'année de la facture est lisible dans son numéro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Délai de règlement borné par les textes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intérieur du FPPN édité le 15/06/2023, art. 52, 57 et 60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Paiement à trois mois du dépôt, demande de remboursement limitée à trois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Oui</a:t>
                      </a:r>
                    </a:p>
                  </a:txBody>
                  <a:tcPr marL="43200" marR="43200" marT="14400" marB="14400" anchor="ctr">
                    <a:solidFill>
                      <a:srgbClr val="F2F2F2"/>
                    </a:solidFill>
                  </a:tcPr>
                </a:tc>
              </a:tr>
            </a:tbl>
          </a:graphicData>
        </a:graphic>
      </p:graphicFrame>
      <p:sp>
        <p:nvSpPr>
          <p:cNvPr id="33" name="TextBox 32"/>
          <p:cNvSpPr txBox="1"/>
          <p:nvPr/>
        </p:nvSpPr>
        <p:spPr>
          <a:xfrm>
            <a:off x="503999" y="3149821"/>
            <a:ext cx="11232000" cy="162000"/>
          </a:xfrm>
          <a:prstGeom prst="rect">
            <a:avLst/>
          </a:prstGeom>
          <a:noFill/>
        </p:spPr>
        <p:txBody>
          <a:bodyPr wrap="square" anchor="t" lIns="54000" rIns="54000"/>
          <a:lstStyle/>
          <a:p>
            <a:pPr algn="l"/>
            <a:r>
              <a:rPr sz="850" b="0">
                <a:solidFill>
                  <a:srgbClr val="53565A"/>
                </a:solidFill>
                <a:latin typeface="Helvetica"/>
              </a:rPr>
              <a:t>Valable pour : factures de cliniques du journal SIN 2023 à 2025. Délais calculés sur le compte 40110000 de 2020 au 31/08/2026.</a:t>
            </a:r>
          </a:p>
        </p:txBody>
      </p:sp>
      <p:sp>
        <p:nvSpPr>
          <p:cNvPr id="34" name="TextBox 33"/>
          <p:cNvSpPr txBox="1"/>
          <p:nvPr/>
        </p:nvSpPr>
        <p:spPr>
          <a:xfrm>
            <a:off x="503999" y="3455821"/>
            <a:ext cx="11232000" cy="2412178"/>
          </a:xfrm>
          <a:prstGeom prst="rect">
            <a:avLst/>
          </a:prstGeom>
          <a:noFill/>
        </p:spPr>
        <p:txBody>
          <a:bodyPr wrap="square" lIns="54000" rIns="54000"/>
          <a:lstStyle/>
          <a:p>
            <a:pPr algn="just">
              <a:spcAft>
                <a:spcPts val="600"/>
              </a:spcAft>
            </a:pPr>
            <a:r>
              <a:rPr sz="1300" b="1">
                <a:solidFill>
                  <a:srgbClr val="060606"/>
                </a:solidFill>
                <a:latin typeface="Helvetica"/>
              </a:rPr>
              <a:t>Appliquée aux données du FPPN, la méthode projetterait le rattrapage des arriérés de 2020 à 2022 comme un rythme normal et surestimerait fortement la provision.</a:t>
            </a:r>
          </a:p>
          <a:p>
            <a:pPr algn="just">
              <a:spcAft>
                <a:spcPts val="600"/>
              </a:spcAft>
            </a:pPr>
            <a:r>
              <a:rPr sz="1300" b="0">
                <a:solidFill>
                  <a:srgbClr val="060606"/>
                </a:solidFill>
                <a:latin typeface="Helvetica"/>
              </a:rPr>
              <a:t>Méthode appliquée : soins de l'année facturés l'année suivante, mesurés facture par facture (diapositive « Provision maladie : factures arrivées en retard »).</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PBC : liste des documents demandés au client</a:t>
            </a:r>
          </a:p>
        </p:txBody>
      </p:sp>
    </p:spTree>
    <p:extLst>
      <p:ext uri="{BB962C8B-B14F-4D97-AF65-F5344CB8AC3E}">
        <p14:creationId xmlns:p14="http://schemas.microsoft.com/office/powerpoint/2010/main" val="1259605560"/>
      </p:ext>
    </p:extLst>
  </p:cSld>
  <p:clrMapOvr>
    <a:masterClrMapping/>
  </p:clrMapOvr>
  <p:transition>
    <p:fade/>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mortalité observée par âge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Sans date de naissance, les décès attendus par la table ne peuvent pas être calculés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495 décès de membres de 2021 à 2025 : même avec les âges, l'écart à la table ne serait mesuré qu'à ±8,81 % près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111 : Conditions d'emploi de la méthode et données du FPPN</a:t>
            </a:r>
          </a:p>
        </p:txBody>
      </p:sp>
      <p:graphicFrame>
        <p:nvGraphicFramePr>
          <p:cNvPr id="32" name="Table 31"/>
          <p:cNvGraphicFramePr>
            <a:graphicFrameLocks noGrp="1"/>
          </p:cNvGraphicFramePr>
          <p:nvPr/>
        </p:nvGraphicFramePr>
        <p:xfrm>
          <a:off x="503999" y="1655999"/>
          <a:ext cx="11232000" cy="1084838"/>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Exposition au risque par âge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Définition de la table de mortalité, règlement d'exécution n° 004/2022/COM/UEMOA du 1er juin 2022, art.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 fichier reçu ne porte la date de naissance des mutualistes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Décès datés et rattachés à un âge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Même source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 de membres comptés par année (495 de 2021 à 2025), sans âge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Nombre de décès suffisant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Loi de Poisson : intervalle à 95 % d'environ ±1,96 / racine du nombre de décès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Intervalle de ±8,81 % sur cinq ans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Partiellement</a:t>
                      </a:r>
                    </a:p>
                  </a:txBody>
                  <a:tcPr marL="43200" marR="43200" marT="14400" marB="14400" anchor="ctr">
                    <a:solidFill>
                      <a:srgbClr val="FFFFFF"/>
                    </a:solidFill>
                  </a:tcPr>
                </a:tc>
              </a:tr>
            </a:tbl>
          </a:graphicData>
        </a:graphic>
      </p:graphicFrame>
      <p:sp>
        <p:nvSpPr>
          <p:cNvPr id="33" name="TextBox 32"/>
          <p:cNvSpPr txBox="1"/>
          <p:nvPr/>
        </p:nvSpPr>
        <p:spPr>
          <a:xfrm>
            <a:off x="503999" y="2848838"/>
            <a:ext cx="11232000" cy="162000"/>
          </a:xfrm>
          <a:prstGeom prst="rect">
            <a:avLst/>
          </a:prstGeom>
          <a:noFill/>
        </p:spPr>
        <p:txBody>
          <a:bodyPr wrap="square" anchor="t" lIns="54000" rIns="54000"/>
          <a:lstStyle/>
          <a:p>
            <a:pPr algn="l"/>
            <a:r>
              <a:rPr sz="850" b="0">
                <a:solidFill>
                  <a:srgbClr val="53565A"/>
                </a:solidFill>
                <a:latin typeface="Helvetica"/>
              </a:rPr>
              <a:t>Valable pour : décès de membres recensés par le FPPN de 2021 à 2025.</a:t>
            </a:r>
          </a:p>
        </p:txBody>
      </p:sp>
      <p:sp>
        <p:nvSpPr>
          <p:cNvPr id="34" name="TextBox 33"/>
          <p:cNvSpPr txBox="1"/>
          <p:nvPr/>
        </p:nvSpPr>
        <p:spPr>
          <a:xfrm>
            <a:off x="503999" y="3154838"/>
            <a:ext cx="11232000" cy="2713161"/>
          </a:xfrm>
          <a:prstGeom prst="rect">
            <a:avLst/>
          </a:prstGeom>
          <a:noFill/>
        </p:spPr>
        <p:txBody>
          <a:bodyPr wrap="square" lIns="54000" rIns="54000"/>
          <a:lstStyle/>
          <a:p>
            <a:pPr algn="just">
              <a:spcAft>
                <a:spcPts val="600"/>
              </a:spcAft>
            </a:pPr>
            <a:r>
              <a:rPr sz="1300" b="1">
                <a:solidFill>
                  <a:srgbClr val="060606"/>
                </a:solidFill>
                <a:latin typeface="Helvetica"/>
              </a:rPr>
              <a:t>La mortalité des policiers ne peut pas être comparée à la table CIMA H.</a:t>
            </a:r>
            <a:r>
              <a:rPr sz="1300" b="0">
                <a:solidFill>
                  <a:srgbClr val="060606"/>
                </a:solidFill>
                <a:latin typeface="Helvetica"/>
              </a:rPr>
              <a:t> Seul le taux brut, toutes tranches d'âge confondues, est calculable.</a:t>
            </a:r>
          </a:p>
          <a:p>
            <a:pPr algn="just">
              <a:spcAft>
                <a:spcPts val="600"/>
              </a:spcAft>
            </a:pPr>
            <a:r>
              <a:rPr sz="1300" b="0">
                <a:solidFill>
                  <a:srgbClr val="060606"/>
                </a:solidFill>
                <a:latin typeface="Helvetica"/>
              </a:rPr>
              <a:t>Méthode appliquée : taux brut de mortalité des membres participants (diapositive « Mortalité brute des membres participants »).</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2160450853"/>
      </p:ext>
    </p:extLst>
  </p:cSld>
  <p:clrMapOvr>
    <a:masterClrMapping/>
  </p:clrMapOvr>
  <p:transition>
    <p:fade/>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provision santé des retraités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L'engagement à vie ne se calcule qu'avec l'âge et le coût des soins de chaque retraité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610 retraités précomptés en août 26, dont 105 avec une date de naissance, sans prestations isolées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CONVENTION DE PARTENARIAT ENTRE IPS-CGRAE ET LE FPPN.pdf. Code CIMA, art. 334-8. Fichiers de précomptes de la Solde, de la CGRAE et du FPPN reçus le 15/10/2026 (dossiers « FPPN-SOLDE », « FPPN-CGRAE », « FPPN-GNA », noms exacts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112 : Conditions d'emploi de la méthode et données du FPPN</a:t>
            </a:r>
          </a:p>
        </p:txBody>
      </p:sp>
      <p:graphicFrame>
        <p:nvGraphicFramePr>
          <p:cNvPr id="32" name="Table 31"/>
          <p:cNvGraphicFramePr>
            <a:graphicFrameLocks noGrp="1"/>
          </p:cNvGraphicFramePr>
          <p:nvPr/>
        </p:nvGraphicFramePr>
        <p:xfrm>
          <a:off x="503999" y="1655999"/>
          <a:ext cx="11232000" cy="962910"/>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Âge de chaque retraité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334-8 (référence technique)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Date de naissance pour 105 retraités seulement (fichiers retour de la CGRAE de février à avril 2024)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Partiellement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Coût annuel des soins par âge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Même source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des retraités non isolées dans les comptes ni dans les fichiers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Règle de la garantie (durée, cotisation)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Bulletin de souscription, annexe 2 de la convention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bl>
          </a:graphicData>
        </a:graphic>
      </p:graphicFrame>
      <p:sp>
        <p:nvSpPr>
          <p:cNvPr id="33" name="TextBox 32"/>
          <p:cNvSpPr txBox="1"/>
          <p:nvPr/>
        </p:nvSpPr>
        <p:spPr>
          <a:xfrm>
            <a:off x="503999" y="2726910"/>
            <a:ext cx="11232000" cy="162000"/>
          </a:xfrm>
          <a:prstGeom prst="rect">
            <a:avLst/>
          </a:prstGeom>
          <a:noFill/>
        </p:spPr>
        <p:txBody>
          <a:bodyPr wrap="square" anchor="t" lIns="54000" rIns="54000"/>
          <a:lstStyle/>
          <a:p>
            <a:pPr algn="l"/>
            <a:r>
              <a:rPr sz="850" b="0">
                <a:solidFill>
                  <a:srgbClr val="53565A"/>
                </a:solidFill>
                <a:latin typeface="Helvetica"/>
              </a:rPr>
              <a:t>Valable pour : retraités précomptés par la CGRAE de févr. 24 à août 26. Dates de naissance des fichiers retour de février à avril 2024.</a:t>
            </a:r>
          </a:p>
        </p:txBody>
      </p:sp>
      <p:sp>
        <p:nvSpPr>
          <p:cNvPr id="34" name="TextBox 33"/>
          <p:cNvSpPr txBox="1"/>
          <p:nvPr/>
        </p:nvSpPr>
        <p:spPr>
          <a:xfrm>
            <a:off x="503999" y="3032910"/>
            <a:ext cx="11232000" cy="2835089"/>
          </a:xfrm>
          <a:prstGeom prst="rect">
            <a:avLst/>
          </a:prstGeom>
          <a:noFill/>
        </p:spPr>
        <p:txBody>
          <a:bodyPr wrap="square" lIns="54000" rIns="54000"/>
          <a:lstStyle/>
          <a:p>
            <a:pPr algn="just">
              <a:spcAft>
                <a:spcPts val="600"/>
              </a:spcAft>
            </a:pPr>
            <a:r>
              <a:rPr sz="1300" b="1">
                <a:solidFill>
                  <a:srgbClr val="060606"/>
                </a:solidFill>
                <a:latin typeface="Helvetica"/>
              </a:rPr>
              <a:t>Calculer une provision avec un âge moyen supposé donnerait un chiffre sans fondement</a:t>
            </a:r>
            <a:r>
              <a:rPr sz="1300" b="0">
                <a:solidFill>
                  <a:srgbClr val="060606"/>
                </a:solidFill>
                <a:latin typeface="Helvetica"/>
              </a:rPr>
              <a:t> : la valeur d'une rente à 60 ans varie de plus de deux années de paiement selon la seule table retenue (partie 11).</a:t>
            </a:r>
          </a:p>
          <a:p>
            <a:pPr algn="just">
              <a:spcAft>
                <a:spcPts val="600"/>
              </a:spcAft>
            </a:pPr>
            <a:r>
              <a:rPr sz="1300" b="0">
                <a:solidFill>
                  <a:srgbClr val="060606"/>
                </a:solidFill>
                <a:latin typeface="Helvetica"/>
              </a:rPr>
              <a:t>Méthode appliquée : description des cotisations des retraités (diapositive « Santé des retraités : ce que l'on peut mesurer »).</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CGRAE : Caisse générale de retraite des agents de l'État | GNA : assureur de la flotte automobile (compte 47111106) | IPS-CGRAE : Institution de prévoyance sociale - Caisse générale de retraite des agents de l'État</a:t>
            </a:r>
          </a:p>
        </p:txBody>
      </p:sp>
    </p:spTree>
    <p:extLst>
      <p:ext uri="{BB962C8B-B14F-4D97-AF65-F5344CB8AC3E}">
        <p14:creationId xmlns:p14="http://schemas.microsoft.com/office/powerpoint/2010/main" val="3042313267"/>
      </p:ext>
    </p:extLst>
  </p:cSld>
  <p:clrMapOvr>
    <a:masterClrMapping/>
  </p:clrMapOvr>
  <p:transition>
    <p:fade/>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duration et immunisation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L'immunisation suppose des flux de passif connus et des actifs à revenu fixe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Placements financiers moyens 2025 : 3,73 % de l'épargne due. Taux servi non arrêté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Ch13_Gestion_Actif-Passif_French.pdf » (Association actuarielle internationale, 2016). « ALM_ONT.pdf ». Balances des comptes du FPPN de 2020 au 31/08/2026 (provisoire), fichiers « BALANCE … » listés en annexe « Fichiers sources ».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113 : Conditions d'emploi de la méthode et données du FPPN</a:t>
            </a:r>
          </a:p>
        </p:txBody>
      </p:sp>
      <p:graphicFrame>
        <p:nvGraphicFramePr>
          <p:cNvPr id="32" name="Table 31"/>
          <p:cNvGraphicFramePr>
            <a:graphicFrameLocks noGrp="1"/>
          </p:cNvGraphicFramePr>
          <p:nvPr/>
        </p:nvGraphicFramePr>
        <p:xfrm>
          <a:off x="503999" y="1655999"/>
          <a:ext cx="11232000" cy="1084838"/>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Flux de passif prévisibles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Ch13_Gestion_Actif-Passif_French.pdf » (Association actuarielle internationale, 2016), p. 3 et 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Épargne sans échéancier. Taux servi de 3,5 %, 5,5 % ou 14 % selon le document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Actifs à revenu fixe en volume suffisant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Même source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DAT soldé chaque année et FCP. Placements moyens 2025 de 515 290 922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Risque principal : le taux d'intérêt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ALM_ONT.pdf », p. 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Risque principal : la liquidité (couverture de l'année inférieure à 40 %)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bl>
          </a:graphicData>
        </a:graphic>
      </p:graphicFrame>
      <p:sp>
        <p:nvSpPr>
          <p:cNvPr id="33" name="TextBox 32"/>
          <p:cNvSpPr txBox="1"/>
          <p:nvPr/>
        </p:nvSpPr>
        <p:spPr>
          <a:xfrm>
            <a:off x="503999" y="2848838"/>
            <a:ext cx="11232000" cy="162000"/>
          </a:xfrm>
          <a:prstGeom prst="rect">
            <a:avLst/>
          </a:prstGeom>
          <a:noFill/>
        </p:spPr>
        <p:txBody>
          <a:bodyPr wrap="square" anchor="t" lIns="54000" rIns="54000"/>
          <a:lstStyle/>
          <a:p>
            <a:pPr algn="l"/>
            <a:r>
              <a:rPr sz="850" b="0">
                <a:solidFill>
                  <a:srgbClr val="53565A"/>
                </a:solidFill>
                <a:latin typeface="Helvetica"/>
              </a:rPr>
              <a:t>Valable pour : bilans au 31/12/2025 et au 31/08/2026.</a:t>
            </a:r>
          </a:p>
        </p:txBody>
      </p:sp>
      <p:sp>
        <p:nvSpPr>
          <p:cNvPr id="34" name="TextBox 33"/>
          <p:cNvSpPr txBox="1"/>
          <p:nvPr/>
        </p:nvSpPr>
        <p:spPr>
          <a:xfrm>
            <a:off x="503999" y="3154838"/>
            <a:ext cx="11232000" cy="2713161"/>
          </a:xfrm>
          <a:prstGeom prst="rect">
            <a:avLst/>
          </a:prstGeom>
          <a:noFill/>
        </p:spPr>
        <p:txBody>
          <a:bodyPr wrap="square" lIns="54000" rIns="54000"/>
          <a:lstStyle/>
          <a:p>
            <a:pPr algn="just">
              <a:spcAft>
                <a:spcPts val="600"/>
              </a:spcAft>
            </a:pPr>
            <a:r>
              <a:rPr sz="1300" b="1">
                <a:solidFill>
                  <a:srgbClr val="060606"/>
                </a:solidFill>
                <a:latin typeface="Helvetica"/>
              </a:rPr>
              <a:t>Le risque du FPPN n'est pas une variation de taux, mais un manque de liquidité</a:t>
            </a:r>
            <a:r>
              <a:rPr sz="1300" b="0">
                <a:solidFill>
                  <a:srgbClr val="060606"/>
                </a:solidFill>
                <a:latin typeface="Helvetica"/>
              </a:rPr>
              <a:t> : mesurer une duration ne dirait rien de la capacité à payer les sorties de l'année.</a:t>
            </a:r>
          </a:p>
          <a:p>
            <a:pPr algn="just">
              <a:spcAft>
                <a:spcPts val="600"/>
              </a:spcAft>
            </a:pPr>
            <a:r>
              <a:rPr sz="1300" b="0">
                <a:solidFill>
                  <a:srgbClr val="060606"/>
                </a:solidFill>
                <a:latin typeface="Helvetica"/>
              </a:rPr>
              <a:t>Méthode appliquée : écarts de liquidité par échéance (diapositive « Adossement : écarts de liquidité année par année »).</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a:t>
            </a:r>
          </a:p>
        </p:txBody>
      </p:sp>
    </p:spTree>
    <p:extLst>
      <p:ext uri="{BB962C8B-B14F-4D97-AF65-F5344CB8AC3E}">
        <p14:creationId xmlns:p14="http://schemas.microsoft.com/office/powerpoint/2010/main" val="796425364"/>
      </p:ext>
    </p:extLst>
  </p:cSld>
  <p:clrMapOvr>
    <a:masterClrMapping/>
  </p:clrMapOvr>
  <p:transition>
    <p:fade/>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modèle stochastique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modèle stochastique demande des contrats décrits par âge et des scénarios économiques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Aucune des deux entrées du modèle n'existe pour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Construction d'un modèle ALM.pdf »</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114 : Conditions d'emploi de la méthode et données du FPPN</a:t>
            </a:r>
          </a:p>
        </p:txBody>
      </p:sp>
      <p:graphicFrame>
        <p:nvGraphicFramePr>
          <p:cNvPr id="32" name="Table 31"/>
          <p:cNvGraphicFramePr>
            <a:graphicFrameLocks noGrp="1"/>
          </p:cNvGraphicFramePr>
          <p:nvPr/>
        </p:nvGraphicFramePr>
        <p:xfrm>
          <a:off x="503999" y="1655999"/>
          <a:ext cx="11232000" cy="841455"/>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Groupes de contrats par âge, sexe, ancienneté et taux garanti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Construction d'un modèle ALM.pdf », p. 54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Âges non reçus. Taux garanti non arrêté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Actifs en valeur de marché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Même source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Terrains, clinique et créances en valeur comptable non réévaluée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Générateur de scénarios économiques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Même source, section 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série de prix des actifs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bl>
          </a:graphicData>
        </a:graphic>
      </p:graphicFrame>
      <p:sp>
        <p:nvSpPr>
          <p:cNvPr id="33" name="TextBox 32"/>
          <p:cNvSpPr txBox="1"/>
          <p:nvPr/>
        </p:nvSpPr>
        <p:spPr>
          <a:xfrm>
            <a:off x="503999" y="2605455"/>
            <a:ext cx="11232000" cy="162000"/>
          </a:xfrm>
          <a:prstGeom prst="rect">
            <a:avLst/>
          </a:prstGeom>
          <a:noFill/>
        </p:spPr>
        <p:txBody>
          <a:bodyPr wrap="square" anchor="t" lIns="54000" rIns="54000"/>
          <a:lstStyle/>
          <a:p>
            <a:pPr algn="l"/>
            <a:r>
              <a:rPr sz="850" b="0">
                <a:solidFill>
                  <a:srgbClr val="53565A"/>
                </a:solidFill>
                <a:latin typeface="Helvetica"/>
              </a:rPr>
              <a:t>Valable pour : données reçues jusqu'au 22/10/2026.</a:t>
            </a:r>
          </a:p>
        </p:txBody>
      </p:sp>
      <p:sp>
        <p:nvSpPr>
          <p:cNvPr id="34" name="TextBox 33"/>
          <p:cNvSpPr txBox="1"/>
          <p:nvPr/>
        </p:nvSpPr>
        <p:spPr>
          <a:xfrm>
            <a:off x="503999" y="2911455"/>
            <a:ext cx="11232000" cy="2956544"/>
          </a:xfrm>
          <a:prstGeom prst="rect">
            <a:avLst/>
          </a:prstGeom>
          <a:noFill/>
        </p:spPr>
        <p:txBody>
          <a:bodyPr wrap="square" lIns="54000" rIns="54000"/>
          <a:lstStyle/>
          <a:p>
            <a:pPr algn="just">
              <a:spcAft>
                <a:spcPts val="600"/>
              </a:spcAft>
            </a:pPr>
            <a:r>
              <a:rPr sz="1300" b="1">
                <a:solidFill>
                  <a:srgbClr val="060606"/>
                </a:solidFill>
                <a:latin typeface="Helvetica"/>
              </a:rPr>
              <a:t>Le modèle produirait une distribution de résultats à partir d'entrées inventées.</a:t>
            </a:r>
          </a:p>
          <a:p>
            <a:pPr algn="just">
              <a:spcAft>
                <a:spcPts val="600"/>
              </a:spcAft>
            </a:pPr>
            <a:r>
              <a:rPr sz="1300" b="0">
                <a:solidFill>
                  <a:srgbClr val="060606"/>
                </a:solidFill>
                <a:latin typeface="Helvetica"/>
              </a:rPr>
              <a:t>Méthode appliquée : trois scénarios déterministes calibrés sur les extrêmes observés au FPPN (diapositive « Adossement : tests de résistance »).</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62808574"/>
      </p:ext>
    </p:extLst>
  </p:cSld>
  <p:clrMapOvr>
    <a:masterClrMapping/>
  </p:clrMapOvr>
  <p:transition>
    <p:fade/>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valeur en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VaR mesure une perte de valeur de marché, alors que les actifs du FPPN ne sont pas évalués au marché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du FPPN sont tenus en valeur comptable. Aucun n'est coté à l'exception du FCP</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Gestion des Risques Bancaires(Actif PAssif).pdf » (Sciences-Po, 2009-2010)</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115 : Conditions d'emploi de la méthode et données du FPPN</a:t>
            </a:r>
          </a:p>
        </p:txBody>
      </p:sp>
      <p:graphicFrame>
        <p:nvGraphicFramePr>
          <p:cNvPr id="32" name="Table 31"/>
          <p:cNvGraphicFramePr>
            <a:graphicFrameLocks noGrp="1"/>
          </p:cNvGraphicFramePr>
          <p:nvPr/>
        </p:nvGraphicFramePr>
        <p:xfrm>
          <a:off x="503999" y="1655999"/>
          <a:ext cx="11232000" cy="661455"/>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Indicateur adapté à la gestion actif-passif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Gestion des Risques Bancaires(Actif PAssif).pdf » (Sciences-Po, 2009-2010), p.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La source indique que la VaR n'est pas adaptée à l'ALM, « monde des intérêts courus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Séries de prix des actifs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Définition de la VaR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série de prix pour les terrains, la clinique, les prêts et les créances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r>
            </a:tbl>
          </a:graphicData>
        </a:graphic>
      </p:graphicFrame>
      <p:sp>
        <p:nvSpPr>
          <p:cNvPr id="33" name="TextBox 32"/>
          <p:cNvSpPr txBox="1"/>
          <p:nvPr/>
        </p:nvSpPr>
        <p:spPr>
          <a:xfrm>
            <a:off x="503999" y="2425455"/>
            <a:ext cx="11232000" cy="162000"/>
          </a:xfrm>
          <a:prstGeom prst="rect">
            <a:avLst/>
          </a:prstGeom>
          <a:noFill/>
        </p:spPr>
        <p:txBody>
          <a:bodyPr wrap="square" anchor="t" lIns="54000" rIns="54000"/>
          <a:lstStyle/>
          <a:p>
            <a:pPr algn="l"/>
            <a:r>
              <a:rPr sz="850" b="0">
                <a:solidFill>
                  <a:srgbClr val="53565A"/>
                </a:solidFill>
                <a:latin typeface="Helvetica"/>
              </a:rPr>
              <a:t>Valable pour : bilan au 31/08/2026.</a:t>
            </a:r>
          </a:p>
        </p:txBody>
      </p:sp>
      <p:sp>
        <p:nvSpPr>
          <p:cNvPr id="34" name="TextBox 33"/>
          <p:cNvSpPr txBox="1"/>
          <p:nvPr/>
        </p:nvSpPr>
        <p:spPr>
          <a:xfrm>
            <a:off x="503999" y="2731455"/>
            <a:ext cx="11232000" cy="3136544"/>
          </a:xfrm>
          <a:prstGeom prst="rect">
            <a:avLst/>
          </a:prstGeom>
          <a:noFill/>
        </p:spPr>
        <p:txBody>
          <a:bodyPr wrap="square" lIns="54000" rIns="54000"/>
          <a:lstStyle/>
          <a:p>
            <a:pPr algn="just">
              <a:spcAft>
                <a:spcPts val="600"/>
              </a:spcAft>
            </a:pPr>
            <a:r>
              <a:rPr sz="1300" b="1">
                <a:solidFill>
                  <a:srgbClr val="060606"/>
                </a:solidFill>
                <a:latin typeface="Helvetica"/>
              </a:rPr>
              <a:t>Une VaR ne mesurerait que le FCP, une petite part de l'actif.</a:t>
            </a:r>
          </a:p>
          <a:p>
            <a:pPr algn="just">
              <a:spcAft>
                <a:spcPts val="600"/>
              </a:spcAft>
            </a:pPr>
            <a:r>
              <a:rPr sz="1300" b="0">
                <a:solidFill>
                  <a:srgbClr val="060606"/>
                </a:solidFill>
                <a:latin typeface="Helvetica"/>
              </a:rPr>
              <a:t>Méthode appliquée : classes de liquidité des actifs (diapositive « Choix des méthodes d'adossement »).</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a:t>
            </a:r>
          </a:p>
        </p:txBody>
      </p:sp>
    </p:spTree>
    <p:extLst>
      <p:ext uri="{BB962C8B-B14F-4D97-AF65-F5344CB8AC3E}">
        <p14:creationId xmlns:p14="http://schemas.microsoft.com/office/powerpoint/2010/main" val="275167487"/>
      </p:ext>
    </p:extLst>
  </p:cSld>
  <p:clrMapOvr>
    <a:masterClrMapping/>
  </p:clrMapOvr>
  <p:transition>
    <p:fade/>
  </p:transition>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non retenue : capital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capital de type Solvabilité II n'est pas exigé du FPPN et demande des engagements en meilleure estimation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cadre applicable est la marge de solvabilité de la Décision n° 05/2022, calculée en partie 10</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Construction d'un modèle ALM.pdf ». Décision n° 05/2022. Règlement d'exécution n° 004/2022/COM/UEMOA du 1er juin 2022</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116 : Conditions d'emploi de la méthode et données du FPPN</a:t>
            </a:r>
          </a:p>
        </p:txBody>
      </p:sp>
      <p:graphicFrame>
        <p:nvGraphicFramePr>
          <p:cNvPr id="32" name="Table 31"/>
          <p:cNvGraphicFramePr>
            <a:graphicFrameLocks noGrp="1"/>
          </p:cNvGraphicFramePr>
          <p:nvPr/>
        </p:nvGraphicFramePr>
        <p:xfrm>
          <a:off x="503999" y="1655999"/>
          <a:ext cx="11232000" cy="841455"/>
        </p:xfrm>
        <a:graphic>
          <a:graphicData uri="http://schemas.openxmlformats.org/drawingml/2006/table">
            <a:tbl>
              <a:tblPr firstRow="0" bandRow="0">
                <a:tableStyleId>{5940675A-B579-460E-94D1-54222C63F5DA}</a:tableStyleId>
              </a:tblPr>
              <a:tblGrid>
                <a:gridCol w="2160000"/>
                <a:gridCol w="2664000"/>
                <a:gridCol w="5112000"/>
                <a:gridCol w="1296000"/>
              </a:tblGrid>
              <a:tr h="180000">
                <a:tc>
                  <a:txBody>
                    <a:bodyPr/>
                    <a:lstStyle/>
                    <a:p>
                      <a:pPr marL="0" indent="0" lvl="0">
                        <a:buNone/>
                      </a:pPr>
                      <a:r>
                        <a:rPr sz="800" b="1">
                          <a:solidFill>
                            <a:srgbClr val="FFFFFF"/>
                          </a:solidFill>
                          <a:latin typeface="Helvetica"/>
                        </a:rPr>
                        <a:t>Condition d'emploi</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condition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Ce que montrent les données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Remplie ?</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Cadre réglementaire qui l'impose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 Règlement d'exécution n° 004/2022/COM/UEMOA du 1er juin 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 texte applicable fixe une marge de solvabilité, non un SCR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Engagements en meilleure estimation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 Construction d'un modèle ALM.pdf », p. 110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Épargne sans échéancier ni taux arrêté. Provisions non calculées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Chocs calibrés sur le portefeuille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Même source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Choc de 40 % calibré sur des contrats européens. Sortie maximale observée au FPPN : 27,55 %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r>
            </a:tbl>
          </a:graphicData>
        </a:graphic>
      </p:graphicFrame>
      <p:sp>
        <p:nvSpPr>
          <p:cNvPr id="33" name="TextBox 32"/>
          <p:cNvSpPr txBox="1"/>
          <p:nvPr/>
        </p:nvSpPr>
        <p:spPr>
          <a:xfrm>
            <a:off x="503999" y="2605455"/>
            <a:ext cx="11232000" cy="162000"/>
          </a:xfrm>
          <a:prstGeom prst="rect">
            <a:avLst/>
          </a:prstGeom>
          <a:noFill/>
        </p:spPr>
        <p:txBody>
          <a:bodyPr wrap="square" anchor="t" lIns="54000" rIns="54000"/>
          <a:lstStyle/>
          <a:p>
            <a:pPr algn="l"/>
            <a:r>
              <a:rPr sz="850" b="0">
                <a:solidFill>
                  <a:srgbClr val="53565A"/>
                </a:solidFill>
                <a:latin typeface="Helvetica"/>
              </a:rPr>
              <a:t>Valable pour : ratios de 2020 au 31/08/2026.</a:t>
            </a:r>
          </a:p>
        </p:txBody>
      </p:sp>
      <p:sp>
        <p:nvSpPr>
          <p:cNvPr id="34" name="TextBox 33"/>
          <p:cNvSpPr txBox="1"/>
          <p:nvPr/>
        </p:nvSpPr>
        <p:spPr>
          <a:xfrm>
            <a:off x="503999" y="2911455"/>
            <a:ext cx="11232000" cy="2956544"/>
          </a:xfrm>
          <a:prstGeom prst="rect">
            <a:avLst/>
          </a:prstGeom>
          <a:noFill/>
        </p:spPr>
        <p:txBody>
          <a:bodyPr wrap="square" lIns="54000" rIns="54000"/>
          <a:lstStyle/>
          <a:p>
            <a:pPr algn="just">
              <a:spcAft>
                <a:spcPts val="600"/>
              </a:spcAft>
            </a:pPr>
            <a:r>
              <a:rPr sz="1300" b="1">
                <a:solidFill>
                  <a:srgbClr val="060606"/>
                </a:solidFill>
                <a:latin typeface="Helvetica"/>
              </a:rPr>
              <a:t>Le SCR mélangerait un cadre étranger et des engagements non estimés.</a:t>
            </a:r>
          </a:p>
          <a:p>
            <a:pPr algn="just">
              <a:spcAft>
                <a:spcPts val="600"/>
              </a:spcAft>
            </a:pPr>
            <a:r>
              <a:rPr sz="1300" b="0">
                <a:solidFill>
                  <a:srgbClr val="060606"/>
                </a:solidFill>
                <a:latin typeface="Helvetica"/>
              </a:rPr>
              <a:t>Méthode appliquée : marge de solvabilité de la Décision n° 05/2022 et tests de résistance calibrés sur le FPPN (partie 10 et partie 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283580267"/>
      </p:ext>
    </p:extLst>
  </p:cSld>
  <p:clrMapOvr>
    <a:masterClrMapping/>
  </p:clrMapOvr>
  <p:transition>
    <p:fade/>
  </p:transition>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sources (1/3)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Noms exacts des fichiers du FPPN cités dans les lignes « Valable pour » et dans les sources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lignes « Valable pour » citent les familles de fichiers. Ce tableau donne les noms exacts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inventaire des fichiers reçus du FPPN. Traitements Adenka</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117 : Fichiers sources et période couverte</a:t>
            </a:r>
          </a:p>
        </p:txBody>
      </p:sp>
      <p:graphicFrame>
        <p:nvGraphicFramePr>
          <p:cNvPr id="32" name="Table 31"/>
          <p:cNvGraphicFramePr>
            <a:graphicFrameLocks noGrp="1"/>
          </p:cNvGraphicFramePr>
          <p:nvPr/>
        </p:nvGraphicFramePr>
        <p:xfrm>
          <a:off x="503999" y="1655999"/>
          <a:ext cx="11231996" cy="1979163"/>
        </p:xfrm>
        <a:graphic>
          <a:graphicData uri="http://schemas.openxmlformats.org/drawingml/2006/table">
            <a:tbl>
              <a:tblPr firstRow="0" bandRow="0">
                <a:tableStyleId>{5940675A-B579-460E-94D1-54222C63F5DA}</a:tableStyleId>
              </a:tblPr>
              <a:tblGrid>
                <a:gridCol w="1655999"/>
                <a:gridCol w="1655999"/>
                <a:gridCol w="6263999"/>
                <a:gridCol w="1655999"/>
              </a:tblGrid>
              <a:tr h="180000">
                <a:tc>
                  <a:txBody>
                    <a:bodyPr/>
                    <a:lstStyle/>
                    <a:p>
                      <a:pPr marL="0" indent="0" lvl="0">
                        <a:buNone/>
                      </a:pPr>
                      <a:r>
                        <a:rPr sz="750" b="1">
                          <a:solidFill>
                            <a:srgbClr val="FFFFFF"/>
                          </a:solidFill>
                          <a:latin typeface="Helvetica"/>
                        </a:rPr>
                        <a:t>Famille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Contenu</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Fichiers exacts</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Période</a:t>
                      </a:r>
                    </a:p>
                  </a:txBody>
                  <a:tcPr marL="43200" marR="43200" marT="14400" marB="14400" anchor="ctr">
                    <a:solidFill>
                      <a:srgbClr val="060606"/>
                    </a:solidFill>
                  </a:tcPr>
                </a:tc>
              </a:tr>
              <a:tr h="400521">
                <a:tc>
                  <a:txBody>
                    <a:bodyPr/>
                    <a:lstStyle/>
                    <a:p>
                      <a:pPr marL="0" indent="0" lvl="0">
                        <a:buNone/>
                      </a:pPr>
                      <a:r>
                        <a:rPr sz="750" b="1">
                          <a:solidFill>
                            <a:srgbClr val="060606"/>
                          </a:solidFill>
                          <a:latin typeface="Helvetica"/>
                        </a:rPr>
                        <a:t>Balances des comptes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Soldes et mouvements par compte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BALANCE FORMAT EXCEL DE 09-2020 AU 31-12-2020.xlsx ». « BALANCE FPPN FORMAT EXCEL DU 01-01-2021 AU 31-12-2026.xlsx ». « BALANCE FPPN 2022.xlsx ». « BALANCE FPPN 2023.xlsx ». « BALANCE FPPN 2024.xlsx ». « BALANCE FPPN 2025.xlsx ». « BALANCE FPPN DU 01-01-2026 AU 31-08-2026.xlsx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01/09/2020 (à-nouveaux) au 31/08/2026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Balances des tiers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Soldes par tiers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BALANCE DES TIERS DE 09-2020 AU 31-12-2020.xlsx ». « BALANCE DES TIERS FPPN 2022.xlsx ». « BALANCE DES TIERS FPPN 2023.xlsx ». « BALANCE DES TIERS FPPN 2024.xlsx ». « BALANCE DES TIERS FPPN DU 01-01-2026 AU 31-08-2026.xlsx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2020, 2022 à 2024, 2026</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Grands livres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Écritures détaillées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GRAND LIVRE FPPN 2024.xlsx ». « GRAND LIVRE DES TIERS FPPN 2023.xlsx ». « GRAND LIVRE DES TIERS 2024.xlsx ». « GRAND LIVRES DES TIERS 2025.xlsx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2023 à 2025</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Allocations décès (fin d'année)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Décès non payés valorisés au barème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PROV ALLOCATION DECES 2021.xlsx », « PROV ALLOCATION DECES 2022.xlsx », « ALLOC DECES 2023 PAYER ET A PROVISIONNER .xlsx », « PROV ALLOCATION DECES 2024.xlsx », « PROV ALLOCATIONS DECES ET FRAIS FUNERAIRES 2025.xlsx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2021 à 2025</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Grenier, balances âgées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Encours et retards par prêt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37 fichiers « BalanceAgeeDetaille … .xls » (annuels 2021 à 2025, mensuels 2026 par portefeuille CRF, CRO, CRS)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31/12/2021 au 30/09/2026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Grenier, production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Prêts débloqués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fichiers « production_de_la_periode … .xls » (annuels 2021 à 2025, mensuels 2026)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2021 à 09/2026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Précomptes, poste 936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Cotisation maladie des actifs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FPPN-SOLDE\EFFECTIF POLICE (MALADIE) » : 32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01/2024 à 09/2026</a:t>
                      </a:r>
                    </a:p>
                  </a:txBody>
                  <a:tcPr marL="43200" marR="43200" marT="14400" marB="14400" anchor="ctr">
                    <a:solidFill>
                      <a:srgbClr val="FFFFFF"/>
                    </a:solidFill>
                  </a:tcPr>
                </a:tc>
              </a:tr>
            </a:tbl>
          </a:graphicData>
        </a:graphic>
      </p:graphicFrame>
      <p:sp>
        <p:nvSpPr>
          <p:cNvPr id="33" name="TextBox 32"/>
          <p:cNvSpPr txBox="1"/>
          <p:nvPr/>
        </p:nvSpPr>
        <p:spPr>
          <a:xfrm>
            <a:off x="503999" y="3743164"/>
            <a:ext cx="11231999" cy="162000"/>
          </a:xfrm>
          <a:prstGeom prst="rect">
            <a:avLst/>
          </a:prstGeom>
          <a:noFill/>
        </p:spPr>
        <p:txBody>
          <a:bodyPr wrap="square" anchor="t" lIns="54000" rIns="54000"/>
          <a:lstStyle/>
          <a:p>
            <a:pPr algn="l"/>
            <a:r>
              <a:rPr sz="850" b="0">
                <a:solidFill>
                  <a:srgbClr val="53565A"/>
                </a:solidFill>
                <a:latin typeface="Helvetica"/>
              </a:rPr>
              <a:t>Valable pour : fichiers reçus jusqu'au 22/10/2026 et retenus après les contrôles de la partie 3.</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1171033474"/>
      </p:ext>
    </p:extLst>
  </p:cSld>
  <p:clrMapOvr>
    <a:masterClrMapping/>
  </p:clrMapOvr>
  <p:transition>
    <p:fade/>
  </p:transition>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sources (2/3)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Noms exacts des fichiers du FPPN cités dans les lignes « Valable pour » et dans les sources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lignes « Valable pour » citent les familles de fichiers. Ce tableau donne les noms exacts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inventaire des fichiers reçus du FPPN. Traitements Adenka</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118 : Fichiers sources et période couverte</a:t>
            </a:r>
          </a:p>
        </p:txBody>
      </p:sp>
      <p:graphicFrame>
        <p:nvGraphicFramePr>
          <p:cNvPr id="32" name="Table 31"/>
          <p:cNvGraphicFramePr>
            <a:graphicFrameLocks noGrp="1"/>
          </p:cNvGraphicFramePr>
          <p:nvPr/>
        </p:nvGraphicFramePr>
        <p:xfrm>
          <a:off x="503999" y="1655999"/>
          <a:ext cx="11231996" cy="1440000"/>
        </p:xfrm>
        <a:graphic>
          <a:graphicData uri="http://schemas.openxmlformats.org/drawingml/2006/table">
            <a:tbl>
              <a:tblPr firstRow="0" bandRow="0">
                <a:tableStyleId>{5940675A-B579-460E-94D1-54222C63F5DA}</a:tableStyleId>
              </a:tblPr>
              <a:tblGrid>
                <a:gridCol w="1655999"/>
                <a:gridCol w="1655999"/>
                <a:gridCol w="6263999"/>
                <a:gridCol w="1655999"/>
              </a:tblGrid>
              <a:tr h="180000">
                <a:tc>
                  <a:txBody>
                    <a:bodyPr/>
                    <a:lstStyle/>
                    <a:p>
                      <a:pPr marL="0" indent="0" lvl="0">
                        <a:buNone/>
                      </a:pPr>
                      <a:r>
                        <a:rPr sz="750" b="1">
                          <a:solidFill>
                            <a:srgbClr val="FFFFFF"/>
                          </a:solidFill>
                          <a:latin typeface="Helvetica"/>
                        </a:rPr>
                        <a:t>Famille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Contenu</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Fichiers exacts</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Période</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Précomptes, poste 8Z6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Cotisation décès des actifs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FPPN-SOLDE\ALLOCATION DECES » : 25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01/2024 à 09/2026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Précomptes, poste 998</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Épargne PEP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FPPN-SOLDE\EFC\FICHIER ALLER ». « FPPN-SOLDE\PEP\FICHIER ALLER ». « FPPN-SOLDE\PEP\FICHIER RETOUR » : 106 fichiers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03/2001 à 09/2026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Précomptes, poste 870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Épargne 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FPPN-SOLDE\EFC\FICHIER ALLER ». « FPPN-SOLDE\EFC\FICHIER RETOUR ». « FPPN-SOLDE\PEP\FICHIER ALLER » : 82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01/2023 à 08/2026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Précomptes, poste 9X4</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Remboursements du Grenier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FPPN-SOLDE\GRENIER\FICHIER ALLER RETOUR » : 94 fichiers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01/2022 à 08/2026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Précomptes, poste 9W3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Primes GNA (flotte automobile)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FPPN-GNA\FICHIER RETOUR ». « FPPN-GNA\FICHIERS ALLER » : 73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03/2023 à 09/2026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Précomptes, poste 8Z7</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FPPN-SOLDE\MEDOC ». « FPPN-SOLDE\PEP\FICHIER ALLER » : 16 fichiers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11/2025 à 08/2026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Précomptes, poste CGRAE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Cotisations des retraités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FPPN-CGRAE\PRECOMTES\FICHIER RETOUR (CGRAE) ». « FPPN-CGRAE\PRECOMTES\FICHIERS ALLER (FPPN) » : 64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02/2024 à 10/2026</a:t>
                      </a:r>
                    </a:p>
                  </a:txBody>
                  <a:tcPr marL="43200" marR="43200" marT="14400" marB="14400" anchor="ctr">
                    <a:solidFill>
                      <a:srgbClr val="FFFFFF"/>
                    </a:solidFill>
                  </a:tcPr>
                </a:tc>
              </a:tr>
            </a:tbl>
          </a:graphicData>
        </a:graphic>
      </p:graphicFrame>
      <p:sp>
        <p:nvSpPr>
          <p:cNvPr id="33" name="TextBox 32"/>
          <p:cNvSpPr txBox="1"/>
          <p:nvPr/>
        </p:nvSpPr>
        <p:spPr>
          <a:xfrm>
            <a:off x="503999" y="3204000"/>
            <a:ext cx="11231999" cy="162000"/>
          </a:xfrm>
          <a:prstGeom prst="rect">
            <a:avLst/>
          </a:prstGeom>
          <a:noFill/>
        </p:spPr>
        <p:txBody>
          <a:bodyPr wrap="square" anchor="t" lIns="54000" rIns="54000"/>
          <a:lstStyle/>
          <a:p>
            <a:pPr algn="l"/>
            <a:r>
              <a:rPr sz="850" b="0">
                <a:solidFill>
                  <a:srgbClr val="53565A"/>
                </a:solidFill>
                <a:latin typeface="Helvetica"/>
              </a:rPr>
              <a:t>Valable pour : fichiers reçus jusqu'au 22/10/2026 et retenus après les contrôles de la partie 3.</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8Z6 : poste décès | 870 : poste EFC | 998 : poste PEP | 9X4 : poste Grenier | 9W3 : poste flotte automobile | 8Z7 : poste MEDOC</a:t>
            </a:r>
          </a:p>
        </p:txBody>
      </p:sp>
    </p:spTree>
    <p:extLst>
      <p:ext uri="{BB962C8B-B14F-4D97-AF65-F5344CB8AC3E}">
        <p14:creationId xmlns:p14="http://schemas.microsoft.com/office/powerpoint/2010/main" val="1344992540"/>
      </p:ext>
    </p:extLst>
  </p:cSld>
  <p:clrMapOvr>
    <a:masterClrMapping/>
  </p:clrMapOvr>
  <p:transition>
    <p:fade/>
  </p:transition>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sources (3/3)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Noms exacts des fichiers du FPPN cités dans les lignes « Valable pour » et dans les sources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lignes « Valable pour » citent les familles de fichiers. Ce tableau donne les noms exacts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inventaire des fichiers reçus du FPPN. Traitements Adenka</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119 : Fichiers sources et période couverte</a:t>
            </a:r>
          </a:p>
        </p:txBody>
      </p:sp>
      <p:graphicFrame>
        <p:nvGraphicFramePr>
          <p:cNvPr id="32" name="Table 31"/>
          <p:cNvGraphicFramePr>
            <a:graphicFrameLocks noGrp="1"/>
          </p:cNvGraphicFramePr>
          <p:nvPr/>
        </p:nvGraphicFramePr>
        <p:xfrm>
          <a:off x="503999" y="1655999"/>
          <a:ext cx="11231996" cy="1046735"/>
        </p:xfrm>
        <a:graphic>
          <a:graphicData uri="http://schemas.openxmlformats.org/drawingml/2006/table">
            <a:tbl>
              <a:tblPr firstRow="0" bandRow="0">
                <a:tableStyleId>{5940675A-B579-460E-94D1-54222C63F5DA}</a:tableStyleId>
              </a:tblPr>
              <a:tblGrid>
                <a:gridCol w="1655999"/>
                <a:gridCol w="1655999"/>
                <a:gridCol w="6263999"/>
                <a:gridCol w="1655999"/>
              </a:tblGrid>
              <a:tr h="180000">
                <a:tc>
                  <a:txBody>
                    <a:bodyPr/>
                    <a:lstStyle/>
                    <a:p>
                      <a:pPr marL="0" indent="0" lvl="0">
                        <a:buNone/>
                      </a:pPr>
                      <a:r>
                        <a:rPr sz="750" b="1">
                          <a:solidFill>
                            <a:srgbClr val="FFFFFF"/>
                          </a:solidFill>
                          <a:latin typeface="Helvetica"/>
                        </a:rPr>
                        <a:t>Famille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Contenu</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Fichiers exacts</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Période</a:t>
                      </a:r>
                    </a:p>
                  </a:txBody>
                  <a:tcPr marL="43200" marR="43200" marT="14400" marB="14400" anchor="ctr">
                    <a:solidFill>
                      <a:srgbClr val="060606"/>
                    </a:solidFill>
                  </a:tcPr>
                </a:tc>
              </a:tr>
              <a:tr h="286214">
                <a:tc>
                  <a:txBody>
                    <a:bodyPr/>
                    <a:lstStyle/>
                    <a:p>
                      <a:pPr marL="0" indent="0" lvl="0">
                        <a:buNone/>
                      </a:pPr>
                      <a:r>
                        <a:rPr sz="750" b="1">
                          <a:solidFill>
                            <a:srgbClr val="060606"/>
                          </a:solidFill>
                          <a:latin typeface="Helvetica"/>
                        </a:rPr>
                        <a:t>Personnel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Déclarations des salaires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DISA_256927_2021.xls, DISA_256927_2022.xls, DISA_256927_2023.xls, DISA_256927_2025.xls (déclarations CNPS). ETAT 301 &amp; DISA 2024 FPPN.xls (RECAPSALAIRES 2024 CMP). ETAT 301 &amp; DISA 2025 FPPN.xls (RECAPSALAIRES 2025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2021 à 2025</a:t>
                      </a:r>
                    </a:p>
                  </a:txBody>
                  <a:tcPr marL="43200" marR="43200" marT="14400" marB="14400" anchor="ctr">
                    <a:solidFill>
                      <a:srgbClr val="FFFFFF"/>
                    </a:solidFill>
                  </a:tcPr>
                </a:tc>
              </a:tr>
              <a:tr h="400521">
                <a:tc>
                  <a:txBody>
                    <a:bodyPr/>
                    <a:lstStyle/>
                    <a:p>
                      <a:pPr marL="0" indent="0" lvl="0">
                        <a:buNone/>
                      </a:pPr>
                      <a:r>
                        <a:rPr sz="750" b="1">
                          <a:solidFill>
                            <a:srgbClr val="060606"/>
                          </a:solidFill>
                          <a:latin typeface="Helvetica"/>
                        </a:rPr>
                        <a:t>Actifs et gouvernance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Clinique, projet de Cocody, directeur général</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 ARRETE N° 0027-MSHP-DGS-DEPS DU 10-02-2020 PORTANT AUTORISATION D'OUVERTURE D'EXPLOITATION ET IMMATRICULATION DU CMP.pdf ». « DEROGATION AUX REGLES D'URBANISME CONSTRUCTION 4 IMMEUBLES R+5 AVEC 01 CES DE 70% A USAGE D'HABITATION COCODY 2 PLTX.pdf ». « ATTESTATION DE DESIGNATION DU DGFPPN AU TITRE DE LA MANDATURE 2020-2023.pdf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2020 à 2025</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Tables de mortalité</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Lx, qx, dx par âge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CIMA_H.xlsx ». « CIMA_F.xlsx ». « TD_CIMA.xlsx ». « TV_CIMA.xlsx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Âges 0 à 110 ans</a:t>
                      </a:r>
                    </a:p>
                  </a:txBody>
                  <a:tcPr marL="43200" marR="43200" marT="14400" marB="14400" anchor="ctr">
                    <a:solidFill>
                      <a:srgbClr val="FFFFFF"/>
                    </a:solidFill>
                  </a:tcPr>
                </a:tc>
              </a:tr>
            </a:tbl>
          </a:graphicData>
        </a:graphic>
      </p:graphicFrame>
      <p:sp>
        <p:nvSpPr>
          <p:cNvPr id="33" name="TextBox 32"/>
          <p:cNvSpPr txBox="1"/>
          <p:nvPr/>
        </p:nvSpPr>
        <p:spPr>
          <a:xfrm>
            <a:off x="503999" y="2810736"/>
            <a:ext cx="11231999" cy="162000"/>
          </a:xfrm>
          <a:prstGeom prst="rect">
            <a:avLst/>
          </a:prstGeom>
          <a:noFill/>
        </p:spPr>
        <p:txBody>
          <a:bodyPr wrap="square" anchor="t" lIns="54000" rIns="54000"/>
          <a:lstStyle/>
          <a:p>
            <a:pPr algn="l"/>
            <a:r>
              <a:rPr sz="850" b="0">
                <a:solidFill>
                  <a:srgbClr val="53565A"/>
                </a:solidFill>
                <a:latin typeface="Helvetica"/>
              </a:rPr>
              <a:t>Valable pour : fichiers reçus jusqu'au 22/10/2026 et retenus après les contrôles de la partie 3.</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qx : probabilité de décès entre x et x + 1 ans | Lx : survivants à l'âge x | DISA : déclaration individuelle des salaires annuels à la CNPS</a:t>
            </a:r>
          </a:p>
        </p:txBody>
      </p:sp>
    </p:spTree>
    <p:extLst>
      <p:ext uri="{BB962C8B-B14F-4D97-AF65-F5344CB8AC3E}">
        <p14:creationId xmlns:p14="http://schemas.microsoft.com/office/powerpoint/2010/main" val="250085904"/>
      </p:ext>
    </p:extLst>
  </p:cSld>
  <p:clrMapOvr>
    <a:masterClrMapping/>
  </p:clrMapOvr>
  <p:transition>
    <p:fade/>
  </p:transition>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 lecture</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120 : Colonnes et statuts du tableau des formules</a:t>
            </a:r>
          </a:p>
        </p:txBody>
      </p:sp>
      <p:graphicFrame>
        <p:nvGraphicFramePr>
          <p:cNvPr id="29" name="Table 28"/>
          <p:cNvGraphicFramePr>
            <a:graphicFrameLocks noGrp="1"/>
          </p:cNvGraphicFramePr>
          <p:nvPr/>
        </p:nvGraphicFramePr>
        <p:xfrm>
          <a:off x="503999" y="990000"/>
          <a:ext cx="11232000" cy="1947680"/>
        </p:xfrm>
        <a:graphic>
          <a:graphicData uri="http://schemas.openxmlformats.org/drawingml/2006/table">
            <a:tbl>
              <a:tblPr firstRow="0" bandRow="0">
                <a:tableStyleId>{5940675A-B579-460E-94D1-54222C63F5DA}</a:tableStyleId>
              </a:tblPr>
              <a:tblGrid>
                <a:gridCol w="2520000"/>
                <a:gridCol w="8712000"/>
              </a:tblGrid>
              <a:tr h="194768">
                <a:tc>
                  <a:txBody>
                    <a:bodyPr/>
                    <a:lstStyle/>
                    <a:p>
                      <a:pPr marL="0" indent="0" lvl="0">
                        <a:buNone/>
                      </a:pPr>
                      <a:r>
                        <a:rPr sz="9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Signification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Identifiant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F-partie-numéro : renvoie à la ligne du classeur, où figurent la formule détaillée, les données, l'écart chiffré, les risques et le calcul.</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Formule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Ce que calcule l'indicateur, en mots. La formule en comptes ou en colonnes est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Source de la méthode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réglementaire (article ou paragraphe) ou, à défaut, référence technique.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Méthode du FPPN quand elle est connue. « Non communiquée » en rouge quand aucun calcul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Conforme au texte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formule du texte est appliquée telle quelle.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Divergent, justifié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formule diffère du texte. La raison et l'écart sont expliqués dans le rapport et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Sans texte applicable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 texte ne fixe la méthode. Une référence technique est citée.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En attente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calcul attend un document du FPPN (PBC).</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À apprécier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texte ne fixe pas de norme chiffrée.</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2104517620"/>
      </p:ext>
    </p:extLst>
  </p:cSld>
  <p:clrMapOvr>
    <a:masterClrMapping/>
  </p:clrMapOvr>
  <p:transition>
    <p:fade/>
  </p:transition>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(F-03-01 à F-04-03)</a:t>
            </a:r>
          </a:p>
        </p:txBody>
      </p:sp>
      <p:graphicFrame>
        <p:nvGraphicFramePr>
          <p:cNvPr id="28" name="Table 27"/>
          <p:cNvGraphicFramePr>
            <a:graphicFrameLocks noGrp="1"/>
          </p:cNvGraphicFramePr>
          <p:nvPr/>
        </p:nvGraphicFramePr>
        <p:xfrm>
          <a:off x="503999" y="720000"/>
          <a:ext cx="11231998" cy="296367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F-03-01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précompte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précompté (fichier retour) divisé par le montant demandé (fichier aller), sur les mois où les deux fichiers existent.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le FPPN ne rapproche pas les fichiers aller et retour (entretien du 19/10/2026)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F-03-02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Lignes de total écartées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Une ligne dont le montant égale la somme des autres lignes de la feuille, à 1 % près, est un total et non un mutualiste.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contrôle des données (ISA 500, caractère probant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F-03-03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Montants doublés corrigés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 montant décès formé de deux moitiés identiques écrites à la suite est ramené à sa première moitié.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Effectif cotisant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de matricules distincts du fichier maladie 936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(comptage d'unités distinctes)</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545310">
                <a:tc>
                  <a:txBody>
                    <a:bodyPr/>
                    <a:lstStyle/>
                    <a:p>
                      <a:pPr marL="0" indent="0" lvl="0">
                        <a:buNone/>
                      </a:pPr>
                      <a:r>
                        <a:rPr sz="800" b="1">
                          <a:solidFill>
                            <a:srgbClr val="060606"/>
                          </a:solidFill>
                          <a:latin typeface="Helvetica"/>
                        </a:rPr>
                        <a:t>F-04-02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Entrées, sorties et fidélisation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Une entrée est un matricule présent un mois et absent le mois précédent, une sortie l'inverse. La fidélisation rapporte les matricules présents deux années de suite à ceux de l'année précédente.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F-04-03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cotisation individuel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 maladie (ou décès) du mois divisé par le salaire de base du même mois, pour chaque agent.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 3,77 % et 1,23 % (fichiers). Barème déclaré : 3,5 % et 1,5 % (entretien du 16/10/2026, à confirmer). Répartition renvoyée à la comptabilité (entretien du 19/10/2026)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936 : poste maladie</a:t>
            </a:r>
          </a:p>
        </p:txBody>
      </p:sp>
    </p:spTree>
    <p:extLst>
      <p:ext uri="{BB962C8B-B14F-4D97-AF65-F5344CB8AC3E}">
        <p14:creationId xmlns:p14="http://schemas.microsoft.com/office/powerpoint/2010/main" val="166226622"/>
      </p:ext>
    </p:extLst>
  </p:cSld>
  <p:clrMapOvr>
    <a:masterClrMapping/>
  </p:clrMapOvr>
  <p:transition>
    <p:fade/>
  </p:transition>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(F-04-04 à F-05-01)</a:t>
            </a:r>
          </a:p>
        </p:txBody>
      </p:sp>
      <p:graphicFrame>
        <p:nvGraphicFramePr>
          <p:cNvPr id="28" name="Table 27"/>
          <p:cNvGraphicFramePr>
            <a:graphicFrameLocks noGrp="1"/>
          </p:cNvGraphicFramePr>
          <p:nvPr/>
        </p:nvGraphicFramePr>
        <p:xfrm>
          <a:off x="503999" y="720000"/>
          <a:ext cx="11231998" cy="2841752"/>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F-04-04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comptable 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 des cotisations maladie dans les cotisations maladie et décès, multipliée par 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propre à la comptabilité, non documentée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selon la clé de répartition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maladie divisées par les cotisations totales multipliées par la part maladie de la clé retenue.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réelle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nominale multipliée par 100 et divisée par l'indice des prix de l'année (base 100 en 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comptabilité nationale (déflation par un indice des prix)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croissance annuel moyen (TCAM)</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constant qui mène de la valeur de départ à la valeur d'arrivée en n années.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(moyenne géométrique)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Tendance et intervalle de confiance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Droite des moindres carrés ajustée sur la série, avec un intervalle de confiance à 95 % sur la pente et un test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Statistique classique (régression linéaire, loi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789166">
                <a:tc>
                  <a:txBody>
                    <a:bodyPr/>
                    <a:lstStyle/>
                    <a:p>
                      <a:pPr marL="0" indent="0" lvl="0">
                        <a:buNone/>
                      </a:pPr>
                      <a:r>
                        <a:rPr sz="800" b="1">
                          <a:solidFill>
                            <a:srgbClr val="060606"/>
                          </a:solidFill>
                          <a:latin typeface="Helvetica"/>
                        </a:rPr>
                        <a:t>F-05-01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sinistralité réglementaire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prestations, provisions comprises, divisées par les cotisations acquises, provisions sur cotisations comprises.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Communiquée le 22/10/2026 (ETUDE DES RATIO MALADIE DECES 2.xlsx, feuille Notes) : prestations payées / cotisations payées, sans provisions. Taux global : 1 401 506 033 / 1 785 560 424 = 78,49 % au 30/06/2026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TCAM : taux de croissance annuel moyen</a:t>
            </a:r>
          </a:p>
        </p:txBody>
      </p:sp>
    </p:spTree>
    <p:extLst>
      <p:ext uri="{BB962C8B-B14F-4D97-AF65-F5344CB8AC3E}">
        <p14:creationId xmlns:p14="http://schemas.microsoft.com/office/powerpoint/2010/main" val="2640778757"/>
      </p:ext>
    </p:extLst>
  </p:cSld>
  <p:clrMapOvr>
    <a:masterClrMapping/>
  </p:clrMapOvr>
  <p:transition>
    <p:fade/>
  </p:transition>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(F-05-02 à F-06-01)</a:t>
            </a:r>
          </a:p>
        </p:txBody>
      </p:sp>
      <p:graphicFrame>
        <p:nvGraphicFramePr>
          <p:cNvPr id="28" name="Table 27"/>
          <p:cNvGraphicFramePr>
            <a:graphicFrameLocks noGrp="1"/>
          </p:cNvGraphicFramePr>
          <p:nvPr/>
        </p:nvGraphicFramePr>
        <p:xfrm>
          <a:off x="503999" y="720000"/>
          <a:ext cx="11231998" cy="357331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911093">
                <a:tc>
                  <a:txBody>
                    <a:bodyPr/>
                    <a:lstStyle/>
                    <a:p>
                      <a:pPr marL="0" indent="0" lvl="0">
                        <a:buNone/>
                      </a:pPr>
                      <a:r>
                        <a:rPr sz="800" b="1">
                          <a:solidFill>
                            <a:srgbClr val="060606"/>
                          </a:solidFill>
                          <a:latin typeface="Helvetica"/>
                        </a:rPr>
                        <a:t>F-05-02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maladie par garantie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maladie comptabilisées divisées par les cotisations maladie comptabilisées de la même 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Communiquée le 22/10/2026 (ETUDE DES RATIO MALADIE DECES 2.xlsx, feuille Notes) : prestations payées / cotisations payées, sans provisions. Maladie : 1 345 906 033 / 1 356 344 706 = 99,23 % au 30/06/2026 (la note écrit aussi 107 %)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1033021">
                <a:tc>
                  <a:txBody>
                    <a:bodyPr/>
                    <a:lstStyle/>
                    <a:p>
                      <a:pPr marL="0" indent="0" lvl="0">
                        <a:buNone/>
                      </a:pPr>
                      <a:r>
                        <a:rPr sz="800" b="1">
                          <a:solidFill>
                            <a:srgbClr val="060606"/>
                          </a:solidFill>
                          <a:latin typeface="Helvetica"/>
                        </a:rPr>
                        <a:t>F-05-03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décès par garantie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décès (capitaux, allocations, frais funéraires) divisées par les cotisations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Communiquée le 22/10/2026 (ETUDE DES RATIO MALADIE DECES 2.xlsx, feuille Notes) : prestations payées / cotisations payées, sans provisions. Décès : 55 600 000 / 429 215 718 = 12,95 % au 30/06/2026 (la note écrit aussi 19,66 %). Montants identiques aux comptes de 2022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F-05-04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sans MEDOC et sans bons de prise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Variantes du taux réglementaire : cotisations MEDOC retirées du dénominateur, ou bons de prise en charge et bons de caisse retirés du numérateur.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frais de gestion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Frais de gestion (comptes 61 à 66, hors prime d'assurance décès) divisés par les cotisations maladie et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F-05-06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moins charges, plus le résultat hors activités ordinaires.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des balances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Dette d'épargne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comptes PEP et EFC dus aux mutualistes.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de dettes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MEDOC : produit santé complémentaire du poste 8Z7</a:t>
            </a:r>
          </a:p>
        </p:txBody>
      </p:sp>
    </p:spTree>
    <p:extLst>
      <p:ext uri="{BB962C8B-B14F-4D97-AF65-F5344CB8AC3E}">
        <p14:creationId xmlns:p14="http://schemas.microsoft.com/office/powerpoint/2010/main" val="2404817797"/>
      </p:ext>
    </p:extLst>
  </p:cSld>
  <p:clrMapOvr>
    <a:masterClrMapping/>
  </p:clrMapOvr>
  <p:transition>
    <p:fade/>
  </p:transition>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(F-06-02 à F-07-04)</a:t>
            </a:r>
          </a:p>
        </p:txBody>
      </p:sp>
      <p:graphicFrame>
        <p:nvGraphicFramePr>
          <p:cNvPr id="28" name="Table 27"/>
          <p:cNvGraphicFramePr>
            <a:graphicFrameLocks noGrp="1"/>
          </p:cNvGraphicFramePr>
          <p:nvPr/>
        </p:nvGraphicFramePr>
        <p:xfrm>
          <a:off x="503999" y="720000"/>
          <a:ext cx="11231998" cy="211018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F-06-02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réservés à l'épargne divisés par la dette d'épargne.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aux retraits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 de l'épargne qui peut être retirée avant d'épuiser la trésorerie ou les actifs réservés.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 (test de résistance)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Portefeuille en retard (PAR30, PAR90)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des prêts en retard de plus de 30 (ou 90) jours divisé par l'encours total.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 instruction applicable aux SFD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Intervalle de Wilson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Encadrement à 95 % de la proportion de prêts en retard.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Statistique classique (Wilson, 1927)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Dépréciation des prêts en retard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 chaque tranche de retard multiplié par le taux de dépréciation de la tranche, puis additionné.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 BCEAO (instruction SFD,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dépréciation passée depuis 2022 (compte 49 non mouvementé)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Précomptes rapportés aux échéances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 précompté au poste 9X4 divisé par les échéances dues des prêts en cours.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Rapprochement de sources (pratique d'audit)</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PAR30 : part de l'encours en retard de plus de 30 jours | SFD : systèmes financiers décentralisés | 9X4 : poste Grenier</a:t>
            </a:r>
          </a:p>
        </p:txBody>
      </p:sp>
    </p:spTree>
    <p:extLst>
      <p:ext uri="{BB962C8B-B14F-4D97-AF65-F5344CB8AC3E}">
        <p14:creationId xmlns:p14="http://schemas.microsoft.com/office/powerpoint/2010/main" val="1075226301"/>
      </p:ext>
    </p:extLst>
  </p:cSld>
  <p:clrMapOvr>
    <a:masterClrMapping/>
  </p:clrMapOvr>
  <p:transition>
    <p:fade/>
  </p:transition>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(F-09-01 à F-09-06)</a:t>
            </a:r>
          </a:p>
        </p:txBody>
      </p:sp>
      <p:graphicFrame>
        <p:nvGraphicFramePr>
          <p:cNvPr id="28" name="Table 27"/>
          <p:cNvGraphicFramePr>
            <a:graphicFrameLocks noGrp="1"/>
          </p:cNvGraphicFramePr>
          <p:nvPr/>
        </p:nvGraphicFramePr>
        <p:xfrm>
          <a:off x="503999" y="720000"/>
          <a:ext cx="11231998" cy="3207534"/>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545310">
                <a:tc>
                  <a:txBody>
                    <a:bodyPr/>
                    <a:lstStyle/>
                    <a:p>
                      <a:pPr marL="0" indent="0" lvl="0">
                        <a:buNone/>
                      </a:pPr>
                      <a:r>
                        <a:rPr sz="800" b="1">
                          <a:solidFill>
                            <a:srgbClr val="060606"/>
                          </a:solidFill>
                          <a:latin typeface="Helvetica"/>
                        </a:rPr>
                        <a:t>F-09-01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PSAP en mois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sinistres à payer divisée par les prestations mensuelles moyennes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 à confirmer)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F-09-02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 et dettes envers les cliniques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maladie comparée aux factures des cliniques déjà enregistrées et non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 à confirmer)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F-09-03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Sinistres tardifs (méthode CIMA)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Coefficients de déclaration tardive observés, multipliés par les sinistres déclarés l'année de survenance et par le coût moyen.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(référence technique,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F-09-04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actuelle des prestations promises moins valeur actuelle des cotisations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11. Code CIMA, art. 338 (tables, taux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mathématique au bilan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des risques entre la date d'inventaire et la prochaine échéance de cotisation.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F-09-06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Indemnités de départ à la retraite du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pour chaque salarié, de l'indemnité prévue par la convention collective à son départ, pondérée par la probabilité d'être présent et actualisée, au prorata de l'ancienneté acquise.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Décret n° 2017-210, art. 4 et 5. Convention collective du 19/07/1977, art. 40. IAS 19, § 67, 83 et 145 (bonne pratique)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Convention collective appliquée à l'ancienneté acquise. Provision reprise et dotée en totalité chaque année (chef comptable, 19/10/2026). Proche des droits acquis recalculés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CIMA : Conférence interafricaine des marchés d'assurances | PSAP : provision pour sinistres à payer | IAS, IFRS : normes comptables internationales</a:t>
            </a:r>
          </a:p>
        </p:txBody>
      </p:sp>
    </p:spTree>
    <p:extLst>
      <p:ext uri="{BB962C8B-B14F-4D97-AF65-F5344CB8AC3E}">
        <p14:creationId xmlns:p14="http://schemas.microsoft.com/office/powerpoint/2010/main" val="1178996140"/>
      </p:ext>
    </p:extLst>
  </p:cSld>
  <p:clrMapOvr>
    <a:masterClrMapping/>
  </p:clrMapOvr>
  <p:transition>
    <p:fade/>
  </p:transition>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(F-09-10 à F-09-09)</a:t>
            </a:r>
          </a:p>
        </p:txBody>
      </p:sp>
      <p:graphicFrame>
        <p:nvGraphicFramePr>
          <p:cNvPr id="28" name="Table 27"/>
          <p:cNvGraphicFramePr>
            <a:graphicFrameLocks noGrp="1"/>
          </p:cNvGraphicFramePr>
          <p:nvPr/>
        </p:nvGraphicFramePr>
        <p:xfrm>
          <a:off x="503999" y="720000"/>
          <a:ext cx="11231998" cy="2475968"/>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667238">
                <a:tc>
                  <a:txBody>
                    <a:bodyPr/>
                    <a:lstStyle/>
                    <a:p>
                      <a:pPr marL="0" indent="0" lvl="0">
                        <a:buNone/>
                      </a:pPr>
                      <a:r>
                        <a:rPr sz="800" b="1">
                          <a:solidFill>
                            <a:srgbClr val="060606"/>
                          </a:solidFill>
                          <a:latin typeface="Helvetica"/>
                        </a:rPr>
                        <a:t>F-09-10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Allocations décès restant à payer (méthode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Décès de l'année dont l'allocation n'est pas payée, valorisés au barème par grade.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Liste des décès moins allocations payées, valorisée au barème (chef comptable, 19/10/2026, à confirmer). Compte de comptabilisation non précisé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par échéance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 mobilisable dans chaque tranche de délai comparé au passif exigible dans la même tranche.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des engagements connus selon le scénario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 retenu dans le scénario divisé par les engagements connus (passif à moins d'un an et 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20. PCMS</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Sorties d'épargne observées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Débits annuels des comptes d'épargne PEP et EFC, utilisés comme ordre de grandeur des sorties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19 et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report à nouveau, pertes reportées et résultat de l'exercice.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des balances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Rendement des placements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Produits financiers divisés par les placements moyens de l'année.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a:t>
            </a:r>
          </a:p>
        </p:txBody>
      </p:sp>
    </p:spTree>
    <p:extLst>
      <p:ext uri="{BB962C8B-B14F-4D97-AF65-F5344CB8AC3E}">
        <p14:creationId xmlns:p14="http://schemas.microsoft.com/office/powerpoint/2010/main" val="2036157119"/>
      </p:ext>
    </p:extLst>
  </p:cSld>
  <p:clrMapOvr>
    <a:masterClrMapping/>
  </p:clrMapOvr>
  <p:transition>
    <p:fade/>
  </p:transition>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(F-10-01 à F-10-06)</a:t>
            </a:r>
          </a:p>
        </p:txBody>
      </p:sp>
      <p:graphicFrame>
        <p:nvGraphicFramePr>
          <p:cNvPr id="28" name="Table 27"/>
          <p:cNvGraphicFramePr>
            <a:graphicFrameLocks noGrp="1"/>
          </p:cNvGraphicFramePr>
          <p:nvPr/>
        </p:nvGraphicFramePr>
        <p:xfrm>
          <a:off x="503999" y="720000"/>
          <a:ext cx="11231998" cy="2963680"/>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sinistralité (SIN)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prestations (avec provisions)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5 et § 1.2.1.2.5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F-10-02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Marge de solvabilité disponible / exigée (MSE)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obligatoire + fonds d'établissement + réserves libres + droits d'adhésion + dons et legs) / max(18 % des cotisations acquises n-1. 26 % des prestations maladie moyennes des 3 derniers exercices).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 (fonds d'établissement). Règlement d'exécution n° 004/2022/COM/UEMOA, art. 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réserve obligatoire (ROB)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obligatoires x 12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10 et § 1.2.2.5.4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des fonds propres et assimilés (FEP)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et assimilés / Dettes (y compris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9 et § 1.2.2.5.3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liquidité (LIQ)</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Trésorerie actif / (Dettes à court terme + variation des provisions techniques).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8 et § 1.2.2.5.2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d'équilibre stable (EQS)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Emplois moyens et longs / Ressources moyennes et longues.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11 et § 1.2.3.1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624037215"/>
      </p:ext>
    </p:extLst>
  </p:cSld>
  <p:clrMapOvr>
    <a:masterClrMapping/>
  </p:clrMapOvr>
  <p:transition>
    <p:fade/>
  </p:transition>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(F-10-07 à F-10-12)</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d'autonomie financière (AUT)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acquises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9 et § 1.2.2.5.1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d'excédent net (EXN)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net de l'exercice / Cotisations acquises.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10 et § 1.2.2.5.5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financement propre (TFP)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Total des produits avant subventions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11 et § 1.2.3.2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solvabilité de la branche épargne (risques longs) (RL1)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admis / Engagements réglementés.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trésorerie à échéance (risques longs) (RL2)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(Valeurs réalisables + disponibles) / Dettes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trésorerie immédiate (risques longs) (RL3)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Valeurs disponibles / Dettes à court terme.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529971572"/>
      </p:ext>
    </p:extLst>
  </p:cSld>
  <p:clrMapOvr>
    <a:masterClrMapping/>
  </p:clrMapOvr>
  <p:transition>
    <p:fade/>
  </p:transition>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(F-10-13 à F-10-18)</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des risques longs (un trimestre d'engagements et de frais) (RL4)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constituée / (sorties d'épargne + frais de fonctionnement au prorata) / 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19, alinéa 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prestations des risques longs des deux derniers exercices (RL5)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sorties d'épargne des exercices n et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brut de rentabilité des placements (RL6)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Intérêts perçus / Capital investi.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moyen des comptes courants non rémunérés (RL7)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soldes des comptes courants / nombre de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des charges de fonctionnement (CHF)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2 et § 1.2.1.2.1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des charges de fonctionnement brut (CHB)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brut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3 et § 1.2.1.2.2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314066773"/>
      </p:ext>
    </p:extLst>
  </p:cSld>
  <p:clrMapOvr>
    <a:masterClrMapping/>
  </p:clrMapOvr>
  <p:transition>
    <p:fade/>
  </p:transition>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(F-10-19 à F-10-24)</a:t>
            </a:r>
          </a:p>
        </p:txBody>
      </p:sp>
      <p:graphicFrame>
        <p:nvGraphicFramePr>
          <p:cNvPr id="28" name="Table 27"/>
          <p:cNvGraphicFramePr>
            <a:graphicFrameLocks noGrp="1"/>
          </p:cNvGraphicFramePr>
          <p:nvPr/>
        </p:nvGraphicFramePr>
        <p:xfrm>
          <a:off x="503999" y="720000"/>
          <a:ext cx="11231998" cy="284175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par unité monétaire prestée (CUP)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5 et § 1.2.1.2.3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charges de personnel (CHP)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personnel / Charges de fonctionnement brut.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4 et § 1.2.1.2.4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recouvrement des cotisations (REC)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recouvrées / Cotisations émises.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13 et § 1.2.2.3.1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fidélisation (FID)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Renouvellements d'adhésion n / Adhérents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4 et § 1.2.1.1.4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moyen de paiement des prestataires de soins (DPP)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Dettes envers les prestataires x 365 / Prestations prises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7 et § 1.2.2.3.2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d'investissement brut en formation (FOR)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Coût total de formation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6 et § 1.2.2.1.1.2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105790932"/>
      </p:ext>
    </p:extLst>
  </p:cSld>
  <p:clrMapOvr>
    <a:masterClrMapping/>
  </p:clrMapOvr>
  <p:transition>
    <p:fade/>
  </p:transition>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(F-10-25 à F-10-30)</a:t>
            </a:r>
          </a:p>
        </p:txBody>
      </p:sp>
      <p:graphicFrame>
        <p:nvGraphicFramePr>
          <p:cNvPr id="28" name="Table 27"/>
          <p:cNvGraphicFramePr>
            <a:graphicFrameLocks noGrp="1"/>
          </p:cNvGraphicFramePr>
          <p:nvPr/>
        </p:nvGraphicFramePr>
        <p:xfrm>
          <a:off x="503999" y="720000"/>
          <a:ext cx="11231998" cy="247596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croissance brute des bénéficiaires (CRB)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n - n-1) / Bénéficiaires n-1.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bénéficiaire-adhérent (RBA)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Bénéficiaires /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pénétration (PEN)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 Population cible.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prestations indues (IND)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indûment payées / Prestations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12 et § 1.2.2.3.3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contrôle a posteriori (CAP)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Factures contrôlées / Factures traitées.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1.2.2.4 et section II, § 2.9</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liquidation des premières demandes (risques longs) (DLQ)</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Durée maximale de liquidation.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2.7</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437118629"/>
      </p:ext>
    </p:extLst>
  </p:cSld>
  <p:clrMapOvr>
    <a:masterClrMapping/>
  </p:clrMapOvr>
  <p:transition>
    <p:fade/>
  </p:transition>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(F-10-31 à F-10-36)</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Restes à traiter en fin de période (risques longs) (RAT)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Dossiers en instance / Dossiers reçus.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2.8</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remise en banque des titres de paiement (risques longs) (DRB)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dépôt.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2.6</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règlement de la cotisation au Fonds national de garantie (FNG)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payé à l'échéance / Cotisation due.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 Règlement n° 07/2009, art. 63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tenue des réunions des organes (TTR)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Réunions tenues / Réunions statutaires.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6</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Existence et tenue des outils de suivi administratif (OSA)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7</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Existence et tenue des outils de suivi comptable et financier (OSF)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8</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2241073051"/>
      </p:ext>
    </p:extLst>
  </p:cSld>
  <p:clrMapOvr>
    <a:masterClrMapping/>
  </p:clrMapOvr>
  <p:transition>
    <p:fade/>
  </p:transition>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(F-10-90 à F-10-95)</a:t>
            </a:r>
          </a:p>
        </p:txBody>
      </p:sp>
      <p:graphicFrame>
        <p:nvGraphicFramePr>
          <p:cNvPr id="28" name="Table 27"/>
          <p:cNvGraphicFramePr>
            <a:graphicFrameLocks noGrp="1"/>
          </p:cNvGraphicFramePr>
          <p:nvPr/>
        </p:nvGraphicFramePr>
        <p:xfrm>
          <a:off x="503999" y="720000"/>
          <a:ext cx="11231998" cy="2354041"/>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Excédent par risque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du risque moins ses prestations et sa part des frais, répartie au prorata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Affectation de l'excédent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Dotation à la réserve obligatoire comparée au minimum exigé.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à combler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qui ramène le ratio sur la borne la plus proche du texte, les autres termes restant inchangés.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IAS 19, § 145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Qualification des écarts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 si le ratio est non conforme toutes les années mesurées. Récurrent s'il l'est au moins deux exercices de 2022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n° 07/2009, art. 84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F-10-94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d'équilibre d'un levier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du levier (cotisations, prestations, charges, réserve, placements, fonds propres) qui ramène un ratio sur sa borne.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du FPPN. IAS 19, § 145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Effet d'un choc de 100 000 000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 de l'effet d'un choc enregistré en partie double sur chaque ratio de l'exercice de référence.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IFRS 17, § 128. IAS 19, § 145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IAS, IFRS : normes comptables internationales</a:t>
            </a:r>
          </a:p>
        </p:txBody>
      </p:sp>
    </p:spTree>
    <p:extLst>
      <p:ext uri="{BB962C8B-B14F-4D97-AF65-F5344CB8AC3E}">
        <p14:creationId xmlns:p14="http://schemas.microsoft.com/office/powerpoint/2010/main" val="748169245"/>
      </p:ext>
    </p:extLst>
  </p:cSld>
  <p:clrMapOvr>
    <a:masterClrMapping/>
  </p:clrMapOvr>
  <p:transition>
    <p:fade/>
  </p:transition>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(F-10-96 à F-11-03)</a:t>
            </a:r>
          </a:p>
        </p:txBody>
      </p:sp>
      <p:graphicFrame>
        <p:nvGraphicFramePr>
          <p:cNvPr id="28" name="Table 27"/>
          <p:cNvGraphicFramePr>
            <a:graphicFrameLocks noGrp="1"/>
          </p:cNvGraphicFramePr>
          <p:nvPr/>
        </p:nvGraphicFramePr>
        <p:xfrm>
          <a:off x="503999" y="720000"/>
          <a:ext cx="11231998" cy="2354514"/>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Faisabilité conjointe des normes de flux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autres éléments du résultat doivent être une charge d'au moins 3 % des cotisations pour respecter ensemble sinistralité, coût par unité prestée et excédent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F-10-97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Inflation médicale pondérée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Moyenne des variations annuelles des sous-indices de prix de la santé, pondérée par les prestations maladie du FPPN de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ANStat. BCEAO</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Rendement comparé au marché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brut de rentabilité des placements comparé au taux moyen des dépôts à terme de Côte d'Ivoire. Produit possible du solde non rémunéré.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BCEAO</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F-11-01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Espérance de vie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moyen d'années restant à vivre à l'âge x selon la 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F-11-02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d'une rente viagère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Somme actualisée des paiements de 1 par an tant que la personne est en vie.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F-11-03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 de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 de mourir entre x et x + 1 ans.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BCEAO : Banque centrale des États de l'Afrique de l'Ouest | ANStat : Agence nationale de la statistique de Côte d'Ivoire</a:t>
            </a:r>
          </a:p>
        </p:txBody>
      </p:sp>
    </p:spTree>
    <p:extLst>
      <p:ext uri="{BB962C8B-B14F-4D97-AF65-F5344CB8AC3E}">
        <p14:creationId xmlns:p14="http://schemas.microsoft.com/office/powerpoint/2010/main" val="3985141665"/>
      </p:ext>
    </p:extLst>
  </p:cSld>
  <p:clrMapOvr>
    <a:masterClrMapping/>
  </p:clrMapOvr>
  <p:transition>
    <p:fade/>
  </p:transition>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(F-05-10 à F-03-10)</a:t>
            </a:r>
          </a:p>
        </p:txBody>
      </p:sp>
      <p:graphicFrame>
        <p:nvGraphicFramePr>
          <p:cNvPr id="28" name="Table 27"/>
          <p:cNvGraphicFramePr>
            <a:graphicFrameLocks noGrp="1"/>
          </p:cNvGraphicFramePr>
          <p:nvPr/>
        </p:nvGraphicFramePr>
        <p:xfrm>
          <a:off x="503999" y="720000"/>
          <a:ext cx="11231998" cy="157160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F-05-10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Mortalité brute des membres participants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Décès de membres de l'année divisés par le nombre d'adhérents retenu par le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 (tables)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Nombre de décès et d'adhérents publiés sans taux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F-06-10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Intérêts d'une année sur l'encours EFC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Encours EFC de fin d'année multiplié par chaque taux écrit dans les documents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Documents du FPPN reçus le 22/10/2026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non arrêté : 3,5 % (chef comptable), 5,5 % (manuel, cartographie), 14 % d'intérêt simple (cahier des charges). Aucune écriture d'intérêts dans les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F-03-10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Contrôles croisés entre documents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Comparaison au franc près des montants d'une même grandeur dans deux documents indépendants.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Documents reçus le 22/10/2026</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EFC : entraide fin de carrière</a:t>
            </a:r>
          </a:p>
        </p:txBody>
      </p:sp>
    </p:spTree>
    <p:extLst>
      <p:ext uri="{BB962C8B-B14F-4D97-AF65-F5344CB8AC3E}">
        <p14:creationId xmlns:p14="http://schemas.microsoft.com/office/powerpoint/2010/main" val="2629581736"/>
      </p:ext>
    </p:extLst>
  </p:cSld>
  <p:clrMapOvr>
    <a:masterClrMapping/>
  </p:clrMapOvr>
  <p:transition>
    <p:fade/>
  </p:transition>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Outils et bibliothèques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121 : Outils et bibliothèques utilisés</a:t>
            </a:r>
          </a:p>
        </p:txBody>
      </p:sp>
      <p:graphicFrame>
        <p:nvGraphicFramePr>
          <p:cNvPr id="29" name="Table 28"/>
          <p:cNvGraphicFramePr>
            <a:graphicFrameLocks noGrp="1"/>
          </p:cNvGraphicFramePr>
          <p:nvPr/>
        </p:nvGraphicFramePr>
        <p:xfrm>
          <a:off x="503999" y="990000"/>
          <a:ext cx="11232000" cy="2100090"/>
        </p:xfrm>
        <a:graphic>
          <a:graphicData uri="http://schemas.openxmlformats.org/drawingml/2006/table">
            <a:tbl>
              <a:tblPr firstRow="0" bandRow="0">
                <a:tableStyleId>{5940675A-B579-460E-94D1-54222C63F5DA}</a:tableStyleId>
              </a:tblPr>
              <a:tblGrid>
                <a:gridCol w="2520000"/>
                <a:gridCol w="6552000"/>
                <a:gridCol w="2160000"/>
              </a:tblGrid>
              <a:tr h="210009">
                <a:tc>
                  <a:txBody>
                    <a:bodyPr/>
                    <a:lstStyle/>
                    <a:p>
                      <a:pPr marL="0" indent="0" lvl="0">
                        <a:buNone/>
                      </a:pPr>
                      <a:r>
                        <a:rPr sz="100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Usage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Version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Langage des traitements, scripts conservés et rejouables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3.14 (poste de la mission)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Visual Studio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Éditeur et exécution des scripts sous Windows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pandas, numpy</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Tables de données, calculs, agrégations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 et 2.5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statsmodels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Régressions et tests statistiques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python-calamine, openpyxl, lxml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sans perte des fichiers Excel et des pages web</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pyarrow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Stockage de la base d'analyse (Parquet)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pymupdf, pdftotext, tesseract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des PDF comptables et des textes scannés (OCR)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pygments, Pillow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Mise en forme des extraits de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python-pptx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OCR : reconnaissance optique de caractères</a:t>
            </a:r>
          </a:p>
        </p:txBody>
      </p:sp>
    </p:spTree>
    <p:extLst>
      <p:ext uri="{BB962C8B-B14F-4D97-AF65-F5344CB8AC3E}">
        <p14:creationId xmlns:p14="http://schemas.microsoft.com/office/powerpoint/2010/main" val="3246931405"/>
      </p:ext>
    </p:extLst>
  </p:cSld>
  <p:clrMapOvr>
    <a:masterClrMapping/>
  </p:clrMapOvr>
  <p:transition>
    <p:fade/>
  </p:transition>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figures</a:t>
            </a:r>
          </a:p>
        </p:txBody>
      </p:sp>
      <p:graphicFrame>
        <p:nvGraphicFramePr>
          <p:cNvPr id="28" name="Table 27"/>
          <p:cNvGraphicFramePr>
            <a:graphicFrameLocks noGrp="1"/>
          </p:cNvGraphicFramePr>
          <p:nvPr/>
        </p:nvGraphicFramePr>
        <p:xfrm>
          <a:off x="503999" y="648000"/>
          <a:ext cx="5543999" cy="4107150"/>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Ratio S/C maladie (prestations /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due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charges et résultat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reçus par flux de données, sur 80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 précompté rapporté au montant demandé, mois communs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Cotisants actifs précomptés (poste 936),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Entrées et sorties de cotisants,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Agents par ancienneté de service, janv.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Répartition du taux de 5 % selon la source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Ratio S/C 2025 selon la clé de répartition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Cotisations nominales et réelles (francs de 2020)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Cotisations comptabilisées par garantie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comptabilisées / cotisations (S/C)</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sinistralité selon la formule, 2020 au 31/08/2026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maladie comptabilisées par nature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Frais de gestion et résultat net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frais selon la formule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passif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Versements précomptés par produit d'épargne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Besoin de liquidités selon le taux de retrait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des prêts et financement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Montants débloqués par type de crédit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90</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6263999" y="648000"/>
          <a:ext cx="5543999" cy="4107150"/>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Part de l'encours en retard de plus de 30 et 90 jours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Échéances des prêts en cours et précomptes 9X4, 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Retraités précomptés par la CGRAE,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de prestations couverts par les provisions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PSAP maladie et dettes envers les cliniques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Principaux postes de l'actif</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Actif par délai de mobilisation et passif par échéance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Fonds propres et résultat de l'exercice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directeur de la BCEAO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Liquidité et équilibre stable, comme le FPPN et retraités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Excédent technique par risque, frais répartis au prorata des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Marge de solvabilité exigée et disponible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cotisation équivalent selon le ratio visé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Variation annuelle des prix de la santé retenus et inflation pondérée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Survivants pour 100 naissances, par âge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Probabilité de décès dans l'année (qx), par âge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Résultat technique projeté selon deux scénarios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(reconnaître le vrai format)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(écarter les lignes de total)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(corriger les montants doublés)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211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(lire les montants du Grenier)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(calculer la sinistralité)</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213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(intervalle de confiance)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(statut d'un ratio prudentiel)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215</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3788613074"/>
      </p:ext>
    </p:extLst>
  </p:cSld>
  <p:clrMapOvr>
    <a:masterClrMapping/>
  </p:clrMapOvr>
  <p:transition>
    <p:fade/>
  </p:transition>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tableaux</a:t>
            </a:r>
          </a:p>
        </p:txBody>
      </p:sp>
      <p:graphicFrame>
        <p:nvGraphicFramePr>
          <p:cNvPr id="28" name="Table 27"/>
          <p:cNvGraphicFramePr>
            <a:graphicFrameLocks noGrp="1"/>
          </p:cNvGraphicFramePr>
          <p:nvPr/>
        </p:nvGraphicFramePr>
        <p:xfrm>
          <a:off x="503999" y="648000"/>
          <a:ext cx="5543999" cy="10185732"/>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Verdict sur chacune des quatre demandes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Engagements envers les adhérents : chiffres qui fondent le verdict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Provisions du bilan et besoins mesurés : chiffres qui fondent le verdict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Adossement actif-passif : chiffres qui fondent le verdict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Adéquation des placements : chiffres qui fondent le verdict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Principaux constats au 15/10/2026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Huit ratios prudentiels clés, exercice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Actions recommandées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Textes et organismes de référence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Dispositions des textes du FPPN utiles à la mission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Dispositions des textes du FPPN utiles à la mission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du FPPN et montants observés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Circuit des fichiers de précomptes par produit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Notions utilisées dans le rapport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Périmètre de la mission actuarielle et statistique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Périmètre, domaine et période de validité des analyses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Documents reçus le 22/10/2026 et usage dans le rapport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Fichiers à renvoyer ou à corriger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États financiers et balances : actif brut, résultat, trésorerie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Adhérents du FPPN, lignes 8Z6 et rapport 8Z6 / 936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Rapprochements bancaires au 31 décembre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Règles des produits déclarées et confrontées aux fichiers de précomptes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Formules du taux de sinistralité comparées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Méthode du FPPN et méthode réglementaire au 30/06/2026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Sinistralité décès selon le FPPN et selon les comptes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Décès et taux brut de mortalité des membres participants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Nature des risques par garantie et provisions attendues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croissance annuels moyens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Références du poste 998, 2020 à août 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servis sur l'épargne selon les documents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Écritures 2024 des comptes d'épargne par nature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Intérêts d'une année sur l'encours EFC selon le taux servi</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Intérêts dus sur l'épargne, par exercice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31/12/2025 : rapport de gestion et balance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selon le taux de perte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Clauses de la convention IPS-CGRAE utiles à la mission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Retraités précomptés par la CGRAE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annexes et points à clarifier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Provisions exigées et provisions au bilan, par produit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Factures de cliniques (compte 40110000) et délai moyen de paiement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Factures de cliniques d'une année enregistrées l'année suivante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maladie nécessaire et provision du bilan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États de fin d'année des allocations décès et crédits du compte 41591000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Dette décès du FPPN et provision obsèques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Décès enregistrés l'année suivant le décès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pour risques courts au 31 décembre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Dépréciation des prêts du Grenier selon sa politique de crédit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Compte GNA (47111106) et produits des activités annexes (71800000)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pour départ à la retraite du personnel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Paramètres de la provision du personnel au 31/12/2025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par entité, droits acquis et compte 196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Direction Générale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Direction Générale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CMP (1/3)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CMP (2/3)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CMP (3/3)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Grenier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Non documentée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Non documentée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Sensibilité de la provision du personnel au 31/12/2025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Engagements envers les adhérents et ayants droit : méthode et résultat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129</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6263999" y="648000"/>
          <a:ext cx="5543999" cy="10021446"/>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62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Provisions : méthode annuelle proposée et montants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Corrections attendues et sens de leur effet sur l'adossement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Règles de valorisation retenues dans chaque scénario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Couverture des engagements connus selon le scénario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Méthodes d'adossement retenues et justification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Sorties annuelles de l'épargne et taux de sortie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Écarts de liquidité au 31/08/2026, scénario central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Couverture des paiements de l'année selon trois scénarios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Gouvernance actif-passif : pratiques de référence et situation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Adossement actif-passif : réponse et niveau de preuve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Mouvements annuels du DAT BOA (comptes 52210200 et 52210201)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Documents sur les actifs immobilisés et la gouvernance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Placements et emplois du FPPN confrontés aux conditions de l'article 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Textes de la mutualité sociale appliqués au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Qualification des garanties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Reclassements de la lecture retraitée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prudentiels, priorités 1 à 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des risques longs, priorités 10 à 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de gestion, priorités 17 à 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Indicateurs en attente de documents, priorités 26 à 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Dotation de la réserve obligatoire et normes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Contrôle du classement des comptes selon le PCMS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Exigences non chiffrées et situation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Manquements liés aux constats du rapport et sanctions prévues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Étapes des analyses de sensibilité et références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Conformité de chaque ratio, année par année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Facteurs récurrents, comptes en cause et preuves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 à combler par ratio (FCFA)</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Sens de l'effet d'un choc de 100 000 000 FCFA (exercice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Montants d'équilibre 2025 par levier et par ratio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Liquidité : écart, plafond de réallocation et lecture hors 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Réserve obligatoire selon la dotation statutaire, et horizon des fonds propres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 de faisabilité conjointe des normes de flux</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Sinistralité selon la hausse des prestations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Rendement du FPPN et taux du marché, 2021 à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Tables de mortalité CIMA et usage retenu</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Espérance de vie et valeur de la rente viagère (taux de 3,5 %)</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Étapes d'une projection actuarielle et point de blocage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100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Projection agrégée du résultat technique, maladie et décès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Scripts de la mission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102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 traitement, contrôle et sortie de chaque étape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Analyses en attente et documents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218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104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avec le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Points à clarifier issus de l'entretien du 19/10/2026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106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Analyses de provisions en attente et documents nécessaires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Points à clarifier issus des entretiens du 19/10/2026 avec le chef comptable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108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issus des documents du 22/10/2026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Méthodes non retenues et méthodes appliquées à la place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111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113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230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115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231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Conditions d'emploi de la méthode et données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232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117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Fichiers sources et période couverte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233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Fichiers sources et période couverte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234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119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Fichiers sources et période couverte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235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Colonnes et statuts du tableau des formules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236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Outils et bibliothèques utilisés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252</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926267153"/>
      </p:ext>
    </p:extLst>
  </p:cSld>
  <p:clrMapOvr>
    <a:masterClrMapping/>
  </p:clrMapOvr>
  <p:transition>
    <p:fade/>
  </p:transition>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(1/12)</a:t>
            </a:r>
          </a:p>
        </p:txBody>
      </p:sp>
      <p:graphicFrame>
        <p:nvGraphicFramePr>
          <p:cNvPr id="28" name="Table 27"/>
          <p:cNvGraphicFramePr>
            <a:graphicFrameLocks noGrp="1"/>
          </p:cNvGraphicFramePr>
          <p:nvPr/>
        </p:nvGraphicFramePr>
        <p:xfrm>
          <a:off x="503999" y="720000"/>
          <a:ext cx="11232000" cy="4767098"/>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Réponse aux quatre demandes de la mission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période du 01/01/2020 au 31/08/2026 (mission à partir du 01/09/2020), documents du FPPN reçus jusqu'au 22/10/2026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Demande 1 : engagements envers les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épargne et dettes au 31/08/2026 (balance provisoire). Intérêts dus calculés du 01/01/2020 au 31/08/2026 seulement. Provision du personnel au 31/12/2025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Demande 2 : suffisance des provisions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au bilan du 31/08/2026. Besoin maladie mesuré au 31/12/2024 sur les factures de cliniques du journal SIN. Dette décès au 31/08/2026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Demande 3 : adossement actif-passif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bilans au 31/12/2025 et au 31/08/2026 (provisoire). Sorties d'épargne observées de 2021 à 2025. Actifs classés par nature comptable, sans échéancier contractuel</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Demande 4 : adéquation des placements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placements et produits financiers de 2021 à 2025, actifs au 31/08/2026. Épargne due au 31/12/2025</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Résumé exécutif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chiffres repris des parties 4 à 10, chacun dans le domaine indiqué sur sa diapositive de détail. Situation au 31/08/2026 (provisoire) sauf mention d'une autre date</a:t>
                      </a:r>
                    </a:p>
                  </a:txBody>
                  <a:tcPr marL="43200" marR="43200" marT="14400" marB="14400" anchor="ctr">
                    <a:solidFill>
                      <a:srgbClr val="F2F2F2"/>
                    </a:solidFill>
                  </a:tcPr>
                </a:tc>
              </a:tr>
              <a:tr h="545310">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Graphiques clés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S/C maladie : comptes 601, 6013, 6018 et 60800007 (prestations) et 7010 (cotisations) des balances « BALANCE FORMAT EXCEL DE 09-2020 AU 31-12-2020.xlsx » à « BALANCE FPPN DU 01-01-2026 AU 31-08-2026.xlsx », 2020 à 2025 et du 01/01 au 31/08/2026. Épargne : comptes 41195100 et 41195200. Actifs réservés : banques et DAT de l'épargne et FCP</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Graphiques clés (2/2)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comptes 10, 11, 12 et résultat des balances « BALANCE FORMAT EXCEL DE 09-2020 AU 31-12-2020.xlsx » à « BALANCE FPPN DU 01-01-2026 AU 31-08-2026.xlsx ». Encours du Grenier : exports « BalanceAgeeDetaille … .xls » du logiciel de prêts du Grenier, arrêtés annuels du 31/12/2021 au 31/12/2025 et au 31/08/2026</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Conformité prudentielle en bref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exercice 2025 seulement, ratios de la Décision n° 05/2022 recalculés sur les balances « BALANCE FORMAT EXCEL DE 09-2020 AU 31-12-2020.xlsx » à « BALANCE FPPN DU 01-01-2026 AU 31-08-2026.xlsx ». Ratios non calculés faute de données signalés comme tels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Résumé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Recommandations prioritaires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constats au 22/10/2026. Numéros de la liste des documents demandés (PBC) pointée au 22/10/2026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Cadre juridique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textes cités dans leur version fournie le 18/10/2026 (documentation publique de l'AIRMS). Répertoire AIRMS du 15/10/2026. Ne vaut pas avis juridique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et règlement intérieur : cotisations, provisions, prestations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et règlement intérieur du FPPN édités le 15/06/2023 (adoptés le 30/06/2021), articles cités. Leur application n'est testée que là où le rapport le dit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et règlement intérieur : épargne, personnel, organes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et règlement intérieur du FPPN édités le 15/06/2023, articles cités. Décrets n° 2017-210 et n° 2012-652. Application non testée sauf mention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Garanties et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montants précomptés par poste dans les fichiers retour de la Solde et de la CGRAE, mois reçus entre 2023 et septembre 2026 selon le poste (diapositive « Couverture de la période »)</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CGRAE : Caisse générale de retraite des agents de l'État | FCP : fonds commun de placement | DAT : dépôt à terme | S/C : prestations / cotisations | PBC : liste des documents demandés au client</a:t>
            </a:r>
          </a:p>
        </p:txBody>
      </p:sp>
    </p:spTree>
    <p:extLst>
      <p:ext uri="{BB962C8B-B14F-4D97-AF65-F5344CB8AC3E}">
        <p14:creationId xmlns:p14="http://schemas.microsoft.com/office/powerpoint/2010/main" val="3918561215"/>
      </p:ext>
    </p:extLst>
  </p:cSld>
  <p:clrMapOvr>
    <a:masterClrMapping/>
  </p:clrMapOvr>
  <p:transition>
    <p:fade/>
  </p:transition>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(2/12)</a:t>
            </a:r>
          </a:p>
        </p:txBody>
      </p:sp>
      <p:graphicFrame>
        <p:nvGraphicFramePr>
          <p:cNvPr id="28" name="Table 27"/>
          <p:cNvGraphicFramePr>
            <a:graphicFrameLocks noGrp="1"/>
          </p:cNvGraphicFramePr>
          <p:nvPr/>
        </p:nvGraphicFramePr>
        <p:xfrm>
          <a:off x="503999" y="720000"/>
          <a:ext cx="11232000" cy="4401316"/>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Partie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Circuit des fichiers par produit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circuit déclaré par le responsable des cotisations le 19/10/2026. Non confirmé par une procédure écrite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Flux financiers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exercice 2025, classes 6 et 7 de « BALANCE FPPN 2025.xlsx ». Flux d'épargne et du Grenier exclus du résultat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Notions de base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définitions de la Décision n° 05/2022 (annexe) et du règlement d'exécution n° 004/2022. Sans chiffre propre au FPPN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Mission et périmètre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périmètre fixé par le dossier de préparation du 13/10/2026 et la demande de M. Wabi. Période du 01/01/2020 au 31/08/2026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Périmètre et validité des analyses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familles d'analyses du rapport, sur les documents reçus jusqu'au 22/10/2026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Documents reçus le 22/10/2026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reçus le 22/10/2026 dans les dossiers transmis par le FPPN. Les documents reçus le 15/10/2026 et le 18/10/2026 sont décrits en partie 2 et en partie 3</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 la période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de précomptes reçus le 15/10/2026, par poste et par mois, de janvier 2020 à août 2026 (80 mois). Un mois est « reçu » si au moins un fichier lisible le couvre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Rapprochement aller et retour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mois pour lesquels le fichier aller et le fichier retour d'un même poste sont tous deux reçus. Montants totaux du mois, sans rapprochement agent par agent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vides ou endommagés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reçus le 15/10/2026 et le 22/10/2026 dont la lecture a échoué ou qui ne contiennent aucune ligne de données. Liste arrêtée au 22/10/2026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croisé : états financiers et balances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exercices 2020 à 2025 et situation au 31/08/2026, totaux du bilan et résultat. Les rubriques détaillées n'ont pas été comparées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 croisé : effectifs du FPPN et fichiers de la Solde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mois cités, policiers précomptés par la Solde (8Z6 et 936). Les mois de 2024 sans fichier 8Z6 ne sont pas couverts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croisé : rapprochements bancaires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bancaires présents dans les états de rapprochement (BOA, Banque Atlantique, Orabank), au 31/12 de 2020 à 2025. Les DAT, le FCP et la caisse ne sont pas couverts</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Effectifs cotisants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précomptés chaque mois dans les fichiers retour du poste 936 (dossier « FPPN-SOLDE\EFFECTIF POLICE (MALADIE) »), janvier 2024 à septembre 2026. Décembre 2024 vide. Hors retraités et civils de la Direction Générale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Entrées et sorties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matricules présents un mois et absents le suivant (ou l'inverse) dans les fichiers retour du poste 936 (dossier « FPPN-SOLDE\EFFECTIF POLICE (MALADIE) »), janvier 2024 à septembre 2026. Ne distingue pas retraite, décès et radiation</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 | 936 : poste maladie | 8Z6 : poste décès</a:t>
            </a:r>
          </a:p>
        </p:txBody>
      </p:sp>
    </p:spTree>
    <p:extLst>
      <p:ext uri="{BB962C8B-B14F-4D97-AF65-F5344CB8AC3E}">
        <p14:creationId xmlns:p14="http://schemas.microsoft.com/office/powerpoint/2010/main" val="1232290119"/>
      </p:ext>
    </p:extLst>
  </p:cSld>
  <p:clrMapOvr>
    <a:masterClrMapping/>
  </p:clrMapOvr>
  <p:transition>
    <p:fade/>
  </p:transition>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(3/12)</a:t>
            </a:r>
          </a:p>
        </p:txBody>
      </p:sp>
      <p:graphicFrame>
        <p:nvGraphicFramePr>
          <p:cNvPr id="28" name="Table 27"/>
          <p:cNvGraphicFramePr>
            <a:graphicFrameLocks noGrp="1"/>
          </p:cNvGraphicFramePr>
          <p:nvPr/>
        </p:nvGraphicFramePr>
        <p:xfrm>
          <a:off x="503999" y="720000"/>
          <a:ext cx="11232000" cy="5010956"/>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Structure des effectifs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ancienneté de service calculée sur la date d'entrée des fichiers retour du poste 936 (dossier « FPPN-SOLDE\EFFECTIF POLICE (MALADIE) ») de janvier 2025. Âge non disponible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cotisation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maladie : colonne du salaire de base des fichiers retour du poste 936 (dossier « FPPN-SOLDE\EFFECTIF POLICE (MALADIE) ») (huit mois détaillés). Taux décès : fichiers retour du poste 8Z6 (dossier « FPPN-SOLDE\ALLOCATION DECES ») rapportés au 936 de mars 2024 à septembre 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Sensibilité : clé de répartition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exercice 2025. Cotisations des comptes 7010 et 7021 de « BALANCE FPPN 2025.xlsx » réparties entre maladie et décès selon la clé testée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Cotisations en termes réels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cotisations des comptes 7010 et 7021 des balances « BALANCE FORMAT EXCEL DE 09-2020 AU 31-12-2020.xlsx » à « BALANCE FPPN DU 01-01-2026 AU 31-08-2026.xlsx », 2020 à 2025. Inflation de la Banque mondiale (FP.CPI.TOTL.ZG, Côte d'Ivoire), francs de 2020</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comptabilisées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7010 (maladie) et 7021 (décès) des balances « BALANCE FORMAT EXCEL DE 09-2020 AU 31-12-2020.xlsx » à « BALANCE FPPN DU 01-01-2026 AU 31-08-2026.xlsx », 2020 à 2025 et du 01/01 au 31/08/2026. 2020 = à-nouveaux au 01/09/2020 plus mouvements du 01/09 au 31/12/2020</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Règles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déclarations du 19/10/2026 confrontées aux montants des fichiers de précomptes reçus le 15/10/2026, postes 870, 998, 9X4, 9W3 et 8Z7, mois reçus</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comptable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601, 6013, 6018, 60800007, 6021 et 6024 (prestations) et 7010, 7021 (cotisations) des balances « BALANCE FORMAT EXCEL DE 09-2020 AU 31-12-2020.xlsx » à « BALANCE FPPN DU 01-01-2026 AU 31-08-2026.xlsx », 2020 à 2025 et du 01/01 au 31/08/2026. Sans provisions ni sinistres tardifs</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Choix de la formule : sinistralité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formules de la Décision n° 05/2022 (annexe, § 1.1.1 et § 1.2.1.2.5) appliquées aux comptes de prestations (601 à 6024), de cotisations (7010, 7021) et de provisions (158) des balances « BALANCE FORMAT EXCEL DE 09-2020 AU 31-12-2020.xlsx » à « BALANCE FPPN DU 01-01-2026 AU 31-08-2026.xlsx »</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selon la formule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de prestations, de cotisations (7010, 7021) et de provisions (158) des balances « BALANCE FORMAT EXCEL DE 09-2020 AU 31-12-2020.xlsx » à « BALANCE FPPN DU 01-01-2026 AU 31-08-2026.xlsx », 2020 à 2025 et du 01/01 au 31/08/2026. Variation de provision nulle car les provisions ne bougent pas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de sinistralité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période du 01/01 au 30/06/2026 pour les taux du FPPN, du 01/01 au 31/08/2026 pour le taux réglementaire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décès : le FPPN et les comptes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garantie décès-invalidité, exercices 2020 à 2025</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Mortalité brute des membres participants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membres participants recensés par le FPPN, années 2015 à 2025. Ne vaut ni par âge, ni par grade, ni pour les ayants droit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Nature des risques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garanties décrites par les statuts du 15/06/2023 et le règlement d'exécution n° 004/2022, art. 8 à 15. Qualification sans chiffre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Croissance des prestations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annuels moyens des comptes de prestations et de cotisations (7010, 7021) des balances « BALANCE FORMAT EXCEL DE 09-2020 AU 31-12-2020.xlsx » à « BALANCE FPPN DU 01-01-2026 AU 31-08-2026.xlsx » et des fichiers de précomptes. Périodes indiquées ligne par ligne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 | 8Z6 : poste décès | 9X4 : poste Grenier | 9W3 : poste flotte automobile | 8Z7 : poste MEDOC</a:t>
            </a:r>
          </a:p>
        </p:txBody>
      </p:sp>
    </p:spTree>
    <p:extLst>
      <p:ext uri="{BB962C8B-B14F-4D97-AF65-F5344CB8AC3E}">
        <p14:creationId xmlns:p14="http://schemas.microsoft.com/office/powerpoint/2010/main" val="2521353478"/>
      </p:ext>
    </p:extLst>
  </p:cSld>
  <p:clrMapOvr>
    <a:masterClrMapping/>
  </p:clrMapOvr>
  <p:transition>
    <p:fade/>
  </p:transition>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(4/12)</a:t>
            </a:r>
          </a:p>
        </p:txBody>
      </p:sp>
      <p:graphicFrame>
        <p:nvGraphicFramePr>
          <p:cNvPr id="28" name="Table 27"/>
          <p:cNvGraphicFramePr>
            <a:graphicFrameLocks noGrp="1"/>
          </p:cNvGraphicFramePr>
          <p:nvPr/>
        </p:nvGraphicFramePr>
        <p:xfrm>
          <a:off x="503999" y="720000"/>
          <a:ext cx="11232000" cy="5010010"/>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maladie par nature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601, 6013, 6018 et 60800007 des balances « BALANCE FORMAT EXCEL DE 09-2020 AU 31-12-2020.xlsx » à « BALANCE FPPN DU 01-01-2026 AU 31-08-2026.xlsx », 2020 à 2025 et du 01/01 au 31/08/2026. Nature telle que libellée par le FPPN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Frais de gestion et résultat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61 à 66 hors 6518 (frais) et résultat net des balances « BALANCE FORMAT EXCEL DE 09-2020 AU 31-12-2020.xlsx » à « BALANCE FPPN DU 01-01-2026 AU 31-08-2026.xlsx », 2020 à 2025 et du 01/01 au 31/08/2026</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Choix de la formule : frais de gestion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formules de la Décision n° 05/2022 (annexe, tableau 1) appliquées aux comptes 61 à 66 hors 6518 et 7010, 7021 des balances « BALANCE FORMAT EXCEL DE 09-2020 AU 31-12-2020.xlsx » à « BALANCE FPPN DU 01-01-2026 AU 31-08-2026.xlsx »</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de l'épargne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41195100 et 41195200 (épargne) et comptes bancaires, DAT et FCP réservés à l'épargne des balances « BALANCE FORMAT EXCEL DE 09-2020 AU 31-12-2020.xlsx » à « BALANCE FPPN DU 01-01-2026 AU 31-08-2026.xlsx », au 31/12 de 2020 à 2025 et au 31/08/2026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Versements d'épargne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versements des postes 998 (PEP) et 870 (EFC) dans les fichiers retour de la Solde, mois reçus de 2023 à 2026, comparés aux crédits des comptes 41195100 et 41195200</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 retraits d'épargne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épargne due et actifs à moins d'un an au 31/08/2026 (« BALANCE FPPN DU 01-01-2026 AU 31-08-2026.xlsx »). Taux de retrait hypothétiques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998 : autres références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références du poste 998 dans les fichiers retour « FPPN-SOLDE\PEP\FICHIER RETOUR », de 2020 à août 2026. 2001 à 2019 non retenus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EFC et PEP : trois taux dans trois documents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documents du FPPN reçus le 22/10/2026 et entretien du 19/10/2026. Le taux réellement appliqué aux mutualistes n'est pas connu</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Intérêts servis : aucune écriture dans les comptes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grand livre 2024 pour le détail des écritures. Balances de 2020 au 31/08/2026 pour l'absence de charge d'intérêts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 intérêts annuels dus sur l'EFC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encours EFC comptable au 31/12 de 2020 à 2025 et au 31/08/2026, une année d'intérêts, sans projection ni capitalisation</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Épargne : intérêts dus non comptabilisés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soldes des comptes 41195100 (PEP) et 41195200 (EFC) du 01/09/2020 au 31/08/2026 (balances 2020 à 2025 et provisoire 2026), 2020 approché par les soldes du 01/09 et du 31/12. Taux du manuel d'épargne. Intérêts antérieurs au 01/01/2020 et capitalisation non comptés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Rapport de gestion 2025 : l'épargne présentée est la collecte de l'année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exercice 2025. Les rapports de gestion des autres années n'ont pas été contrôlés sur ce point</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du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des exports « BalanceAgeeDetaille … .xls » du logiciel de prêts du Grenier aux arrêtés du 31/12/2021 au 31/12/2025 et mensuels de 2026. Financement : compte 47111102 des balances « BALANCE FORMAT EXCEL DE 09-2020 AU 31-12-2020.xlsx » à « BALANCE FPPN DU 01-01-2026 AU 31-08-2026.xlsx »</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Production de prêts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montants débloqués des exports « production_de_la_periode … .xls » du logiciel de prêts du Grenier, 2021 à septembre 2026, par type de crédit. Prêts non rapprochés des contrats</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FCP : fonds commun de placement | DAT : dépôt à terme | 998 : poste PEP</a:t>
            </a:r>
          </a:p>
        </p:txBody>
      </p:sp>
    </p:spTree>
    <p:extLst>
      <p:ext uri="{BB962C8B-B14F-4D97-AF65-F5344CB8AC3E}">
        <p14:creationId xmlns:p14="http://schemas.microsoft.com/office/powerpoint/2010/main" val="3541987225"/>
      </p:ext>
    </p:extLst>
  </p:cSld>
  <p:clrMapOvr>
    <a:masterClrMapping/>
  </p:clrMapOvr>
  <p:transition>
    <p:fade/>
  </p:transition>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(5/12)</a:t>
            </a:r>
          </a:p>
        </p:txBody>
      </p:sp>
      <p:graphicFrame>
        <p:nvGraphicFramePr>
          <p:cNvPr id="28" name="Table 27"/>
          <p:cNvGraphicFramePr>
            <a:graphicFrameLocks noGrp="1"/>
          </p:cNvGraphicFramePr>
          <p:nvPr/>
        </p:nvGraphicFramePr>
        <p:xfrm>
          <a:off x="503999" y="720000"/>
          <a:ext cx="11232000" cy="4644699"/>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Retards de remboursement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colonne « retard » des exports « BalanceAgeeDetaille … .xls » du logiciel de prêts du Grenier, arrêtés du 31/12/2021 au 31/08/2026. Retard compté sur l'échéance la plus ancienne impayée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Échéances et précomptes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échéances des prêts en cours des exports « BalanceAgeeDetaille … .xls » du logiciel de prêts du Grenier et précomptes du poste 9X4 (« FPPN-SOLDE\GRENIER\FICHIER ALLER RETOUR »), mois de 2026 reçus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Sensibilité : pertes sur prêts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au 31/08/2026 des exports « BalanceAgeeDetaille … .xls » du logiciel de prêts du Grenier. Taux de perte hypothétiques (la politique de crédit est appliquée en partie 9)</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Retraités CGRAE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retraités précomptés dans les fichiers retour de la CGRAE (dossier « FPPN-CGRAE\PRECOMTES\FICHIER RETOUR (CGRAE) »), février 2024 à septembre 2026. Ne couvre pas les retraités sans quotité cessible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Convention IPS-CGRAE : santé des policiers retraités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texte de la convention reçu le 22/10/2026. Son application (nombre de retraités, montants précomptés) est mesurée en partie 8 de février 2024 à septembre 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Santé des retraités : ce que l'on peut mesurer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retour de la CGRAE reçus le 15/10/2026, févr. 24 à août 26 (un mois sur quatre affiché, tous les mois dans le classeur). Ne couvre pas les retraités non précomptés</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annexes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postes 9W3 (GNA) et 8Z7 (MEDOC) des fichiers « FPPN-GNA » et « FPPN-SOLDE\MEDOC », mois reçus de 2023 à 2026. Compte 71800000 des balances « BALANCE FORMAT EXCEL DE 09-2020 AU 31-12-2020.xlsx » à « BALANCE FPPN DU 01-01-2026 AU 31-08-2026.xlsx »</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15801 et 15802 (19011 et 19012 avant leur reclassement) des balances « BALANCE FORMAT EXCEL DE 09-2020 AU 31-12-2020.xlsx » à « BALANCE FPPN DU 01-01-2026 AU 31-08-2026.xlsx », rapportés aux prestations de l'année. 2026 sur huit mois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attendues par produit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au 31/12/2025 des comptes 158 et 196 de « BALANCE FPPN 2025.xlsx ». Besoins mesurés dans les diapositives suivantes de la partie 9</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 et dettes envers les cliniques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 15801000 et compte 40110000 (dettes envers les cliniques) des balances « BALANCE FORMAT EXCEL DE 09-2020 AU 31-12-2020.xlsx » à « BALANCE FPPN DU 01-01-2026 AU 31-08-2026.xlsx », au 31/12 de 2020 à 2025 et au 31/08/2026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maladie : délais de paiement des cliniques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factures de cliniques enregistrées au compte 40110000, exercices 2020 à 2025 et du 01/01 au 31/08/2026. Ne couvre pas les remboursements aux mutualistes ni les bons payés hors de ce compte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maladie : factures arrivées en retard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factures de cliniques enregistrées au journal SIN en 2023, 2024 et 2025, dont l'année figure dans le numéro. Ne couvre pas les factures sans année lisible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maladie : montant nécessaire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clôtures 2022, 2023 et 2024. Prestations maladie des balances. Factures de cliniques du journal SIN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Allocations décès : états de fin d'année et compte 41591000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états de fin d'année 2021 à 2025 tels que reçus le 22/10/2026. Crédits du compte 41591000 des balances 2021 à 2025</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PSAP : provision pour sinistres à payer | GNA : assureur de la flotte automobile (compte 47111106) | MEDOC : produit santé complémentaire du poste 8Z7 | 9X4 : poste Grenier | 9W3 : poste flotte automobile | 8Z7 : poste MEDOC | IPS-CGRAE : Institution de prévoyance sociale - Caisse générale de retraite des agents de l'État</a:t>
            </a:r>
          </a:p>
        </p:txBody>
      </p:sp>
    </p:spTree>
    <p:extLst>
      <p:ext uri="{BB962C8B-B14F-4D97-AF65-F5344CB8AC3E}">
        <p14:creationId xmlns:p14="http://schemas.microsoft.com/office/powerpoint/2010/main" val="3368804106"/>
      </p:ext>
    </p:extLst>
  </p:cSld>
  <p:clrMapOvr>
    <a:masterClrMapping/>
  </p:clrMapOvr>
  <p:transition>
    <p:fade/>
  </p:transition>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(6/12)</a:t>
            </a:r>
          </a:p>
        </p:txBody>
      </p:sp>
      <p:graphicFrame>
        <p:nvGraphicFramePr>
          <p:cNvPr id="28" name="Table 27"/>
          <p:cNvGraphicFramePr>
            <a:graphicFrameLocks noGrp="1"/>
          </p:cNvGraphicFramePr>
          <p:nvPr/>
        </p:nvGraphicFramePr>
        <p:xfrm>
          <a:off x="503999" y="720000"/>
          <a:ext cx="11232000" cy="3793095"/>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Allocations décès : dette réelle et provision obsèques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41591000, 41592000, 19012000 et 15802000, exercices 2021 à 2025 et du 01/01 au 31/08/2026 (provisoire). Paiements par banque d'après le grand livre 2024 seulement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Allocations décès : décès connus après la clôture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états de fin d'année 2021 et 2023, seuls à porter la date d'enregistrement. Dossiers de membres et d'ayants droit valorisés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risques courts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maladie et décès précomptées par la Solde (postes 936 et 8Z6, janvier 2024 à septembre 2026) et par la CGRAE (février 2024 à septembre 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Prêts du Grenier : dépréciation selon la politique de crédit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prêts du Grenier aux arrêtés du 31/12/2025 et du 31/08/2026, tranches de retard du logiciel de prêts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Flotte automobile : risque porté par GNA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 47111106 (GNA) et compte 71800000 des balances 2023 à 2026. Précomptes 9W3 de 2024. Convention avec GNA non reçue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Départ à la retraite du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196, 6911 et 7911 des balances « BALANCE FORMAT EXCEL DE 09-2020 AU 31-12-2020.xlsx » à « BALANCE FPPN DU 01-01-2026 AU 31-08-2026.xlsx », exercices 2020 à 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 méthode et paramètres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personnel civil déclaré à la CNPS (DISA), hors travailleurs occasionnels et fonctionnaires de police détachés, évaluation au 31/12</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par entité de 2021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des DISA 2021, 2022, 2023 et 2025 (« DISA_256927_&lt;année&gt;.xls »), au 31/12 de chaque année. 2024 non calculé (DISA scannée). Hors policiers détachés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Direction Générale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Direction Générale (2/2)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CMP (1/3)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CMP (2/3)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CMP (3/3)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Grenier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CMP : Centre Médical du Policier (rapport de gestion 2023) | CNPS : Caisse nationale de prévoyance sociale | GNA : assureur de la flotte automobile (compte 47111106) | 936 : poste maladie | 8Z6 : poste décès | 9W3 : poste flotte automobile | DISA : déclaration individuelle des salaires annuels à la CNPS</a:t>
            </a:r>
          </a:p>
        </p:txBody>
      </p:sp>
    </p:spTree>
    <p:extLst>
      <p:ext uri="{BB962C8B-B14F-4D97-AF65-F5344CB8AC3E}">
        <p14:creationId xmlns:p14="http://schemas.microsoft.com/office/powerpoint/2010/main" val="1380187485"/>
      </p:ext>
    </p:extLst>
  </p:cSld>
  <p:clrMapOvr>
    <a:masterClrMapping/>
  </p:clrMapOvr>
  <p:transition>
    <p:fade/>
  </p:transition>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(7/12)</a:t>
            </a:r>
          </a:p>
        </p:txBody>
      </p:sp>
      <p:graphicFrame>
        <p:nvGraphicFramePr>
          <p:cNvPr id="28" name="Table 27"/>
          <p:cNvGraphicFramePr>
            <a:graphicFrameLocks noGrp="1"/>
          </p:cNvGraphicFramePr>
          <p:nvPr/>
        </p:nvGraphicFramePr>
        <p:xfrm>
          <a:off x="503999" y="720000"/>
          <a:ext cx="11232000" cy="4523244"/>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rattachement non documenté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rattachement non documenté (2/2)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 sensibilités et qualité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personnel civil de la DISA 2025, évaluation au 31/12/2025. Plafond conventionnel non appliqué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Conclusion : engagements envers les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balance provisoire au 31/08/2026. États de fin d'année des allocations décès 2021 à 2025. Factures de cliniques du journal SIN 2023 à 2025. DISA 2021 à 2025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Conclusion : suffisance des provisions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au bilan du 31/08/2026. Besoins mesurés aux dates indiquées dans les diapositives de détail</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 de l'actif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d'actif (classes 2 à 5, 41 et 47) des balances « BALANCE FORMAT EXCEL DE 09-2020 AU 31-12-2020.xlsx » à « BALANCE FPPN DU 01-01-2026 AU 31-08-2026.xlsx », au 31/12 de 2020 à 2025 et au 31/08/2026. Valeurs comptables non réévaluées</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Adossement de liquidité provisoire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classés par délai de mobilisation et passif par échéance d'après la nature des comptes des balances « BALANCE FORMAT EXCEL DE 09-2020 AU 31-12-2020.xlsx » à « BALANCE FPPN DU 01-01-2026 AU 31-08-2026.xlsx », au 31/12/2025 et au 31/08/2026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Pourquoi l'adossement est une borne favorable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corrections attendues tirées des textes cités et des constats du rapport. Sens de l'effet seulement, sans montant</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Règles de valorisation des actifs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règles du règlement d'exécution n° 004/2022 (art. 17, 19 à 21, 27), de la Décision n° 05/2022 et du PCMS. Liste ivoirienne des actifs admis non reçue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Scénarios de couverture des engagements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et engagements au 31/12/2025 et au 31/08/2026 des balances « BALANCE FORMAT EXCEL DE 09-2020 AU 31-12-2020.xlsx » à « BALANCE FPPN DU 01-01-2026 AU 31-08-2026.xlsx ». Valorisation selon les règles de la diapositive précédente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Choix des méthodes d'adossement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choix de méthode fondé sur les documents de référence cités et sur les données du FPPN de 2020 au 31/08/2026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 à quel rythme l'épargne sort-elle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débits et soldes des comptes 41195100 et 41195200, balances 2020 à 2025. L'année 2020 sert de point de départ. 2026 non retenue (huit mois)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Adossement : écarts de liquidité année par 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bilan provisoire au 31/08/2026, actifs classés par nature comptable. Taux de sortie moyen 2021 à 2025. Sans nouveaux versements ni intérêts dus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 tests de résistance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bilans au 31/12/2025 et au 31/08/2026 (provisoire). Taux de sortie 2021 à 2025. Prestations maladie 2023 à 2025</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DISA : déclaration individuelle des salaires annuels à la CNPS</a:t>
            </a:r>
          </a:p>
        </p:txBody>
      </p:sp>
    </p:spTree>
    <p:extLst>
      <p:ext uri="{BB962C8B-B14F-4D97-AF65-F5344CB8AC3E}">
        <p14:creationId xmlns:p14="http://schemas.microsoft.com/office/powerpoint/2010/main" val="3232059481"/>
      </p:ext>
    </p:extLst>
  </p:cSld>
  <p:clrMapOvr>
    <a:masterClrMapping/>
  </p:clrMapOvr>
  <p:transition>
    <p:fade/>
  </p:transition>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(8/12)</a:t>
            </a:r>
          </a:p>
        </p:txBody>
      </p:sp>
      <p:graphicFrame>
        <p:nvGraphicFramePr>
          <p:cNvPr id="28" name="Table 27"/>
          <p:cNvGraphicFramePr>
            <a:graphicFrameLocks noGrp="1"/>
          </p:cNvGraphicFramePr>
          <p:nvPr/>
        </p:nvGraphicFramePr>
        <p:xfrm>
          <a:off x="503999" y="720000"/>
          <a:ext cx="11232000" cy="4888555"/>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Adossement : gouvernance à mettre en place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pratiques des documents de référence cités. Situation du FPPN constatée en entretien le 19/10/2026 et sur les documents reçus jusqu'au 22/10/2026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Conclusion : adossement actif-passif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bilans au 31/12/2025 et au 31/08/2026 (provisoire). Comportements de sortie observés de 2021 à 2025</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10, 11, 12 et résultat des balances « BALANCE FORMAT EXCEL DE 09-2020 AU 31-12-2020.xlsx » à « BALANCE FPPN DU 01-01-2026 AU 31-08-2026.xlsx », au 31/12 de 2020 à 2025 et au 31/08/2026. Sans retraitement des provisions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Placements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52210200 et 52210201 (DAT BOA) et 53300001 (FCP) des balances 2021 à 2026. Décision de placement selon l'entretien du 19/10/2026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Clinique, projet de Cocody et désignation du directeur général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documents reçus le 22/10/2026 (scans lus par reconnaissance de caractères). Montants des comptes 222, 47111101, 47111104, 47111105 et 47111100 au 31/08/2026 (provisoire)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Rendement des placements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produits financiers (classe 77) et placements moyens (comptes 52 et 53) des balances 2021 à 2025. Taux directeurs de la BCEAO de 2020 à 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Conclusion : adéquation des placements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placements et produits financiers de 2021 à 2025. Actifs et épargne au 31/08/2026 (provisoire). Intérêts dus aux taux du manuel d'épargne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Textes applicables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textes de la mutualité sociale UEMOA et ivoirienne fournis le 18/10/2026. Versions en vigueur au 22/10/2026</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Risques courts et risques longs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garanties du FPPN qualifiées selon le règlement d'exécution n° 004/2022 (art. 1, 3, 12 à 15), sur les fichiers de précomptes et les balances « BALANCE FORMAT EXCEL DE 09-2020 AU 31-12-2020.xlsx » à « BALANCE FPPN DU 01-01-2026 AU 31-08-2026.xlsx »</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Deux lectures : comme le FPPN, puis retraitée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reclassements de comptes selon le PCMS (fiches 1 et 25) appliqués aux balances « BALANCE FORMAT EXCEL DE 09-2020 AU 31-12-2020.xlsx » à « BALANCE FPPN DU 01-01-2026 AU 31-08-2026.xlsx »</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Tableau de bord (1/4) : solvabilité et réserves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ratios de la Décision n° 05/2022 recalculés sur les balances « BALANCE FORMAT EXCEL DE 09-2020 AU 31-12-2020.xlsx » à « BALANCE FPPN DU 01-01-2026 AU 31-08-2026.xlsx », 2020 au 31/08/2026. Statut opposable de 2022 à 2025, indicatif en 2020, 2021 et 2026</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Tableau de bord (2/4) : risques longs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ratios de la Décision n° 05/2022 recalculés sur les balances « BALANCE FORMAT EXCEL DE 09-2020 AU 31-12-2020.xlsx » à « BALANCE FPPN DU 01-01-2026 AU 31-08-2026.xlsx », 2020 au 31/08/2026. Épargne traitée comme risque long. Statut opposable de 2022 à 2025</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Tableau de bord (3/4) : gestion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ratios de la Décision n° 05/2022 recalculés sur les balances « BALANCE FORMAT EXCEL DE 09-2020 AU 31-12-2020.xlsx » à « BALANCE FPPN DU 01-01-2026 AU 31-08-2026.xlsx » et des fichiers de précomptes (mois reçus). Statut opposable de 2022 à 2025</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Tableau de bord (4/4) : données en attente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indicateurs de la Décision n° 05/2022 non calculables avec les documents reçus au 22/10/2026. Numéros de la PBC</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FCP : fonds commun de placement | DAT : dépôt à terme | PBC : liste des documents demandés au client</a:t>
            </a:r>
          </a:p>
        </p:txBody>
      </p:sp>
    </p:spTree>
    <p:extLst>
      <p:ext uri="{BB962C8B-B14F-4D97-AF65-F5344CB8AC3E}">
        <p14:creationId xmlns:p14="http://schemas.microsoft.com/office/powerpoint/2010/main" val="979556786"/>
      </p:ext>
    </p:extLst>
  </p:cSld>
  <p:clrMapOvr>
    <a:masterClrMapping/>
  </p:clrMapOvr>
  <p:transition>
    <p:fade/>
  </p:transition>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(9/12)</a:t>
            </a:r>
          </a:p>
        </p:txBody>
      </p:sp>
      <p:graphicFrame>
        <p:nvGraphicFramePr>
          <p:cNvPr id="28" name="Table 27"/>
          <p:cNvGraphicFramePr>
            <a:graphicFrameLocks noGrp="1"/>
          </p:cNvGraphicFramePr>
          <p:nvPr/>
        </p:nvGraphicFramePr>
        <p:xfrm>
          <a:off x="503999" y="720000"/>
          <a:ext cx="11232000" cy="4645172"/>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Liquidité et équilibre : deux lectures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ratios de la Décision n° 05/2022 recalculés sur les balances « BALANCE FORMAT EXCEL DE 09-2020 AU 31-12-2020.xlsx » à « BALANCE FPPN DU 01-01-2026 AU 31-08-2026.xlsx », lecture comme le FPPN et lecture retraitée, 2020 au 31/08/2026</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par risque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de prestations, de frais (61 à 66 hors 6518) et de cotisations (7010, 7021) des balances « BALANCE FORMAT EXCEL DE 09-2020 AU 31-12-2020.xlsx » à « BALANCE FPPN DU 01-01-2026 AU 31-08-2026.xlsx », 2020 à 2025. Frais répartis au prorata des cotisations (choix Adenka)</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Affectation des excédents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résultats et réserves (comptes 10 à 13) des balances « BALANCE FORMAT EXCEL DE 09-2020 AU 31-12-2020.xlsx » à « BALANCE FPPN DU 01-01-2026 AU 31-08-2026.xlsx », affectations de 2021 à 2025</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Marge de solvabilité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marge de la Décision n° 05/2022 (annexe, § 1.1.1) sur les balances « BALANCE FORMAT EXCEL DE 09-2020 AU 31-12-2020.xlsx » à « BALANCE FPPN DU 01-01-2026 AU 31-08-2026.xlsx », 2020 au 31/08/2026. Pertes reportées déduites ou non selon la lecture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 du plan comptable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des balances « BALANCE FORMAT EXCEL DE 09-2020 AU 31-12-2020.xlsx » à « BALANCE FPPN DU 01-01-2026 AU 31-08-2026.xlsx » comparés à la liste des comptes du PCMS (mai 2012, fiches 1, 2, 6 et 25)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Exigences non chiffrées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exigences des textes cités confrontées aux documents reçus jusqu'au 22/10/2026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Exposition aux sanctions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sanctions de l'arrêté n° 00115/MEPS/CAB du 12/12/2023 et du règlement n° 07/2009 rapprochées des constats du rapport. Ne vaut pas avis juridique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Analyses de sensibilité : méthode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appliquée dans les classeur des calculs, onglets 13a à 13i. Références ISAP 1, IAS 19, IFRS 17 et IFRS 7</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Ratios non conformes de 2020 au 31/08/2026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ratios de la Décision n° 05/2022 recalculés sur les balances « BALANCE FORMAT EXCEL DE 09-2020 AU 31-12-2020.xlsx » à « BALANCE FPPN DU 01-01-2026 AU 31-08-2026.xlsx », 2020 au 31/08/2026, recalculés par formules dans les classeur des calculs, onglets 13a à 13i</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Cinq facteurs récurrents expliquent les écarts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en cause des balances « BALANCE FORMAT EXCEL DE 09-2020 AU 31-12-2020.xlsx » à « BALANCE FPPN DU 01-01-2026 AU 31-08-2026.xlsx », 2020 au 31/08/2026. Classeur des calculs, onglets 13a à 13i</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à combler par ratio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écarts aux normes de la Décision n° 05/2022 calculés dans les classeur des calculs, onglets 13a à 13i, 2020 au 31/08/2026</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Effet de chaque levier sur chaque ratio</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choc de 100 000 000 FCFA appliqué à l'exercice 2025 dans les classeur des calculs, onglets 13a à 13i. Effets de premier ordre seulement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Montants d'équilibre de chaque levier en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exercice 2025, classeur des calculs, onglets 13a à 13i. Un levier à la fois, sans interaction</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Cotisations : deux ratios demandent des mouvements opposés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exercice 2025, cotisations des comptes 7010 et 7021 de « BALANCE FPPN 2025.xlsx ». Classeur des calculs, onglets 13a à 13i</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PCMS : plan comptable des mutuelles sociales | S/C : prestations / cotisations | MEPS : ministère de l'Emploi et de la Protection sociale | ISAP : norme internationale de pratique actuarielle de l'Association Actuarielle Internationale | IAS, IFRS : normes comptables internationales</a:t>
            </a:r>
          </a:p>
        </p:txBody>
      </p:sp>
    </p:spTree>
    <p:extLst>
      <p:ext uri="{BB962C8B-B14F-4D97-AF65-F5344CB8AC3E}">
        <p14:creationId xmlns:p14="http://schemas.microsoft.com/office/powerpoint/2010/main" val="3752323524"/>
      </p:ext>
    </p:extLst>
  </p:cSld>
  <p:clrMapOvr>
    <a:masterClrMapping/>
  </p:clrMapOvr>
  <p:transition>
    <p:fade/>
  </p:transition>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(10/12)</a:t>
            </a:r>
          </a:p>
        </p:txBody>
      </p:sp>
      <p:graphicFrame>
        <p:nvGraphicFramePr>
          <p:cNvPr id="28" name="Table 27"/>
          <p:cNvGraphicFramePr>
            <a:graphicFrameLocks noGrp="1"/>
          </p:cNvGraphicFramePr>
          <p:nvPr/>
        </p:nvGraphicFramePr>
        <p:xfrm>
          <a:off x="503999" y="720000"/>
          <a:ext cx="11232000" cy="3914550"/>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Liquidité : la vente des placements longs ne suffirait pas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bilan au 31/12/2025 de « BALANCE FPPN 2025.xlsx ». Plafonds de réallocation des classeur des calculs, onglets 13a à 13i</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et fonds propres : la règle des statuts aurait suffi pour la réserve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dotation statutaire (statuts, art. 81 et 90) appliquée aux excédents de 2020 à 2025 des balances « BALANCE FORMAT EXCEL DE 09-2020 AU 31-12-2020.xlsx » à « BALANCE FPPN DU 01-01-2026 AU 31-08-2026.xlsx »</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normes de flux ne peuvent pas être respectées ensemble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normes du tableau 1 (lignes 2 et 5) et du tableau 2 de la Décision n° 05/2022, exercice 2025</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Inflation médicale : sous-indices de prix de la santé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IHPC santé de l'ANStat (national, extraction du 19/10/2026), 2020 à 2025, pondéré par les prestations maladie 2025 du FPPN</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face à une hausse des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exercice 2025. Hausses de prestations hypothétiques appliquées aux prestations de « BALANCE FPPN 2025.xlsx »</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Rendement des placements et taux du marché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rendement du FPPN de 2021 à 2025 (classe 77 et comptes 52 et 53). Taux de la BCEAO et obligations ivoiriennes à 5 et 10 ans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Choix des tables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tables « CIMA_H.xlsx », « CIMA_F.xlsx », « TD_CIMA.xlsx », « TV_CIMA.xlsx » fournies le 18/10/2026. Non comparées à la mortalité des policiers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Courbes de survie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colonne Lx des tables CIMA H, CIMA F, TD et TV, âges 0 à 110 ans. Population générale de la zone CIMA, non le FPPN</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Probabilités de décès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colonne qx des tables CIMA H, CIMA F, TD et TV, âges 20 à 80 ans. Population générale de la zone CIMA, non le FPPN</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Indicateurs de référence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tables CIMA H, CIMA F, TD et TV, taux technique de 3,5 %. Valeurs de référence, non engagements du FPPN</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Projection : avertissement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reçus jusqu'au 22/10/2026 : précomptes de la Solde (postes 936, 8Z6, 998, 870), fichier des effectifs du FPPN, fichiers retour de la CGRAE (dates de naissance de février à avril 2024 seulement)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Projection agrégée : deux scénarios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cotisations, prestations et frais de gestion des comptes 2023 à 2025, garanties maladie et décès prises ensemble. Hors épargne, Grenier et produits financiers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Projection agrégée : évolution du résultat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mêmes données et hypothèses que la diapositive précédente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Environnement de travail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scripts du dossier de la mission tels qu'utilisés pour ce rapport</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CGRAE : Caisse générale de retraite des agents de l'État | BCEAO : Banque centrale des États de l'Afrique de l'Ouest | qx : probabilité de décès entre x et x + 1 ans | Lx : survivants à l'âge x | 936 : poste maladie | 8Z6 : poste décès | ANStat : Agence nationale de la statistique de Côte d'Ivoire | IHPC : indice harmonisé des prix à la consommation</a:t>
            </a:r>
          </a:p>
        </p:txBody>
      </p:sp>
    </p:spTree>
    <p:extLst>
      <p:ext uri="{BB962C8B-B14F-4D97-AF65-F5344CB8AC3E}">
        <p14:creationId xmlns:p14="http://schemas.microsoft.com/office/powerpoint/2010/main" val="1472760174"/>
      </p:ext>
    </p:extLst>
  </p:cSld>
  <p:clrMapOvr>
    <a:masterClrMapping/>
  </p:clrMapOvr>
  <p:transition>
    <p:fade/>
  </p:transition>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(11/12)</a:t>
            </a:r>
          </a:p>
        </p:txBody>
      </p:sp>
      <p:graphicFrame>
        <p:nvGraphicFramePr>
          <p:cNvPr id="28" name="Table 27"/>
          <p:cNvGraphicFramePr>
            <a:graphicFrameLocks noGrp="1"/>
          </p:cNvGraphicFramePr>
          <p:nvPr/>
        </p:nvGraphicFramePr>
        <p:xfrm>
          <a:off x="503999" y="720000"/>
          <a:ext cx="11232000" cy="2942910"/>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Partie 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Étapes du traitement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traitements des fichiers reçus jusqu'au 22/10/2026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Analyses en attente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documents demandés non reçus au 22/10/2026 (PBC pointée)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Points à clarifier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questions ouvertes au 22/10/2026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Points issus de l'entretien cotisations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déclarations du responsable des cotisations le 19/10/2026, non confirmées par document sauf mention</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 documents attendus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documents de provisions demandés et non reçus au 22/10/2026 (PBC pointée)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Points issus des entretiens du chef comptable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déclarations du chef comptable le 19/10/2026 (14h et 16h), non confirmées par document sauf mention</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Points issus des documents du 22/10/2026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documents reçus le 22/10/2026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Méthodes non retenues : vue d'ensemble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données reçues jusqu'au 22/10/2026</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Méthode non retenue : Chain Ladder et méthode CIMA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factures de cliniques du journal SIN 2023 à 2025. Délais calculés sur le compte 40110000 de 2020 au 31/08/2026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non retenue : mortalité observée par âge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 de membres recensés par le FPPN de 2021 à 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Méthode non retenue : provision santé des retraités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retraités précomptés par la CGRAE de févr. 24 à août 26. Dates de naissance des fichiers retour de février à avril 2024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non retenue : duration et immunisation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bilans au 31/12/2025 et au 31/08/2026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Méthode non retenue : modèle stochastique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données reçues jusqu'au 22/10/2026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non retenue : valeur en risque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bilan au 31/08/2026</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 | PBC : liste des documents demandés au client</a:t>
            </a:r>
          </a:p>
        </p:txBody>
      </p:sp>
    </p:spTree>
    <p:extLst>
      <p:ext uri="{BB962C8B-B14F-4D97-AF65-F5344CB8AC3E}">
        <p14:creationId xmlns:p14="http://schemas.microsoft.com/office/powerpoint/2010/main" val="3086955577"/>
      </p:ext>
    </p:extLst>
  </p:cSld>
  <p:clrMapOvr>
    <a:masterClrMapping/>
  </p:clrMapOvr>
  <p:transition>
    <p:fade/>
  </p:transition>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(12/12)</a:t>
            </a:r>
          </a:p>
        </p:txBody>
      </p:sp>
      <p:graphicFrame>
        <p:nvGraphicFramePr>
          <p:cNvPr id="28" name="Table 27"/>
          <p:cNvGraphicFramePr>
            <a:graphicFrameLocks noGrp="1"/>
          </p:cNvGraphicFramePr>
          <p:nvPr/>
        </p:nvGraphicFramePr>
        <p:xfrm>
          <a:off x="503999" y="720000"/>
          <a:ext cx="11232000" cy="900000"/>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Méthode non retenue : capital de solvabilité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ratios de 2020 au 31/08/2026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sources (1/3)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reçus jusqu'au 22/10/2026 et retenus après les contrôles de la partie 3</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sources (2/3)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reçus jusqu'au 22/10/2026 et retenus après les contrôles de la partie 3</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sources (3/3)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reçus jusqu'au 22/10/2026 et retenus après les contrôles de la partie 3</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Tree>
    <p:extLst>
      <p:ext uri="{BB962C8B-B14F-4D97-AF65-F5344CB8AC3E}">
        <p14:creationId xmlns:p14="http://schemas.microsoft.com/office/powerpoint/2010/main" val="2522838672"/>
      </p:ext>
    </p:extLst>
  </p:cSld>
  <p:clrMapOvr>
    <a:masterClrMapping/>
  </p:clrMapOvr>
  <p:transition>
    <p:fade/>
  </p:transition>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Signes et abréviations</a:t>
            </a:r>
          </a:p>
        </p:txBody>
      </p:sp>
      <p:graphicFrame>
        <p:nvGraphicFramePr>
          <p:cNvPr id="28" name="Table 27"/>
          <p:cNvGraphicFramePr>
            <a:graphicFrameLocks noGrp="1"/>
          </p:cNvGraphicFramePr>
          <p:nvPr/>
        </p:nvGraphicFramePr>
        <p:xfrm>
          <a:off x="503999" y="720000"/>
          <a:ext cx="11232000" cy="6300000"/>
        </p:xfrm>
        <a:graphic>
          <a:graphicData uri="http://schemas.openxmlformats.org/drawingml/2006/table">
            <a:tbl>
              <a:tblPr firstRow="0" bandRow="0">
                <a:tableStyleId>{5940675A-B579-460E-94D1-54222C63F5DA}</a:tableStyleId>
              </a:tblPr>
              <a:tblGrid>
                <a:gridCol w="936000"/>
                <a:gridCol w="4680000"/>
                <a:gridCol w="936000"/>
                <a:gridCol w="4680000"/>
              </a:tblGrid>
              <a:tr h="180000">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GNA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assureur de la flotte automobile (compte 47111106)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décès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HAO</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hors activités ordinaires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IAS, IFRS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normes comptables internationales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maladie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IBNR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sinistres survenus non encore déclarés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998</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intervalle de confiance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flotte automobile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IHPC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indice harmonisé des prix à la consommation</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IPS-CGRAE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Institution de prévoyance sociale - Caisse générale de retraite des agents de l'État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décès observés / décès attendus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impôt sur les salaires (part patronale)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assemblée générale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ISAP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norme internationale de pratique actuarielle de l'Association Actuarielle Internationale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AIRMS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Agence ivoirienne de régulation de la mutualité sociale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Lx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survivants à l'âge x</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AMF-UMOA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Autorité des marchés financiers de l'UMOA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produit santé complémentaire du poste 8Z7</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ANStat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Agence nationale de la statistique de Côte d'Ivoire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MEPS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ministère de l'Emploi et de la Protection sociale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BCEAO</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Banque centrale des États de l'Afrique de l'Ouest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OCR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reconnaissance optique de caractères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CAC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commissaire aux comptes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PAR30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part de l'encours en retard de plus de 30 jours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générale de retraite des agents de l'État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PBC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liste des documents demandés au client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CIMA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Conférence interafricaine des marchés d'assurances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PCMS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plan comptable des mutuelles sociales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CMP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Centre Médical du Policier (rapport de gestion 2023)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Plan Épargne Plus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CMU</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couverture maladie universelle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PIDR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provision pour indemnités de départ à la retraite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CNPS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nationale de prévoyance sociale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PSAP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provision pour sinistres à payer</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CPM</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Comité de politique monétaire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qx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probabilité de décès entre x et x + 1 ans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CSV</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fichier texte de tableau</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R²</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coefficient de détermination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DAF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directeur administratif et financier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prestations / cotisations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dépôt à terme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sinistres sur primes (cotisations)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DEPA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Direction de l'École de Police d'Abidjan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SCI</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société civile immobilière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Direction Générale du FPPN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SFD</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systèmes financiers décentralisés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DISA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déclaration individuelle des salaires annuels à la CNPS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SGI</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société de gestion et d'intermédiation</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e_x</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espérance de vie à l'âge x</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SMIG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salaire minimum interprofessionnel garanti</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entraide fin de carrière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SYSCOHADA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système comptable de l'OHADA</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FANAF</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Fédération des sociétés d'assurances de droit national africaines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TAFIRE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tableau financier des ressources et des emplois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FCP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commun de placement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TCAM</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taux de croissance annuel moyen</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FDFP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de développement de la formation professionnelle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TD, TV</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anciennes tables CIMA de décès et de survie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FNG</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UEMOA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Union économique et monétaire ouest-africaine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de garantie des mutuelles sociales de Côte d'Ivoire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Union monétaire ouest-africaine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FPPN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de prévoyance de la Police nationale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ä_x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valeur d'une rente viagère de 1 par an à l'âge x</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3212645327"/>
      </p:ext>
    </p:extLst>
  </p:cSld>
  <p:clrMapOvr>
    <a:masterClrMapping/>
  </p:clrMapOvr>
  <p:transition>
    <p:fade/>
  </p:transition>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Références et sources</a:t>
            </a:r>
          </a:p>
        </p:txBody>
      </p:sp>
      <p:graphicFrame>
        <p:nvGraphicFramePr>
          <p:cNvPr id="28" name="Table 27"/>
          <p:cNvGraphicFramePr>
            <a:graphicFrameLocks noGrp="1"/>
          </p:cNvGraphicFramePr>
          <p:nvPr/>
        </p:nvGraphicFramePr>
        <p:xfrm>
          <a:off x="503999" y="720000"/>
          <a:ext cx="11231998" cy="5954512"/>
        </p:xfrm>
        <a:graphic>
          <a:graphicData uri="http://schemas.openxmlformats.org/drawingml/2006/table">
            <a:tbl>
              <a:tblPr firstRow="0" bandRow="0">
                <a:tableStyleId>{5940675A-B579-460E-94D1-54222C63F5DA}</a:tableStyleId>
              </a:tblPr>
              <a:tblGrid>
                <a:gridCol w="3671999"/>
                <a:gridCol w="3528000"/>
                <a:gridCol w="4031999"/>
              </a:tblGrid>
              <a:tr h="180000">
                <a:tc>
                  <a:txBody>
                    <a:bodyPr/>
                    <a:lstStyle/>
                    <a:p>
                      <a:pPr marL="0" indent="0" lvl="0">
                        <a:buNone/>
                      </a:pPr>
                      <a:r>
                        <a:rPr sz="75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Contenu utilisé</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Lien ou emplacement</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Envoi du FPPN du 15/10/2026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Précomptes, balances, exports du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Dossier 04-Documents reçus du client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Grands livres 2021, 2022, 2024, 2025 (PDF)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Détail des écritures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Envoi complémentaire du 18/10/2026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Entretien du 19/10/2026 avec le responsable des cotisations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Circuit des précomptes, règles des produits, nouvelles recrues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FPPN_CR_entretien_cotisations_20261019.pptx</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Entretien du 19/10/2026 (14h) avec le chef comptable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Placements, autres actifs, ressources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FPPN_CR_entretien_placements_20261019.pptx</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Entretien du 19/10/2026 (16h) avec le chef comptable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Provisions, allocations décès, retraite du personnel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FPPN_CR_entretien_provisions_20261019.pptx</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Règlement n° 07/2009/CM/UEMOA du 26/06/2009</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Cadre de la mutualité sociale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Règlement d'exécution n° 004/2022/COM/UEMOA du 01/06/2022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Règles prudentielles, garantie, contrôle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Décision n° 05/2022/COM/UEMOA du 01/06/2022</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Indicateurs et ratios prudentiels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Règlement n° 03/2012/CM/UEMOA et PCMS (mai 2012)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Plan comptable des mutuelles sociales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Arrêté n° 00115/MEPS/CAB du 12/12/2023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Sanctions administratives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Arrêtés n° 092 et 093/MEPS/CAB du 06/09/2023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Agrément, immatriculation, frais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Répertoire AIRMS des mutuelles agréées (15/10/2026)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Agrément et immatriculation du FPPN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Ordonnance n° 2024-1043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civlii.laws.africa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Tables et taux technique de 3,5 %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cima-afrique.org</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Tables CIMA H, CIMA F, TD, TV. Table ronde CIMA FANAF (2011)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Mortalité de référence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Fichiers fournis le 18/10/2026. Fanaf.org</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BCEAO, communiqués du CPM 2020 à 2025</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Taux directeurs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Banque mondiale, FP.CPI.TOTL.ZG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Inflation 2020 à 2025</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donnees.banquemondiale.org</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Code CIMA, art. 334-8. Circulaire n° 00230/CIMA/CRCA/PDT/2005</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Provisions techniques. Méthode de la cadence des déclarations tardives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Textes fournis le 19/10/2026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BCEAO, instruction sur les créances en souffrance des SFD</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Barème de dépréciation des prêts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bceao.int, réglementation des SFD (texte à joindre)</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Décret n° 2017-210 du 30/03/2017. Convention collective interprofessionnelle du 19/07/1977, art. 40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Indemnité de départ à la retraite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Textes fournis le 19/10/2026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Statuts et règlement intérieur du FPPN (15/06/2023)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Barème, provisions, réserves, produits, personnel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Textes fournis le 19/10/2026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BCEAO, Rapport sur la Politique Monétaire dans l'UMOA, mars 2026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Inflation de la santé (tableau 12), taux des titres publics (17) et des dépôts à terme (22)</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ANStat, IHPC par poste de consommation (national)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Inflation médicale de la Côte d'Ivoire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Extraction du 19/10/2026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Investing.com, rendements des obligations de l'État de Côte d'Ivoire à 5 et 10 ans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Référence de marché du rendement des placements (source secondaire)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Exports du 19/10/2026, cotations de mars 2021 à octobre 2026</a:t>
                      </a:r>
                    </a:p>
                  </a:txBody>
                  <a:tcPr marL="43200" marR="43200" marT="14400" marB="14400" anchor="ctr">
                    <a:solidFill>
                      <a:srgbClr val="F2F2F2"/>
                    </a:solidFill>
                  </a:tcPr>
                </a:tc>
              </a:tr>
              <a:tr h="514828">
                <a:tc>
                  <a:txBody>
                    <a:bodyPr/>
                    <a:lstStyle/>
                    <a:p>
                      <a:pPr marL="0" indent="0" lvl="0">
                        <a:buNone/>
                      </a:pPr>
                      <a:r>
                        <a:rPr sz="750" b="1">
                          <a:solidFill>
                            <a:srgbClr val="060606"/>
                          </a:solidFill>
                          <a:latin typeface="Helvetica"/>
                        </a:rPr>
                        <a:t>Documents reçus le 22/10/2026 (124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États financiers, rapports de gestion, cahiers des charges, manuel d'épargne, étude des ratios, DISA, grands livres, rapprochements bancaires, conventions, états des allocations décès, arrêté du CMP, dérogation de Cocody, désignation du directeur général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Noms exacts en annexe « Fichiers sources »</a:t>
                      </a:r>
                    </a:p>
                  </a:txBody>
                  <a:tcPr marL="43200" marR="43200" marT="14400" marB="14400" anchor="ctr">
                    <a:solidFill>
                      <a:srgbClr val="FFFFFF"/>
                    </a:solidFill>
                  </a:tcPr>
                </a:tc>
              </a:tr>
              <a:tr h="514828">
                <a:tc>
                  <a:txBody>
                    <a:bodyPr/>
                    <a:lstStyle/>
                    <a:p>
                      <a:pPr marL="0" indent="0" lvl="0">
                        <a:buNone/>
                      </a:pPr>
                      <a:r>
                        <a:rPr sz="750" b="1">
                          <a:solidFill>
                            <a:srgbClr val="060606"/>
                          </a:solidFill>
                          <a:latin typeface="Helvetica"/>
                        </a:rPr>
                        <a:t>Classeur des calculs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Tous les calculs du rapport, expliqués onglet par onglet : tableaux, ratios, provisions, formules, sensibilités, provision du personnel, mortalité, EFC, contrôles croisés, revue actuarielle (onglets 18 à 25), traçabilité et validité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FPPN_Calculs_rapport_20261022.xlsx</a:t>
                      </a:r>
                    </a:p>
                  </a:txBody>
                  <a:tcPr marL="43200" marR="43200" marT="14400" marB="14400" anchor="ctr">
                    <a:solidFill>
                      <a:srgbClr val="F2F2F2"/>
                    </a:solidFill>
                  </a:tcPr>
                </a:tc>
              </a:tr>
            </a:tbl>
          </a:graphicData>
        </a:graphic>
      </p:graphicFrame>
      <p:sp>
        <p:nvSpPr>
          <p:cNvPr id="29" name="TextBox 28"/>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 | BCEAO : Banque centrale des États de l'Afrique de l'Ouest | EFC : entraide fin de carrière | CMP : Centre Médical du Policier (rapport de gestion 2023) | S/C : prestations / cotisations | SFD : systèmes financiers décentralisés | FOMUS-CI : fonds de garantie des mutuelles sociales de Côte d'Ivoire | MEPS : ministère de l'Emploi et de la Protection sociale | FANAF : Fédération des sociétés d'assurances de droit national africaines | CPM : Comité de politique monétaire | ANStat : Agence nationale de la statistique de Côte d'Ivoire | IHPC : indice harmonisé des prix à la consommation | UMOA : Union monétaire ouest-africaine | DISA : déclaration individuelle des salaires annuels à la CNPS</a:t>
            </a:r>
          </a:p>
        </p:txBody>
      </p:sp>
    </p:spTree>
    <p:extLst>
      <p:ext uri="{BB962C8B-B14F-4D97-AF65-F5344CB8AC3E}">
        <p14:creationId xmlns:p14="http://schemas.microsoft.com/office/powerpoint/2010/main" val="3762216052"/>
      </p:ext>
    </p:extLst>
  </p:cSld>
  <p:clrMapOvr>
    <a:masterClrMapping/>
  </p:clrMapOvr>
  <p:transition>
    <p:fade/>
  </p:transition>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269</Slides>
  <Notes>2</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