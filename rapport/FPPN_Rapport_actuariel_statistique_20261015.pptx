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17"/>
  </p:notesMasterIdLst>
  <p:sldIdLst>
    <p:sldId id="256" r:id="rId3"/>
    <p:sldId id="313" r:id="rId7"/>
    <p:sldId id="404" r:id="rId124"/>
    <p:sldId id="405" r:id="rId125"/>
    <p:sldId id="260" r:id="rId4"/>
    <p:sldId id="406" r:id="rId126"/>
    <p:sldId id="407" r:id="rId127"/>
    <p:sldId id="408" r:id="rId128"/>
    <p:sldId id="409" r:id="rId129"/>
    <p:sldId id="410" r:id="rId130"/>
    <p:sldId id="411" r:id="rId131"/>
    <p:sldId id="412" r:id="rId132"/>
    <p:sldId id="413" r:id="rId133"/>
    <p:sldId id="414" r:id="rId134"/>
    <p:sldId id="415" r:id="rId135"/>
    <p:sldId id="416" r:id="rId136"/>
    <p:sldId id="417" r:id="rId137"/>
    <p:sldId id="418" r:id="rId138"/>
    <p:sldId id="419" r:id="rId139"/>
    <p:sldId id="420" r:id="rId140"/>
    <p:sldId id="421" r:id="rId141"/>
    <p:sldId id="422" r:id="rId142"/>
    <p:sldId id="423" r:id="rId143"/>
    <p:sldId id="424" r:id="rId144"/>
    <p:sldId id="425" r:id="rId145"/>
    <p:sldId id="426" r:id="rId146"/>
    <p:sldId id="427" r:id="rId147"/>
    <p:sldId id="428" r:id="rId148"/>
    <p:sldId id="429" r:id="rId149"/>
    <p:sldId id="430" r:id="rId150"/>
    <p:sldId id="431" r:id="rId151"/>
    <p:sldId id="432" r:id="rId152"/>
    <p:sldId id="433" r:id="rId153"/>
    <p:sldId id="434" r:id="rId154"/>
    <p:sldId id="435" r:id="rId155"/>
    <p:sldId id="436" r:id="rId156"/>
    <p:sldId id="437" r:id="rId157"/>
    <p:sldId id="438" r:id="rId158"/>
    <p:sldId id="439" r:id="rId159"/>
    <p:sldId id="440" r:id="rId160"/>
    <p:sldId id="441" r:id="rId161"/>
    <p:sldId id="442" r:id="rId162"/>
    <p:sldId id="443" r:id="rId163"/>
    <p:sldId id="444" r:id="rId164"/>
    <p:sldId id="445" r:id="rId165"/>
    <p:sldId id="446" r:id="rId166"/>
    <p:sldId id="328" r:id="rId1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9C8FC9B7-AD45-409C-8017-02DEBDF9C938}">
          <p14:sldIdLst>
            <p14:sldId id="256"/>
          </p14:sldIdLst>
        </p14:section>
        <p14:section name="Contenu" id="{41430ABC-712C-4A41-8691-5284113E2CD9}">
          <p14:sldIdLst>
            <p14:sldId id="260"/>
            <p14:sldId id="261"/>
            <p14:sldId id="310"/>
            <p14:sldId id="313"/>
            <p14:sldId id="403"/>
            <p14:sldId id="402"/>
            <p14:sldId id="291"/>
            <p14:sldId id="312"/>
            <p14:sldId id="314"/>
            <p14:sldId id="317"/>
            <p14:sldId id="315"/>
            <p14:sldId id="316"/>
            <p14:sldId id="323"/>
            <p14:sldId id="324"/>
            <p14:sldId id="321"/>
            <p14:sldId id="322"/>
            <p14:sldId id="264"/>
            <p14:sldId id="318"/>
            <p14:sldId id="319"/>
            <p14:sldId id="320"/>
            <p14:sldId id="326"/>
            <p14:sldId id="325"/>
            <p14:sldId id="266"/>
            <p14:sldId id="327"/>
            <p14:sldId id="268"/>
            <p14:sldId id="271"/>
            <p14:sldId id="287"/>
            <p14:sldId id="329"/>
            <p14:sldId id="398"/>
            <p14:sldId id="399"/>
            <p14:sldId id="391"/>
            <p14:sldId id="397"/>
            <p14:sldId id="395"/>
            <p14:sldId id="396"/>
            <p14:sldId id="393"/>
            <p14:sldId id="392"/>
            <p14:sldId id="270"/>
            <p14:sldId id="330"/>
            <p14:sldId id="331"/>
            <p14:sldId id="332"/>
            <p14:sldId id="272"/>
            <p14:sldId id="333"/>
            <p14:sldId id="289"/>
            <p14:sldId id="334"/>
            <p14:sldId id="277"/>
            <p14:sldId id="278"/>
            <p14:sldId id="274"/>
            <p14:sldId id="335"/>
            <p14:sldId id="336"/>
            <p14:sldId id="348"/>
            <p14:sldId id="341"/>
            <p14:sldId id="349"/>
            <p14:sldId id="342"/>
            <p14:sldId id="350"/>
            <p14:sldId id="343"/>
            <p14:sldId id="351"/>
            <p14:sldId id="344"/>
            <p14:sldId id="352"/>
            <p14:sldId id="345"/>
            <p14:sldId id="353"/>
            <p14:sldId id="346"/>
            <p14:sldId id="354"/>
            <p14:sldId id="347"/>
            <p14:sldId id="355"/>
            <p14:sldId id="338"/>
            <p14:sldId id="356"/>
            <p14:sldId id="337"/>
            <p14:sldId id="357"/>
            <p14:sldId id="276"/>
            <p14:sldId id="358"/>
            <p14:sldId id="339"/>
            <p14:sldId id="359"/>
            <p14:sldId id="381"/>
            <p14:sldId id="385"/>
            <p14:sldId id="382"/>
            <p14:sldId id="400"/>
            <p14:sldId id="294"/>
            <p14:sldId id="360"/>
            <p14:sldId id="285"/>
            <p14:sldId id="286"/>
            <p14:sldId id="299"/>
            <p14:sldId id="361"/>
            <p14:sldId id="362"/>
            <p14:sldId id="283"/>
            <p14:sldId id="297"/>
            <p14:sldId id="365"/>
            <p14:sldId id="364"/>
            <p14:sldId id="363"/>
            <p14:sldId id="366"/>
            <p14:sldId id="367"/>
            <p14:sldId id="368"/>
            <p14:sldId id="370"/>
            <p14:sldId id="374"/>
            <p14:sldId id="375"/>
          </p14:sldIdLst>
        </p14:section>
        <p14:section name="Graphs" id="{551B27DB-FB3B-4066-9154-1B46F0A65216}">
          <p14:sldIdLst>
            <p14:sldId id="301"/>
            <p14:sldId id="304"/>
            <p14:sldId id="303"/>
            <p14:sldId id="302"/>
            <p14:sldId id="305"/>
            <p14:sldId id="306"/>
            <p14:sldId id="378"/>
            <p14:sldId id="376"/>
            <p14:sldId id="379"/>
            <p14:sldId id="388"/>
            <p14:sldId id="307"/>
            <p14:sldId id="369"/>
            <p14:sldId id="389"/>
            <p14:sldId id="390"/>
          </p14:sldIdLst>
        </p14:section>
        <p14:section name="Merci" id="{DE1A67E5-D1FE-41AF-88BB-A85595BA690B}">
          <p14:sldIdLst>
            <p14:sldId id="328"/>
          </p14:sldIdLst>
        </p14:section>
        <p14:section name="Symboles" id="{49175908-295D-4406-8512-BB62EA88444D}">
          <p14:sldIdLst>
            <p14:sldId id="371"/>
            <p14:sldId id="373"/>
            <p14:sldId id="40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AC62"/>
    <a:srgbClr val="060606"/>
    <a:srgbClr val="112A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BD68B-DEB5-4C72-B758-AA0E2A02C403}" v="4" dt="2026-09-23T09:25:4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5.xml"/><Relationship Id="rId7" Type="http://schemas.openxmlformats.org/officeDocument/2006/relationships/slide" Target="slides/slide2.xml"/><Relationship Id="rId112" Type="http://schemas.openxmlformats.org/officeDocument/2006/relationships/slide" Target="slides/slide47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Relationship Id="rId122" Type="http://schemas.microsoft.com/office/2016/11/relationships/changesInfo" Target="changesInfos/changesInfo1.xml"/><Relationship Id="rId123" Type="http://schemas.microsoft.com/office/2015/10/relationships/revisionInfo" Target="revisionInfo.xml"/><Relationship Id="rId124" Type="http://schemas.openxmlformats.org/officeDocument/2006/relationships/slide" Target="slides/slide3.xml"/><Relationship Id="rId125" Type="http://schemas.openxmlformats.org/officeDocument/2006/relationships/slide" Target="slides/slide4.xml"/><Relationship Id="rId126" Type="http://schemas.openxmlformats.org/officeDocument/2006/relationships/slide" Target="slides/slide6.xml"/><Relationship Id="rId127" Type="http://schemas.openxmlformats.org/officeDocument/2006/relationships/slide" Target="slides/slide7.xml"/><Relationship Id="rId128" Type="http://schemas.openxmlformats.org/officeDocument/2006/relationships/slide" Target="slides/slide8.xml"/><Relationship Id="rId129" Type="http://schemas.openxmlformats.org/officeDocument/2006/relationships/slide" Target="slides/slide9.xml"/><Relationship Id="rId130" Type="http://schemas.openxmlformats.org/officeDocument/2006/relationships/slide" Target="slides/slide10.xml"/><Relationship Id="rId131" Type="http://schemas.openxmlformats.org/officeDocument/2006/relationships/slide" Target="slides/slide11.xml"/><Relationship Id="rId132" Type="http://schemas.openxmlformats.org/officeDocument/2006/relationships/slide" Target="slides/slide12.xml"/><Relationship Id="rId133" Type="http://schemas.openxmlformats.org/officeDocument/2006/relationships/slide" Target="slides/slide13.xml"/><Relationship Id="rId134" Type="http://schemas.openxmlformats.org/officeDocument/2006/relationships/slide" Target="slides/slide14.xml"/><Relationship Id="rId135" Type="http://schemas.openxmlformats.org/officeDocument/2006/relationships/slide" Target="slides/slide15.xml"/><Relationship Id="rId136" Type="http://schemas.openxmlformats.org/officeDocument/2006/relationships/slide" Target="slides/slide16.xml"/><Relationship Id="rId137" Type="http://schemas.openxmlformats.org/officeDocument/2006/relationships/slide" Target="slides/slide17.xml"/><Relationship Id="rId138" Type="http://schemas.openxmlformats.org/officeDocument/2006/relationships/slide" Target="slides/slide18.xml"/><Relationship Id="rId139" Type="http://schemas.openxmlformats.org/officeDocument/2006/relationships/slide" Target="slides/slide19.xml"/><Relationship Id="rId140" Type="http://schemas.openxmlformats.org/officeDocument/2006/relationships/slide" Target="slides/slide20.xml"/><Relationship Id="rId141" Type="http://schemas.openxmlformats.org/officeDocument/2006/relationships/slide" Target="slides/slide21.xml"/><Relationship Id="rId142" Type="http://schemas.openxmlformats.org/officeDocument/2006/relationships/slide" Target="slides/slide22.xml"/><Relationship Id="rId143" Type="http://schemas.openxmlformats.org/officeDocument/2006/relationships/slide" Target="slides/slide23.xml"/><Relationship Id="rId144" Type="http://schemas.openxmlformats.org/officeDocument/2006/relationships/slide" Target="slides/slide24.xml"/><Relationship Id="rId145" Type="http://schemas.openxmlformats.org/officeDocument/2006/relationships/slide" Target="slides/slide25.xml"/><Relationship Id="rId146" Type="http://schemas.openxmlformats.org/officeDocument/2006/relationships/slide" Target="slides/slide26.xml"/><Relationship Id="rId147" Type="http://schemas.openxmlformats.org/officeDocument/2006/relationships/slide" Target="slides/slide27.xml"/><Relationship Id="rId148" Type="http://schemas.openxmlformats.org/officeDocument/2006/relationships/slide" Target="slides/slide28.xml"/><Relationship Id="rId149" Type="http://schemas.openxmlformats.org/officeDocument/2006/relationships/slide" Target="slides/slide29.xml"/><Relationship Id="rId150" Type="http://schemas.openxmlformats.org/officeDocument/2006/relationships/slide" Target="slides/slide30.xml"/><Relationship Id="rId151" Type="http://schemas.openxmlformats.org/officeDocument/2006/relationships/slide" Target="slides/slide31.xml"/><Relationship Id="rId152" Type="http://schemas.openxmlformats.org/officeDocument/2006/relationships/slide" Target="slides/slide32.xml"/><Relationship Id="rId153" Type="http://schemas.openxmlformats.org/officeDocument/2006/relationships/slide" Target="slides/slide33.xml"/><Relationship Id="rId154" Type="http://schemas.openxmlformats.org/officeDocument/2006/relationships/slide" Target="slides/slide34.xml"/><Relationship Id="rId155" Type="http://schemas.openxmlformats.org/officeDocument/2006/relationships/slide" Target="slides/slide35.xml"/><Relationship Id="rId156" Type="http://schemas.openxmlformats.org/officeDocument/2006/relationships/slide" Target="slides/slide36.xml"/><Relationship Id="rId157" Type="http://schemas.openxmlformats.org/officeDocument/2006/relationships/slide" Target="slides/slide37.xml"/><Relationship Id="rId158" Type="http://schemas.openxmlformats.org/officeDocument/2006/relationships/slide" Target="slides/slide38.xml"/><Relationship Id="rId159" Type="http://schemas.openxmlformats.org/officeDocument/2006/relationships/slide" Target="slides/slide39.xml"/><Relationship Id="rId160" Type="http://schemas.openxmlformats.org/officeDocument/2006/relationships/slide" Target="slides/slide40.xml"/><Relationship Id="rId161" Type="http://schemas.openxmlformats.org/officeDocument/2006/relationships/slide" Target="slides/slide41.xml"/><Relationship Id="rId162" Type="http://schemas.openxmlformats.org/officeDocument/2006/relationships/slide" Target="slides/slide42.xml"/><Relationship Id="rId163" Type="http://schemas.openxmlformats.org/officeDocument/2006/relationships/slide" Target="slides/slide43.xml"/><Relationship Id="rId164" Type="http://schemas.openxmlformats.org/officeDocument/2006/relationships/slide" Target="slides/slide44.xml"/><Relationship Id="rId165" Type="http://schemas.openxmlformats.org/officeDocument/2006/relationships/slide" Target="slides/slide45.xml"/><Relationship Id="rId166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Noel Sialou" userId="08acc5d2-3819-4be4-97e6-d593a92e8e16" providerId="ADAL" clId="{DC5A2AD4-2AC1-4F5C-A6BF-541681F7EFA2}"/>
    <pc:docChg chg="undo custSel modSld">
      <pc:chgData name="Jean-Noel Sialou" userId="08acc5d2-3819-4be4-97e6-d593a92e8e16" providerId="ADAL" clId="{DC5A2AD4-2AC1-4F5C-A6BF-541681F7EFA2}" dt="2026-09-07T10:18:25.187" v="38" actId="571"/>
      <pc:docMkLst>
        <pc:docMk/>
      </pc:docMkLst>
      <pc:sldChg chg="addSp delSp modSp mod">
        <pc:chgData name="Jean-Noel Sialou" userId="08acc5d2-3819-4be4-97e6-d593a92e8e16" providerId="ADAL" clId="{DC5A2AD4-2AC1-4F5C-A6BF-541681F7EFA2}" dt="2026-09-07T10:18:25.187" v="38" actId="571"/>
        <pc:sldMkLst>
          <pc:docMk/>
          <pc:sldMk cId="2102837376" sldId="358"/>
        </pc:sldMkLst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8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9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1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4" creationId="{00000000-0000-0000-0000-000000000000}"/>
          </ac:spMkLst>
        </pc:s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3" creationId="{C9290073-F4B9-4E89-EC47-0D4815D405F9}"/>
          </ac:grpSpMkLst>
        </pc:gr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7" creationId="{D520CB44-6CB8-26BA-C481-1E6C90DCE023}"/>
          </ac:grpSpMkLst>
        </pc:grpChg>
        <pc:picChg chg="add 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5" creationId="{A59C829E-ED12-0019-96D2-4C72AF995693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31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47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0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4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65" creationId="{00000000-0000-0000-0000-000000000000}"/>
          </ac:picMkLst>
        </pc:picChg>
      </pc:sldChg>
    </pc:docChg>
  </pc:docChgLst>
  <pc:docChgLst>
    <pc:chgData name="Jean-Noel Sialou" userId="08acc5d2-3819-4be4-97e6-d593a92e8e16" providerId="ADAL" clId="{3E2E487B-B21A-43C3-A4E4-C31B8823D31F}"/>
    <pc:docChg chg="modSld">
      <pc:chgData name="Jean-Noel Sialou" userId="08acc5d2-3819-4be4-97e6-d593a92e8e16" providerId="ADAL" clId="{3E2E487B-B21A-43C3-A4E4-C31B8823D31F}" dt="2026-09-23T09:25:47.775" v="6" actId="164"/>
      <pc:docMkLst>
        <pc:docMk/>
      </pc:docMkLst>
      <pc:sldChg chg="modSp mod modAnim">
        <pc:chgData name="Jean-Noel Sialou" userId="08acc5d2-3819-4be4-97e6-d593a92e8e16" providerId="ADAL" clId="{3E2E487B-B21A-43C3-A4E4-C31B8823D31F}" dt="2026-09-15T10:14:35.637" v="5" actId="208"/>
        <pc:sldMkLst>
          <pc:docMk/>
          <pc:sldMk cId="2102837376" sldId="358"/>
        </pc:sldMkLst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1" creationId="{00000000-0000-0000-0000-000000000000}"/>
          </ac:spMkLst>
        </pc:spChg>
        <pc:grpChg chg="mod">
          <ac:chgData name="Jean-Noel Sialou" userId="08acc5d2-3819-4be4-97e6-d593a92e8e16" providerId="ADAL" clId="{3E2E487B-B21A-43C3-A4E4-C31B8823D31F}" dt="2026-09-15T10:14:06.017" v="1" actId="1076"/>
          <ac:grpSpMkLst>
            <pc:docMk/>
            <pc:sldMk cId="2102837376" sldId="358"/>
            <ac:grpSpMk id="7" creationId="{D520CB44-6CB8-26BA-C481-1E6C90DCE023}"/>
          </ac:grpSpMkLst>
        </pc:grpChg>
        <pc:cxnChg chg="mod">
          <ac:chgData name="Jean-Noel Sialou" userId="08acc5d2-3819-4be4-97e6-d593a92e8e16" providerId="ADAL" clId="{3E2E487B-B21A-43C3-A4E4-C31B8823D31F}" dt="2026-09-15T10:14:35.637" v="5" actId="208"/>
          <ac:cxnSpMkLst>
            <pc:docMk/>
            <pc:sldMk cId="2102837376" sldId="358"/>
            <ac:cxnSpMk id="77" creationId="{00000000-0000-0000-0000-000000000000}"/>
          </ac:cxnSpMkLst>
        </pc:cxnChg>
      </pc:sldChg>
      <pc:sldChg chg="addSp modSp modAnim">
        <pc:chgData name="Jean-Noel Sialou" userId="08acc5d2-3819-4be4-97e6-d593a92e8e16" providerId="ADAL" clId="{3E2E487B-B21A-43C3-A4E4-C31B8823D31F}" dt="2026-09-23T09:25:47.775" v="6" actId="164"/>
        <pc:sldMkLst>
          <pc:docMk/>
          <pc:sldMk cId="135173498" sldId="359"/>
        </pc:sldMkLst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6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7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9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2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66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Mois reçus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Sheet1!$A$2:$A$11</c:f>
              <c:strCache>
                <c:ptCount val="10"/>
                <c:pt idx="0">
                  <c:v>Prestations décès et santé</c:v>
                </c:pt>
                <c:pt idx="1">
                  <c:v>MEDOC 8Z7 retour</c:v>
                </c:pt>
                <c:pt idx="2">
                  <c:v>Décès 8Z6</c:v>
                </c:pt>
                <c:pt idx="3">
                  <c:v>Retraités CGRAE retour</c:v>
                </c:pt>
                <c:pt idx="4">
                  <c:v>Maladie 936</c:v>
                </c:pt>
                <c:pt idx="5">
                  <c:v>Flotte 9W3 retour</c:v>
                </c:pt>
                <c:pt idx="6">
                  <c:v>Grenier 9X4 retour</c:v>
                </c:pt>
                <c:pt idx="7">
                  <c:v>EFC 870 retour</c:v>
                </c:pt>
                <c:pt idx="8">
                  <c:v>PEP 998 retour</c:v>
                </c:pt>
                <c:pt idx="9">
                  <c:v>Comptabilité (balances)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0</c:v>
                </c:pt>
                <c:pt idx="1">
                  <c:v>6</c:v>
                </c:pt>
                <c:pt idx="2">
                  <c:v>24</c:v>
                </c:pt>
                <c:pt idx="3">
                  <c:v>30</c:v>
                </c:pt>
                <c:pt idx="4">
                  <c:v>31</c:v>
                </c:pt>
                <c:pt idx="5">
                  <c:v>37</c:v>
                </c:pt>
                <c:pt idx="6">
                  <c:v>43</c:v>
                </c:pt>
                <c:pt idx="7">
                  <c:v>43</c:v>
                </c:pt>
                <c:pt idx="8">
                  <c:v>80</c:v>
                </c:pt>
                <c:pt idx="9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moyen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Sheet1!$A$2:$A$7</c:f>
              <c:strCache>
                <c:ptCount val="6"/>
                <c:pt idx="0">
                  <c:v>EFC 870</c:v>
                </c:pt>
                <c:pt idx="1">
                  <c:v>PEP 998</c:v>
                </c:pt>
                <c:pt idx="2">
                  <c:v>Grenier 9X4</c:v>
                </c:pt>
                <c:pt idx="3">
                  <c:v>Flotte 9W3</c:v>
                </c:pt>
                <c:pt idx="4">
                  <c:v>Retraités CGRAE</c:v>
                </c:pt>
                <c:pt idx="5">
                  <c:v>MEDOC 8Z7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97.6</c:v>
                </c:pt>
                <c:pt idx="1">
                  <c:v>97.7</c:v>
                </c:pt>
                <c:pt idx="2">
                  <c:v>98.1</c:v>
                </c:pt>
                <c:pt idx="3">
                  <c:v>98.9</c:v>
                </c:pt>
                <c:pt idx="4">
                  <c:v>100.2</c:v>
                </c:pt>
                <c:pt idx="5">
                  <c:v>97.4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Mois le plus bas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Sheet1!$A$2:$A$7</c:f>
              <c:strCache>
                <c:ptCount val="6"/>
                <c:pt idx="0">
                  <c:v>EFC 870</c:v>
                </c:pt>
                <c:pt idx="1">
                  <c:v>PEP 998</c:v>
                </c:pt>
                <c:pt idx="2">
                  <c:v>Grenier 9X4</c:v>
                </c:pt>
                <c:pt idx="3">
                  <c:v>Flotte 9W3</c:v>
                </c:pt>
                <c:pt idx="4">
                  <c:v>Retraités CGRAE</c:v>
                </c:pt>
                <c:pt idx="5">
                  <c:v>MEDOC 8Z7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96.0</c:v>
                </c:pt>
                <c:pt idx="1">
                  <c:v>77.0</c:v>
                </c:pt>
                <c:pt idx="2">
                  <c:v>69.2</c:v>
                </c:pt>
                <c:pt idx="3">
                  <c:v>82.2</c:v>
                </c:pt>
                <c:pt idx="4">
                  <c:v>96.6</c:v>
                </c:pt>
                <c:pt idx="5">
                  <c:v>96.6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Cotisants actifs</c:v>
                </c:pt>
              </c:strCache>
            </c:strRef>
          </c:tx>
          <c:spPr>
            <a:ln w="28575">
              <a:solidFill>
                <a:srgbClr val="112A40"/>
              </a:solidFill>
            </a:ln>
          </c:spPr>
          <c:marker>
            <c:spPr>
              <a:solidFill>
                <a:srgbClr val="112A40"/>
              </a:solidFill>
              <a:ln>
                <a:solidFill>
                  <a:srgbClr val="112A40"/>
                </a:solidFill>
              </a:ln>
            </c:spPr>
          </c:marker>
          <c:cat>
            <c:strRef>
              <c:f>Sheet1!$A$2:$A$33</c:f>
              <c:strCache>
                <c:ptCount val="32"/>
                <c:pt idx="0">
                  <c:v>janv. 24</c:v>
                </c:pt>
                <c:pt idx="1">
                  <c:v>févr. 24</c:v>
                </c:pt>
                <c:pt idx="2">
                  <c:v>mars 24</c:v>
                </c:pt>
                <c:pt idx="3">
                  <c:v>avr. 24</c:v>
                </c:pt>
                <c:pt idx="4">
                  <c:v>mai 24</c:v>
                </c:pt>
                <c:pt idx="5">
                  <c:v>juin 24</c:v>
                </c:pt>
                <c:pt idx="6">
                  <c:v>juil. 24</c:v>
                </c:pt>
                <c:pt idx="7">
                  <c:v>août 24</c:v>
                </c:pt>
                <c:pt idx="8">
                  <c:v>sept. 24</c:v>
                </c:pt>
                <c:pt idx="9">
                  <c:v>oct. 24</c:v>
                </c:pt>
                <c:pt idx="10">
                  <c:v>nov. 24</c:v>
                </c:pt>
                <c:pt idx="11">
                  <c:v>déc. 24</c:v>
                </c:pt>
                <c:pt idx="12">
                  <c:v>janv. 25</c:v>
                </c:pt>
                <c:pt idx="13">
                  <c:v>févr. 25</c:v>
                </c:pt>
                <c:pt idx="14">
                  <c:v>mars 25</c:v>
                </c:pt>
                <c:pt idx="15">
                  <c:v>avr. 25</c:v>
                </c:pt>
                <c:pt idx="16">
                  <c:v>mai 25</c:v>
                </c:pt>
                <c:pt idx="17">
                  <c:v>juin 25</c:v>
                </c:pt>
                <c:pt idx="18">
                  <c:v>juil. 25</c:v>
                </c:pt>
                <c:pt idx="19">
                  <c:v>août 25</c:v>
                </c:pt>
                <c:pt idx="20">
                  <c:v>sept. 25</c:v>
                </c:pt>
                <c:pt idx="21">
                  <c:v>oct. 25</c:v>
                </c:pt>
                <c:pt idx="22">
                  <c:v>nov. 25</c:v>
                </c:pt>
                <c:pt idx="23">
                  <c:v>déc. 25</c:v>
                </c:pt>
                <c:pt idx="24">
                  <c:v>janv. 26</c:v>
                </c:pt>
                <c:pt idx="25">
                  <c:v>févr. 26</c:v>
                </c:pt>
                <c:pt idx="26">
                  <c:v>mars 26</c:v>
                </c:pt>
                <c:pt idx="27">
                  <c:v>avr. 26</c:v>
                </c:pt>
                <c:pt idx="28">
                  <c:v>mai 26</c:v>
                </c:pt>
                <c:pt idx="29">
                  <c:v>juin 26</c:v>
                </c:pt>
                <c:pt idx="30">
                  <c:v>juil. 26</c:v>
                </c:pt>
                <c:pt idx="31">
                  <c:v>août 26</c:v>
                </c:pt>
              </c:strCache>
            </c:strRef>
          </c:cat>
          <c:val>
            <c:numRef>
              <c:f>Sheet1!$B$2:$B$33</c:f>
              <c:numCache>
                <c:formatCode># ##0</c:formatCode>
                <c:ptCount val="32"/>
                <c:pt idx="0">
                  <c:v>23119.0</c:v>
                </c:pt>
                <c:pt idx="1">
                  <c:v>23129.0</c:v>
                </c:pt>
                <c:pt idx="2">
                  <c:v>23123.0</c:v>
                </c:pt>
                <c:pt idx="3">
                  <c:v>23126.0</c:v>
                </c:pt>
                <c:pt idx="4">
                  <c:v>23416.0</c:v>
                </c:pt>
                <c:pt idx="5">
                  <c:v>23411.0</c:v>
                </c:pt>
                <c:pt idx="6">
                  <c:v>27698.0</c:v>
                </c:pt>
                <c:pt idx="7">
                  <c:v>27682.0</c:v>
                </c:pt>
                <c:pt idx="8">
                  <c:v>27670.0</c:v>
                </c:pt>
                <c:pt idx="9">
                  <c:v>28168.0</c:v>
                </c:pt>
                <c:pt idx="10">
                  <c:v>27606.0</c:v>
                </c:pt>
                <c:pt idx="12">
                  <c:v>27866.0</c:v>
                </c:pt>
                <c:pt idx="13">
                  <c:v>27858.0</c:v>
                </c:pt>
                <c:pt idx="14">
                  <c:v>27851.0</c:v>
                </c:pt>
                <c:pt idx="15">
                  <c:v>27758.0</c:v>
                </c:pt>
                <c:pt idx="16">
                  <c:v>27702.0</c:v>
                </c:pt>
                <c:pt idx="17">
                  <c:v>27642.0</c:v>
                </c:pt>
                <c:pt idx="18">
                  <c:v>31724.0</c:v>
                </c:pt>
                <c:pt idx="19">
                  <c:v>31716.0</c:v>
                </c:pt>
                <c:pt idx="20">
                  <c:v>31683.0</c:v>
                </c:pt>
                <c:pt idx="21">
                  <c:v>31683.0</c:v>
                </c:pt>
                <c:pt idx="22">
                  <c:v>31647.0</c:v>
                </c:pt>
                <c:pt idx="23">
                  <c:v>31676.0</c:v>
                </c:pt>
                <c:pt idx="24">
                  <c:v>31269.0</c:v>
                </c:pt>
                <c:pt idx="25">
                  <c:v>31260.0</c:v>
                </c:pt>
                <c:pt idx="26">
                  <c:v>31248.0</c:v>
                </c:pt>
                <c:pt idx="27">
                  <c:v>31238.0</c:v>
                </c:pt>
                <c:pt idx="28">
                  <c:v>31242.0</c:v>
                </c:pt>
                <c:pt idx="29">
                  <c:v>31232.0</c:v>
                </c:pt>
                <c:pt idx="30">
                  <c:v>31221.0</c:v>
                </c:pt>
                <c:pt idx="31">
                  <c:v>31198.0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20000.0"/>
        </c:scaling>
        <c:delete val="0"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Sheet1!$A$2:$A$9</c:f>
              <c:strCache>
                <c:ptCount val="8"/>
                <c:pt idx="0">
                  <c:v>0-5 ans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  <c:pt idx="7">
                  <c:v>35 ans et +</c:v>
                </c:pt>
              </c:strCache>
            </c:strRef>
          </c:cat>
          <c:val>
            <c:numRef>
              <c:f>Sheet1!$B$2:$B$9</c:f>
              <c:numCache>
                <c:formatCode># ##0</c:formatCode>
                <c:ptCount val="8"/>
                <c:pt idx="0">
                  <c:v>11103</c:v>
                </c:pt>
                <c:pt idx="1">
                  <c:v>4735</c:v>
                </c:pt>
                <c:pt idx="2">
                  <c:v>1496</c:v>
                </c:pt>
                <c:pt idx="3">
                  <c:v>4585</c:v>
                </c:pt>
                <c:pt idx="4">
                  <c:v>3998</c:v>
                </c:pt>
                <c:pt idx="5">
                  <c:v>1817</c:v>
                </c:pt>
                <c:pt idx="6">
                  <c:v>139</c:v>
                </c:pt>
                <c:pt idx="7">
                  <c:v>2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Maladie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Sheet1!$A$2:$A$4</c:f>
              <c:strCache>
                <c:ptCount val="3"/>
                <c:pt idx="0">
                  <c:v>Taux annoncé</c:v>
                </c:pt>
                <c:pt idx="1">
                  <c:v>Taux précompté (Solde)</c:v>
                </c:pt>
                <c:pt idx="2">
                  <c:v>Répartition comptable 2025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3.5</c:v>
                </c:pt>
                <c:pt idx="1">
                  <c:v>3.77</c:v>
                </c:pt>
                <c:pt idx="2">
                  <c:v>3.52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Décès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Sheet1!$A$2:$A$4</c:f>
              <c:strCache>
                <c:ptCount val="3"/>
                <c:pt idx="0">
                  <c:v>Taux annoncé</c:v>
                </c:pt>
                <c:pt idx="1">
                  <c:v>Taux précompté (Solde)</c:v>
                </c:pt>
                <c:pt idx="2">
                  <c:v>Répartition comptable 2025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1.5</c:v>
                </c:pt>
                <c:pt idx="1">
                  <c:v>1.23</c:v>
                </c:pt>
                <c:pt idx="2">
                  <c:v>1.48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Maladie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1641</c:v>
                </c:pt>
                <c:pt idx="1">
                  <c:v>1691</c:v>
                </c:pt>
                <c:pt idx="2">
                  <c:v>1781</c:v>
                </c:pt>
                <c:pt idx="3">
                  <c:v>1936</c:v>
                </c:pt>
                <c:pt idx="4">
                  <c:v>2203</c:v>
                </c:pt>
                <c:pt idx="5">
                  <c:v>2409</c:v>
                </c:pt>
                <c:pt idx="6">
                  <c:v>1690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Décès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0">
                  <c:v>703</c:v>
                </c:pt>
                <c:pt idx="1">
                  <c:v>725</c:v>
                </c:pt>
                <c:pt idx="2">
                  <c:v>763</c:v>
                </c:pt>
                <c:pt idx="3">
                  <c:v>830</c:v>
                </c:pt>
                <c:pt idx="4">
                  <c:v>935</c:v>
                </c:pt>
                <c:pt idx="5">
                  <c:v>1008</c:v>
                </c:pt>
                <c:pt idx="6">
                  <c:v>702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Maladie</c:v>
                </c:pt>
              </c:strCache>
            </c:strRef>
          </c:tx>
          <c:spPr>
            <a:ln w="28575">
              <a:solidFill>
                <a:srgbClr val="112A40"/>
              </a:solidFill>
            </a:ln>
          </c:spPr>
          <c:marker>
            <c:spPr>
              <a:solidFill>
                <a:srgbClr val="112A40"/>
              </a:solidFill>
              <a:ln>
                <a:solidFill>
                  <a:srgbClr val="112A40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12.5</c:v>
                </c:pt>
                <c:pt idx="1">
                  <c:v>6.0</c:v>
                </c:pt>
                <c:pt idx="2">
                  <c:v>6.5</c:v>
                </c:pt>
                <c:pt idx="3">
                  <c:v>26.9</c:v>
                </c:pt>
                <c:pt idx="4">
                  <c:v>48.1</c:v>
                </c:pt>
                <c:pt idx="5">
                  <c:v>73.5</c:v>
                </c:pt>
                <c:pt idx="6">
                  <c:v>97.4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Décès (prime d'assurance incluse en 2020)</c:v>
                </c:pt>
              </c:strCache>
            </c:strRef>
          </c:tx>
          <c:spPr>
            <a:ln w="28575">
              <a:solidFill>
                <a:srgbClr val="EFAC62"/>
              </a:solidFill>
            </a:ln>
          </c:spPr>
          <c:marker>
            <c:spPr>
              <a:solidFill>
                <a:srgbClr val="EFAC62"/>
              </a:solidFill>
              <a:ln>
                <a:solidFill>
                  <a:srgbClr val="EFAC62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Sheet1!$C$2:$C$8</c:f>
              <c:numCache>
                <c:formatCode>0</c:formatCode>
                <c:ptCount val="7"/>
                <c:pt idx="0">
                  <c:v>82.2</c:v>
                </c:pt>
                <c:pt idx="1">
                  <c:v>55.4</c:v>
                </c:pt>
                <c:pt idx="2">
                  <c:v>15.2</c:v>
                </c:pt>
                <c:pt idx="3">
                  <c:v>17.1</c:v>
                </c:pt>
                <c:pt idx="4">
                  <c:v>21.8</c:v>
                </c:pt>
                <c:pt idx="5">
                  <c:v>19.2</c:v>
                </c:pt>
                <c:pt idx="6">
                  <c:v>21.8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Pharmacie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26</c:v>
                </c:pt>
                <c:pt idx="1">
                  <c:v>25</c:v>
                </c:pt>
                <c:pt idx="2">
                  <c:v>13</c:v>
                </c:pt>
                <c:pt idx="3">
                  <c:v>23</c:v>
                </c:pt>
                <c:pt idx="4">
                  <c:v>33</c:v>
                </c:pt>
                <c:pt idx="5">
                  <c:v>38</c:v>
                </c:pt>
                <c:pt idx="6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Consultations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4</c:v>
                </c:pt>
                <c:pt idx="3">
                  <c:v>53</c:v>
                </c:pt>
                <c:pt idx="4">
                  <c:v>154</c:v>
                </c:pt>
                <c:pt idx="5">
                  <c:v>174</c:v>
                </c:pt>
                <c:pt idx="6">
                  <c:v>224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Hospitalisations</c:v>
                </c:pt>
              </c:strCache>
            </c:strRef>
          </c:tx>
          <c:spPr>
            <a:solidFill>
              <a:srgbClr val="BBBCBC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Sheet1!$D$2:$D$8</c:f>
              <c:numCache>
                <c:formatCode># ##0</c:formatCode>
                <c:ptCount val="7"/>
                <c:pt idx="0">
                  <c:v>12</c:v>
                </c:pt>
                <c:pt idx="1">
                  <c:v>13</c:v>
                </c:pt>
                <c:pt idx="2">
                  <c:v>6</c:v>
                </c:pt>
                <c:pt idx="3">
                  <c:v>33</c:v>
                </c:pt>
                <c:pt idx="4">
                  <c:v>11</c:v>
                </c:pt>
                <c:pt idx="5">
                  <c:v>23</c:v>
                </c:pt>
                <c:pt idx="6">
                  <c:v>37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Analyses médicales</c:v>
                </c:pt>
              </c:strCache>
            </c:strRef>
          </c:tx>
          <c:spPr>
            <a:solidFill>
              <a:srgbClr val="060606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Sheet1!$E$2:$E$8</c:f>
              <c:numCache>
                <c:formatCode># ##0</c:formatCode>
                <c:ptCount val="7"/>
                <c:pt idx="0">
                  <c:v>23</c:v>
                </c:pt>
                <c:pt idx="1">
                  <c:v>15</c:v>
                </c:pt>
                <c:pt idx="2">
                  <c:v>10</c:v>
                </c:pt>
                <c:pt idx="3">
                  <c:v>73</c:v>
                </c:pt>
                <c:pt idx="4">
                  <c:v>143</c:v>
                </c:pt>
                <c:pt idx="5">
                  <c:v>234</c:v>
                </c:pt>
                <c:pt idx="6">
                  <c:v>215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Radio et imagerie</c:v>
                </c:pt>
              </c:strCache>
            </c:strRef>
          </c:tx>
          <c:spPr>
            <a:solidFill>
              <a:srgbClr val="53565A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Sheet1!$F$2:$F$8</c:f>
              <c:numCache>
                <c:formatCode># ##0</c:formatCode>
                <c:ptCount val="7"/>
                <c:pt idx="0">
                  <c:v>11</c:v>
                </c:pt>
                <c:pt idx="1">
                  <c:v>6</c:v>
                </c:pt>
                <c:pt idx="2">
                  <c:v>15</c:v>
                </c:pt>
                <c:pt idx="3">
                  <c:v>65</c:v>
                </c:pt>
                <c:pt idx="4">
                  <c:v>148</c:v>
                </c:pt>
                <c:pt idx="5">
                  <c:v>250</c:v>
                </c:pt>
                <c:pt idx="6">
                  <c:v>392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Autres prestations maladie</c:v>
                </c:pt>
              </c:strCache>
            </c:strRef>
          </c:tx>
          <c:spPr>
            <a:solidFill>
              <a:srgbClr val="F6D3A8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Sheet1!$G$2:$G$8</c:f>
              <c:numCache>
                <c:formatCode># ##0</c:formatCode>
                <c:ptCount val="7"/>
                <c:pt idx="0">
                  <c:v>111</c:v>
                </c:pt>
                <c:pt idx="1">
                  <c:v>23</c:v>
                </c:pt>
                <c:pt idx="2">
                  <c:v>50</c:v>
                </c:pt>
                <c:pt idx="3">
                  <c:v>241</c:v>
                </c:pt>
                <c:pt idx="4">
                  <c:v>509</c:v>
                </c:pt>
                <c:pt idx="5">
                  <c:v>995</c:v>
                </c:pt>
                <c:pt idx="6">
                  <c:v>585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Autres (transport, rééducation, bons)</c:v>
                </c:pt>
              </c:strCache>
            </c:strRef>
          </c:tx>
          <c:spPr>
            <a:solidFill>
              <a:srgbClr val="5B7A99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Sheet1!$H$2:$H$8</c:f>
              <c:numCache>
                <c:formatCode># ##0</c:formatCode>
                <c:ptCount val="7"/>
                <c:pt idx="0">
                  <c:v>13</c:v>
                </c:pt>
                <c:pt idx="1">
                  <c:v>9</c:v>
                </c:pt>
                <c:pt idx="2">
                  <c:v>16</c:v>
                </c:pt>
                <c:pt idx="3">
                  <c:v>33</c:v>
                </c:pt>
                <c:pt idx="4">
                  <c:v>64</c:v>
                </c:pt>
                <c:pt idx="5">
                  <c:v>57</c:v>
                </c:pt>
                <c:pt idx="6">
                  <c:v>108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Frais de gestion</c:v>
                </c:pt>
              </c:strCache>
            </c:strRef>
          </c:tx>
          <c:spPr>
            <a:solidFill>
              <a:srgbClr val="BBBCBC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1211</c:v>
                </c:pt>
                <c:pt idx="1">
                  <c:v>962</c:v>
                </c:pt>
                <c:pt idx="2">
                  <c:v>1020</c:v>
                </c:pt>
                <c:pt idx="3">
                  <c:v>1040</c:v>
                </c:pt>
                <c:pt idx="4">
                  <c:v>987</c:v>
                </c:pt>
                <c:pt idx="5">
                  <c:v>1101</c:v>
                </c:pt>
                <c:pt idx="6">
                  <c:v>1055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Résultat net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0">
                  <c:v>1019</c:v>
                </c:pt>
                <c:pt idx="1">
                  <c:v>2084</c:v>
                </c:pt>
                <c:pt idx="2">
                  <c:v>2060</c:v>
                </c:pt>
                <c:pt idx="3">
                  <c:v>931</c:v>
                </c:pt>
                <c:pt idx="4">
                  <c:v>792</c:v>
                </c:pt>
                <c:pt idx="5">
                  <c:v>438</c:v>
                </c:pt>
                <c:pt idx="6">
                  <c:v>-441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Épargne PEP et EFC (passif)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10828</c:v>
                </c:pt>
                <c:pt idx="1">
                  <c:v>10147</c:v>
                </c:pt>
                <c:pt idx="2">
                  <c:v>9365</c:v>
                </c:pt>
                <c:pt idx="3">
                  <c:v>9122</c:v>
                </c:pt>
                <c:pt idx="4">
                  <c:v>10785</c:v>
                </c:pt>
                <c:pt idx="5">
                  <c:v>13814</c:v>
                </c:pt>
                <c:pt idx="6">
                  <c:v>15744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Actifs dédiés (banques, DAT, FCP)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0">
                  <c:v>714</c:v>
                </c:pt>
                <c:pt idx="1">
                  <c:v>1957</c:v>
                </c:pt>
                <c:pt idx="2">
                  <c:v>889</c:v>
                </c:pt>
                <c:pt idx="3">
                  <c:v>839</c:v>
                </c:pt>
                <c:pt idx="4">
                  <c:v>700</c:v>
                </c:pt>
                <c:pt idx="5">
                  <c:v>1608</c:v>
                </c:pt>
                <c:pt idx="6">
                  <c:v>2563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PEP 998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294</c:v>
                </c:pt>
                <c:pt idx="1">
                  <c:v>323</c:v>
                </c:pt>
                <c:pt idx="2">
                  <c:v>510</c:v>
                </c:pt>
                <c:pt idx="3">
                  <c:v>928</c:v>
                </c:pt>
                <c:pt idx="4">
                  <c:v>1456</c:v>
                </c:pt>
                <c:pt idx="5">
                  <c:v>2030</c:v>
                </c:pt>
                <c:pt idx="6">
                  <c:v>1607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EFC 870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3">
                  <c:v>1415</c:v>
                </c:pt>
                <c:pt idx="4">
                  <c:v>1834</c:v>
                </c:pt>
                <c:pt idx="5">
                  <c:v>2160</c:v>
                </c:pt>
                <c:pt idx="6">
                  <c:v>1787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Encours des prêts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Sheet1!$A$2:$A$7</c:f>
              <c:strCache>
                <c:ptCount val="6"/>
                <c:pt idx="0">
                  <c:v>31/12/2021</c:v>
                </c:pt>
                <c:pt idx="1">
                  <c:v>31/12/2022</c:v>
                </c:pt>
                <c:pt idx="2">
                  <c:v>31/12/2023</c:v>
                </c:pt>
                <c:pt idx="3">
                  <c:v>31/12/2024</c:v>
                </c:pt>
                <c:pt idx="4">
                  <c:v>31/12/2025</c:v>
                </c:pt>
                <c:pt idx="5">
                  <c:v>31/08/2026</c:v>
                </c:pt>
              </c:strCache>
            </c:strRef>
          </c:cat>
          <c:val>
            <c:numRef>
              <c:f>Sheet1!$B$2:$B$7</c:f>
              <c:numCache>
                <c:formatCode># ##0</c:formatCode>
                <c:ptCount val="6"/>
                <c:pt idx="0">
                  <c:v>8</c:v>
                </c:pt>
                <c:pt idx="1">
                  <c:v>183</c:v>
                </c:pt>
                <c:pt idx="2">
                  <c:v>375</c:v>
                </c:pt>
                <c:pt idx="3">
                  <c:v>567</c:v>
                </c:pt>
                <c:pt idx="4">
                  <c:v>830</c:v>
                </c:pt>
                <c:pt idx="5">
                  <c:v>1044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Financement FPPN (compte 47111102)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Sheet1!$A$2:$A$7</c:f>
              <c:strCache>
                <c:ptCount val="6"/>
                <c:pt idx="0">
                  <c:v>31/12/2021</c:v>
                </c:pt>
                <c:pt idx="1">
                  <c:v>31/12/2022</c:v>
                </c:pt>
                <c:pt idx="2">
                  <c:v>31/12/2023</c:v>
                </c:pt>
                <c:pt idx="3">
                  <c:v>31/12/2024</c:v>
                </c:pt>
                <c:pt idx="4">
                  <c:v>31/12/2025</c:v>
                </c:pt>
                <c:pt idx="5">
                  <c:v>31/08/2026</c:v>
                </c:pt>
              </c:strCache>
            </c:strRef>
          </c:cat>
          <c:val>
            <c:numRef>
              <c:f>Sheet1!$C$2:$C$7</c:f>
              <c:numCache>
                <c:formatCode># ##0</c:formatCode>
                <c:ptCount val="6"/>
                <c:pt idx="0">
                  <c:v>27</c:v>
                </c:pt>
                <c:pt idx="1">
                  <c:v>458</c:v>
                </c:pt>
                <c:pt idx="2">
                  <c:v>504</c:v>
                </c:pt>
                <c:pt idx="3">
                  <c:v>651</c:v>
                </c:pt>
                <c:pt idx="4">
                  <c:v>817</c:v>
                </c:pt>
                <c:pt idx="5">
                  <c:v>915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Activites generatrice de revenus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Sheet1!$B$2:$B$7</c:f>
              <c:numCache>
                <c:formatCode># ##0</c:formatCode>
                <c:ptCount val="6"/>
                <c:pt idx="0">
                  <c:v>0</c:v>
                </c:pt>
                <c:pt idx="1">
                  <c:v>42</c:v>
                </c:pt>
                <c:pt idx="2">
                  <c:v>44</c:v>
                </c:pt>
                <c:pt idx="3">
                  <c:v>51</c:v>
                </c:pt>
                <c:pt idx="4">
                  <c:v>67</c:v>
                </c:pt>
                <c:pt idx="5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de sante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Sheet1!$C$2:$C$7</c:f>
              <c:numCache>
                <c:formatCode># ##0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55</c:v>
                </c:pt>
                <c:pt idx="3">
                  <c:v>112</c:v>
                </c:pt>
                <c:pt idx="4">
                  <c:v>170</c:v>
                </c:pt>
                <c:pt idx="5">
                  <c:v>199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Credit grenier shop</c:v>
                </c:pt>
              </c:strCache>
            </c:strRef>
          </c:tx>
          <c:spPr>
            <a:solidFill>
              <a:srgbClr val="BBBCBC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Sheet1!$D$2:$D$7</c:f>
              <c:numCache>
                <c:formatCode># ##0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5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Credit habitat</c:v>
                </c:pt>
              </c:strCache>
            </c:strRef>
          </c:tx>
          <c:spPr>
            <a:solidFill>
              <a:srgbClr val="060606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Sheet1!$E$2:$E$7</c:f>
              <c:numCache>
                <c:formatCode># ##0</c:formatCode>
                <c:ptCount val="6"/>
                <c:pt idx="0">
                  <c:v>0</c:v>
                </c:pt>
                <c:pt idx="1">
                  <c:v>56</c:v>
                </c:pt>
                <c:pt idx="2">
                  <c:v>151</c:v>
                </c:pt>
                <c:pt idx="3">
                  <c:v>253</c:v>
                </c:pt>
                <c:pt idx="4">
                  <c:v>509</c:v>
                </c:pt>
                <c:pt idx="5">
                  <c:v>540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Credit mariage</c:v>
                </c:pt>
              </c:strCache>
            </c:strRef>
          </c:tx>
          <c:spPr>
            <a:solidFill>
              <a:srgbClr val="53565A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Sheet1!$F$2:$F$7</c:f>
              <c:numCache>
                <c:formatCode># ##0</c:formatCode>
                <c:ptCount val="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15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Crédit flash</c:v>
                </c:pt>
              </c:strCache>
            </c:strRef>
          </c:tx>
          <c:spPr>
            <a:solidFill>
              <a:srgbClr val="F6D3A8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Sheet1!$G$2:$G$7</c:f>
              <c:numCache>
                <c:formatCode># ##0</c:formatCode>
                <c:ptCount val="6"/>
                <c:pt idx="0">
                  <c:v>0</c:v>
                </c:pt>
                <c:pt idx="1">
                  <c:v>22</c:v>
                </c:pt>
                <c:pt idx="2">
                  <c:v>143</c:v>
                </c:pt>
                <c:pt idx="3">
                  <c:v>210</c:v>
                </c:pt>
                <c:pt idx="4">
                  <c:v>268</c:v>
                </c:pt>
                <c:pt idx="5">
                  <c:v>152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Crédit scolaire</c:v>
                </c:pt>
              </c:strCache>
            </c:strRef>
          </c:tx>
          <c:spPr>
            <a:solidFill>
              <a:srgbClr val="5B7A99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Sheet1!$H$2:$H$7</c:f>
              <c:numCache>
                <c:formatCode># ##0</c:formatCode>
                <c:ptCount val="6"/>
                <c:pt idx="0">
                  <c:v>4</c:v>
                </c:pt>
                <c:pt idx="1">
                  <c:v>107</c:v>
                </c:pt>
                <c:pt idx="2">
                  <c:v>237</c:v>
                </c:pt>
                <c:pt idx="3">
                  <c:v>509</c:v>
                </c:pt>
                <c:pt idx="4">
                  <c:v>555</c:v>
                </c:pt>
                <c:pt idx="5">
                  <c:v>371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Equipement domestique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(8 mois)</c:v>
                </c:pt>
              </c:strCache>
            </c:strRef>
          </c:cat>
          <c:val>
            <c:numRef>
              <c:f>Sheet1!$I$2:$I$7</c:f>
              <c:numCache>
                <c:formatCode># ##0</c:formatCode>
                <c:ptCount val="6"/>
                <c:pt idx="0">
                  <c:v>4</c:v>
                </c:pt>
                <c:pt idx="1">
                  <c:v>19</c:v>
                </c:pt>
                <c:pt idx="2">
                  <c:v>28</c:v>
                </c:pt>
                <c:pt idx="3">
                  <c:v>33</c:v>
                </c:pt>
                <c:pt idx="4">
                  <c:v>13</c:v>
                </c:pt>
                <c:pt idx="5">
                  <c:v>22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Plus de 30 jours</c:v>
                </c:pt>
              </c:strCache>
            </c:strRef>
          </c:tx>
          <c:spPr>
            <a:ln w="28575">
              <a:solidFill>
                <a:srgbClr val="112A40"/>
              </a:solidFill>
            </a:ln>
          </c:spPr>
          <c:marker>
            <c:spPr>
              <a:solidFill>
                <a:srgbClr val="112A40"/>
              </a:solidFill>
              <a:ln>
                <a:solidFill>
                  <a:srgbClr val="112A4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31/12/2021</c:v>
                </c:pt>
                <c:pt idx="1">
                  <c:v>31/12/2022</c:v>
                </c:pt>
                <c:pt idx="2">
                  <c:v>31/12/2023</c:v>
                </c:pt>
                <c:pt idx="3">
                  <c:v>31/12/2024</c:v>
                </c:pt>
                <c:pt idx="4">
                  <c:v>31/12/2025</c:v>
                </c:pt>
                <c:pt idx="5">
                  <c:v>31/01/2026</c:v>
                </c:pt>
                <c:pt idx="6">
                  <c:v>31/03/2026</c:v>
                </c:pt>
                <c:pt idx="7">
                  <c:v>30/04/2026</c:v>
                </c:pt>
                <c:pt idx="8">
                  <c:v>31/05/2026</c:v>
                </c:pt>
                <c:pt idx="9">
                  <c:v>30/06/2026</c:v>
                </c:pt>
                <c:pt idx="10">
                  <c:v>31/07/2026</c:v>
                </c:pt>
                <c:pt idx="11">
                  <c:v>31/08/2026</c:v>
                </c:pt>
              </c:strCache>
            </c:strRef>
          </c:cat>
          <c:val>
            <c:numRef>
              <c:f>Sheet1!$B$2:$B$13</c:f>
              <c:numCache>
                <c:formatCode>0</c:formatCode>
                <c:ptCount val="12"/>
                <c:pt idx="0">
                  <c:v>0.0</c:v>
                </c:pt>
                <c:pt idx="1">
                  <c:v>8.7</c:v>
                </c:pt>
                <c:pt idx="2">
                  <c:v>0.2</c:v>
                </c:pt>
                <c:pt idx="3">
                  <c:v>1.7</c:v>
                </c:pt>
                <c:pt idx="4">
                  <c:v>3.8</c:v>
                </c:pt>
                <c:pt idx="5">
                  <c:v>62.0</c:v>
                </c:pt>
                <c:pt idx="6">
                  <c:v>35.4</c:v>
                </c:pt>
                <c:pt idx="7">
                  <c:v>22.0</c:v>
                </c:pt>
                <c:pt idx="8">
                  <c:v>14.0</c:v>
                </c:pt>
                <c:pt idx="9">
                  <c:v>8.5</c:v>
                </c:pt>
                <c:pt idx="10">
                  <c:v>4.0</c:v>
                </c:pt>
                <c:pt idx="11">
                  <c:v>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Plus de 90 jours</c:v>
                </c:pt>
              </c:strCache>
            </c:strRef>
          </c:tx>
          <c:spPr>
            <a:ln w="28575">
              <a:solidFill>
                <a:srgbClr val="EFAC62"/>
              </a:solidFill>
            </a:ln>
          </c:spPr>
          <c:marker>
            <c:spPr>
              <a:solidFill>
                <a:srgbClr val="EFAC62"/>
              </a:solidFill>
              <a:ln>
                <a:solidFill>
                  <a:srgbClr val="EFAC6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31/12/2021</c:v>
                </c:pt>
                <c:pt idx="1">
                  <c:v>31/12/2022</c:v>
                </c:pt>
                <c:pt idx="2">
                  <c:v>31/12/2023</c:v>
                </c:pt>
                <c:pt idx="3">
                  <c:v>31/12/2024</c:v>
                </c:pt>
                <c:pt idx="4">
                  <c:v>31/12/2025</c:v>
                </c:pt>
                <c:pt idx="5">
                  <c:v>31/01/2026</c:v>
                </c:pt>
                <c:pt idx="6">
                  <c:v>31/03/2026</c:v>
                </c:pt>
                <c:pt idx="7">
                  <c:v>30/04/2026</c:v>
                </c:pt>
                <c:pt idx="8">
                  <c:v>31/05/2026</c:v>
                </c:pt>
                <c:pt idx="9">
                  <c:v>30/06/2026</c:v>
                </c:pt>
                <c:pt idx="10">
                  <c:v>31/07/2026</c:v>
                </c:pt>
                <c:pt idx="11">
                  <c:v>31/08/2026</c:v>
                </c:pt>
              </c:strCache>
            </c:strRef>
          </c:cat>
          <c:val>
            <c:numRef>
              <c:f>Sheet1!$C$2:$C$13</c:f>
              <c:numCache>
                <c:formatCode>0</c:formatCode>
                <c:ptCount val="12"/>
                <c:pt idx="0">
                  <c:v>0.0</c:v>
                </c:pt>
                <c:pt idx="1">
                  <c:v>8.7</c:v>
                </c:pt>
                <c:pt idx="2">
                  <c:v>0.2</c:v>
                </c:pt>
                <c:pt idx="3">
                  <c:v>1.3</c:v>
                </c:pt>
                <c:pt idx="4">
                  <c:v>0.8</c:v>
                </c:pt>
                <c:pt idx="5">
                  <c:v>0.9</c:v>
                </c:pt>
                <c:pt idx="6">
                  <c:v>35.2</c:v>
                </c:pt>
                <c:pt idx="7">
                  <c:v>21.9</c:v>
                </c:pt>
                <c:pt idx="8">
                  <c:v>13.8</c:v>
                </c:pt>
                <c:pt idx="9">
                  <c:v>8.2</c:v>
                </c:pt>
                <c:pt idx="10">
                  <c:v>3.8</c:v>
                </c:pt>
                <c:pt idx="11">
                  <c:v>1.7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Échéances (balance âgée)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janv. 26</c:v>
                </c:pt>
                <c:pt idx="1">
                  <c:v>mars 26</c:v>
                </c:pt>
                <c:pt idx="2">
                  <c:v>avr. 26</c:v>
                </c:pt>
                <c:pt idx="3">
                  <c:v>mai 26</c:v>
                </c:pt>
                <c:pt idx="4">
                  <c:v>juin 26</c:v>
                </c:pt>
                <c:pt idx="5">
                  <c:v>juil. 26</c:v>
                </c:pt>
                <c:pt idx="6">
                  <c:v>août 26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167.8</c:v>
                </c:pt>
                <c:pt idx="1">
                  <c:v>184.1</c:v>
                </c:pt>
                <c:pt idx="2">
                  <c:v>168.5</c:v>
                </c:pt>
                <c:pt idx="3">
                  <c:v>169.7</c:v>
                </c:pt>
                <c:pt idx="4">
                  <c:v>172.8</c:v>
                </c:pt>
                <c:pt idx="5">
                  <c:v>182.5</c:v>
                </c:pt>
                <c:pt idx="6">
                  <c:v>184.9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Précomptes 9X4 (Solde)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janv. 26</c:v>
                </c:pt>
                <c:pt idx="1">
                  <c:v>mars 26</c:v>
                </c:pt>
                <c:pt idx="2">
                  <c:v>avr. 26</c:v>
                </c:pt>
                <c:pt idx="3">
                  <c:v>mai 26</c:v>
                </c:pt>
                <c:pt idx="4">
                  <c:v>juin 26</c:v>
                </c:pt>
                <c:pt idx="5">
                  <c:v>juil. 26</c:v>
                </c:pt>
                <c:pt idx="6">
                  <c:v>août 26</c:v>
                </c:pt>
              </c:strCache>
            </c:strRef>
          </c:cat>
          <c:val>
            <c:numRef>
              <c:f>Sheet1!$C$2:$C$8</c:f>
              <c:numCache>
                <c:formatCode>0</c:formatCode>
                <c:ptCount val="7"/>
                <c:pt idx="0">
                  <c:v>142.6</c:v>
                </c:pt>
                <c:pt idx="1">
                  <c:v>139.4</c:v>
                </c:pt>
                <c:pt idx="2">
                  <c:v>138.4</c:v>
                </c:pt>
                <c:pt idx="3">
                  <c:v>143.1</c:v>
                </c:pt>
                <c:pt idx="4">
                  <c:v>147.5</c:v>
                </c:pt>
                <c:pt idx="5">
                  <c:v>150.8</c:v>
                </c:pt>
                <c:pt idx="6">
                  <c:v>156.3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Retraités</c:v>
                </c:pt>
              </c:strCache>
            </c:strRef>
          </c:tx>
          <c:spPr>
            <a:ln w="28575">
              <a:solidFill>
                <a:srgbClr val="112A40"/>
              </a:solidFill>
            </a:ln>
          </c:spPr>
          <c:marker>
            <c:spPr>
              <a:solidFill>
                <a:srgbClr val="112A40"/>
              </a:solidFill>
              <a:ln>
                <a:solidFill>
                  <a:srgbClr val="112A40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févr. 24</c:v>
                </c:pt>
                <c:pt idx="1">
                  <c:v>mars 24</c:v>
                </c:pt>
                <c:pt idx="2">
                  <c:v>avr. 24</c:v>
                </c:pt>
                <c:pt idx="3">
                  <c:v>mai 24</c:v>
                </c:pt>
                <c:pt idx="4">
                  <c:v>juil. 24</c:v>
                </c:pt>
                <c:pt idx="5">
                  <c:v>août 24</c:v>
                </c:pt>
                <c:pt idx="6">
                  <c:v>sept. 24</c:v>
                </c:pt>
                <c:pt idx="7">
                  <c:v>oct. 24</c:v>
                </c:pt>
                <c:pt idx="8">
                  <c:v>nov. 24</c:v>
                </c:pt>
                <c:pt idx="9">
                  <c:v>déc. 24</c:v>
                </c:pt>
                <c:pt idx="10">
                  <c:v>janv. 25</c:v>
                </c:pt>
                <c:pt idx="11">
                  <c:v>févr. 25</c:v>
                </c:pt>
                <c:pt idx="12">
                  <c:v>mars 25</c:v>
                </c:pt>
                <c:pt idx="13">
                  <c:v>avr. 25</c:v>
                </c:pt>
                <c:pt idx="14">
                  <c:v>mai 25</c:v>
                </c:pt>
                <c:pt idx="15">
                  <c:v>juin 25</c:v>
                </c:pt>
                <c:pt idx="16">
                  <c:v>juil. 25</c:v>
                </c:pt>
                <c:pt idx="17">
                  <c:v>août 25</c:v>
                </c:pt>
                <c:pt idx="18">
                  <c:v>sept. 25</c:v>
                </c:pt>
                <c:pt idx="19">
                  <c:v>oct. 25</c:v>
                </c:pt>
                <c:pt idx="20">
                  <c:v>nov. 25</c:v>
                </c:pt>
                <c:pt idx="21">
                  <c:v>déc. 25</c:v>
                </c:pt>
                <c:pt idx="22">
                  <c:v>janv. 26</c:v>
                </c:pt>
                <c:pt idx="23">
                  <c:v>févr. 26</c:v>
                </c:pt>
                <c:pt idx="24">
                  <c:v>mars 26</c:v>
                </c:pt>
                <c:pt idx="25">
                  <c:v>avr. 26</c:v>
                </c:pt>
                <c:pt idx="26">
                  <c:v>mai 26</c:v>
                </c:pt>
                <c:pt idx="27">
                  <c:v>juin 26</c:v>
                </c:pt>
                <c:pt idx="28">
                  <c:v>juil. 26</c:v>
                </c:pt>
                <c:pt idx="29">
                  <c:v>août 26</c:v>
                </c:pt>
              </c:strCache>
            </c:strRef>
          </c:cat>
          <c:val>
            <c:numRef>
              <c:f>Sheet1!$B$2:$B$31</c:f>
              <c:numCache>
                <c:formatCode>0</c:formatCode>
                <c:ptCount val="30"/>
                <c:pt idx="0">
                  <c:v>16</c:v>
                </c:pt>
                <c:pt idx="1">
                  <c:v>84</c:v>
                </c:pt>
                <c:pt idx="2">
                  <c:v>105</c:v>
                </c:pt>
                <c:pt idx="3">
                  <c:v>134</c:v>
                </c:pt>
                <c:pt idx="4">
                  <c:v>176</c:v>
                </c:pt>
                <c:pt idx="5">
                  <c:v>196</c:v>
                </c:pt>
                <c:pt idx="6">
                  <c:v>237</c:v>
                </c:pt>
                <c:pt idx="7">
                  <c:v>255</c:v>
                </c:pt>
                <c:pt idx="8">
                  <c:v>280</c:v>
                </c:pt>
                <c:pt idx="9">
                  <c:v>291</c:v>
                </c:pt>
                <c:pt idx="10">
                  <c:v>306</c:v>
                </c:pt>
                <c:pt idx="11">
                  <c:v>314</c:v>
                </c:pt>
                <c:pt idx="12">
                  <c:v>322</c:v>
                </c:pt>
                <c:pt idx="13">
                  <c:v>336</c:v>
                </c:pt>
                <c:pt idx="14">
                  <c:v>358</c:v>
                </c:pt>
                <c:pt idx="15">
                  <c:v>368</c:v>
                </c:pt>
                <c:pt idx="16">
                  <c:v>386</c:v>
                </c:pt>
                <c:pt idx="17">
                  <c:v>409</c:v>
                </c:pt>
                <c:pt idx="18">
                  <c:v>468</c:v>
                </c:pt>
                <c:pt idx="19">
                  <c:v>495</c:v>
                </c:pt>
                <c:pt idx="20">
                  <c:v>506</c:v>
                </c:pt>
                <c:pt idx="21">
                  <c:v>532</c:v>
                </c:pt>
                <c:pt idx="22">
                  <c:v>592</c:v>
                </c:pt>
                <c:pt idx="23">
                  <c:v>587</c:v>
                </c:pt>
                <c:pt idx="24">
                  <c:v>584</c:v>
                </c:pt>
                <c:pt idx="25">
                  <c:v>580</c:v>
                </c:pt>
                <c:pt idx="26">
                  <c:v>584</c:v>
                </c:pt>
                <c:pt idx="27">
                  <c:v>591</c:v>
                </c:pt>
                <c:pt idx="28">
                  <c:v>600</c:v>
                </c:pt>
                <c:pt idx="29">
                  <c:v>610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Provisions maladie et obsèques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4829</c:v>
                </c:pt>
                <c:pt idx="1">
                  <c:v>4829</c:v>
                </c:pt>
                <c:pt idx="2">
                  <c:v>4829</c:v>
                </c:pt>
                <c:pt idx="3">
                  <c:v>4829</c:v>
                </c:pt>
                <c:pt idx="4">
                  <c:v>4829</c:v>
                </c:pt>
                <c:pt idx="5">
                  <c:v>4829</c:v>
                </c:pt>
                <c:pt idx="6">
                  <c:v>4829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Prestations maladie et décès de l'année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(8 mois)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0">
                  <c:v>210</c:v>
                </c:pt>
                <c:pt idx="1">
                  <c:v>503</c:v>
                </c:pt>
                <c:pt idx="2">
                  <c:v>231</c:v>
                </c:pt>
                <c:pt idx="3">
                  <c:v>662</c:v>
                </c:pt>
                <c:pt idx="4">
                  <c:v>1264</c:v>
                </c:pt>
                <c:pt idx="5">
                  <c:v>1965</c:v>
                </c:pt>
                <c:pt idx="6">
                  <c:v>1799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Investissements CMP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2985</c:v>
                </c:pt>
                <c:pt idx="1">
                  <c:v>3522</c:v>
                </c:pt>
                <c:pt idx="2">
                  <c:v>3786</c:v>
                </c:pt>
                <c:pt idx="3">
                  <c:v>4069</c:v>
                </c:pt>
                <c:pt idx="4">
                  <c:v>4945</c:v>
                </c:pt>
                <c:pt idx="5">
                  <c:v>6003</c:v>
                </c:pt>
                <c:pt idx="6">
                  <c:v>7084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Terrains</c:v>
                </c:pt>
              </c:strCache>
            </c:strRef>
          </c:tx>
          <c:spPr>
            <a:solidFill>
              <a:srgbClr val="53565A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0">
                  <c:v>3931</c:v>
                </c:pt>
                <c:pt idx="1">
                  <c:v>3444</c:v>
                </c:pt>
                <c:pt idx="2">
                  <c:v>3444</c:v>
                </c:pt>
                <c:pt idx="3">
                  <c:v>3444</c:v>
                </c:pt>
                <c:pt idx="4">
                  <c:v>3444</c:v>
                </c:pt>
                <c:pt idx="5">
                  <c:v>5246</c:v>
                </c:pt>
                <c:pt idx="6">
                  <c:v>5246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Créance Hôpital de la Police</c:v>
                </c:pt>
              </c:strCache>
            </c:strRef>
          </c:tx>
          <c:spPr>
            <a:solidFill>
              <a:srgbClr val="BBBCBC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Sheet1!$D$2:$D$8</c:f>
              <c:numCache>
                <c:formatCode># ##0</c:formatCode>
                <c:ptCount val="7"/>
                <c:pt idx="0">
                  <c:v>3408</c:v>
                </c:pt>
                <c:pt idx="1">
                  <c:v>3408</c:v>
                </c:pt>
                <c:pt idx="2">
                  <c:v>3408</c:v>
                </c:pt>
                <c:pt idx="3">
                  <c:v>3408</c:v>
                </c:pt>
                <c:pt idx="4">
                  <c:v>3408</c:v>
                </c:pt>
                <c:pt idx="5">
                  <c:v>3408</c:v>
                </c:pt>
                <c:pt idx="6">
                  <c:v>3408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Financement du Grenier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Sheet1!$E$2:$E$8</c:f>
              <c:numCache>
                <c:formatCode># ##0</c:formatCode>
                <c:ptCount val="7"/>
                <c:pt idx="0">
                  <c:v>0</c:v>
                </c:pt>
                <c:pt idx="1">
                  <c:v>27</c:v>
                </c:pt>
                <c:pt idx="2">
                  <c:v>458</c:v>
                </c:pt>
                <c:pt idx="3">
                  <c:v>504</c:v>
                </c:pt>
                <c:pt idx="4">
                  <c:v>651</c:v>
                </c:pt>
                <c:pt idx="5">
                  <c:v>817</c:v>
                </c:pt>
                <c:pt idx="6">
                  <c:v>915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Trésorerie</c:v>
                </c:pt>
              </c:strCache>
            </c:strRef>
          </c:tx>
          <c:spPr>
            <a:solidFill>
              <a:srgbClr val="060606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Sheet1!$F$2:$F$8</c:f>
              <c:numCache>
                <c:formatCode># ##0</c:formatCode>
                <c:ptCount val="7"/>
                <c:pt idx="0">
                  <c:v>630</c:v>
                </c:pt>
                <c:pt idx="1">
                  <c:v>2300</c:v>
                </c:pt>
                <c:pt idx="2">
                  <c:v>1233</c:v>
                </c:pt>
                <c:pt idx="3">
                  <c:v>1116</c:v>
                </c:pt>
                <c:pt idx="4">
                  <c:v>980</c:v>
                </c:pt>
                <c:pt idx="5">
                  <c:v>1964</c:v>
                </c:pt>
                <c:pt idx="6">
                  <c:v>3359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Fonds propres (résultat inclus)</c:v>
                </c:pt>
              </c:strCache>
            </c:strRef>
          </c:tx>
          <c:spPr>
            <a:solidFill>
              <a:srgbClr val="112A40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Sheet1!$B$2:$B$8</c:f>
              <c:numCache>
                <c:formatCode># ##0</c:formatCode>
                <c:ptCount val="7"/>
                <c:pt idx="0">
                  <c:v>-6743</c:v>
                </c:pt>
                <c:pt idx="1">
                  <c:v>-4659</c:v>
                </c:pt>
                <c:pt idx="2">
                  <c:v>-2599</c:v>
                </c:pt>
                <c:pt idx="3">
                  <c:v>-1668</c:v>
                </c:pt>
                <c:pt idx="4">
                  <c:v>-876</c:v>
                </c:pt>
                <c:pt idx="5">
                  <c:v>-438</c:v>
                </c:pt>
                <c:pt idx="6">
                  <c:v>-879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Résultat de l'exercice</c:v>
                </c:pt>
              </c:strCache>
            </c:strRef>
          </c:tx>
          <c:spPr>
            <a:solidFill>
              <a:srgbClr val="EFAC62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août 2026</c:v>
                </c:pt>
              </c:strCache>
            </c:strRef>
          </c:cat>
          <c:val>
            <c:numRef>
              <c:f>Sheet1!$C$2:$C$8</c:f>
              <c:numCache>
                <c:formatCode># ##0</c:formatCode>
                <c:ptCount val="7"/>
                <c:pt idx="0">
                  <c:v>1019</c:v>
                </c:pt>
                <c:pt idx="1">
                  <c:v>2084</c:v>
                </c:pt>
                <c:pt idx="2">
                  <c:v>2060</c:v>
                </c:pt>
                <c:pt idx="3">
                  <c:v>931</c:v>
                </c:pt>
                <c:pt idx="4">
                  <c:v>792</c:v>
                </c:pt>
                <c:pt idx="5">
                  <c:v>438</c:v>
                </c:pt>
                <c:pt idx="6">
                  <c:v>-441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directeur</c:v>
                </c:pt>
              </c:strCache>
            </c:strRef>
          </c:tx>
          <c:spPr>
            <a:ln w="28575">
              <a:solidFill>
                <a:srgbClr val="112A40"/>
              </a:solidFill>
            </a:ln>
          </c:spPr>
          <c:marker>
            <c:spPr>
              <a:solidFill>
                <a:srgbClr val="112A40"/>
              </a:solidFill>
              <a:ln>
                <a:solidFill>
                  <a:srgbClr val="112A4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01/01/2020</c:v>
                </c:pt>
                <c:pt idx="1">
                  <c:v>24/06/2020</c:v>
                </c:pt>
                <c:pt idx="2">
                  <c:v>16/06/2022</c:v>
                </c:pt>
                <c:pt idx="3">
                  <c:v>16/09/2022</c:v>
                </c:pt>
                <c:pt idx="4">
                  <c:v>16/12/2022</c:v>
                </c:pt>
                <c:pt idx="5">
                  <c:v>16/03/2023</c:v>
                </c:pt>
                <c:pt idx="6">
                  <c:v>16/09/2023</c:v>
                </c:pt>
                <c:pt idx="7">
                  <c:v>16/12/2023</c:v>
                </c:pt>
                <c:pt idx="8">
                  <c:v>16/06/2025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2.5</c:v>
                </c:pt>
                <c:pt idx="1">
                  <c:v>2.0</c:v>
                </c:pt>
                <c:pt idx="2">
                  <c:v>2.25</c:v>
                </c:pt>
                <c:pt idx="3">
                  <c:v>2.5</c:v>
                </c:pt>
                <c:pt idx="4">
                  <c:v>2.75</c:v>
                </c:pt>
                <c:pt idx="5">
                  <c:v>3.0</c:v>
                </c:pt>
                <c:pt idx="6">
                  <c:v>3.25</c:v>
                </c:pt>
                <c:pt idx="7">
                  <c:v>3.5</c:v>
                </c:pt>
                <c:pt idx="8">
                  <c:v>3.25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C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Helvetic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2DAE2-9FC7-48A6-84A5-82A6F426499B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B2686-849E-4084-A991-5071DA2BB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2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863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43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93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7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3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2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72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18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7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129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349794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00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22780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80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506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42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80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39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746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543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327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89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864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524001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263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 preserve="1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28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8359873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564" b="34369"/>
          <a:stretch/>
        </p:blipFill>
        <p:spPr>
          <a:xfrm>
            <a:off x="-147909" y="-58723"/>
            <a:ext cx="12339909" cy="691672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 userDrawn="1"/>
        </p:nvSpPr>
        <p:spPr>
          <a:xfrm>
            <a:off x="221940" y="6394008"/>
            <a:ext cx="10929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</p:spTree>
    <p:extLst>
      <p:ext uri="{BB962C8B-B14F-4D97-AF65-F5344CB8AC3E}">
        <p14:creationId xmlns:p14="http://schemas.microsoft.com/office/powerpoint/2010/main" val="20634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0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chart" Target="../charts/chart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0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" t="524" r="-2445" b="9082"/>
          <a:stretch/>
        </p:blipFill>
        <p:spPr>
          <a:xfrm>
            <a:off x="4883082" y="0"/>
            <a:ext cx="77856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92" y="0"/>
            <a:ext cx="5740400" cy="68580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17207E-7FD3-4B75-ADFE-CC565F8DB8A1}"/>
              </a:ext>
            </a:extLst>
          </p:cNvPr>
          <p:cNvSpPr txBox="1">
            <a:spLocks/>
          </p:cNvSpPr>
          <p:nvPr/>
        </p:nvSpPr>
        <p:spPr>
          <a:xfrm>
            <a:off x="9072000" y="6388244"/>
            <a:ext cx="2628000" cy="33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I" sz="1000" noProof="0">
                <a:solidFill>
                  <a:srgbClr val="FFFFFF"/>
                </a:solidFill>
                <a:latin typeface=".Helvetica"/>
                <a:ea typeface=".Helvetica Neue Interface" panose="020B0604020202020204" pitchFamily="34" charset="0"/>
                <a:cs typeface="Open Sans"/>
              </a:rPr>
              <a:t>Rapport d'étape au 15 octobre 2026</a:t>
            </a:r>
          </a:p>
        </p:txBody>
      </p:sp>
      <p:sp>
        <p:nvSpPr>
          <p:cNvPr id="9" name="Google Shape;138;p25"/>
          <p:cNvSpPr txBox="1"/>
          <p:nvPr/>
        </p:nvSpPr>
        <p:spPr>
          <a:xfrm>
            <a:off x="908861" y="2534894"/>
            <a:ext cx="46080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Rapport actuariel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et statistique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du FPPN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7408" y="229231"/>
            <a:ext cx="27045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SA au Capital de 100 millions FCFA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Immeuble le 24, 3e étage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Boulevard </a:t>
            </a:r>
            <a:r>
              <a:rPr lang="fr-CI" sz="1000" noProof="0" err="1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Clozel</a:t>
            </a: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, Plateau, Abidjan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06 BPM 459 Abidjan 06, Côte d’ivoire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NCC : 2404702K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RCCM : CI-ABJ-03-2024-B14-00114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Tel (225) 27 20 33 90 90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www.adenka.ci</a:t>
            </a:r>
          </a:p>
        </p:txBody>
      </p:sp>
    </p:spTree>
    <p:extLst>
      <p:ext uri="{BB962C8B-B14F-4D97-AF65-F5344CB8AC3E}">
        <p14:creationId xmlns:p14="http://schemas.microsoft.com/office/powerpoint/2010/main" val="104732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0" y="306000"/>
            <a:ext cx="72000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400" b="1">
                <a:solidFill>
                  <a:srgbClr val="112A40"/>
                </a:solidFill>
                <a:latin typeface="Helvetica"/>
              </a:rPr>
              <a:t>SOMMAIRE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400" y="1628999"/>
            <a:ext cx="0" cy="4123637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400" y="1628999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77418" y="1444418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1250" y="1518250"/>
            <a:ext cx="221498" cy="221498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444400" y="1447199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Résumé exécutif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56800" y="1447199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400" y="2041363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777418" y="1856781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1250" y="1930614"/>
            <a:ext cx="221498" cy="22149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444400" y="1859563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Contexte et démarche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56800" y="1859563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2400" y="2453727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777418" y="2269145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1250" y="2342978"/>
            <a:ext cx="221498" cy="221498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44400" y="2271927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Données et qualité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56800" y="2271927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32400" y="286609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777418" y="2681509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1250" y="2755341"/>
            <a:ext cx="221498" cy="221498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2444400" y="268429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Effectifs et cotisations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56800" y="268429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400" y="3278454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777418" y="3093872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1250" y="3167705"/>
            <a:ext cx="221498" cy="221498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2444400" y="3096654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Sinistralité et résultat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56800" y="3096654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17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2400" y="3690818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777418" y="3506236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1250" y="3580069"/>
            <a:ext cx="221498" cy="22149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2444400" y="3509018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Épargne des mutualistes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56800" y="3509018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21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400" y="4103181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777418" y="3918600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1250" y="3992432"/>
            <a:ext cx="221498" cy="221498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2444400" y="3921381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Prêts du Grenier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56800" y="3921381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24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32400" y="4515545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777418" y="4330963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1250" y="4404796"/>
            <a:ext cx="221498" cy="221498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2444400" y="4333745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Retraités et annexes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56800" y="4333745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29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32400" y="4927909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777418" y="4743327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1250" y="4817160"/>
            <a:ext cx="221498" cy="221498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2444400" y="4746109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Bilan et placements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756800" y="4746109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32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32400" y="5340272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777418" y="5155690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1250" y="5229523"/>
            <a:ext cx="221498" cy="22149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2444400" y="5158472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Analyses en attente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56800" y="5158472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37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32400" y="5752636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777418" y="5568054"/>
            <a:ext cx="369163" cy="369163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1250" y="5641887"/>
            <a:ext cx="221498" cy="221498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2444400" y="5570836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l"/>
            <a:r>
              <a:rPr sz="1400">
                <a:solidFill>
                  <a:srgbClr val="060606"/>
                </a:solidFill>
                <a:latin typeface="Helvetica"/>
              </a:rPr>
              <a:t>Annexes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756800" y="5570836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/>
          <a:lstStyle/>
          <a:p>
            <a:pPr algn="ctr"/>
            <a:r>
              <a:rPr sz="1400">
                <a:solidFill>
                  <a:srgbClr val="060606"/>
                </a:solidFill>
                <a:latin typeface="Helvetica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7757717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Résumé exécutif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FPPN dégage des excédents mais reste fragile et peu documenté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Fonds propres négatifs, épargne couverte à 16 % par des actifs dédiés et provisions techniques figées depuis 2020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analyses Adenka sur les documents reçus le 15/10/2026 (S/C : prestations / cotisations ; M : millions ; Md : milliards)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1 : Principaux constats au 15/10/2026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291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2000"/>
                <a:gridCol w="6696000"/>
                <a:gridCol w="2664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Domaine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Constat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Chiffre clé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Données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précomptes ne sont disponibles qu'à partir de 2023 ou 2024 selon le poste. Aucune base de prestations n'a été reçue.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4,45 millions de lignes contrôlées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Cotisations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 précompte total est bien de 5 % du salaire de base, mais réparti 3,77 % maladie et 1,23 % décès.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5,00 % = 3,77 % + 1,23 %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Maladie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prestations maladie comptabilisées augmentent plus vite que les cotisations.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S/C 6 % en 2021, 74 % en 2025, 97 % sur 8 mois 2026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Provisions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provisions pour prestations à payer n'ont pas changé depuis 2020.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4 829 M FCFA chaque année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Épargne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L'épargne des mutualistes (PEP, EFC) dépasse largement les actifs qui lui sont dédiés.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15,7 Md FCFA pour 2,6 Md d'actifs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Fonds propres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fonds propres sont négatifs sur toute la période, les excédents réduisent l'écart.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-6 743 M (2020), -438 M (2025)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Grenier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 portefeuille de prêts croît vite, financé par le FPPN, les retards ont culminé début 2026.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Encours 1 044 M FCFA au 31/08/2026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Actifs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Une part importante de l'actif est faite de créances et d'investissements peu liquides.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Hôpital de la Police 3 408 M, CMP 7 084 M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04171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Recommandations prioritaires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Cinq actions conditionnent la fiabilité des engagements et la solvabilité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trois premières actions relèvent de la transmission de données, les deux dernières, des décisions de gestion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analyses Adenka ; numéros de la liste des documents (PBC) en annexe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2 : Actions recommandées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1999" cy="194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03999"/>
                <a:gridCol w="3960000"/>
                <a:gridCol w="5400000"/>
                <a:gridCol w="1368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N°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Action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Objet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Priorité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les bases de prestations décès et santé 2020 à 2026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Calculer les provisions (PSAP), la sinistralité réelle par année de survenance et les délais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Urgente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 fichier des mutualistes avec date de naissance et sexe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Mesurer la mortalité, projeter l'équilibre technique, calculer les engagements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Urgente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les comptes individuels PEP et EFC (soldes, intérêts, retraits)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Évaluer la dette d'épargne envers chaque mutualiste et la rapprocher de la comptabilité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Urgente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Recalculer les provisions techniques à chaque clôture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Remplacer des montants figés depuis 2020 par une estimation fondée sur les dossiers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Haute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Adosser l'épargne à des placements liquides et suivis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Couvrir l'épargne exigible, encadrer le financement du Grenier et du CMP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Haute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2100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Contexte et démarche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Mission, périmètre, référentiels et outils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134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Mission et périmètre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volet actuariel couvre les engagements, les provisions et les placements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Période d'analyse : du 1er janvier 2020 au 31 août 2026, données arrêtées à l'envoi du FPPN reçu le 15/10/2026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offre technique Adenka et liste des documents demandés (PBC)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3 : Périmètre de la mission actuarielle et statistique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1999" cy="259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04000"/>
                <a:gridCol w="5616000"/>
                <a:gridCol w="3311999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Axe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Question traitée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État au 15/10/2026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Contrôle des données de base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données sont-elles complètes et cohérentes avec la comptabilité ?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Réalisé sur les données reçues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Engagements envers les adhérents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Combien le FPPN doit-il aux mutualistes et ayants droit ?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Partiel : épargne seulement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Suffisance des provisions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provisions couvrent-elles les prestations dues ?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Constat sur les montants, calcul en attente des dossiers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Adossement actif / passif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actifs sont-ils disponibles quand les dettes arrivent à échéance ?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Réalisé sur les balances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Adéquation des placements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placements sont-ils sûrs, liquides, rentables ?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Réalisé sur les balances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Indicateurs AIRMS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ratios des mutuelles sociales sont-ils respectés ?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En attente des seuils du règlement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Équilibre technique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Les cotisations futures couvrent-elles les prestations futures ?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En attente des âges et des dossiers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9459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Démarche et outils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Chaque chiffre du rapport est tracé jusqu'au fichier du FPPN qui le porte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Extraction sans perte, base contrôlée, analyses reproductibles : 4 287 fichiers inventoriés, 724 fichiers mensuels retenus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scripts Python Adenka (extraction_fppn.py, base_fppn.py, grenier_fppn.py, compta_fppn.py, analyses_fppn.py)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1548000"/>
            <a:ext cx="792000" cy="576000"/>
          </a:xfrm>
          <a:prstGeom prst="round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Helvetica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8000" y="1512000"/>
            <a:ext cx="4392000" cy="32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600" b="1">
                <a:solidFill>
                  <a:srgbClr val="112A40"/>
                </a:solidFill>
                <a:latin typeface="Helvetica"/>
              </a:rPr>
              <a:t>Inventaire et extraction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48000" y="1835999"/>
            <a:ext cx="4392000" cy="158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400" b="0">
                <a:solidFill>
                  <a:srgbClr val="060606"/>
                </a:solidFill>
                <a:latin typeface="Helvetica"/>
              </a:rPr>
              <a:t>4 287 fichiers lus, feuilles Excel converties sans perte, empreinte SHA-256 de chaque fichier.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4000" y="1548000"/>
            <a:ext cx="792000" cy="576000"/>
          </a:xfrm>
          <a:prstGeom prst="round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Helvetica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6000" y="1512000"/>
            <a:ext cx="4392000" cy="32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600" b="1">
                <a:solidFill>
                  <a:srgbClr val="112A40"/>
                </a:solidFill>
                <a:latin typeface="Helvetica"/>
              </a:rPr>
              <a:t>Base d'analyse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6000" y="1835999"/>
            <a:ext cx="4392000" cy="158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400" b="0">
                <a:solidFill>
                  <a:srgbClr val="060606"/>
                </a:solidFill>
                <a:latin typeface="Helvetica"/>
              </a:rPr>
              <a:t>Lecture par en-tête ou par contenu, lignes de total écartées, une source retenue par poste et par mois.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00" y="3780000"/>
            <a:ext cx="792000" cy="576000"/>
          </a:xfrm>
          <a:prstGeom prst="round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Helvetica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8000" y="3744000"/>
            <a:ext cx="4392000" cy="32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600" b="1">
                <a:solidFill>
                  <a:srgbClr val="112A40"/>
                </a:solidFill>
                <a:latin typeface="Helvetica"/>
              </a:rPr>
              <a:t>Contrôles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48000" y="4068000"/>
            <a:ext cx="4392000" cy="158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400" b="0">
                <a:solidFill>
                  <a:srgbClr val="060606"/>
                </a:solidFill>
                <a:latin typeface="Helvetica"/>
              </a:rPr>
              <a:t>Rapprochement aller / retour, totaux imprimés du Grenier, équilibre des balances comptables.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4000" y="3780000"/>
            <a:ext cx="792000" cy="576000"/>
          </a:xfrm>
          <a:prstGeom prst="round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Helvetica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6000" y="3744000"/>
            <a:ext cx="4392000" cy="32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600" b="1">
                <a:solidFill>
                  <a:srgbClr val="112A40"/>
                </a:solidFill>
                <a:latin typeface="Helvetica"/>
              </a:rPr>
              <a:t>Analyses et rapport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6000" y="4068000"/>
            <a:ext cx="4392000" cy="1584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400" b="0">
                <a:solidFill>
                  <a:srgbClr val="060606"/>
                </a:solidFill>
                <a:latin typeface="Helvetica"/>
              </a:rPr>
              <a:t>Indicateurs, graphiques natifs, classeur des calculs, données externes validées par Adenka.</a:t>
            </a:r>
          </a:p>
        </p:txBody>
      </p:sp>
    </p:spTree>
    <p:extLst>
      <p:ext uri="{BB962C8B-B14F-4D97-AF65-F5344CB8AC3E}">
        <p14:creationId xmlns:p14="http://schemas.microsoft.com/office/powerpoint/2010/main" val="392094078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Données et qualité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Couverture de la période, contrôles et anomalies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0395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Couverture de la période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données mensuelles ne couvrent pas les années 2020 à 2022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Sur 80 mois, seuls la comptabilité et le PEP sont complets, aucune donnée de prestations n'a été reçue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 : Mois reçus par flux de données, sur 80 mois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nombre de mois (janvier 2020 à août 2026)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comptabilité couvre toute la période en totaux annuels.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balances 2020 incluent le cumul de janvier à août, seul le détail des écritures de ces huit mois manque.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précomptes mensuels commencent en 2023 ou 2024.</a:t>
            </a:r>
            <a:r>
              <a:rPr sz="1400" b="0">
                <a:solidFill>
                  <a:srgbClr val="060606"/>
                </a:solidFill>
                <a:latin typeface="Helvetica"/>
              </a:rPr>
              <a:t> Maladie et décès débutent en janvier 2024, retraités en février 2024, EFC en janvier 2023.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PEP est complet grâce aux fichiers texte de la Solde.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Ils donnent le détail par mutualiste et par mois de 2020 à 2022.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Aucune base de prestations n'a été transmise.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analyses de sinistres et de provisions par dossier restent en attente.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33556045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Contrôles d'exhaustivité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base est exhaustive et les anomalies des fichiers sources sont corrigées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87 lignes de total écartées (10,3 Md FCFA de double compte évité) et 17 montants doublés corrigés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journal de contrôle de l'extraction et traitements Adenka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4 : Contrôles réalisés et résultats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1998" cy="259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1999"/>
                <a:gridCol w="4031999"/>
                <a:gridCol w="3528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Contrôle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Résultat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Conséquence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Archive transmise et fichiers copiés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Empreintes SHA-256 identiques (218 fichiers sur 218)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Aucune perte au transfert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Feuilles Excel converties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Lignes et cellules identiques à la source (491 sur 491)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Aucune perte à la conversion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Balances âgées du Grenier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Nombre de prêts, encours et montants débloqués égaux aux totaux imprimés (37 sur 37)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Données de prêts fiables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Balances comptables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Débit = crédit, ouverture + mouvements = solde (7 exercices)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Comptabilité cohérente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Lignes de total dans les fichiers de la Solde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87 lignes écartées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Évite de compter deux fois les montants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Montants doublés (décès, avril 2024)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17 montants saisis deux fois (ex. 4792447924 pour 47924)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Corrigés et signalés au FPPN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Fichiers vides ou endommagés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Décès et maladie de décembre 2024 vides, 7 fichiers comptables endommagés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À renvoyer par le FPPN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9499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Rapprochement aller et retour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Solde précompte environ 98 % des montants demandés par le FPPN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Sur les mois communs, l'écart entre montants demandés et précomptés reste faible, mais certains mois s'écartent fortement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2 : Montant précompté rapporté au montant demandé, mois communs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% du montant demandé (fichier aller)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taux de précompte moyen est compris entre 98 % et 100 %.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montants demandés par le FPPN sont donc presque entièrement retenus sur les salaires et les pensions.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Certains mois s'écartent nettement.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 mois le plus bas descend à 69 % pour le Grenier et à 77 % pour le PEP.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Ces écarts traduisent des rejets ou des décalages.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Ils devront être expliqués par le FPPN, mois par mois, à partir des listes de rejets de la Solde.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55771109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Effectifs et cotisations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Cotisants, retraités, taux de cotisation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3057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Effectifs cotisants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cotisants actifs augmentent d'un tiers en trente mois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23 119 cotisants en janv. 24, 31 198 en août 26, les recrues entrent chaque mois de juillet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3 : Cotisants actifs précomptés (poste maladie 936), par mois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nombre de mutualistes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effectifs cotisants progressent de 35 %.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Ils passent de 23 119 en janvier 2024 à 31 198 en août 2026.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hausse se fait par paliers en juillet.</a:t>
            </a:r>
            <a:r>
              <a:rPr sz="1400" b="0">
                <a:solidFill>
                  <a:srgbClr val="060606"/>
                </a:solidFill>
                <a:latin typeface="Helvetica"/>
              </a:rPr>
              <a:t> Juillet 2024 compte 4 926 entrées et juillet 2025 4 127 : ce sont les promotions de recrues.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sorties sont faibles et concentrées.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1 753 sorties en 2024 et 464 en 2025, leurs motifs (retraite, décès, radiation) ne sont pas connus.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fichier ne donne ni âge ni sexe.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Sans ces données, la mortalité et les départs à la retraite ne peuvent pas être projetés.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 (décembre 2024 : fichier vide)</a:t>
            </a:r>
          </a:p>
        </p:txBody>
      </p:sp>
    </p:spTree>
    <p:extLst>
      <p:ext uri="{BB962C8B-B14F-4D97-AF65-F5344CB8AC3E}">
        <p14:creationId xmlns:p14="http://schemas.microsoft.com/office/powerpoint/2010/main" val="17004348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Structure des effectifs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Une population jeune en service, recrutée en majorité depuis moins de dix ans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 janv. 25, ancienneté médiane de 7,5 ans et salaire de base médian de 186 765 FCFA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4 : Agents par ancienneté de service, janv.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nombre d'agents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57 % des agents ont moins de dix ans de service.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fortes promotions récentes rajeunissent la population cotisante.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Une seconde vague a 15 à 25 ans de service.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Elle représente 31 % des agents et partira à la retraite dans les dix à quinze prochaines années.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Ces départs feront passer des cotisants au statut de retraités CGRAE.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 coût de leur prise en charge santé devra être projeté dès que les âges seront connus.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 (fichiers maladie 936 détaillés : grade, date de recrutement, salaire de base)</a:t>
            </a:r>
          </a:p>
        </p:txBody>
      </p:sp>
    </p:spTree>
    <p:extLst>
      <p:ext uri="{BB962C8B-B14F-4D97-AF65-F5344CB8AC3E}">
        <p14:creationId xmlns:p14="http://schemas.microsoft.com/office/powerpoint/2010/main" val="91672348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Taux de cotisation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Solde précompte 5 % du salaire de base, mais pas selon la répartition annoncée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Sur 209 670 lignes, le précompte maladie vaut 3,77 % et le précompte décès 1,23 % du salaire de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5 : Répartition du taux de 5 % : annoncé et observé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% du salaire de base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total de 5 % du salaire de base est respecté.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 se vérifie sur la quasi-totalité des agents des mois détaillés.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répartition entre maladie et décès diffère du barème annoncé.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La Solde retient 3,77 % au poste maladie et 1,23 % au poste décès, au lieu de 3,5 % et 1,5 %.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comptabilité répartit les cotisations à peu près à 70 / 30.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 résultat technique par garantie dépend donc d'une clé qui n'est pas celle des précomptes.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barème officiel n'a pas été reçu.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 doit trancher entre les deux répartitions.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 ; balances des comptes du FPPN (Sage 100), exercices 2020 à 2025 et 01/01 au 31/08/2026 (provisoire)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235921717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Cotisations comptabilisées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cotisations comptabilisées progressent de 46 % entre 2020 et 2025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Cotisations maladie et décès : 2 345 M FCFA en 2020, 3 418 M en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6 : Cotisations comptabilisées par garantie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cotisations suivent la hausse des effectifs et des salaires.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Elles passent de 2 345 M FCFA en 2020 à 3 418 M en 2025.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En 2025, la comptabilité et les précomptes concordent en maladie à 7 % près.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Comptabilité : 2 409 M, précomptes maladie et retraités : 2 587 M.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Fin 2024 et fin 2025, l'État doit des cotisations au FPPN.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 compte de cotisations à recevoir du Trésor atteint 606 M puis 704 M FCFA, il est soldé en 2026.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195577752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Sinistralité et résultat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Prestations, frais de gestion et résultat comptable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2878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Sinistralité comptable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prestations maladie absorbent désormais presque toutes les cotisations maladie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Prestations / cotisations maladie : 6 % en 2021, 74 % en 2025 et 97 % sur huit mois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7 : Prestations comptabilisées rapportées aux cotisations (S/C)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% des cotisations de la garantie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ratio maladie a été multiplié par douze en quatre ans.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 passe de 6 % en 2021 à 74 % en 2025, puis 97 % sur les huit premiers mois de 2026.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ratios très bas de 2020 à 2022 sont suspects.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Ils laissent penser que des factures de ces années n'ont pas été comptabilisées à temps, ce qui est cohérent avec l'apurement d'arriérés en 2026.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En décès, le ratio est stable autour de 20 % depuis 2022.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En 2020, le FPPN payait une prime d'assurance de 574 M FCFA (82 % des cotisations décès), en 2021, les obsèques atteignent 55 %.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Seule une base des prestations par date de soins permettra de mesurer le coût réel de chaque année.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379773979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Prestations maladie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Plus de la moitié des prestations maladie est enregistrée sans détail de nature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 2025, le compte « charges de prestations maladie » porte 995 M FCFA sur 1 772 M de prestations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8 : Prestations maladie comptabilisées par 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prestations maladie passent de 101 M FCFA en 2021 à 1 772 M en 2025.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La hausse touche toutes les natures de soins.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L'imagerie, les analyses et les consultations progressent le plus.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Elles représentent ensemble 37 % des prestations de 2025.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Un compte global de prestations maladie concentre plus de la moitié des montants.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 empêche de suivre la consommation par type de soins et par prestataire.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176523972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Frais de gestion et résultat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excédents se réduisent et deviennent un déficit en 2026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Résultat net : 1 019 M FCFA en 2020, 438 M en 2025, -441 M sur huit mois de 2026 (provisoire)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9 : Frais de gestion et résultat 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frais de gestion pèsent entre 31 % et 40 % des cotisations depuis 2021.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Ils se situent autour d'un milliard de FCFA par an.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résultat net baisse depuis 2021.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La hausse des prestations maladie réduit l'excédent de 2 084 M FCFA en 2021 à 438 M en 2025.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huit premiers mois de 2026 sont déficitaires.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amortissements et provisions de fin d'année n'étant pas encore passés, le déficit annuel sera plus lourd.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 ; frais de gestion : comptes 61 à 66 hors prime d'assurance décès</a:t>
            </a:r>
          </a:p>
        </p:txBody>
      </p:sp>
    </p:spTree>
    <p:extLst>
      <p:ext uri="{BB962C8B-B14F-4D97-AF65-F5344CB8AC3E}">
        <p14:creationId xmlns:p14="http://schemas.microsoft.com/office/powerpoint/2010/main" val="197226444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Épargne des mutualistes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PEP et EFC : dette envers les mutualistes et actifs dédiés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6901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de l'épargne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L'épargne des mutualistes n'est couverte qu'à 16 % par des actifs dédiés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 31/08/2026 : 15,7 Md FCFA d'épargne PEP et EFC pour 2,6 Md de banques, dépôts à terme et fonds dédiés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10 : Épargne au passif et actifs dédiés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dette d'épargne augmente de 45 % depuis 2020.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L'EFC triple (3 462 M à 10 514 M FCFA), le PEP baisse puis remonte.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actifs dédiés n'en couvrent qu'une faible part.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 taux de couverture varie entre 6 % et 19 % selon les années.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L'épargne finance donc d'autres emplois.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Terrains, investissements au CMP, créance sur l'Hôpital de la Police et prêts du Grenier absorbent les ressources.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Des retraits importants exposent le FPPN à un manque de liquidités.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conditions de retrait des produits doivent être connues pour mesurer ce risque.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 (comptes 41195100, 41195200, 5211020, 5221020, 5211030, 5221030, 5330)</a:t>
            </a:r>
          </a:p>
        </p:txBody>
      </p:sp>
    </p:spTree>
    <p:extLst>
      <p:ext uri="{BB962C8B-B14F-4D97-AF65-F5344CB8AC3E}">
        <p14:creationId xmlns:p14="http://schemas.microsoft.com/office/powerpoint/2010/main" val="57967806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Versements d'épargne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versements au PEP ont été multipliés par quatre depuis 2022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 2025 : 2 030 M FCFA versés au PEP par 16 932 épargnants et 2 160 M à l'EFC (onze mois)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11 : Versements précomptés par produit d'épargne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 (EFC : données à partir de 2023)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nombre d'épargnants PEP passe de 1 327 en 2020 à 17 199 en 2026.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La collecte s'accélère à partir de 2023.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comptes d'épargne augmentent moins vite que les versements.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En 2025, le PEP reçoit 2 030 M FCFA mais le compte ne progresse que de 1 135 M : la différence correspond à des sorties (échéances, retraits).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poste 998 porte aussi d'autres références (PTI, RPEP, EP).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Leur nature doit être précisée : épargne, remboursement de prêts ou autre produit.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Sans comptes individuels, la dette réelle envers chaque épargnant ne peut pas être vérifiée.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 (PEP 2020 à 2022 : fichiers texte de la Solde)</a:t>
            </a:r>
          </a:p>
        </p:txBody>
      </p:sp>
    </p:spTree>
    <p:extLst>
      <p:ext uri="{BB962C8B-B14F-4D97-AF65-F5344CB8AC3E}">
        <p14:creationId xmlns:p14="http://schemas.microsoft.com/office/powerpoint/2010/main" val="177833893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Prêts du Grenier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Encours, production, retards et précomptes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1757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Encours du Grenier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L'encours de prêts a été multiplié par 132 depuis fin 2021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 31/08/2026 : 2 959 prêts, 1 044 M FCFA d'encours, dont 915 M financés par le FPPN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12 : Encours des prêts et financement apporté par le FPPN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L'activité de prêt démarre en 2021 et croît très vite.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L'encours passe de 7,9 M FCFA (17 prêts) fin 2021 à 1 044 M au 31/08/2026.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FPPN finance l'essentiel de cet encours.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Sa créance sur le Grenier atteint 915 M FCFA, soit 88 % de l'encours.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prêts sont courts et chers.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Durée médiane de 10 mois, taux médian de 18 %, encours réparti sur 2 514 emprunteurs (les dix premiers : 2,3 %).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exports du logiciel de prêts du Grenier du Policier (balances âgées, production) reçus le 15/10/2026 ; traitements Adenka ; balances des comptes du FPPN (Sage 100), exercices 2020 à 2025 et 01/01 au 31/08/2026 (provisoire)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332201501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Production de prêts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crédits scolaires et habitat portent la croissance de la production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Montants débloqués : 270 M FCFA en 2022, 1 609 M en 2025 (4 774 prêts)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13 : Montants débloqués par type de crédit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production annuelle a été multipliée par six entre 2022 et 2025.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Elle atteint 1 609 M FCFA en 2025.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Crédits scolaires et habitat dominent.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En 2025, ils représentent 66 % des montants débloqués, le crédit flash, plus petit, est le plus nombreux.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crédit habitat allonge les risques.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montants unitaires sont plus importants, alors que la politique de crédit de 2021 transmise est en ancien format et n'a pas pu être lue.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exports du logiciel de prêts du Grenier du Policier (balances âgées, production) reçus le 15/10/2026 ; traitements Adenka (2026 : janvier à août, portefeuilles CRF, CRO et CRS)</a:t>
            </a:r>
          </a:p>
        </p:txBody>
      </p:sp>
    </p:spTree>
    <p:extLst>
      <p:ext uri="{BB962C8B-B14F-4D97-AF65-F5344CB8AC3E}">
        <p14:creationId xmlns:p14="http://schemas.microsoft.com/office/powerpoint/2010/main" val="77490222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Retards de remboursement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retards ont culminé début 2026 avant de revenir à un niveau faible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Encours en retard de plus de 30 jours : 62 % fin janvier 2026, 1,8 % au 31/08/2026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14 : Part de l'encours en retard de plus de 30 et de plus de 90 jours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% de l'encours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Fin janvier 2026, 62 % de l'encours avait plus de 30 jours de retard.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La plupart de ces retards étaient compris entre 31 et 90 jours.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Ces retards se sont résorbés en quelques mois.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La part en retard de plus de 30 jours revient à 1,8 % de l'encours au 31/08/2026.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profil fait penser à des échéances non précomptées en fin d'année 2025.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La cause doit être confirmée par le Grenier et la Solde.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prêts en retard de plus de 180 jours (126 prêts) doivent être provisionnés.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exports du logiciel de prêts du Grenier du Policier (balances âgées, production) reçus le 15/10/2026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345224744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Échéances et précomptes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précomptes de la Solde ne couvrent que 76 % à 85 % des échéances dues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De janvier à août 2026, les échéances des prêts en cours dépassent chaque mois les précomptes 9X4 de 25 à 45 M FCFA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15 : Échéances des prêts en cours et précomptes 9X4,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Une part des échéances n'est pas retenue sur les salaires.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L'écart mensuel représente 15 % à 24 % des échéances dues.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Cet écart peut avoir plusieurs causes.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Remboursements payés autrement (caisse, banque), décalage du premier précompte, ou rejets de la Solde.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L'identifiant des emprunteurs complique le rapprochement.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L'export du logiciel de prêts perd la lettre-clé du mécano (321100C devient 321100).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Un rapprochement prêt par prêt est nécessaire</a:t>
            </a:r>
            <a:r>
              <a:rPr sz="1400" b="0">
                <a:solidFill>
                  <a:srgbClr val="060606"/>
                </a:solidFill>
                <a:latin typeface="Helvetica"/>
              </a:rPr>
              <a:t> avec les encaissements bancaires du Grenier.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exports du logiciel de prêts du Grenier du Policier (balances âgées, production) reçus le 15/10/2026 ; traitements Adenka ; fichiers de précomptes de la Solde, de la CGRAE et du FPPN reçus le 15/10/2026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118645829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Retraités et annexes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CGRAE, flotte automobile, MEDOC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3543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Retraités CGRAE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retraités cotisants sont passés de 16 à 610 en deux ans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Précompte moyen de 11 940 FCFA par mois sur la pension, données disponibles depuis février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16 : Retraités précomptés par la CGRAE, par mois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nombre de retraités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précompte sur pension démarre en 2024 et monte en charge.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610 retraités sont précomptés en août 2026.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retraités consomment davantage de soins que les actifs.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Leur cotisation (environ 11 900 FCFA par mois) doit être comparée à leur coût santé dès réception des factures.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Plusieurs anomalies de gestion sont visibles.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Précomptes en double ou indus remboursés, numéros de décision erronés, précomptes non effectués.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convention avec la CGRAE n'a pas été reçue.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 (fichiers retour de la CGRAE)</a:t>
            </a:r>
          </a:p>
        </p:txBody>
      </p:sp>
    </p:spTree>
    <p:extLst>
      <p:ext uri="{BB962C8B-B14F-4D97-AF65-F5344CB8AC3E}">
        <p14:creationId xmlns:p14="http://schemas.microsoft.com/office/powerpoint/2010/main" val="322623965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Produits annexes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Deux produits sont précomptés sans documentation transmise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Flotte automobile (9W3) : 75 à 112 adhérents par an, MEDOC (8Z7) : 5 000 FCFA par mois pour 118 à 145 adhérents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fichiers de précomptes de la Solde, de la CGRAE et du FPPN reçus le 15/10/2026 ; traitements Adenka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5 : Produits annexes et points à clarifier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29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0000"/>
                <a:gridCol w="4896000"/>
                <a:gridCol w="4536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Produit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Ce que montrent les données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À obtenir du FPPN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Flotte automobile GNA (9W3)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Précomptes mensuels de 2023 à 2026, environ 10 000 FCFA par adhérent, montants reversés à l'assureur non connus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Convention avec l'assureur, primes reversées, sinistres, rôle et rémunération du FPPN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MEDOC (8Z7)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Précompte de 5 000 FCFA par mois depuis novembre 2025, 121 contrats individuels signés en novembre et décembre 2025, retours vides en février et avril 2026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Nature du produit, garanties, bénéficiaires, lien avec la santé, comptabilisation (compte 70100001)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Poste 998, références autres que PEP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Références PTI, RPEP, EP, TI sur le même poste que l'épargne PEP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Nature de chaque référence (prêt, épargne, autre)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35908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Bilan et placements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Provisions, structure de l'actif, fonds propres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7015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Provisions techniques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provisions pour prestations à payer sont figées depuis 2020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2 868 M FCFA en maladie et 1 962 M en obsèques, sans changement de 2020 à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17 : Provisions pour prestations à payer et prestations de l'année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montant des provisions est identique à chaque clôture.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Seul le numéro de compte change en 2024 (passage du compte 19 au compte 158).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Pendant ce temps, les prestations ont été multipliées par quatre.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Elles passent de 503 M FCFA en 2021 à 1 965 M en 2025.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Une provision qui ne bouge pas n'est pas une estimation.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Elle ne reflète ni les dossiers en attente, ni les factures non reçues, ni les sinistres non déclarés.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calcul (PSAP, Chain Ladder) suppose les bases de prestations demandées.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 (comptes 19011000, 19012000, 15801000, 15802000)</a:t>
            </a:r>
          </a:p>
        </p:txBody>
      </p:sp>
    </p:spTree>
    <p:extLst>
      <p:ext uri="{BB962C8B-B14F-4D97-AF65-F5344CB8AC3E}">
        <p14:creationId xmlns:p14="http://schemas.microsoft.com/office/powerpoint/2010/main" val="318996665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Structure de l'actif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L'actif repose sur des créances et des investissements peu liquides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 31/08/2026 : CMP 7 084 M, terrains 5 246 M, Hôpital de la Police 3 408 M, trésorerie 3 359 M FCFA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18 : Principaux postes de l'actif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investissements au CMP sont passés de 2 985 M à 7 084 M FCFA.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Ils représentent le premier emploi des ressources.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créance sur l'Hôpital de la Police (3 408 M FCFA) n'a pas bougé depuis 2020.</a:t>
            </a:r>
            <a:r>
              <a:rPr sz="1400" b="0">
                <a:solidFill>
                  <a:srgbClr val="060606"/>
                </a:solidFill>
                <a:latin typeface="Helvetica"/>
              </a:rPr>
              <a:t> Sans remboursement ni provision, sa valeur est incertaine.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La trésorerie reste faible au regard des dettes exigibles.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3 359 M FCFA au 31/08/2026, pour 15,7 Md d'épargne et 690 M de dettes envers les cliniques.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28985204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Fonds propres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fonds propres restent négatifs malgré six années d'excédents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Fonds propres : -6 743 M FCFA fin 2020, -438 M fin 2025, -879 M au 31/08/2026 (provisoire)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19 : Fonds propres et résultat de l'exercice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millions de FCFA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pertes passées pèsent encore sur le bilan.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 compte de pertes atteint 11 392 M FCFA en 2020 et 5 273 M en 2025.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excédents de 2020 à 2025 réduisent l'écart sans le combler.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fonds propres remontent de 6,7 Md FCFA à 0,4 Md FCFA négatifs.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déficit de 2026 inverse la tendance.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Les fonds propres reculent à nouveau sur les huit premiers mois.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Des fonds propres négatifs signifient que les dettes dépassent les actifs.</a:t>
            </a:r>
            <a:r>
              <a:rPr sz="1400" b="0">
                <a:solidFill>
                  <a:srgbClr val="060606"/>
                </a:solidFill>
                <a:latin typeface="Helvetica"/>
              </a:rPr>
              <a:t> Le respect des ratios du règlement UEMOA devra être vérifié sur le texte intégral.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balances des comptes du FPPN (Sage 100), exercices 2020 à 2025 et 01/01 au 31/08/2026 (provisoire) ; traitements Adenka (comptes 10 à 13 et résultat de l'exercice)</a:t>
            </a:r>
          </a:p>
        </p:txBody>
      </p:sp>
    </p:spTree>
    <p:extLst>
      <p:ext uri="{BB962C8B-B14F-4D97-AF65-F5344CB8AC3E}">
        <p14:creationId xmlns:p14="http://schemas.microsoft.com/office/powerpoint/2010/main" val="154914220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Rendement des placements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problème des placements est leur faible volume, pas leur rendement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Rendement moyen apparent des dépôts à terme et fonds de 2021 à 2025 : 6,5 % par an, pour un taux directeur BCEAO de 2 % à 3,5 %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1386000"/>
            <a:ext cx="65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FAC62"/>
                </a:solidFill>
                <a:latin typeface="Helvetica"/>
              </a:rPr>
              <a:t>Figure 20 : Taux directeur BCEAO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602000"/>
            <a:ext cx="65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60606"/>
                </a:solidFill>
                <a:latin typeface="Helvetica"/>
              </a:rPr>
              <a:t>En %, date d'effet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3999" y="1782000"/>
          <a:ext cx="6552000" cy="4284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43999" y="1512000"/>
            <a:ext cx="4176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Les produits financiers sont faibles en montant.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Ils totalisent 174 M FCFA de 2021 à 2025 pour un encours moyen de placements d'environ 540 M FCFA.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rendement moyen apparent est de 6,5 % par an.</a:t>
            </a:r>
            <a:r>
              <a:rPr sz="1400" b="0">
                <a:solidFill>
                  <a:srgbClr val="060606"/>
                </a:solidFill>
                <a:latin typeface="Helvetica"/>
              </a:rPr>
              <a:t> Il dépasse le taux directeur, mais il est irrégulier : la plus grande partie des intérêts est enregistrée en 2025, à la clôture d'un dépôt à terme.</a:t>
            </a:r>
          </a:p>
          <a:p>
            <a:pPr algn="just">
              <a:spcAft>
                <a:spcPts val="800"/>
              </a:spcAft>
            </a:pPr>
            <a:r>
              <a:rPr sz="1400" b="1">
                <a:solidFill>
                  <a:srgbClr val="060606"/>
                </a:solidFill>
                <a:latin typeface="Helvetica"/>
              </a:rPr>
              <a:t>Le vrai sujet est le volume placé.</a:t>
            </a:r>
            <a:r>
              <a:rPr sz="1400" b="0">
                <a:solidFill>
                  <a:srgbClr val="060606"/>
                </a:solidFill>
                <a:latin typeface="Helvetica"/>
              </a:rPr>
              <a:t> Environ 0,5 Md FCFA de placements face à 15,7 Md FCFA d'épargne à rendre aux mutualistes.</a:t>
            </a:r>
          </a:p>
        </p:txBody>
      </p:sp>
      <p:sp>
        <p:nvSpPr>
          <p:cNvPr id="34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BCEAO, communiqués du Comité de politique monétaire (données validées par Adenka) ; balances des comptes du FPPN (Sage 100), exercices 2020 à 2025 et 01/01 au 31/08/2026 (provisoire) ; traitements Adenka</a:t>
            </a:r>
          </a:p>
        </p:txBody>
      </p:sp>
    </p:spTree>
    <p:extLst>
      <p:ext uri="{BB962C8B-B14F-4D97-AF65-F5344CB8AC3E}">
        <p14:creationId xmlns:p14="http://schemas.microsoft.com/office/powerpoint/2010/main" val="229254421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 en attente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Documents à obtenir, risques, points à clarifier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4813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Analyses en attente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analyses actuarielles centrales dépendent de trois bases non reçues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Provisions, mortalité, équilibre technique et contrôles santé seront réalisés dès réception des documents listés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liste des documents demandés (PBC) pointée au 18/10/2026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6 : Analyses en attente et documents nécessaires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259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92000"/>
                <a:gridCol w="4464000"/>
                <a:gridCol w="4176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Analyse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Objet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Documents nécessaires (n° de la PBC)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Provisions pour sinistres (PSAP, Chain Ladder)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Montant restant à payer, y compris sinistres non déclarés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Bases des prestations décès et santé, dossiers non payés (13, 14, 28, 29, 40)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Sinistralité par année de survenance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Coût réel des prestations de chaque année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Bases des prestations (13, 28, 40)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Mortalité des policiers (table CIMA H)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Comparer la mortalité observée à la table réglementaire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Mutualistes avec date de naissance et sexe (9), décès (28), table CIMA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Délais et dossiers en attente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Délais de déclaration, d'instruction et de paiement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Bases des prestations avec dates (28, 40)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Contrôles santé (S1 à S7)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Doublons, bénéficiaires hors fichier, soins après sortie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Base des factures santé (40), cartes actives (42)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Engagements d'épargne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Dette envers chaque épargnant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Comptes individuels PEP et EFC, règlement des produits (16, 17)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Ratios AIRMS et équilibre technique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Solvabilité réglementaire, projection des cotisations et prestations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Texte intégral du règlement UEMOA, âges et barèmes (1, 2, 3)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56983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Risques et points à clarifier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Sept points demandent une réponse du FPPN avant la prochaine version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Chaque point est relié à un constat chiffré du rapport et à une demande précise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analyses Adenka sur les documents reçus le 15/10/2026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7 : Points à clarifier avec le FPPN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1999" cy="259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03999"/>
                <a:gridCol w="3960000"/>
                <a:gridCol w="6768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N°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Point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Question au FPPN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Répartition du taux de 5 %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Quel barème s'applique : 3,5 % / 1,5 % ou 3,77 % / 1,23 % ? Pourquoi la comptabilité suit-elle une autre clé que la Solde ?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Provisions techniques figées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Comment les provisions maladie et obsèques ont-elles été calculées ? Pourquoi n'ont-elles pas changé depuis 2020 ?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Couverture de l'épargne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Quelles sont les conditions de retrait du PEP et de l'EFC ? Comment le FPPN ferait-il face à des retraits importants ?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Créance sur l'Hôpital de la Police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Quelle est la nature de la créance de 3 408 M FCFA ? Un remboursement est-il prévu ?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Retards du Grenier début 2026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Pourquoi 62 % de l'encours était-il en retard fin janvier 2026 ? Comment sont réglées les échéances non précomptées ?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Sinistralité 2020 à 2022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Des factures de ces années ont-elles été comptabilisées plus tard ? Pour quels montants ?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Données manquantes ou endommagées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les précomptes 2020 à 2023, les fichiers vides de décembre 2024 et les grands livres endommagés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8299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Annexes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Méthodes, outils, listes et références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8019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Méthodes et formules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999" y="720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8 : Indicateurs, formules et sources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3999" y="990000"/>
          <a:ext cx="11232000" cy="291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20000"/>
                <a:gridCol w="4752000"/>
                <a:gridCol w="3960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Indicateur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Formule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Source des données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Ratio S/C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Prestations comptabilisées de l'année / cotisations comptabilisées de l'année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Prestations : comptes 601, 6013, 6018, 60800007, 6021, 6024. Cotisations : comptes 7010, 7021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Taux de cotisation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Précompte du mois / salaire de base du mois, par agent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Fichiers maladie 936 détaillés, décès 8Z6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Taux de précompte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Montant retour (Solde, CGRAE) / montant aller (FPPN), mois communs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Fichiers aller et retour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Entrées et sorties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Matricules présents au mois m et absents au mois m-1 (et inversement)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Fichiers maladie 936, mois consécutifs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Couverture de l'épargne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(Banques, DAT et FCP dédiés) / (comptes PEP + EFC)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Balances des comptes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Encours en retard (&gt; 30 j)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Encours des prêts en retard de plus de 30 jours / encours total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Balances âgées du Grenier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Fonds propres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Réserves + report à nouveau + pertes cumulées + résultat de l'exercice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Comptes 10 à 13 et classes 6, 7, 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Rendement apparent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Produits financiers (77) / encours moyen des placements (52 à 53)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Balances des comptes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Adenka</a:t>
            </a:r>
          </a:p>
        </p:txBody>
      </p:sp>
    </p:spTree>
    <p:extLst>
      <p:ext uri="{BB962C8B-B14F-4D97-AF65-F5344CB8AC3E}">
        <p14:creationId xmlns:p14="http://schemas.microsoft.com/office/powerpoint/2010/main" val="1037564008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Outils et traçabilité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999" y="720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Tableau 9 : Outils et bibliothèques utilisés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3999" y="990000"/>
          <a:ext cx="11232000" cy="291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20000"/>
                <a:gridCol w="6552000"/>
                <a:gridCol w="2160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Outil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Usage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Version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Python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Langage des traitements, scripts conservés et rejouables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3.13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pandas, numpy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Tables de données, calculs, agrégations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3.0 et 2.5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python-calamine, openpyxl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Lecture des fichiers Excel sans perte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dernière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lxml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Lecture des exports au format page web du Grenier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dernière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pyarrow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Stockage de la base d'analyse (Parquet)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26.0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pymupdf, pdftotext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Lecture et récupération des PDF comptables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dernière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python-pptx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Rapport PowerPoint, graphiques et tableaux natifs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1.0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Excel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Classeur des calculs joint au rapport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Microsoft 365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Adenka ; scripts du dépôt de la mission (dossier scripts)</a:t>
            </a:r>
          </a:p>
        </p:txBody>
      </p:sp>
    </p:spTree>
    <p:extLst>
      <p:ext uri="{BB962C8B-B14F-4D97-AF65-F5344CB8AC3E}">
        <p14:creationId xmlns:p14="http://schemas.microsoft.com/office/powerpoint/2010/main" val="795987464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Liste des figures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5436000" cy="356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4000"/>
                <a:gridCol w="4176000"/>
                <a:gridCol w="576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Figure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Titre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Diapo.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Mois reçus par flux de données, sur 80 mois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Montant précompté rapporté au montant demandé, mois communs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11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Cotisants actifs précomptés (poste maladie 936), par mois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13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Agents par ancienneté de service, janv. 25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14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Répartition du taux de 5 % : annoncé et observé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15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Cotisations comptabilisées par garantie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16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Prestations comptabilisées rapportées aux cotisations (S/C)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18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Prestations maladie comptabilisées par nature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19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Frais de gestion et résultat net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10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Épargne au passif et actifs dédiés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22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263999" y="720000"/>
          <a:ext cx="5436000" cy="356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4000"/>
                <a:gridCol w="4176000"/>
                <a:gridCol w="576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Figure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Titre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Diapo.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Versements précomptés par produit d'épargne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23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Encours des prêts et financement apporté par le FPPN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25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Montants débloqués par type de crédit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Part de l'encours en retard de plus de 30 et de plus de 90 jours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27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Échéances des prêts en cours et précomptes 9X4, 2026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28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Retraités précomptés par la CGRAE, par mois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30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17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Provisions pour prestations à payer et prestations de l'année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33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18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Principaux postes de l'actif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34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19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Fonds propres et résultat de l'exercice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35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Taux directeur BCEAO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36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49400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Liste des tableaux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5436000" cy="194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4000"/>
                <a:gridCol w="4176000"/>
                <a:gridCol w="576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Tableau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Titre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Diapo.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Principaux constats au 15/10/2026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Actions recommandées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Périmètre de la mission actuarielle et statistique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Contrôles réalisés et résultats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10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Produits annexes et points à clarifier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31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263999" y="720000"/>
          <a:ext cx="5436000" cy="162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4000"/>
                <a:gridCol w="4176000"/>
                <a:gridCol w="576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Tableau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Titre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Diapo.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Analyses en attente et documents nécessaires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38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Points à clarifier avec le FPPN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39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Indicateurs, formules et sources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41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1">
                          <a:solidFill>
                            <a:srgbClr val="060606"/>
                          </a:solidFill>
                          <a:latin typeface="Helvetica"/>
                        </a:rPr>
                        <a:t>9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Outils et bibliothèques utilisés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200" b="0">
                          <a:solidFill>
                            <a:srgbClr val="060606"/>
                          </a:solidFill>
                          <a:latin typeface="Helvetica"/>
                        </a:rPr>
                        <a:t>42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68264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Signes et abréviations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11232000" cy="421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24000"/>
                <a:gridCol w="4392000"/>
                <a:gridCol w="1224000"/>
                <a:gridCol w="4392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Sigle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Signification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Sigle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Signification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AIRMS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Autorité de régulation de la mutualité sociale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M / Md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Millions / milliards de FCFA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BCEAO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Banque centrale des États de l'Afrique de l'Ouest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PAR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Part de l'encours en retard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CGRAE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Caisse générale de retraite des agents de l'État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Liste des documents demandés au client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CIMA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Conférence interafricaine des marchés d'assurances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PEP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Plan d'épargne (poste 998)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CMP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Centre médical de la Police (investissements)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PSAP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Provisions pour sinistres à payer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CRF, CRO, CRS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Sous-portefeuilles du logiciel de prêts (sens à préciser)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S/C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Prestations / cotisations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DAT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Dépôt à terme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UEMOA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Union économique et monétaire ouest-africaine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EFC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Entraide fin de carrière (poste 870)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936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Poste de précompte maladie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FCP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Fonds commun de placement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8Z6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Poste de précompte décès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FOMUS-CI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Fonds de garantie des mutuelles sociales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9X4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Poste de remboursement des prêts du Grenier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FPPN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Fonds de prévoyance de la Police nationale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9W3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Poste flotte automobile (GNA)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GNA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Assureur de la flotte automobile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8Z7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Poste MEDOC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433204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Références et sources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11232000" cy="324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96000"/>
                <a:gridCol w="3816000"/>
                <a:gridCol w="4320000"/>
              </a:tblGrid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Référence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Contenu utilisé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Lien ou emplacement</a:t>
                      </a:r>
                    </a:p>
                  </a:txBody>
                  <a:tcPr marL="54000" marR="54000" marT="21600" marB="21600" anchor="ctr">
                    <a:solidFill>
                      <a:srgbClr val="06060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Envoi du FPPN du 15/10/2026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Précomptes, balances comptables, exports du Grenier, pièces CGRAE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Dossier 04-Documents reçus du client (inventaire du 16/10/2026)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Grands livres 2021, 2022, 2024, 2025 (PDF)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Détail des écritures (2022 partiellement lisible)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Envoi complémentaire du 18/10/2026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Règlement n° 07/2009/CM/UEMOA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Cadre de la mutualité sociale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flagship.social-protection.org (Media.action?id=9421)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Ordonnance n° 2024-1043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FOMUS-CI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civlii.laws.africa (ord. 2024/1043)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Code CIMA, article 338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Taux technique maximal de 3,5 %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cima-afrique.org (bulletin officiel, 15e édition)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BCEAO, communiqués du CPM 2020 à 2025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Taux directeurs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bceao.int (communiqués de presse)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Inflation 2020 à 2024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Contexte des prix (non utilisé dans les ratios)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INS, economie-ivoirienne.ci, Banque mondiale (FRED)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Classeur des sources externes validé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Liste et validation des données externes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FPPN_Sources_externes_a_valider_20261018.xlsx</a:t>
                      </a:r>
                    </a:p>
                  </a:txBody>
                  <a:tcPr marL="54000" marR="54000" marT="21600" marB="21600" anchor="ctr">
                    <a:solidFill>
                      <a:srgbClr val="F2F2F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Classeur des calculs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Tous les tableaux et séries du rapport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FPPN_Calculs_rapport.xlsx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84325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67" y="-1240"/>
            <a:ext cx="6858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045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3" name="Google Shape;138;p25"/>
          <p:cNvSpPr txBox="1"/>
          <p:nvPr/>
        </p:nvSpPr>
        <p:spPr>
          <a:xfrm>
            <a:off x="920037" y="3088600"/>
            <a:ext cx="58009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Merci </a:t>
            </a:r>
          </a:p>
        </p:txBody>
      </p:sp>
    </p:spTree>
    <p:extLst>
      <p:ext uri="{BB962C8B-B14F-4D97-AF65-F5344CB8AC3E}">
        <p14:creationId xmlns:p14="http://schemas.microsoft.com/office/powerpoint/2010/main" val="2116590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16641</Words>
  <Application>Microsoft Office PowerPoint</Application>
  <PresentationFormat>Grand écran</PresentationFormat>
  <Paragraphs>1935</Paragraphs>
  <Slides>47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Adenka Consulting</dc:creator>
  <cp:lastModifiedBy>Adenka Consulting</cp:lastModifiedBy>
  <cp:revision>1</cp:revision>
  <dcterms:created xsi:type="dcterms:W3CDTF">2025-10-22T15:02:15Z</dcterms:created>
  <dcterms:modified xsi:type="dcterms:W3CDTF">2026-09-23T09:25:57Z</dcterms:modified>
  <dc:subject/>
  <cp:keywords/>
  <dc:description/>
</cp:coreProperties>
</file>