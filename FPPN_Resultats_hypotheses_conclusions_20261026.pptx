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17"/>
  </p:notesMasterIdLst>
  <p:sldIdLst>
    <p:sldId id="256" r:id="rId3"/>
    <p:sldId id="313" r:id="rId7"/>
    <p:sldId id="404" r:id="rId124"/>
    <p:sldId id="260" r:id="rId4"/>
    <p:sldId id="405" r:id="rId125"/>
    <p:sldId id="406" r:id="rId126"/>
    <p:sldId id="407" r:id="rId127"/>
    <p:sldId id="408" r:id="rId128"/>
    <p:sldId id="409" r:id="rId129"/>
    <p:sldId id="410" r:id="rId130"/>
    <p:sldId id="411" r:id="rId131"/>
    <p:sldId id="412" r:id="rId132"/>
    <p:sldId id="413" r:id="rId133"/>
    <p:sldId id="414" r:id="rId134"/>
    <p:sldId id="415" r:id="rId135"/>
    <p:sldId id="416" r:id="rId136"/>
    <p:sldId id="417" r:id="rId137"/>
    <p:sldId id="418" r:id="rId138"/>
    <p:sldId id="419" r:id="rId139"/>
    <p:sldId id="420" r:id="rId140"/>
    <p:sldId id="421" r:id="rId141"/>
    <p:sldId id="422" r:id="rId142"/>
    <p:sldId id="423" r:id="rId143"/>
    <p:sldId id="424" r:id="rId144"/>
    <p:sldId id="425" r:id="rId145"/>
    <p:sldId id="426" r:id="rId146"/>
    <p:sldId id="427" r:id="rId147"/>
    <p:sldId id="428" r:id="rId148"/>
    <p:sldId id="429" r:id="rId149"/>
    <p:sldId id="430" r:id="rId150"/>
    <p:sldId id="431" r:id="rId151"/>
    <p:sldId id="432" r:id="rId152"/>
    <p:sldId id="433" r:id="rId153"/>
    <p:sldId id="434" r:id="rId154"/>
    <p:sldId id="435" r:id="rId155"/>
    <p:sldId id="328" r:id="rId1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C8FC9B7-AD45-409C-8017-02DEBDF9C938}">
          <p14:sldIdLst>
            <p14:sldId id="256"/>
          </p14:sldIdLst>
        </p14:section>
        <p14:section name="Contenu" id="{41430ABC-712C-4A41-8691-5284113E2CD9}">
          <p14:sldIdLst>
            <p14:sldId id="260"/>
            <p14:sldId id="261"/>
            <p14:sldId id="310"/>
            <p14:sldId id="313"/>
            <p14:sldId id="403"/>
            <p14:sldId id="402"/>
            <p14:sldId id="291"/>
            <p14:sldId id="312"/>
            <p14:sldId id="314"/>
            <p14:sldId id="317"/>
            <p14:sldId id="315"/>
            <p14:sldId id="316"/>
            <p14:sldId id="323"/>
            <p14:sldId id="324"/>
            <p14:sldId id="321"/>
            <p14:sldId id="322"/>
            <p14:sldId id="264"/>
            <p14:sldId id="318"/>
            <p14:sldId id="319"/>
            <p14:sldId id="320"/>
            <p14:sldId id="326"/>
            <p14:sldId id="325"/>
            <p14:sldId id="266"/>
            <p14:sldId id="327"/>
            <p14:sldId id="268"/>
            <p14:sldId id="271"/>
            <p14:sldId id="287"/>
            <p14:sldId id="329"/>
            <p14:sldId id="398"/>
            <p14:sldId id="399"/>
            <p14:sldId id="391"/>
            <p14:sldId id="397"/>
            <p14:sldId id="395"/>
            <p14:sldId id="396"/>
            <p14:sldId id="393"/>
            <p14:sldId id="392"/>
            <p14:sldId id="270"/>
            <p14:sldId id="330"/>
            <p14:sldId id="331"/>
            <p14:sldId id="332"/>
            <p14:sldId id="272"/>
            <p14:sldId id="333"/>
            <p14:sldId id="289"/>
            <p14:sldId id="334"/>
            <p14:sldId id="277"/>
            <p14:sldId id="278"/>
            <p14:sldId id="274"/>
            <p14:sldId id="335"/>
            <p14:sldId id="336"/>
            <p14:sldId id="348"/>
            <p14:sldId id="341"/>
            <p14:sldId id="349"/>
            <p14:sldId id="342"/>
            <p14:sldId id="350"/>
            <p14:sldId id="343"/>
            <p14:sldId id="351"/>
            <p14:sldId id="344"/>
            <p14:sldId id="352"/>
            <p14:sldId id="345"/>
            <p14:sldId id="353"/>
            <p14:sldId id="346"/>
            <p14:sldId id="354"/>
            <p14:sldId id="347"/>
            <p14:sldId id="355"/>
            <p14:sldId id="338"/>
            <p14:sldId id="356"/>
            <p14:sldId id="337"/>
            <p14:sldId id="357"/>
            <p14:sldId id="276"/>
            <p14:sldId id="358"/>
            <p14:sldId id="339"/>
            <p14:sldId id="359"/>
            <p14:sldId id="381"/>
            <p14:sldId id="385"/>
            <p14:sldId id="382"/>
            <p14:sldId id="400"/>
            <p14:sldId id="294"/>
            <p14:sldId id="360"/>
            <p14:sldId id="285"/>
            <p14:sldId id="286"/>
            <p14:sldId id="299"/>
            <p14:sldId id="361"/>
            <p14:sldId id="362"/>
            <p14:sldId id="283"/>
            <p14:sldId id="297"/>
            <p14:sldId id="365"/>
            <p14:sldId id="364"/>
            <p14:sldId id="363"/>
            <p14:sldId id="366"/>
            <p14:sldId id="367"/>
            <p14:sldId id="368"/>
            <p14:sldId id="370"/>
            <p14:sldId id="374"/>
            <p14:sldId id="375"/>
          </p14:sldIdLst>
        </p14:section>
        <p14:section name="Graphs" id="{551B27DB-FB3B-4066-9154-1B46F0A65216}">
          <p14:sldIdLst>
            <p14:sldId id="301"/>
            <p14:sldId id="304"/>
            <p14:sldId id="303"/>
            <p14:sldId id="302"/>
            <p14:sldId id="305"/>
            <p14:sldId id="306"/>
            <p14:sldId id="378"/>
            <p14:sldId id="376"/>
            <p14:sldId id="379"/>
            <p14:sldId id="388"/>
            <p14:sldId id="307"/>
            <p14:sldId id="369"/>
            <p14:sldId id="389"/>
            <p14:sldId id="390"/>
          </p14:sldIdLst>
        </p14:section>
        <p14:section name="Merci" id="{DE1A67E5-D1FE-41AF-88BB-A85595BA690B}">
          <p14:sldIdLst>
            <p14:sldId id="328"/>
          </p14:sldIdLst>
        </p14:section>
        <p14:section name="Symboles" id="{49175908-295D-4406-8512-BB62EA88444D}">
          <p14:sldIdLst>
            <p14:sldId id="371"/>
            <p14:sldId id="373"/>
            <p14:sldId id="40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C62"/>
    <a:srgbClr val="060606"/>
    <a:srgbClr val="112A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D68B-DEB5-4C72-B758-AA0E2A02C403}" v="4" dt="2026-09-23T09:25:4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4.xml"/><Relationship Id="rId7" Type="http://schemas.openxmlformats.org/officeDocument/2006/relationships/slide" Target="slides/slide2.xml"/><Relationship Id="rId112" Type="http://schemas.openxmlformats.org/officeDocument/2006/relationships/slide" Target="slides/slide36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Relationship Id="rId122" Type="http://schemas.microsoft.com/office/2016/11/relationships/changesInfo" Target="changesInfos/changesInfo1.xml"/><Relationship Id="rId123" Type="http://schemas.microsoft.com/office/2015/10/relationships/revisionInfo" Target="revisionInfo.xml"/><Relationship Id="rId124" Type="http://schemas.openxmlformats.org/officeDocument/2006/relationships/slide" Target="slides/slide3.xml"/><Relationship Id="rId125" Type="http://schemas.openxmlformats.org/officeDocument/2006/relationships/slide" Target="slides/slide5.xml"/><Relationship Id="rId126" Type="http://schemas.openxmlformats.org/officeDocument/2006/relationships/slide" Target="slides/slide6.xml"/><Relationship Id="rId127" Type="http://schemas.openxmlformats.org/officeDocument/2006/relationships/slide" Target="slides/slide7.xml"/><Relationship Id="rId128" Type="http://schemas.openxmlformats.org/officeDocument/2006/relationships/slide" Target="slides/slide8.xml"/><Relationship Id="rId129" Type="http://schemas.openxmlformats.org/officeDocument/2006/relationships/slide" Target="slides/slide9.xml"/><Relationship Id="rId130" Type="http://schemas.openxmlformats.org/officeDocument/2006/relationships/slide" Target="slides/slide10.xml"/><Relationship Id="rId131" Type="http://schemas.openxmlformats.org/officeDocument/2006/relationships/slide" Target="slides/slide11.xml"/><Relationship Id="rId132" Type="http://schemas.openxmlformats.org/officeDocument/2006/relationships/slide" Target="slides/slide12.xml"/><Relationship Id="rId133" Type="http://schemas.openxmlformats.org/officeDocument/2006/relationships/slide" Target="slides/slide13.xml"/><Relationship Id="rId134" Type="http://schemas.openxmlformats.org/officeDocument/2006/relationships/slide" Target="slides/slide14.xml"/><Relationship Id="rId135" Type="http://schemas.openxmlformats.org/officeDocument/2006/relationships/slide" Target="slides/slide15.xml"/><Relationship Id="rId136" Type="http://schemas.openxmlformats.org/officeDocument/2006/relationships/slide" Target="slides/slide16.xml"/><Relationship Id="rId137" Type="http://schemas.openxmlformats.org/officeDocument/2006/relationships/slide" Target="slides/slide17.xml"/><Relationship Id="rId138" Type="http://schemas.openxmlformats.org/officeDocument/2006/relationships/slide" Target="slides/slide18.xml"/><Relationship Id="rId139" Type="http://schemas.openxmlformats.org/officeDocument/2006/relationships/slide" Target="slides/slide19.xml"/><Relationship Id="rId140" Type="http://schemas.openxmlformats.org/officeDocument/2006/relationships/slide" Target="slides/slide20.xml"/><Relationship Id="rId141" Type="http://schemas.openxmlformats.org/officeDocument/2006/relationships/slide" Target="slides/slide21.xml"/><Relationship Id="rId142" Type="http://schemas.openxmlformats.org/officeDocument/2006/relationships/slide" Target="slides/slide22.xml"/><Relationship Id="rId143" Type="http://schemas.openxmlformats.org/officeDocument/2006/relationships/slide" Target="slides/slide23.xml"/><Relationship Id="rId144" Type="http://schemas.openxmlformats.org/officeDocument/2006/relationships/slide" Target="slides/slide24.xml"/><Relationship Id="rId145" Type="http://schemas.openxmlformats.org/officeDocument/2006/relationships/slide" Target="slides/slide25.xml"/><Relationship Id="rId146" Type="http://schemas.openxmlformats.org/officeDocument/2006/relationships/slide" Target="slides/slide26.xml"/><Relationship Id="rId147" Type="http://schemas.openxmlformats.org/officeDocument/2006/relationships/slide" Target="slides/slide27.xml"/><Relationship Id="rId148" Type="http://schemas.openxmlformats.org/officeDocument/2006/relationships/slide" Target="slides/slide28.xml"/><Relationship Id="rId149" Type="http://schemas.openxmlformats.org/officeDocument/2006/relationships/slide" Target="slides/slide29.xml"/><Relationship Id="rId150" Type="http://schemas.openxmlformats.org/officeDocument/2006/relationships/slide" Target="slides/slide30.xml"/><Relationship Id="rId151" Type="http://schemas.openxmlformats.org/officeDocument/2006/relationships/slide" Target="slides/slide31.xml"/><Relationship Id="rId152" Type="http://schemas.openxmlformats.org/officeDocument/2006/relationships/slide" Target="slides/slide32.xml"/><Relationship Id="rId153" Type="http://schemas.openxmlformats.org/officeDocument/2006/relationships/slide" Target="slides/slide33.xml"/><Relationship Id="rId154" Type="http://schemas.openxmlformats.org/officeDocument/2006/relationships/slide" Target="slides/slide34.xml"/><Relationship Id="rId155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Noel Sialou" userId="08acc5d2-3819-4be4-97e6-d593a92e8e16" providerId="ADAL" clId="{DC5A2AD4-2AC1-4F5C-A6BF-541681F7EFA2}"/>
    <pc:docChg chg="undo custSel modSld">
      <pc:chgData name="Jean-Noel Sialou" userId="08acc5d2-3819-4be4-97e6-d593a92e8e16" providerId="ADAL" clId="{DC5A2AD4-2AC1-4F5C-A6BF-541681F7EFA2}" dt="2026-09-07T10:18:25.187" v="38" actId="571"/>
      <pc:docMkLst>
        <pc:docMk/>
      </pc:docMkLst>
      <pc:sldChg chg="addSp delSp modSp mod">
        <pc:chgData name="Jean-Noel Sialou" userId="08acc5d2-3819-4be4-97e6-d593a92e8e16" providerId="ADAL" clId="{DC5A2AD4-2AC1-4F5C-A6BF-541681F7EFA2}" dt="2026-09-07T10:18:25.187" v="38" actId="571"/>
        <pc:sldMkLst>
          <pc:docMk/>
          <pc:sldMk cId="2102837376" sldId="358"/>
        </pc:sldMkLst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8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9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1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4" creationId="{00000000-0000-0000-0000-000000000000}"/>
          </ac:spMkLst>
        </pc:s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3" creationId="{C9290073-F4B9-4E89-EC47-0D4815D405F9}"/>
          </ac:grpSpMkLst>
        </pc:gr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7" creationId="{D520CB44-6CB8-26BA-C481-1E6C90DCE023}"/>
          </ac:grpSpMkLst>
        </pc:grpChg>
        <pc:picChg chg="add 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5" creationId="{A59C829E-ED12-0019-96D2-4C72AF995693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31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47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0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4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65" creationId="{00000000-0000-0000-0000-000000000000}"/>
          </ac:picMkLst>
        </pc:picChg>
      </pc:sldChg>
    </pc:docChg>
  </pc:docChgLst>
  <pc:docChgLst>
    <pc:chgData name="Jean-Noel Sialou" userId="08acc5d2-3819-4be4-97e6-d593a92e8e16" providerId="ADAL" clId="{3E2E487B-B21A-43C3-A4E4-C31B8823D31F}"/>
    <pc:docChg chg="modSld">
      <pc:chgData name="Jean-Noel Sialou" userId="08acc5d2-3819-4be4-97e6-d593a92e8e16" providerId="ADAL" clId="{3E2E487B-B21A-43C3-A4E4-C31B8823D31F}" dt="2026-09-23T09:25:47.775" v="6" actId="164"/>
      <pc:docMkLst>
        <pc:docMk/>
      </pc:docMkLst>
      <pc:sldChg chg="modSp mod modAnim">
        <pc:chgData name="Jean-Noel Sialou" userId="08acc5d2-3819-4be4-97e6-d593a92e8e16" providerId="ADAL" clId="{3E2E487B-B21A-43C3-A4E4-C31B8823D31F}" dt="2026-09-15T10:14:35.637" v="5" actId="208"/>
        <pc:sldMkLst>
          <pc:docMk/>
          <pc:sldMk cId="2102837376" sldId="358"/>
        </pc:sldMkLst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1" creationId="{00000000-0000-0000-0000-000000000000}"/>
          </ac:spMkLst>
        </pc:spChg>
        <pc:grpChg chg="mod">
          <ac:chgData name="Jean-Noel Sialou" userId="08acc5d2-3819-4be4-97e6-d593a92e8e16" providerId="ADAL" clId="{3E2E487B-B21A-43C3-A4E4-C31B8823D31F}" dt="2026-09-15T10:14:06.017" v="1" actId="1076"/>
          <ac:grpSpMkLst>
            <pc:docMk/>
            <pc:sldMk cId="2102837376" sldId="358"/>
            <ac:grpSpMk id="7" creationId="{D520CB44-6CB8-26BA-C481-1E6C90DCE023}"/>
          </ac:grpSpMkLst>
        </pc:grpChg>
        <pc:cxnChg chg="mod">
          <ac:chgData name="Jean-Noel Sialou" userId="08acc5d2-3819-4be4-97e6-d593a92e8e16" providerId="ADAL" clId="{3E2E487B-B21A-43C3-A4E4-C31B8823D31F}" dt="2026-09-15T10:14:35.637" v="5" actId="208"/>
          <ac:cxnSpMkLst>
            <pc:docMk/>
            <pc:sldMk cId="2102837376" sldId="358"/>
            <ac:cxnSpMk id="77" creationId="{00000000-0000-0000-0000-000000000000}"/>
          </ac:cxnSpMkLst>
        </pc:cxnChg>
      </pc:sldChg>
      <pc:sldChg chg="addSp modSp modAnim">
        <pc:chgData name="Jean-Noel Sialou" userId="08acc5d2-3819-4be4-97e6-d593a92e8e16" providerId="ADAL" clId="{3E2E487B-B21A-43C3-A4E4-C31B8823D31F}" dt="2026-09-23T09:25:47.775" v="6" actId="164"/>
        <pc:sldMkLst>
          <pc:docMk/>
          <pc:sldMk cId="135173498" sldId="359"/>
        </pc:sldMkLst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6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7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9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2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6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DAE2-9FC7-48A6-84A5-82A6F426499B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B2686-849E-4084-A991-5071DA2BB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Résultats exhaustifs, hypothèses et conclusions des quatre axes de la mission actuarielle, chiffres du rapport du 23/10/2026. Méthodes expliquées en annexe.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6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43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7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2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72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29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34979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00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2278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80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50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42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8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3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46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4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27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89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864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524001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26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 preserve="1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28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83598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64" b="34369"/>
          <a:stretch/>
        </p:blipFill>
        <p:spPr>
          <a:xfrm>
            <a:off x="-147909" y="-58723"/>
            <a:ext cx="12339909" cy="691672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 userDrawn="1"/>
        </p:nvSpPr>
        <p:spPr>
          <a:xfrm>
            <a:off x="221940" y="6394008"/>
            <a:ext cx="1092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</p:spTree>
    <p:extLst>
      <p:ext uri="{BB962C8B-B14F-4D97-AF65-F5344CB8AC3E}">
        <p14:creationId xmlns:p14="http://schemas.microsoft.com/office/powerpoint/2010/main" val="2063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0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" t="524" r="-2445" b="9082"/>
          <a:stretch/>
        </p:blipFill>
        <p:spPr>
          <a:xfrm>
            <a:off x="4883082" y="0"/>
            <a:ext cx="77856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92" y="0"/>
            <a:ext cx="57404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17207E-7FD3-4B75-ADFE-CC565F8DB8A1}"/>
              </a:ext>
            </a:extLst>
          </p:cNvPr>
          <p:cNvSpPr txBox="1">
            <a:spLocks/>
          </p:cNvSpPr>
          <p:nvPr/>
        </p:nvSpPr>
        <p:spPr>
          <a:xfrm>
            <a:off x="10506325" y="6388244"/>
            <a:ext cx="1187835" cy="33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sz="1000" noProof="0">
                <a:solidFill>
                  <a:srgbClr val="FFFFFF"/>
                </a:solidFill>
                <a:latin typeface=".Helvetica"/>
                <a:ea typeface=".Helvetica Neue Interface" panose="020B0604020202020204" pitchFamily="34" charset="0"/>
                <a:cs typeface="Open Sans"/>
              </a:rPr>
              <a:t>26 octobre 2026</a:t>
            </a:r>
          </a:p>
        </p:txBody>
      </p:sp>
      <p:sp>
        <p:nvSpPr>
          <p:cNvPr id="9" name="Google Shape;138;p25"/>
          <p:cNvSpPr txBox="1"/>
          <p:nvPr/>
        </p:nvSpPr>
        <p:spPr>
          <a:xfrm>
            <a:off x="908861" y="2534894"/>
            <a:ext cx="591865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b="1" noProof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Audit Comptable et financier FPPN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7408" y="229231"/>
            <a:ext cx="27045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SA au Capital de 100 millions FCFA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Immeuble le 24, 3e étage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Boulevard </a:t>
            </a:r>
            <a:r>
              <a:rPr lang="fr-CI" sz="1000" noProof="0" err="1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Clozel</a:t>
            </a: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, Plateau, Abidjan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06 BPM 459 Abidjan 06, Côte d’ivoire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NCC : 2404702K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RCCM : CI-ABJ-03-2024-B14-00114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Tel (225) 27 20 33 90 90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www.adenka.ci</a:t>
            </a:r>
          </a:p>
        </p:txBody>
      </p:sp>
      <p:sp>
        <p:nvSpPr>
          <p:cNvPr id="17" name="ZoneTexte 2"/>
          <p:cNvSpPr txBox="1"/>
          <p:nvPr/>
        </p:nvSpPr>
        <p:spPr>
          <a:xfrm>
            <a:off x="817421" y="5135034"/>
            <a:ext cx="64973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FAC62"/>
                </a:solidFill>
                <a:latin typeface="Helvetica"/>
              </a:rPr>
              <a:t>Résultats, hypothèses et conclusions</a:t>
            </a:r>
          </a:p>
        </p:txBody>
      </p:sp>
      <p:pic>
        <p:nvPicPr>
          <p:cNvPr id="18" name="Logo FPPN" descr="logo_fppn.jpg"/>
          <p:cNvPicPr>
            <a:picLocks noChangeAspect="1"/>
          </p:cNvPicPr>
          <p:nvPr/>
        </p:nvPicPr>
        <p:blipFill>
          <a:blip r:embed="rId4"/>
          <a:srcRect t="23449" b="29631"/>
          <a:stretch>
            <a:fillRect/>
          </a:stretch>
        </p:blipFill>
        <p:spPr>
          <a:xfrm>
            <a:off x="938577" y="4017907"/>
            <a:ext cx="1844040" cy="8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2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0" y="306000"/>
            <a:ext cx="72000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400" b="1">
                <a:solidFill>
                  <a:srgbClr val="112A40"/>
                </a:solidFill>
                <a:latin typeface="Helvetica"/>
              </a:rPr>
              <a:t>SOMMAIRE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400" y="1470600"/>
            <a:ext cx="0" cy="295920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400" y="14706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45999" y="12546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399" y="1341000"/>
            <a:ext cx="259200" cy="2592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444400" y="12888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Synthèse des quatre axes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56800" y="12888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400" y="19638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745999" y="17478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2399" y="1834200"/>
            <a:ext cx="259200" cy="2592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444400" y="17820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Engagements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56800" y="17820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2400" y="24570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745999" y="22410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2399" y="2327400"/>
            <a:ext cx="259200" cy="2592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44400" y="22752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Provisions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56800" y="22752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9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32400" y="29502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745999" y="27342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2399" y="2820600"/>
            <a:ext cx="259200" cy="25920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2444400" y="27684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Adossement actif-passif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56800" y="27684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15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2400" y="34434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745999" y="32274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2399" y="3313800"/>
            <a:ext cx="259200" cy="2592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2444400" y="32616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Placements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56800" y="32616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23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2400" y="39366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745999" y="37206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2399" y="3807000"/>
            <a:ext cx="259200" cy="2592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2444400" y="37548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Conclusions générales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56800" y="37548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28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32400" y="4429800"/>
            <a:ext cx="813599" cy="0"/>
          </a:xfrm>
          <a:prstGeom prst="line">
            <a:avLst/>
          </a:prstGeom>
          <a:ln w="12700">
            <a:solidFill>
              <a:srgbClr val="112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745999" y="4213800"/>
            <a:ext cx="432000" cy="432000"/>
          </a:xfrm>
          <a:prstGeom prst="ellipse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2399" y="4300200"/>
            <a:ext cx="259200" cy="25920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2444400" y="4248000"/>
            <a:ext cx="8272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l"/>
            <a:r>
              <a:rPr sz="1600">
                <a:solidFill>
                  <a:srgbClr val="060606"/>
                </a:solidFill>
                <a:latin typeface="Helvetica"/>
              </a:rPr>
              <a:t>Annexes : méthodes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56800" y="4248000"/>
            <a:ext cx="550800" cy="363600"/>
          </a:xfrm>
          <a:prstGeom prst="rect">
            <a:avLst/>
          </a:prstGeom>
          <a:noFill/>
          <a:ln w="19050">
            <a:solidFill>
              <a:srgbClr val="06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0" bIns="0"/>
          <a:lstStyle/>
          <a:p>
            <a:pPr algn="ctr"/>
            <a:r>
              <a:rPr sz="1600">
                <a:solidFill>
                  <a:srgbClr val="060606"/>
                </a:solidFill>
                <a:latin typeface="Helvetica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7757717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Synthèse des quatre axes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Engagements et provisions partiellement démontrés, adossement et placements insuffisants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FPPN connaît ses dettes de court terme, mais pas la valeur de ses engagements d'épargne : c'est la cause commune des verdicts 1, 3 et 4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4 à 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9" cy="165968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1440000"/>
                <a:gridCol w="3960000"/>
                <a:gridCol w="4031999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Axe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Verdict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Résultat clé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Conclusion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1. Engagements envers les adhérents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Partiellement démontré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Épargne due 15 743 516 391 FCFA au 31/08/2026, 19 022 429 629 FCFA avec les intérêts dus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L'épargne représente 97,46 % des engagements mesurés, et ses intérêts ne sont pas comptabilisés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2. Suffisance des provisions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Partiellement démontré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Provisions maladie et obsèques 4 829 298 290 FCFA, besoins mesurés 19 581 392 FCFA hors dettes déjà comptabilisées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Le total suffit en montant, mais aucune provision n'est calculée et deux manquent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3. Adossement actif-passif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Insuffisant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Actif à moins d'un an : 34,42 % des paiements de l'année. Manque cumulé à cinq ans : 12 596 052 822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L'épargne exigible finance des actifs longs et peu liquides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4. Adéquation des placements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Insuffisant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Placements moyens 2025 : 763 752 135 FCFA, soit 5,53 % de l'épargne due. Rendement moyen 2021 à 2025 : 4,90 %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Aucune des quatre conditions de l'article 17 n'est démontrée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146473943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Engagements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Résultats, hypothèses et conclusions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134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Engagements : résultats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engagements mesurés atteignent 19 518 949 298 FCFA au 31/08/2026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L'épargne et ses intérêts dus en représentent 97,46 %. Les autres engagements sont des dettes de quelques mois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5, 98, 112, 123, 126, 127, 133 et 143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24963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56000"/>
                <a:gridCol w="2304000"/>
                <a:gridCol w="5472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Engagement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Résultat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Ce que le chiffre montre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Épargne PEP et EFC due au 31/08/2026 (41195100 et 41195200)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15 743 516 391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Cotisations d'épargne nettes des sorties, sans intérêts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Intérêts dus du 01/01/2020 au 31/08/2026 (PEP 3,50 %, EFC 5,50 %)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3 278 913 238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Intérêts promis par le manuel d'épargne, absents des comptes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Épargne avec intérêts dus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19 022 429 629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Engagement d'épargne réel au taux du manuel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Intérêts dus si l'EFC est servie à 3,50 % (borne basse)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2 541 799 542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Taux déclaré par le chef comptable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Allocations décès et frais funéraires dus (41591000 et 41592000)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489 419 669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Liste du FPPN des décès non payés, valorisés au barème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Décès non encore déclarés (états 2021 et 2023)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7 100 000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Six décès d'une année enregistrés l'année suivante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Soins faits, non encore facturés (clôture 2024)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12 481 392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Dette maladie non encore facturée à la clôture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Provision du personnel du FPPN au 31/12/2025 (hors adhérents)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24 446 566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Compte 196 du FPPN : 43 666 678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Santé des policiers retraités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Non mesurable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610 retraités cotisants en août 2026, date de naissance connue pour 105 seulement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PEP : Plan Épargne Plus | EFC : entraide fin de carrière</a:t>
            </a:r>
          </a:p>
        </p:txBody>
      </p:sp>
    </p:spTree>
    <p:extLst>
      <p:ext uri="{BB962C8B-B14F-4D97-AF65-F5344CB8AC3E}">
        <p14:creationId xmlns:p14="http://schemas.microsoft.com/office/powerpoint/2010/main" val="10800490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Engagements : intérêts dus par exercice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Aucun intérêt n'est comptabilisé : il n'existe ni charge ni dette d'intérêts dans les balances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 31/12/2025, les intérêts dus atteignent déjà 2 804 987 325 FCFA, soit 16,1 fois les produits financiers de 2021 à 2025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98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6" cy="16843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80000"/>
                <a:gridCol w="1655999"/>
                <a:gridCol w="1655999"/>
                <a:gridCol w="1655999"/>
                <a:gridCol w="1655999"/>
                <a:gridCol w="1764000"/>
                <a:gridCol w="1764000"/>
              </a:tblGrid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Exercice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PEP moyen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EFC moyenne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Intérêts PEP (3,50 %)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Intérêts EFC (5,50 %)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Total de l'année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Total si EFC à 3,50 %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7 539 594 956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3 490 677 433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263 885 823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191 987 259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455 873 082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386 059 534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2021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6 864 293 020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3 623 520 438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240 250 256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199 293 624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439 543 880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367 073 471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2022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5 636 626 650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4 119 506 634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197 281 933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226 572 865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423 854 798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341 464 665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2023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4 235 501 312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5 007 709 623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148 242 546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275 424 029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423 666 575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323 512 383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2024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3 695 214 698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6 258 105 806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129 332 514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344 195 819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473 528 334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348 366 218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4 397 772 850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7 901 792 848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153 922 050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434 598 607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588 520 656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430 484 799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2026 (8 mois)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5 097 233 672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9 681 558 005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118 935 452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354 990 460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473 925 913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344 838 472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Total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1 251 850 574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2 027 062 663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3 278 913 238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2 541 799 542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PEP : Plan Épargne Plus | EFC : entraide fin de carrière</a:t>
            </a:r>
          </a:p>
        </p:txBody>
      </p:sp>
    </p:spTree>
    <p:extLst>
      <p:ext uri="{BB962C8B-B14F-4D97-AF65-F5344CB8AC3E}">
        <p14:creationId xmlns:p14="http://schemas.microsoft.com/office/powerpoint/2010/main" val="392561825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Engagements : hypothèses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Chaque hypothèse est tirée d'un document du FPPN ou retenue pour ne pas surévaluer la dette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hypothèses donnent un minimum : intérêts non capitalisés et intérêts antérieurs à 2020 non comptés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95, 98, 125, 127 et 133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243875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24000"/>
                <a:gridCol w="2880000"/>
                <a:gridCol w="5328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Hypothèse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Valeur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Source ou justification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Période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01/01/2020 au 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Demande de la mission. 2020 approché par les soldes du 01/09 et du 31/12, seule balance reçue pour 2020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Montant de l'épargne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Soldes des comptes 41195100 (PEP) et 41195200 (EFC)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Aucun relevé individuel transmis : la balance est la seule source complète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Taux servi sur le PEP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3,50 % par an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« MANUEL DE PRODUIT D'EPARGNE FPPN VF VF.docx »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Taux servi sur l'EFC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5,50 % par an, borne basse 3,50 %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Manuel d'épargne et cartographie des risques. 3,50 % déclaré par le chef comptable. 14 % du cahier des charges 2021 non retenu (période non précisée)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Calcul des intérêts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Intérêts simples sur l'encours moyen de l'année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Encours moyen = moyenne des soldes d'ouverture et de clôture. Pas de capitalisation, faute de règle écrite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Allocations décès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Barème de 1 400 000, 1 600 000 ou 2 200 000 FCFA selon le grade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États de fin d'année du FPPN 2021 à 2025, comptes 41591000 et 41592000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Décès tardifs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7 100 000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Seuls les états 2021 et 2023 portent la date d'enregistrement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Provision du personnel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Unités de crédit projetées, agent par agent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Décret n° 2017-210, DISA 2021, 2022, 2023 et 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PEP : Plan Épargne Plus | EFC : entraide fin de carrière | DISA : déclaration individuelle des salaires annuels à la CNPS</a:t>
            </a:r>
          </a:p>
        </p:txBody>
      </p:sp>
    </p:spTree>
    <p:extLst>
      <p:ext uri="{BB962C8B-B14F-4D97-AF65-F5344CB8AC3E}">
        <p14:creationId xmlns:p14="http://schemas.microsoft.com/office/powerpoint/2010/main" val="343119731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Engagements : conclusions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FPPN ne connaît pas la valeur de son principal engagement, l'épargne de ses adhérents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verdict deviendra « démontré » quand le taux servi sera arrêté et les comptes individuels transmis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95 à 99, 112 et 143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991621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744000"/>
                <a:gridCol w="3960000"/>
                <a:gridCol w="3528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Conclusion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Implication et risque pour le FPPN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Recommandation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L'épargne due vaut 15 743 516 391 FCFA, et 19 022 429 629 FCFA avec les intérêts dus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La dette est sous-estimée de 3 278 913 238 FCFA. Le résultat et les fonds propres sont surévalués d'autant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Comptabiliser les intérêts dus chaque année (recommandation 2)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Trois taux coexistent pour l'EFC (3,50 %, 5,50 %, 14 %), aucun n'est adopté par une décision signée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L'engagement ne peut pas être évalué, et un épargnant peut contester le montant versé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Faire arrêter le taux servi par le conseil d'administration (recommandation 2)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Même à 3,50 %, les intérêts d'une année sur l'EFC (309 709 577 FCFA en 2025) dépassent les produits financiers de chaque année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Chaque point de taux servi crée une perte que les garanties maladie et décès doivent combler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Rendre le taux servi cohérent avec le rendement des actifs (recommandation 5)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Le rapport de gestion 2025 présente 4 387 823 635 FCFA d'épargne, contre 13 814 066 964 FCFA dus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L'Assemblée générale reçoit une information qui minore l'engagement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Présenter le solde dû, distinct de la collecte de l'année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L'engagement santé des retraités n'est pas mesurable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 FPPN ne sait pas si la cotisation des retraités couvre leurs soins à vie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Étude actuarielle des risques longs tous les cinq ans (recommandation 8)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EFC : entraide fin de carrière</a:t>
            </a:r>
          </a:p>
        </p:txBody>
      </p:sp>
    </p:spTree>
    <p:extLst>
      <p:ext uri="{BB962C8B-B14F-4D97-AF65-F5344CB8AC3E}">
        <p14:creationId xmlns:p14="http://schemas.microsoft.com/office/powerpoint/2010/main" val="15432914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Provisions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Résultats, hypothèses et conclusions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1360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: résultats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FPPN a trop provisionné pour la maladie et le décès, et rien pour les intérêts et les prêts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Écart total sur les cinq postes : 1 536 007 381 FCFA (montant du FPPN moins recalcul)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128 et 145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9" cy="147006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84000"/>
                <a:gridCol w="2015999"/>
                <a:gridCol w="1944000"/>
                <a:gridCol w="2160000"/>
                <a:gridCol w="1728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Poste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Montant du FPPN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Recalcul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Écart absolu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Écart relatif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Provision maladie (15801000)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2 867 602 878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12 481 392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2 855 121 486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22 875,03 %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Provision obsèques (15802000)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7 100 000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1 954 595 412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27 529,51 %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Départ à la retraite du personnel (196)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43 666 678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24 446 566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19 220 112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78,62 %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Intérêts dus sur l'épargne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3 278 913 238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-3 278 913 238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-100,00 %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Dépréciation des prêts du Grenier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14 016 392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-14 016 392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-100,00 %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Risques courts (statuts, art. 88)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Aucune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-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3072067"/>
            <a:ext cx="11232000" cy="279593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Deux lectures du besoin décès.</a:t>
            </a:r>
            <a:r>
              <a:rPr sz="1300" b="0">
                <a:solidFill>
                  <a:srgbClr val="060606"/>
                </a:solidFill>
                <a:latin typeface="Helvetica"/>
              </a:rPr>
              <a:t> Hors dettes déjà comptabilisées, le besoin maladie et décès vaut 19 581 392 FCFA, et l'excédent 4 809 716 898 FCFA. Si la provision obsèques devait aussi couvrir les décès connus (489 419 669 FCFA, déjà en dette au 41591000), l'excédent serait de 4 327 397 229 FCFA (diapositive 6).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26716046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: maladie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délai moyen de paiement des cliniques passe de 53,38 mois en 2020 à 2,62 mois en 2025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La provision maladie nécessaire est de quelques millions de FCFA. Celle du bilan vaut 2 867 602 878 FCFA depuis 2020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121 à 123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9" cy="16191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6000"/>
                <a:gridCol w="2520000"/>
                <a:gridCol w="2664000"/>
                <a:gridCol w="1655999"/>
                <a:gridCol w="3096000"/>
              </a:tblGrid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Exercice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Factures enregistrées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Non payées en fin de période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Délai moyen (mois)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Prestations maladie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313 578 298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1 394 774 547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53,38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205 812 056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2021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103 385 027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875 220 557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101,59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101 453 171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2022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104 085 535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533 144 348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61,47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115 237 773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2023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312 091 366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271 270 756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10,43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521 004 362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2024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613 863 474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236 353 873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4,62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1 060 419 627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1 107 859 142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242 140 869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2,62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1 771 635 361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1 104 671 563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690 234 451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5,00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1 646 039 117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3221112"/>
            <a:ext cx="11232000" cy="2646887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Provision nécessaire (estimation élargie).</a:t>
            </a:r>
            <a:r>
              <a:rPr sz="1300" b="0">
                <a:solidFill>
                  <a:srgbClr val="060606"/>
                </a:solidFill>
                <a:latin typeface="Helvetica"/>
              </a:rPr>
              <a:t> 5 644 139 FCFA au 31/12/2022, 2 599 652 FCFA au 31/12/2023 et 12 481 392 FCFA au 31/12/2024. Les factures d'une année enregistrées l'année suivante ne représentent que 0,89 %, 0,21 % et 0,14 % des factures.</a:t>
            </a:r>
          </a:p>
        </p:txBody>
      </p:sp>
    </p:spTree>
    <p:extLst>
      <p:ext uri="{BB962C8B-B14F-4D97-AF65-F5344CB8AC3E}">
        <p14:creationId xmlns:p14="http://schemas.microsoft.com/office/powerpoint/2010/main" val="326708402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: décès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provision obsèques vaut 4,0 fois la dette décès calculée par le FPPN au 31/08/2026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La dette décès est déjà inscrite aux comptes 41591000 et 41592000 : la provision obsèques fait double emploi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125 à 127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8" cy="13100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52000"/>
                <a:gridCol w="1584000"/>
                <a:gridCol w="1584000"/>
                <a:gridCol w="1655999"/>
                <a:gridCol w="1512000"/>
                <a:gridCol w="1655999"/>
                <a:gridCol w="2088000"/>
              </a:tblGrid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Exercice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Allocations ajoutées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Allocations payées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Dette allocations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Dette frais funéraires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Dette décès totale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Provision obsèques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370 503 332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370 503 332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370 503 332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97 653 333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87 638 748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380 517 917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380 517 917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120 690 000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64 112 728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437 095 189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437 095 189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2024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140 800 000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185 943 302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391 951 887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391 951 887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130 600 000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107 207 220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415 344 667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17 100 000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432 444 667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31/08/2026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111 000 000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69 324 998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457 019 669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32 400 000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489 419 669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1 961 695 412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2912037"/>
            <a:ext cx="11232000" cy="295596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Chaque année, le FPPN ajoute plus d'allocations qu'il n'en paie.</a:t>
            </a:r>
            <a:r>
              <a:rPr sz="1300" b="0">
                <a:solidFill>
                  <a:srgbClr val="060606"/>
                </a:solidFill>
                <a:latin typeface="Helvetica"/>
              </a:rPr>
              <a:t> Le stock contient donc des dossiers de plusieurs années, à justifier un par un avec la date de dépôt pour écarter ceux qui sont forclos. Les décès déclarés après la clôture représentent 7 100 000 FCFA sur deux états.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98292079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: hypothèses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méthodes suivent les délais réels de paiement et les obligations des textes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besoin est mesuré sur ce qui arrive après la clôture, sans double compte avec les dettes déjà inscrites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120 à 129 et 144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257592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24000"/>
                <a:gridCol w="3096000"/>
                <a:gridCol w="5112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Hypothèse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Valeur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Source ou justification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Maladie : périmètre de la provision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Soins de l'année facturés après la clôture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Les factures reçues non payées sont déjà au passif (compte 40110000)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Maladie : mesure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Factures de l'année enregistrées de janvier à mars suivant (journal SIN)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Règlement intérieur, art. 52 : paiement des cliniques en trois mois. Délai observé de 2,62 à 5,00 mois depuis 2024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Maladie : estimation élargie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Extrapolée aux factures sans année lisible et aux prestations hors factures de cliniques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L'année n'est lisible que pour 15,57 % des factures du grand livre 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Décès : périmètre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Décès survenus non déclarés. Les décès connus restent en dette au 41591000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Règlement d'exécution n° 004/2022, art. 10 : dossier par dossier, plus les sinistres tardifs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Décès : délai de déclaration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Forclusion de 3 ans (membre) et 12 mois (ayant droit)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Règlement intérieur, art. 58 et 60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Risques courts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Provision nulle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Cotisation précomptée sur le mois qu'elle couvre (statuts, art. 88)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Prêts du Grenier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40 % de 3 à 6 mois de retard, 80 % de 6 à 12 mois, 100 % de 12 à 24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Politique de crédit du Grenier, chapitre XI.3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Intérêts dus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PEP 3,50 %, EFC 5,50 %, du 01/01/2020 au 31/08/2026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Manuel d'épargne (voir l'axe 1)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PEP : Plan Épargne Plus | EFC : entraide fin de carrière</a:t>
            </a:r>
          </a:p>
        </p:txBody>
      </p:sp>
    </p:spTree>
    <p:extLst>
      <p:ext uri="{BB962C8B-B14F-4D97-AF65-F5344CB8AC3E}">
        <p14:creationId xmlns:p14="http://schemas.microsoft.com/office/powerpoint/2010/main" val="61067940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Provisions : conclusions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provisions suffisent en montant, mais elles sont mal affectées et non calculées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risque n'est pas un manque global de provisions : les engagements d'épargne, les plus importants, sont les moins provisionnés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144 à 146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85445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744000"/>
                <a:gridCol w="3960000"/>
                <a:gridCol w="3528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Conclusion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Implication et risque pour le FPPN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Recommandation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Provisions maladie et obsèques identiques de 2020 au 31/08/2026, sans calcul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Non-respect des statuts (art. 89) et du règlement d'exécution n° 004/2022 (art. 7 et 10). Suffisance non démontrable à l'AIRMS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Note de calcul annuelle signée, présentée à l'Assemblée générale (recommandation 1)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Maladie et obsèques : 4 809 716 898 FCFA au-dessus des besoins mesurés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Résultat et fonds propres sous-évalués, sinistralité mal mesurée. L'excédent est en réalité une réserve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Reclassement après décision des organes et information de l'AIRMS (recommandation 1)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Intérêts dus (3 278 913 238 FCFA) et dépréciation des prêts (14 016 392 FCFA) non provisionnés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Dettes absentes du bilan. Marge de solvabilité et réserve obligatoire surévaluées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Comptabiliser les intérêts et déprécier les prêts chaque année (recommandations 2 et 7)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Provision du personnel : 43 666 678 FCFA au bilan pour 24 446 566 FCFA recalculés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Écart faible, méthode non documentée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la note de calcul (PBC, item 78)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La base des prestations datée manque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Pas de calcul dossier par dossier ni de boni et mali de liquidation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la base (recommandation 3)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AIRMS : Agence ivoirienne de régulation de la mutualité sociale | PBC : liste des documents demandés au client</a:t>
            </a:r>
          </a:p>
        </p:txBody>
      </p:sp>
    </p:spTree>
    <p:extLst>
      <p:ext uri="{BB962C8B-B14F-4D97-AF65-F5344CB8AC3E}">
        <p14:creationId xmlns:p14="http://schemas.microsoft.com/office/powerpoint/2010/main" val="199708974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Adossement actif-passif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Résultats, hypothèses et conclusions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8006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structure du bilan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Plus des trois quarts de l'actif sont à plus de cinq ans ou à délai incertain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 31/08/2026, l'actif à moins d'un an ne couvre pas le passif à moins d'un an : l'écart vaut 3 559 869 546 FCFA avant toute sortie d'épargne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90 et 149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83248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752000"/>
                <a:gridCol w="3240000"/>
                <a:gridCol w="3240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Poste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31/12/2025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31/08/2026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Actif immédiat (trésorerie, DAT)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1 464 171 543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2 373 558 814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Actif à moins d'un an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1 250 837 284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1 084 308 137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Actif à 1 à 5 ans (prêts du Grenier, créances)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1 198 959 085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1 297 315 010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Actif à plus de 5 ans ou incertain (clinique, terrains, créance sur l'hôpital)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16 040 901 123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17 170 238 905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Passif à moins d'un an (hors épargne)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6 535 377 593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7 017 736 497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Épargne, échéance à établir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13 814 066 964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15 743 516 391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Épargne couverte par des actifs réservés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11,64 %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16,28 %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DAT : dépôt à terme</a:t>
            </a:r>
          </a:p>
        </p:txBody>
      </p:sp>
    </p:spTree>
    <p:extLst>
      <p:ext uri="{BB962C8B-B14F-4D97-AF65-F5344CB8AC3E}">
        <p14:creationId xmlns:p14="http://schemas.microsoft.com/office/powerpoint/2010/main" val="64367345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couverture des engagements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Même en lecture comptable, l'actif ne couvre pas tous les engagements connus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 31/08/2026 : 96,33 % en lecture comptable, 27,19 % sans les actifs dont la valeur de marché n'est pas établie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151 et 152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0512000" cy="126005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56000"/>
                <a:gridCol w="2160000"/>
                <a:gridCol w="1368000"/>
                <a:gridCol w="2160000"/>
                <a:gridCol w="1368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Scénario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Actif retenu 31/12/2025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Couverture 2025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Actif retenu 31/08/2026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Couverture 2026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1. Lecture comptable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19 954 869 035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98,06 %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21 925 420 866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96,33 %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2. Sans actifs de valeur non réalisable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15 732 740 110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77,31 %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17 237 600 156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75,73 %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3. Sans actifs de valeur de marché non établie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5 298 475 488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26,04 %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6 188 677 951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27,19 %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4. Actifs à un an / passif à un an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2 715 008 827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41,54 %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3 457 866 951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49,27 %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Engagements connus (scénarios 1 à 3)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20 349 444 557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22 761 252 888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2862057"/>
            <a:ext cx="11232000" cy="300594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Ces couvertures sont des maxima.</a:t>
            </a:r>
            <a:r>
              <a:rPr sz="1300" b="0">
                <a:solidFill>
                  <a:srgbClr val="060606"/>
                </a:solidFill>
                <a:latin typeface="Helvetica"/>
              </a:rPr>
              <a:t> Les engagements non comptabilisés, dont les intérêts dus sur l'épargne, ne sont pas au dénominateur.</a:t>
            </a:r>
          </a:p>
        </p:txBody>
      </p:sp>
    </p:spTree>
    <p:extLst>
      <p:ext uri="{BB962C8B-B14F-4D97-AF65-F5344CB8AC3E}">
        <p14:creationId xmlns:p14="http://schemas.microsoft.com/office/powerpoint/2010/main" val="370451673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sorties de l'épargne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De 2021 à 2025, il sort chaque année en moyenne 19,24 % de l'épargne du début d'année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Taux de sortie compris entre 12,60 % et 27,55 %. Le PEP sort plus vite que l'EFC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154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62247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6000"/>
                <a:gridCol w="2736000"/>
                <a:gridCol w="2736000"/>
                <a:gridCol w="1440000"/>
                <a:gridCol w="1440000"/>
                <a:gridCol w="1584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Exercice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Épargne au début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Sorties de l'année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Taux PEP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Taux EFC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Taux total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2021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10 828 205 640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1 652 904 458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17,73 %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10,02 %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15,26 %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2022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10 147 421 276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2 317 974 441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30,55 %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9,88 %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22,84 %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2023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9 364 845 293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2 579 886 392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46,17 %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7,02 %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27,55 %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2024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9 121 576 576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1 634 861 234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33,45 %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7,99 %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17,92 %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10 785 064 432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1 358 821 103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23,60 %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6,54 %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12,60 %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Moyenne 2021 à 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ctr">
                        <a:buNone/>
                      </a:pP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19,24 %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PEP : Plan Épargne Plus | EFC : entraide fin de carrière</a:t>
            </a:r>
          </a:p>
        </p:txBody>
      </p:sp>
    </p:spTree>
    <p:extLst>
      <p:ext uri="{BB962C8B-B14F-4D97-AF65-F5344CB8AC3E}">
        <p14:creationId xmlns:p14="http://schemas.microsoft.com/office/powerpoint/2010/main" val="209907129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écarts de liquidité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manque de liquidité cumulé atteint 12 596 052 822 FCFA à la fin de la cinquième année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Même en comptant à leur valeur comptable les terrains, la clinique et les créances longues, il manque 835 832 022 FCFA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155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8" cy="13633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84000"/>
                <a:gridCol w="1944000"/>
                <a:gridCol w="1800000"/>
                <a:gridCol w="1872000"/>
                <a:gridCol w="2015999"/>
                <a:gridCol w="2015999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Échéance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Actifs disponibles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Dettes à payer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Sorties d'épargne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Écart de l'année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Écart cumulé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Année 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3 457 866 951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7 017 736 497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3 028 376 687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-6 588 246 233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-6 588 246 233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Année 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324 328 752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2 445 847 020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-2 121 518 268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-8 709 764 501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Année 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324 328 752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1 975 371 053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-1 651 042 301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-10 360 806 802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Année 4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324 328 752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1 595 394 465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-1 271 065 713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-11 631 872 515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Année 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324 328 752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1 288 509 060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-964 180 307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-12 596 052 822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Au-delà de 5 ans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17 170 238 905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5 410 018 105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11 760 220 800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-835 832 022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2965380"/>
            <a:ext cx="11232000" cy="2902619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En pratique, l'écart est comblé chaque année par les nouvelles cotisations d'épargne et les excédents.</a:t>
            </a:r>
            <a:r>
              <a:rPr sz="1300" b="0">
                <a:solidFill>
                  <a:srgbClr val="060606"/>
                </a:solidFill>
                <a:latin typeface="Helvetica"/>
              </a:rPr>
              <a:t> Le FPPN dépend de la poursuite des versements pour payer les sorties.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154136943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tests de résistance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couverture des paiements de l'année varie entre 22,30 % et 34,42 % selon le scénario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Aucun scénario n'approche 100 %, même dans le scénario central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156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63771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6000"/>
                <a:gridCol w="3384000"/>
                <a:gridCol w="1800000"/>
                <a:gridCol w="1800000"/>
                <a:gridCol w="1800000"/>
                <a:gridCol w="1152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Clôture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Scénario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Actif à moins d'un an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Besoin de l'année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Écart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Couverture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31/12/2025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Central : taux de sortie moyen (19,24 %)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2 715 008 827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9 192 611 042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-6 477 602 215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29,53 %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31/12/2025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Résistance : taux de sortie maximal (27,55 %)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2 715 008 827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10 340 963 512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-7 625 954 685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26,25 %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31/12/2025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Résistance sévère : taux maximal et prestations maladie +103,53 %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2 715 008 827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12 175 203 736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-9 460 194 909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22,30 %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31/08/2026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Central : taux de sortie moyen (19,24 %)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3 457 866 951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10 046 113 184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-6 588 246 233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34,42 %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Résistance : taux de sortie maximal (27,55 %)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3 457 866 951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11 354 859 261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-7 896 992 310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30,45 %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31/08/2026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Résistance sévère : taux maximal et prestations maladie +103,53 %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3 457 866 951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13 189 099 485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-9 731 232 534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26,22 %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3239717"/>
            <a:ext cx="11232000" cy="262828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Ratios prudentiels liés au 31/08/2026.</a:t>
            </a:r>
            <a:r>
              <a:rPr sz="1300" b="0">
                <a:solidFill>
                  <a:srgbClr val="060606"/>
                </a:solidFill>
                <a:latin typeface="Helvetica"/>
              </a:rPr>
              <a:t> Liquidité 0,19 (norme au moins 1), équilibre stable 1,72 (norme au plus 1), réserve de trésorerie des risques longs 0,00 (norme un trimestre).</a:t>
            </a:r>
          </a:p>
        </p:txBody>
      </p:sp>
    </p:spTree>
    <p:extLst>
      <p:ext uri="{BB962C8B-B14F-4D97-AF65-F5344CB8AC3E}">
        <p14:creationId xmlns:p14="http://schemas.microsoft.com/office/powerpoint/2010/main" val="191681054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hypothèses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hypothèses sont calibrées sur le comportement observé des adhérents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Toutes les corrections attendues augmentent le passif ou réduisent l'actif : le résultat est une borne favorable au FPPN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149, 150 et 153 à 156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216441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80000"/>
                <a:gridCol w="3240000"/>
                <a:gridCol w="5112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Hypothèse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Valeur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Source ou justification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Valeur des actifs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Valeur comptable des balances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Aucune expertise de la clinique ni des terrains. Choix favorable au FPPN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Délai de mobilisation des actifs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Classement par nature comptable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Pas d'échéancier contractuel des actifs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Actifs à 1 à 5 ans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Répartis à parts égales sur les années 2 à 5 (324 328 752 FCFA par an)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Prêts du Grenier de durée médiane 10 mois, créances sans échéancier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Échéance de l'épargne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Sortie annuelle de 19,24 % du solde restant (moyenne 2021 à 2025)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Sorties des comptes 41195100 et 41195200. Aucun échéancier individuel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Test de résistance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Taux de sortie maximal observé : 27,55 % (2023)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Calibré sur le FPPN, et non sur le rachat de 40 % de la formule standard européenne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Test de résistance sévère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27,55 % et hausse des prestations maladie de 103,53 %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Plus forte hausse observée en 2024 et 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Dettes à moins d'un an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7 017 736 497 FCFA, toutes en année 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Comprennent les provisions non recalculées. Seule leur baisse allégerait le passif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Nouveaux versements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Non comptés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Écoulement statique : on mesure ce que le bilan actuel permet de payer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161551805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Adossement : conclusions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FPPN n'est pas adossé : l'épargne exigible finance des actifs longs et peu liquides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non-adossement est démontré quel que soit le scénario. Un échéancier de l'épargne préciserait les montants sans changer la conclusion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150 à 158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85445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744000"/>
                <a:gridCol w="3960000"/>
                <a:gridCol w="3528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Conclusion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Implication et risque pour le FPPN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Recommandation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La liquidité ne couvre pas l'année qui vient : 34,42 % dans le scénario central au 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Risque de liquidité : une hausse des départs ou des retraits empêche de payer à l'échéance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Réserve de liquidité égale aux sorties d'épargne d'une année au taux maximal (recommandation 5)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L'écart ne se résorbe pas : manque cumulé de 12 596 052 822 FCFA à cinq ans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 FPPN dépend des nouveaux versements pour payer les sorties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Arrêter le financement d'actifs longs par l'épargne (recommandation 7)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Le FPPN ne résiste pas à un choc : 26,22 % dans le scénario sévère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Il devrait céder des actifs peu liquides, avec des retards de paiement aux adhérents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Échéancier de l'épargne et suivi trimestriel des écarts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Ni politique, ni comité, ni limites actif-passif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Personne ne mesure l'effet des investissements sur la liquidité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Politique actif-passif votée et comité actif-passif (recommandations 5 et 9)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Clinique, terrains et créance sur l'hôpital : 15 736 951 165 FCFA, non évalués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La couverture tombe à 27,19 % sans ces actifs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Faire évaluer les actifs immobiliers et documenter le recouvrement de la créance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50472639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Placements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Résultats, hypothèses et conclusions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9075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Placements : encours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Un dépôt mensuel pour payer l'EFC, un dépôt PEP de cinq ans, un FCP depuis 2025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Encours moyen réellement placé en 2025 : 763 752 135 FCFA. Au 31/08/2026 : DAT BOA 485 541 804 FCFA et FCP 500 000 000 FCFA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162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7" cy="141672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6000"/>
                <a:gridCol w="2015999"/>
                <a:gridCol w="2015999"/>
                <a:gridCol w="1800000"/>
                <a:gridCol w="2015999"/>
                <a:gridCol w="2088000"/>
              </a:tblGrid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Exercice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DAT EFC : encours moyen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DAT PEP : encours moyen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DAT Orabank et FCP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Total : encours moyen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Total à la clôture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2021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196 540 324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701 924 182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173 255 937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24 640 000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703 279 795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563 924 385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2023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136 861 631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17 440 000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659 685 489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2024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211 637 502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717 021 360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266 146 860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418 153 219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79 452 055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763 752 135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500 000 000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2026 (8 mois)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247 695 588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500 000 000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747 695 588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985 541 804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3999" y="3018723"/>
            <a:ext cx="11232000" cy="2849276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300" b="1">
                <a:solidFill>
                  <a:srgbClr val="060606"/>
                </a:solidFill>
                <a:latin typeface="Helvetica"/>
              </a:rPr>
              <a:t>Le DAT EFC n'est pas une réserve.</a:t>
            </a:r>
            <a:r>
              <a:rPr sz="1300" b="0">
                <a:solidFill>
                  <a:srgbClr val="060606"/>
                </a:solidFill>
                <a:latin typeface="Helvetica"/>
              </a:rPr>
              <a:t> C'est un dépôt d'un mois, renouvelé chaque mois, puis viré en décembre pour payer l'EFC. Seuls le DAT PEP, puis le FCP, ont été des placements durables.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PEP : Plan Épargne Plus | EFC : entraide fin de carrière | FCP : fonds commun de placement | DAT : dépôt à terme</a:t>
            </a:r>
          </a:p>
        </p:txBody>
      </p:sp>
    </p:spTree>
    <p:extLst>
      <p:ext uri="{BB962C8B-B14F-4D97-AF65-F5344CB8AC3E}">
        <p14:creationId xmlns:p14="http://schemas.microsoft.com/office/powerpoint/2010/main" val="64405463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Placements : rendement et volume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problème des placements est leur faible volume, pas leur rendement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Produits financiers 2021 à 2025 : 173 881 316 FCFA. Intérêts dus sur la même période : 2 349 114 243 FCFA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8, 97, 102, 162, 163 et 165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23015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744000"/>
                <a:gridCol w="2376000"/>
                <a:gridCol w="5112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Mesure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Valeur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Ce que le chiffre montre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Placements moyens 2025 rapportés à l'épargne due au 31/12/2025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5,53 %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763 752 135 FCFA pour 13 814 066 964 FCFA d'épargne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Rendement moyen apparent 2021 à 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4,90 % par an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173 881 316 FCFA de produits pour 709 132 592 FCFA d'encours moyen. Taux directeur BCEAO entre 2,00 % et 3,50 %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Produits financiers 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117 912 488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Dont 132 663 262 FCFA d'intérêts du DAT PEP accumulés depuis 2020, enregistrés en une fois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Intérêts d'une année sur l'EFC à 3,50 % (2025)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309 709 577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Supérieurs aux produits financiers de chaque année de 2021 à 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Clinique, terrains et créance sur l'hôpital au 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15 736 951 165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Actifs peu liquides, sans évaluation récente, financés en grande partie par l'épargne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Financement des prêts du Grenier au 31/08/2026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915 477 260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87,66 % de l'encours des prêts, durée médiane de 10 mois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Comptes courants non rémunérés au 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2 356 399 123 FCFA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Trésorerie qui peut être placée à terme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Politique de placement votée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Aucune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 directeur général décide seul (entretien du 19/10/2026), à confirmer par pièce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BCEAO : Banque centrale des États de l'Afrique de l'Ouest | PEP : Plan Épargne Plus | EFC : entraide fin de carrière | DAT : dépôt à terme</a:t>
            </a:r>
          </a:p>
        </p:txBody>
      </p:sp>
    </p:spTree>
    <p:extLst>
      <p:ext uri="{BB962C8B-B14F-4D97-AF65-F5344CB8AC3E}">
        <p14:creationId xmlns:p14="http://schemas.microsoft.com/office/powerpoint/2010/main" val="220255196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Placements : hypothèses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rendement est mesuré sur l'argent réellement placé chaque jour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règles appliquées sont celles de la mutualité sociale de l'UEMOA, régime du FPPN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151, 162 et 165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1999" cy="185109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80000"/>
                <a:gridCol w="3311999"/>
                <a:gridCol w="5040000"/>
              </a:tblGrid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Hypothèse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Valeur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Source ou justification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Périmètre des placements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Dépôts à terme (comptes 52) et FCP (comptes 53)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Grands livres 2021 à 2025 et 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Encours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Moyenne pondérée par les jours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Les DAT sont placés et dénoués en cours d'année : les soldes de clôture fausseraient le rendement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Produits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Produits financiers de la classe 77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Balances 2021 à 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Référence de marché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Taux directeur BCEAO et titres publics de l'État de Côte d'Ivoire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Référence de placement sûr dans la zone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FCP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500 000 000 FCFA à la valeur d'achat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Rendement annoncé de 8 à 10 %, non garanti, non revalorisé dans les comptes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Conditions à respecter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Sécurité, rendement, liquidité, diversification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Règlement d'exécution n° 004/2022, art. 17. Décision ministérielle sur les actifs admis non reçue (PBC, item 32)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UEMOA : Union économique et monétaire ouest-africaine | BCEAO : Banque centrale des États de l'Afrique de l'Ouest | FCP : fonds commun de placement | DAT : dépôt à terme | PBC : liste des documents demandés au client</a:t>
            </a:r>
          </a:p>
        </p:txBody>
      </p:sp>
    </p:spTree>
    <p:extLst>
      <p:ext uri="{BB962C8B-B14F-4D97-AF65-F5344CB8AC3E}">
        <p14:creationId xmlns:p14="http://schemas.microsoft.com/office/powerpoint/2010/main" val="115712924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Placements : conclusions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placements ne sont adéquats ni en volume, ni en liquidité, ni en rendement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portefeuille est inadéquat d'abord parce que l'épargne finance des actifs qui ne produisent ni revenu financier ni liquidité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163, 164 et 166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93827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12000"/>
                <a:gridCol w="4680000"/>
                <a:gridCol w="1224000"/>
                <a:gridCol w="3816000"/>
              </a:tblGrid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Condition (art. 17)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Ce que montrent les chiffres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Appréciation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Recommandation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Liquidité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Couverture de 34,42 % des paiements de l'année au 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Non remplie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Part liquide minimale fixée par une politique votée (recommandation 5)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Rendement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Produits 2021 à 2025 : 173 881 316 FCFA, intérêts dus : 2 349 114 243 FCFA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Non remplie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Rendement minimal au regard du taux servi arrêté (recommandation 5)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Sécurité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Clinique, terrains et créance sur l'hôpital non évalués. FCP non garanti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Non démontrée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Évaluation des actifs, comptabilité séparée de la clinique (recommandation 7)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Diversification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Plus des trois quarts de l'actif à plus de cinq ans ou à délai incertain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Non remplie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Limites sur l'immobilier. Projet de Cocody présenté aux organes avant tout engagement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Gouvernance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Ni politique écrite, ni comité, ni délibération de placement reçue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Non démontrée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Placements décidés par le conseil d'administration (statuts, art. 85)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FCP : fonds commun de placement</a:t>
            </a:r>
          </a:p>
        </p:txBody>
      </p:sp>
    </p:spTree>
    <p:extLst>
      <p:ext uri="{BB962C8B-B14F-4D97-AF65-F5344CB8AC3E}">
        <p14:creationId xmlns:p14="http://schemas.microsoft.com/office/powerpoint/2010/main" val="242203426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Conclusions générales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Ce que les quatre axes disent ensemble du FPPN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5225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Conclusions générales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FPPN dégage des excédents, mais il ne peut pas démontrer qu'il remboursera l'épargne de ses adhérents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risque principal est la liquidité de l'épargne, et l'enjeu réglementaire est l'agrément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9, 11, 161, 178 et 195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193827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456000"/>
                <a:gridCol w="3096000"/>
                <a:gridCol w="4680000"/>
              </a:tblGrid>
              <a:tr h="20238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Constat transversal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Chiffre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Helvetica"/>
                        </a:rPr>
                        <a:t>Conséquence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Fonds propres négatifs à chaque clôture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-438 242 200 FCFA (2025), -879 498 700 FCFA (31/08/2026)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Aucun coussin pour absorber un choc. Le déficit des huit premiers mois de 2026 inverse le redressement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Ratios de la Décision n° 05/2022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14 non conformes, 7 conformes, 15 en attente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Une non-conformité sur deux exercices de suite permet à l'AIRMS de retirer l'agrément (règlement n° 07/2009, art. 84)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Épargne non couverte par des actifs réservés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16,28 % de couverture au 31/08/2026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L'épargne finance la clinique, les terrains, la créance sur l'hôpital et les prêts du Grenier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Sinistralité maladie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6,00 % (2021), 73,53 % (2025), 97,40 % (31/08/2026)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La garantie maladie est déficitaire depuis 2025, le décès finance l'ensemble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4717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1">
                          <a:solidFill>
                            <a:srgbClr val="060606"/>
                          </a:solidFill>
                          <a:latin typeface="Helvetica"/>
                        </a:rPr>
                        <a:t>Données manquantes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Base des prestations datée, dates de naissance, comptes individuels, taux servi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50" b="0">
                          <a:solidFill>
                            <a:srgbClr val="060606"/>
                          </a:solidFill>
                          <a:latin typeface="Helvetica"/>
                        </a:rPr>
                        <a:t>Les montants seront précisés, sans changer le sens des verdicts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AIRMS : Agence ivoirienne de régulation de la mutualité sociale</a:t>
            </a:r>
          </a:p>
        </p:txBody>
      </p:sp>
    </p:spTree>
    <p:extLst>
      <p:ext uri="{BB962C8B-B14F-4D97-AF65-F5344CB8AC3E}">
        <p14:creationId xmlns:p14="http://schemas.microsoft.com/office/powerpoint/2010/main" val="25901339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Recommandations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Neuf recommandations, dont quatre à engager dans les six mois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Chaque recommandation répond à un constat d'un ou plusieurs axes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25 et 26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3999" y="1386000"/>
          <a:ext cx="11232000" cy="210009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192000"/>
                <a:gridCol w="2664000"/>
                <a:gridCol w="2376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Recommandation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Axes concernés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Horizon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1. Calculer les provisions maladie et décès à chaque clôture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Provisions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Moins de 6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2. Arrêter le taux servi sur l'épargne et tenir les comptes individuels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Engagements, provisions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Moins de 6 mois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3. Transmettre les données qui manquent aux calculs actuariels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Tous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Moins de 6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4. Présenter à l'AIRMS un plan de mise en conformité prudentielle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Tous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Moins de 6 mois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5. Constituer une réserve de liquidité et adopter une politique de placement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Adossement, placements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6 à 18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6. Rééquilibrer la garantie maladie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Provisions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6 à 18 mois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7. Encadrer les investissements dans la clinique, le Grenier et le projet de Cocody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Adossement, placements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6 à 18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8. Faire réaliser l'étude actuarielle des risques longs et certifier les comptes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Engagements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Plus de 18 mois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9. Mettre en place un dispositif actuariel permanent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Tous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Plus de 18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AIRMS : Agence ivoirienne de régulation de la mutualité sociale</a:t>
            </a:r>
          </a:p>
        </p:txBody>
      </p:sp>
    </p:spTree>
    <p:extLst>
      <p:ext uri="{BB962C8B-B14F-4D97-AF65-F5344CB8AC3E}">
        <p14:creationId xmlns:p14="http://schemas.microsoft.com/office/powerpoint/2010/main" val="165487094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651;p70"/>
          <p:cNvSpPr/>
          <p:nvPr/>
        </p:nvSpPr>
        <p:spPr>
          <a:xfrm>
            <a:off x="2013108" y="2588204"/>
            <a:ext cx="1380332" cy="1428252"/>
          </a:xfrm>
          <a:custGeom>
            <a:avLst/>
            <a:gdLst/>
            <a:ahLst/>
            <a:cxnLst/>
            <a:rect l="l" t="t" r="r" b="b"/>
            <a:pathLst>
              <a:path w="8670" h="8971" extrusionOk="0">
                <a:moveTo>
                  <a:pt x="7105" y="1302"/>
                </a:moveTo>
                <a:cubicBezTo>
                  <a:pt x="7105" y="1315"/>
                  <a:pt x="7105" y="1328"/>
                  <a:pt x="7105" y="1341"/>
                </a:cubicBezTo>
                <a:cubicBezTo>
                  <a:pt x="7118" y="1980"/>
                  <a:pt x="7183" y="2619"/>
                  <a:pt x="7183" y="3283"/>
                </a:cubicBezTo>
                <a:cubicBezTo>
                  <a:pt x="7170" y="4404"/>
                  <a:pt x="7183" y="5525"/>
                  <a:pt x="7222" y="6646"/>
                </a:cubicBezTo>
                <a:cubicBezTo>
                  <a:pt x="7235" y="6959"/>
                  <a:pt x="7222" y="7259"/>
                  <a:pt x="7222" y="7559"/>
                </a:cubicBezTo>
                <a:lnTo>
                  <a:pt x="7222" y="7585"/>
                </a:lnTo>
                <a:cubicBezTo>
                  <a:pt x="6935" y="7598"/>
                  <a:pt x="6649" y="7611"/>
                  <a:pt x="6362" y="7611"/>
                </a:cubicBezTo>
                <a:cubicBezTo>
                  <a:pt x="6101" y="7598"/>
                  <a:pt x="5853" y="7585"/>
                  <a:pt x="5593" y="7585"/>
                </a:cubicBezTo>
                <a:cubicBezTo>
                  <a:pt x="4159" y="7559"/>
                  <a:pt x="2712" y="7559"/>
                  <a:pt x="1291" y="7442"/>
                </a:cubicBezTo>
                <a:cubicBezTo>
                  <a:pt x="1278" y="7207"/>
                  <a:pt x="1239" y="6959"/>
                  <a:pt x="1226" y="6725"/>
                </a:cubicBezTo>
                <a:cubicBezTo>
                  <a:pt x="1200" y="6255"/>
                  <a:pt x="1187" y="5799"/>
                  <a:pt x="1200" y="5330"/>
                </a:cubicBezTo>
                <a:cubicBezTo>
                  <a:pt x="1213" y="4222"/>
                  <a:pt x="1226" y="3101"/>
                  <a:pt x="1343" y="1993"/>
                </a:cubicBezTo>
                <a:lnTo>
                  <a:pt x="1552" y="1993"/>
                </a:lnTo>
                <a:cubicBezTo>
                  <a:pt x="2138" y="1980"/>
                  <a:pt x="2725" y="1889"/>
                  <a:pt x="3312" y="1810"/>
                </a:cubicBezTo>
                <a:cubicBezTo>
                  <a:pt x="4576" y="1641"/>
                  <a:pt x="5840" y="1524"/>
                  <a:pt x="7105" y="1302"/>
                </a:cubicBezTo>
                <a:close/>
                <a:moveTo>
                  <a:pt x="7529" y="1"/>
                </a:moveTo>
                <a:cubicBezTo>
                  <a:pt x="7291" y="1"/>
                  <a:pt x="7059" y="53"/>
                  <a:pt x="6818" y="64"/>
                </a:cubicBezTo>
                <a:cubicBezTo>
                  <a:pt x="6375" y="103"/>
                  <a:pt x="5932" y="142"/>
                  <a:pt x="5488" y="194"/>
                </a:cubicBezTo>
                <a:cubicBezTo>
                  <a:pt x="4824" y="259"/>
                  <a:pt x="4107" y="350"/>
                  <a:pt x="3429" y="389"/>
                </a:cubicBezTo>
                <a:cubicBezTo>
                  <a:pt x="2686" y="429"/>
                  <a:pt x="1943" y="481"/>
                  <a:pt x="1213" y="598"/>
                </a:cubicBezTo>
                <a:cubicBezTo>
                  <a:pt x="913" y="624"/>
                  <a:pt x="652" y="728"/>
                  <a:pt x="509" y="976"/>
                </a:cubicBezTo>
                <a:cubicBezTo>
                  <a:pt x="470" y="1028"/>
                  <a:pt x="444" y="1080"/>
                  <a:pt x="431" y="1146"/>
                </a:cubicBezTo>
                <a:cubicBezTo>
                  <a:pt x="300" y="1524"/>
                  <a:pt x="287" y="1928"/>
                  <a:pt x="300" y="2332"/>
                </a:cubicBezTo>
                <a:cubicBezTo>
                  <a:pt x="209" y="3010"/>
                  <a:pt x="209" y="3700"/>
                  <a:pt x="209" y="4378"/>
                </a:cubicBezTo>
                <a:cubicBezTo>
                  <a:pt x="170" y="4769"/>
                  <a:pt x="144" y="5173"/>
                  <a:pt x="131" y="5565"/>
                </a:cubicBezTo>
                <a:cubicBezTo>
                  <a:pt x="105" y="6203"/>
                  <a:pt x="14" y="6842"/>
                  <a:pt x="14" y="7481"/>
                </a:cubicBezTo>
                <a:cubicBezTo>
                  <a:pt x="1" y="7911"/>
                  <a:pt x="157" y="8315"/>
                  <a:pt x="613" y="8419"/>
                </a:cubicBezTo>
                <a:cubicBezTo>
                  <a:pt x="1056" y="8550"/>
                  <a:pt x="1526" y="8524"/>
                  <a:pt x="1982" y="8550"/>
                </a:cubicBezTo>
                <a:cubicBezTo>
                  <a:pt x="2243" y="8563"/>
                  <a:pt x="2503" y="8589"/>
                  <a:pt x="2764" y="8615"/>
                </a:cubicBezTo>
                <a:cubicBezTo>
                  <a:pt x="3885" y="8745"/>
                  <a:pt x="5006" y="8902"/>
                  <a:pt x="6140" y="8941"/>
                </a:cubicBezTo>
                <a:cubicBezTo>
                  <a:pt x="6220" y="8945"/>
                  <a:pt x="6302" y="8946"/>
                  <a:pt x="6383" y="8946"/>
                </a:cubicBezTo>
                <a:cubicBezTo>
                  <a:pt x="6581" y="8946"/>
                  <a:pt x="6781" y="8937"/>
                  <a:pt x="6974" y="8928"/>
                </a:cubicBezTo>
                <a:cubicBezTo>
                  <a:pt x="7118" y="8941"/>
                  <a:pt x="7274" y="8941"/>
                  <a:pt x="7418" y="8941"/>
                </a:cubicBezTo>
                <a:cubicBezTo>
                  <a:pt x="7568" y="8956"/>
                  <a:pt x="7723" y="8971"/>
                  <a:pt x="7877" y="8971"/>
                </a:cubicBezTo>
                <a:cubicBezTo>
                  <a:pt x="7990" y="8971"/>
                  <a:pt x="8103" y="8963"/>
                  <a:pt x="8213" y="8941"/>
                </a:cubicBezTo>
                <a:cubicBezTo>
                  <a:pt x="8643" y="8810"/>
                  <a:pt x="8565" y="8093"/>
                  <a:pt x="8604" y="7741"/>
                </a:cubicBezTo>
                <a:cubicBezTo>
                  <a:pt x="8669" y="6620"/>
                  <a:pt x="8539" y="5499"/>
                  <a:pt x="8487" y="4378"/>
                </a:cubicBezTo>
                <a:cubicBezTo>
                  <a:pt x="8434" y="3453"/>
                  <a:pt x="8330" y="2527"/>
                  <a:pt x="8252" y="1589"/>
                </a:cubicBezTo>
                <a:cubicBezTo>
                  <a:pt x="8200" y="1341"/>
                  <a:pt x="8239" y="637"/>
                  <a:pt x="8096" y="350"/>
                </a:cubicBezTo>
                <a:lnTo>
                  <a:pt x="8082" y="350"/>
                </a:lnTo>
                <a:cubicBezTo>
                  <a:pt x="8056" y="181"/>
                  <a:pt x="7952" y="51"/>
                  <a:pt x="7704" y="11"/>
                </a:cubicBezTo>
                <a:cubicBezTo>
                  <a:pt x="7645" y="4"/>
                  <a:pt x="7587" y="1"/>
                  <a:pt x="7529" y="1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B23AA-050D-4543-80A0-873FE31AFFF7}"/>
              </a:ext>
            </a:extLst>
          </p:cNvPr>
          <p:cNvSpPr/>
          <p:nvPr/>
        </p:nvSpPr>
        <p:spPr>
          <a:xfrm>
            <a:off x="2446471" y="2869098"/>
            <a:ext cx="513606" cy="936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60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8554" y="2462184"/>
            <a:ext cx="381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36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Annexes : méthodes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274" y="-185107"/>
            <a:ext cx="3179518" cy="1268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8554" y="3337559"/>
            <a:ext cx="381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fr-CI" noProof="0">
                <a:solidFill>
                  <a:schemeClr val="bg1"/>
                </a:solidFill>
              </a:rPr>
            </a:br>
            <a:r>
              <a:rPr lang="fr-CI" noProof="0">
                <a:solidFill>
                  <a:srgbClr val="EFAC62"/>
                </a:solidFill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Chaque méthode expliquée, pourquoi elle a été retenue et ses limites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561" y="2415481"/>
            <a:ext cx="1566911" cy="16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093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Méthodes : engagements envers les adhérents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11231999" cy="22168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3311999"/>
                <a:gridCol w="3240000"/>
                <a:gridCol w="2520000"/>
              </a:tblGrid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Méthode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Ce qu'elle fait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Pourquoi elle est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Limite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Inventaire des soldes comptables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Additionne les soldes des comptes d'épargne PEP et EFC à chaque clôture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Seule source complète de 2020 au 31/08/2026, en l'absence de relevés individuels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Montant global, non vérifiable épargnant par épargnant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446244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Intérêts simples sur encours moyen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Multiplie chaque année la moyenne des soldes d'ouverture et de clôture par le taux servi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Tient compte des versements et retraits de l'année sans connaître leurs dates. Pas de capitalisation faute de règle écrite : résultat minimal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Dépend du taux retenu (3,50 % ou 5,50 % pour l'EFC)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Évaluation dossier par dossier au barème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Valorise chaque décès non payé au barème du grade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Méthode du FPPN, conforme aux statuts (art. 89), rapprochée du compte 41591000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Date de dépôt non saisie : forclusion non vérifiable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Décès enregistrés l'année suivante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Mesure les décès d'une année déclarés après le 31 décembre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Donne l'ordre de grandeur des décès survenus non déclarés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Deux états seulement portent la date d'enregistrement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Unités de crédit projetées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Calcule agent par agent l'indemnité de départ acquise et projetée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Méthode de référence pour les indemnités de départ (décret n° 2017-210)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Hors policiers détachés. DISA 2024 scannée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Provision mathématique (art. 334-2 du Code CIMA)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Valeur actuelle des engagements moins valeur actuelle des versements futurs, compte par compte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Méthode cible, présentée pour la suite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Non applicable : comptes individuels, âges et taux arrêté manquants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98, 124, 127, 133 et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CIMA : Conférence interafricaine des marchés d'assurances | PEP : Plan Épargne Plus | EFC : entraide fin de carrière | DISA : déclaration individuelle des salaires annuels à la CNPS</a:t>
            </a:r>
          </a:p>
        </p:txBody>
      </p:sp>
    </p:spTree>
    <p:extLst>
      <p:ext uri="{BB962C8B-B14F-4D97-AF65-F5344CB8AC3E}">
        <p14:creationId xmlns:p14="http://schemas.microsoft.com/office/powerpoint/2010/main" val="111787009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Méthodes : suffisance des provisions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11231999" cy="23464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3311999"/>
                <a:gridCol w="3240000"/>
                <a:gridCol w="2520000"/>
              </a:tblGrid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Méthode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Ce qu'elle fait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Pourquoi elle est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Limite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446244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Règlements postérieurs à la clôture (maladie)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Mesure les soins d'une année facturés de janvier à mars suivant, puis l'étend aux factures sans année lisible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Les cliniques sont payées en quelques mois (règlement intérieur, art. 52. Délai observé de 2,62 à 5,00 mois depuis 2024)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Date des soins non saisie. Année lisible pour 15,57 % des factures 2025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Délai moyen de paiement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Divise les factures non payées par les factures enregistrées par mois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Vérifie que la règle des trois mois s'applique, et donc qu'une méthode courte suffit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Ne couvre pas les remboursements aux mutualistes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446244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Cadence des déclarations tardives (décès)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Estime les décès survenus non encore déclarés à partir des délais de déclaration observés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Méthode reconnue dans la zone (Code CIMA, art. 334-12, circulaire n° 00230). Tient compte de la forclusion de 3 ans et 12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Peu d'observations (deux états)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Dépréciation par tranche de retard (Grenier)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Applique 40 %, 80 % ou 100 % à l'encours selon l'ancienneté du retard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Taux fixés par la politique de crédit du Grenier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Barème de la BCEAO des SFD non reçu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Provision pour risques courts (statuts, art. 88)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Mesure la période non couverte par une cotisation à la clôture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Obligation des statuts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Nulle tant que la cotisation est précomptée chaque mois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Méthode écartée : Chain Ladder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Projette les paiements futurs à partir de triangles de paiements sur plusieurs années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Écartée : inutile pour des soins réglés en quelques mois, et base datée non transmise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-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120 à 129, 144 et annexe « Méthodes non retenues 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CIMA : Conférence interafricaine des marchés d'assurances | BCEAO : Banque centrale des États de l'Afrique de l'Ouest | SFD : systèmes financiers décentralisés</a:t>
            </a:r>
          </a:p>
        </p:txBody>
      </p:sp>
    </p:spTree>
    <p:extLst>
      <p:ext uri="{BB962C8B-B14F-4D97-AF65-F5344CB8AC3E}">
        <p14:creationId xmlns:p14="http://schemas.microsoft.com/office/powerpoint/2010/main" val="124719439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Méthodes : adossement actif-passif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11231999" cy="23464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3311999"/>
                <a:gridCol w="3240000"/>
                <a:gridCol w="2520000"/>
              </a:tblGrid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Méthode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Ce qu'elle fait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Pourquoi elle est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Limite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Classement des actifs par liquidité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Range chaque actif selon le temps nécessaire pour le transformer en argent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Méthode standard (Gestion des risques bancaires, p. 95). Possible avec la nature comptable de chaque actif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Pas d'échéancier contractuel des actifs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446244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Écoulement conventionnel de l'épargne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Fait sortir chaque année 19,24 % du solde d'épargne restant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Méthode prévue pour les dépôts sans échéance (Gestion des risques bancaires, p. 33). Calibrée sur les sorties réelles de 2021 à 2025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Remplace un échéancier individuel, à obtenir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Écart de liquidité par échéance (gap)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Compare, année par année, les actifs disponibles aux dettes et sorties d'épargne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Mesure directement le manque de liquidité (Gestion des risques bancaires, p. 86)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Statique : sans nouveaux versements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Scénarios de couverture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Rapporte l'actif retenu aux engagements selon quatre règles de valorisation tirées des textes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Montre l'effet des actifs non évalués (règlement d'exécution n° 004/2022, art. 17 à 27)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Valeur de marché des actifs non établie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Tests de résistance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Simule un retrait au taux maximal (27,55 %) et une hausse des prestations maladie de 103,53 %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Chocs calibrés sur les extrêmes observés au FPPN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Pas de données de sorties par motif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446244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Méthodes écartées : duration, immunisation, VaR, modèle stochastique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Mesurent la sensibilité aux taux et le risque de perte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Écartées : supposent des flux de passif connus, une courbe de taux et un portefeuille obligataire, absents au FPPN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-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149 à 156 et annexe « Méthodes non retenues 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80830127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Méthodes : adéquation des placements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720000"/>
          <a:ext cx="11231999" cy="20873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3311999"/>
                <a:gridCol w="3240000"/>
                <a:gridCol w="2520000"/>
              </a:tblGrid>
              <a:tr h="18714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Méthode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Ce qu'elle fait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Pourquoi elle est retenue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Limite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Encours moyen pondéré par les jours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Calcule l'argent réellement placé chaque jour, lu dans les grands livres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Les DAT sont placés et dénoués en cours d'année : les soldes de clôture fausseraient le rendement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Grands livres 2021 à 2026 seulement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Taux de rendement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Divise les produits financiers par l'encours moyen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Formule de la Décision n° 05/2022 (taux brut de rentabilité des placements)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Produits irréguliers (intérêts enregistrés en une fois en 2025)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Taux de couverture de l'épargne par les placements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Divise l'encours placé par l'épargne due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Mesure le volume placé face à l'engagement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Taux servi non arrêté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Comparaison au marché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Compare le rendement au taux directeur de la BCEAO et aux titres de l'État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Référence de placement sûr dans la zone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Sources secondaires pour les titres de l'État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Comparaison aux intérêts dus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Compare les produits financiers aux intérêts promis aux épargnants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Vérifie si les placements peuvent servir le taux promis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Dépend du taux retenu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16696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Contrôle des quatre conditions de l'article 17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Teste la sécurité, le rendement, la liquidité et la diversification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Exigence du règlement d'exécution n° 004/2022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Décision ministérielle sur les actifs admis non reçue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rapport actuariel et statistique du 23/10/2026, diapositives 162, 165, 166 et 179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BCEAO : Banque centrale des États de l'Afrique de l'Ouest | DAT : dépôt à terme</a:t>
            </a:r>
          </a:p>
        </p:txBody>
      </p:sp>
    </p:spTree>
    <p:extLst>
      <p:ext uri="{BB962C8B-B14F-4D97-AF65-F5344CB8AC3E}">
        <p14:creationId xmlns:p14="http://schemas.microsoft.com/office/powerpoint/2010/main" val="253034988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67" y="-1240"/>
            <a:ext cx="6858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045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3" name="Google Shape;138;p25"/>
          <p:cNvSpPr txBox="1"/>
          <p:nvPr/>
        </p:nvSpPr>
        <p:spPr>
          <a:xfrm>
            <a:off x="920037" y="3088600"/>
            <a:ext cx="58009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Merci </a:t>
            </a:r>
          </a:p>
        </p:txBody>
      </p:sp>
    </p:spTree>
    <p:extLst>
      <p:ext uri="{BB962C8B-B14F-4D97-AF65-F5344CB8AC3E}">
        <p14:creationId xmlns:p14="http://schemas.microsoft.com/office/powerpoint/2010/main" val="2116590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16641</Words>
  <Application>Microsoft Office PowerPoint</Application>
  <PresentationFormat>Grand écran</PresentationFormat>
  <Paragraphs>1935</Paragraphs>
  <Slides>36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Adenka Consulting</dc:creator>
  <cp:lastModifiedBy>Adenka Consulting</cp:lastModifiedBy>
  <cp:revision>1</cp:revision>
  <dcterms:created xsi:type="dcterms:W3CDTF">2025-10-22T15:02:15Z</dcterms:created>
  <dcterms:modified xsi:type="dcterms:W3CDTF">2026-09-23T09:25:57Z</dcterms:modified>
  <dc:subject/>
  <cp:keywords/>
  <dc:description/>
</cp:coreProperties>
</file>