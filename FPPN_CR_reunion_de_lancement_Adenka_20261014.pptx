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5" r:id="rId2"/>
  </p:sldMasterIdLst>
  <p:notesMasterIdLst>
    <p:notesMasterId r:id="rId117"/>
  </p:notesMasterIdLst>
  <p:sldIdLst>
    <p:sldId id="256" r:id="rId3"/>
    <p:sldId id="317" r:id="rId13"/>
    <p:sldId id="325" r:id="rId25"/>
    <p:sldId id="330" r:id="rId41"/>
    <p:sldId id="320" r:id="rId23"/>
    <p:sldId id="404" r:id="rId124"/>
    <p:sldId id="271" r:id="rId29"/>
    <p:sldId id="328" r:id="rId1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9C8FC9B7-AD45-409C-8017-02DEBDF9C938}">
          <p14:sldIdLst>
            <p14:sldId id="256"/>
          </p14:sldIdLst>
        </p14:section>
        <p14:section name="Contenu" id="{41430ABC-712C-4A41-8691-5284113E2CD9}">
          <p14:sldIdLst>
            <p14:sldId id="260"/>
            <p14:sldId id="261"/>
            <p14:sldId id="310"/>
            <p14:sldId id="313"/>
            <p14:sldId id="403"/>
            <p14:sldId id="402"/>
            <p14:sldId id="291"/>
            <p14:sldId id="312"/>
            <p14:sldId id="314"/>
            <p14:sldId id="317"/>
            <p14:sldId id="315"/>
            <p14:sldId id="316"/>
            <p14:sldId id="323"/>
            <p14:sldId id="324"/>
            <p14:sldId id="321"/>
            <p14:sldId id="322"/>
            <p14:sldId id="264"/>
            <p14:sldId id="318"/>
            <p14:sldId id="319"/>
            <p14:sldId id="320"/>
            <p14:sldId id="326"/>
            <p14:sldId id="325"/>
            <p14:sldId id="266"/>
            <p14:sldId id="327"/>
            <p14:sldId id="268"/>
            <p14:sldId id="271"/>
            <p14:sldId id="287"/>
            <p14:sldId id="329"/>
            <p14:sldId id="398"/>
            <p14:sldId id="399"/>
            <p14:sldId id="391"/>
            <p14:sldId id="397"/>
            <p14:sldId id="395"/>
            <p14:sldId id="396"/>
            <p14:sldId id="393"/>
            <p14:sldId id="392"/>
            <p14:sldId id="270"/>
            <p14:sldId id="330"/>
            <p14:sldId id="331"/>
            <p14:sldId id="332"/>
            <p14:sldId id="272"/>
            <p14:sldId id="333"/>
            <p14:sldId id="289"/>
            <p14:sldId id="334"/>
            <p14:sldId id="277"/>
            <p14:sldId id="278"/>
            <p14:sldId id="274"/>
            <p14:sldId id="335"/>
            <p14:sldId id="336"/>
            <p14:sldId id="348"/>
            <p14:sldId id="341"/>
            <p14:sldId id="349"/>
            <p14:sldId id="342"/>
            <p14:sldId id="350"/>
            <p14:sldId id="343"/>
            <p14:sldId id="351"/>
            <p14:sldId id="344"/>
            <p14:sldId id="352"/>
            <p14:sldId id="345"/>
            <p14:sldId id="353"/>
            <p14:sldId id="346"/>
            <p14:sldId id="354"/>
            <p14:sldId id="347"/>
            <p14:sldId id="355"/>
            <p14:sldId id="338"/>
            <p14:sldId id="356"/>
            <p14:sldId id="337"/>
            <p14:sldId id="357"/>
            <p14:sldId id="276"/>
            <p14:sldId id="358"/>
            <p14:sldId id="339"/>
            <p14:sldId id="359"/>
            <p14:sldId id="381"/>
            <p14:sldId id="385"/>
            <p14:sldId id="382"/>
            <p14:sldId id="400"/>
            <p14:sldId id="294"/>
            <p14:sldId id="360"/>
            <p14:sldId id="285"/>
            <p14:sldId id="286"/>
            <p14:sldId id="299"/>
            <p14:sldId id="361"/>
            <p14:sldId id="362"/>
            <p14:sldId id="283"/>
            <p14:sldId id="297"/>
            <p14:sldId id="365"/>
            <p14:sldId id="364"/>
            <p14:sldId id="363"/>
            <p14:sldId id="366"/>
            <p14:sldId id="367"/>
            <p14:sldId id="368"/>
            <p14:sldId id="370"/>
            <p14:sldId id="374"/>
            <p14:sldId id="375"/>
          </p14:sldIdLst>
        </p14:section>
        <p14:section name="Graphs" id="{551B27DB-FB3B-4066-9154-1B46F0A65216}">
          <p14:sldIdLst>
            <p14:sldId id="301"/>
            <p14:sldId id="304"/>
            <p14:sldId id="303"/>
            <p14:sldId id="302"/>
            <p14:sldId id="305"/>
            <p14:sldId id="306"/>
            <p14:sldId id="378"/>
            <p14:sldId id="376"/>
            <p14:sldId id="379"/>
            <p14:sldId id="388"/>
            <p14:sldId id="307"/>
            <p14:sldId id="369"/>
            <p14:sldId id="389"/>
            <p14:sldId id="390"/>
          </p14:sldIdLst>
        </p14:section>
        <p14:section name="Merci" id="{DE1A67E5-D1FE-41AF-88BB-A85595BA690B}">
          <p14:sldIdLst>
            <p14:sldId id="328"/>
          </p14:sldIdLst>
        </p14:section>
        <p14:section name="Symboles" id="{49175908-295D-4406-8512-BB62EA88444D}">
          <p14:sldIdLst>
            <p14:sldId id="371"/>
            <p14:sldId id="373"/>
            <p14:sldId id="40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AC62"/>
    <a:srgbClr val="060606"/>
    <a:srgbClr val="112A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BD68B-DEB5-4C72-B758-AA0E2A02C403}" v="4" dt="2026-09-23T09:25:4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13" Type="http://schemas.openxmlformats.org/officeDocument/2006/relationships/slide" Target="slides/slide2.xml"/><Relationship Id="rId23" Type="http://schemas.openxmlformats.org/officeDocument/2006/relationships/slide" Target="slides/slide5.xml"/><Relationship Id="rId25" Type="http://schemas.openxmlformats.org/officeDocument/2006/relationships/slide" Target="slides/slide3.xml"/><Relationship Id="rId29" Type="http://schemas.openxmlformats.org/officeDocument/2006/relationships/slide" Target="slides/slide7.xml"/><Relationship Id="rId41" Type="http://schemas.openxmlformats.org/officeDocument/2006/relationships/slide" Target="slides/slide4.xml"/><Relationship Id="rId112" Type="http://schemas.openxmlformats.org/officeDocument/2006/relationships/slide" Target="slides/slide8.xml"/><Relationship Id="rId117" Type="http://schemas.openxmlformats.org/officeDocument/2006/relationships/notesMaster" Target="notesMasters/notesMaster1.xml"/><Relationship Id="rId118" Type="http://schemas.openxmlformats.org/officeDocument/2006/relationships/presProps" Target="presProps.xml"/><Relationship Id="rId119" Type="http://schemas.openxmlformats.org/officeDocument/2006/relationships/viewProps" Target="viewProps.xml"/><Relationship Id="rId120" Type="http://schemas.openxmlformats.org/officeDocument/2006/relationships/theme" Target="theme/theme1.xml"/><Relationship Id="rId121" Type="http://schemas.openxmlformats.org/officeDocument/2006/relationships/tableStyles" Target="tableStyles.xml"/><Relationship Id="rId122" Type="http://schemas.microsoft.com/office/2016/11/relationships/changesInfo" Target="changesInfos/changesInfo1.xml"/><Relationship Id="rId123" Type="http://schemas.microsoft.com/office/2015/10/relationships/revisionInfo" Target="revisionInfo.xml"/><Relationship Id="rId124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Noel Sialou" userId="08acc5d2-3819-4be4-97e6-d593a92e8e16" providerId="ADAL" clId="{DC5A2AD4-2AC1-4F5C-A6BF-541681F7EFA2}"/>
    <pc:docChg chg="undo custSel modSld">
      <pc:chgData name="Jean-Noel Sialou" userId="08acc5d2-3819-4be4-97e6-d593a92e8e16" providerId="ADAL" clId="{DC5A2AD4-2AC1-4F5C-A6BF-541681F7EFA2}" dt="2026-09-07T10:18:25.187" v="38" actId="571"/>
      <pc:docMkLst>
        <pc:docMk/>
      </pc:docMkLst>
      <pc:sldChg chg="addSp delSp modSp mod">
        <pc:chgData name="Jean-Noel Sialou" userId="08acc5d2-3819-4be4-97e6-d593a92e8e16" providerId="ADAL" clId="{DC5A2AD4-2AC1-4F5C-A6BF-541681F7EFA2}" dt="2026-09-07T10:18:25.187" v="38" actId="571"/>
        <pc:sldMkLst>
          <pc:docMk/>
          <pc:sldMk cId="2102837376" sldId="358"/>
        </pc:sldMkLst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8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49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1" creationId="{00000000-0000-0000-0000-000000000000}"/>
          </ac:spMkLst>
        </pc:spChg>
        <pc:spChg chg="mod">
          <ac:chgData name="Jean-Noel Sialou" userId="08acc5d2-3819-4be4-97e6-d593a92e8e16" providerId="ADAL" clId="{DC5A2AD4-2AC1-4F5C-A6BF-541681F7EFA2}" dt="2026-09-07T10:18:15.089" v="35" actId="164"/>
          <ac:spMkLst>
            <pc:docMk/>
            <pc:sldMk cId="2102837376" sldId="358"/>
            <ac:spMk id="64" creationId="{00000000-0000-0000-0000-000000000000}"/>
          </ac:spMkLst>
        </pc:s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3" creationId="{C9290073-F4B9-4E89-EC47-0D4815D405F9}"/>
          </ac:grpSpMkLst>
        </pc:grpChg>
        <pc:grpChg chg="add mod">
          <ac:chgData name="Jean-Noel Sialou" userId="08acc5d2-3819-4be4-97e6-d593a92e8e16" providerId="ADAL" clId="{DC5A2AD4-2AC1-4F5C-A6BF-541681F7EFA2}" dt="2026-09-07T10:18:17.535" v="36" actId="164"/>
          <ac:grpSpMkLst>
            <pc:docMk/>
            <pc:sldMk cId="2102837376" sldId="358"/>
            <ac:grpSpMk id="7" creationId="{D520CB44-6CB8-26BA-C481-1E6C90DCE023}"/>
          </ac:grpSpMkLst>
        </pc:grpChg>
        <pc:picChg chg="add 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5" creationId="{A59C829E-ED12-0019-96D2-4C72AF995693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31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7.535" v="36" actId="164"/>
          <ac:picMkLst>
            <pc:docMk/>
            <pc:sldMk cId="2102837376" sldId="358"/>
            <ac:picMk id="47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0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54" creationId="{00000000-0000-0000-0000-000000000000}"/>
          </ac:picMkLst>
        </pc:picChg>
        <pc:picChg chg="mod">
          <ac:chgData name="Jean-Noel Sialou" userId="08acc5d2-3819-4be4-97e6-d593a92e8e16" providerId="ADAL" clId="{DC5A2AD4-2AC1-4F5C-A6BF-541681F7EFA2}" dt="2026-09-07T10:18:15.089" v="35" actId="164"/>
          <ac:picMkLst>
            <pc:docMk/>
            <pc:sldMk cId="2102837376" sldId="358"/>
            <ac:picMk id="65" creationId="{00000000-0000-0000-0000-000000000000}"/>
          </ac:picMkLst>
        </pc:picChg>
      </pc:sldChg>
    </pc:docChg>
  </pc:docChgLst>
  <pc:docChgLst>
    <pc:chgData name="Jean-Noel Sialou" userId="08acc5d2-3819-4be4-97e6-d593a92e8e16" providerId="ADAL" clId="{3E2E487B-B21A-43C3-A4E4-C31B8823D31F}"/>
    <pc:docChg chg="modSld">
      <pc:chgData name="Jean-Noel Sialou" userId="08acc5d2-3819-4be4-97e6-d593a92e8e16" providerId="ADAL" clId="{3E2E487B-B21A-43C3-A4E4-C31B8823D31F}" dt="2026-09-23T09:25:47.775" v="6" actId="164"/>
      <pc:docMkLst>
        <pc:docMk/>
      </pc:docMkLst>
      <pc:sldChg chg="modSp mod modAnim">
        <pc:chgData name="Jean-Noel Sialou" userId="08acc5d2-3819-4be4-97e6-d593a92e8e16" providerId="ADAL" clId="{3E2E487B-B21A-43C3-A4E4-C31B8823D31F}" dt="2026-09-15T10:14:35.637" v="5" actId="208"/>
        <pc:sldMkLst>
          <pc:docMk/>
          <pc:sldMk cId="2102837376" sldId="358"/>
        </pc:sldMkLst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15T10:14:31.481" v="4" actId="207"/>
          <ac:spMkLst>
            <pc:docMk/>
            <pc:sldMk cId="2102837376" sldId="358"/>
            <ac:spMk id="41" creationId="{00000000-0000-0000-0000-000000000000}"/>
          </ac:spMkLst>
        </pc:spChg>
        <pc:grpChg chg="mod">
          <ac:chgData name="Jean-Noel Sialou" userId="08acc5d2-3819-4be4-97e6-d593a92e8e16" providerId="ADAL" clId="{3E2E487B-B21A-43C3-A4E4-C31B8823D31F}" dt="2026-09-15T10:14:06.017" v="1" actId="1076"/>
          <ac:grpSpMkLst>
            <pc:docMk/>
            <pc:sldMk cId="2102837376" sldId="358"/>
            <ac:grpSpMk id="7" creationId="{D520CB44-6CB8-26BA-C481-1E6C90DCE023}"/>
          </ac:grpSpMkLst>
        </pc:grpChg>
        <pc:cxnChg chg="mod">
          <ac:chgData name="Jean-Noel Sialou" userId="08acc5d2-3819-4be4-97e6-d593a92e8e16" providerId="ADAL" clId="{3E2E487B-B21A-43C3-A4E4-C31B8823D31F}" dt="2026-09-15T10:14:35.637" v="5" actId="208"/>
          <ac:cxnSpMkLst>
            <pc:docMk/>
            <pc:sldMk cId="2102837376" sldId="358"/>
            <ac:cxnSpMk id="77" creationId="{00000000-0000-0000-0000-000000000000}"/>
          </ac:cxnSpMkLst>
        </pc:cxnChg>
      </pc:sldChg>
      <pc:sldChg chg="addSp modSp modAnim">
        <pc:chgData name="Jean-Noel Sialou" userId="08acc5d2-3819-4be4-97e6-d593a92e8e16" providerId="ADAL" clId="{3E2E487B-B21A-43C3-A4E4-C31B8823D31F}" dt="2026-09-23T09:25:47.775" v="6" actId="164"/>
        <pc:sldMkLst>
          <pc:docMk/>
          <pc:sldMk cId="135173498" sldId="359"/>
        </pc:sldMkLst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6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37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0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4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49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1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52" creationId="{00000000-0000-0000-0000-000000000000}"/>
          </ac:spMkLst>
        </pc:spChg>
        <pc:spChg chg="mod">
          <ac:chgData name="Jean-Noel Sialou" userId="08acc5d2-3819-4be4-97e6-d593a92e8e16" providerId="ADAL" clId="{3E2E487B-B21A-43C3-A4E4-C31B8823D31F}" dt="2026-09-23T09:25:47.775" v="6" actId="164"/>
          <ac:spMkLst>
            <pc:docMk/>
            <pc:sldMk cId="135173498" sldId="359"/>
            <ac:spMk id="6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2DAE2-9FC7-48A6-84A5-82A6F426499B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B2686-849E-4084-A991-5071DA2BB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72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2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863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243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939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77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7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73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722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672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818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573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129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1349794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001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1227808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980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506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42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480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6391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746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5436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327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853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899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3864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5049338-7875-4927-82E0-03C95D8320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5049338-7875-4927-82E0-03C95D832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AA52354-AD0C-4278-A20C-E161AEB4D1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524001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>
  <p:cSld name="Title only 1">
    <p:spTree>
      <p:nvGrpSpPr>
        <p:cNvPr id="1" name="Shape 5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4" name="Google Shape;5624;p2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>
            <a:off x="-4949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25" name="Google Shape;5625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8263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 preserve="1">
  <p:cSld name="Title only 12">
    <p:spTree>
      <p:nvGrpSpPr>
        <p:cNvPr id="1" name="Shape 6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8" name="Google Shape;6978;p57"/>
          <p:cNvSpPr txBox="1">
            <a:spLocks noGrp="1"/>
          </p:cNvSpPr>
          <p:nvPr>
            <p:ph type="title"/>
          </p:nvPr>
        </p:nvSpPr>
        <p:spPr>
          <a:xfrm>
            <a:off x="960000" y="7200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28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66A5C41-60AA-4C25-8080-4F0DFF19B9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66A5C41-60AA-4C25-8080-4F0DFF19B9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5544814-ED77-5424-AA44-FCF607EC72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649224"/>
            <a:ext cx="11277599" cy="10109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2C75D35-8730-843D-1A9B-7A3EF8BD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83" y="1684020"/>
            <a:ext cx="11277600" cy="4269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2764C76-8970-695F-1D5D-E85887CA62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1983" y="6070213"/>
            <a:ext cx="11274552" cy="265176"/>
          </a:xfrm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800"/>
            </a:lvl1pPr>
          </a:lstStyle>
          <a:p>
            <a:pPr lvl="0"/>
            <a:r>
              <a:rPr lang="en-US"/>
              <a:t>Click to add notes and sources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B6D0D5CA-F83B-4C19-758D-C3C6659EB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67201" y="304800"/>
            <a:ext cx="11201400" cy="342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8359873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theme" Target="../theme/theme2.xml"/><Relationship Id="rId1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564" b="34369"/>
          <a:stretch/>
        </p:blipFill>
        <p:spPr>
          <a:xfrm>
            <a:off x="-147909" y="-58723"/>
            <a:ext cx="12339909" cy="691672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 userDrawn="1"/>
        </p:nvSpPr>
        <p:spPr>
          <a:xfrm>
            <a:off x="221940" y="6394008"/>
            <a:ext cx="10929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</p:spTree>
    <p:extLst>
      <p:ext uri="{BB962C8B-B14F-4D97-AF65-F5344CB8AC3E}">
        <p14:creationId xmlns:p14="http://schemas.microsoft.com/office/powerpoint/2010/main" val="206341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BE14D-B461-4822-94E8-6203B1E77523}" type="datetimeFigureOut">
              <a:rPr lang="fr-FR" smtClean="0"/>
              <a:t>22/09/2026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977E6-38EB-41CC-A7E1-A449CC9EA7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05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18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18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0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" t="524" r="-2445" b="9082"/>
          <a:stretch/>
        </p:blipFill>
        <p:spPr>
          <a:xfrm>
            <a:off x="4883082" y="0"/>
            <a:ext cx="77856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92" y="0"/>
            <a:ext cx="5740400" cy="68580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B17207E-7FD3-4B75-ADFE-CC565F8DB8A1}"/>
              </a:ext>
            </a:extLst>
          </p:cNvPr>
          <p:cNvSpPr txBox="1">
            <a:spLocks/>
          </p:cNvSpPr>
          <p:nvPr/>
        </p:nvSpPr>
        <p:spPr>
          <a:xfrm>
            <a:off x="10506325" y="6388244"/>
            <a:ext cx="1187835" cy="33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I" sz="1000" noProof="0">
                <a:solidFill>
                  <a:srgbClr val="FFFFFF"/>
                </a:solidFill>
                <a:latin typeface=".Helvetica"/>
                <a:ea typeface=".Helvetica Neue Interface" panose="020B0604020202020204" pitchFamily="34" charset="0"/>
                <a:cs typeface="Open Sans"/>
              </a:rPr>
              <a:t>14 octobre 2026</a:t>
            </a:r>
          </a:p>
        </p:txBody>
      </p:sp>
      <p:sp>
        <p:nvSpPr>
          <p:cNvPr id="9" name="Google Shape;138;p25"/>
          <p:cNvSpPr txBox="1"/>
          <p:nvPr/>
        </p:nvSpPr>
        <p:spPr>
          <a:xfrm>
            <a:off x="908861" y="2534894"/>
            <a:ext cx="3078453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Audit FPPN</a:t>
            </a:r>
          </a:p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Réunion de</a:t>
            </a:r>
          </a:p>
          <a:p>
            <a:r>
              <a:rPr lang="fr-CI" sz="4000" b="1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lancement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87408" y="229231"/>
            <a:ext cx="27045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SA au Capital de 100 millions FCFA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Immeuble le 24, 3e étage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Boulevard </a:t>
            </a:r>
            <a:r>
              <a:rPr lang="fr-CI" sz="1000" noProof="0" err="1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Clozel</a:t>
            </a: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, Plateau, Abidjan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06 BPM 459 Abidjan 06, Côte d’ivoire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NCC : 2404702K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RCCM : CI-ABJ-03-2024-B14-00114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Tel (225) 27 20 33 90 90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fr-CI" sz="1000" noProof="0">
                <a:solidFill>
                  <a:schemeClr val="bg1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Helvetica" panose="020B0604020202020204" pitchFamily="34" charset="0"/>
              </a:rPr>
              <a:t>www.adenka.ci</a:t>
            </a:r>
          </a:p>
        </p:txBody>
      </p:sp>
    </p:spTree>
    <p:extLst>
      <p:ext uri="{BB962C8B-B14F-4D97-AF65-F5344CB8AC3E}">
        <p14:creationId xmlns:p14="http://schemas.microsoft.com/office/powerpoint/2010/main" val="104732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9" name="Google Shape;7386;p39"/>
          <p:cNvSpPr/>
          <p:nvPr/>
        </p:nvSpPr>
        <p:spPr>
          <a:xfrm rot="10800000">
            <a:off x="1686669" y="1781664"/>
            <a:ext cx="3741376" cy="56747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0" name="Google Shape;7367;p39"/>
          <p:cNvSpPr/>
          <p:nvPr/>
        </p:nvSpPr>
        <p:spPr>
          <a:xfrm rot="16200000">
            <a:off x="2328234" y="1707571"/>
            <a:ext cx="2554832" cy="3837962"/>
          </a:xfrm>
          <a:custGeom>
            <a:avLst/>
            <a:gdLst/>
            <a:ahLst/>
            <a:cxnLst/>
            <a:rect l="l" t="t" r="r" b="b"/>
            <a:pathLst>
              <a:path w="25081" h="54128" extrusionOk="0">
                <a:moveTo>
                  <a:pt x="19843" y="0"/>
                </a:moveTo>
                <a:cubicBezTo>
                  <a:pt x="19654" y="0"/>
                  <a:pt x="19462" y="7"/>
                  <a:pt x="19267" y="21"/>
                </a:cubicBezTo>
                <a:cubicBezTo>
                  <a:pt x="17781" y="125"/>
                  <a:pt x="16282" y="99"/>
                  <a:pt x="14796" y="112"/>
                </a:cubicBezTo>
                <a:cubicBezTo>
                  <a:pt x="13909" y="125"/>
                  <a:pt x="13010" y="112"/>
                  <a:pt x="12123" y="177"/>
                </a:cubicBezTo>
                <a:cubicBezTo>
                  <a:pt x="10272" y="333"/>
                  <a:pt x="8421" y="503"/>
                  <a:pt x="6570" y="633"/>
                </a:cubicBezTo>
                <a:cubicBezTo>
                  <a:pt x="5267" y="738"/>
                  <a:pt x="3989" y="933"/>
                  <a:pt x="2764" y="1259"/>
                </a:cubicBezTo>
                <a:cubicBezTo>
                  <a:pt x="1943" y="1481"/>
                  <a:pt x="1408" y="1872"/>
                  <a:pt x="1226" y="2471"/>
                </a:cubicBezTo>
                <a:cubicBezTo>
                  <a:pt x="991" y="3292"/>
                  <a:pt x="861" y="4140"/>
                  <a:pt x="965" y="4974"/>
                </a:cubicBezTo>
                <a:cubicBezTo>
                  <a:pt x="991" y="5248"/>
                  <a:pt x="1030" y="5508"/>
                  <a:pt x="991" y="5782"/>
                </a:cubicBezTo>
                <a:cubicBezTo>
                  <a:pt x="835" y="6877"/>
                  <a:pt x="678" y="7972"/>
                  <a:pt x="587" y="9067"/>
                </a:cubicBezTo>
                <a:cubicBezTo>
                  <a:pt x="470" y="10488"/>
                  <a:pt x="378" y="11896"/>
                  <a:pt x="300" y="13317"/>
                </a:cubicBezTo>
                <a:cubicBezTo>
                  <a:pt x="274" y="13825"/>
                  <a:pt x="352" y="14333"/>
                  <a:pt x="339" y="14829"/>
                </a:cubicBezTo>
                <a:cubicBezTo>
                  <a:pt x="313" y="15820"/>
                  <a:pt x="157" y="16797"/>
                  <a:pt x="118" y="17775"/>
                </a:cubicBezTo>
                <a:cubicBezTo>
                  <a:pt x="53" y="19391"/>
                  <a:pt x="0" y="21008"/>
                  <a:pt x="40" y="22624"/>
                </a:cubicBezTo>
                <a:cubicBezTo>
                  <a:pt x="66" y="24149"/>
                  <a:pt x="157" y="25661"/>
                  <a:pt x="144" y="27173"/>
                </a:cubicBezTo>
                <a:cubicBezTo>
                  <a:pt x="131" y="28646"/>
                  <a:pt x="105" y="30132"/>
                  <a:pt x="131" y="31605"/>
                </a:cubicBezTo>
                <a:cubicBezTo>
                  <a:pt x="209" y="35412"/>
                  <a:pt x="405" y="39218"/>
                  <a:pt x="274" y="43051"/>
                </a:cubicBezTo>
                <a:cubicBezTo>
                  <a:pt x="235" y="44237"/>
                  <a:pt x="287" y="45436"/>
                  <a:pt x="300" y="46622"/>
                </a:cubicBezTo>
                <a:cubicBezTo>
                  <a:pt x="300" y="46687"/>
                  <a:pt x="300" y="46753"/>
                  <a:pt x="287" y="46818"/>
                </a:cubicBezTo>
                <a:cubicBezTo>
                  <a:pt x="222" y="48004"/>
                  <a:pt x="313" y="49190"/>
                  <a:pt x="535" y="50363"/>
                </a:cubicBezTo>
                <a:cubicBezTo>
                  <a:pt x="665" y="51054"/>
                  <a:pt x="1004" y="51706"/>
                  <a:pt x="1239" y="52384"/>
                </a:cubicBezTo>
                <a:cubicBezTo>
                  <a:pt x="1486" y="53075"/>
                  <a:pt x="2164" y="53492"/>
                  <a:pt x="3129" y="53700"/>
                </a:cubicBezTo>
                <a:cubicBezTo>
                  <a:pt x="3812" y="53854"/>
                  <a:pt x="4517" y="53911"/>
                  <a:pt x="5223" y="53911"/>
                </a:cubicBezTo>
                <a:cubicBezTo>
                  <a:pt x="5299" y="53911"/>
                  <a:pt x="5374" y="53910"/>
                  <a:pt x="5449" y="53909"/>
                </a:cubicBezTo>
                <a:cubicBezTo>
                  <a:pt x="5591" y="53907"/>
                  <a:pt x="5733" y="53906"/>
                  <a:pt x="5875" y="53906"/>
                </a:cubicBezTo>
                <a:cubicBezTo>
                  <a:pt x="7594" y="53906"/>
                  <a:pt x="9293" y="54042"/>
                  <a:pt x="11015" y="54078"/>
                </a:cubicBezTo>
                <a:cubicBezTo>
                  <a:pt x="11655" y="54087"/>
                  <a:pt x="12288" y="54128"/>
                  <a:pt x="12924" y="54128"/>
                </a:cubicBezTo>
                <a:cubicBezTo>
                  <a:pt x="13273" y="54128"/>
                  <a:pt x="13623" y="54115"/>
                  <a:pt x="13974" y="54078"/>
                </a:cubicBezTo>
                <a:cubicBezTo>
                  <a:pt x="15239" y="53948"/>
                  <a:pt x="16516" y="53870"/>
                  <a:pt x="17781" y="53779"/>
                </a:cubicBezTo>
                <a:cubicBezTo>
                  <a:pt x="18850" y="53700"/>
                  <a:pt x="19919" y="53583"/>
                  <a:pt x="20961" y="53375"/>
                </a:cubicBezTo>
                <a:cubicBezTo>
                  <a:pt x="22043" y="53153"/>
                  <a:pt x="22956" y="52749"/>
                  <a:pt x="23503" y="52019"/>
                </a:cubicBezTo>
                <a:cubicBezTo>
                  <a:pt x="23855" y="51537"/>
                  <a:pt x="24142" y="51028"/>
                  <a:pt x="24233" y="50494"/>
                </a:cubicBezTo>
                <a:cubicBezTo>
                  <a:pt x="24416" y="49464"/>
                  <a:pt x="24429" y="48434"/>
                  <a:pt x="24546" y="47404"/>
                </a:cubicBezTo>
                <a:cubicBezTo>
                  <a:pt x="24690" y="45957"/>
                  <a:pt x="24768" y="44510"/>
                  <a:pt x="24833" y="43064"/>
                </a:cubicBezTo>
                <a:cubicBezTo>
                  <a:pt x="24924" y="41395"/>
                  <a:pt x="24898" y="39726"/>
                  <a:pt x="24898" y="38058"/>
                </a:cubicBezTo>
                <a:cubicBezTo>
                  <a:pt x="24885" y="36402"/>
                  <a:pt x="24794" y="34760"/>
                  <a:pt x="24794" y="33104"/>
                </a:cubicBezTo>
                <a:cubicBezTo>
                  <a:pt x="24794" y="31332"/>
                  <a:pt x="24755" y="29546"/>
                  <a:pt x="24768" y="27760"/>
                </a:cubicBezTo>
                <a:cubicBezTo>
                  <a:pt x="24794" y="26196"/>
                  <a:pt x="24807" y="24631"/>
                  <a:pt x="24846" y="23067"/>
                </a:cubicBezTo>
                <a:cubicBezTo>
                  <a:pt x="24885" y="21503"/>
                  <a:pt x="24911" y="19952"/>
                  <a:pt x="24911" y="18387"/>
                </a:cubicBezTo>
                <a:cubicBezTo>
                  <a:pt x="24911" y="16967"/>
                  <a:pt x="24937" y="15533"/>
                  <a:pt x="24989" y="14112"/>
                </a:cubicBezTo>
                <a:cubicBezTo>
                  <a:pt x="25028" y="12795"/>
                  <a:pt x="25081" y="11479"/>
                  <a:pt x="25068" y="10162"/>
                </a:cubicBezTo>
                <a:cubicBezTo>
                  <a:pt x="25068" y="8924"/>
                  <a:pt x="25002" y="7685"/>
                  <a:pt x="24963" y="6447"/>
                </a:cubicBezTo>
                <a:lnTo>
                  <a:pt x="24950" y="6447"/>
                </a:lnTo>
                <a:cubicBezTo>
                  <a:pt x="25055" y="5561"/>
                  <a:pt x="24963" y="4674"/>
                  <a:pt x="24872" y="3801"/>
                </a:cubicBezTo>
                <a:cubicBezTo>
                  <a:pt x="24807" y="3175"/>
                  <a:pt x="24664" y="2562"/>
                  <a:pt x="24403" y="1963"/>
                </a:cubicBezTo>
                <a:cubicBezTo>
                  <a:pt x="24194" y="1481"/>
                  <a:pt x="23803" y="1103"/>
                  <a:pt x="23204" y="803"/>
                </a:cubicBezTo>
                <a:cubicBezTo>
                  <a:pt x="22185" y="293"/>
                  <a:pt x="21087" y="0"/>
                  <a:pt x="19843" y="0"/>
                </a:cubicBezTo>
                <a:close/>
              </a:path>
            </a:pathLst>
          </a:custGeom>
          <a:noFill/>
          <a:ln w="19050">
            <a:solidFill>
              <a:srgbClr val="060606"/>
            </a:solidFill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4" name="Rectangle 3"/>
          <p:cNvSpPr/>
          <p:nvPr/>
        </p:nvSpPr>
        <p:spPr>
          <a:xfrm>
            <a:off x="2929487" y="1853338"/>
            <a:ext cx="1531188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Message du Président</a:t>
            </a:r>
          </a:p>
        </p:txBody>
      </p:sp>
      <p:sp>
        <p:nvSpPr>
          <p:cNvPr id="13" name="Google Shape;7386;p39"/>
          <p:cNvSpPr/>
          <p:nvPr/>
        </p:nvSpPr>
        <p:spPr>
          <a:xfrm rot="10800000">
            <a:off x="6665593" y="1781664"/>
            <a:ext cx="3741376" cy="56747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EFAC62"/>
          </a:solidFill>
          <a:ln>
            <a:noFill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4" name="Google Shape;7367;p39"/>
          <p:cNvSpPr/>
          <p:nvPr/>
        </p:nvSpPr>
        <p:spPr>
          <a:xfrm rot="16200000">
            <a:off x="7307158" y="1707571"/>
            <a:ext cx="2554832" cy="3837962"/>
          </a:xfrm>
          <a:custGeom>
            <a:avLst/>
            <a:gdLst/>
            <a:ahLst/>
            <a:cxnLst/>
            <a:rect l="l" t="t" r="r" b="b"/>
            <a:pathLst>
              <a:path w="25081" h="54128" extrusionOk="0">
                <a:moveTo>
                  <a:pt x="19843" y="0"/>
                </a:moveTo>
                <a:cubicBezTo>
                  <a:pt x="19654" y="0"/>
                  <a:pt x="19462" y="7"/>
                  <a:pt x="19267" y="21"/>
                </a:cubicBezTo>
                <a:cubicBezTo>
                  <a:pt x="17781" y="125"/>
                  <a:pt x="16282" y="99"/>
                  <a:pt x="14796" y="112"/>
                </a:cubicBezTo>
                <a:cubicBezTo>
                  <a:pt x="13909" y="125"/>
                  <a:pt x="13010" y="112"/>
                  <a:pt x="12123" y="177"/>
                </a:cubicBezTo>
                <a:cubicBezTo>
                  <a:pt x="10272" y="333"/>
                  <a:pt x="8421" y="503"/>
                  <a:pt x="6570" y="633"/>
                </a:cubicBezTo>
                <a:cubicBezTo>
                  <a:pt x="5267" y="738"/>
                  <a:pt x="3989" y="933"/>
                  <a:pt x="2764" y="1259"/>
                </a:cubicBezTo>
                <a:cubicBezTo>
                  <a:pt x="1943" y="1481"/>
                  <a:pt x="1408" y="1872"/>
                  <a:pt x="1226" y="2471"/>
                </a:cubicBezTo>
                <a:cubicBezTo>
                  <a:pt x="991" y="3292"/>
                  <a:pt x="861" y="4140"/>
                  <a:pt x="965" y="4974"/>
                </a:cubicBezTo>
                <a:cubicBezTo>
                  <a:pt x="991" y="5248"/>
                  <a:pt x="1030" y="5508"/>
                  <a:pt x="991" y="5782"/>
                </a:cubicBezTo>
                <a:cubicBezTo>
                  <a:pt x="835" y="6877"/>
                  <a:pt x="678" y="7972"/>
                  <a:pt x="587" y="9067"/>
                </a:cubicBezTo>
                <a:cubicBezTo>
                  <a:pt x="470" y="10488"/>
                  <a:pt x="378" y="11896"/>
                  <a:pt x="300" y="13317"/>
                </a:cubicBezTo>
                <a:cubicBezTo>
                  <a:pt x="274" y="13825"/>
                  <a:pt x="352" y="14333"/>
                  <a:pt x="339" y="14829"/>
                </a:cubicBezTo>
                <a:cubicBezTo>
                  <a:pt x="313" y="15820"/>
                  <a:pt x="157" y="16797"/>
                  <a:pt x="118" y="17775"/>
                </a:cubicBezTo>
                <a:cubicBezTo>
                  <a:pt x="53" y="19391"/>
                  <a:pt x="0" y="21008"/>
                  <a:pt x="40" y="22624"/>
                </a:cubicBezTo>
                <a:cubicBezTo>
                  <a:pt x="66" y="24149"/>
                  <a:pt x="157" y="25661"/>
                  <a:pt x="144" y="27173"/>
                </a:cubicBezTo>
                <a:cubicBezTo>
                  <a:pt x="131" y="28646"/>
                  <a:pt x="105" y="30132"/>
                  <a:pt x="131" y="31605"/>
                </a:cubicBezTo>
                <a:cubicBezTo>
                  <a:pt x="209" y="35412"/>
                  <a:pt x="405" y="39218"/>
                  <a:pt x="274" y="43051"/>
                </a:cubicBezTo>
                <a:cubicBezTo>
                  <a:pt x="235" y="44237"/>
                  <a:pt x="287" y="45436"/>
                  <a:pt x="300" y="46622"/>
                </a:cubicBezTo>
                <a:cubicBezTo>
                  <a:pt x="300" y="46687"/>
                  <a:pt x="300" y="46753"/>
                  <a:pt x="287" y="46818"/>
                </a:cubicBezTo>
                <a:cubicBezTo>
                  <a:pt x="222" y="48004"/>
                  <a:pt x="313" y="49190"/>
                  <a:pt x="535" y="50363"/>
                </a:cubicBezTo>
                <a:cubicBezTo>
                  <a:pt x="665" y="51054"/>
                  <a:pt x="1004" y="51706"/>
                  <a:pt x="1239" y="52384"/>
                </a:cubicBezTo>
                <a:cubicBezTo>
                  <a:pt x="1486" y="53075"/>
                  <a:pt x="2164" y="53492"/>
                  <a:pt x="3129" y="53700"/>
                </a:cubicBezTo>
                <a:cubicBezTo>
                  <a:pt x="3812" y="53854"/>
                  <a:pt x="4517" y="53911"/>
                  <a:pt x="5223" y="53911"/>
                </a:cubicBezTo>
                <a:cubicBezTo>
                  <a:pt x="5299" y="53911"/>
                  <a:pt x="5374" y="53910"/>
                  <a:pt x="5449" y="53909"/>
                </a:cubicBezTo>
                <a:cubicBezTo>
                  <a:pt x="5591" y="53907"/>
                  <a:pt x="5733" y="53906"/>
                  <a:pt x="5875" y="53906"/>
                </a:cubicBezTo>
                <a:cubicBezTo>
                  <a:pt x="7594" y="53906"/>
                  <a:pt x="9293" y="54042"/>
                  <a:pt x="11015" y="54078"/>
                </a:cubicBezTo>
                <a:cubicBezTo>
                  <a:pt x="11655" y="54087"/>
                  <a:pt x="12288" y="54128"/>
                  <a:pt x="12924" y="54128"/>
                </a:cubicBezTo>
                <a:cubicBezTo>
                  <a:pt x="13273" y="54128"/>
                  <a:pt x="13623" y="54115"/>
                  <a:pt x="13974" y="54078"/>
                </a:cubicBezTo>
                <a:cubicBezTo>
                  <a:pt x="15239" y="53948"/>
                  <a:pt x="16516" y="53870"/>
                  <a:pt x="17781" y="53779"/>
                </a:cubicBezTo>
                <a:cubicBezTo>
                  <a:pt x="18850" y="53700"/>
                  <a:pt x="19919" y="53583"/>
                  <a:pt x="20961" y="53375"/>
                </a:cubicBezTo>
                <a:cubicBezTo>
                  <a:pt x="22043" y="53153"/>
                  <a:pt x="22956" y="52749"/>
                  <a:pt x="23503" y="52019"/>
                </a:cubicBezTo>
                <a:cubicBezTo>
                  <a:pt x="23855" y="51537"/>
                  <a:pt x="24142" y="51028"/>
                  <a:pt x="24233" y="50494"/>
                </a:cubicBezTo>
                <a:cubicBezTo>
                  <a:pt x="24416" y="49464"/>
                  <a:pt x="24429" y="48434"/>
                  <a:pt x="24546" y="47404"/>
                </a:cubicBezTo>
                <a:cubicBezTo>
                  <a:pt x="24690" y="45957"/>
                  <a:pt x="24768" y="44510"/>
                  <a:pt x="24833" y="43064"/>
                </a:cubicBezTo>
                <a:cubicBezTo>
                  <a:pt x="24924" y="41395"/>
                  <a:pt x="24898" y="39726"/>
                  <a:pt x="24898" y="38058"/>
                </a:cubicBezTo>
                <a:cubicBezTo>
                  <a:pt x="24885" y="36402"/>
                  <a:pt x="24794" y="34760"/>
                  <a:pt x="24794" y="33104"/>
                </a:cubicBezTo>
                <a:cubicBezTo>
                  <a:pt x="24794" y="31332"/>
                  <a:pt x="24755" y="29546"/>
                  <a:pt x="24768" y="27760"/>
                </a:cubicBezTo>
                <a:cubicBezTo>
                  <a:pt x="24794" y="26196"/>
                  <a:pt x="24807" y="24631"/>
                  <a:pt x="24846" y="23067"/>
                </a:cubicBezTo>
                <a:cubicBezTo>
                  <a:pt x="24885" y="21503"/>
                  <a:pt x="24911" y="19952"/>
                  <a:pt x="24911" y="18387"/>
                </a:cubicBezTo>
                <a:cubicBezTo>
                  <a:pt x="24911" y="16967"/>
                  <a:pt x="24937" y="15533"/>
                  <a:pt x="24989" y="14112"/>
                </a:cubicBezTo>
                <a:cubicBezTo>
                  <a:pt x="25028" y="12795"/>
                  <a:pt x="25081" y="11479"/>
                  <a:pt x="25068" y="10162"/>
                </a:cubicBezTo>
                <a:cubicBezTo>
                  <a:pt x="25068" y="8924"/>
                  <a:pt x="25002" y="7685"/>
                  <a:pt x="24963" y="6447"/>
                </a:cubicBezTo>
                <a:lnTo>
                  <a:pt x="24950" y="6447"/>
                </a:lnTo>
                <a:cubicBezTo>
                  <a:pt x="25055" y="5561"/>
                  <a:pt x="24963" y="4674"/>
                  <a:pt x="24872" y="3801"/>
                </a:cubicBezTo>
                <a:cubicBezTo>
                  <a:pt x="24807" y="3175"/>
                  <a:pt x="24664" y="2562"/>
                  <a:pt x="24403" y="1963"/>
                </a:cubicBezTo>
                <a:cubicBezTo>
                  <a:pt x="24194" y="1481"/>
                  <a:pt x="23803" y="1103"/>
                  <a:pt x="23204" y="803"/>
                </a:cubicBezTo>
                <a:cubicBezTo>
                  <a:pt x="22185" y="293"/>
                  <a:pt x="21087" y="0"/>
                  <a:pt x="19843" y="0"/>
                </a:cubicBezTo>
                <a:close/>
              </a:path>
            </a:pathLst>
          </a:custGeom>
          <a:noFill/>
          <a:ln w="19050">
            <a:solidFill>
              <a:srgbClr val="060606"/>
            </a:solidFill>
          </a:ln>
          <a:effectLst>
            <a:outerShdw blurRad="57150" dist="9525" algn="bl" rotWithShape="0">
              <a:srgbClr val="000000"/>
            </a:outerShdw>
            <a:softEdge rad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7" name="Rectangle 16"/>
          <p:cNvSpPr/>
          <p:nvPr/>
        </p:nvSpPr>
        <p:spPr>
          <a:xfrm>
            <a:off x="7818980" y="1902791"/>
            <a:ext cx="1531188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Attentes d'Adenka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593DA389-08F4-31D9-6AB9-E96812D83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405" y="1867136"/>
            <a:ext cx="396525" cy="396525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060" y="1814991"/>
            <a:ext cx="486259" cy="49172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812412" y="2596068"/>
            <a:ext cx="361563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Objectif de l'audit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Regard extérieur après six ans de gestion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Aucune recherche de coupable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Mieux servir les policiers</a:t>
            </a:r>
          </a:p>
          <a:p>
            <a:pPr lvl="0">
              <a:spcBef>
                <a:spcPts val="6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Engagements et contexte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Pleine disponibilité des équipes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Appui du Président en cas de blocage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Cabinet choisi sans son intervention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Régulateur récent, règles en évolution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1405" y="2576263"/>
            <a:ext cx="361563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Délais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Forte sollicitation sur 30 jours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Remise rapide des documents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Points réguliers avec la direction</a:t>
            </a:r>
          </a:p>
          <a:p>
            <a:pPr lvl="0">
              <a:spcBef>
                <a:spcPts val="6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Méthode de travail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Remontée rapide des sujets sensibles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Informations justes, diagnostic juste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Rôle de conseil, travail commun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Relais du message aux équipes</a:t>
            </a:r>
          </a:p>
        </p:txBody>
      </p:sp>
      <p:sp>
        <p:nvSpPr>
          <p:cNvPr id="32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Ouverture de la réunion</a:t>
            </a:r>
          </a:p>
        </p:txBody>
      </p:sp>
      <p:sp>
        <p:nvSpPr>
          <p:cNvPr id="33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direction du FPPN soutient la mission et attend un regard extérieur</a:t>
            </a:r>
          </a:p>
        </p:txBody>
      </p:sp>
      <p:sp>
        <p:nvSpPr>
          <p:cNvPr id="34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Après 26 ans d'existence, le FPPN veut savoir ce qui fonctionne, ce qui fonctionne moins et comment progresser</a:t>
            </a:r>
          </a:p>
        </p:txBody>
      </p:sp>
    </p:spTree>
    <p:extLst>
      <p:ext uri="{BB962C8B-B14F-4D97-AF65-F5344CB8AC3E}">
        <p14:creationId xmlns:p14="http://schemas.microsoft.com/office/powerpoint/2010/main" val="3982167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pic>
        <p:nvPicPr>
          <p:cNvPr id="33" name="Imag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1696495"/>
            <a:ext cx="561464" cy="561464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579" y="1762812"/>
            <a:ext cx="542282" cy="542282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3093364"/>
            <a:ext cx="698701" cy="706825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430" y="3093364"/>
            <a:ext cx="611431" cy="624722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60" y="4454973"/>
            <a:ext cx="678177" cy="678177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615" y="4594783"/>
            <a:ext cx="598246" cy="598246"/>
          </a:xfrm>
          <a:prstGeom prst="rect">
            <a:avLst/>
          </a:prstGeom>
        </p:spPr>
      </p:pic>
      <p:sp>
        <p:nvSpPr>
          <p:cNvPr id="17" name="TextBox 49"/>
          <p:cNvSpPr txBox="1"/>
          <p:nvPr/>
        </p:nvSpPr>
        <p:spPr>
          <a:xfrm>
            <a:off x="7085829" y="1404489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Contrôle interne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Évaluation des processus, matrice des constats hiérarchisés par impact et calendrier de correction.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TextBox 49"/>
          <p:cNvSpPr txBox="1"/>
          <p:nvPr/>
        </p:nvSpPr>
        <p:spPr>
          <a:xfrm>
            <a:off x="1932614" y="2848076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Équilibre financier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Ratios financiers et sectoriels. Équilibre entre cotisations, prestations, frais de gestion et engagements.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extBox 49"/>
          <p:cNvSpPr txBox="1"/>
          <p:nvPr/>
        </p:nvSpPr>
        <p:spPr>
          <a:xfrm>
            <a:off x="7085829" y="2818934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Conformité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Respect de la réglementation de la mutualité sociale, des statuts, des obligations fiscales et des conventions.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49"/>
          <p:cNvSpPr txBox="1"/>
          <p:nvPr/>
        </p:nvSpPr>
        <p:spPr>
          <a:xfrm>
            <a:off x="1932614" y="4227172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Qualité des dossiers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Qualité et traçabilité des dossiers, point signalé comme important dans les TDR.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TextBox 49"/>
          <p:cNvSpPr txBox="1"/>
          <p:nvPr/>
        </p:nvSpPr>
        <p:spPr>
          <a:xfrm>
            <a:off x="7085829" y="4198030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Plan d'action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Recommandations hiérarchisées pour tenir les promesses faites aux policiers et aux retraités.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TextBox 49"/>
          <p:cNvSpPr txBox="1"/>
          <p:nvPr/>
        </p:nvSpPr>
        <p:spPr>
          <a:xfrm>
            <a:off x="1932614" y="1433631"/>
            <a:ext cx="3252128" cy="1077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>
              <a:lnSpc>
                <a:spcPct val="110000"/>
              </a:lnSpc>
            </a:pPr>
            <a:r>
              <a:rPr lang="fr-CI" sz="1200" b="1" noProof="0">
                <a:solidFill>
                  <a:srgbClr val="EFAC62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Opinion d'audit</a:t>
            </a:r>
          </a:p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Régularité, sincérité et image fidèle des comptes sur les six exercices audités.</a:t>
            </a:r>
            <a:endParaRPr lang="fr-CI" sz="1200" noProof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Objet de la mission</a:t>
            </a:r>
          </a:p>
        </p:txBody>
      </p:sp>
      <p:sp>
        <p:nvSpPr>
          <p:cNvPr id="47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Les TDR demandent une opinion d'audit, un diagnostic et un plan d'action</a:t>
            </a:r>
          </a:p>
        </p:txBody>
      </p:sp>
      <p:sp>
        <p:nvSpPr>
          <p:cNvPr id="48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Six exercices couverts, de septembre 2020 au 31 août 2026, autour de trois enjeux : transparence, pérennité et conformité</a:t>
            </a:r>
          </a:p>
        </p:txBody>
      </p:sp>
    </p:spTree>
    <p:extLst>
      <p:ext uri="{BB962C8B-B14F-4D97-AF65-F5344CB8AC3E}">
        <p14:creationId xmlns:p14="http://schemas.microsoft.com/office/powerpoint/2010/main" val="33558344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35" name="Google Shape;7418;p41"/>
          <p:cNvSpPr/>
          <p:nvPr/>
        </p:nvSpPr>
        <p:spPr>
          <a:xfrm rot="21013821">
            <a:off x="6297998" y="4033104"/>
            <a:ext cx="1054440" cy="80836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112A40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sz="1200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8" name="Google Shape;7421;p41"/>
          <p:cNvSpPr/>
          <p:nvPr/>
        </p:nvSpPr>
        <p:spPr>
          <a:xfrm rot="356255">
            <a:off x="6295963" y="1764647"/>
            <a:ext cx="1054365" cy="808304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112A40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sz="1200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Google Shape;7424;p41"/>
          <p:cNvSpPr/>
          <p:nvPr/>
        </p:nvSpPr>
        <p:spPr>
          <a:xfrm rot="282502">
            <a:off x="1008889" y="4032906"/>
            <a:ext cx="1054406" cy="808335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112A40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sz="1200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Google Shape;7427;p41"/>
          <p:cNvSpPr/>
          <p:nvPr/>
        </p:nvSpPr>
        <p:spPr>
          <a:xfrm rot="21275242">
            <a:off x="1044421" y="1769072"/>
            <a:ext cx="1054398" cy="808329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112A40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sz="1200" noProof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Google Shape;7431;p41"/>
          <p:cNvSpPr txBox="1">
            <a:spLocks/>
          </p:cNvSpPr>
          <p:nvPr/>
        </p:nvSpPr>
        <p:spPr>
          <a:xfrm rot="21238167">
            <a:off x="1055515" y="1925819"/>
            <a:ext cx="961801" cy="5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fr-CI" sz="32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01</a:t>
            </a:r>
          </a:p>
        </p:txBody>
      </p:sp>
      <p:sp>
        <p:nvSpPr>
          <p:cNvPr id="48" name="Google Shape;7432;p41"/>
          <p:cNvSpPr txBox="1">
            <a:spLocks/>
          </p:cNvSpPr>
          <p:nvPr/>
        </p:nvSpPr>
        <p:spPr>
          <a:xfrm rot="395864">
            <a:off x="1055515" y="4170923"/>
            <a:ext cx="961801" cy="5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fr-CI" sz="32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02</a:t>
            </a:r>
          </a:p>
        </p:txBody>
      </p:sp>
      <p:sp>
        <p:nvSpPr>
          <p:cNvPr id="53" name="Google Shape;7437;p41"/>
          <p:cNvSpPr txBox="1">
            <a:spLocks/>
          </p:cNvSpPr>
          <p:nvPr/>
        </p:nvSpPr>
        <p:spPr>
          <a:xfrm rot="354388">
            <a:off x="6338696" y="1925819"/>
            <a:ext cx="970153" cy="5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fr-CI" sz="32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03</a:t>
            </a:r>
          </a:p>
        </p:txBody>
      </p:sp>
      <p:sp>
        <p:nvSpPr>
          <p:cNvPr id="54" name="Google Shape;7438;p41"/>
          <p:cNvSpPr txBox="1">
            <a:spLocks/>
          </p:cNvSpPr>
          <p:nvPr/>
        </p:nvSpPr>
        <p:spPr>
          <a:xfrm rot="21176429">
            <a:off x="6338696" y="4170923"/>
            <a:ext cx="970153" cy="526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fr-CI" sz="32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2337" y="1350000"/>
            <a:ext cx="3277758" cy="184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rgbClr val="112A40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Lancement et cadrage</a:t>
            </a:r>
          </a:p>
          <a:p>
            <a:r>
              <a:rPr lang="fr-CI" sz="16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Faits significatifs des six exercices, priorités de la direction, points focaux et logistique.</a:t>
            </a:r>
            <a:endParaRPr lang="fr-CI" sz="1600" noProof="0"/>
          </a:p>
        </p:txBody>
      </p:sp>
      <p:sp>
        <p:nvSpPr>
          <p:cNvPr id="20" name="Rectangle 19"/>
          <p:cNvSpPr/>
          <p:nvPr/>
        </p:nvSpPr>
        <p:spPr>
          <a:xfrm>
            <a:off x="2312337" y="3769850"/>
            <a:ext cx="3277758" cy="184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rgbClr val="112A40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Connaissance et contrôle interne</a:t>
            </a:r>
          </a:p>
          <a:p>
            <a:r>
              <a:rPr lang="fr-CI" sz="16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Entretiens par cycle, environnement interne et externe, matrice des risques et contrôles clés.</a:t>
            </a:r>
            <a:endParaRPr lang="fr-CI" sz="1600" noProof="0"/>
          </a:p>
        </p:txBody>
      </p:sp>
      <p:sp>
        <p:nvSpPr>
          <p:cNvPr id="22" name="Rectangle 21"/>
          <p:cNvSpPr/>
          <p:nvPr/>
        </p:nvSpPr>
        <p:spPr>
          <a:xfrm>
            <a:off x="7611772" y="1354300"/>
            <a:ext cx="3277758" cy="184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rgbClr val="112A40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Tests substantifs</a:t>
            </a:r>
          </a:p>
          <a:p>
            <a:r>
              <a:rPr lang="fr-CI" sz="16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Tests sur pièces par échantillon. Plus les contrôles sont efficaces, moins il y a de pièces à demander.</a:t>
            </a:r>
            <a:endParaRPr lang="fr-CI" sz="1600" noProof="0"/>
          </a:p>
        </p:txBody>
      </p:sp>
      <p:sp>
        <p:nvSpPr>
          <p:cNvPr id="23" name="Rectangle 22"/>
          <p:cNvSpPr/>
          <p:nvPr/>
        </p:nvSpPr>
        <p:spPr>
          <a:xfrm>
            <a:off x="7611772" y="3774150"/>
            <a:ext cx="3277758" cy="1840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rgbClr val="112A40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Synthèse et rapports</a:t>
            </a:r>
          </a:p>
          <a:p>
            <a:r>
              <a:rPr lang="fr-CI" sz="16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Rapport provisoire à la direction le 25 novembre, échanges, puis rapport définitif et opinion.</a:t>
            </a:r>
            <a:endParaRPr lang="fr-CI" sz="1600" noProof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55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Démarche et calendrier</a:t>
            </a:r>
          </a:p>
        </p:txBody>
      </p:sp>
      <p:sp>
        <p:nvSpPr>
          <p:cNvPr id="56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La mission suit quatre phases jusqu'au rapport définitif fin novembre</a:t>
            </a:r>
          </a:p>
        </p:txBody>
      </p:sp>
      <p:sp>
        <p:nvSpPr>
          <p:cNvPr id="57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Rapport provisoire le 25 novembre et rapport définitif avant le 30 novembre, soit environ 30 jours de travaux intensifs</a:t>
            </a:r>
          </a:p>
        </p:txBody>
      </p:sp>
    </p:spTree>
    <p:extLst>
      <p:ext uri="{BB962C8B-B14F-4D97-AF65-F5344CB8AC3E}">
        <p14:creationId xmlns:p14="http://schemas.microsoft.com/office/powerpoint/2010/main" val="213771860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8" name="Google Shape;310;p43"/>
          <p:cNvSpPr txBox="1">
            <a:spLocks/>
          </p:cNvSpPr>
          <p:nvPr/>
        </p:nvSpPr>
        <p:spPr>
          <a:xfrm>
            <a:off x="3029407" y="1474720"/>
            <a:ext cx="1965220" cy="493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10000"/>
              </a:lnSpc>
              <a:buNone/>
            </a:pPr>
            <a:r>
              <a:rPr lang="fr-CI" sz="12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Référentiels</a:t>
            </a:r>
          </a:p>
        </p:txBody>
      </p:sp>
      <p:pic>
        <p:nvPicPr>
          <p:cNvPr id="59" name="Image 5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095" y="1350000"/>
            <a:ext cx="318216" cy="318216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925" y="1351707"/>
            <a:ext cx="342732" cy="342732"/>
          </a:xfrm>
          <a:prstGeom prst="rect">
            <a:avLst/>
          </a:prstGeom>
        </p:spPr>
      </p:pic>
      <p:sp>
        <p:nvSpPr>
          <p:cNvPr id="14" name="Google Shape;310;p43"/>
          <p:cNvSpPr txBox="1">
            <a:spLocks/>
          </p:cNvSpPr>
          <p:nvPr/>
        </p:nvSpPr>
        <p:spPr>
          <a:xfrm>
            <a:off x="7040981" y="1474720"/>
            <a:ext cx="1965220" cy="493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10000"/>
              </a:lnSpc>
              <a:buNone/>
            </a:pPr>
            <a:r>
              <a:rPr lang="fr-CI" sz="12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Risques ISA 240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9942" y="2197866"/>
            <a:ext cx="3046699" cy="12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Deux risques présumés : contournement des contrôles par la direction et fraude dans la comptabilisation des produits. Réponse : entretiens et revue des contrôles.</a:t>
            </a:r>
            <a:endParaRPr lang="fr-CI" sz="1200" noProof="0"/>
          </a:p>
        </p:txBody>
      </p:sp>
      <p:sp>
        <p:nvSpPr>
          <p:cNvPr id="23" name="Google Shape;310;p43"/>
          <p:cNvSpPr txBox="1">
            <a:spLocks/>
          </p:cNvSpPr>
          <p:nvPr/>
        </p:nvSpPr>
        <p:spPr>
          <a:xfrm>
            <a:off x="3029407" y="3965821"/>
            <a:ext cx="1965220" cy="493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10000"/>
              </a:lnSpc>
              <a:buNone/>
            </a:pPr>
            <a:r>
              <a:rPr lang="fr-CI" sz="12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Informatique et ratios</a:t>
            </a:r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156" y="3813457"/>
            <a:ext cx="318092" cy="32179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571" y="3799713"/>
            <a:ext cx="335439" cy="342731"/>
          </a:xfrm>
          <a:prstGeom prst="rect">
            <a:avLst/>
          </a:prstGeom>
        </p:spPr>
      </p:pic>
      <p:sp>
        <p:nvSpPr>
          <p:cNvPr id="28" name="Google Shape;310;p43"/>
          <p:cNvSpPr txBox="1">
            <a:spLocks/>
          </p:cNvSpPr>
          <p:nvPr/>
        </p:nvSpPr>
        <p:spPr>
          <a:xfrm>
            <a:off x="7040981" y="3965821"/>
            <a:ext cx="1965220" cy="4930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10000"/>
              </a:lnSpc>
              <a:buNone/>
            </a:pPr>
            <a:r>
              <a:rPr lang="fr-CI" sz="12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Participants et équipe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2525" y="4622972"/>
            <a:ext cx="3046699" cy="12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Audit des accès, des changements, de l'exploitation et des contrôles applicatifs. Analyse des ratios prudentiels exigés par l'AIRMS.</a:t>
            </a:r>
            <a:endParaRPr lang="fr-CI" sz="1200" noProof="0"/>
          </a:p>
        </p:txBody>
      </p:sp>
      <p:sp>
        <p:nvSpPr>
          <p:cNvPr id="30" name="Rectangle 29"/>
          <p:cNvSpPr/>
          <p:nvPr/>
        </p:nvSpPr>
        <p:spPr>
          <a:xfrm>
            <a:off x="6449942" y="4654491"/>
            <a:ext cx="3046699" cy="12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FPPN : Président du Conseil d'administration, direction, responsables de service. Adenka : M. Wabi (associé), Inès Pam (directrice), Joël Kama (juridique et fiscal), audit, expertise technique.</a:t>
            </a:r>
            <a:endParaRPr lang="fr-CI" sz="1200" noProof="0"/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556" y="1945889"/>
            <a:ext cx="3279277" cy="1695649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42" y="1945889"/>
            <a:ext cx="3279277" cy="1695649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41" y="4410448"/>
            <a:ext cx="3279277" cy="1695649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555" y="4424350"/>
            <a:ext cx="3279277" cy="1695649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619203" y="2203649"/>
            <a:ext cx="3046699" cy="12141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I" sz="1200" noProof="0">
                <a:latin typeface="Helvetica" panose="020B0604020202020204" pitchFamily="34" charset="0"/>
                <a:ea typeface="Open Sans Light" panose="020B0306030504020204" pitchFamily="34" charset="0"/>
                <a:cs typeface="Helvetica" panose="020B0604020202020204" pitchFamily="34" charset="0"/>
              </a:rPr>
              <a:t>Normes ISA, Règlement n°07/2009/CM/UEMOA, Plan comptable des mutuelles sociales, décisions de l'AIRMS, SYSCOHADA pour les cycles support, statuts et conventions.</a:t>
            </a:r>
            <a:endParaRPr lang="fr-CI" sz="1200" noProof="0"/>
          </a:p>
        </p:txBody>
      </p:sp>
      <p:sp>
        <p:nvSpPr>
          <p:cNvPr id="60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Approche et équipe</a:t>
            </a:r>
          </a:p>
        </p:txBody>
      </p:sp>
      <p:sp>
        <p:nvSpPr>
          <p:cNvPr id="61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L'audit combine normes ISA, règles mutualistes et expertises techniques</a:t>
            </a:r>
          </a:p>
        </p:txBody>
      </p:sp>
      <p:sp>
        <p:nvSpPr>
          <p:cNvPr id="62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Environ 24 intervenants en quatre pôles, dont un actuaire, un expert des systèmes d'information et un expert financier</a:t>
            </a:r>
          </a:p>
        </p:txBody>
      </p:sp>
    </p:spTree>
    <p:extLst>
      <p:ext uri="{BB962C8B-B14F-4D97-AF65-F5344CB8AC3E}">
        <p14:creationId xmlns:p14="http://schemas.microsoft.com/office/powerpoint/2010/main" val="4950179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222103" y="6396591"/>
            <a:ext cx="46531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100" noProof="0"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9" name="Google Shape;7386;p39"/>
          <p:cNvSpPr/>
          <p:nvPr/>
        </p:nvSpPr>
        <p:spPr>
          <a:xfrm rot="10800000">
            <a:off x="1686669" y="1781664"/>
            <a:ext cx="3741376" cy="56747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0" name="Google Shape;7367;p39"/>
          <p:cNvSpPr/>
          <p:nvPr/>
        </p:nvSpPr>
        <p:spPr>
          <a:xfrm rot="16200000">
            <a:off x="2328234" y="1707571"/>
            <a:ext cx="2554832" cy="3837962"/>
          </a:xfrm>
          <a:custGeom>
            <a:avLst/>
            <a:gdLst/>
            <a:ahLst/>
            <a:cxnLst/>
            <a:rect l="l" t="t" r="r" b="b"/>
            <a:pathLst>
              <a:path w="25081" h="54128" extrusionOk="0">
                <a:moveTo>
                  <a:pt x="19843" y="0"/>
                </a:moveTo>
                <a:cubicBezTo>
                  <a:pt x="19654" y="0"/>
                  <a:pt x="19462" y="7"/>
                  <a:pt x="19267" y="21"/>
                </a:cubicBezTo>
                <a:cubicBezTo>
                  <a:pt x="17781" y="125"/>
                  <a:pt x="16282" y="99"/>
                  <a:pt x="14796" y="112"/>
                </a:cubicBezTo>
                <a:cubicBezTo>
                  <a:pt x="13909" y="125"/>
                  <a:pt x="13010" y="112"/>
                  <a:pt x="12123" y="177"/>
                </a:cubicBezTo>
                <a:cubicBezTo>
                  <a:pt x="10272" y="333"/>
                  <a:pt x="8421" y="503"/>
                  <a:pt x="6570" y="633"/>
                </a:cubicBezTo>
                <a:cubicBezTo>
                  <a:pt x="5267" y="738"/>
                  <a:pt x="3989" y="933"/>
                  <a:pt x="2764" y="1259"/>
                </a:cubicBezTo>
                <a:cubicBezTo>
                  <a:pt x="1943" y="1481"/>
                  <a:pt x="1408" y="1872"/>
                  <a:pt x="1226" y="2471"/>
                </a:cubicBezTo>
                <a:cubicBezTo>
                  <a:pt x="991" y="3292"/>
                  <a:pt x="861" y="4140"/>
                  <a:pt x="965" y="4974"/>
                </a:cubicBezTo>
                <a:cubicBezTo>
                  <a:pt x="991" y="5248"/>
                  <a:pt x="1030" y="5508"/>
                  <a:pt x="991" y="5782"/>
                </a:cubicBezTo>
                <a:cubicBezTo>
                  <a:pt x="835" y="6877"/>
                  <a:pt x="678" y="7972"/>
                  <a:pt x="587" y="9067"/>
                </a:cubicBezTo>
                <a:cubicBezTo>
                  <a:pt x="470" y="10488"/>
                  <a:pt x="378" y="11896"/>
                  <a:pt x="300" y="13317"/>
                </a:cubicBezTo>
                <a:cubicBezTo>
                  <a:pt x="274" y="13825"/>
                  <a:pt x="352" y="14333"/>
                  <a:pt x="339" y="14829"/>
                </a:cubicBezTo>
                <a:cubicBezTo>
                  <a:pt x="313" y="15820"/>
                  <a:pt x="157" y="16797"/>
                  <a:pt x="118" y="17775"/>
                </a:cubicBezTo>
                <a:cubicBezTo>
                  <a:pt x="53" y="19391"/>
                  <a:pt x="0" y="21008"/>
                  <a:pt x="40" y="22624"/>
                </a:cubicBezTo>
                <a:cubicBezTo>
                  <a:pt x="66" y="24149"/>
                  <a:pt x="157" y="25661"/>
                  <a:pt x="144" y="27173"/>
                </a:cubicBezTo>
                <a:cubicBezTo>
                  <a:pt x="131" y="28646"/>
                  <a:pt x="105" y="30132"/>
                  <a:pt x="131" y="31605"/>
                </a:cubicBezTo>
                <a:cubicBezTo>
                  <a:pt x="209" y="35412"/>
                  <a:pt x="405" y="39218"/>
                  <a:pt x="274" y="43051"/>
                </a:cubicBezTo>
                <a:cubicBezTo>
                  <a:pt x="235" y="44237"/>
                  <a:pt x="287" y="45436"/>
                  <a:pt x="300" y="46622"/>
                </a:cubicBezTo>
                <a:cubicBezTo>
                  <a:pt x="300" y="46687"/>
                  <a:pt x="300" y="46753"/>
                  <a:pt x="287" y="46818"/>
                </a:cubicBezTo>
                <a:cubicBezTo>
                  <a:pt x="222" y="48004"/>
                  <a:pt x="313" y="49190"/>
                  <a:pt x="535" y="50363"/>
                </a:cubicBezTo>
                <a:cubicBezTo>
                  <a:pt x="665" y="51054"/>
                  <a:pt x="1004" y="51706"/>
                  <a:pt x="1239" y="52384"/>
                </a:cubicBezTo>
                <a:cubicBezTo>
                  <a:pt x="1486" y="53075"/>
                  <a:pt x="2164" y="53492"/>
                  <a:pt x="3129" y="53700"/>
                </a:cubicBezTo>
                <a:cubicBezTo>
                  <a:pt x="3812" y="53854"/>
                  <a:pt x="4517" y="53911"/>
                  <a:pt x="5223" y="53911"/>
                </a:cubicBezTo>
                <a:cubicBezTo>
                  <a:pt x="5299" y="53911"/>
                  <a:pt x="5374" y="53910"/>
                  <a:pt x="5449" y="53909"/>
                </a:cubicBezTo>
                <a:cubicBezTo>
                  <a:pt x="5591" y="53907"/>
                  <a:pt x="5733" y="53906"/>
                  <a:pt x="5875" y="53906"/>
                </a:cubicBezTo>
                <a:cubicBezTo>
                  <a:pt x="7594" y="53906"/>
                  <a:pt x="9293" y="54042"/>
                  <a:pt x="11015" y="54078"/>
                </a:cubicBezTo>
                <a:cubicBezTo>
                  <a:pt x="11655" y="54087"/>
                  <a:pt x="12288" y="54128"/>
                  <a:pt x="12924" y="54128"/>
                </a:cubicBezTo>
                <a:cubicBezTo>
                  <a:pt x="13273" y="54128"/>
                  <a:pt x="13623" y="54115"/>
                  <a:pt x="13974" y="54078"/>
                </a:cubicBezTo>
                <a:cubicBezTo>
                  <a:pt x="15239" y="53948"/>
                  <a:pt x="16516" y="53870"/>
                  <a:pt x="17781" y="53779"/>
                </a:cubicBezTo>
                <a:cubicBezTo>
                  <a:pt x="18850" y="53700"/>
                  <a:pt x="19919" y="53583"/>
                  <a:pt x="20961" y="53375"/>
                </a:cubicBezTo>
                <a:cubicBezTo>
                  <a:pt x="22043" y="53153"/>
                  <a:pt x="22956" y="52749"/>
                  <a:pt x="23503" y="52019"/>
                </a:cubicBezTo>
                <a:cubicBezTo>
                  <a:pt x="23855" y="51537"/>
                  <a:pt x="24142" y="51028"/>
                  <a:pt x="24233" y="50494"/>
                </a:cubicBezTo>
                <a:cubicBezTo>
                  <a:pt x="24416" y="49464"/>
                  <a:pt x="24429" y="48434"/>
                  <a:pt x="24546" y="47404"/>
                </a:cubicBezTo>
                <a:cubicBezTo>
                  <a:pt x="24690" y="45957"/>
                  <a:pt x="24768" y="44510"/>
                  <a:pt x="24833" y="43064"/>
                </a:cubicBezTo>
                <a:cubicBezTo>
                  <a:pt x="24924" y="41395"/>
                  <a:pt x="24898" y="39726"/>
                  <a:pt x="24898" y="38058"/>
                </a:cubicBezTo>
                <a:cubicBezTo>
                  <a:pt x="24885" y="36402"/>
                  <a:pt x="24794" y="34760"/>
                  <a:pt x="24794" y="33104"/>
                </a:cubicBezTo>
                <a:cubicBezTo>
                  <a:pt x="24794" y="31332"/>
                  <a:pt x="24755" y="29546"/>
                  <a:pt x="24768" y="27760"/>
                </a:cubicBezTo>
                <a:cubicBezTo>
                  <a:pt x="24794" y="26196"/>
                  <a:pt x="24807" y="24631"/>
                  <a:pt x="24846" y="23067"/>
                </a:cubicBezTo>
                <a:cubicBezTo>
                  <a:pt x="24885" y="21503"/>
                  <a:pt x="24911" y="19952"/>
                  <a:pt x="24911" y="18387"/>
                </a:cubicBezTo>
                <a:cubicBezTo>
                  <a:pt x="24911" y="16967"/>
                  <a:pt x="24937" y="15533"/>
                  <a:pt x="24989" y="14112"/>
                </a:cubicBezTo>
                <a:cubicBezTo>
                  <a:pt x="25028" y="12795"/>
                  <a:pt x="25081" y="11479"/>
                  <a:pt x="25068" y="10162"/>
                </a:cubicBezTo>
                <a:cubicBezTo>
                  <a:pt x="25068" y="8924"/>
                  <a:pt x="25002" y="7685"/>
                  <a:pt x="24963" y="6447"/>
                </a:cubicBezTo>
                <a:lnTo>
                  <a:pt x="24950" y="6447"/>
                </a:lnTo>
                <a:cubicBezTo>
                  <a:pt x="25055" y="5561"/>
                  <a:pt x="24963" y="4674"/>
                  <a:pt x="24872" y="3801"/>
                </a:cubicBezTo>
                <a:cubicBezTo>
                  <a:pt x="24807" y="3175"/>
                  <a:pt x="24664" y="2562"/>
                  <a:pt x="24403" y="1963"/>
                </a:cubicBezTo>
                <a:cubicBezTo>
                  <a:pt x="24194" y="1481"/>
                  <a:pt x="23803" y="1103"/>
                  <a:pt x="23204" y="803"/>
                </a:cubicBezTo>
                <a:cubicBezTo>
                  <a:pt x="22185" y="293"/>
                  <a:pt x="21087" y="0"/>
                  <a:pt x="19843" y="0"/>
                </a:cubicBezTo>
                <a:close/>
              </a:path>
            </a:pathLst>
          </a:custGeom>
          <a:noFill/>
          <a:ln w="19050">
            <a:solidFill>
              <a:srgbClr val="060606"/>
            </a:solidFill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4" name="Rectangle 3"/>
          <p:cNvSpPr/>
          <p:nvPr/>
        </p:nvSpPr>
        <p:spPr>
          <a:xfrm>
            <a:off x="2929487" y="1853338"/>
            <a:ext cx="1531188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solidFill>
                  <a:schemeClr val="bg1"/>
                </a:solidFill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Travaux engagés</a:t>
            </a:r>
          </a:p>
        </p:txBody>
      </p:sp>
      <p:sp>
        <p:nvSpPr>
          <p:cNvPr id="13" name="Google Shape;7386;p39"/>
          <p:cNvSpPr/>
          <p:nvPr/>
        </p:nvSpPr>
        <p:spPr>
          <a:xfrm rot="10800000">
            <a:off x="6665593" y="1781664"/>
            <a:ext cx="3741376" cy="567471"/>
          </a:xfrm>
          <a:custGeom>
            <a:avLst/>
            <a:gdLst/>
            <a:ahLst/>
            <a:cxnLst/>
            <a:rect l="l" t="t" r="r" b="b"/>
            <a:pathLst>
              <a:path w="40007" h="30221" extrusionOk="0">
                <a:moveTo>
                  <a:pt x="19007" y="1"/>
                </a:moveTo>
                <a:cubicBezTo>
                  <a:pt x="17909" y="1"/>
                  <a:pt x="16810" y="17"/>
                  <a:pt x="15708" y="53"/>
                </a:cubicBezTo>
                <a:cubicBezTo>
                  <a:pt x="13270" y="131"/>
                  <a:pt x="10885" y="275"/>
                  <a:pt x="8512" y="548"/>
                </a:cubicBezTo>
                <a:cubicBezTo>
                  <a:pt x="6088" y="835"/>
                  <a:pt x="4524" y="1500"/>
                  <a:pt x="4041" y="2712"/>
                </a:cubicBezTo>
                <a:cubicBezTo>
                  <a:pt x="4015" y="2777"/>
                  <a:pt x="3976" y="2843"/>
                  <a:pt x="3937" y="2908"/>
                </a:cubicBezTo>
                <a:cubicBezTo>
                  <a:pt x="2777" y="4902"/>
                  <a:pt x="2282" y="6949"/>
                  <a:pt x="1734" y="8995"/>
                </a:cubicBezTo>
                <a:cubicBezTo>
                  <a:pt x="1160" y="11120"/>
                  <a:pt x="613" y="13232"/>
                  <a:pt x="391" y="15357"/>
                </a:cubicBezTo>
                <a:cubicBezTo>
                  <a:pt x="183" y="17325"/>
                  <a:pt x="0" y="19293"/>
                  <a:pt x="79" y="21092"/>
                </a:cubicBezTo>
                <a:cubicBezTo>
                  <a:pt x="52" y="23074"/>
                  <a:pt x="144" y="24899"/>
                  <a:pt x="365" y="26710"/>
                </a:cubicBezTo>
                <a:cubicBezTo>
                  <a:pt x="522" y="28079"/>
                  <a:pt x="1721" y="29096"/>
                  <a:pt x="4419" y="29656"/>
                </a:cubicBezTo>
                <a:cubicBezTo>
                  <a:pt x="6296" y="30048"/>
                  <a:pt x="8265" y="30178"/>
                  <a:pt x="10259" y="30204"/>
                </a:cubicBezTo>
                <a:cubicBezTo>
                  <a:pt x="11143" y="30216"/>
                  <a:pt x="12026" y="30220"/>
                  <a:pt x="12908" y="30220"/>
                </a:cubicBezTo>
                <a:cubicBezTo>
                  <a:pt x="15996" y="30220"/>
                  <a:pt x="19078" y="30165"/>
                  <a:pt x="22161" y="30165"/>
                </a:cubicBezTo>
                <a:cubicBezTo>
                  <a:pt x="24859" y="30165"/>
                  <a:pt x="27557" y="30204"/>
                  <a:pt x="30243" y="30204"/>
                </a:cubicBezTo>
                <a:cubicBezTo>
                  <a:pt x="31690" y="30191"/>
                  <a:pt x="33123" y="30113"/>
                  <a:pt x="34505" y="29852"/>
                </a:cubicBezTo>
                <a:cubicBezTo>
                  <a:pt x="35470" y="29683"/>
                  <a:pt x="36330" y="29435"/>
                  <a:pt x="36917" y="29005"/>
                </a:cubicBezTo>
                <a:cubicBezTo>
                  <a:pt x="37881" y="28288"/>
                  <a:pt x="38677" y="27519"/>
                  <a:pt x="39120" y="26684"/>
                </a:cubicBezTo>
                <a:cubicBezTo>
                  <a:pt x="39732" y="25485"/>
                  <a:pt x="39954" y="24260"/>
                  <a:pt x="39954" y="23021"/>
                </a:cubicBezTo>
                <a:cubicBezTo>
                  <a:pt x="39954" y="19372"/>
                  <a:pt x="40006" y="15709"/>
                  <a:pt x="39563" y="12059"/>
                </a:cubicBezTo>
                <a:cubicBezTo>
                  <a:pt x="39367" y="10403"/>
                  <a:pt x="39485" y="8748"/>
                  <a:pt x="39237" y="7105"/>
                </a:cubicBezTo>
                <a:cubicBezTo>
                  <a:pt x="39068" y="6023"/>
                  <a:pt x="38794" y="4941"/>
                  <a:pt x="37920" y="3938"/>
                </a:cubicBezTo>
                <a:cubicBezTo>
                  <a:pt x="37282" y="3208"/>
                  <a:pt x="36773" y="2438"/>
                  <a:pt x="35665" y="1826"/>
                </a:cubicBezTo>
                <a:cubicBezTo>
                  <a:pt x="34192" y="1031"/>
                  <a:pt x="32237" y="666"/>
                  <a:pt x="30138" y="496"/>
                </a:cubicBezTo>
                <a:cubicBezTo>
                  <a:pt x="26451" y="194"/>
                  <a:pt x="22741" y="1"/>
                  <a:pt x="19007" y="1"/>
                </a:cubicBezTo>
                <a:close/>
              </a:path>
            </a:pathLst>
          </a:custGeom>
          <a:solidFill>
            <a:srgbClr val="EFAC62"/>
          </a:solidFill>
          <a:ln>
            <a:noFill/>
          </a:ln>
          <a:effectLst>
            <a:outerShdw blurRad="57150" dist="9525" algn="bl" rotWithShape="0">
              <a:srgbClr val="00000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4" name="Google Shape;7367;p39"/>
          <p:cNvSpPr/>
          <p:nvPr/>
        </p:nvSpPr>
        <p:spPr>
          <a:xfrm rot="16200000">
            <a:off x="7307158" y="1707571"/>
            <a:ext cx="2554832" cy="3837962"/>
          </a:xfrm>
          <a:custGeom>
            <a:avLst/>
            <a:gdLst/>
            <a:ahLst/>
            <a:cxnLst/>
            <a:rect l="l" t="t" r="r" b="b"/>
            <a:pathLst>
              <a:path w="25081" h="54128" extrusionOk="0">
                <a:moveTo>
                  <a:pt x="19843" y="0"/>
                </a:moveTo>
                <a:cubicBezTo>
                  <a:pt x="19654" y="0"/>
                  <a:pt x="19462" y="7"/>
                  <a:pt x="19267" y="21"/>
                </a:cubicBezTo>
                <a:cubicBezTo>
                  <a:pt x="17781" y="125"/>
                  <a:pt x="16282" y="99"/>
                  <a:pt x="14796" y="112"/>
                </a:cubicBezTo>
                <a:cubicBezTo>
                  <a:pt x="13909" y="125"/>
                  <a:pt x="13010" y="112"/>
                  <a:pt x="12123" y="177"/>
                </a:cubicBezTo>
                <a:cubicBezTo>
                  <a:pt x="10272" y="333"/>
                  <a:pt x="8421" y="503"/>
                  <a:pt x="6570" y="633"/>
                </a:cubicBezTo>
                <a:cubicBezTo>
                  <a:pt x="5267" y="738"/>
                  <a:pt x="3989" y="933"/>
                  <a:pt x="2764" y="1259"/>
                </a:cubicBezTo>
                <a:cubicBezTo>
                  <a:pt x="1943" y="1481"/>
                  <a:pt x="1408" y="1872"/>
                  <a:pt x="1226" y="2471"/>
                </a:cubicBezTo>
                <a:cubicBezTo>
                  <a:pt x="991" y="3292"/>
                  <a:pt x="861" y="4140"/>
                  <a:pt x="965" y="4974"/>
                </a:cubicBezTo>
                <a:cubicBezTo>
                  <a:pt x="991" y="5248"/>
                  <a:pt x="1030" y="5508"/>
                  <a:pt x="991" y="5782"/>
                </a:cubicBezTo>
                <a:cubicBezTo>
                  <a:pt x="835" y="6877"/>
                  <a:pt x="678" y="7972"/>
                  <a:pt x="587" y="9067"/>
                </a:cubicBezTo>
                <a:cubicBezTo>
                  <a:pt x="470" y="10488"/>
                  <a:pt x="378" y="11896"/>
                  <a:pt x="300" y="13317"/>
                </a:cubicBezTo>
                <a:cubicBezTo>
                  <a:pt x="274" y="13825"/>
                  <a:pt x="352" y="14333"/>
                  <a:pt x="339" y="14829"/>
                </a:cubicBezTo>
                <a:cubicBezTo>
                  <a:pt x="313" y="15820"/>
                  <a:pt x="157" y="16797"/>
                  <a:pt x="118" y="17775"/>
                </a:cubicBezTo>
                <a:cubicBezTo>
                  <a:pt x="53" y="19391"/>
                  <a:pt x="0" y="21008"/>
                  <a:pt x="40" y="22624"/>
                </a:cubicBezTo>
                <a:cubicBezTo>
                  <a:pt x="66" y="24149"/>
                  <a:pt x="157" y="25661"/>
                  <a:pt x="144" y="27173"/>
                </a:cubicBezTo>
                <a:cubicBezTo>
                  <a:pt x="131" y="28646"/>
                  <a:pt x="105" y="30132"/>
                  <a:pt x="131" y="31605"/>
                </a:cubicBezTo>
                <a:cubicBezTo>
                  <a:pt x="209" y="35412"/>
                  <a:pt x="405" y="39218"/>
                  <a:pt x="274" y="43051"/>
                </a:cubicBezTo>
                <a:cubicBezTo>
                  <a:pt x="235" y="44237"/>
                  <a:pt x="287" y="45436"/>
                  <a:pt x="300" y="46622"/>
                </a:cubicBezTo>
                <a:cubicBezTo>
                  <a:pt x="300" y="46687"/>
                  <a:pt x="300" y="46753"/>
                  <a:pt x="287" y="46818"/>
                </a:cubicBezTo>
                <a:cubicBezTo>
                  <a:pt x="222" y="48004"/>
                  <a:pt x="313" y="49190"/>
                  <a:pt x="535" y="50363"/>
                </a:cubicBezTo>
                <a:cubicBezTo>
                  <a:pt x="665" y="51054"/>
                  <a:pt x="1004" y="51706"/>
                  <a:pt x="1239" y="52384"/>
                </a:cubicBezTo>
                <a:cubicBezTo>
                  <a:pt x="1486" y="53075"/>
                  <a:pt x="2164" y="53492"/>
                  <a:pt x="3129" y="53700"/>
                </a:cubicBezTo>
                <a:cubicBezTo>
                  <a:pt x="3812" y="53854"/>
                  <a:pt x="4517" y="53911"/>
                  <a:pt x="5223" y="53911"/>
                </a:cubicBezTo>
                <a:cubicBezTo>
                  <a:pt x="5299" y="53911"/>
                  <a:pt x="5374" y="53910"/>
                  <a:pt x="5449" y="53909"/>
                </a:cubicBezTo>
                <a:cubicBezTo>
                  <a:pt x="5591" y="53907"/>
                  <a:pt x="5733" y="53906"/>
                  <a:pt x="5875" y="53906"/>
                </a:cubicBezTo>
                <a:cubicBezTo>
                  <a:pt x="7594" y="53906"/>
                  <a:pt x="9293" y="54042"/>
                  <a:pt x="11015" y="54078"/>
                </a:cubicBezTo>
                <a:cubicBezTo>
                  <a:pt x="11655" y="54087"/>
                  <a:pt x="12288" y="54128"/>
                  <a:pt x="12924" y="54128"/>
                </a:cubicBezTo>
                <a:cubicBezTo>
                  <a:pt x="13273" y="54128"/>
                  <a:pt x="13623" y="54115"/>
                  <a:pt x="13974" y="54078"/>
                </a:cubicBezTo>
                <a:cubicBezTo>
                  <a:pt x="15239" y="53948"/>
                  <a:pt x="16516" y="53870"/>
                  <a:pt x="17781" y="53779"/>
                </a:cubicBezTo>
                <a:cubicBezTo>
                  <a:pt x="18850" y="53700"/>
                  <a:pt x="19919" y="53583"/>
                  <a:pt x="20961" y="53375"/>
                </a:cubicBezTo>
                <a:cubicBezTo>
                  <a:pt x="22043" y="53153"/>
                  <a:pt x="22956" y="52749"/>
                  <a:pt x="23503" y="52019"/>
                </a:cubicBezTo>
                <a:cubicBezTo>
                  <a:pt x="23855" y="51537"/>
                  <a:pt x="24142" y="51028"/>
                  <a:pt x="24233" y="50494"/>
                </a:cubicBezTo>
                <a:cubicBezTo>
                  <a:pt x="24416" y="49464"/>
                  <a:pt x="24429" y="48434"/>
                  <a:pt x="24546" y="47404"/>
                </a:cubicBezTo>
                <a:cubicBezTo>
                  <a:pt x="24690" y="45957"/>
                  <a:pt x="24768" y="44510"/>
                  <a:pt x="24833" y="43064"/>
                </a:cubicBezTo>
                <a:cubicBezTo>
                  <a:pt x="24924" y="41395"/>
                  <a:pt x="24898" y="39726"/>
                  <a:pt x="24898" y="38058"/>
                </a:cubicBezTo>
                <a:cubicBezTo>
                  <a:pt x="24885" y="36402"/>
                  <a:pt x="24794" y="34760"/>
                  <a:pt x="24794" y="33104"/>
                </a:cubicBezTo>
                <a:cubicBezTo>
                  <a:pt x="24794" y="31332"/>
                  <a:pt x="24755" y="29546"/>
                  <a:pt x="24768" y="27760"/>
                </a:cubicBezTo>
                <a:cubicBezTo>
                  <a:pt x="24794" y="26196"/>
                  <a:pt x="24807" y="24631"/>
                  <a:pt x="24846" y="23067"/>
                </a:cubicBezTo>
                <a:cubicBezTo>
                  <a:pt x="24885" y="21503"/>
                  <a:pt x="24911" y="19952"/>
                  <a:pt x="24911" y="18387"/>
                </a:cubicBezTo>
                <a:cubicBezTo>
                  <a:pt x="24911" y="16967"/>
                  <a:pt x="24937" y="15533"/>
                  <a:pt x="24989" y="14112"/>
                </a:cubicBezTo>
                <a:cubicBezTo>
                  <a:pt x="25028" y="12795"/>
                  <a:pt x="25081" y="11479"/>
                  <a:pt x="25068" y="10162"/>
                </a:cubicBezTo>
                <a:cubicBezTo>
                  <a:pt x="25068" y="8924"/>
                  <a:pt x="25002" y="7685"/>
                  <a:pt x="24963" y="6447"/>
                </a:cubicBezTo>
                <a:lnTo>
                  <a:pt x="24950" y="6447"/>
                </a:lnTo>
                <a:cubicBezTo>
                  <a:pt x="25055" y="5561"/>
                  <a:pt x="24963" y="4674"/>
                  <a:pt x="24872" y="3801"/>
                </a:cubicBezTo>
                <a:cubicBezTo>
                  <a:pt x="24807" y="3175"/>
                  <a:pt x="24664" y="2562"/>
                  <a:pt x="24403" y="1963"/>
                </a:cubicBezTo>
                <a:cubicBezTo>
                  <a:pt x="24194" y="1481"/>
                  <a:pt x="23803" y="1103"/>
                  <a:pt x="23204" y="803"/>
                </a:cubicBezTo>
                <a:cubicBezTo>
                  <a:pt x="22185" y="293"/>
                  <a:pt x="21087" y="0"/>
                  <a:pt x="19843" y="0"/>
                </a:cubicBezTo>
                <a:close/>
              </a:path>
            </a:pathLst>
          </a:custGeom>
          <a:noFill/>
          <a:ln w="19050">
            <a:solidFill>
              <a:srgbClr val="060606"/>
            </a:solidFill>
          </a:ln>
          <a:effectLst>
            <a:outerShdw blurRad="57150" dist="9525" algn="bl" rotWithShape="0">
              <a:srgbClr val="000000"/>
            </a:outerShdw>
            <a:softEdge rad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CI" noProof="0"/>
          </a:p>
        </p:txBody>
      </p:sp>
      <p:sp>
        <p:nvSpPr>
          <p:cNvPr id="17" name="Rectangle 16"/>
          <p:cNvSpPr/>
          <p:nvPr/>
        </p:nvSpPr>
        <p:spPr>
          <a:xfrm>
            <a:off x="7818980" y="1902791"/>
            <a:ext cx="1531188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fr-CI" sz="1600" b="1" noProof="0">
                <a:latin typeface="Helvetica" panose="020B0604020202020204" pitchFamily="34" charset="0"/>
                <a:ea typeface="Open Sans Semibold" panose="020B0706030804020204" pitchFamily="34" charset="0"/>
                <a:cs typeface="Helvetica" panose="020B0604020202020204" pitchFamily="34" charset="0"/>
              </a:rPr>
              <a:t>Risques préliminaires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593DA389-08F4-31D9-6AB9-E96812D83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405" y="1867136"/>
            <a:ext cx="396525" cy="396525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060" y="1814991"/>
            <a:ext cx="486259" cy="491723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812412" y="2596068"/>
            <a:ext cx="361563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Dès le démarrage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Provisions mathématiques, sinistres, ratios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Digitalisation : crédits et cotisations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Prestations et grands ratios</a:t>
            </a:r>
          </a:p>
          <a:p>
            <a:pPr lvl="0">
              <a:spcBef>
                <a:spcPts val="6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Ensuite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Frais généraux et investissements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Comparaison avec le Fonds militaire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Offre mutualiste au regard des statuts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Potentiel non exploité par le FPPN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1405" y="2576263"/>
            <a:ext cx="3615634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3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Cartographie à affiner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Cotisations et prestations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Engagements et crédits aux adhérents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Paiement des adhérents et trésorerie</a:t>
            </a:r>
          </a:p>
          <a:p>
            <a:pPr lvl="0">
              <a:spcBef>
                <a:spcPts val="600"/>
              </a:spcBef>
              <a:defRPr/>
            </a:pPr>
            <a:r>
              <a:rPr kumimoji="1" lang="fr-CI" sz="1200" b="1" noProof="0">
                <a:latin typeface="Helvetica" panose="020B0604020202020204" pitchFamily="34" charset="0"/>
                <a:cs typeface="Helvetica" panose="020B0604020202020204" pitchFamily="34" charset="0"/>
              </a:rPr>
              <a:t>Cycles des entretiens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Cotisations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Prestations et sinistres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Placements</a:t>
            </a:r>
          </a:p>
          <a:p>
            <a:pPr marL="252000" lvl="0" indent="-144000">
              <a:spcBef>
                <a:spcPts val="300"/>
              </a:spcBef>
              <a:buFont typeface="Wingdings" panose="05000000000000000000" pitchFamily="2" charset="2"/>
              <a:buChar char="n"/>
              <a:defRPr/>
            </a:pPr>
            <a:r>
              <a:rPr kumimoji="1" lang="fr-CI" sz="1200" noProof="0">
                <a:latin typeface="Helvetica" panose="020B0604020202020204" pitchFamily="34" charset="0"/>
                <a:cs typeface="Helvetica" panose="020B0604020202020204" pitchFamily="34" charset="0"/>
              </a:rPr>
              <a:t>Frais généraux</a:t>
            </a:r>
          </a:p>
        </p:txBody>
      </p:sp>
      <p:sp>
        <p:nvSpPr>
          <p:cNvPr id="32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Travaux prioritaires</a:t>
            </a:r>
          </a:p>
        </p:txBody>
      </p:sp>
      <p:sp>
        <p:nvSpPr>
          <p:cNvPr id="33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Provisions, sinistres et ratios sont traités dès le début de la mission</a:t>
            </a:r>
          </a:p>
        </p:txBody>
      </p:sp>
      <p:sp>
        <p:nvSpPr>
          <p:cNvPr id="34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Les premiers enseignements doivent remonter dès la semaine suivante, et la cartographie des risques sera affinée après les entretiens</a:t>
            </a:r>
          </a:p>
        </p:txBody>
      </p:sp>
    </p:spTree>
    <p:extLst>
      <p:ext uri="{BB962C8B-B14F-4D97-AF65-F5344CB8AC3E}">
        <p14:creationId xmlns:p14="http://schemas.microsoft.com/office/powerpoint/2010/main" val="83315539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" t="1164" r="20416" b="19660"/>
          <a:stretch/>
        </p:blipFill>
        <p:spPr>
          <a:xfrm>
            <a:off x="1" y="0"/>
            <a:ext cx="12192000" cy="6911166"/>
          </a:xfrm>
          <a:prstGeom prst="rect">
            <a:avLst/>
          </a:prstGeom>
        </p:spPr>
      </p:pic>
      <p:graphicFrame>
        <p:nvGraphicFramePr>
          <p:cNvPr id="2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352352"/>
              </p:ext>
            </p:extLst>
          </p:nvPr>
        </p:nvGraphicFramePr>
        <p:xfrm>
          <a:off x="601313" y="1484490"/>
          <a:ext cx="11237975" cy="3660908"/>
        </p:xfrm>
        <a:graphic>
          <a:graphicData uri="http://schemas.openxmlformats.org/drawingml/2006/table">
            <a:tbl>
              <a:tblPr/>
              <a:tblGrid>
                <a:gridCol w="30599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916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1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Sujet</a:t>
                      </a:r>
                      <a:endParaRPr kumimoji="0" lang="fr-CI" sz="1200" b="1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Action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Responsable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b="1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Échéance</a:t>
                      </a:r>
                      <a:endParaRPr kumimoji="0" lang="fr-CI" sz="1200" b="1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Organigramme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300" marR="0" lvl="1" indent="-11430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Transmettre l'organigramme pour cibler les entretiens</a:t>
                      </a: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Dès que possible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Entretiens et documents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300" marR="0" lvl="1" indent="-11430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Envoyer la liste des personnes à rencontrer et des documents</a:t>
                      </a: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Adenka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Immédiat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Points focaux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300" marR="0" lvl="1" indent="-11430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Désigner les interlocuteurs de la mission</a:t>
                      </a: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À confirmer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Entretiens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300" marR="0" lvl="1" indent="-11430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30 à 60 minutes par responsable, par cycle</a:t>
                      </a: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Adenka et 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Jeudi et vendredi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35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Plateforme et accès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300" marR="0" lvl="1" indent="-11430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Plateforme documentaire, accès en lecture à la base des adhérents, Internet</a:t>
                      </a: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Adenka et 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À confirmer</a:t>
                      </a:r>
                      <a:endParaRPr kumimoji="0" lang="fr-CI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Salle de travail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300" marR="0" lvl="1" indent="-11430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Salle fermée à clé mise à disposition, documents en partie sur papier</a:t>
                      </a: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Fait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Dates de clôture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300" marR="0" lvl="1" indent="-11430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Confirmer la date de clôture des exercices (31 août ou 31 décembre)</a:t>
                      </a: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À confirmer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25000"/>
                        <a:buFont typeface="Wingdings" pitchFamily="2" charset="2"/>
                        <a:buNone/>
                        <a:tabLst/>
                      </a:pPr>
                      <a:r>
                        <a:rPr kumimoji="0" lang="fr-CI" sz="1200" b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Données actuarielles</a:t>
                      </a:r>
                      <a:endParaRPr kumimoji="0" lang="fr-CI" sz="12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14300" marR="0" lvl="1" indent="-11430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fr-CI" sz="12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Fichiers par adhérent : épargne, prestations, cotisations</a:t>
                      </a: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FPPN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213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600"/>
                        </a:spcAft>
                        <a:buClrTx/>
                        <a:buSzPct val="65000"/>
                        <a:buFont typeface="Wingdings"/>
                        <a:buNone/>
                        <a:tabLst/>
                        <a:defRPr/>
                      </a:pPr>
                      <a:r>
                        <a:rPr kumimoji="0" lang="fr-CI" sz="120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Fin octobre</a:t>
                      </a:r>
                      <a:endParaRPr kumimoji="0" lang="fr-CI" sz="12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T="91440" marB="9144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586564" y="1456893"/>
            <a:ext cx="11237975" cy="45719"/>
          </a:xfrm>
          <a:prstGeom prst="rect">
            <a:avLst/>
          </a:prstGeom>
          <a:solidFill>
            <a:srgbClr val="112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sp>
        <p:nvSpPr>
          <p:cNvPr id="25" name="Adenka_Titre"/>
          <p:cNvSpPr txBox="1"/>
          <p:nvPr/>
        </p:nvSpPr>
        <p:spPr>
          <a:xfrm>
            <a:off x="547200" y="144000"/>
            <a:ext cx="11246400" cy="39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2000" b="1">
                <a:solidFill>
                  <a:srgbClr val="060606"/>
                </a:solidFill>
                <a:latin typeface="Helvetica"/>
              </a:rPr>
              <a:t>Organisation et prochaines étapes</a:t>
            </a:r>
          </a:p>
        </p:txBody>
      </p:sp>
      <p:sp>
        <p:nvSpPr>
          <p:cNvPr id="26" name="Adenka_SousTitre"/>
          <p:cNvSpPr txBox="1"/>
          <p:nvPr/>
        </p:nvSpPr>
        <p:spPr>
          <a:xfrm>
            <a:off x="745200" y="558000"/>
            <a:ext cx="11246400" cy="306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600" b="1">
                <a:solidFill>
                  <a:srgbClr val="EFAC62"/>
                </a:solidFill>
                <a:latin typeface="Helvetica"/>
              </a:rPr>
              <a:t>Le démarrage dépend des points focaux, des accès et des données</a:t>
            </a:r>
          </a:p>
        </p:txBody>
      </p:sp>
      <p:sp>
        <p:nvSpPr>
          <p:cNvPr id="27" name="Adenka_Synthese"/>
          <p:cNvSpPr txBox="1"/>
          <p:nvPr/>
        </p:nvSpPr>
        <p:spPr>
          <a:xfrm>
            <a:off x="745200" y="882000"/>
            <a:ext cx="11062800" cy="288000"/>
          </a:xfrm>
          <a:prstGeom prst="rect">
            <a:avLst/>
          </a:prstGeom>
          <a:noFill/>
        </p:spPr>
        <p:txBody>
          <a:bodyPr wrap="square" lIns="36000" rIns="36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Helvetica"/>
              </a:rPr>
              <a:t>Entretiens dès jeudi et vendredi, et données à recevoir au plus tôt pour tenir l'échéance du 25 novembre</a:t>
            </a:r>
          </a:p>
        </p:txBody>
      </p:sp>
    </p:spTree>
    <p:extLst>
      <p:ext uri="{BB962C8B-B14F-4D97-AF65-F5344CB8AC3E}">
        <p14:creationId xmlns:p14="http://schemas.microsoft.com/office/powerpoint/2010/main" val="280706062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667" y="-1240"/>
            <a:ext cx="6858000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0"/>
            <a:ext cx="6045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I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C356854-0685-DCEF-E2F6-65D5E9653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248" y="-135577"/>
            <a:ext cx="3261353" cy="1301437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6E7D94B-8E49-C846-A392-87DFA5EF4A9D}"/>
              </a:ext>
            </a:extLst>
          </p:cNvPr>
          <p:cNvSpPr txBox="1"/>
          <p:nvPr/>
        </p:nvSpPr>
        <p:spPr>
          <a:xfrm>
            <a:off x="456025" y="6300894"/>
            <a:ext cx="4653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I" sz="16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Empreinte Africaine, Expertise Internationale</a:t>
            </a:r>
          </a:p>
        </p:txBody>
      </p:sp>
      <p:sp>
        <p:nvSpPr>
          <p:cNvPr id="13" name="Google Shape;138;p25"/>
          <p:cNvSpPr txBox="1"/>
          <p:nvPr/>
        </p:nvSpPr>
        <p:spPr>
          <a:xfrm>
            <a:off x="920037" y="3088600"/>
            <a:ext cx="580097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fr-CI" sz="4000" noProof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Merci </a:t>
            </a:r>
          </a:p>
        </p:txBody>
      </p:sp>
    </p:spTree>
    <p:extLst>
      <p:ext uri="{BB962C8B-B14F-4D97-AF65-F5344CB8AC3E}">
        <p14:creationId xmlns:p14="http://schemas.microsoft.com/office/powerpoint/2010/main" val="21165902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2509</TotalTime>
  <Words>16641</Words>
  <Application>Microsoft Office PowerPoint</Application>
  <PresentationFormat>Grand écran</PresentationFormat>
  <Paragraphs>1935</Paragraphs>
  <Slides>8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Adenka Consulting</dc:creator>
  <cp:lastModifiedBy>Adenka Consulting</cp:lastModifiedBy>
  <cp:revision>1</cp:revision>
  <dcterms:created xsi:type="dcterms:W3CDTF">2025-10-22T15:02:15Z</dcterms:created>
  <dcterms:modified xsi:type="dcterms:W3CDTF">2026-09-23T09:25:57Z</dcterms:modified>
  <dc:subject/>
  <cp:keywords/>
  <dc:description/>
</cp:coreProperties>
</file>