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406" r:id="rId126"/>
    <p:sldId id="407" r:id="rId127"/>
    <p:sldId id="408" r:id="rId128"/>
    <p:sldId id="409" r:id="rId129"/>
    <p:sldId id="410" r:id="rId130"/>
    <p:sldId id="411" r:id="rId131"/>
    <p:sldId id="412" r:id="rId132"/>
    <p:sldId id="413" r:id="rId133"/>
    <p:sldId id="414" r:id="rId134"/>
    <p:sldId id="415" r:id="rId135"/>
    <p:sldId id="416" r:id="rId136"/>
    <p:sldId id="417" r:id="rId137"/>
    <p:sldId id="418" r:id="rId138"/>
    <p:sldId id="419" r:id="rId139"/>
    <p:sldId id="420" r:id="rId140"/>
    <p:sldId id="421" r:id="rId141"/>
    <p:sldId id="422" r:id="rId142"/>
    <p:sldId id="423" r:id="rId143"/>
    <p:sldId id="424" r:id="rId144"/>
    <p:sldId id="425" r:id="rId145"/>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2" Type="http://schemas.openxmlformats.org/officeDocument/2006/relationships/slide" Target="slides/slide26.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6.xml"/><Relationship Id="rId127" Type="http://schemas.openxmlformats.org/officeDocument/2006/relationships/slide" Target="slides/slide7.xml"/><Relationship Id="rId128" Type="http://schemas.openxmlformats.org/officeDocument/2006/relationships/slide" Target="slides/slide8.xml"/><Relationship Id="rId129" Type="http://schemas.openxmlformats.org/officeDocument/2006/relationships/slide" Target="slides/slide9.xml"/><Relationship Id="rId130" Type="http://schemas.openxmlformats.org/officeDocument/2006/relationships/slide" Target="slides/slide10.xml"/><Relationship Id="rId131" Type="http://schemas.openxmlformats.org/officeDocument/2006/relationships/slide" Target="slides/slide11.xml"/><Relationship Id="rId132" Type="http://schemas.openxmlformats.org/officeDocument/2006/relationships/slide" Target="slides/slide12.xml"/><Relationship Id="rId133" Type="http://schemas.openxmlformats.org/officeDocument/2006/relationships/slide" Target="slides/slide13.xml"/><Relationship Id="rId134" Type="http://schemas.openxmlformats.org/officeDocument/2006/relationships/slide" Target="slides/slide14.xml"/><Relationship Id="rId135" Type="http://schemas.openxmlformats.org/officeDocument/2006/relationships/slide" Target="slides/slide15.xml"/><Relationship Id="rId136" Type="http://schemas.openxmlformats.org/officeDocument/2006/relationships/slide" Target="slides/slide16.xml"/><Relationship Id="rId137" Type="http://schemas.openxmlformats.org/officeDocument/2006/relationships/slide" Target="slides/slide17.xml"/><Relationship Id="rId138" Type="http://schemas.openxmlformats.org/officeDocument/2006/relationships/slide" Target="slides/slide18.xml"/><Relationship Id="rId139" Type="http://schemas.openxmlformats.org/officeDocument/2006/relationships/slide" Target="slides/slide19.xml"/><Relationship Id="rId140" Type="http://schemas.openxmlformats.org/officeDocument/2006/relationships/slide" Target="slides/slide20.xml"/><Relationship Id="rId141" Type="http://schemas.openxmlformats.org/officeDocument/2006/relationships/slide" Target="slides/slide21.xml"/><Relationship Id="rId142" Type="http://schemas.openxmlformats.org/officeDocument/2006/relationships/slide" Target="slides/slide22.xml"/><Relationship Id="rId143" Type="http://schemas.openxmlformats.org/officeDocument/2006/relationships/slide" Target="slides/slide23.xml"/><Relationship Id="rId144" Type="http://schemas.openxmlformats.org/officeDocument/2006/relationships/slide" Target="slides/slide24.xml"/><Relationship Id="rId145"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constats du volet actuariel et statistique, présentés activité par activité. Numéros, complexité et priorité repris du résumé exécutif du 26/10/2026.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la carte de gauche à droite : d'où vient l'argent, ce que fait le FPPN, où va l'argent. Puis les fonctions transverses qui font tourner l'ensemble.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en ligne : une activité, ses types de constats. Lecture en colonne : un type de constat, les activités touchées.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sert de sommaire détaillé : chaque activité est développée dans les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ligne de gauche à droite : le constat et son commentaire, la recommandation, la complexité de l'action et sa priorité. Le bandeau du haut situe l'activité parmi les 14 activités du FPPN.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19.xml"/><Relationship Id="rId18" Type="http://schemas.openxmlformats.org/officeDocument/2006/relationships/slide" Target="slide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19.xml"/><Relationship Id="rId1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8.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0.xml"/><Relationship Id="rId18"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19.xml"/><Relationship Id="rId18"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26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Les constats par activité</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470600"/>
            <a:ext cx="0" cy="14796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470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745999" y="12546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32399" y="1341000"/>
            <a:ext cx="259200" cy="259200"/>
          </a:xfrm>
          <a:prstGeom prst="rect">
            <a:avLst/>
          </a:prstGeom>
        </p:spPr>
      </p:pic>
      <p:sp>
        <p:nvSpPr>
          <p:cNvPr id="32" name="Rectangle 31"/>
          <p:cNvSpPr/>
          <p:nvPr/>
        </p:nvSpPr>
        <p:spPr>
          <a:xfrm>
            <a:off x="2444400" y="12888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Vue d'ensemble</a:t>
            </a:r>
          </a:p>
        </p:txBody>
      </p:sp>
      <p:sp>
        <p:nvSpPr>
          <p:cNvPr id="33" name="Rectangle 32"/>
          <p:cNvSpPr/>
          <p:nvPr/>
        </p:nvSpPr>
        <p:spPr>
          <a:xfrm>
            <a:off x="10756800" y="12888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3</a:t>
            </a:r>
          </a:p>
        </p:txBody>
      </p:sp>
      <p:cxnSp>
        <p:nvCxnSpPr>
          <p:cNvPr id="34" name="Connector 33"/>
          <p:cNvCxnSpPr/>
          <p:nvPr/>
        </p:nvCxnSpPr>
        <p:spPr>
          <a:xfrm>
            <a:off x="932400" y="19638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745999" y="17478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32399" y="1834200"/>
            <a:ext cx="259200" cy="259200"/>
          </a:xfrm>
          <a:prstGeom prst="rect">
            <a:avLst/>
          </a:prstGeom>
        </p:spPr>
      </p:pic>
      <p:sp>
        <p:nvSpPr>
          <p:cNvPr id="37" name="Rectangle 36"/>
          <p:cNvSpPr/>
          <p:nvPr/>
        </p:nvSpPr>
        <p:spPr>
          <a:xfrm>
            <a:off x="2444400" y="17820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Produits</a:t>
            </a:r>
          </a:p>
        </p:txBody>
      </p:sp>
      <p:sp>
        <p:nvSpPr>
          <p:cNvPr id="38" name="Rectangle 37"/>
          <p:cNvSpPr/>
          <p:nvPr/>
        </p:nvSpPr>
        <p:spPr>
          <a:xfrm>
            <a:off x="10756800" y="17820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7</a:t>
            </a:r>
          </a:p>
        </p:txBody>
      </p:sp>
      <p:cxnSp>
        <p:nvCxnSpPr>
          <p:cNvPr id="39" name="Connector 38"/>
          <p:cNvCxnSpPr/>
          <p:nvPr/>
        </p:nvCxnSpPr>
        <p:spPr>
          <a:xfrm>
            <a:off x="932400" y="24570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745999" y="22410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32399" y="2327400"/>
            <a:ext cx="259200" cy="259200"/>
          </a:xfrm>
          <a:prstGeom prst="rect">
            <a:avLst/>
          </a:prstGeom>
        </p:spPr>
      </p:pic>
      <p:sp>
        <p:nvSpPr>
          <p:cNvPr id="42" name="Rectangle 41"/>
          <p:cNvSpPr/>
          <p:nvPr/>
        </p:nvSpPr>
        <p:spPr>
          <a:xfrm>
            <a:off x="2444400" y="22752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Fonctions transverses</a:t>
            </a:r>
          </a:p>
        </p:txBody>
      </p:sp>
      <p:sp>
        <p:nvSpPr>
          <p:cNvPr id="43" name="Rectangle 42"/>
          <p:cNvSpPr/>
          <p:nvPr/>
        </p:nvSpPr>
        <p:spPr>
          <a:xfrm>
            <a:off x="10756800" y="22752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15</a:t>
            </a:r>
          </a:p>
        </p:txBody>
      </p:sp>
      <p:cxnSp>
        <p:nvCxnSpPr>
          <p:cNvPr id="44" name="Connector 43"/>
          <p:cNvCxnSpPr/>
          <p:nvPr/>
        </p:nvCxnSpPr>
        <p:spPr>
          <a:xfrm>
            <a:off x="932400" y="2950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745999" y="27342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32399" y="2820600"/>
            <a:ext cx="259200" cy="259200"/>
          </a:xfrm>
          <a:prstGeom prst="rect">
            <a:avLst/>
          </a:prstGeom>
        </p:spPr>
      </p:pic>
      <p:sp>
        <p:nvSpPr>
          <p:cNvPr id="47" name="Rectangle 46"/>
          <p:cNvSpPr/>
          <p:nvPr/>
        </p:nvSpPr>
        <p:spPr>
          <a:xfrm>
            <a:off x="2444400" y="27684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Annexes</a:t>
            </a:r>
          </a:p>
        </p:txBody>
      </p:sp>
      <p:sp>
        <p:nvSpPr>
          <p:cNvPr id="48" name="Rectangle 47"/>
          <p:cNvSpPr/>
          <p:nvPr/>
        </p:nvSpPr>
        <p:spPr>
          <a:xfrm>
            <a:off x="10756800" y="27684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21</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Vue d'ensemble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Les activités du FPPN, les types de constats et leur gravité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activités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L'argent des policiers entre par la solde et la pension, et sort en prestations, en épargne et en services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64 constats sur 14 activités. Les plus graves touchent l'épargne, la liquidité et les règles de solidité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Résumé exécutif du 26/10/2026</a:t>
            </a:r>
          </a:p>
        </p:txBody>
      </p:sp>
      <p:sp>
        <p:nvSpPr>
          <p:cNvPr id="31" name="Rectangle 30"/>
          <p:cNvSpPr/>
          <p:nvPr/>
        </p:nvSpPr>
        <p:spPr>
          <a:xfrm>
            <a:off x="503999" y="1584000"/>
            <a:ext cx="2015999" cy="54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Policiers en activité</a:t>
            </a:r>
          </a:p>
          <a:p>
            <a:pPr algn="ctr"/>
            <a:r>
              <a:rPr sz="800" b="0">
                <a:solidFill>
                  <a:srgbClr val="FFFFFF"/>
                </a:solidFill>
                <a:latin typeface="Helvetica"/>
              </a:rPr>
              <a:t>cotisations et épargne prélevées sur la solde (Solde)</a:t>
            </a:r>
          </a:p>
        </p:txBody>
      </p:sp>
      <p:sp>
        <p:nvSpPr>
          <p:cNvPr id="32" name="Rectangle 31"/>
          <p:cNvSpPr/>
          <p:nvPr/>
        </p:nvSpPr>
        <p:spPr>
          <a:xfrm>
            <a:off x="503999" y="2736000"/>
            <a:ext cx="2015999" cy="54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Policiers retraités</a:t>
            </a:r>
          </a:p>
          <a:p>
            <a:pPr algn="ctr"/>
            <a:r>
              <a:rPr sz="800" b="0">
                <a:solidFill>
                  <a:srgbClr val="FFFFFF"/>
                </a:solidFill>
                <a:latin typeface="Helvetica"/>
              </a:rPr>
              <a:t>cotisation santé prélevée sur la pension (CGRAE)</a:t>
            </a:r>
          </a:p>
        </p:txBody>
      </p:sp>
      <p:sp>
        <p:nvSpPr>
          <p:cNvPr id="33" name="Rectangle 32"/>
          <p:cNvSpPr/>
          <p:nvPr/>
        </p:nvSpPr>
        <p:spPr>
          <a:xfrm>
            <a:off x="3708000" y="1908000"/>
            <a:ext cx="1655999" cy="1044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FPPN</a:t>
            </a:r>
          </a:p>
          <a:p>
            <a:pPr algn="ctr"/>
            <a:r>
              <a:rPr sz="800" b="0">
                <a:solidFill>
                  <a:srgbClr val="FFFFFF"/>
                </a:solidFill>
                <a:latin typeface="Helvetica"/>
              </a:rPr>
              <a:t>cotisations : 3 418 141 722 FCFA en 2025
épargne due : 15 743 516 391 FCFA</a:t>
            </a:r>
          </a:p>
        </p:txBody>
      </p:sp>
      <p:cxnSp>
        <p:nvCxnSpPr>
          <p:cNvPr id="34" name="Connector 33"/>
          <p:cNvCxnSpPr/>
          <p:nvPr/>
        </p:nvCxnSpPr>
        <p:spPr>
          <a:xfrm>
            <a:off x="2520000" y="1854000"/>
            <a:ext cx="1188000" cy="378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520000" y="2097000"/>
            <a:ext cx="1260000" cy="144000"/>
          </a:xfrm>
          <a:prstGeom prst="rect">
            <a:avLst/>
          </a:prstGeom>
          <a:noFill/>
        </p:spPr>
        <p:txBody>
          <a:bodyPr wrap="none">
            <a:spAutoFit/>
          </a:bodyPr>
          <a:lstStyle/>
          <a:p>
            <a:pPr algn="ctr"/>
            <a:r>
              <a:rPr sz="750" b="0">
                <a:solidFill>
                  <a:srgbClr val="53565A"/>
                </a:solidFill>
                <a:latin typeface="Helvetica"/>
              </a:rPr>
              <a:t>5 % du salaire, EFC, PEP</a:t>
            </a:r>
          </a:p>
        </p:txBody>
      </p:sp>
      <p:cxnSp>
        <p:nvCxnSpPr>
          <p:cNvPr id="36" name="Connector 35"/>
          <p:cNvCxnSpPr/>
          <p:nvPr/>
        </p:nvCxnSpPr>
        <p:spPr>
          <a:xfrm flipV="1">
            <a:off x="2520000" y="2664000"/>
            <a:ext cx="1188000" cy="342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20000" y="2853000"/>
            <a:ext cx="1260000" cy="144000"/>
          </a:xfrm>
          <a:prstGeom prst="rect">
            <a:avLst/>
          </a:prstGeom>
          <a:noFill/>
        </p:spPr>
        <p:txBody>
          <a:bodyPr wrap="none">
            <a:spAutoFit/>
          </a:bodyPr>
          <a:lstStyle/>
          <a:p>
            <a:pPr algn="ctr"/>
            <a:r>
              <a:rPr sz="750" b="0">
                <a:solidFill>
                  <a:srgbClr val="53565A"/>
                </a:solidFill>
                <a:latin typeface="Helvetica"/>
              </a:rPr>
              <a:t>barème CGRAE</a:t>
            </a:r>
          </a:p>
        </p:txBody>
      </p:sp>
      <p:sp>
        <p:nvSpPr>
          <p:cNvPr id="38" name="Rectangle 37"/>
          <p:cNvSpPr/>
          <p:nvPr/>
        </p:nvSpPr>
        <p:spPr>
          <a:xfrm>
            <a:off x="6696000" y="1422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Garanties</a:t>
            </a:r>
          </a:p>
        </p:txBody>
      </p:sp>
      <p:sp>
        <p:nvSpPr>
          <p:cNvPr id="39" name="Nav Maladie">
            <a:hlinkClick action="ppaction://hlinksldjump" r:id="rId7"/>
          </p:cNvPr>
          <p:cNvSpPr/>
          <p:nvPr/>
        </p:nvSpPr>
        <p:spPr>
          <a:xfrm>
            <a:off x="6696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Maladie</a:t>
            </a:r>
            <a:r>
              <a:rPr sz="850" b="0">
                <a:solidFill>
                  <a:srgbClr val="53565A"/>
                </a:solidFill>
                <a:latin typeface="Helvetica"/>
              </a:rPr>
              <a:t>  (6)</a:t>
            </a:r>
          </a:p>
        </p:txBody>
      </p:sp>
      <p:sp>
        <p:nvSpPr>
          <p:cNvPr id="40" name="Nav Décès">
            <a:hlinkClick action="ppaction://hlinksldjump" r:id="rId8"/>
          </p:cNvPr>
          <p:cNvSpPr/>
          <p:nvPr/>
        </p:nvSpPr>
        <p:spPr>
          <a:xfrm>
            <a:off x="8400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Décès</a:t>
            </a:r>
            <a:r>
              <a:rPr sz="850" b="0">
                <a:solidFill>
                  <a:srgbClr val="53565A"/>
                </a:solidFill>
                <a:latin typeface="Helvetica"/>
              </a:rPr>
              <a:t>  (7)</a:t>
            </a:r>
          </a:p>
        </p:txBody>
      </p:sp>
      <p:sp>
        <p:nvSpPr>
          <p:cNvPr id="41" name="Nav Retraités (CGRAE)">
            <a:hlinkClick action="ppaction://hlinksldjump" r:id="rId9"/>
          </p:cNvPr>
          <p:cNvSpPr/>
          <p:nvPr/>
        </p:nvSpPr>
        <p:spPr>
          <a:xfrm>
            <a:off x="10104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Retraités (CGRAE)</a:t>
            </a:r>
            <a:r>
              <a:rPr sz="850" b="0">
                <a:solidFill>
                  <a:srgbClr val="53565A"/>
                </a:solidFill>
                <a:latin typeface="Helvetica"/>
              </a:rPr>
              <a:t>  (5)</a:t>
            </a:r>
          </a:p>
        </p:txBody>
      </p:sp>
      <p:sp>
        <p:nvSpPr>
          <p:cNvPr id="42" name="Rectangle 41"/>
          <p:cNvSpPr/>
          <p:nvPr/>
        </p:nvSpPr>
        <p:spPr>
          <a:xfrm>
            <a:off x="6696000" y="1980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Épargne</a:t>
            </a:r>
          </a:p>
        </p:txBody>
      </p:sp>
      <p:sp>
        <p:nvSpPr>
          <p:cNvPr id="43" name="Nav EFC">
            <a:hlinkClick action="ppaction://hlinksldjump" r:id="rId10"/>
          </p:cNvPr>
          <p:cNvSpPr/>
          <p:nvPr/>
        </p:nvSpPr>
        <p:spPr>
          <a:xfrm>
            <a:off x="6696000" y="2178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EFC</a:t>
            </a:r>
            <a:r>
              <a:rPr sz="850" b="0">
                <a:solidFill>
                  <a:srgbClr val="53565A"/>
                </a:solidFill>
                <a:latin typeface="Helvetica"/>
              </a:rPr>
              <a:t>  (6)</a:t>
            </a:r>
          </a:p>
        </p:txBody>
      </p:sp>
      <p:sp>
        <p:nvSpPr>
          <p:cNvPr id="44" name="Nav PEP">
            <a:hlinkClick action="ppaction://hlinksldjump" r:id="rId11"/>
          </p:cNvPr>
          <p:cNvSpPr/>
          <p:nvPr/>
        </p:nvSpPr>
        <p:spPr>
          <a:xfrm>
            <a:off x="9252000" y="2178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PEP</a:t>
            </a:r>
            <a:r>
              <a:rPr sz="850" b="0">
                <a:solidFill>
                  <a:srgbClr val="53565A"/>
                </a:solidFill>
                <a:latin typeface="Helvetica"/>
              </a:rPr>
              <a:t>  (4)</a:t>
            </a:r>
          </a:p>
        </p:txBody>
      </p:sp>
      <p:sp>
        <p:nvSpPr>
          <p:cNvPr id="45" name="Rectangle 44"/>
          <p:cNvSpPr/>
          <p:nvPr/>
        </p:nvSpPr>
        <p:spPr>
          <a:xfrm>
            <a:off x="6696000" y="2538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Services aux policiers</a:t>
            </a:r>
          </a:p>
        </p:txBody>
      </p:sp>
      <p:sp>
        <p:nvSpPr>
          <p:cNvPr id="46" name="Nav Grenier">
            <a:hlinkClick action="ppaction://hlinksldjump" r:id="rId12"/>
          </p:cNvPr>
          <p:cNvSpPr/>
          <p:nvPr/>
        </p:nvSpPr>
        <p:spPr>
          <a:xfrm>
            <a:off x="6696000" y="2736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Grenier</a:t>
            </a:r>
            <a:r>
              <a:rPr sz="850" b="0">
                <a:solidFill>
                  <a:srgbClr val="53565A"/>
                </a:solidFill>
                <a:latin typeface="Helvetica"/>
              </a:rPr>
              <a:t>  (4)</a:t>
            </a:r>
          </a:p>
        </p:txBody>
      </p:sp>
      <p:sp>
        <p:nvSpPr>
          <p:cNvPr id="47" name="Nav Flotte automobile">
            <a:hlinkClick action="ppaction://hlinksldjump" r:id="rId13"/>
          </p:cNvPr>
          <p:cNvSpPr/>
          <p:nvPr/>
        </p:nvSpPr>
        <p:spPr>
          <a:xfrm>
            <a:off x="9252000" y="2736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FFC000"/>
                </a:solidFill>
                <a:latin typeface="Helvetica"/>
              </a:rPr>
              <a:t>● </a:t>
            </a:r>
            <a:r>
              <a:rPr sz="950" b="1">
                <a:solidFill>
                  <a:srgbClr val="060606"/>
                </a:solidFill>
                <a:latin typeface="Helvetica"/>
              </a:rPr>
              <a:t>Flotte automobile</a:t>
            </a:r>
            <a:r>
              <a:rPr sz="850" b="0">
                <a:solidFill>
                  <a:srgbClr val="53565A"/>
                </a:solidFill>
                <a:latin typeface="Helvetica"/>
              </a:rPr>
              <a:t>  (3)</a:t>
            </a:r>
          </a:p>
        </p:txBody>
      </p:sp>
      <p:sp>
        <p:nvSpPr>
          <p:cNvPr id="48" name="Nav MEDOC">
            <a:hlinkClick action="ppaction://hlinksldjump" r:id="rId11"/>
          </p:cNvPr>
          <p:cNvSpPr/>
          <p:nvPr/>
        </p:nvSpPr>
        <p:spPr>
          <a:xfrm>
            <a:off x="6696000" y="3024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MEDOC</a:t>
            </a:r>
            <a:r>
              <a:rPr sz="850" b="0">
                <a:solidFill>
                  <a:srgbClr val="53565A"/>
                </a:solidFill>
                <a:latin typeface="Helvetica"/>
              </a:rPr>
              <a:t>  (2)</a:t>
            </a:r>
          </a:p>
        </p:txBody>
      </p:sp>
      <p:sp>
        <p:nvSpPr>
          <p:cNvPr id="49" name="Nav Clinique (CMP)">
            <a:hlinkClick action="ppaction://hlinksldjump" r:id="rId13"/>
          </p:cNvPr>
          <p:cNvSpPr/>
          <p:nvPr/>
        </p:nvSpPr>
        <p:spPr>
          <a:xfrm>
            <a:off x="9252000" y="3024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Clinique (CMP)</a:t>
            </a:r>
            <a:r>
              <a:rPr sz="850" b="0">
                <a:solidFill>
                  <a:srgbClr val="53565A"/>
                </a:solidFill>
                <a:latin typeface="Helvetica"/>
              </a:rPr>
              <a:t>  (2)</a:t>
            </a:r>
          </a:p>
        </p:txBody>
      </p:sp>
      <p:cxnSp>
        <p:nvCxnSpPr>
          <p:cNvPr id="50" name="Connector 49"/>
          <p:cNvCxnSpPr/>
          <p:nvPr/>
        </p:nvCxnSpPr>
        <p:spPr>
          <a:xfrm flipV="1">
            <a:off x="5364000" y="1745999"/>
            <a:ext cx="1332000" cy="270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364000" y="1683000"/>
            <a:ext cx="1404000" cy="144000"/>
          </a:xfrm>
          <a:prstGeom prst="rect">
            <a:avLst/>
          </a:prstGeom>
          <a:noFill/>
        </p:spPr>
        <p:txBody>
          <a:bodyPr wrap="none">
            <a:spAutoFit/>
          </a:bodyPr>
          <a:lstStyle/>
          <a:p>
            <a:pPr algn="ctr"/>
            <a:r>
              <a:rPr sz="750" b="0">
                <a:solidFill>
                  <a:srgbClr val="53565A"/>
                </a:solidFill>
                <a:latin typeface="Helvetica"/>
              </a:rPr>
              <a:t>soins, allocations</a:t>
            </a:r>
          </a:p>
        </p:txBody>
      </p:sp>
      <p:cxnSp>
        <p:nvCxnSpPr>
          <p:cNvPr id="52" name="Connector 51"/>
          <p:cNvCxnSpPr/>
          <p:nvPr/>
        </p:nvCxnSpPr>
        <p:spPr>
          <a:xfrm flipV="1">
            <a:off x="5364000" y="2304000"/>
            <a:ext cx="1332000" cy="126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364000" y="2187000"/>
            <a:ext cx="1404000" cy="144000"/>
          </a:xfrm>
          <a:prstGeom prst="rect">
            <a:avLst/>
          </a:prstGeom>
          <a:noFill/>
        </p:spPr>
        <p:txBody>
          <a:bodyPr wrap="none">
            <a:spAutoFit/>
          </a:bodyPr>
          <a:lstStyle/>
          <a:p>
            <a:pPr algn="ctr"/>
            <a:r>
              <a:rPr sz="750" b="0">
                <a:solidFill>
                  <a:srgbClr val="53565A"/>
                </a:solidFill>
                <a:latin typeface="Helvetica"/>
              </a:rPr>
              <a:t>remboursement de l'épargne</a:t>
            </a:r>
          </a:p>
        </p:txBody>
      </p:sp>
      <p:cxnSp>
        <p:nvCxnSpPr>
          <p:cNvPr id="54" name="Connector 53"/>
          <p:cNvCxnSpPr/>
          <p:nvPr/>
        </p:nvCxnSpPr>
        <p:spPr>
          <a:xfrm>
            <a:off x="5364000" y="2844000"/>
            <a:ext cx="1332000" cy="162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64000" y="2961000"/>
            <a:ext cx="1404000" cy="144000"/>
          </a:xfrm>
          <a:prstGeom prst="rect">
            <a:avLst/>
          </a:prstGeom>
          <a:noFill/>
        </p:spPr>
        <p:txBody>
          <a:bodyPr wrap="none">
            <a:spAutoFit/>
          </a:bodyPr>
          <a:lstStyle/>
          <a:p>
            <a:pPr algn="ctr"/>
            <a:r>
              <a:rPr sz="750" b="0">
                <a:solidFill>
                  <a:srgbClr val="53565A"/>
                </a:solidFill>
                <a:latin typeface="Helvetica"/>
              </a:rPr>
              <a:t>prêts, assurance, soins</a:t>
            </a:r>
          </a:p>
        </p:txBody>
      </p:sp>
      <p:sp>
        <p:nvSpPr>
          <p:cNvPr id="56" name="Rectangle 55"/>
          <p:cNvSpPr/>
          <p:nvPr/>
        </p:nvSpPr>
        <p:spPr>
          <a:xfrm>
            <a:off x="503999" y="3726000"/>
            <a:ext cx="11232000" cy="1980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Fonctions transverses</a:t>
            </a:r>
          </a:p>
        </p:txBody>
      </p:sp>
      <p:sp>
        <p:nvSpPr>
          <p:cNvPr id="57" name="Nav Cotisations et précomptes">
            <a:hlinkClick action="ppaction://hlinksldjump" r:id="rId14"/>
          </p:cNvPr>
          <p:cNvSpPr/>
          <p:nvPr/>
        </p:nvSpPr>
        <p:spPr>
          <a:xfrm>
            <a:off x="503999"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Cotisations et précomptes</a:t>
            </a:r>
            <a:r>
              <a:rPr sz="850" b="0">
                <a:solidFill>
                  <a:srgbClr val="53565A"/>
                </a:solidFill>
                <a:latin typeface="Helvetica"/>
              </a:rPr>
              <a:t>  (5)</a:t>
            </a:r>
          </a:p>
        </p:txBody>
      </p:sp>
      <p:sp>
        <p:nvSpPr>
          <p:cNvPr id="58" name="Nav Comptabilité et provisions">
            <a:hlinkClick action="ppaction://hlinksldjump" r:id="rId15"/>
          </p:cNvPr>
          <p:cNvSpPr/>
          <p:nvPr/>
        </p:nvSpPr>
        <p:spPr>
          <a:xfrm>
            <a:off x="27792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Comptabilité et provisions</a:t>
            </a:r>
            <a:r>
              <a:rPr sz="850" b="0">
                <a:solidFill>
                  <a:srgbClr val="53565A"/>
                </a:solidFill>
                <a:latin typeface="Helvetica"/>
              </a:rPr>
              <a:t>  (6)</a:t>
            </a:r>
          </a:p>
        </p:txBody>
      </p:sp>
      <p:sp>
        <p:nvSpPr>
          <p:cNvPr id="59" name="Nav Trésorerie et placements">
            <a:hlinkClick action="ppaction://hlinksldjump" r:id="rId16"/>
          </p:cNvPr>
          <p:cNvSpPr/>
          <p:nvPr/>
        </p:nvSpPr>
        <p:spPr>
          <a:xfrm>
            <a:off x="50544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Trésorerie et placements</a:t>
            </a:r>
            <a:r>
              <a:rPr sz="850" b="0">
                <a:solidFill>
                  <a:srgbClr val="53565A"/>
                </a:solidFill>
                <a:latin typeface="Helvetica"/>
              </a:rPr>
              <a:t>  (6)</a:t>
            </a:r>
          </a:p>
        </p:txBody>
      </p:sp>
      <p:sp>
        <p:nvSpPr>
          <p:cNvPr id="60" name="Nav Gouvernance">
            <a:hlinkClick action="ppaction://hlinksldjump" r:id="rId17"/>
          </p:cNvPr>
          <p:cNvSpPr/>
          <p:nvPr/>
        </p:nvSpPr>
        <p:spPr>
          <a:xfrm>
            <a:off x="73296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Gouvernance</a:t>
            </a:r>
            <a:r>
              <a:rPr sz="850" b="0">
                <a:solidFill>
                  <a:srgbClr val="53565A"/>
                </a:solidFill>
                <a:latin typeface="Helvetica"/>
              </a:rPr>
              <a:t>  (4)</a:t>
            </a:r>
          </a:p>
        </p:txBody>
      </p:sp>
      <p:sp>
        <p:nvSpPr>
          <p:cNvPr id="61" name="Nav Données et informatique">
            <a:hlinkClick action="ppaction://hlinksldjump" r:id="rId18"/>
          </p:cNvPr>
          <p:cNvSpPr/>
          <p:nvPr/>
        </p:nvSpPr>
        <p:spPr>
          <a:xfrm>
            <a:off x="96048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Données et informatique</a:t>
            </a:r>
            <a:r>
              <a:rPr sz="850" b="0">
                <a:solidFill>
                  <a:srgbClr val="53565A"/>
                </a:solidFill>
                <a:latin typeface="Helvetica"/>
              </a:rPr>
              <a:t>  (4)</a:t>
            </a:r>
          </a:p>
        </p:txBody>
      </p:sp>
      <p:sp>
        <p:nvSpPr>
          <p:cNvPr id="62" name="TextBox 61"/>
          <p:cNvSpPr txBox="1"/>
          <p:nvPr/>
        </p:nvSpPr>
        <p:spPr>
          <a:xfrm>
            <a:off x="503999" y="4374000"/>
            <a:ext cx="11232000" cy="1224000"/>
          </a:xfrm>
          <a:prstGeom prst="rect">
            <a:avLst/>
          </a:prstGeom>
          <a:noFill/>
        </p:spPr>
        <p:txBody>
          <a:bodyPr wrap="square">
            <a:spAutoFit/>
          </a:bodyPr>
          <a:lstStyle/>
          <a:p>
            <a:pPr>
              <a:spcAft>
                <a:spcPts val="400"/>
              </a:spcAft>
            </a:pPr>
            <a:r>
              <a:rPr sz="1100" b="1">
                <a:solidFill>
                  <a:srgbClr val="060606"/>
                </a:solidFill>
                <a:latin typeface="Helvetica"/>
              </a:rPr>
              <a:t>Comment lire. </a:t>
            </a:r>
            <a:r>
              <a:rPr sz="1100" b="0">
                <a:solidFill>
                  <a:srgbClr val="060606"/>
                </a:solidFill>
                <a:latin typeface="Helvetica"/>
              </a:rPr>
              <a:t>Chaque activité porte une boule de la couleur de son constat le plus grave et, entre parenthèses, son nombre de constats. Les flèches suivent l'argent : il entre par les prélèvements sur la solde et sur la pension, il sort en prestations, en remboursements d'épargne et en services.</a:t>
            </a:r>
          </a:p>
          <a:p>
            <a:pPr>
              <a:spcAft>
                <a:spcPts val="400"/>
              </a:spcAft>
            </a:pPr>
            <a:r>
              <a:rPr sz="1100" b="1">
                <a:solidFill>
                  <a:srgbClr val="060606"/>
                </a:solidFill>
                <a:latin typeface="Helvetica"/>
              </a:rPr>
              <a:t>Ce que montre la carte. </a:t>
            </a:r>
            <a:r>
              <a:rPr sz="1100" b="0">
                <a:solidFill>
                  <a:srgbClr val="060606"/>
                </a:solidFill>
                <a:latin typeface="Helvetica"/>
              </a:rPr>
              <a:t>Les activités les plus exposées touchent à l'épargne (EFC, PEP, trésorerie et placements) et aux règles de solidité (gouvernance, comptabilité et provisions). Les services aux policiers posent surtout la question de l'épargne qu'ils immobilisent (Grenier, clinique) et de leurs documents.</a:t>
            </a:r>
          </a:p>
        </p:txBody>
      </p:sp>
      <p:sp>
        <p:nvSpPr>
          <p:cNvPr id="63" name="TextBox 6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19846823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Activités et types de constats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manques de données touchent 9 activités sur 14, les constats critiques portent sur l'épargne et la solidité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Matrice des 14 activités et des cinq types de constats : données, comptabilité, actuariel, conformité, gouvernance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Analyses Adenka</a:t>
            </a:r>
          </a:p>
        </p:txBody>
      </p:sp>
      <p:sp>
        <p:nvSpPr>
          <p:cNvPr id="31" name="Rectangle 30"/>
          <p:cNvSpPr/>
          <p:nvPr/>
        </p:nvSpPr>
        <p:spPr>
          <a:xfrm>
            <a:off x="503999" y="1422000"/>
            <a:ext cx="23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Activité</a:t>
            </a:r>
          </a:p>
        </p:txBody>
      </p:sp>
      <p:sp>
        <p:nvSpPr>
          <p:cNvPr id="32" name="Rectangle 31"/>
          <p:cNvSpPr/>
          <p:nvPr/>
        </p:nvSpPr>
        <p:spPr>
          <a:xfrm>
            <a:off x="2808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Données</a:t>
            </a:r>
          </a:p>
        </p:txBody>
      </p:sp>
      <p:sp>
        <p:nvSpPr>
          <p:cNvPr id="33" name="Rectangle 32"/>
          <p:cNvSpPr/>
          <p:nvPr/>
        </p:nvSpPr>
        <p:spPr>
          <a:xfrm>
            <a:off x="4212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Comptabilité</a:t>
            </a:r>
          </a:p>
        </p:txBody>
      </p:sp>
      <p:sp>
        <p:nvSpPr>
          <p:cNvPr id="34" name="Rectangle 33"/>
          <p:cNvSpPr/>
          <p:nvPr/>
        </p:nvSpPr>
        <p:spPr>
          <a:xfrm>
            <a:off x="5616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Actuariel</a:t>
            </a:r>
          </a:p>
        </p:txBody>
      </p:sp>
      <p:sp>
        <p:nvSpPr>
          <p:cNvPr id="35" name="Rectangle 34"/>
          <p:cNvSpPr/>
          <p:nvPr/>
        </p:nvSpPr>
        <p:spPr>
          <a:xfrm>
            <a:off x="7020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Conformité</a:t>
            </a:r>
          </a:p>
        </p:txBody>
      </p:sp>
      <p:sp>
        <p:nvSpPr>
          <p:cNvPr id="36" name="Rectangle 35"/>
          <p:cNvSpPr/>
          <p:nvPr/>
        </p:nvSpPr>
        <p:spPr>
          <a:xfrm>
            <a:off x="8424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Gouvernance</a:t>
            </a:r>
          </a:p>
        </p:txBody>
      </p:sp>
      <p:sp>
        <p:nvSpPr>
          <p:cNvPr id="37" name="Rectangle 36"/>
          <p:cNvSpPr/>
          <p:nvPr/>
        </p:nvSpPr>
        <p:spPr>
          <a:xfrm>
            <a:off x="9827999" y="1422000"/>
            <a:ext cx="190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Total</a:t>
            </a:r>
          </a:p>
        </p:txBody>
      </p:sp>
      <p:sp>
        <p:nvSpPr>
          <p:cNvPr id="38" name="Nav Maladie">
            <a:hlinkClick action="ppaction://hlinksldjump" r:id="rId7"/>
          </p:cNvPr>
          <p:cNvSpPr/>
          <p:nvPr/>
        </p:nvSpPr>
        <p:spPr>
          <a:xfrm>
            <a:off x="503999" y="1645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Maladie</a:t>
            </a:r>
          </a:p>
        </p:txBody>
      </p:sp>
      <p:sp>
        <p:nvSpPr>
          <p:cNvPr id="39" name="Rectangle 38"/>
          <p:cNvSpPr/>
          <p:nvPr/>
        </p:nvSpPr>
        <p:spPr>
          <a:xfrm>
            <a:off x="2808000" y="1645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40" name="Rectangle 39"/>
          <p:cNvSpPr/>
          <p:nvPr/>
        </p:nvSpPr>
        <p:spPr>
          <a:xfrm>
            <a:off x="4212000" y="1645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41" name="Rectangle 40"/>
          <p:cNvSpPr/>
          <p:nvPr/>
        </p:nvSpPr>
        <p:spPr>
          <a:xfrm>
            <a:off x="5616000" y="1645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42" name="Rectangle 41"/>
          <p:cNvSpPr/>
          <p:nvPr/>
        </p:nvSpPr>
        <p:spPr>
          <a:xfrm>
            <a:off x="7020000" y="1645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43" name="Rectangle 42"/>
          <p:cNvSpPr/>
          <p:nvPr/>
        </p:nvSpPr>
        <p:spPr>
          <a:xfrm>
            <a:off x="8424000" y="1645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44" name="Rectangle 43"/>
          <p:cNvSpPr/>
          <p:nvPr/>
        </p:nvSpPr>
        <p:spPr>
          <a:xfrm>
            <a:off x="9827999" y="1645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45" name="Nav Décès">
            <a:hlinkClick action="ppaction://hlinksldjump" r:id="rId8"/>
          </p:cNvPr>
          <p:cNvSpPr/>
          <p:nvPr/>
        </p:nvSpPr>
        <p:spPr>
          <a:xfrm>
            <a:off x="503999" y="1911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Décès</a:t>
            </a:r>
          </a:p>
        </p:txBody>
      </p:sp>
      <p:sp>
        <p:nvSpPr>
          <p:cNvPr id="46" name="Rectangle 45"/>
          <p:cNvSpPr/>
          <p:nvPr/>
        </p:nvSpPr>
        <p:spPr>
          <a:xfrm>
            <a:off x="2808000" y="19116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47" name="Rectangle 46"/>
          <p:cNvSpPr/>
          <p:nvPr/>
        </p:nvSpPr>
        <p:spPr>
          <a:xfrm>
            <a:off x="4212000" y="1911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5</a:t>
            </a:r>
          </a:p>
        </p:txBody>
      </p:sp>
      <p:sp>
        <p:nvSpPr>
          <p:cNvPr id="48" name="Rectangle 47"/>
          <p:cNvSpPr/>
          <p:nvPr/>
        </p:nvSpPr>
        <p:spPr>
          <a:xfrm>
            <a:off x="5616000" y="1911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49" name="Rectangle 48"/>
          <p:cNvSpPr/>
          <p:nvPr/>
        </p:nvSpPr>
        <p:spPr>
          <a:xfrm>
            <a:off x="7020000" y="1911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50" name="Rectangle 49"/>
          <p:cNvSpPr/>
          <p:nvPr/>
        </p:nvSpPr>
        <p:spPr>
          <a:xfrm>
            <a:off x="8424000" y="1911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1" name="Rectangle 50"/>
          <p:cNvSpPr/>
          <p:nvPr/>
        </p:nvSpPr>
        <p:spPr>
          <a:xfrm>
            <a:off x="9827999" y="1911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7 constats</a:t>
            </a:r>
          </a:p>
        </p:txBody>
      </p:sp>
      <p:sp>
        <p:nvSpPr>
          <p:cNvPr id="52" name="Nav Retraités (CGRAE)">
            <a:hlinkClick action="ppaction://hlinksldjump" r:id="rId9"/>
          </p:cNvPr>
          <p:cNvSpPr/>
          <p:nvPr/>
        </p:nvSpPr>
        <p:spPr>
          <a:xfrm>
            <a:off x="503999" y="2178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Retraités (CGRAE)</a:t>
            </a:r>
          </a:p>
        </p:txBody>
      </p:sp>
      <p:sp>
        <p:nvSpPr>
          <p:cNvPr id="53" name="Rectangle 52"/>
          <p:cNvSpPr/>
          <p:nvPr/>
        </p:nvSpPr>
        <p:spPr>
          <a:xfrm>
            <a:off x="2808000" y="2178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54" name="Rectangle 53"/>
          <p:cNvSpPr/>
          <p:nvPr/>
        </p:nvSpPr>
        <p:spPr>
          <a:xfrm>
            <a:off x="4212000" y="2178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55" name="Rectangle 54"/>
          <p:cNvSpPr/>
          <p:nvPr/>
        </p:nvSpPr>
        <p:spPr>
          <a:xfrm>
            <a:off x="5616000" y="2178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56" name="Rectangle 55"/>
          <p:cNvSpPr/>
          <p:nvPr/>
        </p:nvSpPr>
        <p:spPr>
          <a:xfrm>
            <a:off x="7020000" y="2178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57" name="Rectangle 56"/>
          <p:cNvSpPr/>
          <p:nvPr/>
        </p:nvSpPr>
        <p:spPr>
          <a:xfrm>
            <a:off x="8424000" y="2178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8" name="Rectangle 57"/>
          <p:cNvSpPr/>
          <p:nvPr/>
        </p:nvSpPr>
        <p:spPr>
          <a:xfrm>
            <a:off x="9827999" y="2178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5 constats</a:t>
            </a:r>
          </a:p>
        </p:txBody>
      </p:sp>
      <p:sp>
        <p:nvSpPr>
          <p:cNvPr id="59" name="Nav EFC">
            <a:hlinkClick action="ppaction://hlinksldjump" r:id="rId10"/>
          </p:cNvPr>
          <p:cNvSpPr/>
          <p:nvPr/>
        </p:nvSpPr>
        <p:spPr>
          <a:xfrm>
            <a:off x="503999" y="2444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EFC</a:t>
            </a:r>
          </a:p>
        </p:txBody>
      </p:sp>
      <p:sp>
        <p:nvSpPr>
          <p:cNvPr id="60" name="Rectangle 59"/>
          <p:cNvSpPr/>
          <p:nvPr/>
        </p:nvSpPr>
        <p:spPr>
          <a:xfrm>
            <a:off x="2808000" y="2444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61" name="Rectangle 60"/>
          <p:cNvSpPr/>
          <p:nvPr/>
        </p:nvSpPr>
        <p:spPr>
          <a:xfrm>
            <a:off x="4212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2" name="Rectangle 61"/>
          <p:cNvSpPr/>
          <p:nvPr/>
        </p:nvSpPr>
        <p:spPr>
          <a:xfrm>
            <a:off x="5616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3</a:t>
            </a:r>
          </a:p>
        </p:txBody>
      </p:sp>
      <p:sp>
        <p:nvSpPr>
          <p:cNvPr id="63" name="Rectangle 62"/>
          <p:cNvSpPr/>
          <p:nvPr/>
        </p:nvSpPr>
        <p:spPr>
          <a:xfrm>
            <a:off x="7020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4" name="Rectangle 63"/>
          <p:cNvSpPr/>
          <p:nvPr/>
        </p:nvSpPr>
        <p:spPr>
          <a:xfrm>
            <a:off x="8424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5" name="Rectangle 64"/>
          <p:cNvSpPr/>
          <p:nvPr/>
        </p:nvSpPr>
        <p:spPr>
          <a:xfrm>
            <a:off x="9827999" y="2444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66" name="Nav PEP">
            <a:hlinkClick action="ppaction://hlinksldjump" r:id="rId11"/>
          </p:cNvPr>
          <p:cNvSpPr/>
          <p:nvPr/>
        </p:nvSpPr>
        <p:spPr>
          <a:xfrm>
            <a:off x="503999" y="27108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PEP</a:t>
            </a:r>
          </a:p>
        </p:txBody>
      </p:sp>
      <p:sp>
        <p:nvSpPr>
          <p:cNvPr id="67" name="Rectangle 66"/>
          <p:cNvSpPr/>
          <p:nvPr/>
        </p:nvSpPr>
        <p:spPr>
          <a:xfrm>
            <a:off x="2808000" y="27108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68" name="Rectangle 67"/>
          <p:cNvSpPr/>
          <p:nvPr/>
        </p:nvSpPr>
        <p:spPr>
          <a:xfrm>
            <a:off x="4212000" y="27108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69" name="Rectangle 68"/>
          <p:cNvSpPr/>
          <p:nvPr/>
        </p:nvSpPr>
        <p:spPr>
          <a:xfrm>
            <a:off x="5616000" y="27108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70" name="Rectangle 69"/>
          <p:cNvSpPr/>
          <p:nvPr/>
        </p:nvSpPr>
        <p:spPr>
          <a:xfrm>
            <a:off x="7020000" y="2710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1" name="Rectangle 70"/>
          <p:cNvSpPr/>
          <p:nvPr/>
        </p:nvSpPr>
        <p:spPr>
          <a:xfrm>
            <a:off x="8424000" y="2710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2" name="Rectangle 71"/>
          <p:cNvSpPr/>
          <p:nvPr/>
        </p:nvSpPr>
        <p:spPr>
          <a:xfrm>
            <a:off x="9827999" y="27108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73" name="Nav MEDOC">
            <a:hlinkClick action="ppaction://hlinksldjump" r:id="rId11"/>
          </p:cNvPr>
          <p:cNvSpPr/>
          <p:nvPr/>
        </p:nvSpPr>
        <p:spPr>
          <a:xfrm>
            <a:off x="503999" y="2977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MEDOC</a:t>
            </a:r>
          </a:p>
        </p:txBody>
      </p:sp>
      <p:sp>
        <p:nvSpPr>
          <p:cNvPr id="74" name="Rectangle 73"/>
          <p:cNvSpPr/>
          <p:nvPr/>
        </p:nvSpPr>
        <p:spPr>
          <a:xfrm>
            <a:off x="2808000" y="2977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75" name="Rectangle 74"/>
          <p:cNvSpPr/>
          <p:nvPr/>
        </p:nvSpPr>
        <p:spPr>
          <a:xfrm>
            <a:off x="4212000" y="2977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76" name="Rectangle 75"/>
          <p:cNvSpPr/>
          <p:nvPr/>
        </p:nvSpPr>
        <p:spPr>
          <a:xfrm>
            <a:off x="5616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7" name="Rectangle 76"/>
          <p:cNvSpPr/>
          <p:nvPr/>
        </p:nvSpPr>
        <p:spPr>
          <a:xfrm>
            <a:off x="7020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8" name="Rectangle 77"/>
          <p:cNvSpPr/>
          <p:nvPr/>
        </p:nvSpPr>
        <p:spPr>
          <a:xfrm>
            <a:off x="8424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9" name="Rectangle 78"/>
          <p:cNvSpPr/>
          <p:nvPr/>
        </p:nvSpPr>
        <p:spPr>
          <a:xfrm>
            <a:off x="9827999" y="2977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2 constats</a:t>
            </a:r>
          </a:p>
        </p:txBody>
      </p:sp>
      <p:sp>
        <p:nvSpPr>
          <p:cNvPr id="80" name="Nav Grenier">
            <a:hlinkClick action="ppaction://hlinksldjump" r:id="rId12"/>
          </p:cNvPr>
          <p:cNvSpPr/>
          <p:nvPr/>
        </p:nvSpPr>
        <p:spPr>
          <a:xfrm>
            <a:off x="503999" y="3243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Grenier</a:t>
            </a:r>
          </a:p>
        </p:txBody>
      </p:sp>
      <p:sp>
        <p:nvSpPr>
          <p:cNvPr id="81" name="Rectangle 80"/>
          <p:cNvSpPr/>
          <p:nvPr/>
        </p:nvSpPr>
        <p:spPr>
          <a:xfrm>
            <a:off x="2808000" y="3243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2" name="Rectangle 81"/>
          <p:cNvSpPr/>
          <p:nvPr/>
        </p:nvSpPr>
        <p:spPr>
          <a:xfrm>
            <a:off x="4212000" y="32436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83" name="Rectangle 82"/>
          <p:cNvSpPr/>
          <p:nvPr/>
        </p:nvSpPr>
        <p:spPr>
          <a:xfrm>
            <a:off x="5616000" y="3243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84" name="Rectangle 83"/>
          <p:cNvSpPr/>
          <p:nvPr/>
        </p:nvSpPr>
        <p:spPr>
          <a:xfrm>
            <a:off x="7020000" y="3243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5" name="Rectangle 84"/>
          <p:cNvSpPr/>
          <p:nvPr/>
        </p:nvSpPr>
        <p:spPr>
          <a:xfrm>
            <a:off x="8424000" y="3243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86" name="Rectangle 85"/>
          <p:cNvSpPr/>
          <p:nvPr/>
        </p:nvSpPr>
        <p:spPr>
          <a:xfrm>
            <a:off x="9827999" y="3243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87" name="Nav Flotte automobile">
            <a:hlinkClick action="ppaction://hlinksldjump" r:id="rId13"/>
          </p:cNvPr>
          <p:cNvSpPr/>
          <p:nvPr/>
        </p:nvSpPr>
        <p:spPr>
          <a:xfrm>
            <a:off x="503999" y="3510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Flotte automobile</a:t>
            </a:r>
          </a:p>
        </p:txBody>
      </p:sp>
      <p:sp>
        <p:nvSpPr>
          <p:cNvPr id="88" name="Rectangle 87"/>
          <p:cNvSpPr/>
          <p:nvPr/>
        </p:nvSpPr>
        <p:spPr>
          <a:xfrm>
            <a:off x="2808000" y="3510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89" name="Rectangle 88"/>
          <p:cNvSpPr/>
          <p:nvPr/>
        </p:nvSpPr>
        <p:spPr>
          <a:xfrm>
            <a:off x="4212000" y="3510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90" name="Rectangle 89"/>
          <p:cNvSpPr/>
          <p:nvPr/>
        </p:nvSpPr>
        <p:spPr>
          <a:xfrm>
            <a:off x="5616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1" name="Rectangle 90"/>
          <p:cNvSpPr/>
          <p:nvPr/>
        </p:nvSpPr>
        <p:spPr>
          <a:xfrm>
            <a:off x="7020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2" name="Rectangle 91"/>
          <p:cNvSpPr/>
          <p:nvPr/>
        </p:nvSpPr>
        <p:spPr>
          <a:xfrm>
            <a:off x="8424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3" name="Rectangle 92"/>
          <p:cNvSpPr/>
          <p:nvPr/>
        </p:nvSpPr>
        <p:spPr>
          <a:xfrm>
            <a:off x="9827999" y="3510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3 constats</a:t>
            </a:r>
          </a:p>
        </p:txBody>
      </p:sp>
      <p:sp>
        <p:nvSpPr>
          <p:cNvPr id="94" name="Nav Clinique (CMP)">
            <a:hlinkClick action="ppaction://hlinksldjump" r:id="rId13"/>
          </p:cNvPr>
          <p:cNvSpPr/>
          <p:nvPr/>
        </p:nvSpPr>
        <p:spPr>
          <a:xfrm>
            <a:off x="503999" y="3776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Clinique (CMP)</a:t>
            </a:r>
          </a:p>
        </p:txBody>
      </p:sp>
      <p:sp>
        <p:nvSpPr>
          <p:cNvPr id="95" name="Rectangle 94"/>
          <p:cNvSpPr/>
          <p:nvPr/>
        </p:nvSpPr>
        <p:spPr>
          <a:xfrm>
            <a:off x="2808000" y="3776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6" name="Rectangle 95"/>
          <p:cNvSpPr/>
          <p:nvPr/>
        </p:nvSpPr>
        <p:spPr>
          <a:xfrm>
            <a:off x="4212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7" name="Rectangle 96"/>
          <p:cNvSpPr/>
          <p:nvPr/>
        </p:nvSpPr>
        <p:spPr>
          <a:xfrm>
            <a:off x="5616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8" name="Rectangle 97"/>
          <p:cNvSpPr/>
          <p:nvPr/>
        </p:nvSpPr>
        <p:spPr>
          <a:xfrm>
            <a:off x="7020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9" name="Rectangle 98"/>
          <p:cNvSpPr/>
          <p:nvPr/>
        </p:nvSpPr>
        <p:spPr>
          <a:xfrm>
            <a:off x="8424000" y="3776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0" name="Rectangle 99"/>
          <p:cNvSpPr/>
          <p:nvPr/>
        </p:nvSpPr>
        <p:spPr>
          <a:xfrm>
            <a:off x="9827999" y="3776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2 constats</a:t>
            </a:r>
          </a:p>
        </p:txBody>
      </p:sp>
      <p:sp>
        <p:nvSpPr>
          <p:cNvPr id="101" name="Nav Cotisations et précomptes">
            <a:hlinkClick action="ppaction://hlinksldjump" r:id="rId14"/>
          </p:cNvPr>
          <p:cNvSpPr/>
          <p:nvPr/>
        </p:nvSpPr>
        <p:spPr>
          <a:xfrm>
            <a:off x="503999" y="40428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Cotisations et précomptes</a:t>
            </a:r>
          </a:p>
        </p:txBody>
      </p:sp>
      <p:sp>
        <p:nvSpPr>
          <p:cNvPr id="102" name="Rectangle 101"/>
          <p:cNvSpPr/>
          <p:nvPr/>
        </p:nvSpPr>
        <p:spPr>
          <a:xfrm>
            <a:off x="2808000" y="40428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103" name="Rectangle 102"/>
          <p:cNvSpPr/>
          <p:nvPr/>
        </p:nvSpPr>
        <p:spPr>
          <a:xfrm>
            <a:off x="4212000" y="40428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3</a:t>
            </a:r>
          </a:p>
        </p:txBody>
      </p:sp>
      <p:sp>
        <p:nvSpPr>
          <p:cNvPr id="104" name="Rectangle 103"/>
          <p:cNvSpPr/>
          <p:nvPr/>
        </p:nvSpPr>
        <p:spPr>
          <a:xfrm>
            <a:off x="5616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5" name="Rectangle 104"/>
          <p:cNvSpPr/>
          <p:nvPr/>
        </p:nvSpPr>
        <p:spPr>
          <a:xfrm>
            <a:off x="7020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6" name="Rectangle 105"/>
          <p:cNvSpPr/>
          <p:nvPr/>
        </p:nvSpPr>
        <p:spPr>
          <a:xfrm>
            <a:off x="8424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7" name="Rectangle 106"/>
          <p:cNvSpPr/>
          <p:nvPr/>
        </p:nvSpPr>
        <p:spPr>
          <a:xfrm>
            <a:off x="9827999" y="40428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5 constats</a:t>
            </a:r>
          </a:p>
        </p:txBody>
      </p:sp>
      <p:sp>
        <p:nvSpPr>
          <p:cNvPr id="108" name="Nav Comptabilité et provisions">
            <a:hlinkClick action="ppaction://hlinksldjump" r:id="rId15"/>
          </p:cNvPr>
          <p:cNvSpPr/>
          <p:nvPr/>
        </p:nvSpPr>
        <p:spPr>
          <a:xfrm>
            <a:off x="503999" y="4309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Comptabilité et provisions</a:t>
            </a:r>
          </a:p>
        </p:txBody>
      </p:sp>
      <p:sp>
        <p:nvSpPr>
          <p:cNvPr id="109" name="Rectangle 108"/>
          <p:cNvSpPr/>
          <p:nvPr/>
        </p:nvSpPr>
        <p:spPr>
          <a:xfrm>
            <a:off x="2808000" y="4309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0" name="Rectangle 109"/>
          <p:cNvSpPr/>
          <p:nvPr/>
        </p:nvSpPr>
        <p:spPr>
          <a:xfrm>
            <a:off x="4212000" y="4309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5</a:t>
            </a:r>
          </a:p>
        </p:txBody>
      </p:sp>
      <p:sp>
        <p:nvSpPr>
          <p:cNvPr id="111" name="Rectangle 110"/>
          <p:cNvSpPr/>
          <p:nvPr/>
        </p:nvSpPr>
        <p:spPr>
          <a:xfrm>
            <a:off x="5616000" y="4309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2" name="Rectangle 111"/>
          <p:cNvSpPr/>
          <p:nvPr/>
        </p:nvSpPr>
        <p:spPr>
          <a:xfrm>
            <a:off x="7020000" y="4309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113" name="Rectangle 112"/>
          <p:cNvSpPr/>
          <p:nvPr/>
        </p:nvSpPr>
        <p:spPr>
          <a:xfrm>
            <a:off x="8424000" y="4309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114" name="Rectangle 113"/>
          <p:cNvSpPr/>
          <p:nvPr/>
        </p:nvSpPr>
        <p:spPr>
          <a:xfrm>
            <a:off x="9827999" y="4309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115" name="Nav Trésorerie et placements">
            <a:hlinkClick action="ppaction://hlinksldjump" r:id="rId16"/>
          </p:cNvPr>
          <p:cNvSpPr/>
          <p:nvPr/>
        </p:nvSpPr>
        <p:spPr>
          <a:xfrm>
            <a:off x="503999" y="4575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Trésorerie et placements</a:t>
            </a:r>
          </a:p>
        </p:txBody>
      </p:sp>
      <p:sp>
        <p:nvSpPr>
          <p:cNvPr id="116" name="Rectangle 115"/>
          <p:cNvSpPr/>
          <p:nvPr/>
        </p:nvSpPr>
        <p:spPr>
          <a:xfrm>
            <a:off x="2808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7" name="Rectangle 116"/>
          <p:cNvSpPr/>
          <p:nvPr/>
        </p:nvSpPr>
        <p:spPr>
          <a:xfrm>
            <a:off x="4212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8" name="Rectangle 117"/>
          <p:cNvSpPr/>
          <p:nvPr/>
        </p:nvSpPr>
        <p:spPr>
          <a:xfrm>
            <a:off x="5616000" y="45756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5</a:t>
            </a:r>
          </a:p>
        </p:txBody>
      </p:sp>
      <p:sp>
        <p:nvSpPr>
          <p:cNvPr id="119" name="Rectangle 118"/>
          <p:cNvSpPr/>
          <p:nvPr/>
        </p:nvSpPr>
        <p:spPr>
          <a:xfrm>
            <a:off x="7020000" y="4575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3</a:t>
            </a:r>
          </a:p>
        </p:txBody>
      </p:sp>
      <p:sp>
        <p:nvSpPr>
          <p:cNvPr id="120" name="Rectangle 119"/>
          <p:cNvSpPr/>
          <p:nvPr/>
        </p:nvSpPr>
        <p:spPr>
          <a:xfrm>
            <a:off x="8424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1" name="Rectangle 120"/>
          <p:cNvSpPr/>
          <p:nvPr/>
        </p:nvSpPr>
        <p:spPr>
          <a:xfrm>
            <a:off x="9827999" y="4575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122" name="Nav Gouvernance">
            <a:hlinkClick action="ppaction://hlinksldjump" r:id="rId17"/>
          </p:cNvPr>
          <p:cNvSpPr/>
          <p:nvPr/>
        </p:nvSpPr>
        <p:spPr>
          <a:xfrm>
            <a:off x="503999" y="4842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Gouvernance</a:t>
            </a:r>
          </a:p>
        </p:txBody>
      </p:sp>
      <p:sp>
        <p:nvSpPr>
          <p:cNvPr id="123" name="Rectangle 122"/>
          <p:cNvSpPr/>
          <p:nvPr/>
        </p:nvSpPr>
        <p:spPr>
          <a:xfrm>
            <a:off x="2808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4" name="Rectangle 123"/>
          <p:cNvSpPr/>
          <p:nvPr/>
        </p:nvSpPr>
        <p:spPr>
          <a:xfrm>
            <a:off x="4212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5" name="Rectangle 124"/>
          <p:cNvSpPr/>
          <p:nvPr/>
        </p:nvSpPr>
        <p:spPr>
          <a:xfrm>
            <a:off x="5616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6" name="Rectangle 125"/>
          <p:cNvSpPr/>
          <p:nvPr/>
        </p:nvSpPr>
        <p:spPr>
          <a:xfrm>
            <a:off x="7020000" y="48420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127" name="Rectangle 126"/>
          <p:cNvSpPr/>
          <p:nvPr/>
        </p:nvSpPr>
        <p:spPr>
          <a:xfrm>
            <a:off x="8424000" y="4842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128" name="Rectangle 127"/>
          <p:cNvSpPr/>
          <p:nvPr/>
        </p:nvSpPr>
        <p:spPr>
          <a:xfrm>
            <a:off x="9827999" y="4842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129" name="Nav Données et informatique">
            <a:hlinkClick action="ppaction://hlinksldjump" r:id="rId18"/>
          </p:cNvPr>
          <p:cNvSpPr/>
          <p:nvPr/>
        </p:nvSpPr>
        <p:spPr>
          <a:xfrm>
            <a:off x="503999" y="5108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Données et informatique</a:t>
            </a:r>
          </a:p>
        </p:txBody>
      </p:sp>
      <p:sp>
        <p:nvSpPr>
          <p:cNvPr id="130" name="Rectangle 129"/>
          <p:cNvSpPr/>
          <p:nvPr/>
        </p:nvSpPr>
        <p:spPr>
          <a:xfrm>
            <a:off x="2808000" y="5108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4</a:t>
            </a:r>
          </a:p>
        </p:txBody>
      </p:sp>
      <p:sp>
        <p:nvSpPr>
          <p:cNvPr id="131" name="Rectangle 130"/>
          <p:cNvSpPr/>
          <p:nvPr/>
        </p:nvSpPr>
        <p:spPr>
          <a:xfrm>
            <a:off x="4212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2" name="Rectangle 131"/>
          <p:cNvSpPr/>
          <p:nvPr/>
        </p:nvSpPr>
        <p:spPr>
          <a:xfrm>
            <a:off x="5616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3" name="Rectangle 132"/>
          <p:cNvSpPr/>
          <p:nvPr/>
        </p:nvSpPr>
        <p:spPr>
          <a:xfrm>
            <a:off x="7020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4" name="Rectangle 133"/>
          <p:cNvSpPr/>
          <p:nvPr/>
        </p:nvSpPr>
        <p:spPr>
          <a:xfrm>
            <a:off x="8424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5" name="Rectangle 134"/>
          <p:cNvSpPr/>
          <p:nvPr/>
        </p:nvSpPr>
        <p:spPr>
          <a:xfrm>
            <a:off x="9827999" y="5108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136" name="TextBox 135"/>
          <p:cNvSpPr txBox="1"/>
          <p:nvPr/>
        </p:nvSpPr>
        <p:spPr>
          <a:xfrm>
            <a:off x="503999" y="5392800"/>
            <a:ext cx="11232000" cy="162000"/>
          </a:xfrm>
          <a:prstGeom prst="rect">
            <a:avLst/>
          </a:prstGeom>
          <a:noFill/>
        </p:spPr>
        <p:txBody>
          <a:bodyPr wrap="none">
            <a:spAutoFit/>
          </a:bodyPr>
          <a:lstStyle/>
          <a:p>
            <a:r>
              <a:rPr sz="750" b="1">
                <a:solidFill>
                  <a:srgbClr val="060606"/>
                </a:solidFill>
                <a:latin typeface="Helvetica"/>
              </a:rPr>
              <a:t>Dans chaque case : nombre de constats du type, et boule de la couleur du plus grave.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Un constat peut relever de plusieurs types.</a:t>
            </a:r>
          </a:p>
        </p:txBody>
      </p:sp>
      <p:sp>
        <p:nvSpPr>
          <p:cNvPr id="137" name="TextBox 1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16444895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Synthèse chiffrée par activité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activités ont au moins un constat critique à traiter dans les trois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Nombre de constats, criticité la plus haute, constat le plus grave et priorité la plus haute de chaque activité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Résumé exécutif du 26/10/2026</a:t>
            </a:r>
          </a:p>
        </p:txBody>
      </p:sp>
      <p:graphicFrame>
        <p:nvGraphicFramePr>
          <p:cNvPr id="31" name="Table 30"/>
          <p:cNvGraphicFramePr>
            <a:graphicFrameLocks noGrp="1"/>
          </p:cNvGraphicFramePr>
          <p:nvPr/>
        </p:nvGraphicFramePr>
        <p:xfrm>
          <a:off x="503999" y="1386000"/>
          <a:ext cx="11232000" cy="3058689"/>
        </p:xfrm>
        <a:graphic>
          <a:graphicData uri="http://schemas.openxmlformats.org/drawingml/2006/table">
            <a:tbl>
              <a:tblPr firstRow="0" bandRow="0">
                <a:tableStyleId>{5940675A-B579-460E-94D1-54222C63F5DA}</a:tableStyleId>
              </a:tblPr>
              <a:tblGrid>
                <a:gridCol w="2304000"/>
                <a:gridCol w="864000"/>
                <a:gridCol w="1512000"/>
                <a:gridCol w="4320000"/>
                <a:gridCol w="1296000"/>
                <a:gridCol w="936000"/>
              </a:tblGrid>
              <a:tr h="331937">
                <a:tc>
                  <a:txBody>
                    <a:bodyPr/>
                    <a:lstStyle/>
                    <a:p>
                      <a:pPr marL="0" indent="0" lvl="0">
                        <a:buNone/>
                      </a:pPr>
                      <a:r>
                        <a:rPr sz="900" b="1">
                          <a:solidFill>
                            <a:srgbClr val="FFFFFF"/>
                          </a:solidFill>
                          <a:latin typeface="Helvetica"/>
                        </a:rPr>
                        <a:t>Activité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Criticité la plus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 le plus grave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Priorité la plus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Constats en P1</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 La garantie maladie perd de l'argent depuis 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1.b : La provision obsèques fait double emploi.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Retraités (CGRAE)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 : La durée de la garantie santé n'est pas fixée.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 Les intérêts promis ne sont pas comptabilisés.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 : Les intérêts promis ne sont pas comptabilisés.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26.f : MEDOC n'est pas documenté.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25 : Le Grenier grandit vite avec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Moyen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18.a : Les trop-perçus ne sont pas suivis comme une dette.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Clinique (CMP)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 La clinique n'a pas de comptabilité séparée.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Cotisations et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 : Les fichiers ne sont pas rapprochés.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Comptabilité et provisions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 Les provisions ne sont pas calculées.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Trésorerie et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 L'argent disponible ne couvre pas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Gouvernance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 Plusieurs règles de solidité ne sont pas respectées.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Données et informatique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 : Des données essentielles manquent.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4417528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Produits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Chaque constat se lit sur une ligne : son commentaire, sa recommandation, sa complexité et sa priorité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942283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Maladie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garantie maladie perd de l'argent depuis 2025, et ses provisions ne sont pas calculées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19, la garantie maladie perd de l'argent depuis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p:cNvSpPr/>
          <p:nvPr/>
        </p:nvSpPr>
        <p:spPr>
          <a:xfrm>
            <a:off x="503999"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Maladie</a:t>
            </a:r>
          </a:p>
        </p:txBody>
      </p:sp>
      <p:sp>
        <p:nvSpPr>
          <p:cNvPr id="34" name="Nav Décès">
            <a:hlinkClick action="ppaction://hlinksldjump" r:id="rId7"/>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8"/>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9"/>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0"/>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0"/>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1"/>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Maladie"/>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PRODUITS  ›  </a:t>
            </a:r>
            <a:r>
              <a:rPr sz="1200" b="1">
                <a:solidFill>
                  <a:srgbClr val="FFFFFF"/>
                </a:solidFill>
                <a:latin typeface="Helvetica"/>
              </a:rPr>
              <a:t>MALADIE</a:t>
            </a:r>
            <a:r>
              <a:rPr sz="950" b="0">
                <a:solidFill>
                  <a:srgbClr val="FFFFFF"/>
                </a:solidFill>
                <a:latin typeface="Helvetica"/>
              </a:rPr>
              <a:t>     6 constats, dont 2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80718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19   </a:t>
            </a:r>
            <a:r>
              <a:rPr sz="1050" b="1">
                <a:solidFill>
                  <a:srgbClr val="060606"/>
                </a:solidFill>
                <a:latin typeface="Helvetica"/>
              </a:rPr>
              <a:t>La garantie maladie perd de l'argent depuis 2025. </a:t>
            </a:r>
            <a:r>
              <a:rPr sz="1050" b="0">
                <a:solidFill>
                  <a:srgbClr val="060606"/>
                </a:solidFill>
                <a:latin typeface="Helvetica"/>
              </a:rPr>
              <a:t>Les soins consomment 73,53 % des cotisations maladie en 2025 et 97,40 % sur huit mois de 2026 (109,87 % frais compris en 2025). Le niveau bas de 2020 à 2022 venait d'une couverture limitée à l'hospitalisation et de factures impayées, pas d'une bonne santé.</a:t>
            </a:r>
          </a:p>
        </p:txBody>
      </p:sp>
      <p:sp>
        <p:nvSpPr>
          <p:cNvPr id="54" name="Rectangle 53"/>
          <p:cNvSpPr/>
          <p:nvPr/>
        </p:nvSpPr>
        <p:spPr>
          <a:xfrm>
            <a:off x="6480000" y="2286000"/>
            <a:ext cx="3384000" cy="80718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Recalculer la cotisation maladie sur le coût complet et revoir le barème et les conventions avec les cliniques.</a:t>
            </a:r>
          </a:p>
        </p:txBody>
      </p:sp>
      <p:sp>
        <p:nvSpPr>
          <p:cNvPr id="55" name="Rectangle 54"/>
          <p:cNvSpPr/>
          <p:nvPr/>
        </p:nvSpPr>
        <p:spPr>
          <a:xfrm>
            <a:off x="9864000" y="2286000"/>
            <a:ext cx="936000" cy="80718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80718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581590"/>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58" name="Rounded Rectangle 57"/>
          <p:cNvSpPr/>
          <p:nvPr/>
        </p:nvSpPr>
        <p:spPr>
          <a:xfrm>
            <a:off x="10962000" y="258159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59" name="Rectangle 58"/>
          <p:cNvSpPr/>
          <p:nvPr/>
        </p:nvSpPr>
        <p:spPr>
          <a:xfrm>
            <a:off x="503999" y="3093181"/>
            <a:ext cx="597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1.a   </a:t>
            </a:r>
            <a:r>
              <a:rPr sz="1050" b="1">
                <a:solidFill>
                  <a:srgbClr val="060606"/>
                </a:solidFill>
                <a:latin typeface="Helvetica"/>
              </a:rPr>
              <a:t>La provision maladie est figée depuis 2020. </a:t>
            </a:r>
            <a:r>
              <a:rPr sz="1050" b="0">
                <a:solidFill>
                  <a:srgbClr val="060606"/>
                </a:solidFill>
                <a:latin typeface="Helvetica"/>
              </a:rPr>
              <a:t>2 867 602 878 FCFA au bilan pour un besoin mesuré de 12 481 392 FCFA.</a:t>
            </a:r>
          </a:p>
        </p:txBody>
      </p:sp>
      <p:sp>
        <p:nvSpPr>
          <p:cNvPr id="60" name="Rectangle 59"/>
          <p:cNvSpPr/>
          <p:nvPr/>
        </p:nvSpPr>
        <p:spPr>
          <a:xfrm>
            <a:off x="6480000" y="3093181"/>
            <a:ext cx="3384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Calculer la provision chaque année dans une note signée.</a:t>
            </a:r>
          </a:p>
        </p:txBody>
      </p:sp>
      <p:sp>
        <p:nvSpPr>
          <p:cNvPr id="61" name="Rectangle 60"/>
          <p:cNvSpPr/>
          <p:nvPr/>
        </p:nvSpPr>
        <p:spPr>
          <a:xfrm>
            <a:off x="9864000" y="3093181"/>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3093181"/>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228651"/>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3228651"/>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65" name="Rectangle 64"/>
          <p:cNvSpPr/>
          <p:nvPr/>
        </p:nvSpPr>
        <p:spPr>
          <a:xfrm>
            <a:off x="503999" y="3580120"/>
            <a:ext cx="5976000" cy="4869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21   </a:t>
            </a:r>
            <a:r>
              <a:rPr sz="1050" b="1">
                <a:solidFill>
                  <a:srgbClr val="060606"/>
                </a:solidFill>
                <a:latin typeface="Helvetica"/>
              </a:rPr>
              <a:t>Le paiement des cliniques ralentit. </a:t>
            </a:r>
            <a:r>
              <a:rPr sz="1050" b="0">
                <a:solidFill>
                  <a:srgbClr val="060606"/>
                </a:solidFill>
                <a:latin typeface="Helvetica"/>
              </a:rPr>
              <a:t>2,62 mois en 2025, 5,00 mois au 31/08/2026, pour une règle de 3 mois. 690 234 451 FCFA de factures en attente.</a:t>
            </a:r>
          </a:p>
        </p:txBody>
      </p:sp>
      <p:sp>
        <p:nvSpPr>
          <p:cNvPr id="66" name="Rectangle 65"/>
          <p:cNvSpPr/>
          <p:nvPr/>
        </p:nvSpPr>
        <p:spPr>
          <a:xfrm>
            <a:off x="6480000" y="3580120"/>
            <a:ext cx="3384000" cy="4869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chaque mois le délai de paiement et les factures en attente.</a:t>
            </a:r>
          </a:p>
        </p:txBody>
      </p:sp>
      <p:sp>
        <p:nvSpPr>
          <p:cNvPr id="67" name="Rectangle 66"/>
          <p:cNvSpPr/>
          <p:nvPr/>
        </p:nvSpPr>
        <p:spPr>
          <a:xfrm>
            <a:off x="9864000" y="3580120"/>
            <a:ext cx="936000" cy="4869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580120"/>
            <a:ext cx="936000" cy="4869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71559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0" name="Rounded Rectangle 69"/>
          <p:cNvSpPr/>
          <p:nvPr/>
        </p:nvSpPr>
        <p:spPr>
          <a:xfrm>
            <a:off x="10962000" y="371559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4067060"/>
            <a:ext cx="597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26.a   </a:t>
            </a:r>
            <a:r>
              <a:rPr sz="1050" b="1">
                <a:solidFill>
                  <a:srgbClr val="060606"/>
                </a:solidFill>
                <a:latin typeface="Helvetica"/>
              </a:rPr>
              <a:t>La date des soins n'est saisie nulle part. </a:t>
            </a:r>
            <a:r>
              <a:rPr sz="1050" b="0">
                <a:solidFill>
                  <a:srgbClr val="060606"/>
                </a:solidFill>
                <a:latin typeface="Helvetica"/>
              </a:rPr>
              <a:t>Le délai réel de paiement et les soins non encore facturés ne peuvent pas être mesurés précisément.</a:t>
            </a:r>
          </a:p>
        </p:txBody>
      </p:sp>
      <p:sp>
        <p:nvSpPr>
          <p:cNvPr id="72" name="Rectangle 71"/>
          <p:cNvSpPr/>
          <p:nvPr/>
        </p:nvSpPr>
        <p:spPr>
          <a:xfrm>
            <a:off x="6480000" y="4067060"/>
            <a:ext cx="3384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Saisir la date des soins et la date de dépôt de chaque facture.</a:t>
            </a:r>
          </a:p>
        </p:txBody>
      </p:sp>
      <p:sp>
        <p:nvSpPr>
          <p:cNvPr id="73" name="Rectangle 72"/>
          <p:cNvSpPr/>
          <p:nvPr/>
        </p:nvSpPr>
        <p:spPr>
          <a:xfrm>
            <a:off x="9864000" y="4067060"/>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067060"/>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20253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6" name="Rounded Rectangle 75"/>
          <p:cNvSpPr/>
          <p:nvPr/>
        </p:nvSpPr>
        <p:spPr>
          <a:xfrm>
            <a:off x="10962000" y="4202530"/>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77" name="Rectangle 76"/>
          <p:cNvSpPr/>
          <p:nvPr/>
        </p:nvSpPr>
        <p:spPr>
          <a:xfrm>
            <a:off x="503999" y="4554000"/>
            <a:ext cx="5976000" cy="6470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19.a   </a:t>
            </a:r>
            <a:r>
              <a:rPr sz="1050" b="1">
                <a:solidFill>
                  <a:srgbClr val="060606"/>
                </a:solidFill>
                <a:latin typeface="Helvetica"/>
              </a:rPr>
              <a:t>Le contrôle des factures après paiement n'est pas démontré. </a:t>
            </a:r>
            <a:r>
              <a:rPr sz="1050" b="0">
                <a:solidFill>
                  <a:srgbClr val="060606"/>
                </a:solidFill>
                <a:latin typeface="Helvetica"/>
              </a:rPr>
              <a:t>Aucun registre des contrôles n'a été transmis, alors que la réglementation demande d'en contrôler au moins 5 %.</a:t>
            </a:r>
          </a:p>
        </p:txBody>
      </p:sp>
      <p:sp>
        <p:nvSpPr>
          <p:cNvPr id="78" name="Rectangle 77"/>
          <p:cNvSpPr/>
          <p:nvPr/>
        </p:nvSpPr>
        <p:spPr>
          <a:xfrm>
            <a:off x="6480000" y="4554000"/>
            <a:ext cx="3384000" cy="6470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Contrôler après paiement au moins 5 % des factures.</a:t>
            </a:r>
          </a:p>
        </p:txBody>
      </p:sp>
      <p:sp>
        <p:nvSpPr>
          <p:cNvPr id="79" name="Rectangle 78"/>
          <p:cNvSpPr/>
          <p:nvPr/>
        </p:nvSpPr>
        <p:spPr>
          <a:xfrm>
            <a:off x="9864000" y="4554000"/>
            <a:ext cx="936000" cy="6470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554000"/>
            <a:ext cx="936000" cy="6470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76953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82" name="Rounded Rectangle 81"/>
          <p:cNvSpPr/>
          <p:nvPr/>
        </p:nvSpPr>
        <p:spPr>
          <a:xfrm>
            <a:off x="10962000" y="476953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3" name="Rectangle 82"/>
          <p:cNvSpPr/>
          <p:nvPr/>
        </p:nvSpPr>
        <p:spPr>
          <a:xfrm>
            <a:off x="503999" y="5201060"/>
            <a:ext cx="597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26.b   </a:t>
            </a:r>
            <a:r>
              <a:rPr sz="1050" b="1">
                <a:solidFill>
                  <a:srgbClr val="060606"/>
                </a:solidFill>
                <a:latin typeface="Helvetica"/>
              </a:rPr>
              <a:t>Le fichier des cartes de santé actives manque. </a:t>
            </a:r>
            <a:r>
              <a:rPr sz="1050" b="0">
                <a:solidFill>
                  <a:srgbClr val="060606"/>
                </a:solidFill>
                <a:latin typeface="Helvetica"/>
              </a:rPr>
              <a:t>Le nombre de personnes couvertes, ayants droit compris, n'est pas connu.</a:t>
            </a:r>
          </a:p>
        </p:txBody>
      </p:sp>
      <p:sp>
        <p:nvSpPr>
          <p:cNvPr id="84" name="Rectangle 83"/>
          <p:cNvSpPr/>
          <p:nvPr/>
        </p:nvSpPr>
        <p:spPr>
          <a:xfrm>
            <a:off x="6480000" y="5201060"/>
            <a:ext cx="3384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 fichier des cartes actives, ayants droit compris.</a:t>
            </a:r>
          </a:p>
        </p:txBody>
      </p:sp>
      <p:sp>
        <p:nvSpPr>
          <p:cNvPr id="85" name="Rectangle 84"/>
          <p:cNvSpPr/>
          <p:nvPr/>
        </p:nvSpPr>
        <p:spPr>
          <a:xfrm>
            <a:off x="9864000" y="5201060"/>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5201060"/>
            <a:ext cx="936000" cy="486939"/>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533653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533653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9" name="TextBox 88"/>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0" name="TextBox 8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294783346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garantie décès est excédentaire, mais sa dette envers les familles grossit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1.b, la provision obsèques fait double emploi</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p:cNvSpPr/>
          <p:nvPr/>
        </p:nvSpPr>
        <p:spPr>
          <a:xfrm>
            <a:off x="1297285"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Décès</a:t>
            </a:r>
          </a:p>
        </p:txBody>
      </p:sp>
      <p:sp>
        <p:nvSpPr>
          <p:cNvPr id="35" name="Nav Retraités (CGRAE)">
            <a:hlinkClick action="ppaction://hlinksldjump" r:id="rId8"/>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9"/>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0"/>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0"/>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1"/>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Décès"/>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PRODUITS  ›  </a:t>
            </a:r>
            <a:r>
              <a:rPr sz="1200" b="1">
                <a:solidFill>
                  <a:srgbClr val="FFFFFF"/>
                </a:solidFill>
                <a:latin typeface="Helvetica"/>
              </a:rPr>
              <a:t>DÉCÈS</a:t>
            </a:r>
            <a:r>
              <a:rPr sz="950" b="0">
                <a:solidFill>
                  <a:srgbClr val="FFFFFF"/>
                </a:solidFill>
                <a:latin typeface="Helvetica"/>
              </a:rPr>
              <a:t>     7 constats, dont 1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62324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1.b   </a:t>
            </a:r>
            <a:r>
              <a:rPr sz="1050" b="1">
                <a:solidFill>
                  <a:srgbClr val="060606"/>
                </a:solidFill>
                <a:latin typeface="Helvetica"/>
              </a:rPr>
              <a:t>La provision obsèques fait double emploi. </a:t>
            </a:r>
            <a:r>
              <a:rPr sz="1050" b="0">
                <a:solidFill>
                  <a:srgbClr val="060606"/>
                </a:solidFill>
                <a:latin typeface="Helvetica"/>
              </a:rPr>
              <a:t>1 961 695 412 FCFA figés depuis 2020, alors que la dette décès est déjà comptée au compte 41591000. Besoin mesuré : 7 100 000 FCFA de décès déclarés en retard.</a:t>
            </a:r>
          </a:p>
        </p:txBody>
      </p:sp>
      <p:sp>
        <p:nvSpPr>
          <p:cNvPr id="54" name="Rectangle 53"/>
          <p:cNvSpPr/>
          <p:nvPr/>
        </p:nvSpPr>
        <p:spPr>
          <a:xfrm>
            <a:off x="6480000" y="2286000"/>
            <a:ext cx="3384000" cy="62324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Faire décider le reclassement par les organes, après information de l'AIRMS.</a:t>
            </a:r>
          </a:p>
        </p:txBody>
      </p:sp>
      <p:sp>
        <p:nvSpPr>
          <p:cNvPr id="55" name="Rectangle 54"/>
          <p:cNvSpPr/>
          <p:nvPr/>
        </p:nvSpPr>
        <p:spPr>
          <a:xfrm>
            <a:off x="9864000" y="2286000"/>
            <a:ext cx="936000" cy="62324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62324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89623"/>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89623"/>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909246"/>
            <a:ext cx="597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   </a:t>
            </a:r>
            <a:r>
              <a:rPr sz="1050" b="1">
                <a:solidFill>
                  <a:srgbClr val="060606"/>
                </a:solidFill>
                <a:latin typeface="Helvetica"/>
              </a:rPr>
              <a:t>La dette envers les familles grossit. </a:t>
            </a:r>
            <a:r>
              <a:rPr sz="1050" b="0">
                <a:solidFill>
                  <a:srgbClr val="060606"/>
                </a:solidFill>
                <a:latin typeface="Helvetica"/>
              </a:rPr>
              <a:t>370 503 332 FCFA fin 2021, 489 419 669 FCFA au 31/08/2026. La date de dépôt des demandes n'est pas saisie.</a:t>
            </a:r>
          </a:p>
        </p:txBody>
      </p:sp>
      <p:sp>
        <p:nvSpPr>
          <p:cNvPr id="60" name="Rectangle 59"/>
          <p:cNvSpPr/>
          <p:nvPr/>
        </p:nvSpPr>
        <p:spPr>
          <a:xfrm>
            <a:off x="6480000" y="2909246"/>
            <a:ext cx="3384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Dresser la liste nominative des dossiers, payer les dus, clôturer les prescrits.</a:t>
            </a:r>
          </a:p>
        </p:txBody>
      </p:sp>
      <p:sp>
        <p:nvSpPr>
          <p:cNvPr id="61" name="Rectangle 60"/>
          <p:cNvSpPr/>
          <p:nvPr/>
        </p:nvSpPr>
        <p:spPr>
          <a:xfrm>
            <a:off x="9864000" y="2909246"/>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909246"/>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32809"/>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3032809"/>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372371"/>
            <a:ext cx="597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3   </a:t>
            </a:r>
            <a:r>
              <a:rPr sz="1050" b="1">
                <a:solidFill>
                  <a:srgbClr val="060606"/>
                </a:solidFill>
                <a:latin typeface="Helvetica"/>
              </a:rPr>
              <a:t>Des allocations sont payées avec l'argent de l'épargne. </a:t>
            </a:r>
            <a:r>
              <a:rPr sz="1050" b="0">
                <a:solidFill>
                  <a:srgbClr val="060606"/>
                </a:solidFill>
                <a:latin typeface="Helvetica"/>
              </a:rPr>
              <a:t>102 allocations payées en 2024 depuis les comptes de l'épargne, pour 53 288 000 FCFA.</a:t>
            </a:r>
          </a:p>
        </p:txBody>
      </p:sp>
      <p:sp>
        <p:nvSpPr>
          <p:cNvPr id="66" name="Rectangle 65"/>
          <p:cNvSpPr/>
          <p:nvPr/>
        </p:nvSpPr>
        <p:spPr>
          <a:xfrm>
            <a:off x="6480000" y="3372371"/>
            <a:ext cx="3384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Payer depuis les comptes des garanties et rembourser l'épargne.</a:t>
            </a:r>
          </a:p>
        </p:txBody>
      </p:sp>
      <p:sp>
        <p:nvSpPr>
          <p:cNvPr id="67" name="Rectangle 66"/>
          <p:cNvSpPr/>
          <p:nvPr/>
        </p:nvSpPr>
        <p:spPr>
          <a:xfrm>
            <a:off x="9864000" y="3372371"/>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372371"/>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495934"/>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495934"/>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3835497"/>
            <a:ext cx="597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20.a   </a:t>
            </a:r>
            <a:r>
              <a:rPr sz="1050" b="1">
                <a:solidFill>
                  <a:srgbClr val="060606"/>
                </a:solidFill>
                <a:latin typeface="Helvetica"/>
              </a:rPr>
              <a:t>Le décès finance la maladie. </a:t>
            </a:r>
            <a:r>
              <a:rPr sz="1050" b="0">
                <a:solidFill>
                  <a:srgbClr val="060606"/>
                </a:solidFill>
                <a:latin typeface="Helvetica"/>
              </a:rPr>
              <a:t>La Solde prélève 1,23 % au lieu de 1,50 %. Le décès reste excédentaire : 449 151 155 FCFA en 2025.</a:t>
            </a:r>
          </a:p>
        </p:txBody>
      </p:sp>
      <p:sp>
        <p:nvSpPr>
          <p:cNvPr id="72" name="Rectangle 71"/>
          <p:cNvSpPr/>
          <p:nvPr/>
        </p:nvSpPr>
        <p:spPr>
          <a:xfrm>
            <a:off x="6480000" y="3835497"/>
            <a:ext cx="3384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Appliquer la clé des statuts et suivre le résultat de chaque garantie.</a:t>
            </a:r>
          </a:p>
        </p:txBody>
      </p:sp>
      <p:sp>
        <p:nvSpPr>
          <p:cNvPr id="73" name="Rectangle 72"/>
          <p:cNvSpPr/>
          <p:nvPr/>
        </p:nvSpPr>
        <p:spPr>
          <a:xfrm>
            <a:off x="9864000" y="3835497"/>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3835497"/>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395906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395906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7" name="Rectangle 76"/>
          <p:cNvSpPr/>
          <p:nvPr/>
        </p:nvSpPr>
        <p:spPr>
          <a:xfrm>
            <a:off x="503999" y="4298623"/>
            <a:ext cx="597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27.a   </a:t>
            </a:r>
            <a:r>
              <a:rPr sz="1050" b="1">
                <a:solidFill>
                  <a:srgbClr val="060606"/>
                </a:solidFill>
                <a:latin typeface="Helvetica"/>
              </a:rPr>
              <a:t>Des fichiers décès sont vides ou à valider. </a:t>
            </a:r>
            <a:r>
              <a:rPr sz="1050" b="0">
                <a:solidFill>
                  <a:srgbClr val="060606"/>
                </a:solidFill>
                <a:latin typeface="Helvetica"/>
              </a:rPr>
              <a:t>Fichiers de décembre 2024 vides (0 octet). Montants supérieurs à 1 000 000 FCFA à valider dans les fichiers retour.</a:t>
            </a:r>
          </a:p>
        </p:txBody>
      </p:sp>
      <p:sp>
        <p:nvSpPr>
          <p:cNvPr id="78" name="Rectangle 77"/>
          <p:cNvSpPr/>
          <p:nvPr/>
        </p:nvSpPr>
        <p:spPr>
          <a:xfrm>
            <a:off x="6480000" y="4298623"/>
            <a:ext cx="3384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les fichiers et valider ces montants.</a:t>
            </a:r>
          </a:p>
        </p:txBody>
      </p:sp>
      <p:sp>
        <p:nvSpPr>
          <p:cNvPr id="79" name="Rectangle 78"/>
          <p:cNvSpPr/>
          <p:nvPr/>
        </p:nvSpPr>
        <p:spPr>
          <a:xfrm>
            <a:off x="9864000" y="4298623"/>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298623"/>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422186"/>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2" name="Rounded Rectangle 81"/>
          <p:cNvSpPr/>
          <p:nvPr/>
        </p:nvSpPr>
        <p:spPr>
          <a:xfrm>
            <a:off x="10962000" y="4422186"/>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3" name="Rectangle 82"/>
          <p:cNvSpPr/>
          <p:nvPr/>
        </p:nvSpPr>
        <p:spPr>
          <a:xfrm>
            <a:off x="503999" y="4761748"/>
            <a:ext cx="597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28.a   </a:t>
            </a:r>
            <a:r>
              <a:rPr sz="1050" b="1">
                <a:solidFill>
                  <a:srgbClr val="060606"/>
                </a:solidFill>
                <a:latin typeface="Helvetica"/>
              </a:rPr>
              <a:t>Les décès 2021 diffèrent selon la source. </a:t>
            </a:r>
            <a:r>
              <a:rPr sz="1050" b="0">
                <a:solidFill>
                  <a:srgbClr val="060606"/>
                </a:solidFill>
                <a:latin typeface="Helvetica"/>
              </a:rPr>
              <a:t>156 020 000 FCFA dans l'étude du FPPN, 401 856 666 FCFA en comptabilité.</a:t>
            </a:r>
          </a:p>
        </p:txBody>
      </p:sp>
      <p:sp>
        <p:nvSpPr>
          <p:cNvPr id="84" name="Rectangle 83"/>
          <p:cNvSpPr/>
          <p:nvPr/>
        </p:nvSpPr>
        <p:spPr>
          <a:xfrm>
            <a:off x="6480000" y="4761748"/>
            <a:ext cx="3384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Expliquer l'écart.</a:t>
            </a:r>
          </a:p>
        </p:txBody>
      </p:sp>
      <p:sp>
        <p:nvSpPr>
          <p:cNvPr id="85" name="Rectangle 84"/>
          <p:cNvSpPr/>
          <p:nvPr/>
        </p:nvSpPr>
        <p:spPr>
          <a:xfrm>
            <a:off x="9864000" y="4761748"/>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4761748"/>
            <a:ext cx="936000" cy="463125"/>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4885311"/>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4885311"/>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9" name="Rectangle 88"/>
          <p:cNvSpPr/>
          <p:nvPr/>
        </p:nvSpPr>
        <p:spPr>
          <a:xfrm>
            <a:off x="503999" y="5224874"/>
            <a:ext cx="597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26.c   </a:t>
            </a:r>
            <a:r>
              <a:rPr sz="1050" b="1">
                <a:solidFill>
                  <a:srgbClr val="060606"/>
                </a:solidFill>
                <a:latin typeface="Helvetica"/>
              </a:rPr>
              <a:t>Le barème officiel et la règle du suicide ne sont pas documentés. </a:t>
            </a:r>
            <a:r>
              <a:rPr sz="1050" b="0">
                <a:solidFill>
                  <a:srgbClr val="060606"/>
                </a:solidFill>
                <a:latin typeface="Helvetica"/>
              </a:rPr>
              <a:t>Quatre décès valorisés à 0 FCFA en 2025 sans texte transmis.</a:t>
            </a:r>
          </a:p>
        </p:txBody>
      </p:sp>
      <p:sp>
        <p:nvSpPr>
          <p:cNvPr id="90" name="Rectangle 89"/>
          <p:cNvSpPr/>
          <p:nvPr/>
        </p:nvSpPr>
        <p:spPr>
          <a:xfrm>
            <a:off x="6480000" y="5224874"/>
            <a:ext cx="3384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 texte et le barème signé.</a:t>
            </a:r>
          </a:p>
        </p:txBody>
      </p:sp>
      <p:sp>
        <p:nvSpPr>
          <p:cNvPr id="91" name="Rectangle 90"/>
          <p:cNvSpPr/>
          <p:nvPr/>
        </p:nvSpPr>
        <p:spPr>
          <a:xfrm>
            <a:off x="9864000" y="5224874"/>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2" name="Rectangle 91"/>
          <p:cNvSpPr/>
          <p:nvPr/>
        </p:nvSpPr>
        <p:spPr>
          <a:xfrm>
            <a:off x="10800000" y="5224874"/>
            <a:ext cx="936000" cy="463125"/>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3" name="Rounded Rectangle 92"/>
          <p:cNvSpPr/>
          <p:nvPr/>
        </p:nvSpPr>
        <p:spPr>
          <a:xfrm>
            <a:off x="9936000" y="5348437"/>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94" name="Rounded Rectangle 93"/>
          <p:cNvSpPr/>
          <p:nvPr/>
        </p:nvSpPr>
        <p:spPr>
          <a:xfrm>
            <a:off x="10962000" y="5348437"/>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95" name="TextBox 94"/>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6" name="TextBox 9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MEDOC : produit santé complémentaire du poste 8Z7</a:t>
            </a:r>
          </a:p>
        </p:txBody>
      </p:sp>
    </p:spTree>
    <p:extLst>
      <p:ext uri="{BB962C8B-B14F-4D97-AF65-F5344CB8AC3E}">
        <p14:creationId xmlns:p14="http://schemas.microsoft.com/office/powerpoint/2010/main" val="212411696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cotisent de plus en plus, mais leurs soins et leurs âges ne sont pas suivis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22.a, la durée de la garantie santé n'est pas fixée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p:cNvSpPr/>
          <p:nvPr/>
        </p:nvSpPr>
        <p:spPr>
          <a:xfrm>
            <a:off x="2090571"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Retraités</a:t>
            </a:r>
          </a:p>
        </p:txBody>
      </p:sp>
      <p:sp>
        <p:nvSpPr>
          <p:cNvPr id="36" name="Nav EFC">
            <a:hlinkClick action="ppaction://hlinksldjump" r:id="rId9"/>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0"/>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0"/>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1"/>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Retraités (CGRAE)"/>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PRODUITS  ›  </a:t>
            </a:r>
            <a:r>
              <a:rPr sz="1200" b="1">
                <a:solidFill>
                  <a:srgbClr val="FFFFFF"/>
                </a:solidFill>
                <a:latin typeface="Helvetica"/>
              </a:rPr>
              <a:t>RETRAITÉS (CGRAE)</a:t>
            </a:r>
            <a:r>
              <a:rPr sz="950" b="0">
                <a:solidFill>
                  <a:srgbClr val="FFFFFF"/>
                </a:solidFill>
                <a:latin typeface="Helvetica"/>
              </a:rPr>
              <a:t>     5 constats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22   </a:t>
            </a:r>
            <a:r>
              <a:rPr sz="1050" b="1">
                <a:solidFill>
                  <a:srgbClr val="060606"/>
                </a:solidFill>
                <a:latin typeface="Helvetica"/>
              </a:rPr>
              <a:t>Le coût des soins des retraités n'est pas suivi. </a:t>
            </a:r>
            <a:r>
              <a:rPr sz="1050" b="0">
                <a:solidFill>
                  <a:srgbClr val="060606"/>
                </a:solidFill>
                <a:latin typeface="Helvetica"/>
              </a:rPr>
              <a:t>610 retraités cotisent en août 2026 (16 en février 2024), 11 954 FCFA par mois en moyenne. On ne sait pas si cela couvre leurs soins.</a:t>
            </a:r>
          </a:p>
        </p:txBody>
      </p:sp>
      <p:sp>
        <p:nvSpPr>
          <p:cNvPr id="54" name="Rectangle 53"/>
          <p:cNvSpPr/>
          <p:nvPr/>
        </p:nvSpPr>
        <p:spPr>
          <a:xfrm>
            <a:off x="6480000" y="2286000"/>
            <a:ext cx="3384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séparément les soins des retraités.</a:t>
            </a:r>
          </a:p>
        </p:txBody>
      </p:sp>
      <p:sp>
        <p:nvSpPr>
          <p:cNvPr id="55" name="Rectangle 54"/>
          <p:cNvSpPr/>
          <p:nvPr/>
        </p:nvSpPr>
        <p:spPr>
          <a:xfrm>
            <a:off x="9864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547781"/>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547781"/>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59" name="Rectangle 58"/>
          <p:cNvSpPr/>
          <p:nvPr/>
        </p:nvSpPr>
        <p:spPr>
          <a:xfrm>
            <a:off x="503999" y="3025562"/>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22.a   </a:t>
            </a:r>
            <a:r>
              <a:rPr sz="1050" b="1">
                <a:solidFill>
                  <a:srgbClr val="060606"/>
                </a:solidFill>
                <a:latin typeface="Helvetica"/>
              </a:rPr>
              <a:t>La durée de la garantie santé n'est pas fixée. </a:t>
            </a:r>
            <a:r>
              <a:rPr sz="1050" b="0">
                <a:solidFill>
                  <a:srgbClr val="060606"/>
                </a:solidFill>
                <a:latin typeface="Helvetica"/>
              </a:rPr>
              <a:t>Aucun texte transmis ne dit si elle est à vie ou limitée.</a:t>
            </a:r>
          </a:p>
        </p:txBody>
      </p:sp>
      <p:sp>
        <p:nvSpPr>
          <p:cNvPr id="60" name="Rectangle 59"/>
          <p:cNvSpPr/>
          <p:nvPr/>
        </p:nvSpPr>
        <p:spPr>
          <a:xfrm>
            <a:off x="6480000" y="3025562"/>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Fixer la durée de la garantie par décision écrite.</a:t>
            </a:r>
          </a:p>
        </p:txBody>
      </p:sp>
      <p:sp>
        <p:nvSpPr>
          <p:cNvPr id="61" name="Rectangle 60"/>
          <p:cNvSpPr/>
          <p:nvPr/>
        </p:nvSpPr>
        <p:spPr>
          <a:xfrm>
            <a:off x="9864000" y="3025562"/>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3025562"/>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207283"/>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64" name="Rounded Rectangle 63"/>
          <p:cNvSpPr/>
          <p:nvPr/>
        </p:nvSpPr>
        <p:spPr>
          <a:xfrm>
            <a:off x="10962000" y="3207283"/>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605004"/>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22.b   </a:t>
            </a:r>
            <a:r>
              <a:rPr sz="1050" b="1">
                <a:solidFill>
                  <a:srgbClr val="060606"/>
                </a:solidFill>
                <a:latin typeface="Helvetica"/>
              </a:rPr>
              <a:t>Les âges des retraités manquent. </a:t>
            </a:r>
            <a:r>
              <a:rPr sz="1050" b="0">
                <a:solidFill>
                  <a:srgbClr val="060606"/>
                </a:solidFill>
                <a:latin typeface="Helvetica"/>
              </a:rPr>
              <a:t>Date de naissance connue pour 105 retraités seulement.</a:t>
            </a:r>
          </a:p>
        </p:txBody>
      </p:sp>
      <p:sp>
        <p:nvSpPr>
          <p:cNvPr id="66" name="Rectangle 65"/>
          <p:cNvSpPr/>
          <p:nvPr/>
        </p:nvSpPr>
        <p:spPr>
          <a:xfrm>
            <a:off x="6480000" y="3605004"/>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Obtenir de la CGRAE les dates de naissance.</a:t>
            </a:r>
          </a:p>
        </p:txBody>
      </p:sp>
      <p:sp>
        <p:nvSpPr>
          <p:cNvPr id="67" name="Rectangle 66"/>
          <p:cNvSpPr/>
          <p:nvPr/>
        </p:nvSpPr>
        <p:spPr>
          <a:xfrm>
            <a:off x="9864000" y="360500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60500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786724"/>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0" name="Rounded Rectangle 69"/>
          <p:cNvSpPr/>
          <p:nvPr/>
        </p:nvSpPr>
        <p:spPr>
          <a:xfrm>
            <a:off x="10962000" y="3786724"/>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4184445"/>
            <a:ext cx="597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27.b   </a:t>
            </a:r>
            <a:r>
              <a:rPr sz="1050" b="1">
                <a:solidFill>
                  <a:srgbClr val="060606"/>
                </a:solidFill>
                <a:latin typeface="Helvetica"/>
              </a:rPr>
              <a:t>Une partie des retraités n'est pas prélevée. </a:t>
            </a:r>
            <a:r>
              <a:rPr sz="1050" b="0">
                <a:solidFill>
                  <a:srgbClr val="060606"/>
                </a:solidFill>
                <a:latin typeface="Helvetica"/>
              </a:rPr>
              <a:t>Sans quotité cessible suffisante, pas de prélèvement, et la liste n'a pas été transmise. Le virement de la CGRAE n'est pas rapproché du fichier retour.</a:t>
            </a:r>
          </a:p>
        </p:txBody>
      </p:sp>
      <p:sp>
        <p:nvSpPr>
          <p:cNvPr id="72" name="Rectangle 71"/>
          <p:cNvSpPr/>
          <p:nvPr/>
        </p:nvSpPr>
        <p:spPr>
          <a:xfrm>
            <a:off x="6480000" y="4184445"/>
            <a:ext cx="3384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les non-prélevés et rapprocher chaque virement.</a:t>
            </a:r>
          </a:p>
        </p:txBody>
      </p:sp>
      <p:sp>
        <p:nvSpPr>
          <p:cNvPr id="73" name="Rectangle 72"/>
          <p:cNvSpPr/>
          <p:nvPr/>
        </p:nvSpPr>
        <p:spPr>
          <a:xfrm>
            <a:off x="9864000" y="4184445"/>
            <a:ext cx="93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184445"/>
            <a:ext cx="93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446226"/>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6" name="Rounded Rectangle 75"/>
          <p:cNvSpPr/>
          <p:nvPr/>
        </p:nvSpPr>
        <p:spPr>
          <a:xfrm>
            <a:off x="10962000" y="4446226"/>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7" name="Rectangle 76"/>
          <p:cNvSpPr/>
          <p:nvPr/>
        </p:nvSpPr>
        <p:spPr>
          <a:xfrm>
            <a:off x="503999" y="4924008"/>
            <a:ext cx="597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26.d   </a:t>
            </a:r>
            <a:r>
              <a:rPr sz="1050" b="1">
                <a:solidFill>
                  <a:srgbClr val="060606"/>
                </a:solidFill>
                <a:latin typeface="Helvetica"/>
              </a:rPr>
              <a:t>Deux fichiers retour manquent. </a:t>
            </a:r>
            <a:r>
              <a:rPr sz="1050" b="0">
                <a:solidFill>
                  <a:srgbClr val="060606"/>
                </a:solidFill>
                <a:latin typeface="Helvetica"/>
              </a:rPr>
              <a:t>Janvier et juin 2024.</a:t>
            </a:r>
          </a:p>
        </p:txBody>
      </p:sp>
      <p:sp>
        <p:nvSpPr>
          <p:cNvPr id="78" name="Rectangle 77"/>
          <p:cNvSpPr/>
          <p:nvPr/>
        </p:nvSpPr>
        <p:spPr>
          <a:xfrm>
            <a:off x="6480000" y="4924008"/>
            <a:ext cx="3384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les deux fichiers.</a:t>
            </a:r>
          </a:p>
        </p:txBody>
      </p:sp>
      <p:sp>
        <p:nvSpPr>
          <p:cNvPr id="79" name="Rectangle 78"/>
          <p:cNvSpPr/>
          <p:nvPr/>
        </p:nvSpPr>
        <p:spPr>
          <a:xfrm>
            <a:off x="9864000" y="4924008"/>
            <a:ext cx="93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924008"/>
            <a:ext cx="93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5044608"/>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2" name="Rounded Rectangle 81"/>
          <p:cNvSpPr/>
          <p:nvPr/>
        </p:nvSpPr>
        <p:spPr>
          <a:xfrm>
            <a:off x="10962000" y="5044608"/>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3" name="TextBox 82"/>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84" name="TextBox 8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a:t>
            </a:r>
          </a:p>
        </p:txBody>
      </p:sp>
    </p:spTree>
    <p:extLst>
      <p:ext uri="{BB962C8B-B14F-4D97-AF65-F5344CB8AC3E}">
        <p14:creationId xmlns:p14="http://schemas.microsoft.com/office/powerpoint/2010/main" val="34172633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 fin de carrière a triplé, sans taux fixé ni intérêts comptabilisés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6, les intérêts promis ne sont pas comptabilisés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p:cNvSpPr/>
          <p:nvPr/>
        </p:nvSpPr>
        <p:spPr>
          <a:xfrm>
            <a:off x="2883857"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EFC</a:t>
            </a:r>
          </a:p>
        </p:txBody>
      </p:sp>
      <p:sp>
        <p:nvSpPr>
          <p:cNvPr id="37" name="Nav PEP">
            <a:hlinkClick action="ppaction://hlinksldjump" r:id="rId10"/>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0"/>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1"/>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EFC"/>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PRODUITS  ›  </a:t>
            </a:r>
            <a:r>
              <a:rPr sz="1200" b="1">
                <a:solidFill>
                  <a:srgbClr val="FFFFFF"/>
                </a:solidFill>
                <a:latin typeface="Helvetica"/>
              </a:rPr>
              <a:t>EFC</a:t>
            </a:r>
            <a:r>
              <a:rPr sz="950" b="0">
                <a:solidFill>
                  <a:srgbClr val="FFFFFF"/>
                </a:solidFill>
                <a:latin typeface="Helvetica"/>
              </a:rPr>
              <a:t>     6 constats, dont 3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6   </a:t>
            </a:r>
            <a:r>
              <a:rPr sz="1050" b="1">
                <a:solidFill>
                  <a:srgbClr val="060606"/>
                </a:solidFill>
                <a:latin typeface="Helvetica"/>
              </a:rPr>
              <a:t>Les intérêts promis ne sont pas comptabilisés. </a:t>
            </a:r>
            <a:r>
              <a:rPr sz="1050" b="0">
                <a:solidFill>
                  <a:srgbClr val="060606"/>
                </a:solidFill>
                <a:latin typeface="Helvetica"/>
              </a:rPr>
              <a:t>Pour l'EFC : 2 027 062 663 FCFA à 5,50 % de 2020 au 31/08/2026, sur 3 278 913 238 FCFA au total.</a:t>
            </a:r>
          </a:p>
        </p:txBody>
      </p:sp>
      <p:sp>
        <p:nvSpPr>
          <p:cNvPr id="54" name="Rectangle 53"/>
          <p:cNvSpPr/>
          <p:nvPr/>
        </p:nvSpPr>
        <p:spPr>
          <a:xfrm>
            <a:off x="6480000" y="2286000"/>
            <a:ext cx="3384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Comptabiliser chaque année les intérêts dus.</a:t>
            </a:r>
          </a:p>
        </p:txBody>
      </p:sp>
      <p:sp>
        <p:nvSpPr>
          <p:cNvPr id="55" name="Rectangle 54"/>
          <p:cNvSpPr/>
          <p:nvPr/>
        </p:nvSpPr>
        <p:spPr>
          <a:xfrm>
            <a:off x="9864000" y="2286000"/>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48156"/>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48156"/>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826313"/>
            <a:ext cx="5976000" cy="700434"/>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7   </a:t>
            </a:r>
            <a:r>
              <a:rPr sz="1050" b="1">
                <a:solidFill>
                  <a:srgbClr val="060606"/>
                </a:solidFill>
                <a:latin typeface="Helvetica"/>
              </a:rPr>
              <a:t>Aucun taux n'est officiellement fixé. </a:t>
            </a:r>
            <a:r>
              <a:rPr sz="1050" b="0">
                <a:solidFill>
                  <a:srgbClr val="060606"/>
                </a:solidFill>
                <a:latin typeface="Helvetica"/>
              </a:rPr>
              <a:t>3,50 %, 5,50 % ou 14 % selon le document. Même à 3,50 %, une année d'intérêts (309 709 577 FCFA en 2025) dépasse les produits de tous les placements.</a:t>
            </a:r>
          </a:p>
        </p:txBody>
      </p:sp>
      <p:sp>
        <p:nvSpPr>
          <p:cNvPr id="60" name="Rectangle 59"/>
          <p:cNvSpPr/>
          <p:nvPr/>
        </p:nvSpPr>
        <p:spPr>
          <a:xfrm>
            <a:off x="6480000" y="2826313"/>
            <a:ext cx="3384000" cy="700434"/>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Faire fixer le taux par le conseil d'administration.</a:t>
            </a:r>
          </a:p>
        </p:txBody>
      </p:sp>
      <p:sp>
        <p:nvSpPr>
          <p:cNvPr id="61" name="Rectangle 60"/>
          <p:cNvSpPr/>
          <p:nvPr/>
        </p:nvSpPr>
        <p:spPr>
          <a:xfrm>
            <a:off x="9864000" y="2826313"/>
            <a:ext cx="936000" cy="700434"/>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826313"/>
            <a:ext cx="936000" cy="700434"/>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6853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64" name="Rounded Rectangle 63"/>
          <p:cNvSpPr/>
          <p:nvPr/>
        </p:nvSpPr>
        <p:spPr>
          <a:xfrm>
            <a:off x="10962000" y="3068530"/>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65" name="Rectangle 64"/>
          <p:cNvSpPr/>
          <p:nvPr/>
        </p:nvSpPr>
        <p:spPr>
          <a:xfrm>
            <a:off x="503999" y="3526747"/>
            <a:ext cx="597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11.a   </a:t>
            </a:r>
            <a:r>
              <a:rPr sz="1050" b="1">
                <a:solidFill>
                  <a:srgbClr val="060606"/>
                </a:solidFill>
                <a:latin typeface="Helvetica"/>
              </a:rPr>
              <a:t>Les sorties ne sont pas prévues. </a:t>
            </a:r>
            <a:r>
              <a:rPr sz="1050" b="0">
                <a:solidFill>
                  <a:srgbClr val="060606"/>
                </a:solidFill>
                <a:latin typeface="Helvetica"/>
              </a:rPr>
              <a:t>L'EFC sort aux départs à la retraite, imprévisibles sans dates de naissance. Aucun échéancier n'existe.</a:t>
            </a:r>
          </a:p>
        </p:txBody>
      </p:sp>
      <p:sp>
        <p:nvSpPr>
          <p:cNvPr id="66" name="Rectangle 65"/>
          <p:cNvSpPr/>
          <p:nvPr/>
        </p:nvSpPr>
        <p:spPr>
          <a:xfrm>
            <a:off x="6480000" y="3526747"/>
            <a:ext cx="3384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Établir l'échéancier des départs à la retraite.</a:t>
            </a:r>
          </a:p>
        </p:txBody>
      </p:sp>
      <p:sp>
        <p:nvSpPr>
          <p:cNvPr id="67" name="Rectangle 66"/>
          <p:cNvSpPr/>
          <p:nvPr/>
        </p:nvSpPr>
        <p:spPr>
          <a:xfrm>
            <a:off x="9864000" y="3526747"/>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526747"/>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688903"/>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70" name="Rounded Rectangle 69"/>
          <p:cNvSpPr/>
          <p:nvPr/>
        </p:nvSpPr>
        <p:spPr>
          <a:xfrm>
            <a:off x="10962000" y="3688903"/>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71" name="Rectangle 70"/>
          <p:cNvSpPr/>
          <p:nvPr/>
        </p:nvSpPr>
        <p:spPr>
          <a:xfrm>
            <a:off x="503999" y="4067060"/>
            <a:ext cx="597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10.b   </a:t>
            </a:r>
            <a:r>
              <a:rPr sz="1050" b="1">
                <a:solidFill>
                  <a:srgbClr val="060606"/>
                </a:solidFill>
                <a:latin typeface="Helvetica"/>
              </a:rPr>
              <a:t>L'EFC a triplé sans réserve dédiée. </a:t>
            </a:r>
            <a:r>
              <a:rPr sz="1050" b="0">
                <a:solidFill>
                  <a:srgbClr val="060606"/>
                </a:solidFill>
                <a:latin typeface="Helvetica"/>
              </a:rPr>
              <a:t>3 461 975 893 FCFA en 2020, 10 514 270 966 FCFA au 31/08/2026. Le dépôt à terme EFC est vidé chaque décembre pour payer l'EFC.</a:t>
            </a:r>
          </a:p>
        </p:txBody>
      </p:sp>
      <p:sp>
        <p:nvSpPr>
          <p:cNvPr id="72" name="Rectangle 71"/>
          <p:cNvSpPr/>
          <p:nvPr/>
        </p:nvSpPr>
        <p:spPr>
          <a:xfrm>
            <a:off x="6480000" y="4067060"/>
            <a:ext cx="3384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Constituer une réserve réservée à l'épargne.</a:t>
            </a:r>
          </a:p>
        </p:txBody>
      </p:sp>
      <p:sp>
        <p:nvSpPr>
          <p:cNvPr id="73" name="Rectangle 72"/>
          <p:cNvSpPr/>
          <p:nvPr/>
        </p:nvSpPr>
        <p:spPr>
          <a:xfrm>
            <a:off x="9864000" y="4067060"/>
            <a:ext cx="93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067060"/>
            <a:ext cx="93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229217"/>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6" name="Rounded Rectangle 75"/>
          <p:cNvSpPr/>
          <p:nvPr/>
        </p:nvSpPr>
        <p:spPr>
          <a:xfrm>
            <a:off x="10962000" y="4229217"/>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7" name="Rectangle 76"/>
          <p:cNvSpPr/>
          <p:nvPr/>
        </p:nvSpPr>
        <p:spPr>
          <a:xfrm>
            <a:off x="503999" y="4607373"/>
            <a:ext cx="597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8   </a:t>
            </a:r>
            <a:r>
              <a:rPr sz="1050" b="1">
                <a:solidFill>
                  <a:srgbClr val="060606"/>
                </a:solidFill>
                <a:latin typeface="Helvetica"/>
              </a:rPr>
              <a:t>Pas de compte individuel par épargnant. </a:t>
            </a:r>
            <a:r>
              <a:rPr sz="1050" b="0">
                <a:solidFill>
                  <a:srgbClr val="060606"/>
                </a:solidFill>
                <a:latin typeface="Helvetica"/>
              </a:rPr>
              <a:t>Le solde de chaque policier n'est pas connu.</a:t>
            </a:r>
          </a:p>
        </p:txBody>
      </p:sp>
      <p:sp>
        <p:nvSpPr>
          <p:cNvPr id="78" name="Rectangle 77"/>
          <p:cNvSpPr/>
          <p:nvPr/>
        </p:nvSpPr>
        <p:spPr>
          <a:xfrm>
            <a:off x="6480000" y="4607373"/>
            <a:ext cx="3384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Tenir un compte par épargnant et envoyer un relevé annuel.</a:t>
            </a:r>
          </a:p>
        </p:txBody>
      </p:sp>
      <p:sp>
        <p:nvSpPr>
          <p:cNvPr id="79" name="Rectangle 78"/>
          <p:cNvSpPr/>
          <p:nvPr/>
        </p:nvSpPr>
        <p:spPr>
          <a:xfrm>
            <a:off x="9864000" y="4607373"/>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607373"/>
            <a:ext cx="936000" cy="540313"/>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769530"/>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82" name="Rounded Rectangle 81"/>
          <p:cNvSpPr/>
          <p:nvPr/>
        </p:nvSpPr>
        <p:spPr>
          <a:xfrm>
            <a:off x="10962000" y="476953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3" name="Rectangle 82"/>
          <p:cNvSpPr/>
          <p:nvPr/>
        </p:nvSpPr>
        <p:spPr>
          <a:xfrm>
            <a:off x="503999" y="5147686"/>
            <a:ext cx="597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26.e   </a:t>
            </a:r>
            <a:r>
              <a:rPr sz="1050" b="1">
                <a:solidFill>
                  <a:srgbClr val="060606"/>
                </a:solidFill>
                <a:latin typeface="Helvetica"/>
              </a:rPr>
              <a:t>La hausse de l'EFC à 10 000 FCFA n'est pas documentée. </a:t>
            </a:r>
            <a:r>
              <a:rPr sz="1050" b="0">
                <a:solidFill>
                  <a:srgbClr val="060606"/>
                </a:solidFill>
                <a:latin typeface="Helvetica"/>
              </a:rPr>
              <a:t>Décision de 2021 non transmise. </a:t>
            </a:r>
            <a:r>
              <a:rPr sz="1050" b="0">
                <a:solidFill>
                  <a:srgbClr val="060606"/>
                </a:solidFill>
                <a:highlight>
                  <a:srgbClr val="FFFF00"/>
                </a:highlight>
                <a:latin typeface="Helvetica"/>
              </a:rPr>
              <a:t>Le premier prélèvement des nouvelles recrues peut être décalé d'un mois.</a:t>
            </a:r>
          </a:p>
        </p:txBody>
      </p:sp>
      <p:sp>
        <p:nvSpPr>
          <p:cNvPr id="84" name="Rectangle 83"/>
          <p:cNvSpPr/>
          <p:nvPr/>
        </p:nvSpPr>
        <p:spPr>
          <a:xfrm>
            <a:off x="6480000" y="5147686"/>
            <a:ext cx="3384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la décision et dater chaque souscription.</a:t>
            </a:r>
          </a:p>
        </p:txBody>
      </p:sp>
      <p:sp>
        <p:nvSpPr>
          <p:cNvPr id="85" name="Rectangle 84"/>
          <p:cNvSpPr/>
          <p:nvPr/>
        </p:nvSpPr>
        <p:spPr>
          <a:xfrm>
            <a:off x="9864000" y="5147686"/>
            <a:ext cx="93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5147686"/>
            <a:ext cx="936000" cy="540313"/>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5309843"/>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5309843"/>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9" name="TextBox 88"/>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0" name="TextBox 8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223187911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PEP et MEDOC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volontaire sort vite et ses intérêts ne sont pas comptabilisés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6.a, les intérêts promis ne sont pas comptabilisés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p:cNvSpPr/>
          <p:nvPr/>
        </p:nvSpPr>
        <p:spPr>
          <a:xfrm>
            <a:off x="3677142"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PEP</a:t>
            </a:r>
          </a:p>
        </p:txBody>
      </p:sp>
      <p:sp>
        <p:nvSpPr>
          <p:cNvPr id="38" name="Nav MEDOC"/>
          <p:cNvSpPr/>
          <p:nvPr/>
        </p:nvSpPr>
        <p:spPr>
          <a:xfrm>
            <a:off x="4470428"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MEDOC</a:t>
            </a:r>
          </a:p>
        </p:txBody>
      </p:sp>
      <p:sp>
        <p:nvSpPr>
          <p:cNvPr id="39" name="Nav Grenier">
            <a:hlinkClick action="ppaction://hlinksldjump" r:id="rId11"/>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PEP"/>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PRODUITS  ›  </a:t>
            </a:r>
            <a:r>
              <a:rPr sz="1200" b="1">
                <a:solidFill>
                  <a:srgbClr val="FFFFFF"/>
                </a:solidFill>
                <a:latin typeface="Helvetica"/>
              </a:rPr>
              <a:t>PEP</a:t>
            </a:r>
            <a:r>
              <a:rPr sz="950" b="0">
                <a:solidFill>
                  <a:srgbClr val="FFFFFF"/>
                </a:solidFill>
                <a:latin typeface="Helvetica"/>
              </a:rPr>
              <a:t>     4 constats, dont 1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1">
                <a:solidFill>
                  <a:srgbClr val="112A40"/>
                </a:solidFill>
                <a:latin typeface="Helvetica"/>
              </a:rPr>
              <a:t>6.a   </a:t>
            </a:r>
            <a:r>
              <a:rPr sz="1000" b="1">
                <a:solidFill>
                  <a:srgbClr val="060606"/>
                </a:solidFill>
                <a:latin typeface="Helvetica"/>
              </a:rPr>
              <a:t>Les intérêts promis ne sont pas comptabilisés. </a:t>
            </a:r>
            <a:r>
              <a:rPr sz="1000" b="0">
                <a:solidFill>
                  <a:srgbClr val="060606"/>
                </a:solidFill>
                <a:latin typeface="Helvetica"/>
              </a:rPr>
              <a:t>Pour le PEP : 1 251 850 574 FCFA à 3,50 % de 2020 au 31/08/2026.</a:t>
            </a:r>
          </a:p>
        </p:txBody>
      </p:sp>
      <p:sp>
        <p:nvSpPr>
          <p:cNvPr id="54" name="Rectangle 53"/>
          <p:cNvSpPr/>
          <p:nvPr/>
        </p:nvSpPr>
        <p:spPr>
          <a:xfrm>
            <a:off x="6480000" y="2286000"/>
            <a:ext cx="3384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Comptabiliser chaque année les intérêts dus.</a:t>
            </a:r>
          </a:p>
        </p:txBody>
      </p:sp>
      <p:sp>
        <p:nvSpPr>
          <p:cNvPr id="55" name="Rectangle 54"/>
          <p:cNvSpPr/>
          <p:nvPr/>
        </p:nvSpPr>
        <p:spPr>
          <a:xfrm>
            <a:off x="9864000" y="22860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2400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24000"/>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778000"/>
            <a:ext cx="597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1">
                <a:solidFill>
                  <a:srgbClr val="112A40"/>
                </a:solidFill>
                <a:latin typeface="Helvetica"/>
              </a:rPr>
              <a:t>10.a   </a:t>
            </a:r>
            <a:r>
              <a:rPr sz="1000" b="1">
                <a:solidFill>
                  <a:srgbClr val="060606"/>
                </a:solidFill>
                <a:latin typeface="Helvetica"/>
              </a:rPr>
              <a:t>Le PEP sort vite. </a:t>
            </a:r>
            <a:r>
              <a:rPr sz="1000" b="0">
                <a:solidFill>
                  <a:srgbClr val="060606"/>
                </a:solidFill>
                <a:latin typeface="Helvetica"/>
              </a:rPr>
              <a:t>46,17 % de l'épargne PEP est sortie en 2023, 23,60 % en 2025.</a:t>
            </a:r>
          </a:p>
        </p:txBody>
      </p:sp>
      <p:sp>
        <p:nvSpPr>
          <p:cNvPr id="60" name="Rectangle 59"/>
          <p:cNvSpPr/>
          <p:nvPr/>
        </p:nvSpPr>
        <p:spPr>
          <a:xfrm>
            <a:off x="6480000" y="2778000"/>
            <a:ext cx="3384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Prévoir la liquidité selon les échéances des plans.</a:t>
            </a:r>
          </a:p>
        </p:txBody>
      </p:sp>
      <p:sp>
        <p:nvSpPr>
          <p:cNvPr id="61" name="Rectangle 60"/>
          <p:cNvSpPr/>
          <p:nvPr/>
        </p:nvSpPr>
        <p:spPr>
          <a:xfrm>
            <a:off x="9864000" y="27780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7780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291600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291600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270000"/>
            <a:ext cx="597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1">
                <a:solidFill>
                  <a:srgbClr val="112A40"/>
                </a:solidFill>
                <a:latin typeface="Helvetica"/>
              </a:rPr>
              <a:t>27.c   </a:t>
            </a:r>
            <a:r>
              <a:rPr sz="1000" b="1">
                <a:solidFill>
                  <a:srgbClr val="060606"/>
                </a:solidFill>
                <a:latin typeface="Helvetica"/>
              </a:rPr>
              <a:t>Des prélèvements PEP sont de nature inconnue. </a:t>
            </a:r>
            <a:r>
              <a:rPr sz="1000" b="0">
                <a:solidFill>
                  <a:srgbClr val="060606"/>
                </a:solidFill>
                <a:latin typeface="Helvetica"/>
              </a:rPr>
              <a:t>174 461 860 FCFA de références PTI, RPEP, EP, TI et PTQ de 2020 à 2026.</a:t>
            </a:r>
          </a:p>
        </p:txBody>
      </p:sp>
      <p:sp>
        <p:nvSpPr>
          <p:cNvPr id="66" name="Rectangle 65"/>
          <p:cNvSpPr/>
          <p:nvPr/>
        </p:nvSpPr>
        <p:spPr>
          <a:xfrm>
            <a:off x="6480000" y="3270000"/>
            <a:ext cx="3384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Préciser la nature de ces prélèvements.</a:t>
            </a:r>
          </a:p>
        </p:txBody>
      </p:sp>
      <p:sp>
        <p:nvSpPr>
          <p:cNvPr id="67" name="Rectangle 66"/>
          <p:cNvSpPr/>
          <p:nvPr/>
        </p:nvSpPr>
        <p:spPr>
          <a:xfrm>
            <a:off x="9864000" y="32700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2700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4080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40800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3762000"/>
            <a:ext cx="597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1">
                <a:solidFill>
                  <a:srgbClr val="112A40"/>
                </a:solidFill>
                <a:latin typeface="Helvetica"/>
              </a:rPr>
              <a:t>23.a   </a:t>
            </a:r>
            <a:r>
              <a:rPr sz="1000" b="1">
                <a:solidFill>
                  <a:srgbClr val="060606"/>
                </a:solidFill>
                <a:latin typeface="Helvetica"/>
              </a:rPr>
              <a:t>Les intérêts du dépôt PEP sont enregistrés en une fois. </a:t>
            </a:r>
            <a:r>
              <a:rPr sz="1000" b="0">
                <a:solidFill>
                  <a:srgbClr val="060606"/>
                </a:solidFill>
                <a:latin typeface="Helvetica"/>
              </a:rPr>
              <a:t>Dépôt de 505 383 858 FCFA placé de 2020 à 2025 : 132 663 262 FCFA d'intérêts enregistrés en 2025 seulement.</a:t>
            </a:r>
          </a:p>
        </p:txBody>
      </p:sp>
      <p:sp>
        <p:nvSpPr>
          <p:cNvPr id="72" name="Rectangle 71"/>
          <p:cNvSpPr/>
          <p:nvPr/>
        </p:nvSpPr>
        <p:spPr>
          <a:xfrm>
            <a:off x="6480000" y="3762000"/>
            <a:ext cx="3384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Enregistrer les intérêts chaque année.</a:t>
            </a:r>
          </a:p>
        </p:txBody>
      </p:sp>
      <p:sp>
        <p:nvSpPr>
          <p:cNvPr id="73" name="Rectangle 72"/>
          <p:cNvSpPr/>
          <p:nvPr/>
        </p:nvSpPr>
        <p:spPr>
          <a:xfrm>
            <a:off x="9864000" y="37620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37620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39000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390000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Bloc MEDOC"/>
          <p:cNvSpPr/>
          <p:nvPr/>
        </p:nvSpPr>
        <p:spPr>
          <a:xfrm>
            <a:off x="503999" y="4282800"/>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PRODUITS  ›  </a:t>
            </a:r>
            <a:r>
              <a:rPr sz="1200" b="1">
                <a:solidFill>
                  <a:srgbClr val="FFFFFF"/>
                </a:solidFill>
                <a:latin typeface="Helvetica"/>
              </a:rPr>
              <a:t>MEDOC</a:t>
            </a:r>
            <a:r>
              <a:rPr sz="950" b="0">
                <a:solidFill>
                  <a:srgbClr val="FFFFFF"/>
                </a:solidFill>
                <a:latin typeface="Helvetica"/>
              </a:rPr>
              <a:t>     2 constats</a:t>
            </a:r>
          </a:p>
        </p:txBody>
      </p:sp>
      <p:sp>
        <p:nvSpPr>
          <p:cNvPr id="78" name="Nav Carte">
            <a:hlinkClick action="ppaction://hlinksldjump" r:id="rId18"/>
          </p:cNvPr>
          <p:cNvSpPr/>
          <p:nvPr/>
        </p:nvSpPr>
        <p:spPr>
          <a:xfrm>
            <a:off x="10007999" y="4318800"/>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79" name="Rectangle 78"/>
          <p:cNvSpPr/>
          <p:nvPr/>
        </p:nvSpPr>
        <p:spPr>
          <a:xfrm>
            <a:off x="503999" y="45348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80" name="Rectangle 79"/>
          <p:cNvSpPr/>
          <p:nvPr/>
        </p:nvSpPr>
        <p:spPr>
          <a:xfrm>
            <a:off x="6480000" y="45348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81" name="Rectangle 80"/>
          <p:cNvSpPr/>
          <p:nvPr/>
        </p:nvSpPr>
        <p:spPr>
          <a:xfrm>
            <a:off x="9864000" y="45348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82" name="Rectangle 81"/>
          <p:cNvSpPr/>
          <p:nvPr/>
        </p:nvSpPr>
        <p:spPr>
          <a:xfrm>
            <a:off x="10800000" y="45348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83" name="Rectangle 82"/>
          <p:cNvSpPr/>
          <p:nvPr/>
        </p:nvSpPr>
        <p:spPr>
          <a:xfrm>
            <a:off x="503999" y="4732800"/>
            <a:ext cx="597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1">
                <a:solidFill>
                  <a:srgbClr val="112A40"/>
                </a:solidFill>
                <a:latin typeface="Helvetica"/>
              </a:rPr>
              <a:t>26.f   </a:t>
            </a:r>
            <a:r>
              <a:rPr sz="1000" b="1">
                <a:solidFill>
                  <a:srgbClr val="060606"/>
                </a:solidFill>
                <a:latin typeface="Helvetica"/>
              </a:rPr>
              <a:t>MEDOC n'est pas documenté. </a:t>
            </a:r>
            <a:r>
              <a:rPr sz="1000" b="0">
                <a:solidFill>
                  <a:srgbClr val="060606"/>
                </a:solidFill>
                <a:latin typeface="Helvetica"/>
              </a:rPr>
              <a:t>Ni conventions avec les pharmacies, ni période de fonctionnement, ni décision de suspension.</a:t>
            </a:r>
          </a:p>
        </p:txBody>
      </p:sp>
      <p:sp>
        <p:nvSpPr>
          <p:cNvPr id="84" name="Rectangle 83"/>
          <p:cNvSpPr/>
          <p:nvPr/>
        </p:nvSpPr>
        <p:spPr>
          <a:xfrm>
            <a:off x="6480000" y="4732800"/>
            <a:ext cx="3384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Transmettre la documentation de MEDOC.</a:t>
            </a:r>
          </a:p>
        </p:txBody>
      </p:sp>
      <p:sp>
        <p:nvSpPr>
          <p:cNvPr id="85" name="Rectangle 84"/>
          <p:cNvSpPr/>
          <p:nvPr/>
        </p:nvSpPr>
        <p:spPr>
          <a:xfrm>
            <a:off x="9864000" y="47328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4732800"/>
            <a:ext cx="936000" cy="492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48708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487080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9" name="Rectangle 88"/>
          <p:cNvSpPr/>
          <p:nvPr/>
        </p:nvSpPr>
        <p:spPr>
          <a:xfrm>
            <a:off x="503999" y="5224800"/>
            <a:ext cx="597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1">
                <a:solidFill>
                  <a:srgbClr val="112A40"/>
                </a:solidFill>
                <a:latin typeface="Helvetica"/>
              </a:rPr>
              <a:t>27.d   </a:t>
            </a:r>
            <a:r>
              <a:rPr sz="1000" b="1">
                <a:solidFill>
                  <a:srgbClr val="060606"/>
                </a:solidFill>
                <a:latin typeface="Helvetica"/>
              </a:rPr>
              <a:t>Les prélèvements MEDOC sont incomplets. </a:t>
            </a:r>
            <a:r>
              <a:rPr sz="1000" b="0">
                <a:solidFill>
                  <a:srgbClr val="060606"/>
                </a:solidFill>
                <a:latin typeface="Helvetica"/>
              </a:rPr>
              <a:t>Fichiers reçus de novembre 2025 à août 2026 seulement. Produit ou garantie : nature à préciser.</a:t>
            </a:r>
          </a:p>
        </p:txBody>
      </p:sp>
      <p:sp>
        <p:nvSpPr>
          <p:cNvPr id="90" name="Rectangle 89"/>
          <p:cNvSpPr/>
          <p:nvPr/>
        </p:nvSpPr>
        <p:spPr>
          <a:xfrm>
            <a:off x="6480000" y="5224800"/>
            <a:ext cx="3384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Transmettre les fichiers manquants et préciser la nature.</a:t>
            </a:r>
          </a:p>
        </p:txBody>
      </p:sp>
      <p:sp>
        <p:nvSpPr>
          <p:cNvPr id="91" name="Rectangle 90"/>
          <p:cNvSpPr/>
          <p:nvPr/>
        </p:nvSpPr>
        <p:spPr>
          <a:xfrm>
            <a:off x="9864000" y="52248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2" name="Rectangle 91"/>
          <p:cNvSpPr/>
          <p:nvPr/>
        </p:nvSpPr>
        <p:spPr>
          <a:xfrm>
            <a:off x="10800000" y="5224800"/>
            <a:ext cx="936000" cy="492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3" name="Rounded Rectangle 92"/>
          <p:cNvSpPr/>
          <p:nvPr/>
        </p:nvSpPr>
        <p:spPr>
          <a:xfrm>
            <a:off x="9936000" y="53628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94" name="Rounded Rectangle 93"/>
          <p:cNvSpPr/>
          <p:nvPr/>
        </p:nvSpPr>
        <p:spPr>
          <a:xfrm>
            <a:off x="10962000" y="536280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95" name="TextBox 94"/>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6" name="TextBox 9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145030036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grandit vite, financé presque entièrement par l'épargne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25, le Grenier grandit vite avec l'épargne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p:cNvSpPr/>
          <p:nvPr/>
        </p:nvSpPr>
        <p:spPr>
          <a:xfrm>
            <a:off x="5263714"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Grenier</a:t>
            </a:r>
          </a:p>
        </p:txBody>
      </p:sp>
      <p:sp>
        <p:nvSpPr>
          <p:cNvPr id="40" name="Nav Flotte automobile">
            <a:hlinkClick action="ppaction://hlinksldjump" r:id="rId12"/>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2"/>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Grenier"/>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PRODUITS  ›  </a:t>
            </a:r>
            <a:r>
              <a:rPr sz="1200" b="1">
                <a:solidFill>
                  <a:srgbClr val="FFFFFF"/>
                </a:solidFill>
                <a:latin typeface="Helvetica"/>
              </a:rPr>
              <a:t>GRENIER</a:t>
            </a:r>
            <a:r>
              <a:rPr sz="950" b="0">
                <a:solidFill>
                  <a:srgbClr val="FFFFFF"/>
                </a:solidFill>
                <a:latin typeface="Helvetica"/>
              </a:rPr>
              <a:t>     4 constats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25   </a:t>
            </a:r>
            <a:r>
              <a:rPr sz="1050" b="1">
                <a:solidFill>
                  <a:srgbClr val="060606"/>
                </a:solidFill>
                <a:latin typeface="Helvetica"/>
              </a:rPr>
              <a:t>Le Grenier grandit vite avec l'épargne. </a:t>
            </a:r>
            <a:r>
              <a:rPr sz="1050" b="0">
                <a:solidFill>
                  <a:srgbClr val="060606"/>
                </a:solidFill>
                <a:latin typeface="Helvetica"/>
              </a:rPr>
              <a:t>Encours de 7 900 000 FCFA fin 2021 à 1 044 302 107 FCFA au 31/08/2026, financé à 87,66 % par le FPPN.</a:t>
            </a:r>
          </a:p>
        </p:txBody>
      </p:sp>
      <p:sp>
        <p:nvSpPr>
          <p:cNvPr id="54" name="Rectangle 53"/>
          <p:cNvSpPr/>
          <p:nvPr/>
        </p:nvSpPr>
        <p:spPr>
          <a:xfrm>
            <a:off x="6480000" y="2286000"/>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Fixer par décision un plafond de financement du Grenier.</a:t>
            </a:r>
          </a:p>
        </p:txBody>
      </p:sp>
      <p:sp>
        <p:nvSpPr>
          <p:cNvPr id="55" name="Rectangle 54"/>
          <p:cNvSpPr/>
          <p:nvPr/>
        </p:nvSpPr>
        <p:spPr>
          <a:xfrm>
            <a:off x="9864000" y="2286000"/>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6772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6772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59" name="Rectangle 58"/>
          <p:cNvSpPr/>
          <p:nvPr/>
        </p:nvSpPr>
        <p:spPr>
          <a:xfrm>
            <a:off x="503999" y="2865441"/>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4   </a:t>
            </a:r>
            <a:r>
              <a:rPr sz="1050" b="1">
                <a:solidFill>
                  <a:srgbClr val="060606"/>
                </a:solidFill>
                <a:latin typeface="Helvetica"/>
              </a:rPr>
              <a:t>Les pertes probables ne sont pas comptées. </a:t>
            </a:r>
            <a:r>
              <a:rPr sz="1050" b="0">
                <a:solidFill>
                  <a:srgbClr val="060606"/>
                </a:solidFill>
                <a:latin typeface="Helvetica"/>
              </a:rPr>
              <a:t>14 016 392 FCFA selon la politique de crédit (40 %, 80 % ou 100 % selon le retard).</a:t>
            </a:r>
          </a:p>
        </p:txBody>
      </p:sp>
      <p:sp>
        <p:nvSpPr>
          <p:cNvPr id="60" name="Rectangle 59"/>
          <p:cNvSpPr/>
          <p:nvPr/>
        </p:nvSpPr>
        <p:spPr>
          <a:xfrm>
            <a:off x="6480000" y="2865441"/>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Déprécier chaque année les prêts en retard.</a:t>
            </a:r>
          </a:p>
        </p:txBody>
      </p:sp>
      <p:sp>
        <p:nvSpPr>
          <p:cNvPr id="61" name="Rectangle 60"/>
          <p:cNvSpPr/>
          <p:nvPr/>
        </p:nvSpPr>
        <p:spPr>
          <a:xfrm>
            <a:off x="9864000" y="2865441"/>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865441"/>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47162"/>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64" name="Rounded Rectangle 63"/>
          <p:cNvSpPr/>
          <p:nvPr/>
        </p:nvSpPr>
        <p:spPr>
          <a:xfrm>
            <a:off x="10962000" y="3047162"/>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65" name="Rectangle 64"/>
          <p:cNvSpPr/>
          <p:nvPr/>
        </p:nvSpPr>
        <p:spPr>
          <a:xfrm>
            <a:off x="503999" y="3444883"/>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4.a   </a:t>
            </a:r>
            <a:r>
              <a:rPr sz="1050" b="1">
                <a:solidFill>
                  <a:srgbClr val="060606"/>
                </a:solidFill>
                <a:latin typeface="Helvetica"/>
              </a:rPr>
              <a:t>126 prêts ont plus de 180 jours de retard. </a:t>
            </a:r>
            <a:r>
              <a:rPr sz="1050" b="0">
                <a:solidFill>
                  <a:srgbClr val="060606"/>
                </a:solidFill>
                <a:latin typeface="Helvetica"/>
              </a:rPr>
              <a:t>Les retards de fin janvier 2026 se sont résorbés, signe d'échéances non prélevées fin 2025.</a:t>
            </a:r>
          </a:p>
        </p:txBody>
      </p:sp>
      <p:sp>
        <p:nvSpPr>
          <p:cNvPr id="66" name="Rectangle 65"/>
          <p:cNvSpPr/>
          <p:nvPr/>
        </p:nvSpPr>
        <p:spPr>
          <a:xfrm>
            <a:off x="6480000" y="3444883"/>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chaque mois les retards et les échéances non prélevées.</a:t>
            </a:r>
          </a:p>
        </p:txBody>
      </p:sp>
      <p:sp>
        <p:nvSpPr>
          <p:cNvPr id="67" name="Rectangle 66"/>
          <p:cNvSpPr/>
          <p:nvPr/>
        </p:nvSpPr>
        <p:spPr>
          <a:xfrm>
            <a:off x="9864000" y="3444883"/>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444883"/>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626604"/>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626604"/>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4024324"/>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25.a   </a:t>
            </a:r>
            <a:r>
              <a:rPr sz="1050" b="1">
                <a:solidFill>
                  <a:srgbClr val="060606"/>
                </a:solidFill>
                <a:latin typeface="Helvetica"/>
              </a:rPr>
              <a:t>Les prêts sont courts mais l'habitat allonge le risque. </a:t>
            </a:r>
            <a:r>
              <a:rPr sz="1050" b="0">
                <a:solidFill>
                  <a:srgbClr val="060606"/>
                </a:solidFill>
                <a:latin typeface="Helvetica"/>
              </a:rPr>
              <a:t>Durée médiane de 10 mois, taux médian de 18,00 %. Scolaire et habitat : 66,12 % des montants de 2025.</a:t>
            </a:r>
          </a:p>
        </p:txBody>
      </p:sp>
      <p:sp>
        <p:nvSpPr>
          <p:cNvPr id="72" name="Rectangle 71"/>
          <p:cNvSpPr/>
          <p:nvPr/>
        </p:nvSpPr>
        <p:spPr>
          <a:xfrm>
            <a:off x="6480000" y="4024324"/>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Encadrer la part des crédits longs.</a:t>
            </a:r>
          </a:p>
        </p:txBody>
      </p:sp>
      <p:sp>
        <p:nvSpPr>
          <p:cNvPr id="73" name="Rectangle 72"/>
          <p:cNvSpPr/>
          <p:nvPr/>
        </p:nvSpPr>
        <p:spPr>
          <a:xfrm>
            <a:off x="9864000" y="4024324"/>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024324"/>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206045"/>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4206045"/>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TextBox 76"/>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78" name="TextBox 7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31101936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et Clinique (CMP)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clinique n'a ni comptes séparés ni valeur établie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17, la clinique n'a pas de comptabilité séparée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p:cNvSpPr/>
          <p:nvPr/>
        </p:nvSpPr>
        <p:spPr>
          <a:xfrm>
            <a:off x="6057000"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1">
                <a:solidFill>
                  <a:srgbClr val="FFFFFF"/>
                </a:solidFill>
                <a:latin typeface="Helvetica"/>
              </a:rPr>
              <a:t>Flotte auto</a:t>
            </a:r>
          </a:p>
        </p:txBody>
      </p:sp>
      <p:sp>
        <p:nvSpPr>
          <p:cNvPr id="41" name="Nav Clinique (CMP)"/>
          <p:cNvSpPr/>
          <p:nvPr/>
        </p:nvSpPr>
        <p:spPr>
          <a:xfrm>
            <a:off x="6850285"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Clinique</a:t>
            </a:r>
          </a:p>
        </p:txBody>
      </p:sp>
      <p:sp>
        <p:nvSpPr>
          <p:cNvPr id="42" name="Nav Cotisations et précomptes">
            <a:hlinkClick action="ppaction://hlinksldjump" r:id="rId13"/>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Flotte automobile"/>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0">
                <a:solidFill>
                  <a:srgbClr val="BBBCBC"/>
                </a:solidFill>
                <a:latin typeface="Helvetica"/>
              </a:rPr>
              <a:t>PRODUITS  ›  </a:t>
            </a:r>
            <a:r>
              <a:rPr sz="1200" b="1">
                <a:solidFill>
                  <a:srgbClr val="FFFFFF"/>
                </a:solidFill>
                <a:latin typeface="Helvetica"/>
              </a:rPr>
              <a:t>FLOTTE AUTOMOBILE</a:t>
            </a:r>
            <a:r>
              <a:rPr sz="950" b="0">
                <a:solidFill>
                  <a:srgbClr val="FFFFFF"/>
                </a:solidFill>
                <a:latin typeface="Helvetica"/>
              </a:rPr>
              <a:t>     3 constats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1">
                <a:solidFill>
                  <a:srgbClr val="112A40"/>
                </a:solidFill>
                <a:latin typeface="Helvetica"/>
              </a:rPr>
              <a:t>18.a   </a:t>
            </a:r>
            <a:r>
              <a:rPr sz="1000" b="1">
                <a:solidFill>
                  <a:srgbClr val="060606"/>
                </a:solidFill>
                <a:latin typeface="Helvetica"/>
              </a:rPr>
              <a:t>Les trop-perçus ne sont pas suivis comme une dette. </a:t>
            </a:r>
            <a:r>
              <a:rPr sz="1000" b="0">
                <a:solidFill>
                  <a:srgbClr val="060606"/>
                </a:solidFill>
                <a:latin typeface="Helvetica"/>
              </a:rPr>
              <a:t>Le risque est porté par GNA : pas de provision au FPPN. Mais le compte 47111106 n'est pas justifié de 2023 à 2026.</a:t>
            </a:r>
          </a:p>
        </p:txBody>
      </p:sp>
      <p:sp>
        <p:nvSpPr>
          <p:cNvPr id="54" name="Rectangle 53"/>
          <p:cNvSpPr/>
          <p:nvPr/>
        </p:nvSpPr>
        <p:spPr>
          <a:xfrm>
            <a:off x="6480000" y="2286000"/>
            <a:ext cx="3384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Justifier les mouvements et traiter les trop-perçus comme une dette envers les adhérents.</a:t>
            </a:r>
          </a:p>
        </p:txBody>
      </p:sp>
      <p:sp>
        <p:nvSpPr>
          <p:cNvPr id="55" name="Rectangle 54"/>
          <p:cNvSpPr/>
          <p:nvPr/>
        </p:nvSpPr>
        <p:spPr>
          <a:xfrm>
            <a:off x="9864000" y="2286000"/>
            <a:ext cx="93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60096"/>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58" name="Rounded Rectangle 57"/>
          <p:cNvSpPr/>
          <p:nvPr/>
        </p:nvSpPr>
        <p:spPr>
          <a:xfrm>
            <a:off x="10962000" y="2460096"/>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59" name="Rectangle 58"/>
          <p:cNvSpPr/>
          <p:nvPr/>
        </p:nvSpPr>
        <p:spPr>
          <a:xfrm>
            <a:off x="503999" y="2850191"/>
            <a:ext cx="597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FFC000"/>
                </a:solidFill>
                <a:latin typeface="Helvetica"/>
              </a:rPr>
              <a:t>● </a:t>
            </a:r>
            <a:r>
              <a:rPr sz="1000" b="1">
                <a:solidFill>
                  <a:srgbClr val="112A40"/>
                </a:solidFill>
                <a:latin typeface="Helvetica"/>
              </a:rPr>
              <a:t>26.g   </a:t>
            </a:r>
            <a:r>
              <a:rPr sz="1000" b="1">
                <a:solidFill>
                  <a:srgbClr val="060606"/>
                </a:solidFill>
                <a:latin typeface="Helvetica"/>
              </a:rPr>
              <a:t>La convention avec GNA manque. </a:t>
            </a:r>
            <a:r>
              <a:rPr sz="1000" b="0">
                <a:solidFill>
                  <a:srgbClr val="060606"/>
                </a:solidFill>
                <a:latin typeface="Helvetica"/>
              </a:rPr>
              <a:t>Convention d'apporteur d'affaires et décomptes non transmis : l'assiette de la commission de 20 % n'est pas vérifiable.</a:t>
            </a:r>
          </a:p>
        </p:txBody>
      </p:sp>
      <p:sp>
        <p:nvSpPr>
          <p:cNvPr id="60" name="Rectangle 59"/>
          <p:cNvSpPr/>
          <p:nvPr/>
        </p:nvSpPr>
        <p:spPr>
          <a:xfrm>
            <a:off x="6480000" y="2850191"/>
            <a:ext cx="3384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Transmettre la convention et rapprocher chaque année la commission des primes.</a:t>
            </a:r>
          </a:p>
        </p:txBody>
      </p:sp>
      <p:sp>
        <p:nvSpPr>
          <p:cNvPr id="61" name="Rectangle 60"/>
          <p:cNvSpPr/>
          <p:nvPr/>
        </p:nvSpPr>
        <p:spPr>
          <a:xfrm>
            <a:off x="9864000" y="2850191"/>
            <a:ext cx="93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850191"/>
            <a:ext cx="93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24287"/>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64" name="Rounded Rectangle 63"/>
          <p:cNvSpPr/>
          <p:nvPr/>
        </p:nvSpPr>
        <p:spPr>
          <a:xfrm>
            <a:off x="10962000" y="3024287"/>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65" name="Rectangle 64"/>
          <p:cNvSpPr/>
          <p:nvPr/>
        </p:nvSpPr>
        <p:spPr>
          <a:xfrm>
            <a:off x="503999" y="3414383"/>
            <a:ext cx="597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70AD47"/>
                </a:solidFill>
                <a:latin typeface="Helvetica"/>
              </a:rPr>
              <a:t>● </a:t>
            </a:r>
            <a:r>
              <a:rPr sz="1000" b="1">
                <a:solidFill>
                  <a:srgbClr val="112A40"/>
                </a:solidFill>
                <a:latin typeface="Helvetica"/>
              </a:rPr>
              <a:t>27.e   </a:t>
            </a:r>
            <a:r>
              <a:rPr sz="1000" b="1">
                <a:solidFill>
                  <a:srgbClr val="060606"/>
                </a:solidFill>
                <a:latin typeface="Helvetica"/>
              </a:rPr>
              <a:t>Un fichier retour manque. </a:t>
            </a:r>
            <a:r>
              <a:rPr sz="1000" b="0">
                <a:solidFill>
                  <a:srgbClr val="060606"/>
                </a:solidFill>
                <a:latin typeface="Helvetica"/>
              </a:rPr>
              <a:t>Janvier 2026.</a:t>
            </a:r>
          </a:p>
        </p:txBody>
      </p:sp>
      <p:sp>
        <p:nvSpPr>
          <p:cNvPr id="66" name="Rectangle 65"/>
          <p:cNvSpPr/>
          <p:nvPr/>
        </p:nvSpPr>
        <p:spPr>
          <a:xfrm>
            <a:off x="6480000" y="3414383"/>
            <a:ext cx="3384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Transmettre le fichier.</a:t>
            </a:r>
          </a:p>
        </p:txBody>
      </p:sp>
      <p:sp>
        <p:nvSpPr>
          <p:cNvPr id="67" name="Rectangle 66"/>
          <p:cNvSpPr/>
          <p:nvPr/>
        </p:nvSpPr>
        <p:spPr>
          <a:xfrm>
            <a:off x="9864000" y="3414383"/>
            <a:ext cx="93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414383"/>
            <a:ext cx="93600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534984"/>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534984"/>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1" name="Bloc Clinique (CMP)"/>
          <p:cNvSpPr/>
          <p:nvPr/>
        </p:nvSpPr>
        <p:spPr>
          <a:xfrm>
            <a:off x="503999" y="3900383"/>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PRODUITS  ›  </a:t>
            </a:r>
            <a:r>
              <a:rPr sz="1200" b="1">
                <a:solidFill>
                  <a:srgbClr val="FFFFFF"/>
                </a:solidFill>
                <a:latin typeface="Helvetica"/>
              </a:rPr>
              <a:t>CLINIQUE (CMP)</a:t>
            </a:r>
            <a:r>
              <a:rPr sz="950" b="0">
                <a:solidFill>
                  <a:srgbClr val="FFFFFF"/>
                </a:solidFill>
                <a:latin typeface="Helvetica"/>
              </a:rPr>
              <a:t>     2 constats</a:t>
            </a:r>
          </a:p>
        </p:txBody>
      </p:sp>
      <p:sp>
        <p:nvSpPr>
          <p:cNvPr id="72" name="Nav Carte">
            <a:hlinkClick action="ppaction://hlinksldjump" r:id="rId18"/>
          </p:cNvPr>
          <p:cNvSpPr/>
          <p:nvPr/>
        </p:nvSpPr>
        <p:spPr>
          <a:xfrm>
            <a:off x="10007999" y="3936383"/>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73" name="Rectangle 72"/>
          <p:cNvSpPr/>
          <p:nvPr/>
        </p:nvSpPr>
        <p:spPr>
          <a:xfrm>
            <a:off x="503999" y="4152383"/>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74" name="Rectangle 73"/>
          <p:cNvSpPr/>
          <p:nvPr/>
        </p:nvSpPr>
        <p:spPr>
          <a:xfrm>
            <a:off x="6480000" y="4152383"/>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75" name="Rectangle 74"/>
          <p:cNvSpPr/>
          <p:nvPr/>
        </p:nvSpPr>
        <p:spPr>
          <a:xfrm>
            <a:off x="9864000" y="4152383"/>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76" name="Rectangle 75"/>
          <p:cNvSpPr/>
          <p:nvPr/>
        </p:nvSpPr>
        <p:spPr>
          <a:xfrm>
            <a:off x="10800000" y="4152383"/>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77" name="Rectangle 76"/>
          <p:cNvSpPr/>
          <p:nvPr/>
        </p:nvSpPr>
        <p:spPr>
          <a:xfrm>
            <a:off x="503999" y="4350383"/>
            <a:ext cx="597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1">
                <a:solidFill>
                  <a:srgbClr val="112A40"/>
                </a:solidFill>
                <a:latin typeface="Helvetica"/>
              </a:rPr>
              <a:t>17   </a:t>
            </a:r>
            <a:r>
              <a:rPr sz="1000" b="1">
                <a:solidFill>
                  <a:srgbClr val="060606"/>
                </a:solidFill>
                <a:latin typeface="Helvetica"/>
              </a:rPr>
              <a:t>La clinique n'a pas de comptabilité séparée. </a:t>
            </a:r>
            <a:r>
              <a:rPr sz="1000" b="0">
                <a:solidFill>
                  <a:srgbClr val="060606"/>
                </a:solidFill>
                <a:latin typeface="Helvetica"/>
              </a:rPr>
              <a:t>7 083 534 565 FCFA au bilan, dont 1 280 300 860 FCFA de charges de fonctionnement. On ne sait pas si elle gagne ou perd de l'argent.</a:t>
            </a:r>
          </a:p>
        </p:txBody>
      </p:sp>
      <p:sp>
        <p:nvSpPr>
          <p:cNvPr id="78" name="Rectangle 77"/>
          <p:cNvSpPr/>
          <p:nvPr/>
        </p:nvSpPr>
        <p:spPr>
          <a:xfrm>
            <a:off x="6480000" y="4350383"/>
            <a:ext cx="3384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Tenir une comptabilité séparée et présenter son résultat chaque année.</a:t>
            </a:r>
          </a:p>
        </p:txBody>
      </p:sp>
      <p:sp>
        <p:nvSpPr>
          <p:cNvPr id="79" name="Rectangle 78"/>
          <p:cNvSpPr/>
          <p:nvPr/>
        </p:nvSpPr>
        <p:spPr>
          <a:xfrm>
            <a:off x="9864000" y="4350383"/>
            <a:ext cx="93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350383"/>
            <a:ext cx="936000" cy="5641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524479"/>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82" name="Rounded Rectangle 81"/>
          <p:cNvSpPr/>
          <p:nvPr/>
        </p:nvSpPr>
        <p:spPr>
          <a:xfrm>
            <a:off x="10962000" y="4524479"/>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3" name="Rectangle 82"/>
          <p:cNvSpPr/>
          <p:nvPr/>
        </p:nvSpPr>
        <p:spPr>
          <a:xfrm>
            <a:off x="503999" y="4914575"/>
            <a:ext cx="597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1">
                <a:solidFill>
                  <a:srgbClr val="112A40"/>
                </a:solidFill>
                <a:latin typeface="Helvetica"/>
              </a:rPr>
              <a:t>12.a   </a:t>
            </a:r>
            <a:r>
              <a:rPr sz="1000" b="1">
                <a:solidFill>
                  <a:srgbClr val="060606"/>
                </a:solidFill>
                <a:latin typeface="Helvetica"/>
              </a:rPr>
              <a:t>Sa valeur n'est pas établie. </a:t>
            </a:r>
            <a:r>
              <a:rPr sz="1000" b="0">
                <a:solidFill>
                  <a:srgbClr val="060606"/>
                </a:solidFill>
                <a:latin typeface="Helvetica"/>
              </a:rPr>
              <a:t>Aucune expertise. Elle est financée en grande partie par l'épargne.</a:t>
            </a:r>
          </a:p>
        </p:txBody>
      </p:sp>
      <p:sp>
        <p:nvSpPr>
          <p:cNvPr id="84" name="Rectangle 83"/>
          <p:cNvSpPr/>
          <p:nvPr/>
        </p:nvSpPr>
        <p:spPr>
          <a:xfrm>
            <a:off x="6480000" y="4914575"/>
            <a:ext cx="3384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FAC62"/>
                </a:solidFill>
                <a:latin typeface="Helvetica"/>
              </a:rPr>
              <a:t>→ </a:t>
            </a:r>
            <a:r>
              <a:rPr sz="1000" b="0">
                <a:solidFill>
                  <a:srgbClr val="060606"/>
                </a:solidFill>
                <a:latin typeface="Helvetica"/>
              </a:rPr>
              <a:t>Faire évaluer la clinique par un expert.</a:t>
            </a:r>
          </a:p>
        </p:txBody>
      </p:sp>
      <p:sp>
        <p:nvSpPr>
          <p:cNvPr id="85" name="Rectangle 84"/>
          <p:cNvSpPr/>
          <p:nvPr/>
        </p:nvSpPr>
        <p:spPr>
          <a:xfrm>
            <a:off x="9864000" y="4914575"/>
            <a:ext cx="93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4914575"/>
            <a:ext cx="936000" cy="56419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5088671"/>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88" name="Rounded Rectangle 87"/>
          <p:cNvSpPr/>
          <p:nvPr/>
        </p:nvSpPr>
        <p:spPr>
          <a:xfrm>
            <a:off x="10962000" y="5088671"/>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89" name="TextBox 88"/>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0" name="TextBox 8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Clinique médicale du policier | GNA : assureur de la flotte automobile (compte 47111106) | MEDOC : produit santé complémentaire du poste 8Z7</a:t>
            </a:r>
          </a:p>
        </p:txBody>
      </p:sp>
    </p:spTree>
    <p:extLst>
      <p:ext uri="{BB962C8B-B14F-4D97-AF65-F5344CB8AC3E}">
        <p14:creationId xmlns:p14="http://schemas.microsoft.com/office/powerpoint/2010/main" val="214286999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Fonctions transverses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Chaque constat se lit sur une ligne : son commentaire, sa recommandation, sa complexité et sa priorité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8589014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total prélevé est juste, mais les fichiers ne sont pas rapprochés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27, les fichiers ne sont pas rapprochés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3"/>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3"/>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p:cNvSpPr/>
          <p:nvPr/>
        </p:nvSpPr>
        <p:spPr>
          <a:xfrm>
            <a:off x="7823571"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Cotisations</a:t>
            </a:r>
          </a:p>
        </p:txBody>
      </p:sp>
      <p:sp>
        <p:nvSpPr>
          <p:cNvPr id="43" name="Nav Comptabilité et provisions">
            <a:hlinkClick action="ppaction://hlinksldjump" r:id="rId14"/>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Cotisations et précomptes"/>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FONCTIONS TRANSVERSES  ›  </a:t>
            </a:r>
            <a:r>
              <a:rPr sz="1200" b="1">
                <a:solidFill>
                  <a:srgbClr val="FFFFFF"/>
                </a:solidFill>
                <a:latin typeface="Helvetica"/>
              </a:rPr>
              <a:t>COTISATIONS ET PRÉCOMPTES</a:t>
            </a:r>
            <a:r>
              <a:rPr sz="950" b="0">
                <a:solidFill>
                  <a:srgbClr val="FFFFFF"/>
                </a:solidFill>
                <a:latin typeface="Helvetica"/>
              </a:rPr>
              <a:t>     5 constats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20   </a:t>
            </a:r>
            <a:r>
              <a:rPr sz="1050" b="1">
                <a:solidFill>
                  <a:srgbClr val="060606"/>
                </a:solidFill>
                <a:latin typeface="Helvetica"/>
              </a:rPr>
              <a:t>La répartition maladie et décès diffère selon la source. </a:t>
            </a:r>
            <a:r>
              <a:rPr sz="1050" b="0">
                <a:solidFill>
                  <a:srgbClr val="060606"/>
                </a:solidFill>
                <a:latin typeface="Helvetica"/>
              </a:rPr>
              <a:t>Total de 5 % respecté, mais la Solde prélève 3,77 % et 1,23 % au lieu des 3,50 % et 1,50 % des statuts. La comptabilité retient 3,52 % et 1,48 %.</a:t>
            </a:r>
          </a:p>
        </p:txBody>
      </p:sp>
      <p:sp>
        <p:nvSpPr>
          <p:cNvPr id="54" name="Rectangle 53"/>
          <p:cNvSpPr/>
          <p:nvPr/>
        </p:nvSpPr>
        <p:spPr>
          <a:xfrm>
            <a:off x="6480000" y="2286000"/>
            <a:ext cx="3384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Notifier à la Solde la clé des statuts et l'appliquer en comptabilité.</a:t>
            </a:r>
          </a:p>
        </p:txBody>
      </p:sp>
      <p:sp>
        <p:nvSpPr>
          <p:cNvPr id="55" name="Rectangle 54"/>
          <p:cNvSpPr/>
          <p:nvPr/>
        </p:nvSpPr>
        <p:spPr>
          <a:xfrm>
            <a:off x="9864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547781"/>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58" name="Rounded Rectangle 57"/>
          <p:cNvSpPr/>
          <p:nvPr/>
        </p:nvSpPr>
        <p:spPr>
          <a:xfrm>
            <a:off x="10962000" y="2547781"/>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59" name="Rectangle 58"/>
          <p:cNvSpPr/>
          <p:nvPr/>
        </p:nvSpPr>
        <p:spPr>
          <a:xfrm>
            <a:off x="503999" y="3025562"/>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27   </a:t>
            </a:r>
            <a:r>
              <a:rPr sz="1050" b="1">
                <a:solidFill>
                  <a:srgbClr val="060606"/>
                </a:solidFill>
                <a:latin typeface="Helvetica"/>
              </a:rPr>
              <a:t>Les fichiers ne sont pas rapprochés. </a:t>
            </a:r>
            <a:r>
              <a:rPr sz="1050" b="0">
                <a:solidFill>
                  <a:srgbClr val="060606"/>
                </a:solidFill>
                <a:latin typeface="Helvetica"/>
              </a:rPr>
              <a:t>Le fichier envoyé n'est jamais comparé au fichier retour. Aucun fichier envoyé transmis sur 80 mois.</a:t>
            </a:r>
          </a:p>
        </p:txBody>
      </p:sp>
      <p:sp>
        <p:nvSpPr>
          <p:cNvPr id="60" name="Rectangle 59"/>
          <p:cNvSpPr/>
          <p:nvPr/>
        </p:nvSpPr>
        <p:spPr>
          <a:xfrm>
            <a:off x="6480000" y="3025562"/>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Rapprocher chaque mois l'aller et le retour, avec un état des rejets signé.</a:t>
            </a:r>
          </a:p>
        </p:txBody>
      </p:sp>
      <p:sp>
        <p:nvSpPr>
          <p:cNvPr id="61" name="Rectangle 60"/>
          <p:cNvSpPr/>
          <p:nvPr/>
        </p:nvSpPr>
        <p:spPr>
          <a:xfrm>
            <a:off x="9864000" y="3025562"/>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3025562"/>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207283"/>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3207283"/>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605004"/>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26.h   </a:t>
            </a:r>
            <a:r>
              <a:rPr sz="1050" b="1">
                <a:solidFill>
                  <a:srgbClr val="060606"/>
                </a:solidFill>
                <a:latin typeface="Helvetica"/>
              </a:rPr>
              <a:t>2020 à 2022 ne sont pas vérifiables. </a:t>
            </a:r>
            <a:r>
              <a:rPr sz="1050" b="0">
                <a:solidFill>
                  <a:srgbClr val="060606"/>
                </a:solidFill>
                <a:latin typeface="Helvetica"/>
              </a:rPr>
              <a:t>Prélèvements mensuels disponibles seulement depuis 2023 ou 2024 selon le poste.</a:t>
            </a:r>
          </a:p>
        </p:txBody>
      </p:sp>
      <p:sp>
        <p:nvSpPr>
          <p:cNvPr id="66" name="Rectangle 65"/>
          <p:cNvSpPr/>
          <p:nvPr/>
        </p:nvSpPr>
        <p:spPr>
          <a:xfrm>
            <a:off x="6480000" y="3605004"/>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les fichiers de 2020 à 2022.</a:t>
            </a:r>
          </a:p>
        </p:txBody>
      </p:sp>
      <p:sp>
        <p:nvSpPr>
          <p:cNvPr id="67" name="Rectangle 66"/>
          <p:cNvSpPr/>
          <p:nvPr/>
        </p:nvSpPr>
        <p:spPr>
          <a:xfrm>
            <a:off x="9864000" y="360500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60500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786724"/>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0" name="Rounded Rectangle 69"/>
          <p:cNvSpPr/>
          <p:nvPr/>
        </p:nvSpPr>
        <p:spPr>
          <a:xfrm>
            <a:off x="10962000" y="3786724"/>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1" name="Rectangle 70"/>
          <p:cNvSpPr/>
          <p:nvPr/>
        </p:nvSpPr>
        <p:spPr>
          <a:xfrm>
            <a:off x="503999" y="4184445"/>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27.f   </a:t>
            </a:r>
            <a:r>
              <a:rPr sz="1050" b="1">
                <a:solidFill>
                  <a:srgbClr val="060606"/>
                </a:solidFill>
                <a:latin typeface="Helvetica"/>
              </a:rPr>
              <a:t>Rejets et paiements manuels non suivis. </a:t>
            </a:r>
            <a:r>
              <a:rPr sz="1050" b="0">
                <a:solidFill>
                  <a:srgbClr val="060606"/>
                </a:solidFill>
                <a:latin typeface="Helvetica"/>
              </a:rPr>
              <a:t>États des rejets de la Solde et liste des paiements manuels non transmis.</a:t>
            </a:r>
          </a:p>
        </p:txBody>
      </p:sp>
      <p:sp>
        <p:nvSpPr>
          <p:cNvPr id="72" name="Rectangle 71"/>
          <p:cNvSpPr/>
          <p:nvPr/>
        </p:nvSpPr>
        <p:spPr>
          <a:xfrm>
            <a:off x="6480000" y="4184445"/>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ces états chaque mois.</a:t>
            </a:r>
          </a:p>
        </p:txBody>
      </p:sp>
      <p:sp>
        <p:nvSpPr>
          <p:cNvPr id="73" name="Rectangle 72"/>
          <p:cNvSpPr/>
          <p:nvPr/>
        </p:nvSpPr>
        <p:spPr>
          <a:xfrm>
            <a:off x="9864000" y="4184445"/>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184445"/>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366166"/>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4366166"/>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Rectangle 76"/>
          <p:cNvSpPr/>
          <p:nvPr/>
        </p:nvSpPr>
        <p:spPr>
          <a:xfrm>
            <a:off x="503999" y="4763887"/>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27.g   </a:t>
            </a:r>
            <a:r>
              <a:rPr sz="1050" b="1">
                <a:solidFill>
                  <a:srgbClr val="060606"/>
                </a:solidFill>
                <a:latin typeface="Helvetica"/>
              </a:rPr>
              <a:t>La dette de l'État est soldée. </a:t>
            </a:r>
            <a:r>
              <a:rPr sz="1050" b="0">
                <a:solidFill>
                  <a:srgbClr val="060606"/>
                </a:solidFill>
                <a:latin typeface="Helvetica"/>
              </a:rPr>
              <a:t>704 189 157 FCFA dus fin 2025, compte soldé au 31/08/2026.</a:t>
            </a:r>
          </a:p>
        </p:txBody>
      </p:sp>
      <p:sp>
        <p:nvSpPr>
          <p:cNvPr id="78" name="Rectangle 77"/>
          <p:cNvSpPr/>
          <p:nvPr/>
        </p:nvSpPr>
        <p:spPr>
          <a:xfrm>
            <a:off x="6480000" y="4763887"/>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chaque mois les reversements de l'État.</a:t>
            </a:r>
          </a:p>
        </p:txBody>
      </p:sp>
      <p:sp>
        <p:nvSpPr>
          <p:cNvPr id="79" name="Rectangle 78"/>
          <p:cNvSpPr/>
          <p:nvPr/>
        </p:nvSpPr>
        <p:spPr>
          <a:xfrm>
            <a:off x="9864000" y="4763887"/>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763887"/>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945608"/>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2" name="Rounded Rectangle 81"/>
          <p:cNvSpPr/>
          <p:nvPr/>
        </p:nvSpPr>
        <p:spPr>
          <a:xfrm>
            <a:off x="10962000" y="4945608"/>
            <a:ext cx="612000" cy="21600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P4</a:t>
            </a:r>
          </a:p>
        </p:txBody>
      </p:sp>
      <p:sp>
        <p:nvSpPr>
          <p:cNvPr id="83" name="TextBox 82"/>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84" name="TextBox 8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167510561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Comptabilité et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comptes ne mesurent pas les vraies dettes envers les policiers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 les provisions ne sont pas 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3"/>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3"/>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4"/>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p:cNvSpPr/>
          <p:nvPr/>
        </p:nvSpPr>
        <p:spPr>
          <a:xfrm>
            <a:off x="8616857"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Comptabilité</a:t>
            </a:r>
          </a:p>
        </p:txBody>
      </p:sp>
      <p:sp>
        <p:nvSpPr>
          <p:cNvPr id="44" name="Nav Trésorerie et placements">
            <a:hlinkClick action="ppaction://hlinksldjump" r:id="rId15"/>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Comptabilité et provisions"/>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FONCTIONS TRANSVERSES  ›  </a:t>
            </a:r>
            <a:r>
              <a:rPr sz="1200" b="1">
                <a:solidFill>
                  <a:srgbClr val="FFFFFF"/>
                </a:solidFill>
                <a:latin typeface="Helvetica"/>
              </a:rPr>
              <a:t>COMPTABILITÉ ET PROVISIONS</a:t>
            </a:r>
            <a:r>
              <a:rPr sz="950" b="0">
                <a:solidFill>
                  <a:srgbClr val="FFFFFF"/>
                </a:solidFill>
                <a:latin typeface="Helvetica"/>
              </a:rPr>
              <a:t>     6 constats, dont 1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1   </a:t>
            </a:r>
            <a:r>
              <a:rPr sz="1050" b="1">
                <a:solidFill>
                  <a:srgbClr val="060606"/>
                </a:solidFill>
                <a:latin typeface="Helvetica"/>
              </a:rPr>
              <a:t>Les provisions ne sont pas calculées. </a:t>
            </a:r>
            <a:r>
              <a:rPr sz="1050" b="0">
                <a:solidFill>
                  <a:srgbClr val="060606"/>
                </a:solidFill>
                <a:latin typeface="Helvetica"/>
              </a:rPr>
              <a:t>4 829 298 290 FCFA identiques depuis 2020, soit 4 809 716 898 FCFA au-dessus du besoin mesuré. Rien pour les intérêts de l'épargne.</a:t>
            </a:r>
          </a:p>
        </p:txBody>
      </p:sp>
      <p:sp>
        <p:nvSpPr>
          <p:cNvPr id="54" name="Rectangle 53"/>
          <p:cNvSpPr/>
          <p:nvPr/>
        </p:nvSpPr>
        <p:spPr>
          <a:xfrm>
            <a:off x="6480000" y="2286000"/>
            <a:ext cx="3384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Note de calcul annuelle signée et reclassement décidé par les organes.</a:t>
            </a:r>
          </a:p>
        </p:txBody>
      </p:sp>
      <p:sp>
        <p:nvSpPr>
          <p:cNvPr id="55" name="Rectangle 54"/>
          <p:cNvSpPr/>
          <p:nvPr/>
        </p:nvSpPr>
        <p:spPr>
          <a:xfrm>
            <a:off x="9864000" y="2286000"/>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6150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61500"/>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853000"/>
            <a:ext cx="597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15   </a:t>
            </a:r>
            <a:r>
              <a:rPr sz="1050" b="1">
                <a:solidFill>
                  <a:srgbClr val="060606"/>
                </a:solidFill>
                <a:latin typeface="Helvetica"/>
              </a:rPr>
              <a:t>Les fonds propres sont négatifs. </a:t>
            </a:r>
            <a:r>
              <a:rPr sz="1050" b="0">
                <a:solidFill>
                  <a:srgbClr val="060606"/>
                </a:solidFill>
                <a:latin typeface="Helvetica"/>
              </a:rPr>
              <a:t>-879 498 700 FCFA au 31/08/2026. Comptes remis en ordre (constats 1, 4 et 6), ils seraient positifs d'environ 637 millions de FCFA.</a:t>
            </a:r>
          </a:p>
        </p:txBody>
      </p:sp>
      <p:sp>
        <p:nvSpPr>
          <p:cNvPr id="60" name="Rectangle 59"/>
          <p:cNvSpPr/>
          <p:nvPr/>
        </p:nvSpPr>
        <p:spPr>
          <a:xfrm>
            <a:off x="6480000" y="2853000"/>
            <a:ext cx="3384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Affecter les excédents aux réserves et faire les reclassements.</a:t>
            </a:r>
          </a:p>
        </p:txBody>
      </p:sp>
      <p:sp>
        <p:nvSpPr>
          <p:cNvPr id="61" name="Rectangle 60"/>
          <p:cNvSpPr/>
          <p:nvPr/>
        </p:nvSpPr>
        <p:spPr>
          <a:xfrm>
            <a:off x="9864000" y="2853000"/>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853000"/>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2850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302850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420000"/>
            <a:ext cx="597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9   </a:t>
            </a:r>
            <a:r>
              <a:rPr sz="1050" b="1">
                <a:solidFill>
                  <a:srgbClr val="060606"/>
                </a:solidFill>
                <a:latin typeface="Helvetica"/>
              </a:rPr>
              <a:t>L'épargne due est minorée en Assemblée générale. </a:t>
            </a:r>
            <a:r>
              <a:rPr sz="1050" b="0">
                <a:solidFill>
                  <a:srgbClr val="060606"/>
                </a:solidFill>
                <a:latin typeface="Helvetica"/>
              </a:rPr>
              <a:t>Rapport de gestion 2025 : 4 387 823 635 FCFA présentés, pour 13 814 066 964 FCFA dus.</a:t>
            </a:r>
          </a:p>
        </p:txBody>
      </p:sp>
      <p:sp>
        <p:nvSpPr>
          <p:cNvPr id="66" name="Rectangle 65"/>
          <p:cNvSpPr/>
          <p:nvPr/>
        </p:nvSpPr>
        <p:spPr>
          <a:xfrm>
            <a:off x="6480000" y="3420000"/>
            <a:ext cx="3384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Présenter le solde dû, distinct de la collecte.</a:t>
            </a:r>
          </a:p>
        </p:txBody>
      </p:sp>
      <p:sp>
        <p:nvSpPr>
          <p:cNvPr id="67" name="Rectangle 66"/>
          <p:cNvSpPr/>
          <p:nvPr/>
        </p:nvSpPr>
        <p:spPr>
          <a:xfrm>
            <a:off x="9864000" y="3420000"/>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420000"/>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5955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595500"/>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3986999"/>
            <a:ext cx="597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18   </a:t>
            </a:r>
            <a:r>
              <a:rPr sz="1050" b="1">
                <a:solidFill>
                  <a:srgbClr val="060606"/>
                </a:solidFill>
                <a:latin typeface="Helvetica"/>
              </a:rPr>
              <a:t>Des sommes durables sont en comptes d'attente. </a:t>
            </a:r>
            <a:r>
              <a:rPr sz="1050" b="0">
                <a:solidFill>
                  <a:srgbClr val="060606"/>
                </a:solidFill>
                <a:latin typeface="Helvetica"/>
              </a:rPr>
              <a:t>11 603 989 675 FCFA d'avances et de créances suivis comme du court terme.</a:t>
            </a:r>
          </a:p>
        </p:txBody>
      </p:sp>
      <p:sp>
        <p:nvSpPr>
          <p:cNvPr id="72" name="Rectangle 71"/>
          <p:cNvSpPr/>
          <p:nvPr/>
        </p:nvSpPr>
        <p:spPr>
          <a:xfrm>
            <a:off x="6480000" y="3986999"/>
            <a:ext cx="3384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Reclasser dans les comptes prévus par le plan comptable.</a:t>
            </a:r>
          </a:p>
        </p:txBody>
      </p:sp>
      <p:sp>
        <p:nvSpPr>
          <p:cNvPr id="73" name="Rectangle 72"/>
          <p:cNvSpPr/>
          <p:nvPr/>
        </p:nvSpPr>
        <p:spPr>
          <a:xfrm>
            <a:off x="9864000" y="3986999"/>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3986999"/>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1625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416250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Rectangle 76"/>
          <p:cNvSpPr/>
          <p:nvPr/>
        </p:nvSpPr>
        <p:spPr>
          <a:xfrm>
            <a:off x="503999" y="4553999"/>
            <a:ext cx="597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28   </a:t>
            </a:r>
            <a:r>
              <a:rPr sz="1050" b="1">
                <a:solidFill>
                  <a:srgbClr val="060606"/>
                </a:solidFill>
                <a:latin typeface="Helvetica"/>
              </a:rPr>
              <a:t>Deux versions des comptes 2023 existent. </a:t>
            </a:r>
            <a:r>
              <a:rPr sz="1050" b="0">
                <a:solidFill>
                  <a:srgbClr val="060606"/>
                </a:solidFill>
                <a:latin typeface="Helvetica"/>
              </a:rPr>
              <a:t>Excédent de 928 699 102 FCFA ou de 930 629 102 FCFA.</a:t>
            </a:r>
          </a:p>
        </p:txBody>
      </p:sp>
      <p:sp>
        <p:nvSpPr>
          <p:cNvPr id="78" name="Rectangle 77"/>
          <p:cNvSpPr/>
          <p:nvPr/>
        </p:nvSpPr>
        <p:spPr>
          <a:xfrm>
            <a:off x="6480000" y="4553999"/>
            <a:ext cx="3384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la version approuvée.</a:t>
            </a:r>
          </a:p>
        </p:txBody>
      </p:sp>
      <p:sp>
        <p:nvSpPr>
          <p:cNvPr id="79" name="Rectangle 78"/>
          <p:cNvSpPr/>
          <p:nvPr/>
        </p:nvSpPr>
        <p:spPr>
          <a:xfrm>
            <a:off x="9864000" y="4553999"/>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553999"/>
            <a:ext cx="936000" cy="567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72950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2" name="Rounded Rectangle 81"/>
          <p:cNvSpPr/>
          <p:nvPr/>
        </p:nvSpPr>
        <p:spPr>
          <a:xfrm>
            <a:off x="10962000" y="472950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3" name="Rectangle 82"/>
          <p:cNvSpPr/>
          <p:nvPr/>
        </p:nvSpPr>
        <p:spPr>
          <a:xfrm>
            <a:off x="503999" y="5120999"/>
            <a:ext cx="597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5   </a:t>
            </a:r>
            <a:r>
              <a:rPr sz="1050" b="1">
                <a:solidFill>
                  <a:srgbClr val="060606"/>
                </a:solidFill>
                <a:latin typeface="Helvetica"/>
              </a:rPr>
              <a:t>La provision du personnel est suffisante. </a:t>
            </a:r>
            <a:r>
              <a:rPr sz="1050" b="0">
                <a:solidFill>
                  <a:srgbClr val="060606"/>
                </a:solidFill>
                <a:latin typeface="Helvetica"/>
              </a:rPr>
              <a:t>43 666 678 FCFA pour 24 446 566 FCFA recalculés. Méthode non écrite.</a:t>
            </a:r>
          </a:p>
        </p:txBody>
      </p:sp>
      <p:sp>
        <p:nvSpPr>
          <p:cNvPr id="84" name="Rectangle 83"/>
          <p:cNvSpPr/>
          <p:nvPr/>
        </p:nvSpPr>
        <p:spPr>
          <a:xfrm>
            <a:off x="6480000" y="5120999"/>
            <a:ext cx="3384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Rédiger la note de calcul annuelle.</a:t>
            </a:r>
          </a:p>
        </p:txBody>
      </p:sp>
      <p:sp>
        <p:nvSpPr>
          <p:cNvPr id="85" name="Rectangle 84"/>
          <p:cNvSpPr/>
          <p:nvPr/>
        </p:nvSpPr>
        <p:spPr>
          <a:xfrm>
            <a:off x="9864000" y="5120999"/>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5120999"/>
            <a:ext cx="936000" cy="56700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5296499"/>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5296499"/>
            <a:ext cx="612000" cy="21600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P4</a:t>
            </a:r>
          </a:p>
        </p:txBody>
      </p:sp>
      <p:sp>
        <p:nvSpPr>
          <p:cNvPr id="89" name="TextBox 88"/>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0" name="TextBox 8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266816941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Trésorerie et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L'argent disponible ne couvre pas l'année, et l'épargne n'est pas mise à part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11, L'argent disponible ne couvre pas l'année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3"/>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3"/>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4"/>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5"/>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p:cNvSpPr/>
          <p:nvPr/>
        </p:nvSpPr>
        <p:spPr>
          <a:xfrm>
            <a:off x="9410142"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Trésorerie</a:t>
            </a:r>
          </a:p>
        </p:txBody>
      </p:sp>
      <p:sp>
        <p:nvSpPr>
          <p:cNvPr id="45" name="Nav Gouvernance">
            <a:hlinkClick action="ppaction://hlinksldjump" r:id="rId16"/>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Trésorerie et placements"/>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FONCTIONS TRANSVERSES  ›  </a:t>
            </a:r>
            <a:r>
              <a:rPr sz="1200" b="1">
                <a:solidFill>
                  <a:srgbClr val="FFFFFF"/>
                </a:solidFill>
                <a:latin typeface="Helvetica"/>
              </a:rPr>
              <a:t>TRÉSORERIE ET PLACEMENTS</a:t>
            </a:r>
            <a:r>
              <a:rPr sz="950" b="0">
                <a:solidFill>
                  <a:srgbClr val="FFFFFF"/>
                </a:solidFill>
                <a:latin typeface="Helvetica"/>
              </a:rPr>
              <a:t>     6 constats, dont 1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11   </a:t>
            </a:r>
            <a:r>
              <a:rPr sz="1050" b="1">
                <a:solidFill>
                  <a:srgbClr val="060606"/>
                </a:solidFill>
                <a:latin typeface="Helvetica"/>
              </a:rPr>
              <a:t>L'argent disponible ne couvre pas l'année. </a:t>
            </a:r>
            <a:r>
              <a:rPr sz="1050" b="0">
                <a:solidFill>
                  <a:srgbClr val="060606"/>
                </a:solidFill>
                <a:latin typeface="Helvetica"/>
              </a:rPr>
              <a:t>34,42 % des paiements de l'année couverts au 31/08/2026. Manque cumulé de 12 596 052 822 FCFA à cinq ans.</a:t>
            </a:r>
          </a:p>
        </p:txBody>
      </p:sp>
      <p:sp>
        <p:nvSpPr>
          <p:cNvPr id="54" name="Rectangle 53"/>
          <p:cNvSpPr/>
          <p:nvPr/>
        </p:nvSpPr>
        <p:spPr>
          <a:xfrm>
            <a:off x="6480000" y="2286000"/>
            <a:ext cx="3384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Réserve de trésorerie et échéancier des sorties d'épargne.</a:t>
            </a:r>
          </a:p>
        </p:txBody>
      </p:sp>
      <p:sp>
        <p:nvSpPr>
          <p:cNvPr id="55" name="Rectangle 54"/>
          <p:cNvSpPr/>
          <p:nvPr/>
        </p:nvSpPr>
        <p:spPr>
          <a:xfrm>
            <a:off x="9864000" y="2286000"/>
            <a:ext cx="93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34813"/>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58" name="Rounded Rectangle 57"/>
          <p:cNvSpPr/>
          <p:nvPr/>
        </p:nvSpPr>
        <p:spPr>
          <a:xfrm>
            <a:off x="10962000" y="2434813"/>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799626"/>
            <a:ext cx="597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10   </a:t>
            </a:r>
            <a:r>
              <a:rPr sz="1050" b="1">
                <a:solidFill>
                  <a:srgbClr val="060606"/>
                </a:solidFill>
                <a:latin typeface="Helvetica"/>
              </a:rPr>
              <a:t>L'épargne n'est pas séparée. </a:t>
            </a:r>
            <a:r>
              <a:rPr sz="1050" b="0">
                <a:solidFill>
                  <a:srgbClr val="060606"/>
                </a:solidFill>
                <a:latin typeface="Helvetica"/>
              </a:rPr>
              <a:t>16,28 % de l'épargne couverte par des actifs qui lui sont réservés.</a:t>
            </a:r>
          </a:p>
        </p:txBody>
      </p:sp>
      <p:sp>
        <p:nvSpPr>
          <p:cNvPr id="60" name="Rectangle 59"/>
          <p:cNvSpPr/>
          <p:nvPr/>
        </p:nvSpPr>
        <p:spPr>
          <a:xfrm>
            <a:off x="6480000" y="2799626"/>
            <a:ext cx="3384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Comptes réservés à l'épargne et objectif de couverture.</a:t>
            </a:r>
          </a:p>
        </p:txBody>
      </p:sp>
      <p:sp>
        <p:nvSpPr>
          <p:cNvPr id="61" name="Rectangle 60"/>
          <p:cNvSpPr/>
          <p:nvPr/>
        </p:nvSpPr>
        <p:spPr>
          <a:xfrm>
            <a:off x="9864000" y="2799626"/>
            <a:ext cx="93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799626"/>
            <a:ext cx="93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2948439"/>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2948439"/>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313252"/>
            <a:ext cx="5976000" cy="673747"/>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12   </a:t>
            </a:r>
            <a:r>
              <a:rPr sz="1050" b="1">
                <a:solidFill>
                  <a:srgbClr val="060606"/>
                </a:solidFill>
                <a:latin typeface="Helvetica"/>
              </a:rPr>
              <a:t>Les biens ne se vendent pas vite. </a:t>
            </a:r>
            <a:r>
              <a:rPr sz="1050" b="0">
                <a:solidFill>
                  <a:srgbClr val="060606"/>
                </a:solidFill>
                <a:latin typeface="Helvetica"/>
              </a:rPr>
              <a:t>Plus des trois quarts de l'actif à plus de cinq ans. Couverture des dettes : 96,33 % sur le papier, 27,19 % sans les biens non évalués. Créance sur l'hôpital de 3 407 519 850 FCFA inchangée depuis 2020.</a:t>
            </a:r>
          </a:p>
        </p:txBody>
      </p:sp>
      <p:sp>
        <p:nvSpPr>
          <p:cNvPr id="66" name="Rectangle 65"/>
          <p:cNvSpPr/>
          <p:nvPr/>
        </p:nvSpPr>
        <p:spPr>
          <a:xfrm>
            <a:off x="6480000" y="3313252"/>
            <a:ext cx="3384000" cy="673747"/>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Évaluer les biens et obtenir un accord de l'État sur la créance.</a:t>
            </a:r>
          </a:p>
        </p:txBody>
      </p:sp>
      <p:sp>
        <p:nvSpPr>
          <p:cNvPr id="67" name="Rectangle 66"/>
          <p:cNvSpPr/>
          <p:nvPr/>
        </p:nvSpPr>
        <p:spPr>
          <a:xfrm>
            <a:off x="9864000" y="3313252"/>
            <a:ext cx="936000" cy="673747"/>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313252"/>
            <a:ext cx="936000" cy="673747"/>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542126"/>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70" name="Rounded Rectangle 69"/>
          <p:cNvSpPr/>
          <p:nvPr/>
        </p:nvSpPr>
        <p:spPr>
          <a:xfrm>
            <a:off x="10962000" y="3542126"/>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3987000"/>
            <a:ext cx="5976000" cy="673747"/>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23   </a:t>
            </a:r>
            <a:r>
              <a:rPr sz="1050" b="1">
                <a:solidFill>
                  <a:srgbClr val="060606"/>
                </a:solidFill>
                <a:latin typeface="Helvetica"/>
              </a:rPr>
              <a:t>Les placements sont trop faibles. </a:t>
            </a:r>
            <a:r>
              <a:rPr sz="1050" b="0">
                <a:solidFill>
                  <a:srgbClr val="060606"/>
                </a:solidFill>
                <a:latin typeface="Helvetica"/>
              </a:rPr>
              <a:t>5,53 % de l'épargne réellement placée en 2025. Rendement de 4,90 % par an, mais les intérêts dus dépassent les produits de 470 608 168 FCFA en 2025.</a:t>
            </a:r>
          </a:p>
        </p:txBody>
      </p:sp>
      <p:sp>
        <p:nvSpPr>
          <p:cNvPr id="72" name="Rectangle 71"/>
          <p:cNvSpPr/>
          <p:nvPr/>
        </p:nvSpPr>
        <p:spPr>
          <a:xfrm>
            <a:off x="6480000" y="3987000"/>
            <a:ext cx="3384000" cy="673747"/>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Faire voter une politique de placement.</a:t>
            </a:r>
          </a:p>
        </p:txBody>
      </p:sp>
      <p:sp>
        <p:nvSpPr>
          <p:cNvPr id="73" name="Rectangle 72"/>
          <p:cNvSpPr/>
          <p:nvPr/>
        </p:nvSpPr>
        <p:spPr>
          <a:xfrm>
            <a:off x="9864000" y="3987000"/>
            <a:ext cx="936000" cy="673747"/>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3987000"/>
            <a:ext cx="936000" cy="673747"/>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215873"/>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6" name="Rounded Rectangle 75"/>
          <p:cNvSpPr/>
          <p:nvPr/>
        </p:nvSpPr>
        <p:spPr>
          <a:xfrm>
            <a:off x="10962000" y="4215873"/>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7" name="Rectangle 76"/>
          <p:cNvSpPr/>
          <p:nvPr/>
        </p:nvSpPr>
        <p:spPr>
          <a:xfrm>
            <a:off x="503999" y="4660747"/>
            <a:ext cx="597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13   </a:t>
            </a:r>
            <a:r>
              <a:rPr sz="1050" b="1">
                <a:solidFill>
                  <a:srgbClr val="060606"/>
                </a:solidFill>
                <a:latin typeface="Helvetica"/>
              </a:rPr>
              <a:t>Une partie de la trésorerie dort. </a:t>
            </a:r>
            <a:r>
              <a:rPr sz="1050" b="0">
                <a:solidFill>
                  <a:srgbClr val="060606"/>
                </a:solidFill>
                <a:latin typeface="Helvetica"/>
              </a:rPr>
              <a:t>2 356 399 123 FCFA sur des comptes non rémunérés.</a:t>
            </a:r>
          </a:p>
        </p:txBody>
      </p:sp>
      <p:sp>
        <p:nvSpPr>
          <p:cNvPr id="78" name="Rectangle 77"/>
          <p:cNvSpPr/>
          <p:nvPr/>
        </p:nvSpPr>
        <p:spPr>
          <a:xfrm>
            <a:off x="6480000" y="4660747"/>
            <a:ext cx="3384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Placer à court terme la trésorerie non utilisée.</a:t>
            </a:r>
          </a:p>
        </p:txBody>
      </p:sp>
      <p:sp>
        <p:nvSpPr>
          <p:cNvPr id="79" name="Rectangle 78"/>
          <p:cNvSpPr/>
          <p:nvPr/>
        </p:nvSpPr>
        <p:spPr>
          <a:xfrm>
            <a:off x="9864000" y="4660747"/>
            <a:ext cx="93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0" name="Rectangle 79"/>
          <p:cNvSpPr/>
          <p:nvPr/>
        </p:nvSpPr>
        <p:spPr>
          <a:xfrm>
            <a:off x="10800000" y="4660747"/>
            <a:ext cx="936000" cy="51362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1" name="Rounded Rectangle 80"/>
          <p:cNvSpPr/>
          <p:nvPr/>
        </p:nvSpPr>
        <p:spPr>
          <a:xfrm>
            <a:off x="9936000" y="4809560"/>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2" name="Rounded Rectangle 81"/>
          <p:cNvSpPr/>
          <p:nvPr/>
        </p:nvSpPr>
        <p:spPr>
          <a:xfrm>
            <a:off x="10962000" y="4809560"/>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3" name="Rectangle 82"/>
          <p:cNvSpPr/>
          <p:nvPr/>
        </p:nvSpPr>
        <p:spPr>
          <a:xfrm>
            <a:off x="503999" y="5174373"/>
            <a:ext cx="597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23.b   </a:t>
            </a:r>
            <a:r>
              <a:rPr sz="1050" b="1">
                <a:solidFill>
                  <a:srgbClr val="060606"/>
                </a:solidFill>
                <a:latin typeface="Helvetica"/>
              </a:rPr>
              <a:t>Le fonds commun de placement n'est pas suivi. </a:t>
            </a:r>
            <a:r>
              <a:rPr sz="1050" b="0">
                <a:solidFill>
                  <a:srgbClr val="060606"/>
                </a:solidFill>
                <a:latin typeface="Helvetica"/>
              </a:rPr>
              <a:t>500 000 000 FCFA placés en 2025, non garantis et non revalorisés dans les comptes.</a:t>
            </a:r>
          </a:p>
        </p:txBody>
      </p:sp>
      <p:sp>
        <p:nvSpPr>
          <p:cNvPr id="84" name="Rectangle 83"/>
          <p:cNvSpPr/>
          <p:nvPr/>
        </p:nvSpPr>
        <p:spPr>
          <a:xfrm>
            <a:off x="6480000" y="5174373"/>
            <a:ext cx="3384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Suivre la valeur liquidative.</a:t>
            </a:r>
          </a:p>
        </p:txBody>
      </p:sp>
      <p:sp>
        <p:nvSpPr>
          <p:cNvPr id="85" name="Rectangle 84"/>
          <p:cNvSpPr/>
          <p:nvPr/>
        </p:nvSpPr>
        <p:spPr>
          <a:xfrm>
            <a:off x="9864000" y="5174373"/>
            <a:ext cx="93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6" name="Rectangle 85"/>
          <p:cNvSpPr/>
          <p:nvPr/>
        </p:nvSpPr>
        <p:spPr>
          <a:xfrm>
            <a:off x="10800000" y="5174373"/>
            <a:ext cx="936000" cy="513626"/>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7" name="Rounded Rectangle 86"/>
          <p:cNvSpPr/>
          <p:nvPr/>
        </p:nvSpPr>
        <p:spPr>
          <a:xfrm>
            <a:off x="9936000" y="5323186"/>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88" name="Rounded Rectangle 87"/>
          <p:cNvSpPr/>
          <p:nvPr/>
        </p:nvSpPr>
        <p:spPr>
          <a:xfrm>
            <a:off x="10962000" y="5323186"/>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89" name="TextBox 88"/>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90" name="TextBox 8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302010394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Gouvernance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règles de solidité ne sont pas respectées, et les décisions ne sont pas encadrées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14, plusieurs règles de solidité ne sont pas respectées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3"/>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3"/>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4"/>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5"/>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6"/>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p:cNvSpPr/>
          <p:nvPr/>
        </p:nvSpPr>
        <p:spPr>
          <a:xfrm>
            <a:off x="10203428"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1">
                <a:solidFill>
                  <a:srgbClr val="FFFFFF"/>
                </a:solidFill>
                <a:latin typeface="Helvetica"/>
              </a:rPr>
              <a:t>Gouvernance</a:t>
            </a:r>
          </a:p>
        </p:txBody>
      </p:sp>
      <p:sp>
        <p:nvSpPr>
          <p:cNvPr id="46" name="Nav Données et informatique">
            <a:hlinkClick action="ppaction://hlinksldjump" r:id="rId17"/>
          </p:cNvPr>
          <p:cNvSpPr/>
          <p:nvPr/>
        </p:nvSpPr>
        <p:spPr>
          <a:xfrm>
            <a:off x="10996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Données</a:t>
            </a:r>
          </a:p>
        </p:txBody>
      </p:sp>
      <p:sp>
        <p:nvSpPr>
          <p:cNvPr id="47" name="Bloc Gouvernance"/>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C00000"/>
                </a:solidFill>
                <a:latin typeface="Helvetica"/>
              </a:rPr>
              <a:t>● </a:t>
            </a:r>
            <a:r>
              <a:rPr sz="1000" b="0">
                <a:solidFill>
                  <a:srgbClr val="BBBCBC"/>
                </a:solidFill>
                <a:latin typeface="Helvetica"/>
              </a:rPr>
              <a:t>FONCTIONS TRANSVERSES  ›  </a:t>
            </a:r>
            <a:r>
              <a:rPr sz="1200" b="1">
                <a:solidFill>
                  <a:srgbClr val="FFFFFF"/>
                </a:solidFill>
                <a:latin typeface="Helvetica"/>
              </a:rPr>
              <a:t>GOUVERNANCE</a:t>
            </a:r>
            <a:r>
              <a:rPr sz="950" b="0">
                <a:solidFill>
                  <a:srgbClr val="FFFFFF"/>
                </a:solidFill>
                <a:latin typeface="Helvetica"/>
              </a:rPr>
              <a:t>     4 constats, dont 1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C00000"/>
                </a:solidFill>
                <a:latin typeface="Helvetica"/>
              </a:rPr>
              <a:t>● </a:t>
            </a:r>
            <a:r>
              <a:rPr sz="1050" b="1">
                <a:solidFill>
                  <a:srgbClr val="112A40"/>
                </a:solidFill>
                <a:latin typeface="Helvetica"/>
              </a:rPr>
              <a:t>14   </a:t>
            </a:r>
            <a:r>
              <a:rPr sz="1050" b="1">
                <a:solidFill>
                  <a:srgbClr val="060606"/>
                </a:solidFill>
                <a:latin typeface="Helvetica"/>
              </a:rPr>
              <a:t>Plusieurs règles de solidité ne sont pas respectées. </a:t>
            </a:r>
            <a:r>
              <a:rPr sz="1050" b="0">
                <a:solidFill>
                  <a:srgbClr val="060606"/>
                </a:solidFill>
                <a:latin typeface="Helvetica"/>
              </a:rPr>
              <a:t>14 indicateurs sur 36 non conformes de 2022 à 2025, dont la réserve obligatoire, la liquidité et les fonds propres. Retrait d'agrément possible.</a:t>
            </a:r>
          </a:p>
        </p:txBody>
      </p:sp>
      <p:sp>
        <p:nvSpPr>
          <p:cNvPr id="54" name="Rectangle 53"/>
          <p:cNvSpPr/>
          <p:nvPr/>
        </p:nvSpPr>
        <p:spPr>
          <a:xfrm>
            <a:off x="6480000" y="2286000"/>
            <a:ext cx="3384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Plan de mise en conformité chiffré présenté à l'AIRMS.</a:t>
            </a:r>
          </a:p>
        </p:txBody>
      </p:sp>
      <p:sp>
        <p:nvSpPr>
          <p:cNvPr id="55" name="Rectangle 54"/>
          <p:cNvSpPr/>
          <p:nvPr/>
        </p:nvSpPr>
        <p:spPr>
          <a:xfrm>
            <a:off x="9864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73956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547781"/>
            <a:ext cx="792000" cy="216000"/>
          </a:xfrm>
          <a:prstGeom prst="roundRect">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Élevée</a:t>
            </a:r>
          </a:p>
        </p:txBody>
      </p:sp>
      <p:sp>
        <p:nvSpPr>
          <p:cNvPr id="58" name="Rounded Rectangle 57"/>
          <p:cNvSpPr/>
          <p:nvPr/>
        </p:nvSpPr>
        <p:spPr>
          <a:xfrm>
            <a:off x="10962000" y="2547781"/>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3025562"/>
            <a:ext cx="597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24   </a:t>
            </a:r>
            <a:r>
              <a:rPr sz="1050" b="1">
                <a:solidFill>
                  <a:srgbClr val="060606"/>
                </a:solidFill>
                <a:latin typeface="Helvetica"/>
              </a:rPr>
              <a:t>Les placements ne passent pas par le conseil. </a:t>
            </a:r>
            <a:r>
              <a:rPr sz="1050" b="0">
                <a:solidFill>
                  <a:srgbClr val="060606"/>
                </a:solidFill>
                <a:highlight>
                  <a:srgbClr val="FFFF00"/>
                </a:highlight>
                <a:latin typeface="Helvetica"/>
              </a:rPr>
              <a:t>Selon le chef comptable, le directeur général décide seul.</a:t>
            </a:r>
            <a:r>
              <a:rPr sz="1050" b="0">
                <a:solidFill>
                  <a:srgbClr val="060606"/>
                </a:solidFill>
                <a:latin typeface="Helvetica"/>
              </a:rPr>
              <a:t> Projet de Cocody sans budget. Mandat du directeur général documenté pour 2020 à 2023.</a:t>
            </a:r>
          </a:p>
        </p:txBody>
      </p:sp>
      <p:sp>
        <p:nvSpPr>
          <p:cNvPr id="60" name="Rectangle 59"/>
          <p:cNvSpPr/>
          <p:nvPr/>
        </p:nvSpPr>
        <p:spPr>
          <a:xfrm>
            <a:off x="6480000" y="3025562"/>
            <a:ext cx="3384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Délibération du conseil d'administration pour chaque placement.</a:t>
            </a:r>
          </a:p>
        </p:txBody>
      </p:sp>
      <p:sp>
        <p:nvSpPr>
          <p:cNvPr id="61" name="Rectangle 60"/>
          <p:cNvSpPr/>
          <p:nvPr/>
        </p:nvSpPr>
        <p:spPr>
          <a:xfrm>
            <a:off x="9864000" y="3025562"/>
            <a:ext cx="93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3025562"/>
            <a:ext cx="936000" cy="739562"/>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287343"/>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64" name="Rounded Rectangle 63"/>
          <p:cNvSpPr/>
          <p:nvPr/>
        </p:nvSpPr>
        <p:spPr>
          <a:xfrm>
            <a:off x="10962000" y="3287343"/>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65" name="Rectangle 64"/>
          <p:cNvSpPr/>
          <p:nvPr/>
        </p:nvSpPr>
        <p:spPr>
          <a:xfrm>
            <a:off x="503999" y="3765124"/>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24.a   </a:t>
            </a:r>
            <a:r>
              <a:rPr sz="1050" b="1">
                <a:solidFill>
                  <a:srgbClr val="060606"/>
                </a:solidFill>
                <a:latin typeface="Helvetica"/>
              </a:rPr>
              <a:t>Aucun pilotage actif-passif. </a:t>
            </a:r>
            <a:r>
              <a:rPr sz="1050" b="0">
                <a:solidFill>
                  <a:srgbClr val="060606"/>
                </a:solidFill>
                <a:latin typeface="Helvetica"/>
              </a:rPr>
              <a:t>Ni politique votée, ni comité, ni limites.</a:t>
            </a:r>
          </a:p>
        </p:txBody>
      </p:sp>
      <p:sp>
        <p:nvSpPr>
          <p:cNvPr id="66" name="Rectangle 65"/>
          <p:cNvSpPr/>
          <p:nvPr/>
        </p:nvSpPr>
        <p:spPr>
          <a:xfrm>
            <a:off x="6480000" y="3765124"/>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Politique actif-passif votée et comité actif-passif.</a:t>
            </a:r>
          </a:p>
        </p:txBody>
      </p:sp>
      <p:sp>
        <p:nvSpPr>
          <p:cNvPr id="67" name="Rectangle 66"/>
          <p:cNvSpPr/>
          <p:nvPr/>
        </p:nvSpPr>
        <p:spPr>
          <a:xfrm>
            <a:off x="9864000" y="376512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765124"/>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946845"/>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0" name="Rounded Rectangle 69"/>
          <p:cNvSpPr/>
          <p:nvPr/>
        </p:nvSpPr>
        <p:spPr>
          <a:xfrm>
            <a:off x="10962000" y="3946845"/>
            <a:ext cx="612000" cy="21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P2</a:t>
            </a:r>
          </a:p>
        </p:txBody>
      </p:sp>
      <p:sp>
        <p:nvSpPr>
          <p:cNvPr id="71" name="Rectangle 70"/>
          <p:cNvSpPr/>
          <p:nvPr/>
        </p:nvSpPr>
        <p:spPr>
          <a:xfrm>
            <a:off x="503999" y="4344566"/>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16   </a:t>
            </a:r>
            <a:r>
              <a:rPr sz="1050" b="1">
                <a:solidFill>
                  <a:srgbClr val="060606"/>
                </a:solidFill>
                <a:latin typeface="Helvetica"/>
              </a:rPr>
              <a:t>Les frais dépassent la norme. </a:t>
            </a:r>
            <a:r>
              <a:rPr sz="1050" b="0">
                <a:solidFill>
                  <a:srgbClr val="060606"/>
                </a:solidFill>
                <a:latin typeface="Helvetica"/>
              </a:rPr>
              <a:t>36,34 % des cotisations en 2025, 44,12 % sur huit mois de 2026, pour un maximum de 20 %.</a:t>
            </a:r>
          </a:p>
        </p:txBody>
      </p:sp>
      <p:sp>
        <p:nvSpPr>
          <p:cNvPr id="72" name="Rectangle 71"/>
          <p:cNvSpPr/>
          <p:nvPr/>
        </p:nvSpPr>
        <p:spPr>
          <a:xfrm>
            <a:off x="6480000" y="4344566"/>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Budget de fonctionnement avec un objectif de 20 %.</a:t>
            </a:r>
          </a:p>
        </p:txBody>
      </p:sp>
      <p:sp>
        <p:nvSpPr>
          <p:cNvPr id="73" name="Rectangle 72"/>
          <p:cNvSpPr/>
          <p:nvPr/>
        </p:nvSpPr>
        <p:spPr>
          <a:xfrm>
            <a:off x="9864000" y="4344566"/>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344566"/>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526287"/>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76" name="Rounded Rectangle 75"/>
          <p:cNvSpPr/>
          <p:nvPr/>
        </p:nvSpPr>
        <p:spPr>
          <a:xfrm>
            <a:off x="10962000" y="4526287"/>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TextBox 76"/>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78" name="TextBox 7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AIRMS : Agence ivoirienne de régulation de la mutualité sociale | PEP : Plan Épargne Plus | EFC : entraide fin de carrière | MEDOC : produit santé complémentaire du poste 8Z7</a:t>
            </a:r>
          </a:p>
        </p:txBody>
      </p:sp>
    </p:spTree>
    <p:extLst>
      <p:ext uri="{BB962C8B-B14F-4D97-AF65-F5344CB8AC3E}">
        <p14:creationId xmlns:p14="http://schemas.microsoft.com/office/powerpoint/2010/main" val="371595262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Données et informatique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données essentielles manquent pour finir les calculs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Constat le plus grave : 26, des données essentielles manquent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503999" y="1411200"/>
            <a:ext cx="7085571"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PRODUITS</a:t>
            </a:r>
          </a:p>
        </p:txBody>
      </p:sp>
      <p:sp>
        <p:nvSpPr>
          <p:cNvPr id="32" name="Rectangle 31"/>
          <p:cNvSpPr/>
          <p:nvPr/>
        </p:nvSpPr>
        <p:spPr>
          <a:xfrm>
            <a:off x="7823571" y="1411200"/>
            <a:ext cx="3912428" cy="1512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00" b="1">
                <a:solidFill>
                  <a:srgbClr val="FFFFFF"/>
                </a:solidFill>
                <a:latin typeface="Helvetica"/>
              </a:rPr>
              <a:t>FONCTIONS TRANSVERSES</a:t>
            </a:r>
          </a:p>
        </p:txBody>
      </p:sp>
      <p:sp>
        <p:nvSpPr>
          <p:cNvPr id="33" name="Nav Maladie">
            <a:hlinkClick action="ppaction://hlinksldjump" r:id="rId7"/>
          </p:cNvPr>
          <p:cNvSpPr/>
          <p:nvPr/>
        </p:nvSpPr>
        <p:spPr>
          <a:xfrm>
            <a:off x="503999"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Maladie</a:t>
            </a:r>
          </a:p>
        </p:txBody>
      </p:sp>
      <p:sp>
        <p:nvSpPr>
          <p:cNvPr id="34" name="Nav Décès">
            <a:hlinkClick action="ppaction://hlinksldjump" r:id="rId8"/>
          </p:cNvPr>
          <p:cNvSpPr/>
          <p:nvPr/>
        </p:nvSpPr>
        <p:spPr>
          <a:xfrm>
            <a:off x="1297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Décès</a:t>
            </a:r>
          </a:p>
        </p:txBody>
      </p:sp>
      <p:sp>
        <p:nvSpPr>
          <p:cNvPr id="35" name="Nav Retraités (CGRAE)">
            <a:hlinkClick action="ppaction://hlinksldjump" r:id="rId9"/>
          </p:cNvPr>
          <p:cNvSpPr/>
          <p:nvPr/>
        </p:nvSpPr>
        <p:spPr>
          <a:xfrm>
            <a:off x="2090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Retraités</a:t>
            </a:r>
          </a:p>
        </p:txBody>
      </p:sp>
      <p:sp>
        <p:nvSpPr>
          <p:cNvPr id="36" name="Nav EFC">
            <a:hlinkClick action="ppaction://hlinksldjump" r:id="rId10"/>
          </p:cNvPr>
          <p:cNvSpPr/>
          <p:nvPr/>
        </p:nvSpPr>
        <p:spPr>
          <a:xfrm>
            <a:off x="2883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EFC</a:t>
            </a:r>
          </a:p>
        </p:txBody>
      </p:sp>
      <p:sp>
        <p:nvSpPr>
          <p:cNvPr id="37" name="Nav PEP">
            <a:hlinkClick action="ppaction://hlinksldjump" r:id="rId11"/>
          </p:cNvPr>
          <p:cNvSpPr/>
          <p:nvPr/>
        </p:nvSpPr>
        <p:spPr>
          <a:xfrm>
            <a:off x="3677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PEP</a:t>
            </a:r>
          </a:p>
        </p:txBody>
      </p:sp>
      <p:sp>
        <p:nvSpPr>
          <p:cNvPr id="38" name="Nav MEDOC">
            <a:hlinkClick action="ppaction://hlinksldjump" r:id="rId11"/>
          </p:cNvPr>
          <p:cNvSpPr/>
          <p:nvPr/>
        </p:nvSpPr>
        <p:spPr>
          <a:xfrm>
            <a:off x="4470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MEDOC</a:t>
            </a:r>
          </a:p>
        </p:txBody>
      </p:sp>
      <p:sp>
        <p:nvSpPr>
          <p:cNvPr id="39" name="Nav Grenier">
            <a:hlinkClick action="ppaction://hlinksldjump" r:id="rId12"/>
          </p:cNvPr>
          <p:cNvSpPr/>
          <p:nvPr/>
        </p:nvSpPr>
        <p:spPr>
          <a:xfrm>
            <a:off x="5263714"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Grenier</a:t>
            </a:r>
          </a:p>
        </p:txBody>
      </p:sp>
      <p:sp>
        <p:nvSpPr>
          <p:cNvPr id="40" name="Nav Flotte automobile">
            <a:hlinkClick action="ppaction://hlinksldjump" r:id="rId13"/>
          </p:cNvPr>
          <p:cNvSpPr/>
          <p:nvPr/>
        </p:nvSpPr>
        <p:spPr>
          <a:xfrm>
            <a:off x="6057000"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FFC000"/>
                </a:solidFill>
                <a:latin typeface="Helvetica"/>
              </a:rPr>
              <a:t>● </a:t>
            </a:r>
            <a:r>
              <a:rPr sz="750" b="0">
                <a:solidFill>
                  <a:srgbClr val="53565A"/>
                </a:solidFill>
                <a:latin typeface="Helvetica"/>
              </a:rPr>
              <a:t>Flotte auto</a:t>
            </a:r>
          </a:p>
        </p:txBody>
      </p:sp>
      <p:sp>
        <p:nvSpPr>
          <p:cNvPr id="41" name="Nav Clinique (CMP)">
            <a:hlinkClick action="ppaction://hlinksldjump" r:id="rId13"/>
          </p:cNvPr>
          <p:cNvSpPr/>
          <p:nvPr/>
        </p:nvSpPr>
        <p:spPr>
          <a:xfrm>
            <a:off x="6850285"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Clinique</a:t>
            </a:r>
          </a:p>
        </p:txBody>
      </p:sp>
      <p:sp>
        <p:nvSpPr>
          <p:cNvPr id="42" name="Nav Cotisations et précomptes">
            <a:hlinkClick action="ppaction://hlinksldjump" r:id="rId14"/>
          </p:cNvPr>
          <p:cNvSpPr/>
          <p:nvPr/>
        </p:nvSpPr>
        <p:spPr>
          <a:xfrm>
            <a:off x="7823571"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0">
                <a:solidFill>
                  <a:srgbClr val="53565A"/>
                </a:solidFill>
                <a:latin typeface="Helvetica"/>
              </a:rPr>
              <a:t>Cotisations</a:t>
            </a:r>
          </a:p>
        </p:txBody>
      </p:sp>
      <p:sp>
        <p:nvSpPr>
          <p:cNvPr id="43" name="Nav Comptabilité et provisions">
            <a:hlinkClick action="ppaction://hlinksldjump" r:id="rId15"/>
          </p:cNvPr>
          <p:cNvSpPr/>
          <p:nvPr/>
        </p:nvSpPr>
        <p:spPr>
          <a:xfrm>
            <a:off x="8616857"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Comptabilité</a:t>
            </a:r>
          </a:p>
        </p:txBody>
      </p:sp>
      <p:sp>
        <p:nvSpPr>
          <p:cNvPr id="44" name="Nav Trésorerie et placements">
            <a:hlinkClick action="ppaction://hlinksldjump" r:id="rId16"/>
          </p:cNvPr>
          <p:cNvSpPr/>
          <p:nvPr/>
        </p:nvSpPr>
        <p:spPr>
          <a:xfrm>
            <a:off x="9410142"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Trésorerie</a:t>
            </a:r>
          </a:p>
        </p:txBody>
      </p:sp>
      <p:sp>
        <p:nvSpPr>
          <p:cNvPr id="45" name="Nav Gouvernance">
            <a:hlinkClick action="ppaction://hlinksldjump" r:id="rId17"/>
          </p:cNvPr>
          <p:cNvSpPr/>
          <p:nvPr/>
        </p:nvSpPr>
        <p:spPr>
          <a:xfrm>
            <a:off x="10203428" y="1591200"/>
            <a:ext cx="739285" cy="1800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C00000"/>
                </a:solidFill>
                <a:latin typeface="Helvetica"/>
              </a:rPr>
              <a:t>● </a:t>
            </a:r>
            <a:r>
              <a:rPr sz="750" b="0">
                <a:solidFill>
                  <a:srgbClr val="53565A"/>
                </a:solidFill>
                <a:latin typeface="Helvetica"/>
              </a:rPr>
              <a:t>Gouvernance</a:t>
            </a:r>
          </a:p>
        </p:txBody>
      </p:sp>
      <p:sp>
        <p:nvSpPr>
          <p:cNvPr id="46" name="Nav Données et informatique"/>
          <p:cNvSpPr/>
          <p:nvPr/>
        </p:nvSpPr>
        <p:spPr>
          <a:xfrm>
            <a:off x="10996714" y="1591200"/>
            <a:ext cx="739285" cy="180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750" b="1">
                <a:solidFill>
                  <a:srgbClr val="ED7D31"/>
                </a:solidFill>
                <a:latin typeface="Helvetica"/>
              </a:rPr>
              <a:t>● </a:t>
            </a:r>
            <a:r>
              <a:rPr sz="750" b="1">
                <a:solidFill>
                  <a:srgbClr val="FFFFFF"/>
                </a:solidFill>
                <a:latin typeface="Helvetica"/>
              </a:rPr>
              <a:t>Données</a:t>
            </a:r>
          </a:p>
        </p:txBody>
      </p:sp>
      <p:sp>
        <p:nvSpPr>
          <p:cNvPr id="47" name="Bloc Données et informatique"/>
          <p:cNvSpPr/>
          <p:nvPr/>
        </p:nvSpPr>
        <p:spPr>
          <a:xfrm>
            <a:off x="503999" y="1835999"/>
            <a:ext cx="11232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00" b="1">
                <a:solidFill>
                  <a:srgbClr val="ED7D31"/>
                </a:solidFill>
                <a:latin typeface="Helvetica"/>
              </a:rPr>
              <a:t>● </a:t>
            </a:r>
            <a:r>
              <a:rPr sz="1000" b="0">
                <a:solidFill>
                  <a:srgbClr val="BBBCBC"/>
                </a:solidFill>
                <a:latin typeface="Helvetica"/>
              </a:rPr>
              <a:t>FONCTIONS TRANSVERSES  ›  </a:t>
            </a:r>
            <a:r>
              <a:rPr sz="1200" b="1">
                <a:solidFill>
                  <a:srgbClr val="FFFFFF"/>
                </a:solidFill>
                <a:latin typeface="Helvetica"/>
              </a:rPr>
              <a:t>DONNÉES ET INFORMATIQUE</a:t>
            </a:r>
            <a:r>
              <a:rPr sz="950" b="0">
                <a:solidFill>
                  <a:srgbClr val="FFFFFF"/>
                </a:solidFill>
                <a:latin typeface="Helvetica"/>
              </a:rPr>
              <a:t>     4 constats, dont 2 à traiter dans les trois mois</a:t>
            </a:r>
          </a:p>
        </p:txBody>
      </p:sp>
      <p:sp>
        <p:nvSpPr>
          <p:cNvPr id="48" name="Nav Carte">
            <a:hlinkClick action="ppaction://hlinksldjump" r:id="rId18"/>
          </p:cNvPr>
          <p:cNvSpPr/>
          <p:nvPr/>
        </p:nvSpPr>
        <p:spPr>
          <a:xfrm>
            <a:off x="10007999" y="1871999"/>
            <a:ext cx="1655999" cy="1512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850" b="1">
                <a:solidFill>
                  <a:srgbClr val="FFFFFF"/>
                </a:solidFill>
                <a:latin typeface="Helvetica"/>
              </a:rPr>
              <a:t>↩ Carte des activités</a:t>
            </a:r>
          </a:p>
        </p:txBody>
      </p:sp>
      <p:sp>
        <p:nvSpPr>
          <p:cNvPr id="49" name="Rectangle 48"/>
          <p:cNvSpPr/>
          <p:nvPr/>
        </p:nvSpPr>
        <p:spPr>
          <a:xfrm>
            <a:off x="503999" y="2088000"/>
            <a:ext cx="597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 et commentaire</a:t>
            </a:r>
          </a:p>
        </p:txBody>
      </p:sp>
      <p:sp>
        <p:nvSpPr>
          <p:cNvPr id="50" name="Rectangle 49"/>
          <p:cNvSpPr/>
          <p:nvPr/>
        </p:nvSpPr>
        <p:spPr>
          <a:xfrm>
            <a:off x="6480000" y="2088000"/>
            <a:ext cx="3384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a:t>
            </a:r>
          </a:p>
        </p:txBody>
      </p:sp>
      <p:sp>
        <p:nvSpPr>
          <p:cNvPr id="51" name="Rectangle 50"/>
          <p:cNvSpPr/>
          <p:nvPr/>
        </p:nvSpPr>
        <p:spPr>
          <a:xfrm>
            <a:off x="9864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Complexité</a:t>
            </a:r>
          </a:p>
        </p:txBody>
      </p:sp>
      <p:sp>
        <p:nvSpPr>
          <p:cNvPr id="52" name="Rectangle 51"/>
          <p:cNvSpPr/>
          <p:nvPr/>
        </p:nvSpPr>
        <p:spPr>
          <a:xfrm>
            <a:off x="10800000" y="2088000"/>
            <a:ext cx="936000" cy="180000"/>
          </a:xfrm>
          <a:prstGeom prst="rect">
            <a:avLst/>
          </a:prstGeom>
          <a:solidFill>
            <a:srgbClr val="D9D9D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060606"/>
                </a:solidFill>
                <a:latin typeface="Helvetica"/>
              </a:rPr>
              <a:t>Priorité</a:t>
            </a:r>
          </a:p>
        </p:txBody>
      </p:sp>
      <p:sp>
        <p:nvSpPr>
          <p:cNvPr id="53" name="Rectangle 52"/>
          <p:cNvSpPr/>
          <p:nvPr/>
        </p:nvSpPr>
        <p:spPr>
          <a:xfrm>
            <a:off x="503999" y="2286000"/>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ED7D31"/>
                </a:solidFill>
                <a:latin typeface="Helvetica"/>
              </a:rPr>
              <a:t>● </a:t>
            </a:r>
            <a:r>
              <a:rPr sz="1050" b="1">
                <a:solidFill>
                  <a:srgbClr val="112A40"/>
                </a:solidFill>
                <a:latin typeface="Helvetica"/>
              </a:rPr>
              <a:t>26   </a:t>
            </a:r>
            <a:r>
              <a:rPr sz="1050" b="1">
                <a:solidFill>
                  <a:srgbClr val="060606"/>
                </a:solidFill>
                <a:latin typeface="Helvetica"/>
              </a:rPr>
              <a:t>Des données essentielles manquent. </a:t>
            </a:r>
            <a:r>
              <a:rPr sz="1050" b="0">
                <a:solidFill>
                  <a:srgbClr val="060606"/>
                </a:solidFill>
                <a:latin typeface="Helvetica"/>
              </a:rPr>
              <a:t>Pas de base des prestations datée, ni de dates de naissance, ni de fichier des ayants droit.</a:t>
            </a:r>
          </a:p>
        </p:txBody>
      </p:sp>
      <p:sp>
        <p:nvSpPr>
          <p:cNvPr id="54" name="Rectangle 53"/>
          <p:cNvSpPr/>
          <p:nvPr/>
        </p:nvSpPr>
        <p:spPr>
          <a:xfrm>
            <a:off x="6480000" y="2286000"/>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les données demandées.</a:t>
            </a:r>
          </a:p>
        </p:txBody>
      </p:sp>
      <p:sp>
        <p:nvSpPr>
          <p:cNvPr id="55" name="Rectangle 54"/>
          <p:cNvSpPr/>
          <p:nvPr/>
        </p:nvSpPr>
        <p:spPr>
          <a:xfrm>
            <a:off x="9864000" y="2286000"/>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6" name="Rectangle 55"/>
          <p:cNvSpPr/>
          <p:nvPr/>
        </p:nvSpPr>
        <p:spPr>
          <a:xfrm>
            <a:off x="10800000" y="2286000"/>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7" name="Rounded Rectangle 56"/>
          <p:cNvSpPr/>
          <p:nvPr/>
        </p:nvSpPr>
        <p:spPr>
          <a:xfrm>
            <a:off x="9936000" y="2467720"/>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58" name="Rounded Rectangle 57"/>
          <p:cNvSpPr/>
          <p:nvPr/>
        </p:nvSpPr>
        <p:spPr>
          <a:xfrm>
            <a:off x="10962000" y="2467720"/>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59" name="Rectangle 58"/>
          <p:cNvSpPr/>
          <p:nvPr/>
        </p:nvSpPr>
        <p:spPr>
          <a:xfrm>
            <a:off x="503999" y="2865441"/>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26.i   </a:t>
            </a:r>
            <a:r>
              <a:rPr sz="1050" b="1">
                <a:solidFill>
                  <a:srgbClr val="060606"/>
                </a:solidFill>
                <a:latin typeface="Helvetica"/>
              </a:rPr>
              <a:t>Le fichier des mutualistes est incomplet. </a:t>
            </a:r>
            <a:r>
              <a:rPr sz="1050" b="0">
                <a:solidFill>
                  <a:srgbClr val="060606"/>
                </a:solidFill>
                <a:latin typeface="Helvetica"/>
              </a:rPr>
              <a:t>Ni date de naissance ni sexe des actifs, ni date d'adhésion, ni statut, ni motif de sortie.</a:t>
            </a:r>
          </a:p>
        </p:txBody>
      </p:sp>
      <p:sp>
        <p:nvSpPr>
          <p:cNvPr id="60" name="Rectangle 59"/>
          <p:cNvSpPr/>
          <p:nvPr/>
        </p:nvSpPr>
        <p:spPr>
          <a:xfrm>
            <a:off x="6480000" y="2865441"/>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Extraire du logiciel le fichier complet des mutualistes.</a:t>
            </a:r>
          </a:p>
        </p:txBody>
      </p:sp>
      <p:sp>
        <p:nvSpPr>
          <p:cNvPr id="61" name="Rectangle 60"/>
          <p:cNvSpPr/>
          <p:nvPr/>
        </p:nvSpPr>
        <p:spPr>
          <a:xfrm>
            <a:off x="9864000" y="2865441"/>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2" name="Rectangle 61"/>
          <p:cNvSpPr/>
          <p:nvPr/>
        </p:nvSpPr>
        <p:spPr>
          <a:xfrm>
            <a:off x="10800000" y="2865441"/>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3" name="Rounded Rectangle 62"/>
          <p:cNvSpPr/>
          <p:nvPr/>
        </p:nvSpPr>
        <p:spPr>
          <a:xfrm>
            <a:off x="9936000" y="3047162"/>
            <a:ext cx="792000" cy="2160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Moyenne</a:t>
            </a:r>
          </a:p>
        </p:txBody>
      </p:sp>
      <p:sp>
        <p:nvSpPr>
          <p:cNvPr id="64" name="Rounded Rectangle 63"/>
          <p:cNvSpPr/>
          <p:nvPr/>
        </p:nvSpPr>
        <p:spPr>
          <a:xfrm>
            <a:off x="10962000" y="3047162"/>
            <a:ext cx="612000" cy="21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P1</a:t>
            </a:r>
          </a:p>
        </p:txBody>
      </p:sp>
      <p:sp>
        <p:nvSpPr>
          <p:cNvPr id="65" name="Rectangle 64"/>
          <p:cNvSpPr/>
          <p:nvPr/>
        </p:nvSpPr>
        <p:spPr>
          <a:xfrm>
            <a:off x="503999" y="3444883"/>
            <a:ext cx="597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FFC000"/>
                </a:solidFill>
                <a:latin typeface="Helvetica"/>
              </a:rPr>
              <a:t>● </a:t>
            </a:r>
            <a:r>
              <a:rPr sz="1050" b="1">
                <a:solidFill>
                  <a:srgbClr val="112A40"/>
                </a:solidFill>
                <a:latin typeface="Helvetica"/>
              </a:rPr>
              <a:t>26.k   </a:t>
            </a:r>
            <a:r>
              <a:rPr sz="1050" b="1">
                <a:solidFill>
                  <a:srgbClr val="060606"/>
                </a:solidFill>
                <a:latin typeface="Helvetica"/>
              </a:rPr>
              <a:t>Le lien entre matricule et mécano manque. </a:t>
            </a:r>
            <a:r>
              <a:rPr sz="1050" b="0">
                <a:solidFill>
                  <a:srgbClr val="060606"/>
                </a:solidFill>
                <a:latin typeface="Helvetica"/>
              </a:rPr>
              <a:t>La table de correspondance n'a pas été transmise.</a:t>
            </a:r>
          </a:p>
        </p:txBody>
      </p:sp>
      <p:sp>
        <p:nvSpPr>
          <p:cNvPr id="66" name="Rectangle 65"/>
          <p:cNvSpPr/>
          <p:nvPr/>
        </p:nvSpPr>
        <p:spPr>
          <a:xfrm>
            <a:off x="6480000" y="3444883"/>
            <a:ext cx="3384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Transmettre la table de correspondance.</a:t>
            </a:r>
          </a:p>
        </p:txBody>
      </p:sp>
      <p:sp>
        <p:nvSpPr>
          <p:cNvPr id="67" name="Rectangle 66"/>
          <p:cNvSpPr/>
          <p:nvPr/>
        </p:nvSpPr>
        <p:spPr>
          <a:xfrm>
            <a:off x="9864000" y="3444883"/>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8" name="Rectangle 67"/>
          <p:cNvSpPr/>
          <p:nvPr/>
        </p:nvSpPr>
        <p:spPr>
          <a:xfrm>
            <a:off x="10800000" y="3444883"/>
            <a:ext cx="936000" cy="57944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69" name="Rounded Rectangle 68"/>
          <p:cNvSpPr/>
          <p:nvPr/>
        </p:nvSpPr>
        <p:spPr>
          <a:xfrm>
            <a:off x="9936000" y="3626604"/>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0" name="Rounded Rectangle 69"/>
          <p:cNvSpPr/>
          <p:nvPr/>
        </p:nvSpPr>
        <p:spPr>
          <a:xfrm>
            <a:off x="10962000" y="3626604"/>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1" name="Rectangle 70"/>
          <p:cNvSpPr/>
          <p:nvPr/>
        </p:nvSpPr>
        <p:spPr>
          <a:xfrm>
            <a:off x="503999" y="4024324"/>
            <a:ext cx="597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250" b="1">
                <a:solidFill>
                  <a:srgbClr val="70AD47"/>
                </a:solidFill>
                <a:latin typeface="Helvetica"/>
              </a:rPr>
              <a:t>● </a:t>
            </a:r>
            <a:r>
              <a:rPr sz="1050" b="1">
                <a:solidFill>
                  <a:srgbClr val="112A40"/>
                </a:solidFill>
                <a:latin typeface="Helvetica"/>
              </a:rPr>
              <a:t>26.j   </a:t>
            </a:r>
            <a:r>
              <a:rPr sz="1050" b="1">
                <a:solidFill>
                  <a:srgbClr val="060606"/>
                </a:solidFill>
                <a:latin typeface="Helvetica"/>
              </a:rPr>
              <a:t>Certains exports sont difficiles à lire. </a:t>
            </a:r>
            <a:r>
              <a:rPr sz="1050" b="0">
                <a:solidFill>
                  <a:srgbClr val="060606"/>
                </a:solidFill>
                <a:latin typeface="Helvetica"/>
              </a:rPr>
              <a:t>Fichiers PEP de 2020 à 2022 au format texte. Exports du Grenier sans la lettre-clé du mécano.</a:t>
            </a:r>
          </a:p>
        </p:txBody>
      </p:sp>
      <p:sp>
        <p:nvSpPr>
          <p:cNvPr id="72" name="Rectangle 71"/>
          <p:cNvSpPr/>
          <p:nvPr/>
        </p:nvSpPr>
        <p:spPr>
          <a:xfrm>
            <a:off x="6480000" y="4024324"/>
            <a:ext cx="3384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50" b="1">
                <a:solidFill>
                  <a:srgbClr val="EFAC62"/>
                </a:solidFill>
                <a:latin typeface="Helvetica"/>
              </a:rPr>
              <a:t>→ </a:t>
            </a:r>
            <a:r>
              <a:rPr sz="1050" b="0">
                <a:solidFill>
                  <a:srgbClr val="060606"/>
                </a:solidFill>
                <a:latin typeface="Helvetica"/>
              </a:rPr>
              <a:t>Fournir des exports Excel complets.</a:t>
            </a:r>
          </a:p>
        </p:txBody>
      </p:sp>
      <p:sp>
        <p:nvSpPr>
          <p:cNvPr id="73" name="Rectangle 72"/>
          <p:cNvSpPr/>
          <p:nvPr/>
        </p:nvSpPr>
        <p:spPr>
          <a:xfrm>
            <a:off x="9864000" y="4024324"/>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4" name="Rectangle 73"/>
          <p:cNvSpPr/>
          <p:nvPr/>
        </p:nvSpPr>
        <p:spPr>
          <a:xfrm>
            <a:off x="10800000" y="4024324"/>
            <a:ext cx="936000" cy="579441"/>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5" name="Rounded Rectangle 74"/>
          <p:cNvSpPr/>
          <p:nvPr/>
        </p:nvSpPr>
        <p:spPr>
          <a:xfrm>
            <a:off x="9936000" y="4206045"/>
            <a:ext cx="792000" cy="216000"/>
          </a:xfrm>
          <a:prstGeom prst="roundRect">
            <a:avLst/>
          </a:prstGeom>
          <a:solidFill>
            <a:srgbClr val="D9EAD3"/>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900" b="1">
                <a:solidFill>
                  <a:srgbClr val="060606"/>
                </a:solidFill>
                <a:latin typeface="Helvetica"/>
              </a:rPr>
              <a:t>Faible</a:t>
            </a:r>
          </a:p>
        </p:txBody>
      </p:sp>
      <p:sp>
        <p:nvSpPr>
          <p:cNvPr id="76" name="Rounded Rectangle 75"/>
          <p:cNvSpPr/>
          <p:nvPr/>
        </p:nvSpPr>
        <p:spPr>
          <a:xfrm>
            <a:off x="10962000" y="4206045"/>
            <a:ext cx="612000" cy="216000"/>
          </a:xfrm>
          <a:prstGeom prst="round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200" rIns="7200" tIns="7200" bIns="7200"/>
          <a:lstStyle/>
          <a:p>
            <a:pPr algn="ctr"/>
            <a:r>
              <a:rPr sz="1000" b="1">
                <a:solidFill>
                  <a:srgbClr val="FFFFFF"/>
                </a:solidFill>
                <a:latin typeface="Helvetica"/>
              </a:rPr>
              <a:t>P3</a:t>
            </a:r>
          </a:p>
        </p:txBody>
      </p:sp>
      <p:sp>
        <p:nvSpPr>
          <p:cNvPr id="77" name="TextBox 76"/>
          <p:cNvSpPr txBox="1"/>
          <p:nvPr/>
        </p:nvSpPr>
        <p:spPr>
          <a:xfrm>
            <a:off x="503999" y="5716800"/>
            <a:ext cx="11232000" cy="151200"/>
          </a:xfrm>
          <a:prstGeom prst="rect">
            <a:avLst/>
          </a:prstGeom>
          <a:noFill/>
        </p:spPr>
        <p:txBody>
          <a:bodyPr wrap="square">
            <a:spAutoFit/>
          </a:bodyPr>
          <a:lstStyle/>
          <a:p>
            <a:r>
              <a:rPr sz="750" b="1">
                <a:solidFill>
                  <a:srgbClr val="060606"/>
                </a:solidFill>
                <a:latin typeface="Helvetica"/>
              </a:rPr>
              <a:t>Criticité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Priorité : P1 dans les 3 mois, P2 dans les 6 mois, P3 de 6 à 18 mois, P4 au-delà.   Complexité : Faible (une décision suffit), Moyenne (travail interne), Élevée (tiers ou financement).   Numéros : ceux du résumé exécutif.</a:t>
            </a:r>
          </a:p>
        </p:txBody>
      </p:sp>
      <p:sp>
        <p:nvSpPr>
          <p:cNvPr id="78" name="TextBox 7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62562734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Circuits des cotisations par produit, avec les contrôles absents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49031874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la maladie et du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fichier envoyé à la Solde est produit hors du FPPN : le recouvrement ne peut pas être mesuré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Service du personnel</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m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a:t>
            </a:r>
          </a:p>
          <a:p>
            <a:pPr algn="ctr"/>
            <a:r>
              <a:rPr sz="800" b="1">
                <a:solidFill>
                  <a:srgbClr val="FFFFFF"/>
                </a:solidFill>
                <a:latin typeface="Helvetica"/>
              </a:rPr>
              <a:t>fiche d'adhésion</a:t>
            </a:r>
          </a:p>
        </p:txBody>
      </p:sp>
      <p:sp>
        <p:nvSpPr>
          <p:cNvPr id="42" name="Logigramme m2"/>
          <p:cNvSpPr/>
          <p:nvPr/>
        </p:nvSpPr>
        <p:spPr>
          <a:xfrm>
            <a:off x="2015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1">
                <a:solidFill>
                  <a:srgbClr val="060606"/>
                </a:solidFill>
                <a:latin typeface="Helvetica"/>
              </a:rPr>
              <a:t>Carte de santé</a:t>
            </a:r>
          </a:p>
          <a:p>
            <a:pPr algn="ctr"/>
            <a:r>
              <a:rPr sz="750" b="0">
                <a:solidFill>
                  <a:srgbClr val="060606"/>
                </a:solidFill>
                <a:latin typeface="Helvetica"/>
              </a:rPr>
              <a:t>FPPN ?</a:t>
            </a:r>
          </a:p>
        </p:txBody>
      </p:sp>
      <p:sp>
        <p:nvSpPr>
          <p:cNvPr id="43" name="Logigramme m3"/>
          <p:cNvSpPr/>
          <p:nvPr/>
        </p:nvSpPr>
        <p:spPr>
          <a:xfrm>
            <a:off x="3401999" y="151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Pas de</a:t>
            </a:r>
          </a:p>
          <a:p>
            <a:pPr algn="ctr"/>
            <a:r>
              <a:rPr sz="800" b="0">
                <a:solidFill>
                  <a:srgbClr val="060606"/>
                </a:solidFill>
                <a:latin typeface="Helvetica"/>
              </a:rPr>
              <a:t>prestation</a:t>
            </a:r>
          </a:p>
        </p:txBody>
      </p:sp>
      <p:sp>
        <p:nvSpPr>
          <p:cNvPr id="44" name="Logigramme m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a:t>
            </a:r>
          </a:p>
          <a:p>
            <a:pPr algn="ctr"/>
            <a:r>
              <a:rPr sz="800" b="0">
                <a:solidFill>
                  <a:srgbClr val="060606"/>
                </a:solidFill>
                <a:latin typeface="Helvetica"/>
              </a:rPr>
              <a:t>aux adhérents</a:t>
            </a:r>
          </a:p>
        </p:txBody>
      </p:sp>
      <p:sp>
        <p:nvSpPr>
          <p:cNvPr id="45" name="Logigramme m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recensant</a:t>
            </a:r>
          </a:p>
          <a:p>
            <a:pPr algn="ctr"/>
            <a:r>
              <a:rPr sz="800" b="0">
                <a:solidFill>
                  <a:srgbClr val="060606"/>
                </a:solidFill>
                <a:latin typeface="Helvetica"/>
              </a:rPr>
              <a:t>les adhérents</a:t>
            </a:r>
          </a:p>
        </p:txBody>
      </p:sp>
      <p:sp>
        <p:nvSpPr>
          <p:cNvPr id="46" name="Logigramme m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a:t>
            </a:r>
          </a:p>
          <a:p>
            <a:pPr algn="ctr"/>
            <a:r>
              <a:rPr sz="800" b="0">
                <a:solidFill>
                  <a:srgbClr val="060606"/>
                </a:solidFill>
                <a:latin typeface="Helvetica"/>
              </a:rPr>
              <a:t>et calcul des cotisations</a:t>
            </a:r>
          </a:p>
        </p:txBody>
      </p:sp>
      <p:sp>
        <p:nvSpPr>
          <p:cNvPr id="47" name="Logigramme m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936 et 8Z6</a:t>
            </a:r>
          </a:p>
        </p:txBody>
      </p:sp>
      <p:sp>
        <p:nvSpPr>
          <p:cNvPr id="48" name="Logigramme m8"/>
          <p:cNvSpPr/>
          <p:nvPr/>
        </p:nvSpPr>
        <p:spPr>
          <a:xfrm>
            <a:off x="7560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a:t>
            </a:r>
          </a:p>
          <a:p>
            <a:pPr algn="ctr"/>
            <a:r>
              <a:rPr sz="800" b="0">
                <a:solidFill>
                  <a:srgbClr val="060606"/>
                </a:solidFill>
                <a:latin typeface="Helvetica"/>
              </a:rPr>
              <a:t>sur la solde</a:t>
            </a:r>
          </a:p>
        </p:txBody>
      </p:sp>
      <p:sp>
        <p:nvSpPr>
          <p:cNvPr id="49" name="Logigramme m9"/>
          <p:cNvSpPr/>
          <p:nvPr/>
        </p:nvSpPr>
        <p:spPr>
          <a:xfrm>
            <a:off x="8946000" y="3726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papier et numérique</a:t>
            </a:r>
          </a:p>
        </p:txBody>
      </p:sp>
      <p:sp>
        <p:nvSpPr>
          <p:cNvPr id="50" name="Logigramme m10"/>
          <p:cNvSpPr/>
          <p:nvPr/>
        </p:nvSpPr>
        <p:spPr>
          <a:xfrm>
            <a:off x="8946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 fichier</a:t>
            </a:r>
          </a:p>
          <a:p>
            <a:pPr algn="ctr"/>
            <a:r>
              <a:rPr sz="800" b="0">
                <a:solidFill>
                  <a:srgbClr val="060606"/>
                </a:solidFill>
                <a:latin typeface="Helvetica"/>
              </a:rPr>
              <a:t>retour numérique</a:t>
            </a:r>
          </a:p>
        </p:txBody>
      </p:sp>
      <p:sp>
        <p:nvSpPr>
          <p:cNvPr id="51" name="Logigramme m11"/>
          <p:cNvSpPr/>
          <p:nvPr/>
        </p:nvSpPr>
        <p:spPr>
          <a:xfrm>
            <a:off x="8946000" y="4464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Affectation des sommes</a:t>
            </a:r>
          </a:p>
          <a:p>
            <a:pPr algn="ctr"/>
            <a:r>
              <a:rPr sz="800" b="0">
                <a:solidFill>
                  <a:srgbClr val="060606"/>
                </a:solidFill>
                <a:latin typeface="Helvetica"/>
              </a:rPr>
              <a:t>aux produits (DFC)</a:t>
            </a:r>
          </a:p>
        </p:txBody>
      </p:sp>
      <p:sp>
        <p:nvSpPr>
          <p:cNvPr id="52" name="Logigramme m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des précomptes</a:t>
            </a:r>
          </a:p>
        </p:txBody>
      </p:sp>
      <p:sp>
        <p:nvSpPr>
          <p:cNvPr id="53" name="Logigramme a1"/>
          <p:cNvSpPr/>
          <p:nvPr/>
        </p:nvSpPr>
        <p:spPr>
          <a:xfrm>
            <a:off x="7560000" y="2249999"/>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Fichier aller non</a:t>
            </a:r>
          </a:p>
          <a:p>
            <a:pPr algn="ctr"/>
            <a:r>
              <a:rPr sz="800" b="1">
                <a:solidFill>
                  <a:srgbClr val="C00000"/>
                </a:solidFill>
                <a:latin typeface="Helvetica"/>
              </a:rPr>
              <a:t>transmis au FPPN</a:t>
            </a:r>
          </a:p>
        </p:txBody>
      </p:sp>
      <p:sp>
        <p:nvSpPr>
          <p:cNvPr id="54" name="Logigramme a2"/>
          <p:cNvSpPr/>
          <p:nvPr/>
        </p:nvSpPr>
        <p:spPr>
          <a:xfrm>
            <a:off x="4788000" y="2988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3,77 % et 1,23 % retenus,</a:t>
            </a:r>
          </a:p>
          <a:p>
            <a:pPr algn="ctr"/>
            <a:r>
              <a:rPr sz="800" b="1">
                <a:solidFill>
                  <a:srgbClr val="C00000"/>
                </a:solidFill>
                <a:latin typeface="Helvetica"/>
              </a:rPr>
              <a:t>statuts : 3,5 % et 1,5 %</a:t>
            </a:r>
          </a:p>
        </p:txBody>
      </p:sp>
      <p:sp>
        <p:nvSpPr>
          <p:cNvPr id="55" name="Logigramme a3"/>
          <p:cNvSpPr/>
          <p:nvPr/>
        </p:nvSpPr>
        <p:spPr>
          <a:xfrm>
            <a:off x="10332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Décembre 2024 :</a:t>
            </a:r>
          </a:p>
          <a:p>
            <a:pPr algn="ctr"/>
            <a:r>
              <a:rPr sz="800" b="1">
                <a:solidFill>
                  <a:srgbClr val="C00000"/>
                </a:solidFill>
                <a:latin typeface="Helvetica"/>
              </a:rPr>
              <a:t>fichiers vides</a:t>
            </a:r>
          </a:p>
        </p:txBody>
      </p:sp>
      <p:cxnSp>
        <p:nvCxnSpPr>
          <p:cNvPr id="56" name="Flèche m1 vers m2"/>
          <p:cNvCxnSpPr>
            <a:stCxn id="41" idx="2"/>
            <a:endCxn id="42" idx="0"/>
          </p:cNvCxnSpPr>
          <p:nvPr/>
        </p:nvCxnSpPr>
        <p:spPr>
          <a:xfrm flipH="1">
            <a:off x="2627999" y="2034000"/>
            <a:ext cx="0" cy="13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Flèche m2 vers m3"/>
          <p:cNvCxnSpPr>
            <a:stCxn id="42" idx="3"/>
            <a:endCxn id="43" idx="2"/>
          </p:cNvCxnSpPr>
          <p:nvPr/>
        </p:nvCxnSpPr>
        <p:spPr>
          <a:xfrm flipV="1">
            <a:off x="3239999" y="2034000"/>
            <a:ext cx="774000" cy="477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9" name="Flèche m2 vers m4"/>
          <p:cNvCxnSpPr>
            <a:stCxn id="42" idx="3"/>
            <a:endCxn id="44" idx="1"/>
          </p:cNvCxnSpPr>
          <p:nvPr/>
        </p:nvCxnSpPr>
        <p:spPr>
          <a:xfrm flipV="1">
            <a:off x="3239999" y="251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61" name="Flèche m4 vers m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m5 vers m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m6 vers m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m7 vers m8"/>
          <p:cNvCxnSpPr>
            <a:stCxn id="47" idx="2"/>
            <a:endCxn id="48" idx="0"/>
          </p:cNvCxnSpPr>
          <p:nvPr/>
        </p:nvCxnSpPr>
        <p:spPr>
          <a:xfrm flipH="1">
            <a:off x="8172000" y="3510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m8 vers m9"/>
          <p:cNvCxnSpPr>
            <a:stCxn id="48" idx="3"/>
            <a:endCxn id="49" idx="1"/>
          </p:cNvCxnSpPr>
          <p:nvPr/>
        </p:nvCxnSpPr>
        <p:spPr>
          <a:xfrm flipV="1">
            <a:off x="8784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m9 vers m10"/>
          <p:cNvCxnSpPr>
            <a:stCxn id="49" idx="0"/>
            <a:endCxn id="50" idx="2"/>
          </p:cNvCxnSpPr>
          <p:nvPr/>
        </p:nvCxnSpPr>
        <p:spPr>
          <a:xfrm flipH="1" flipV="1">
            <a:off x="9558000" y="2771999"/>
            <a:ext cx="0" cy="95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m9 vers m11"/>
          <p:cNvCxnSpPr>
            <a:stCxn id="49" idx="2"/>
            <a:endCxn id="51" idx="0"/>
          </p:cNvCxnSpPr>
          <p:nvPr/>
        </p:nvCxnSpPr>
        <p:spPr>
          <a:xfrm flipH="1">
            <a:off x="9558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Flèche m11 vers m12"/>
          <p:cNvCxnSpPr>
            <a:stCxn id="51" idx="3"/>
            <a:endCxn id="52" idx="1"/>
          </p:cNvCxnSpPr>
          <p:nvPr/>
        </p:nvCxnSpPr>
        <p:spPr>
          <a:xfrm flipV="1">
            <a:off x="10170000" y="472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Flèche m7 vers a1"/>
          <p:cNvCxnSpPr>
            <a:stCxn id="47" idx="0"/>
            <a:endCxn id="53" idx="2"/>
          </p:cNvCxnSpPr>
          <p:nvPr/>
        </p:nvCxnSpPr>
        <p:spPr>
          <a:xfrm flipH="1" flipV="1">
            <a:off x="8172000" y="2771999"/>
            <a:ext cx="0" cy="216001"/>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Flèche m6 vers a2"/>
          <p:cNvCxnSpPr>
            <a:stCxn id="46" idx="1"/>
            <a:endCxn id="54" idx="3"/>
          </p:cNvCxnSpPr>
          <p:nvPr/>
        </p:nvCxnSpPr>
        <p:spPr>
          <a:xfrm flipH="1" flipV="1">
            <a:off x="6012000" y="3249000"/>
            <a:ext cx="161999"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Flèche m9 vers a3"/>
          <p:cNvCxnSpPr>
            <a:stCxn id="49" idx="3"/>
            <a:endCxn id="55" idx="1"/>
          </p:cNvCxnSpPr>
          <p:nvPr/>
        </p:nvCxnSpPr>
        <p:spPr>
          <a:xfrm flipV="1">
            <a:off x="10170000" y="3987000"/>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Le service du personnel calcule et transmet le fichier sans le communiquer au FPPN.</a:t>
            </a:r>
            <a:r>
              <a:rPr sz="1200" b="0">
                <a:solidFill>
                  <a:srgbClr val="060606"/>
                </a:solidFill>
                <a:latin typeface="Helvetica"/>
              </a:rPr>
              <a:t> Le FPPN ne peut ni vérifier les taux retenus (3,77 % et 1,23 % au lieu de 3,50 % et 1,50 %), ni mesurer le taux de recouvrement (constats 20 et 27).</a:t>
            </a:r>
          </a:p>
        </p:txBody>
      </p:sp>
      <p:sp>
        <p:nvSpPr>
          <p:cNvPr id="73" name="TextBox 7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 | 8Z6 : poste décès</a:t>
            </a:r>
          </a:p>
        </p:txBody>
      </p:sp>
    </p:spTree>
    <p:extLst>
      <p:ext uri="{BB962C8B-B14F-4D97-AF65-F5344CB8AC3E}">
        <p14:creationId xmlns:p14="http://schemas.microsoft.com/office/powerpoint/2010/main" val="306330529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l'EFC et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produit le fichier de l'épargne, mais ne compare pas l'envoi et le retour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Service du personnel</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e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a:t>
            </a:r>
          </a:p>
          <a:p>
            <a:pPr algn="ctr"/>
            <a:r>
              <a:rPr sz="800" b="1">
                <a:solidFill>
                  <a:srgbClr val="FFFFFF"/>
                </a:solidFill>
                <a:latin typeface="Helvetica"/>
              </a:rPr>
              <a:t>fiche d'adhésion</a:t>
            </a:r>
          </a:p>
        </p:txBody>
      </p:sp>
      <p:sp>
        <p:nvSpPr>
          <p:cNvPr id="42" name="Logigramme e2"/>
          <p:cNvSpPr/>
          <p:nvPr/>
        </p:nvSpPr>
        <p:spPr>
          <a:xfrm>
            <a:off x="2015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Mécano ?</a:t>
            </a:r>
          </a:p>
        </p:txBody>
      </p:sp>
      <p:sp>
        <p:nvSpPr>
          <p:cNvPr id="43" name="Logigramme e3"/>
          <p:cNvSpPr/>
          <p:nvPr/>
        </p:nvSpPr>
        <p:spPr>
          <a:xfrm>
            <a:off x="3401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Création du mécano</a:t>
            </a:r>
          </a:p>
          <a:p>
            <a:pPr algn="ctr"/>
            <a:r>
              <a:rPr sz="800" b="0">
                <a:solidFill>
                  <a:srgbClr val="060606"/>
                </a:solidFill>
                <a:latin typeface="Helvetica"/>
              </a:rPr>
              <a:t>et ajout à la fiche</a:t>
            </a:r>
          </a:p>
        </p:txBody>
      </p:sp>
      <p:sp>
        <p:nvSpPr>
          <p:cNvPr id="44" name="Logigramme e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 dans</a:t>
            </a:r>
          </a:p>
          <a:p>
            <a:pPr algn="ctr"/>
            <a:r>
              <a:rPr sz="800" b="0">
                <a:solidFill>
                  <a:srgbClr val="060606"/>
                </a:solidFill>
                <a:latin typeface="Helvetica"/>
              </a:rPr>
              <a:t>Easy money</a:t>
            </a:r>
          </a:p>
        </p:txBody>
      </p:sp>
      <p:sp>
        <p:nvSpPr>
          <p:cNvPr id="45" name="Logigramme e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recensant</a:t>
            </a:r>
          </a:p>
          <a:p>
            <a:pPr algn="ctr"/>
            <a:r>
              <a:rPr sz="800" b="0">
                <a:solidFill>
                  <a:srgbClr val="060606"/>
                </a:solidFill>
                <a:latin typeface="Helvetica"/>
              </a:rPr>
              <a:t>les adhérents</a:t>
            </a:r>
          </a:p>
        </p:txBody>
      </p:sp>
      <p:sp>
        <p:nvSpPr>
          <p:cNvPr id="46" name="Logigramme e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a:t>
            </a:r>
          </a:p>
          <a:p>
            <a:pPr algn="ctr"/>
            <a:r>
              <a:rPr sz="800" b="0">
                <a:solidFill>
                  <a:srgbClr val="060606"/>
                </a:solidFill>
                <a:latin typeface="Helvetica"/>
              </a:rPr>
              <a:t>et calcul des cotisations</a:t>
            </a:r>
          </a:p>
        </p:txBody>
      </p:sp>
      <p:sp>
        <p:nvSpPr>
          <p:cNvPr id="47" name="Logigramme e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aller</a:t>
            </a:r>
          </a:p>
        </p:txBody>
      </p:sp>
      <p:sp>
        <p:nvSpPr>
          <p:cNvPr id="48" name="Logigramme e8"/>
          <p:cNvSpPr/>
          <p:nvPr/>
        </p:nvSpPr>
        <p:spPr>
          <a:xfrm>
            <a:off x="7560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a:t>
            </a:r>
          </a:p>
          <a:p>
            <a:pPr algn="ctr"/>
            <a:r>
              <a:rPr sz="800" b="0">
                <a:solidFill>
                  <a:srgbClr val="060606"/>
                </a:solidFill>
                <a:latin typeface="Helvetica"/>
              </a:rPr>
              <a:t>sur salaire</a:t>
            </a:r>
          </a:p>
        </p:txBody>
      </p:sp>
      <p:sp>
        <p:nvSpPr>
          <p:cNvPr id="49" name="Logigramme e9"/>
          <p:cNvSpPr/>
          <p:nvPr/>
        </p:nvSpPr>
        <p:spPr>
          <a:xfrm>
            <a:off x="8946000" y="3726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papier et numérique</a:t>
            </a:r>
          </a:p>
        </p:txBody>
      </p:sp>
      <p:sp>
        <p:nvSpPr>
          <p:cNvPr id="50" name="Logigramme e10"/>
          <p:cNvSpPr/>
          <p:nvPr/>
        </p:nvSpPr>
        <p:spPr>
          <a:xfrm>
            <a:off x="8946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 fichier</a:t>
            </a:r>
          </a:p>
          <a:p>
            <a:pPr algn="ctr"/>
            <a:r>
              <a:rPr sz="800" b="0">
                <a:solidFill>
                  <a:srgbClr val="060606"/>
                </a:solidFill>
                <a:latin typeface="Helvetica"/>
              </a:rPr>
              <a:t>retour numérique</a:t>
            </a:r>
          </a:p>
        </p:txBody>
      </p:sp>
      <p:sp>
        <p:nvSpPr>
          <p:cNvPr id="51" name="Logigramme e11"/>
          <p:cNvSpPr/>
          <p:nvPr/>
        </p:nvSpPr>
        <p:spPr>
          <a:xfrm>
            <a:off x="8946000" y="4464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Affectation des sommes</a:t>
            </a:r>
          </a:p>
          <a:p>
            <a:pPr algn="ctr"/>
            <a:r>
              <a:rPr sz="800" b="0">
                <a:solidFill>
                  <a:srgbClr val="060606"/>
                </a:solidFill>
                <a:latin typeface="Helvetica"/>
              </a:rPr>
              <a:t>aux produits (DFC)</a:t>
            </a:r>
          </a:p>
        </p:txBody>
      </p:sp>
      <p:sp>
        <p:nvSpPr>
          <p:cNvPr id="52" name="Logigramme e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des précomptes</a:t>
            </a:r>
          </a:p>
        </p:txBody>
      </p:sp>
      <p:sp>
        <p:nvSpPr>
          <p:cNvPr id="53" name="Logigramme a1"/>
          <p:cNvSpPr/>
          <p:nvPr/>
        </p:nvSpPr>
        <p:spPr>
          <a:xfrm>
            <a:off x="10332000" y="2249999"/>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Aucun rapprochement</a:t>
            </a:r>
          </a:p>
          <a:p>
            <a:pPr algn="ctr"/>
            <a:r>
              <a:rPr sz="800" b="1">
                <a:solidFill>
                  <a:srgbClr val="C00000"/>
                </a:solidFill>
                <a:latin typeface="Helvetica"/>
              </a:rPr>
              <a:t>des fichiers aller et retour</a:t>
            </a:r>
          </a:p>
        </p:txBody>
      </p:sp>
      <p:sp>
        <p:nvSpPr>
          <p:cNvPr id="54" name="Logigramme a2"/>
          <p:cNvSpPr/>
          <p:nvPr/>
        </p:nvSpPr>
        <p:spPr>
          <a:xfrm>
            <a:off x="10332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Aucun intérêt calculé,</a:t>
            </a:r>
          </a:p>
          <a:p>
            <a:pPr algn="ctr"/>
            <a:r>
              <a:rPr sz="800" b="1">
                <a:solidFill>
                  <a:srgbClr val="C00000"/>
                </a:solidFill>
                <a:latin typeface="Helvetica"/>
              </a:rPr>
              <a:t>aucun relevé individuel</a:t>
            </a:r>
          </a:p>
        </p:txBody>
      </p:sp>
      <p:cxnSp>
        <p:nvCxnSpPr>
          <p:cNvPr id="55" name="Flèche e1 vers e2"/>
          <p:cNvCxnSpPr>
            <a:stCxn id="41" idx="2"/>
            <a:endCxn id="42" idx="0"/>
          </p:cNvCxnSpPr>
          <p:nvPr/>
        </p:nvCxnSpPr>
        <p:spPr>
          <a:xfrm flipH="1">
            <a:off x="2627999" y="2034000"/>
            <a:ext cx="0" cy="13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Flèche e2 vers e3"/>
          <p:cNvCxnSpPr>
            <a:stCxn id="42" idx="2"/>
            <a:endCxn id="43" idx="1"/>
          </p:cNvCxnSpPr>
          <p:nvPr/>
        </p:nvCxnSpPr>
        <p:spPr>
          <a:xfrm>
            <a:off x="2627999" y="2853000"/>
            <a:ext cx="774000" cy="39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81999" y="287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8" name="Flèche e2 vers e4"/>
          <p:cNvCxnSpPr>
            <a:stCxn id="42" idx="3"/>
            <a:endCxn id="44" idx="1"/>
          </p:cNvCxnSpPr>
          <p:nvPr/>
        </p:nvCxnSpPr>
        <p:spPr>
          <a:xfrm flipV="1">
            <a:off x="3239999" y="251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60" name="Flèche e3 vers e4"/>
          <p:cNvCxnSpPr>
            <a:stCxn id="43" idx="3"/>
            <a:endCxn id="44" idx="2"/>
          </p:cNvCxnSpPr>
          <p:nvPr/>
        </p:nvCxnSpPr>
        <p:spPr>
          <a:xfrm flipV="1">
            <a:off x="4625999" y="2771999"/>
            <a:ext cx="774001" cy="4770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e4 vers e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e5 vers e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e6 vers e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e7 vers e8"/>
          <p:cNvCxnSpPr>
            <a:stCxn id="47" idx="2"/>
            <a:endCxn id="48" idx="0"/>
          </p:cNvCxnSpPr>
          <p:nvPr/>
        </p:nvCxnSpPr>
        <p:spPr>
          <a:xfrm flipH="1">
            <a:off x="8172000" y="3510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e8 vers e9"/>
          <p:cNvCxnSpPr>
            <a:stCxn id="48" idx="3"/>
            <a:endCxn id="49" idx="1"/>
          </p:cNvCxnSpPr>
          <p:nvPr/>
        </p:nvCxnSpPr>
        <p:spPr>
          <a:xfrm flipV="1">
            <a:off x="8784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e9 vers e10"/>
          <p:cNvCxnSpPr>
            <a:stCxn id="49" idx="0"/>
            <a:endCxn id="50" idx="2"/>
          </p:cNvCxnSpPr>
          <p:nvPr/>
        </p:nvCxnSpPr>
        <p:spPr>
          <a:xfrm flipH="1" flipV="1">
            <a:off x="9558000" y="2771999"/>
            <a:ext cx="0" cy="95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e9 vers e11"/>
          <p:cNvCxnSpPr>
            <a:stCxn id="49" idx="2"/>
            <a:endCxn id="51" idx="0"/>
          </p:cNvCxnSpPr>
          <p:nvPr/>
        </p:nvCxnSpPr>
        <p:spPr>
          <a:xfrm flipH="1">
            <a:off x="9558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Flèche e11 vers e12"/>
          <p:cNvCxnSpPr>
            <a:stCxn id="51" idx="3"/>
            <a:endCxn id="52" idx="1"/>
          </p:cNvCxnSpPr>
          <p:nvPr/>
        </p:nvCxnSpPr>
        <p:spPr>
          <a:xfrm flipV="1">
            <a:off x="10170000" y="472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Flèche e10 vers a1"/>
          <p:cNvCxnSpPr>
            <a:stCxn id="50" idx="3"/>
            <a:endCxn id="53" idx="1"/>
          </p:cNvCxnSpPr>
          <p:nvPr/>
        </p:nvCxnSpPr>
        <p:spPr>
          <a:xfrm flipV="1">
            <a:off x="10170000" y="2510999"/>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Flèche e12 vers a2"/>
          <p:cNvCxnSpPr>
            <a:stCxn id="52" idx="0"/>
            <a:endCxn id="54" idx="2"/>
          </p:cNvCxnSpPr>
          <p:nvPr/>
        </p:nvCxnSpPr>
        <p:spPr>
          <a:xfrm flipH="1" flipV="1">
            <a:off x="10944000" y="4248000"/>
            <a:ext cx="0" cy="21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Le circuit s'arrête à l'enregistrement des prélèvements.</a:t>
            </a:r>
            <a:r>
              <a:rPr sz="1200" b="0">
                <a:solidFill>
                  <a:srgbClr val="060606"/>
                </a:solidFill>
                <a:latin typeface="Helvetica"/>
              </a:rPr>
              <a:t> Aucune étape ne compare les fichiers, ne calcule les intérêts dus ni ne produit de relevé par épargnant (constats 6, 8 et 27).</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48270525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la flotte automobile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encaisse une commission de 20 % dont la base n'est pas documentée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GNA</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g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Souscription,</a:t>
            </a:r>
          </a:p>
          <a:p>
            <a:pPr algn="ctr"/>
            <a:r>
              <a:rPr sz="800" b="1">
                <a:solidFill>
                  <a:srgbClr val="FFFFFF"/>
                </a:solidFill>
                <a:latin typeface="Helvetica"/>
              </a:rPr>
              <a:t>envoi des documents</a:t>
            </a:r>
          </a:p>
        </p:txBody>
      </p:sp>
      <p:sp>
        <p:nvSpPr>
          <p:cNvPr id="42" name="Logigramme g2"/>
          <p:cNvSpPr/>
          <p:nvPr/>
        </p:nvSpPr>
        <p:spPr>
          <a:xfrm>
            <a:off x="2015999"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Calcul des cotations,</a:t>
            </a:r>
          </a:p>
          <a:p>
            <a:pPr algn="ctr"/>
            <a:r>
              <a:rPr sz="800" b="0">
                <a:solidFill>
                  <a:srgbClr val="060606"/>
                </a:solidFill>
                <a:latin typeface="Helvetica"/>
              </a:rPr>
              <a:t>présentation au policier</a:t>
            </a:r>
          </a:p>
        </p:txBody>
      </p:sp>
      <p:sp>
        <p:nvSpPr>
          <p:cNvPr id="43" name="Logigramme g3"/>
          <p:cNvSpPr/>
          <p:nvPr/>
        </p:nvSpPr>
        <p:spPr>
          <a:xfrm>
            <a:off x="3401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Accord ?</a:t>
            </a:r>
          </a:p>
        </p:txBody>
      </p:sp>
      <p:sp>
        <p:nvSpPr>
          <p:cNvPr id="44" name="Logigramme g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Enregistrement sur la</a:t>
            </a:r>
          </a:p>
          <a:p>
            <a:pPr algn="ctr"/>
            <a:r>
              <a:rPr sz="800" b="0">
                <a:solidFill>
                  <a:srgbClr val="060606"/>
                </a:solidFill>
                <a:latin typeface="Helvetica"/>
              </a:rPr>
              <a:t>plateforme du GNA</a:t>
            </a:r>
          </a:p>
        </p:txBody>
      </p:sp>
      <p:sp>
        <p:nvSpPr>
          <p:cNvPr id="45" name="Logigramme g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(liste des bénéficiaires)</a:t>
            </a:r>
          </a:p>
        </p:txBody>
      </p:sp>
      <p:sp>
        <p:nvSpPr>
          <p:cNvPr id="46" name="Logigramme g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Collecte des fonds :</a:t>
            </a:r>
          </a:p>
          <a:p>
            <a:pPr algn="ctr"/>
            <a:r>
              <a:rPr sz="800" b="0">
                <a:solidFill>
                  <a:srgbClr val="060606"/>
                </a:solidFill>
                <a:latin typeface="Helvetica"/>
              </a:rPr>
              <a:t>direct, précompte, FPPN</a:t>
            </a:r>
          </a:p>
        </p:txBody>
      </p:sp>
      <p:sp>
        <p:nvSpPr>
          <p:cNvPr id="47" name="Logigramme g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retour</a:t>
            </a:r>
          </a:p>
        </p:txBody>
      </p:sp>
      <p:sp>
        <p:nvSpPr>
          <p:cNvPr id="48" name="Logigramme g8"/>
          <p:cNvSpPr/>
          <p:nvPr/>
        </p:nvSpPr>
        <p:spPr>
          <a:xfrm>
            <a:off x="7560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Dépôt du retour sur</a:t>
            </a:r>
          </a:p>
          <a:p>
            <a:pPr algn="ctr"/>
            <a:r>
              <a:rPr sz="800" b="0">
                <a:solidFill>
                  <a:srgbClr val="060606"/>
                </a:solidFill>
                <a:latin typeface="Helvetica"/>
              </a:rPr>
              <a:t>la plateforme du GNA</a:t>
            </a:r>
          </a:p>
        </p:txBody>
      </p:sp>
      <p:sp>
        <p:nvSpPr>
          <p:cNvPr id="49" name="Logigramme g9"/>
          <p:cNvSpPr/>
          <p:nvPr/>
        </p:nvSpPr>
        <p:spPr>
          <a:xfrm>
            <a:off x="8946000" y="151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Demande de</a:t>
            </a:r>
          </a:p>
          <a:p>
            <a:pPr algn="ctr"/>
            <a:r>
              <a:rPr sz="800" b="0">
                <a:solidFill>
                  <a:srgbClr val="060606"/>
                </a:solidFill>
                <a:latin typeface="Helvetica"/>
              </a:rPr>
              <a:t>trop-perçu</a:t>
            </a:r>
          </a:p>
        </p:txBody>
      </p:sp>
      <p:sp>
        <p:nvSpPr>
          <p:cNvPr id="50" name="Logigramme g10"/>
          <p:cNvSpPr/>
          <p:nvPr/>
        </p:nvSpPr>
        <p:spPr>
          <a:xfrm>
            <a:off x="8946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Remboursement</a:t>
            </a:r>
          </a:p>
          <a:p>
            <a:pPr algn="ctr"/>
            <a:r>
              <a:rPr sz="800" b="0">
                <a:solidFill>
                  <a:srgbClr val="060606"/>
                </a:solidFill>
                <a:latin typeface="Helvetica"/>
              </a:rPr>
              <a:t>du trop-perçu</a:t>
            </a:r>
          </a:p>
        </p:txBody>
      </p:sp>
      <p:sp>
        <p:nvSpPr>
          <p:cNvPr id="51" name="Logigramme g11"/>
          <p:cNvSpPr/>
          <p:nvPr/>
        </p:nvSpPr>
        <p:spPr>
          <a:xfrm>
            <a:off x="10332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Virement de la</a:t>
            </a:r>
          </a:p>
          <a:p>
            <a:pPr algn="ctr"/>
            <a:r>
              <a:rPr sz="800" b="0">
                <a:solidFill>
                  <a:srgbClr val="060606"/>
                </a:solidFill>
                <a:latin typeface="Helvetica"/>
              </a:rPr>
              <a:t>commission (20 %)</a:t>
            </a:r>
          </a:p>
        </p:txBody>
      </p:sp>
      <p:sp>
        <p:nvSpPr>
          <p:cNvPr id="52" name="Logigramme g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 la commission</a:t>
            </a:r>
          </a:p>
        </p:txBody>
      </p:sp>
      <p:sp>
        <p:nvSpPr>
          <p:cNvPr id="53" name="Logigramme a1"/>
          <p:cNvSpPr/>
          <p:nvPr/>
        </p:nvSpPr>
        <p:spPr>
          <a:xfrm>
            <a:off x="8946000" y="4464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Assiette des 20 %</a:t>
            </a:r>
          </a:p>
          <a:p>
            <a:pPr algn="ctr"/>
            <a:r>
              <a:rPr sz="800" b="1">
                <a:solidFill>
                  <a:srgbClr val="C00000"/>
                </a:solidFill>
                <a:latin typeface="Helvetica"/>
              </a:rPr>
              <a:t>non documentée</a:t>
            </a:r>
          </a:p>
        </p:txBody>
      </p:sp>
      <p:sp>
        <p:nvSpPr>
          <p:cNvPr id="54" name="Logigramme a2"/>
          <p:cNvSpPr/>
          <p:nvPr/>
        </p:nvSpPr>
        <p:spPr>
          <a:xfrm>
            <a:off x="7560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Retour de janvier</a:t>
            </a:r>
          </a:p>
          <a:p>
            <a:pPr algn="ctr"/>
            <a:r>
              <a:rPr sz="800" b="1">
                <a:solidFill>
                  <a:srgbClr val="C00000"/>
                </a:solidFill>
                <a:latin typeface="Helvetica"/>
              </a:rPr>
              <a:t>2026 manquant</a:t>
            </a:r>
          </a:p>
        </p:txBody>
      </p:sp>
      <p:cxnSp>
        <p:nvCxnSpPr>
          <p:cNvPr id="55" name="Flèche g1 vers g2"/>
          <p:cNvCxnSpPr>
            <a:stCxn id="41" idx="2"/>
            <a:endCxn id="42" idx="0"/>
          </p:cNvCxnSpPr>
          <p:nvPr/>
        </p:nvCxnSpPr>
        <p:spPr>
          <a:xfrm flipH="1">
            <a:off x="2627999" y="2034000"/>
            <a:ext cx="0" cy="215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Flèche g2 vers g3"/>
          <p:cNvCxnSpPr>
            <a:stCxn id="42" idx="3"/>
            <a:endCxn id="43" idx="1"/>
          </p:cNvCxnSpPr>
          <p:nvPr/>
        </p:nvCxnSpPr>
        <p:spPr>
          <a:xfrm>
            <a:off x="3239999" y="2510999"/>
            <a:ext cx="162000"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Flèche g3 vers g4"/>
          <p:cNvCxnSpPr>
            <a:stCxn id="43" idx="3"/>
            <a:endCxn id="44" idx="1"/>
          </p:cNvCxnSpPr>
          <p:nvPr/>
        </p:nvCxnSpPr>
        <p:spPr>
          <a:xfrm flipV="1">
            <a:off x="4625999" y="2510999"/>
            <a:ext cx="162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669199"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59" name="Flèche g4 vers g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g5 vers g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g6 vers g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g7 vers g8"/>
          <p:cNvCxnSpPr>
            <a:stCxn id="47" idx="0"/>
            <a:endCxn id="48" idx="2"/>
          </p:cNvCxnSpPr>
          <p:nvPr/>
        </p:nvCxnSpPr>
        <p:spPr>
          <a:xfrm flipH="1" flipV="1">
            <a:off x="8172000"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g9 vers g10"/>
          <p:cNvCxnSpPr>
            <a:stCxn id="49" idx="2"/>
            <a:endCxn id="50" idx="0"/>
          </p:cNvCxnSpPr>
          <p:nvPr/>
        </p:nvCxnSpPr>
        <p:spPr>
          <a:xfrm flipH="1">
            <a:off x="9558000" y="2034000"/>
            <a:ext cx="0" cy="169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g10 vers g11"/>
          <p:cNvCxnSpPr>
            <a:stCxn id="50" idx="3"/>
            <a:endCxn id="51" idx="1"/>
          </p:cNvCxnSpPr>
          <p:nvPr/>
        </p:nvCxnSpPr>
        <p:spPr>
          <a:xfrm flipV="1">
            <a:off x="10170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g11 vers g12"/>
          <p:cNvCxnSpPr>
            <a:stCxn id="51" idx="2"/>
            <a:endCxn id="52" idx="0"/>
          </p:cNvCxnSpPr>
          <p:nvPr/>
        </p:nvCxnSpPr>
        <p:spPr>
          <a:xfrm flipH="1">
            <a:off x="10944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g12 vers a1"/>
          <p:cNvCxnSpPr>
            <a:stCxn id="52" idx="1"/>
            <a:endCxn id="53" idx="3"/>
          </p:cNvCxnSpPr>
          <p:nvPr/>
        </p:nvCxnSpPr>
        <p:spPr>
          <a:xfrm flipH="1" flipV="1">
            <a:off x="10170000" y="4725000"/>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g7 vers a2"/>
          <p:cNvCxnSpPr>
            <a:stCxn id="47" idx="2"/>
            <a:endCxn id="54" idx="0"/>
          </p:cNvCxnSpPr>
          <p:nvPr/>
        </p:nvCxnSpPr>
        <p:spPr>
          <a:xfrm flipH="1">
            <a:off x="8172000" y="3510000"/>
            <a:ext cx="0" cy="21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La convention avec GNA n'a pas été transmise.</a:t>
            </a:r>
            <a:r>
              <a:rPr sz="1200" b="0">
                <a:solidFill>
                  <a:srgbClr val="060606"/>
                </a:solidFill>
                <a:latin typeface="Helvetica"/>
              </a:rPr>
              <a:t> La commission ne peut pas être vérifiée, et le fichier retour de janvier 2026 manque (constats 18.a, 26.g et 27.e).</a:t>
            </a:r>
          </a:p>
        </p:txBody>
      </p:sp>
      <p:sp>
        <p:nvSpPr>
          <p:cNvPr id="69" name="TextBox 6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GNA : assureur de la flotte automobile (compte 47111106)</a:t>
            </a:r>
          </a:p>
        </p:txBody>
      </p:sp>
    </p:spTree>
    <p:extLst>
      <p:ext uri="{BB962C8B-B14F-4D97-AF65-F5344CB8AC3E}">
        <p14:creationId xmlns:p14="http://schemas.microsoft.com/office/powerpoint/2010/main" val="8864824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cotisation suit le barème de la CGRAE, dans la limite de la quotité cessible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91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 retraité</a:t>
            </a:r>
          </a:p>
        </p:txBody>
      </p:sp>
      <p:sp>
        <p:nvSpPr>
          <p:cNvPr id="33" name="Rectangle 32"/>
          <p:cNvSpPr/>
          <p:nvPr/>
        </p:nvSpPr>
        <p:spPr>
          <a:xfrm>
            <a:off x="503999" y="2321999"/>
            <a:ext cx="11232000" cy="91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321999"/>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3240000"/>
            <a:ext cx="11232000" cy="91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240000"/>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CGRAE</a:t>
            </a:r>
          </a:p>
        </p:txBody>
      </p:sp>
      <p:sp>
        <p:nvSpPr>
          <p:cNvPr id="37" name="Rectangle 36"/>
          <p:cNvSpPr/>
          <p:nvPr/>
        </p:nvSpPr>
        <p:spPr>
          <a:xfrm>
            <a:off x="503999" y="4157999"/>
            <a:ext cx="11232000" cy="91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4157999"/>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39" name="Logigramme c1"/>
          <p:cNvSpPr/>
          <p:nvPr/>
        </p:nvSpPr>
        <p:spPr>
          <a:xfrm>
            <a:off x="2015999" y="160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 sur</a:t>
            </a:r>
          </a:p>
          <a:p>
            <a:pPr algn="ctr"/>
            <a:r>
              <a:rPr sz="800" b="1">
                <a:solidFill>
                  <a:srgbClr val="FFFFFF"/>
                </a:solidFill>
                <a:latin typeface="Helvetica"/>
              </a:rPr>
              <a:t>fiche d'adhésion</a:t>
            </a:r>
          </a:p>
        </p:txBody>
      </p:sp>
      <p:sp>
        <p:nvSpPr>
          <p:cNvPr id="40" name="Logigramme c2"/>
          <p:cNvSpPr/>
          <p:nvPr/>
        </p:nvSpPr>
        <p:spPr>
          <a:xfrm>
            <a:off x="2015999" y="243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Mécano ?</a:t>
            </a:r>
          </a:p>
        </p:txBody>
      </p:sp>
      <p:sp>
        <p:nvSpPr>
          <p:cNvPr id="41" name="Logigramme c3"/>
          <p:cNvSpPr/>
          <p:nvPr/>
        </p:nvSpPr>
        <p:spPr>
          <a:xfrm>
            <a:off x="3401999" y="160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Création du mécano</a:t>
            </a:r>
          </a:p>
          <a:p>
            <a:pPr algn="ctr"/>
            <a:r>
              <a:rPr sz="800" b="0">
                <a:solidFill>
                  <a:srgbClr val="060606"/>
                </a:solidFill>
                <a:latin typeface="Helvetica"/>
              </a:rPr>
              <a:t>et ajout à la fiche</a:t>
            </a:r>
          </a:p>
        </p:txBody>
      </p:sp>
      <p:sp>
        <p:nvSpPr>
          <p:cNvPr id="42" name="Logigramme c4"/>
          <p:cNvSpPr/>
          <p:nvPr/>
        </p:nvSpPr>
        <p:spPr>
          <a:xfrm>
            <a:off x="4788000" y="251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 au</a:t>
            </a:r>
          </a:p>
          <a:p>
            <a:pPr algn="ctr"/>
            <a:r>
              <a:rPr sz="800" b="0">
                <a:solidFill>
                  <a:srgbClr val="060606"/>
                </a:solidFill>
                <a:latin typeface="Helvetica"/>
              </a:rPr>
              <a:t>fichier en ligne</a:t>
            </a:r>
          </a:p>
        </p:txBody>
      </p:sp>
      <p:sp>
        <p:nvSpPr>
          <p:cNvPr id="43" name="Logigramme c5"/>
          <p:cNvSpPr/>
          <p:nvPr/>
        </p:nvSpPr>
        <p:spPr>
          <a:xfrm>
            <a:off x="6173999" y="2456999"/>
            <a:ext cx="1224000" cy="648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 :</a:t>
            </a:r>
          </a:p>
          <a:p>
            <a:pPr algn="ctr"/>
            <a:r>
              <a:rPr sz="800" b="0">
                <a:solidFill>
                  <a:srgbClr val="060606"/>
                </a:solidFill>
                <a:latin typeface="Helvetica"/>
              </a:rPr>
              <a:t>2,5 % de la pension</a:t>
            </a:r>
          </a:p>
          <a:p>
            <a:pPr algn="ctr"/>
            <a:r>
              <a:rPr sz="800" b="0">
                <a:solidFill>
                  <a:srgbClr val="060606"/>
                </a:solidFill>
                <a:latin typeface="Helvetica"/>
              </a:rPr>
              <a:t>nette MUGEFCI + forfait</a:t>
            </a:r>
          </a:p>
        </p:txBody>
      </p:sp>
      <p:sp>
        <p:nvSpPr>
          <p:cNvPr id="44" name="Logigramme c6"/>
          <p:cNvSpPr/>
          <p:nvPr/>
        </p:nvSpPr>
        <p:spPr>
          <a:xfrm>
            <a:off x="7560000" y="251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aller</a:t>
            </a:r>
          </a:p>
        </p:txBody>
      </p:sp>
      <p:sp>
        <p:nvSpPr>
          <p:cNvPr id="45" name="Logigramme c7"/>
          <p:cNvSpPr/>
          <p:nvPr/>
        </p:nvSpPr>
        <p:spPr>
          <a:xfrm>
            <a:off x="7560000" y="343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 sur la</a:t>
            </a:r>
          </a:p>
          <a:p>
            <a:pPr algn="ctr"/>
            <a:r>
              <a:rPr sz="800" b="0">
                <a:solidFill>
                  <a:srgbClr val="060606"/>
                </a:solidFill>
                <a:latin typeface="Helvetica"/>
              </a:rPr>
              <a:t>pension (quotité cessible)</a:t>
            </a:r>
          </a:p>
        </p:txBody>
      </p:sp>
      <p:sp>
        <p:nvSpPr>
          <p:cNvPr id="46" name="Logigramme c8"/>
          <p:cNvSpPr/>
          <p:nvPr/>
        </p:nvSpPr>
        <p:spPr>
          <a:xfrm>
            <a:off x="8946000" y="343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numérique</a:t>
            </a:r>
          </a:p>
        </p:txBody>
      </p:sp>
      <p:sp>
        <p:nvSpPr>
          <p:cNvPr id="47" name="Logigramme c9"/>
          <p:cNvSpPr/>
          <p:nvPr/>
        </p:nvSpPr>
        <p:spPr>
          <a:xfrm>
            <a:off x="8946000" y="251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a:t>
            </a:r>
          </a:p>
          <a:p>
            <a:pPr algn="ctr"/>
            <a:r>
              <a:rPr sz="800" b="0">
                <a:solidFill>
                  <a:srgbClr val="060606"/>
                </a:solidFill>
                <a:latin typeface="Helvetica"/>
              </a:rPr>
              <a:t>fichier retour</a:t>
            </a:r>
          </a:p>
        </p:txBody>
      </p:sp>
      <p:sp>
        <p:nvSpPr>
          <p:cNvPr id="48" name="Logigramme c10"/>
          <p:cNvSpPr/>
          <p:nvPr/>
        </p:nvSpPr>
        <p:spPr>
          <a:xfrm>
            <a:off x="10332000" y="343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Virement des fonds</a:t>
            </a:r>
          </a:p>
          <a:p>
            <a:pPr algn="ctr"/>
            <a:r>
              <a:rPr sz="800" b="0">
                <a:solidFill>
                  <a:srgbClr val="060606"/>
                </a:solidFill>
                <a:latin typeface="Helvetica"/>
              </a:rPr>
              <a:t>selon le barème</a:t>
            </a:r>
          </a:p>
        </p:txBody>
      </p:sp>
      <p:sp>
        <p:nvSpPr>
          <p:cNvPr id="49" name="Logigramme c11"/>
          <p:cNvSpPr/>
          <p:nvPr/>
        </p:nvSpPr>
        <p:spPr>
          <a:xfrm>
            <a:off x="10332000" y="4356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du virement</a:t>
            </a:r>
          </a:p>
        </p:txBody>
      </p:sp>
      <p:sp>
        <p:nvSpPr>
          <p:cNvPr id="50" name="Logigramme a1"/>
          <p:cNvSpPr/>
          <p:nvPr/>
        </p:nvSpPr>
        <p:spPr>
          <a:xfrm>
            <a:off x="6173999" y="3438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Retraités sans quotité</a:t>
            </a:r>
          </a:p>
          <a:p>
            <a:pPr algn="ctr"/>
            <a:r>
              <a:rPr sz="800" b="1">
                <a:solidFill>
                  <a:srgbClr val="C00000"/>
                </a:solidFill>
                <a:latin typeface="Helvetica"/>
              </a:rPr>
              <a:t>cessible non précomptés</a:t>
            </a:r>
          </a:p>
        </p:txBody>
      </p:sp>
      <p:sp>
        <p:nvSpPr>
          <p:cNvPr id="51" name="Logigramme a2"/>
          <p:cNvSpPr/>
          <p:nvPr/>
        </p:nvSpPr>
        <p:spPr>
          <a:xfrm>
            <a:off x="8946000" y="435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Retours de janvier et</a:t>
            </a:r>
          </a:p>
          <a:p>
            <a:pPr algn="ctr"/>
            <a:r>
              <a:rPr sz="800" b="1">
                <a:solidFill>
                  <a:srgbClr val="C00000"/>
                </a:solidFill>
                <a:latin typeface="Helvetica"/>
              </a:rPr>
              <a:t>juin 2024 manquants</a:t>
            </a:r>
          </a:p>
        </p:txBody>
      </p:sp>
      <p:cxnSp>
        <p:nvCxnSpPr>
          <p:cNvPr id="52" name="Flèche c1 vers c2"/>
          <p:cNvCxnSpPr>
            <a:stCxn id="39" idx="2"/>
            <a:endCxn id="40" idx="0"/>
          </p:cNvCxnSpPr>
          <p:nvPr/>
        </p:nvCxnSpPr>
        <p:spPr>
          <a:xfrm flipH="1">
            <a:off x="2627999" y="2124000"/>
            <a:ext cx="0" cy="31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2 vers c3"/>
          <p:cNvCxnSpPr>
            <a:stCxn id="40" idx="3"/>
            <a:endCxn id="41" idx="2"/>
          </p:cNvCxnSpPr>
          <p:nvPr/>
        </p:nvCxnSpPr>
        <p:spPr>
          <a:xfrm flipV="1">
            <a:off x="3239999" y="2124000"/>
            <a:ext cx="774000" cy="657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283198" y="260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5" name="Flèche c2 vers c4"/>
          <p:cNvCxnSpPr>
            <a:stCxn id="40" idx="3"/>
            <a:endCxn id="42" idx="1"/>
          </p:cNvCxnSpPr>
          <p:nvPr/>
        </p:nvCxnSpPr>
        <p:spPr>
          <a:xfrm flipV="1">
            <a:off x="3239999" y="278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283198" y="260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57" name="Flèche c3 vers c4"/>
          <p:cNvCxnSpPr>
            <a:stCxn id="41" idx="3"/>
            <a:endCxn id="42" idx="0"/>
          </p:cNvCxnSpPr>
          <p:nvPr/>
        </p:nvCxnSpPr>
        <p:spPr>
          <a:xfrm>
            <a:off x="4625999" y="1863000"/>
            <a:ext cx="774001" cy="656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4 vers c5"/>
          <p:cNvCxnSpPr>
            <a:stCxn id="42" idx="3"/>
            <a:endCxn id="43" idx="1"/>
          </p:cNvCxnSpPr>
          <p:nvPr/>
        </p:nvCxnSpPr>
        <p:spPr>
          <a:xfrm flipV="1">
            <a:off x="6012000" y="278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c5 vers c6"/>
          <p:cNvCxnSpPr>
            <a:stCxn id="43" idx="3"/>
            <a:endCxn id="44" idx="1"/>
          </p:cNvCxnSpPr>
          <p:nvPr/>
        </p:nvCxnSpPr>
        <p:spPr>
          <a:xfrm flipV="1">
            <a:off x="7397999" y="2780999"/>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c6 vers c7"/>
          <p:cNvCxnSpPr>
            <a:stCxn id="44" idx="2"/>
            <a:endCxn id="45" idx="0"/>
          </p:cNvCxnSpPr>
          <p:nvPr/>
        </p:nvCxnSpPr>
        <p:spPr>
          <a:xfrm flipH="1">
            <a:off x="8172000" y="3041999"/>
            <a:ext cx="0" cy="39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c7 vers c8"/>
          <p:cNvCxnSpPr>
            <a:stCxn id="45" idx="3"/>
            <a:endCxn id="46" idx="1"/>
          </p:cNvCxnSpPr>
          <p:nvPr/>
        </p:nvCxnSpPr>
        <p:spPr>
          <a:xfrm flipV="1">
            <a:off x="8784000" y="3699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c8 vers c9"/>
          <p:cNvCxnSpPr>
            <a:stCxn id="46" idx="0"/>
            <a:endCxn id="47" idx="2"/>
          </p:cNvCxnSpPr>
          <p:nvPr/>
        </p:nvCxnSpPr>
        <p:spPr>
          <a:xfrm flipH="1" flipV="1">
            <a:off x="9558000" y="3041999"/>
            <a:ext cx="0" cy="39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8 vers c10"/>
          <p:cNvCxnSpPr>
            <a:stCxn id="46" idx="3"/>
            <a:endCxn id="48" idx="1"/>
          </p:cNvCxnSpPr>
          <p:nvPr/>
        </p:nvCxnSpPr>
        <p:spPr>
          <a:xfrm flipV="1">
            <a:off x="10170000" y="3699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0 vers c11"/>
          <p:cNvCxnSpPr>
            <a:stCxn id="48" idx="2"/>
            <a:endCxn id="49" idx="0"/>
          </p:cNvCxnSpPr>
          <p:nvPr/>
        </p:nvCxnSpPr>
        <p:spPr>
          <a:xfrm flipH="1">
            <a:off x="10944000" y="3960000"/>
            <a:ext cx="0" cy="39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7 vers a1"/>
          <p:cNvCxnSpPr>
            <a:stCxn id="45" idx="1"/>
            <a:endCxn id="50" idx="3"/>
          </p:cNvCxnSpPr>
          <p:nvPr/>
        </p:nvCxnSpPr>
        <p:spPr>
          <a:xfrm flipH="1" flipV="1">
            <a:off x="7397999" y="3699000"/>
            <a:ext cx="162001"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8 vers a2"/>
          <p:cNvCxnSpPr>
            <a:stCxn id="46" idx="2"/>
            <a:endCxn id="51" idx="0"/>
          </p:cNvCxnSpPr>
          <p:nvPr/>
        </p:nvCxnSpPr>
        <p:spPr>
          <a:xfrm flipH="1">
            <a:off x="9558000" y="3960000"/>
            <a:ext cx="0" cy="39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999" y="5148000"/>
            <a:ext cx="11232000" cy="720000"/>
          </a:xfrm>
          <a:prstGeom prst="rect">
            <a:avLst/>
          </a:prstGeom>
          <a:noFill/>
        </p:spPr>
        <p:txBody>
          <a:bodyPr wrap="square" lIns="54000" rIns="54000"/>
          <a:lstStyle/>
          <a:p>
            <a:pPr algn="just">
              <a:spcAft>
                <a:spcPts val="600"/>
              </a:spcAft>
            </a:pPr>
            <a:r>
              <a:rPr sz="1200" b="1">
                <a:solidFill>
                  <a:srgbClr val="060606"/>
                </a:solidFill>
                <a:latin typeface="Helvetica"/>
              </a:rPr>
              <a:t>Seuls les retraités qui ont une quotité cessible suffisante sont prélevés, et la liste des autres n'a pas été transmise</a:t>
            </a:r>
            <a:r>
              <a:rPr sz="1200" b="0">
                <a:solidFill>
                  <a:srgbClr val="060606"/>
                </a:solidFill>
                <a:latin typeface="Helvetica"/>
              </a:rPr>
              <a:t> (constats 22.a, 27.b et 26.d).</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7970759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26</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