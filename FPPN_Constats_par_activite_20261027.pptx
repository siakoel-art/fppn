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embeddings/oleObject1.bin" ContentType="application/vnd.openxmlformats-officedocument.oleObject"/>
  <Override PartName="/ppt/embeddings/oleObject2.bin" ContentType="application/vnd.openxmlformats-officedocument.oleObject"/>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5" r:id="rId2"/>
  </p:sldMasterIdLst>
  <p:notesMasterIdLst>
    <p:notesMasterId r:id="rId117"/>
  </p:notesMasterIdLst>
  <p:sldIdLst>
    <p:sldId id="256" r:id="rId3"/>
    <p:sldId id="313" r:id="rId7"/>
    <p:sldId id="260" r:id="rId4"/>
    <p:sldId id="404" r:id="rId124"/>
    <p:sldId id="405" r:id="rId125"/>
    <p:sldId id="406" r:id="rId126"/>
    <p:sldId id="407" r:id="rId127"/>
    <p:sldId id="408" r:id="rId128"/>
    <p:sldId id="409" r:id="rId129"/>
    <p:sldId id="410" r:id="rId130"/>
    <p:sldId id="411" r:id="rId131"/>
    <p:sldId id="412" r:id="rId132"/>
    <p:sldId id="413" r:id="rId133"/>
    <p:sldId id="414" r:id="rId134"/>
    <p:sldId id="415" r:id="rId135"/>
    <p:sldId id="416" r:id="rId136"/>
    <p:sldId id="417" r:id="rId137"/>
    <p:sldId id="418" r:id="rId138"/>
    <p:sldId id="419" r:id="rId139"/>
    <p:sldId id="420" r:id="rId140"/>
    <p:sldId id="421" r:id="rId141"/>
    <p:sldId id="422" r:id="rId142"/>
    <p:sldId id="423" r:id="rId143"/>
    <p:sldId id="424" r:id="rId144"/>
    <p:sldId id="425" r:id="rId145"/>
    <p:sldId id="328" r:id="rId112"/>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uverture" id="{9C8FC9B7-AD45-409C-8017-02DEBDF9C938}">
          <p14:sldIdLst>
            <p14:sldId id="256"/>
          </p14:sldIdLst>
        </p14:section>
        <p14:section name="Contenu" id="{41430ABC-712C-4A41-8691-5284113E2CD9}">
          <p14:sldIdLst>
            <p14:sldId id="260"/>
            <p14:sldId id="261"/>
            <p14:sldId id="310"/>
            <p14:sldId id="313"/>
            <p14:sldId id="403"/>
            <p14:sldId id="402"/>
            <p14:sldId id="291"/>
            <p14:sldId id="312"/>
            <p14:sldId id="314"/>
            <p14:sldId id="317"/>
            <p14:sldId id="315"/>
            <p14:sldId id="316"/>
            <p14:sldId id="323"/>
            <p14:sldId id="324"/>
            <p14:sldId id="321"/>
            <p14:sldId id="322"/>
            <p14:sldId id="264"/>
            <p14:sldId id="318"/>
            <p14:sldId id="319"/>
            <p14:sldId id="320"/>
            <p14:sldId id="326"/>
            <p14:sldId id="325"/>
            <p14:sldId id="266"/>
            <p14:sldId id="327"/>
            <p14:sldId id="268"/>
            <p14:sldId id="271"/>
            <p14:sldId id="287"/>
            <p14:sldId id="329"/>
            <p14:sldId id="398"/>
            <p14:sldId id="399"/>
            <p14:sldId id="391"/>
            <p14:sldId id="397"/>
            <p14:sldId id="395"/>
            <p14:sldId id="396"/>
            <p14:sldId id="393"/>
            <p14:sldId id="392"/>
            <p14:sldId id="270"/>
            <p14:sldId id="330"/>
            <p14:sldId id="331"/>
            <p14:sldId id="332"/>
            <p14:sldId id="272"/>
            <p14:sldId id="333"/>
            <p14:sldId id="289"/>
            <p14:sldId id="334"/>
            <p14:sldId id="277"/>
            <p14:sldId id="278"/>
            <p14:sldId id="274"/>
            <p14:sldId id="335"/>
            <p14:sldId id="336"/>
            <p14:sldId id="348"/>
            <p14:sldId id="341"/>
            <p14:sldId id="349"/>
            <p14:sldId id="342"/>
            <p14:sldId id="350"/>
            <p14:sldId id="343"/>
            <p14:sldId id="351"/>
            <p14:sldId id="344"/>
            <p14:sldId id="352"/>
            <p14:sldId id="345"/>
            <p14:sldId id="353"/>
            <p14:sldId id="346"/>
            <p14:sldId id="354"/>
            <p14:sldId id="347"/>
            <p14:sldId id="355"/>
            <p14:sldId id="338"/>
            <p14:sldId id="356"/>
            <p14:sldId id="337"/>
            <p14:sldId id="357"/>
            <p14:sldId id="276"/>
            <p14:sldId id="358"/>
            <p14:sldId id="339"/>
            <p14:sldId id="359"/>
            <p14:sldId id="381"/>
            <p14:sldId id="385"/>
            <p14:sldId id="382"/>
            <p14:sldId id="400"/>
            <p14:sldId id="294"/>
            <p14:sldId id="360"/>
            <p14:sldId id="285"/>
            <p14:sldId id="286"/>
            <p14:sldId id="299"/>
            <p14:sldId id="361"/>
            <p14:sldId id="362"/>
            <p14:sldId id="283"/>
            <p14:sldId id="297"/>
            <p14:sldId id="365"/>
            <p14:sldId id="364"/>
            <p14:sldId id="363"/>
            <p14:sldId id="366"/>
            <p14:sldId id="367"/>
            <p14:sldId id="368"/>
            <p14:sldId id="370"/>
            <p14:sldId id="374"/>
            <p14:sldId id="375"/>
          </p14:sldIdLst>
        </p14:section>
        <p14:section name="Graphs" id="{551B27DB-FB3B-4066-9154-1B46F0A65216}">
          <p14:sldIdLst>
            <p14:sldId id="301"/>
            <p14:sldId id="304"/>
            <p14:sldId id="303"/>
            <p14:sldId id="302"/>
            <p14:sldId id="305"/>
            <p14:sldId id="306"/>
            <p14:sldId id="378"/>
            <p14:sldId id="376"/>
            <p14:sldId id="379"/>
            <p14:sldId id="388"/>
            <p14:sldId id="307"/>
            <p14:sldId id="369"/>
            <p14:sldId id="389"/>
            <p14:sldId id="390"/>
          </p14:sldIdLst>
        </p14:section>
        <p14:section name="Merci" id="{DE1A67E5-D1FE-41AF-88BB-A85595BA690B}">
          <p14:sldIdLst>
            <p14:sldId id="328"/>
          </p14:sldIdLst>
        </p14:section>
        <p14:section name="Symboles" id="{49175908-295D-4406-8512-BB62EA88444D}">
          <p14:sldIdLst>
            <p14:sldId id="371"/>
            <p14:sldId id="373"/>
            <p14:sldId id="401"/>
            <p14:sldId id="3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FAC62"/>
    <a:srgbClr val="060606"/>
    <a:srgbClr val="112A40"/>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C4BD68B-DEB5-4C72-B758-AA0E2A02C403}" v="4" dt="2026-09-23T09:25:47.77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5" d="100"/>
          <a:sy n="75" d="100"/>
        </p:scale>
        <p:origin x="874"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3.xml"/><Relationship Id="rId7" Type="http://schemas.openxmlformats.org/officeDocument/2006/relationships/slide" Target="slides/slide2.xml"/><Relationship Id="rId112" Type="http://schemas.openxmlformats.org/officeDocument/2006/relationships/slide" Target="slides/slide26.xml"/><Relationship Id="rId117" Type="http://schemas.openxmlformats.org/officeDocument/2006/relationships/notesMaster" Target="notesMasters/notesMaster1.xml"/><Relationship Id="rId118" Type="http://schemas.openxmlformats.org/officeDocument/2006/relationships/presProps" Target="presProps.xml"/><Relationship Id="rId119" Type="http://schemas.openxmlformats.org/officeDocument/2006/relationships/viewProps" Target="viewProps.xml"/><Relationship Id="rId120" Type="http://schemas.openxmlformats.org/officeDocument/2006/relationships/theme" Target="theme/theme1.xml"/><Relationship Id="rId121" Type="http://schemas.openxmlformats.org/officeDocument/2006/relationships/tableStyles" Target="tableStyles.xml"/><Relationship Id="rId122" Type="http://schemas.microsoft.com/office/2016/11/relationships/changesInfo" Target="changesInfos/changesInfo1.xml"/><Relationship Id="rId123" Type="http://schemas.microsoft.com/office/2015/10/relationships/revisionInfo" Target="revisionInfo.xml"/><Relationship Id="rId124" Type="http://schemas.openxmlformats.org/officeDocument/2006/relationships/slide" Target="slides/slide4.xml"/><Relationship Id="rId125" Type="http://schemas.openxmlformats.org/officeDocument/2006/relationships/slide" Target="slides/slide5.xml"/><Relationship Id="rId126" Type="http://schemas.openxmlformats.org/officeDocument/2006/relationships/slide" Target="slides/slide6.xml"/><Relationship Id="rId127" Type="http://schemas.openxmlformats.org/officeDocument/2006/relationships/slide" Target="slides/slide7.xml"/><Relationship Id="rId128" Type="http://schemas.openxmlformats.org/officeDocument/2006/relationships/slide" Target="slides/slide8.xml"/><Relationship Id="rId129" Type="http://schemas.openxmlformats.org/officeDocument/2006/relationships/slide" Target="slides/slide9.xml"/><Relationship Id="rId130" Type="http://schemas.openxmlformats.org/officeDocument/2006/relationships/slide" Target="slides/slide10.xml"/><Relationship Id="rId131" Type="http://schemas.openxmlformats.org/officeDocument/2006/relationships/slide" Target="slides/slide11.xml"/><Relationship Id="rId132" Type="http://schemas.openxmlformats.org/officeDocument/2006/relationships/slide" Target="slides/slide12.xml"/><Relationship Id="rId133" Type="http://schemas.openxmlformats.org/officeDocument/2006/relationships/slide" Target="slides/slide13.xml"/><Relationship Id="rId134" Type="http://schemas.openxmlformats.org/officeDocument/2006/relationships/slide" Target="slides/slide14.xml"/><Relationship Id="rId135" Type="http://schemas.openxmlformats.org/officeDocument/2006/relationships/slide" Target="slides/slide15.xml"/><Relationship Id="rId136" Type="http://schemas.openxmlformats.org/officeDocument/2006/relationships/slide" Target="slides/slide16.xml"/><Relationship Id="rId137" Type="http://schemas.openxmlformats.org/officeDocument/2006/relationships/slide" Target="slides/slide17.xml"/><Relationship Id="rId138" Type="http://schemas.openxmlformats.org/officeDocument/2006/relationships/slide" Target="slides/slide18.xml"/><Relationship Id="rId139" Type="http://schemas.openxmlformats.org/officeDocument/2006/relationships/slide" Target="slides/slide19.xml"/><Relationship Id="rId140" Type="http://schemas.openxmlformats.org/officeDocument/2006/relationships/slide" Target="slides/slide20.xml"/><Relationship Id="rId141" Type="http://schemas.openxmlformats.org/officeDocument/2006/relationships/slide" Target="slides/slide21.xml"/><Relationship Id="rId142" Type="http://schemas.openxmlformats.org/officeDocument/2006/relationships/slide" Target="slides/slide22.xml"/><Relationship Id="rId143" Type="http://schemas.openxmlformats.org/officeDocument/2006/relationships/slide" Target="slides/slide23.xml"/><Relationship Id="rId144" Type="http://schemas.openxmlformats.org/officeDocument/2006/relationships/slide" Target="slides/slide24.xml"/><Relationship Id="rId145" Type="http://schemas.openxmlformats.org/officeDocument/2006/relationships/slide" Target="slides/slide2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ean-Noel Sialou" userId="08acc5d2-3819-4be4-97e6-d593a92e8e16" providerId="ADAL" clId="{DC5A2AD4-2AC1-4F5C-A6BF-541681F7EFA2}"/>
    <pc:docChg chg="undo custSel modSld">
      <pc:chgData name="Jean-Noel Sialou" userId="08acc5d2-3819-4be4-97e6-d593a92e8e16" providerId="ADAL" clId="{DC5A2AD4-2AC1-4F5C-A6BF-541681F7EFA2}" dt="2026-09-07T10:18:25.187" v="38" actId="571"/>
      <pc:docMkLst>
        <pc:docMk/>
      </pc:docMkLst>
      <pc:sldChg chg="addSp delSp modSp mod">
        <pc:chgData name="Jean-Noel Sialou" userId="08acc5d2-3819-4be4-97e6-d593a92e8e16" providerId="ADAL" clId="{DC5A2AD4-2AC1-4F5C-A6BF-541681F7EFA2}" dt="2026-09-07T10:18:25.187" v="38" actId="571"/>
        <pc:sldMkLst>
          <pc:docMk/>
          <pc:sldMk cId="2102837376" sldId="358"/>
        </pc:sldMkLst>
        <pc:spChg chg="mod">
          <ac:chgData name="Jean-Noel Sialou" userId="08acc5d2-3819-4be4-97e6-d593a92e8e16" providerId="ADAL" clId="{DC5A2AD4-2AC1-4F5C-A6BF-541681F7EFA2}" dt="2026-09-07T10:18:15.089" v="35" actId="164"/>
          <ac:spMkLst>
            <pc:docMk/>
            <pc:sldMk cId="2102837376" sldId="358"/>
            <ac:spMk id="48" creationId="{00000000-0000-0000-0000-000000000000}"/>
          </ac:spMkLst>
        </pc:spChg>
        <pc:spChg chg="mod">
          <ac:chgData name="Jean-Noel Sialou" userId="08acc5d2-3819-4be4-97e6-d593a92e8e16" providerId="ADAL" clId="{DC5A2AD4-2AC1-4F5C-A6BF-541681F7EFA2}" dt="2026-09-07T10:18:15.089" v="35" actId="164"/>
          <ac:spMkLst>
            <pc:docMk/>
            <pc:sldMk cId="2102837376" sldId="358"/>
            <ac:spMk id="49" creationId="{00000000-0000-0000-0000-000000000000}"/>
          </ac:spMkLst>
        </pc:spChg>
        <pc:spChg chg="mod">
          <ac:chgData name="Jean-Noel Sialou" userId="08acc5d2-3819-4be4-97e6-d593a92e8e16" providerId="ADAL" clId="{DC5A2AD4-2AC1-4F5C-A6BF-541681F7EFA2}" dt="2026-09-07T10:18:15.089" v="35" actId="164"/>
          <ac:spMkLst>
            <pc:docMk/>
            <pc:sldMk cId="2102837376" sldId="358"/>
            <ac:spMk id="61" creationId="{00000000-0000-0000-0000-000000000000}"/>
          </ac:spMkLst>
        </pc:spChg>
        <pc:spChg chg="mod">
          <ac:chgData name="Jean-Noel Sialou" userId="08acc5d2-3819-4be4-97e6-d593a92e8e16" providerId="ADAL" clId="{DC5A2AD4-2AC1-4F5C-A6BF-541681F7EFA2}" dt="2026-09-07T10:18:15.089" v="35" actId="164"/>
          <ac:spMkLst>
            <pc:docMk/>
            <pc:sldMk cId="2102837376" sldId="358"/>
            <ac:spMk id="64" creationId="{00000000-0000-0000-0000-000000000000}"/>
          </ac:spMkLst>
        </pc:spChg>
        <pc:grpChg chg="add mod">
          <ac:chgData name="Jean-Noel Sialou" userId="08acc5d2-3819-4be4-97e6-d593a92e8e16" providerId="ADAL" clId="{DC5A2AD4-2AC1-4F5C-A6BF-541681F7EFA2}" dt="2026-09-07T10:18:17.535" v="36" actId="164"/>
          <ac:grpSpMkLst>
            <pc:docMk/>
            <pc:sldMk cId="2102837376" sldId="358"/>
            <ac:grpSpMk id="3" creationId="{C9290073-F4B9-4E89-EC47-0D4815D405F9}"/>
          </ac:grpSpMkLst>
        </pc:grpChg>
        <pc:grpChg chg="add mod">
          <ac:chgData name="Jean-Noel Sialou" userId="08acc5d2-3819-4be4-97e6-d593a92e8e16" providerId="ADAL" clId="{DC5A2AD4-2AC1-4F5C-A6BF-541681F7EFA2}" dt="2026-09-07T10:18:17.535" v="36" actId="164"/>
          <ac:grpSpMkLst>
            <pc:docMk/>
            <pc:sldMk cId="2102837376" sldId="358"/>
            <ac:grpSpMk id="7" creationId="{D520CB44-6CB8-26BA-C481-1E6C90DCE023}"/>
          </ac:grpSpMkLst>
        </pc:grpChg>
        <pc:picChg chg="add mod">
          <ac:chgData name="Jean-Noel Sialou" userId="08acc5d2-3819-4be4-97e6-d593a92e8e16" providerId="ADAL" clId="{DC5A2AD4-2AC1-4F5C-A6BF-541681F7EFA2}" dt="2026-09-07T10:18:17.535" v="36" actId="164"/>
          <ac:picMkLst>
            <pc:docMk/>
            <pc:sldMk cId="2102837376" sldId="358"/>
            <ac:picMk id="5" creationId="{A59C829E-ED12-0019-96D2-4C72AF995693}"/>
          </ac:picMkLst>
        </pc:picChg>
        <pc:picChg chg="mod">
          <ac:chgData name="Jean-Noel Sialou" userId="08acc5d2-3819-4be4-97e6-d593a92e8e16" providerId="ADAL" clId="{DC5A2AD4-2AC1-4F5C-A6BF-541681F7EFA2}" dt="2026-09-07T10:18:15.089" v="35" actId="164"/>
          <ac:picMkLst>
            <pc:docMk/>
            <pc:sldMk cId="2102837376" sldId="358"/>
            <ac:picMk id="31" creationId="{00000000-0000-0000-0000-000000000000}"/>
          </ac:picMkLst>
        </pc:picChg>
        <pc:picChg chg="mod">
          <ac:chgData name="Jean-Noel Sialou" userId="08acc5d2-3819-4be4-97e6-d593a92e8e16" providerId="ADAL" clId="{DC5A2AD4-2AC1-4F5C-A6BF-541681F7EFA2}" dt="2026-09-07T10:18:17.535" v="36" actId="164"/>
          <ac:picMkLst>
            <pc:docMk/>
            <pc:sldMk cId="2102837376" sldId="358"/>
            <ac:picMk id="47" creationId="{00000000-0000-0000-0000-000000000000}"/>
          </ac:picMkLst>
        </pc:picChg>
        <pc:picChg chg="mod">
          <ac:chgData name="Jean-Noel Sialou" userId="08acc5d2-3819-4be4-97e6-d593a92e8e16" providerId="ADAL" clId="{DC5A2AD4-2AC1-4F5C-A6BF-541681F7EFA2}" dt="2026-09-07T10:18:15.089" v="35" actId="164"/>
          <ac:picMkLst>
            <pc:docMk/>
            <pc:sldMk cId="2102837376" sldId="358"/>
            <ac:picMk id="50" creationId="{00000000-0000-0000-0000-000000000000}"/>
          </ac:picMkLst>
        </pc:picChg>
        <pc:picChg chg="mod">
          <ac:chgData name="Jean-Noel Sialou" userId="08acc5d2-3819-4be4-97e6-d593a92e8e16" providerId="ADAL" clId="{DC5A2AD4-2AC1-4F5C-A6BF-541681F7EFA2}" dt="2026-09-07T10:18:15.089" v="35" actId="164"/>
          <ac:picMkLst>
            <pc:docMk/>
            <pc:sldMk cId="2102837376" sldId="358"/>
            <ac:picMk id="54" creationId="{00000000-0000-0000-0000-000000000000}"/>
          </ac:picMkLst>
        </pc:picChg>
        <pc:picChg chg="mod">
          <ac:chgData name="Jean-Noel Sialou" userId="08acc5d2-3819-4be4-97e6-d593a92e8e16" providerId="ADAL" clId="{DC5A2AD4-2AC1-4F5C-A6BF-541681F7EFA2}" dt="2026-09-07T10:18:15.089" v="35" actId="164"/>
          <ac:picMkLst>
            <pc:docMk/>
            <pc:sldMk cId="2102837376" sldId="358"/>
            <ac:picMk id="65" creationId="{00000000-0000-0000-0000-000000000000}"/>
          </ac:picMkLst>
        </pc:picChg>
      </pc:sldChg>
    </pc:docChg>
  </pc:docChgLst>
  <pc:docChgLst>
    <pc:chgData name="Jean-Noel Sialou" userId="08acc5d2-3819-4be4-97e6-d593a92e8e16" providerId="ADAL" clId="{3E2E487B-B21A-43C3-A4E4-C31B8823D31F}"/>
    <pc:docChg chg="modSld">
      <pc:chgData name="Jean-Noel Sialou" userId="08acc5d2-3819-4be4-97e6-d593a92e8e16" providerId="ADAL" clId="{3E2E487B-B21A-43C3-A4E4-C31B8823D31F}" dt="2026-09-23T09:25:47.775" v="6" actId="164"/>
      <pc:docMkLst>
        <pc:docMk/>
      </pc:docMkLst>
      <pc:sldChg chg="modSp mod modAnim">
        <pc:chgData name="Jean-Noel Sialou" userId="08acc5d2-3819-4be4-97e6-d593a92e8e16" providerId="ADAL" clId="{3E2E487B-B21A-43C3-A4E4-C31B8823D31F}" dt="2026-09-15T10:14:35.637" v="5" actId="208"/>
        <pc:sldMkLst>
          <pc:docMk/>
          <pc:sldMk cId="2102837376" sldId="358"/>
        </pc:sldMkLst>
        <pc:spChg chg="mod">
          <ac:chgData name="Jean-Noel Sialou" userId="08acc5d2-3819-4be4-97e6-d593a92e8e16" providerId="ADAL" clId="{3E2E487B-B21A-43C3-A4E4-C31B8823D31F}" dt="2026-09-15T10:14:31.481" v="4" actId="207"/>
          <ac:spMkLst>
            <pc:docMk/>
            <pc:sldMk cId="2102837376" sldId="358"/>
            <ac:spMk id="40" creationId="{00000000-0000-0000-0000-000000000000}"/>
          </ac:spMkLst>
        </pc:spChg>
        <pc:spChg chg="mod">
          <ac:chgData name="Jean-Noel Sialou" userId="08acc5d2-3819-4be4-97e6-d593a92e8e16" providerId="ADAL" clId="{3E2E487B-B21A-43C3-A4E4-C31B8823D31F}" dt="2026-09-15T10:14:31.481" v="4" actId="207"/>
          <ac:spMkLst>
            <pc:docMk/>
            <pc:sldMk cId="2102837376" sldId="358"/>
            <ac:spMk id="41" creationId="{00000000-0000-0000-0000-000000000000}"/>
          </ac:spMkLst>
        </pc:spChg>
        <pc:grpChg chg="mod">
          <ac:chgData name="Jean-Noel Sialou" userId="08acc5d2-3819-4be4-97e6-d593a92e8e16" providerId="ADAL" clId="{3E2E487B-B21A-43C3-A4E4-C31B8823D31F}" dt="2026-09-15T10:14:06.017" v="1" actId="1076"/>
          <ac:grpSpMkLst>
            <pc:docMk/>
            <pc:sldMk cId="2102837376" sldId="358"/>
            <ac:grpSpMk id="7" creationId="{D520CB44-6CB8-26BA-C481-1E6C90DCE023}"/>
          </ac:grpSpMkLst>
        </pc:grpChg>
        <pc:cxnChg chg="mod">
          <ac:chgData name="Jean-Noel Sialou" userId="08acc5d2-3819-4be4-97e6-d593a92e8e16" providerId="ADAL" clId="{3E2E487B-B21A-43C3-A4E4-C31B8823D31F}" dt="2026-09-15T10:14:35.637" v="5" actId="208"/>
          <ac:cxnSpMkLst>
            <pc:docMk/>
            <pc:sldMk cId="2102837376" sldId="358"/>
            <ac:cxnSpMk id="77" creationId="{00000000-0000-0000-0000-000000000000}"/>
          </ac:cxnSpMkLst>
        </pc:cxnChg>
      </pc:sldChg>
      <pc:sldChg chg="addSp modSp modAnim">
        <pc:chgData name="Jean-Noel Sialou" userId="08acc5d2-3819-4be4-97e6-d593a92e8e16" providerId="ADAL" clId="{3E2E487B-B21A-43C3-A4E4-C31B8823D31F}" dt="2026-09-23T09:25:47.775" v="6" actId="164"/>
        <pc:sldMkLst>
          <pc:docMk/>
          <pc:sldMk cId="135173498" sldId="359"/>
        </pc:sldMkLst>
        <pc:spChg chg="mod">
          <ac:chgData name="Jean-Noel Sialou" userId="08acc5d2-3819-4be4-97e6-d593a92e8e16" providerId="ADAL" clId="{3E2E487B-B21A-43C3-A4E4-C31B8823D31F}" dt="2026-09-23T09:25:47.775" v="6" actId="164"/>
          <ac:spMkLst>
            <pc:docMk/>
            <pc:sldMk cId="135173498" sldId="359"/>
            <ac:spMk id="34"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36"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37"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40"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41"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44"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49"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51"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52" creationId="{00000000-0000-0000-0000-000000000000}"/>
          </ac:spMkLst>
        </pc:spChg>
        <pc:spChg chg="mod">
          <ac:chgData name="Jean-Noel Sialou" userId="08acc5d2-3819-4be4-97e6-d593a92e8e16" providerId="ADAL" clId="{3E2E487B-B21A-43C3-A4E4-C31B8823D31F}" dt="2026-09-23T09:25:47.775" v="6" actId="164"/>
          <ac:spMkLst>
            <pc:docMk/>
            <pc:sldMk cId="135173498" sldId="359"/>
            <ac:spMk id="66"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8E2DAE2-9FC7-48A6-84A5-82A6F426499B}" type="datetimeFigureOut">
              <a:rPr lang="fr-FR" smtClean="0"/>
              <a:t>22/09/2026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2AB2686-849E-4084-A991-5071DA2BBBBD}" type="slidenum">
              <a:rPr lang="fr-FR" smtClean="0"/>
              <a:t>‹N°›</a:t>
            </a:fld>
            <a:endParaRPr lang="fr-FR"/>
          </a:p>
        </p:txBody>
      </p:sp>
    </p:spTree>
    <p:extLst>
      <p:ext uri="{BB962C8B-B14F-4D97-AF65-F5344CB8AC3E}">
        <p14:creationId xmlns:p14="http://schemas.microsoft.com/office/powerpoint/2010/main" val="7107281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constats du volet actuariel et statistique, présentés activité par activité. Numéros, complexité et priorité repris du résumé exécutif du 26/10/2026.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Présenter la carte de gauche à droite : d'où vient l'argent, ce que fait le FPPN, où va l'argent. Puis les fonctions transverses qui font tourner l'ensemble.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en ligne : une activité, ses types de constats. Lecture en colonne : un type de constat, les activités touchées.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tableau sert de sommaire détaillé : chaque activité est développée dans les diapositives suivantes.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chaque ligne de gauche à droite : le constat et son commentaire, la recommandation, la complexité de l'action et sa priorité. Le bandeau du haut situe l'activité parmi les 14 activités du FPPN.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chaque ligne de gauche à droite : le constat et son commentaire, la recommandation, la complexité de l'action et sa priorité. Le bandeau du haut situe l'activité parmi les 14 activités du FPPN.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chaque ligne de gauche à droite : le constat et son commentaire, la recommandation, la complexité de l'action et sa priorité. Le bandeau du haut situe l'activité parmi les 14 activités du FPPN.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chaque ligne de gauche à droite : le constat et son commentaire, la recommandation, la complexité de l'action et sa priorité. Le bandeau du haut situe l'activité parmi les 14 activités du FPPN.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chaque ligne de gauche à droite : le constat et son commentaire, la recommandation, la complexité de l'action et sa priorité. Le bandeau du haut situe l'activité parmi les 14 activités du FPPN.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chaque ligne de gauche à droite : le constat et son commentaire, la recommandation, la complexité de l'action et sa priorité. Le bandeau du haut situe l'activité parmi les 14 activités du FPPN.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chaque ligne de gauche à droite : le constat et son commentaire, la recommandation, la complexité de l'action et sa priorité. Le bandeau du haut situe l'activité parmi les 14 activités du FPPN.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chaque ligne de gauche à droite : le constat et son commentaire, la recommandation, la complexité de l'action et sa priorité. Le bandeau du haut situe l'activité parmi les 14 activités du FPPN.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chaque ligne de gauche à droite : le constat et son commentaire, la recommandation, la complexité de l'action et sa priorité. Le bandeau du haut situe l'activité parmi les 14 activités du FPPN.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chaque ligne de gauche à droite : le constat et son commentaire, la recommandation, la complexité de l'action et sa priorité. Le bandeau du haut situe l'activité parmi les 14 activités du FPPN.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chaque ligne de gauche à droite : le constat et son commentaire, la recommandation, la complexité de l'action et sa priorité. Le bandeau du haut situe l'activité parmi les 14 activités du FPPN.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chaque ligne de gauche à droite : le constat et son commentaire, la recommandation, la complexité de l'action et sa priorité. Le bandeau du haut situe l'activité parmi les 14 activités du FPPN.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Couloirs repris du logigramme du FPPN. Cadre rouge : contrôle absent ou fichier manquant.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Couloirs repris du logigramme du FPPN. Cadre rouge : contrôle absent ou fichier manquant.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Couloirs repris du logigramme du FPPN. Cadre rouge : contrôle absent ou fichier manquant.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Couloirs repris du logigramme du FPPN. Cadre rouge : contrôle absent ou fichier manquant.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2.emf"/></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 Id="rId3" Type="http://schemas.openxmlformats.org/officeDocument/2006/relationships/oleObject" Target="../embeddings/oleObject2.bin"/><Relationship Id="rId4" Type="http://schemas.openxmlformats.org/officeDocument/2006/relationships/image" Target="../media/image2.emf"/></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2.xml"/><Relationship Id="rId3" Type="http://schemas.openxmlformats.org/officeDocument/2006/relationships/oleObject" Target="../embeddings/oleObject1.bin"/><Relationship Id="rId4" Type="http://schemas.openxmlformats.org/officeDocument/2006/relationships/image" Target="../media/image2.emf"/></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2.xml"/><Relationship Id="rId3" Type="http://schemas.openxmlformats.org/officeDocument/2006/relationships/oleObject" Target="../embeddings/oleObject2.bin"/><Relationship Id="rId4" Type="http://schemas.openxmlformats.org/officeDocument/2006/relationships/image" Target="../media/image2.emf"/></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Modifier le style des sous-titres du masque</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17886301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idx="1"/>
          </p:nvPr>
        </p:nvSpPr>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33224399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Modifier les styles du texte du masque</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1770939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sz="half" idx="1"/>
          </p:nvPr>
        </p:nvSpPr>
        <p:spPr>
          <a:xfrm>
            <a:off x="838200" y="1825625"/>
            <a:ext cx="5181600" cy="435133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6172200" y="1825625"/>
            <a:ext cx="5181600" cy="435133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p:cNvSpPr>
            <a:spLocks noGrp="1"/>
          </p:cNvSpPr>
          <p:nvPr>
            <p:ph type="dt" sz="half" idx="10"/>
          </p:nvPr>
        </p:nvSpPr>
        <p:spPr/>
        <p:txBody>
          <a:bodyPr/>
          <a:lstStyle/>
          <a:p>
            <a:fld id="{C6EBE14D-B461-4822-94E8-6203B1E77523}" type="datetimeFigureOut">
              <a:rPr lang="fr-FR" smtClean="0"/>
              <a:t>22/09/2026</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4022779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Modifier les styles du texte du masque</a:t>
            </a:r>
          </a:p>
        </p:txBody>
      </p:sp>
      <p:sp>
        <p:nvSpPr>
          <p:cNvPr id="4" name="Espace réservé du contenu 3"/>
          <p:cNvSpPr>
            <a:spLocks noGrp="1"/>
          </p:cNvSpPr>
          <p:nvPr>
            <p:ph sz="half" idx="2"/>
          </p:nvPr>
        </p:nvSpPr>
        <p:spPr>
          <a:xfrm>
            <a:off x="839788" y="2505075"/>
            <a:ext cx="5157787" cy="368458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Modifier les styles du texte du masque</a:t>
            </a:r>
          </a:p>
        </p:txBody>
      </p:sp>
      <p:sp>
        <p:nvSpPr>
          <p:cNvPr id="6" name="Espace réservé du contenu 5"/>
          <p:cNvSpPr>
            <a:spLocks noGrp="1"/>
          </p:cNvSpPr>
          <p:nvPr>
            <p:ph sz="quarter" idx="4"/>
          </p:nvPr>
        </p:nvSpPr>
        <p:spPr>
          <a:xfrm>
            <a:off x="6172200" y="2505075"/>
            <a:ext cx="5183188" cy="368458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p:cNvSpPr>
            <a:spLocks noGrp="1"/>
          </p:cNvSpPr>
          <p:nvPr>
            <p:ph type="dt" sz="half" idx="10"/>
          </p:nvPr>
        </p:nvSpPr>
        <p:spPr/>
        <p:txBody>
          <a:bodyPr/>
          <a:lstStyle/>
          <a:p>
            <a:fld id="{C6EBE14D-B461-4822-94E8-6203B1E77523}" type="datetimeFigureOut">
              <a:rPr lang="fr-FR" smtClean="0"/>
              <a:t>22/09/2026</a:t>
            </a:fld>
            <a:endParaRPr lang="fr-FR"/>
          </a:p>
        </p:txBody>
      </p:sp>
      <p:sp>
        <p:nvSpPr>
          <p:cNvPr id="8" name="Espace réservé du pied de page 7"/>
          <p:cNvSpPr>
            <a:spLocks noGrp="1"/>
          </p:cNvSpPr>
          <p:nvPr>
            <p:ph type="ftr" sz="quarter" idx="11"/>
          </p:nvPr>
        </p:nvSpPr>
        <p:spPr/>
        <p:txBody>
          <a:bodyPr/>
          <a:lstStyle/>
          <a:p>
            <a:endParaRPr lang="fr-FR"/>
          </a:p>
        </p:txBody>
      </p:sp>
      <p:sp>
        <p:nvSpPr>
          <p:cNvPr id="9" name="Espace réservé du numéro de diapositive 8"/>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1921375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e la date 2"/>
          <p:cNvSpPr>
            <a:spLocks noGrp="1"/>
          </p:cNvSpPr>
          <p:nvPr>
            <p:ph type="dt" sz="half" idx="10"/>
          </p:nvPr>
        </p:nvSpPr>
        <p:spPr/>
        <p:txBody>
          <a:bodyPr/>
          <a:lstStyle/>
          <a:p>
            <a:fld id="{C6EBE14D-B461-4822-94E8-6203B1E77523}" type="datetimeFigureOut">
              <a:rPr lang="fr-FR" smtClean="0"/>
              <a:t>22/09/2026</a:t>
            </a:fld>
            <a:endParaRPr lang="fr-FR"/>
          </a:p>
        </p:txBody>
      </p:sp>
      <p:sp>
        <p:nvSpPr>
          <p:cNvPr id="4" name="Espace réservé du pied de page 3"/>
          <p:cNvSpPr>
            <a:spLocks noGrp="1"/>
          </p:cNvSpPr>
          <p:nvPr>
            <p:ph type="ftr" sz="quarter" idx="11"/>
          </p:nvPr>
        </p:nvSpPr>
        <p:spPr/>
        <p:txBody>
          <a:bodyPr/>
          <a:lstStyle/>
          <a:p>
            <a:endParaRPr lang="fr-FR"/>
          </a:p>
        </p:txBody>
      </p:sp>
      <p:sp>
        <p:nvSpPr>
          <p:cNvPr id="5" name="Espace réservé du numéro de diapositive 4"/>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40757393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a:lstStyle/>
          <a:p>
            <a:fld id="{C6EBE14D-B461-4822-94E8-6203B1E77523}" type="datetimeFigureOut">
              <a:rPr lang="fr-FR" smtClean="0"/>
              <a:t>22/09/2026</a:t>
            </a:fld>
            <a:endParaRPr lang="fr-FR"/>
          </a:p>
        </p:txBody>
      </p:sp>
      <p:sp>
        <p:nvSpPr>
          <p:cNvPr id="3" name="Espace réservé du pied de page 2"/>
          <p:cNvSpPr>
            <a:spLocks noGrp="1"/>
          </p:cNvSpPr>
          <p:nvPr>
            <p:ph type="ftr" sz="quarter" idx="11"/>
          </p:nvPr>
        </p:nvSpPr>
        <p:spPr/>
        <p:txBody>
          <a:bodyPr/>
          <a:lstStyle/>
          <a:p>
            <a:endParaRPr lang="fr-FR"/>
          </a:p>
        </p:txBody>
      </p:sp>
      <p:sp>
        <p:nvSpPr>
          <p:cNvPr id="4" name="Espace réservé du numéro de diapositive 3"/>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274672203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Modifier les styles du texte du masque</a:t>
            </a:r>
          </a:p>
        </p:txBody>
      </p:sp>
      <p:sp>
        <p:nvSpPr>
          <p:cNvPr id="5" name="Espace réservé de la date 4"/>
          <p:cNvSpPr>
            <a:spLocks noGrp="1"/>
          </p:cNvSpPr>
          <p:nvPr>
            <p:ph type="dt" sz="half" idx="10"/>
          </p:nvPr>
        </p:nvSpPr>
        <p:spPr/>
        <p:txBody>
          <a:bodyPr/>
          <a:lstStyle/>
          <a:p>
            <a:fld id="{C6EBE14D-B461-4822-94E8-6203B1E77523}" type="datetimeFigureOut">
              <a:rPr lang="fr-FR" smtClean="0"/>
              <a:t>22/09/2026</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13767289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Modifier les styles du texte du masque</a:t>
            </a:r>
          </a:p>
        </p:txBody>
      </p:sp>
      <p:sp>
        <p:nvSpPr>
          <p:cNvPr id="5" name="Espace réservé de la date 4"/>
          <p:cNvSpPr>
            <a:spLocks noGrp="1"/>
          </p:cNvSpPr>
          <p:nvPr>
            <p:ph type="dt" sz="half" idx="10"/>
          </p:nvPr>
        </p:nvSpPr>
        <p:spPr/>
        <p:txBody>
          <a:bodyPr/>
          <a:lstStyle/>
          <a:p>
            <a:fld id="{C6EBE14D-B461-4822-94E8-6203B1E77523}" type="datetimeFigureOut">
              <a:rPr lang="fr-FR" smtClean="0"/>
              <a:t>22/09/2026</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9181887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texte vertical 2"/>
          <p:cNvSpPr>
            <a:spLocks noGrp="1"/>
          </p:cNvSpPr>
          <p:nvPr>
            <p:ph type="body" orient="vert" idx="1"/>
          </p:nvPr>
        </p:nvSpPr>
        <p:spPr/>
        <p:txBody>
          <a:bodyPr vert="eaVert"/>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389757306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p:cNvSpPr>
            <a:spLocks noGrp="1"/>
          </p:cNvSpPr>
          <p:nvPr>
            <p:ph type="body" orient="vert" idx="1"/>
          </p:nvPr>
        </p:nvSpPr>
        <p:spPr>
          <a:xfrm>
            <a:off x="838200" y="365125"/>
            <a:ext cx="7734300" cy="5811838"/>
          </a:xfrm>
        </p:spPr>
        <p:txBody>
          <a:bodyPr vert="eaVert"/>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156412925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35049338-7875-4927-82E0-03C95D83209A}"/>
              </a:ext>
            </a:extLst>
          </p:cNvPr>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5" imgH="426" progId="TCLayout.ActiveDocument.1">
                  <p:embed/>
                </p:oleObj>
              </mc:Choice>
              <mc:Fallback>
                <p:oleObj name="think-cell Slide" r:id="rId3" imgW="425" imgH="426" progId="TCLayout.ActiveDocument.1">
                  <p:embed/>
                  <p:pic>
                    <p:nvPicPr>
                      <p:cNvPr id="4" name="Object 3" hidden="1">
                        <a:extLst>
                          <a:ext uri="{FF2B5EF4-FFF2-40B4-BE49-F238E27FC236}">
                            <a16:creationId xmlns:a16="http://schemas.microsoft.com/office/drawing/2014/main" id="{35049338-7875-4927-82E0-03C95D8320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3" name="Title Placeholder 1">
            <a:extLst>
              <a:ext uri="{FF2B5EF4-FFF2-40B4-BE49-F238E27FC236}">
                <a16:creationId xmlns:a16="http://schemas.microsoft.com/office/drawing/2014/main" id="{5AA52354-AD0C-4278-A20C-E161AEB4D16F}"/>
              </a:ext>
            </a:extLst>
          </p:cNvPr>
          <p:cNvSpPr>
            <a:spLocks noGrp="1"/>
          </p:cNvSpPr>
          <p:nvPr>
            <p:ph type="title" hasCustomPrompt="1"/>
          </p:nvPr>
        </p:nvSpPr>
        <p:spPr bwMode="gray">
          <a:xfrm>
            <a:off x="467201" y="304800"/>
            <a:ext cx="11201400" cy="342900"/>
          </a:xfrm>
          <a:prstGeom prst="rect">
            <a:avLst/>
          </a:prstGeom>
        </p:spPr>
        <p:txBody>
          <a:bodyPr vert="horz" lIns="0" tIns="0" rIns="0" bIns="0" rtlCol="0" anchor="t" anchorCtr="0">
            <a:noAutofit/>
          </a:bodyPr>
          <a:lstStyle>
            <a:lvl1pPr>
              <a:defRPr/>
            </a:lvl1pPr>
          </a:lstStyle>
          <a:p>
            <a:r>
              <a:rPr lang="en-US" noProof="0"/>
              <a:t>Click to add title</a:t>
            </a:r>
          </a:p>
        </p:txBody>
      </p:sp>
    </p:spTree>
    <p:extLst>
      <p:ext uri="{BB962C8B-B14F-4D97-AF65-F5344CB8AC3E}">
        <p14:creationId xmlns:p14="http://schemas.microsoft.com/office/powerpoint/2010/main" val="1213497947"/>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only 1">
  <p:cSld name="Title only 1">
    <p:spTree>
      <p:nvGrpSpPr>
        <p:cNvPr id="1" name="Shape 5623"/>
        <p:cNvGrpSpPr/>
        <p:nvPr/>
      </p:nvGrpSpPr>
      <p:grpSpPr>
        <a:xfrm>
          <a:off x="0" y="0"/>
          <a:ext cx="0" cy="0"/>
          <a:chOff x="0" y="0"/>
          <a:chExt cx="0" cy="0"/>
        </a:xfrm>
      </p:grpSpPr>
      <p:pic>
        <p:nvPicPr>
          <p:cNvPr id="5624" name="Google Shape;5624;p29"/>
          <p:cNvPicPr preferRelativeResize="0"/>
          <p:nvPr/>
        </p:nvPicPr>
        <p:blipFill>
          <a:blip r:embed="rId2">
            <a:alphaModFix amt="20000"/>
          </a:blip>
          <a:stretch>
            <a:fillRect/>
          </a:stretch>
        </p:blipFill>
        <p:spPr>
          <a:xfrm flipH="1">
            <a:off x="-4949" y="1"/>
            <a:ext cx="12192004" cy="6858001"/>
          </a:xfrm>
          <a:prstGeom prst="rect">
            <a:avLst/>
          </a:prstGeom>
          <a:noFill/>
          <a:ln>
            <a:noFill/>
          </a:ln>
        </p:spPr>
      </p:pic>
      <p:sp>
        <p:nvSpPr>
          <p:cNvPr id="5625" name="Google Shape;5625;p29"/>
          <p:cNvSpPr txBox="1">
            <a:spLocks noGrp="1"/>
          </p:cNvSpPr>
          <p:nvPr>
            <p:ph type="title"/>
          </p:nvPr>
        </p:nvSpPr>
        <p:spPr>
          <a:xfrm>
            <a:off x="960000" y="593367"/>
            <a:ext cx="10272000" cy="7636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Tree>
    <p:extLst>
      <p:ext uri="{BB962C8B-B14F-4D97-AF65-F5344CB8AC3E}">
        <p14:creationId xmlns:p14="http://schemas.microsoft.com/office/powerpoint/2010/main" val="26682618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only 12">
  <p:cSld name="Title only 12">
    <p:spTree>
      <p:nvGrpSpPr>
        <p:cNvPr id="1" name="Shape 6976"/>
        <p:cNvGrpSpPr/>
        <p:nvPr/>
      </p:nvGrpSpPr>
      <p:grpSpPr>
        <a:xfrm>
          <a:off x="0" y="0"/>
          <a:ext cx="0" cy="0"/>
          <a:chOff x="0" y="0"/>
          <a:chExt cx="0" cy="0"/>
        </a:xfrm>
      </p:grpSpPr>
      <p:sp>
        <p:nvSpPr>
          <p:cNvPr id="6978" name="Google Shape;6978;p57"/>
          <p:cNvSpPr txBox="1">
            <a:spLocks noGrp="1"/>
          </p:cNvSpPr>
          <p:nvPr>
            <p:ph type="title"/>
          </p:nvPr>
        </p:nvSpPr>
        <p:spPr>
          <a:xfrm>
            <a:off x="960000" y="720000"/>
            <a:ext cx="10272000" cy="763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extLst>
      <p:ext uri="{BB962C8B-B14F-4D97-AF65-F5344CB8AC3E}">
        <p14:creationId xmlns:p14="http://schemas.microsoft.com/office/powerpoint/2010/main" val="181700104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Title, subtitle, 1 column ">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966A5C41-60AA-4C25-8080-4F0DFF19B9CD}"/>
              </a:ext>
            </a:extLst>
          </p:cNvPr>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5" imgH="426" progId="TCLayout.ActiveDocument.1">
                  <p:embed/>
                </p:oleObj>
              </mc:Choice>
              <mc:Fallback>
                <p:oleObj name="think-cell Slide" r:id="rId3" imgW="425" imgH="426" progId="TCLayout.ActiveDocument.1">
                  <p:embed/>
                  <p:pic>
                    <p:nvPicPr>
                      <p:cNvPr id="4" name="Object 3" hidden="1">
                        <a:extLst>
                          <a:ext uri="{FF2B5EF4-FFF2-40B4-BE49-F238E27FC236}">
                            <a16:creationId xmlns:a16="http://schemas.microsoft.com/office/drawing/2014/main" id="{966A5C41-60AA-4C25-8080-4F0DFF19B9CD}"/>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ext Placeholder 8">
            <a:extLst>
              <a:ext uri="{FF2B5EF4-FFF2-40B4-BE49-F238E27FC236}">
                <a16:creationId xmlns:a16="http://schemas.microsoft.com/office/drawing/2014/main" id="{D5544814-ED77-5424-AA44-FCF607EC724C}"/>
              </a:ext>
            </a:extLst>
          </p:cNvPr>
          <p:cNvSpPr>
            <a:spLocks noGrp="1"/>
          </p:cNvSpPr>
          <p:nvPr>
            <p:ph type="body" sz="quarter" idx="13" hasCustomPrompt="1"/>
          </p:nvPr>
        </p:nvSpPr>
        <p:spPr>
          <a:xfrm>
            <a:off x="466344" y="649224"/>
            <a:ext cx="11277599" cy="1010919"/>
          </a:xfrm>
          <a:prstGeom prst="rect">
            <a:avLst/>
          </a:prstGeom>
        </p:spPr>
        <p:txBody>
          <a:bodyPr lIns="0" tIns="0" rIns="0" bIns="0">
            <a:noAutofit/>
          </a:bodyPr>
          <a:lstStyle>
            <a:lvl1pPr marL="0" indent="0">
              <a:buNone/>
              <a:defRPr sz="1800" b="0">
                <a:solidFill>
                  <a:schemeClr val="tx2"/>
                </a:solidFill>
              </a:defRPr>
            </a:lvl1pPr>
          </a:lstStyle>
          <a:p>
            <a:pPr lvl="0"/>
            <a:r>
              <a:rPr lang="en-US"/>
              <a:t>Click to add subtitle</a:t>
            </a:r>
          </a:p>
        </p:txBody>
      </p:sp>
      <p:sp>
        <p:nvSpPr>
          <p:cNvPr id="6" name="Text Placeholder 18">
            <a:extLst>
              <a:ext uri="{FF2B5EF4-FFF2-40B4-BE49-F238E27FC236}">
                <a16:creationId xmlns:a16="http://schemas.microsoft.com/office/drawing/2014/main" id="{92C75D35-8730-843D-1A9B-7A3EF8BDC3E6}"/>
              </a:ext>
            </a:extLst>
          </p:cNvPr>
          <p:cNvSpPr>
            <a:spLocks noGrp="1"/>
          </p:cNvSpPr>
          <p:nvPr>
            <p:ph idx="1"/>
          </p:nvPr>
        </p:nvSpPr>
        <p:spPr>
          <a:xfrm>
            <a:off x="471983" y="1684020"/>
            <a:ext cx="11277600" cy="4269740"/>
          </a:xfrm>
          <a:prstGeom prst="rect">
            <a:avLst/>
          </a:prstGeom>
        </p:spPr>
        <p:txBody>
          <a:bodyPr vert="horz" lIns="0" tIns="0" rIns="0" bIns="0" rtlCol="0">
            <a:noAutofit/>
          </a:bodyPr>
          <a:lstStyle>
            <a:lvl1pPr>
              <a:defRPr sz="1200"/>
            </a:lvl1pPr>
            <a:lvl2pPr>
              <a:defRPr sz="1200"/>
            </a:lvl2pPr>
            <a:lvl3pPr>
              <a:defRPr sz="1200"/>
            </a:lvl3pPr>
            <a:lvl4pPr>
              <a:defRPr sz="1200"/>
            </a:lvl4pPr>
            <a:lvl5pPr>
              <a:defRPr sz="1200"/>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9" name="Content Placeholder 3">
            <a:extLst>
              <a:ext uri="{FF2B5EF4-FFF2-40B4-BE49-F238E27FC236}">
                <a16:creationId xmlns:a16="http://schemas.microsoft.com/office/drawing/2014/main" id="{C2764C76-8970-695F-1D5D-E85887CA625C}"/>
              </a:ext>
            </a:extLst>
          </p:cNvPr>
          <p:cNvSpPr>
            <a:spLocks noGrp="1"/>
          </p:cNvSpPr>
          <p:nvPr>
            <p:ph sz="quarter" idx="14" hasCustomPrompt="1"/>
          </p:nvPr>
        </p:nvSpPr>
        <p:spPr>
          <a:xfrm>
            <a:off x="471983" y="6070213"/>
            <a:ext cx="11274552" cy="265176"/>
          </a:xfrm>
        </p:spPr>
        <p:txBody>
          <a:bodyPr wrap="none">
            <a:noAutofit/>
          </a:bodyPr>
          <a:lstStyle>
            <a:lvl1pPr>
              <a:spcAft>
                <a:spcPts val="0"/>
              </a:spcAft>
              <a:defRPr sz="800"/>
            </a:lvl1pPr>
          </a:lstStyle>
          <a:p>
            <a:pPr lvl="0"/>
            <a:r>
              <a:rPr lang="en-US"/>
              <a:t>Click to add notes and sources</a:t>
            </a:r>
          </a:p>
        </p:txBody>
      </p:sp>
      <p:sp>
        <p:nvSpPr>
          <p:cNvPr id="13" name="Title Placeholder 1">
            <a:extLst>
              <a:ext uri="{FF2B5EF4-FFF2-40B4-BE49-F238E27FC236}">
                <a16:creationId xmlns:a16="http://schemas.microsoft.com/office/drawing/2014/main" id="{B6D0D5CA-F83B-4C19-758D-C3C6659EBE6E}"/>
              </a:ext>
            </a:extLst>
          </p:cNvPr>
          <p:cNvSpPr>
            <a:spLocks noGrp="1"/>
          </p:cNvSpPr>
          <p:nvPr>
            <p:ph type="title" hasCustomPrompt="1"/>
          </p:nvPr>
        </p:nvSpPr>
        <p:spPr bwMode="gray">
          <a:xfrm>
            <a:off x="467201" y="304800"/>
            <a:ext cx="11201400" cy="342900"/>
          </a:xfrm>
          <a:prstGeom prst="rect">
            <a:avLst/>
          </a:prstGeom>
        </p:spPr>
        <p:txBody>
          <a:bodyPr vert="horz" lIns="0" tIns="0" rIns="0" bIns="0" rtlCol="0" anchor="t" anchorCtr="0">
            <a:noAutofit/>
          </a:bodyPr>
          <a:lstStyle>
            <a:lvl1pPr>
              <a:defRPr/>
            </a:lvl1pPr>
          </a:lstStyle>
          <a:p>
            <a:r>
              <a:rPr lang="en-US" noProof="0"/>
              <a:t>Click to add title</a:t>
            </a:r>
          </a:p>
        </p:txBody>
      </p:sp>
    </p:spTree>
    <p:extLst>
      <p:ext uri="{BB962C8B-B14F-4D97-AF65-F5344CB8AC3E}">
        <p14:creationId xmlns:p14="http://schemas.microsoft.com/office/powerpoint/2010/main" val="3041227808"/>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Modifier le style des sous-titres du masque</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315298072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idx="1"/>
          </p:nvPr>
        </p:nvSpPr>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38995068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Modifier les styles du texte du masque</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28204246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sz="half" idx="1"/>
          </p:nvPr>
        </p:nvSpPr>
        <p:spPr>
          <a:xfrm>
            <a:off x="838200" y="1825625"/>
            <a:ext cx="5181600" cy="435133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6172200" y="1825625"/>
            <a:ext cx="5181600" cy="435133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p:cNvSpPr>
            <a:spLocks noGrp="1"/>
          </p:cNvSpPr>
          <p:nvPr>
            <p:ph type="dt" sz="half" idx="10"/>
          </p:nvPr>
        </p:nvSpPr>
        <p:spPr/>
        <p:txBody>
          <a:bodyPr/>
          <a:lstStyle/>
          <a:p>
            <a:fld id="{C6EBE14D-B461-4822-94E8-6203B1E77523}" type="datetimeFigureOut">
              <a:rPr lang="fr-FR" smtClean="0"/>
              <a:t>22/09/2026</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207748055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Modifier les styles du texte du masque</a:t>
            </a:r>
          </a:p>
        </p:txBody>
      </p:sp>
      <p:sp>
        <p:nvSpPr>
          <p:cNvPr id="4" name="Espace réservé du contenu 3"/>
          <p:cNvSpPr>
            <a:spLocks noGrp="1"/>
          </p:cNvSpPr>
          <p:nvPr>
            <p:ph sz="half" idx="2"/>
          </p:nvPr>
        </p:nvSpPr>
        <p:spPr>
          <a:xfrm>
            <a:off x="839788" y="2505075"/>
            <a:ext cx="5157787" cy="368458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Modifier les styles du texte du masque</a:t>
            </a:r>
          </a:p>
        </p:txBody>
      </p:sp>
      <p:sp>
        <p:nvSpPr>
          <p:cNvPr id="6" name="Espace réservé du contenu 5"/>
          <p:cNvSpPr>
            <a:spLocks noGrp="1"/>
          </p:cNvSpPr>
          <p:nvPr>
            <p:ph sz="quarter" idx="4"/>
          </p:nvPr>
        </p:nvSpPr>
        <p:spPr>
          <a:xfrm>
            <a:off x="6172200" y="2505075"/>
            <a:ext cx="5183188" cy="368458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p:cNvSpPr>
            <a:spLocks noGrp="1"/>
          </p:cNvSpPr>
          <p:nvPr>
            <p:ph type="dt" sz="half" idx="10"/>
          </p:nvPr>
        </p:nvSpPr>
        <p:spPr/>
        <p:txBody>
          <a:bodyPr/>
          <a:lstStyle/>
          <a:p>
            <a:fld id="{C6EBE14D-B461-4822-94E8-6203B1E77523}" type="datetimeFigureOut">
              <a:rPr lang="fr-FR" smtClean="0"/>
              <a:t>22/09/2026</a:t>
            </a:fld>
            <a:endParaRPr lang="fr-FR"/>
          </a:p>
        </p:txBody>
      </p:sp>
      <p:sp>
        <p:nvSpPr>
          <p:cNvPr id="8" name="Espace réservé du pied de page 7"/>
          <p:cNvSpPr>
            <a:spLocks noGrp="1"/>
          </p:cNvSpPr>
          <p:nvPr>
            <p:ph type="ftr" sz="quarter" idx="11"/>
          </p:nvPr>
        </p:nvSpPr>
        <p:spPr/>
        <p:txBody>
          <a:bodyPr/>
          <a:lstStyle/>
          <a:p>
            <a:endParaRPr lang="fr-FR"/>
          </a:p>
        </p:txBody>
      </p:sp>
      <p:sp>
        <p:nvSpPr>
          <p:cNvPr id="9" name="Espace réservé du numéro de diapositive 8"/>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286963913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e la date 2"/>
          <p:cNvSpPr>
            <a:spLocks noGrp="1"/>
          </p:cNvSpPr>
          <p:nvPr>
            <p:ph type="dt" sz="half" idx="10"/>
          </p:nvPr>
        </p:nvSpPr>
        <p:spPr/>
        <p:txBody>
          <a:bodyPr/>
          <a:lstStyle/>
          <a:p>
            <a:fld id="{C6EBE14D-B461-4822-94E8-6203B1E77523}" type="datetimeFigureOut">
              <a:rPr lang="fr-FR" smtClean="0"/>
              <a:t>22/09/2026</a:t>
            </a:fld>
            <a:endParaRPr lang="fr-FR"/>
          </a:p>
        </p:txBody>
      </p:sp>
      <p:sp>
        <p:nvSpPr>
          <p:cNvPr id="4" name="Espace réservé du pied de page 3"/>
          <p:cNvSpPr>
            <a:spLocks noGrp="1"/>
          </p:cNvSpPr>
          <p:nvPr>
            <p:ph type="ftr" sz="quarter" idx="11"/>
          </p:nvPr>
        </p:nvSpPr>
        <p:spPr/>
        <p:txBody>
          <a:bodyPr/>
          <a:lstStyle/>
          <a:p>
            <a:endParaRPr lang="fr-FR"/>
          </a:p>
        </p:txBody>
      </p:sp>
      <p:sp>
        <p:nvSpPr>
          <p:cNvPr id="5" name="Espace réservé du numéro de diapositive 4"/>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396574602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a:lstStyle/>
          <a:p>
            <a:fld id="{C6EBE14D-B461-4822-94E8-6203B1E77523}" type="datetimeFigureOut">
              <a:rPr lang="fr-FR" smtClean="0"/>
              <a:t>22/09/2026</a:t>
            </a:fld>
            <a:endParaRPr lang="fr-FR"/>
          </a:p>
        </p:txBody>
      </p:sp>
      <p:sp>
        <p:nvSpPr>
          <p:cNvPr id="3" name="Espace réservé du pied de page 2"/>
          <p:cNvSpPr>
            <a:spLocks noGrp="1"/>
          </p:cNvSpPr>
          <p:nvPr>
            <p:ph type="ftr" sz="quarter" idx="11"/>
          </p:nvPr>
        </p:nvSpPr>
        <p:spPr/>
        <p:txBody>
          <a:bodyPr/>
          <a:lstStyle/>
          <a:p>
            <a:endParaRPr lang="fr-FR"/>
          </a:p>
        </p:txBody>
      </p:sp>
      <p:sp>
        <p:nvSpPr>
          <p:cNvPr id="4" name="Espace réservé du numéro de diapositive 3"/>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129654362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Modifier les styles du texte du masque</a:t>
            </a:r>
          </a:p>
        </p:txBody>
      </p:sp>
      <p:sp>
        <p:nvSpPr>
          <p:cNvPr id="5" name="Espace réservé de la date 4"/>
          <p:cNvSpPr>
            <a:spLocks noGrp="1"/>
          </p:cNvSpPr>
          <p:nvPr>
            <p:ph type="dt" sz="half" idx="10"/>
          </p:nvPr>
        </p:nvSpPr>
        <p:spPr/>
        <p:txBody>
          <a:bodyPr/>
          <a:lstStyle/>
          <a:p>
            <a:fld id="{C6EBE14D-B461-4822-94E8-6203B1E77523}" type="datetimeFigureOut">
              <a:rPr lang="fr-FR" smtClean="0"/>
              <a:t>22/09/2026</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53932780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Modifier les styles du texte du masque</a:t>
            </a:r>
          </a:p>
        </p:txBody>
      </p:sp>
      <p:sp>
        <p:nvSpPr>
          <p:cNvPr id="5" name="Espace réservé de la date 4"/>
          <p:cNvSpPr>
            <a:spLocks noGrp="1"/>
          </p:cNvSpPr>
          <p:nvPr>
            <p:ph type="dt" sz="half" idx="10"/>
          </p:nvPr>
        </p:nvSpPr>
        <p:spPr/>
        <p:txBody>
          <a:bodyPr/>
          <a:lstStyle/>
          <a:p>
            <a:fld id="{C6EBE14D-B461-4822-94E8-6203B1E77523}" type="datetimeFigureOut">
              <a:rPr lang="fr-FR" smtClean="0"/>
              <a:t>22/09/2026</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46485372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texte vertical 2"/>
          <p:cNvSpPr>
            <a:spLocks noGrp="1"/>
          </p:cNvSpPr>
          <p:nvPr>
            <p:ph type="body" orient="vert" idx="1"/>
          </p:nvPr>
        </p:nvSpPr>
        <p:spPr/>
        <p:txBody>
          <a:bodyPr vert="eaVert"/>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312748992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p:cNvSpPr>
            <a:spLocks noGrp="1"/>
          </p:cNvSpPr>
          <p:nvPr>
            <p:ph type="body" orient="vert" idx="1"/>
          </p:nvPr>
        </p:nvSpPr>
        <p:spPr>
          <a:xfrm>
            <a:off x="838200" y="365125"/>
            <a:ext cx="7734300" cy="5811838"/>
          </a:xfrm>
        </p:spPr>
        <p:txBody>
          <a:bodyPr vert="eaVert"/>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616977E6-38EB-41CC-A7E1-A449CC9EA7E2}" type="slidenum">
              <a:rPr lang="fr-FR" smtClean="0"/>
              <a:t>‹N°›</a:t>
            </a:fld>
            <a:endParaRPr lang="fr-FR"/>
          </a:p>
        </p:txBody>
      </p:sp>
    </p:spTree>
    <p:extLst>
      <p:ext uri="{BB962C8B-B14F-4D97-AF65-F5344CB8AC3E}">
        <p14:creationId xmlns:p14="http://schemas.microsoft.com/office/powerpoint/2010/main" val="203386442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35049338-7875-4927-82E0-03C95D83209A}"/>
              </a:ext>
            </a:extLst>
          </p:cNvPr>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5" imgH="426" progId="TCLayout.ActiveDocument.1">
                  <p:embed/>
                </p:oleObj>
              </mc:Choice>
              <mc:Fallback>
                <p:oleObj name="think-cell Slide" r:id="rId3" imgW="425" imgH="426" progId="TCLayout.ActiveDocument.1">
                  <p:embed/>
                  <p:pic>
                    <p:nvPicPr>
                      <p:cNvPr id="4" name="Object 3" hidden="1">
                        <a:extLst>
                          <a:ext uri="{FF2B5EF4-FFF2-40B4-BE49-F238E27FC236}">
                            <a16:creationId xmlns:a16="http://schemas.microsoft.com/office/drawing/2014/main" id="{35049338-7875-4927-82E0-03C95D83209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3" name="Title Placeholder 1">
            <a:extLst>
              <a:ext uri="{FF2B5EF4-FFF2-40B4-BE49-F238E27FC236}">
                <a16:creationId xmlns:a16="http://schemas.microsoft.com/office/drawing/2014/main" id="{5AA52354-AD0C-4278-A20C-E161AEB4D16F}"/>
              </a:ext>
            </a:extLst>
          </p:cNvPr>
          <p:cNvSpPr>
            <a:spLocks noGrp="1"/>
          </p:cNvSpPr>
          <p:nvPr>
            <p:ph type="title" hasCustomPrompt="1"/>
          </p:nvPr>
        </p:nvSpPr>
        <p:spPr bwMode="gray">
          <a:xfrm>
            <a:off x="467201" y="304800"/>
            <a:ext cx="11201400" cy="342900"/>
          </a:xfrm>
          <a:prstGeom prst="rect">
            <a:avLst/>
          </a:prstGeom>
        </p:spPr>
        <p:txBody>
          <a:bodyPr vert="horz" lIns="0" tIns="0" rIns="0" bIns="0" rtlCol="0" anchor="t" anchorCtr="0">
            <a:noAutofit/>
          </a:bodyPr>
          <a:lstStyle>
            <a:lvl1pPr>
              <a:defRPr/>
            </a:lvl1pPr>
          </a:lstStyle>
          <a:p>
            <a:r>
              <a:rPr lang="en-US" noProof="0"/>
              <a:t>Click to add title</a:t>
            </a:r>
          </a:p>
        </p:txBody>
      </p:sp>
    </p:spTree>
    <p:extLst>
      <p:ext uri="{BB962C8B-B14F-4D97-AF65-F5344CB8AC3E}">
        <p14:creationId xmlns:p14="http://schemas.microsoft.com/office/powerpoint/2010/main" val="3552400179"/>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only 1" preserve="1">
  <p:cSld name="Title only 1">
    <p:spTree>
      <p:nvGrpSpPr>
        <p:cNvPr id="1" name="Shape 5623"/>
        <p:cNvGrpSpPr/>
        <p:nvPr/>
      </p:nvGrpSpPr>
      <p:grpSpPr>
        <a:xfrm>
          <a:off x="0" y="0"/>
          <a:ext cx="0" cy="0"/>
          <a:chOff x="0" y="0"/>
          <a:chExt cx="0" cy="0"/>
        </a:xfrm>
      </p:grpSpPr>
      <p:pic>
        <p:nvPicPr>
          <p:cNvPr id="5624" name="Google Shape;5624;p29"/>
          <p:cNvPicPr preferRelativeResize="0"/>
          <p:nvPr/>
        </p:nvPicPr>
        <p:blipFill>
          <a:blip r:embed="rId2">
            <a:alphaModFix amt="20000"/>
          </a:blip>
          <a:stretch>
            <a:fillRect/>
          </a:stretch>
        </p:blipFill>
        <p:spPr>
          <a:xfrm flipH="1">
            <a:off x="-4949" y="1"/>
            <a:ext cx="12192004" cy="6858001"/>
          </a:xfrm>
          <a:prstGeom prst="rect">
            <a:avLst/>
          </a:prstGeom>
          <a:noFill/>
          <a:ln>
            <a:noFill/>
          </a:ln>
        </p:spPr>
      </p:pic>
      <p:sp>
        <p:nvSpPr>
          <p:cNvPr id="5625" name="Google Shape;5625;p29"/>
          <p:cNvSpPr txBox="1">
            <a:spLocks noGrp="1"/>
          </p:cNvSpPr>
          <p:nvPr>
            <p:ph type="title"/>
          </p:nvPr>
        </p:nvSpPr>
        <p:spPr>
          <a:xfrm>
            <a:off x="960000" y="593367"/>
            <a:ext cx="10272000" cy="7636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Tree>
    <p:extLst>
      <p:ext uri="{BB962C8B-B14F-4D97-AF65-F5344CB8AC3E}">
        <p14:creationId xmlns:p14="http://schemas.microsoft.com/office/powerpoint/2010/main" val="7382639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only 12" preserve="1">
  <p:cSld name="Title only 12">
    <p:spTree>
      <p:nvGrpSpPr>
        <p:cNvPr id="1" name="Shape 6976"/>
        <p:cNvGrpSpPr/>
        <p:nvPr/>
      </p:nvGrpSpPr>
      <p:grpSpPr>
        <a:xfrm>
          <a:off x="0" y="0"/>
          <a:ext cx="0" cy="0"/>
          <a:chOff x="0" y="0"/>
          <a:chExt cx="0" cy="0"/>
        </a:xfrm>
      </p:grpSpPr>
      <p:sp>
        <p:nvSpPr>
          <p:cNvPr id="6978" name="Google Shape;6978;p57"/>
          <p:cNvSpPr txBox="1">
            <a:spLocks noGrp="1"/>
          </p:cNvSpPr>
          <p:nvPr>
            <p:ph type="title"/>
          </p:nvPr>
        </p:nvSpPr>
        <p:spPr>
          <a:xfrm>
            <a:off x="960000" y="720000"/>
            <a:ext cx="10272000" cy="763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extLst>
      <p:ext uri="{BB962C8B-B14F-4D97-AF65-F5344CB8AC3E}">
        <p14:creationId xmlns:p14="http://schemas.microsoft.com/office/powerpoint/2010/main" val="105828350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subtitle, 1 column ">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966A5C41-60AA-4C25-8080-4F0DFF19B9CD}"/>
              </a:ext>
            </a:extLst>
          </p:cNvPr>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5" imgH="426" progId="TCLayout.ActiveDocument.1">
                  <p:embed/>
                </p:oleObj>
              </mc:Choice>
              <mc:Fallback>
                <p:oleObj name="think-cell Slide" r:id="rId3" imgW="425" imgH="426" progId="TCLayout.ActiveDocument.1">
                  <p:embed/>
                  <p:pic>
                    <p:nvPicPr>
                      <p:cNvPr id="4" name="Object 3" hidden="1">
                        <a:extLst>
                          <a:ext uri="{FF2B5EF4-FFF2-40B4-BE49-F238E27FC236}">
                            <a16:creationId xmlns:a16="http://schemas.microsoft.com/office/drawing/2014/main" id="{966A5C41-60AA-4C25-8080-4F0DFF19B9CD}"/>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ext Placeholder 8">
            <a:extLst>
              <a:ext uri="{FF2B5EF4-FFF2-40B4-BE49-F238E27FC236}">
                <a16:creationId xmlns:a16="http://schemas.microsoft.com/office/drawing/2014/main" id="{D5544814-ED77-5424-AA44-FCF607EC724C}"/>
              </a:ext>
            </a:extLst>
          </p:cNvPr>
          <p:cNvSpPr>
            <a:spLocks noGrp="1"/>
          </p:cNvSpPr>
          <p:nvPr>
            <p:ph type="body" sz="quarter" idx="13" hasCustomPrompt="1"/>
          </p:nvPr>
        </p:nvSpPr>
        <p:spPr>
          <a:xfrm>
            <a:off x="466344" y="649224"/>
            <a:ext cx="11277599" cy="1010919"/>
          </a:xfrm>
          <a:prstGeom prst="rect">
            <a:avLst/>
          </a:prstGeom>
        </p:spPr>
        <p:txBody>
          <a:bodyPr lIns="0" tIns="0" rIns="0" bIns="0">
            <a:noAutofit/>
          </a:bodyPr>
          <a:lstStyle>
            <a:lvl1pPr marL="0" indent="0">
              <a:buNone/>
              <a:defRPr sz="1800" b="0">
                <a:solidFill>
                  <a:schemeClr val="tx2"/>
                </a:solidFill>
              </a:defRPr>
            </a:lvl1pPr>
          </a:lstStyle>
          <a:p>
            <a:pPr lvl="0"/>
            <a:r>
              <a:rPr lang="en-US"/>
              <a:t>Click to add subtitle</a:t>
            </a:r>
          </a:p>
        </p:txBody>
      </p:sp>
      <p:sp>
        <p:nvSpPr>
          <p:cNvPr id="6" name="Text Placeholder 18">
            <a:extLst>
              <a:ext uri="{FF2B5EF4-FFF2-40B4-BE49-F238E27FC236}">
                <a16:creationId xmlns:a16="http://schemas.microsoft.com/office/drawing/2014/main" id="{92C75D35-8730-843D-1A9B-7A3EF8BDC3E6}"/>
              </a:ext>
            </a:extLst>
          </p:cNvPr>
          <p:cNvSpPr>
            <a:spLocks noGrp="1"/>
          </p:cNvSpPr>
          <p:nvPr>
            <p:ph idx="1"/>
          </p:nvPr>
        </p:nvSpPr>
        <p:spPr>
          <a:xfrm>
            <a:off x="471983" y="1684020"/>
            <a:ext cx="11277600" cy="4269740"/>
          </a:xfrm>
          <a:prstGeom prst="rect">
            <a:avLst/>
          </a:prstGeom>
        </p:spPr>
        <p:txBody>
          <a:bodyPr vert="horz" lIns="0" tIns="0" rIns="0" bIns="0" rtlCol="0">
            <a:noAutofit/>
          </a:bodyPr>
          <a:lstStyle>
            <a:lvl1pPr>
              <a:defRPr sz="1200"/>
            </a:lvl1pPr>
            <a:lvl2pPr>
              <a:defRPr sz="1200"/>
            </a:lvl2pPr>
            <a:lvl3pPr>
              <a:defRPr sz="1200"/>
            </a:lvl3pPr>
            <a:lvl4pPr>
              <a:defRPr sz="1200"/>
            </a:lvl4pPr>
            <a:lvl5pPr>
              <a:defRPr sz="1200"/>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9" name="Content Placeholder 3">
            <a:extLst>
              <a:ext uri="{FF2B5EF4-FFF2-40B4-BE49-F238E27FC236}">
                <a16:creationId xmlns:a16="http://schemas.microsoft.com/office/drawing/2014/main" id="{C2764C76-8970-695F-1D5D-E85887CA625C}"/>
              </a:ext>
            </a:extLst>
          </p:cNvPr>
          <p:cNvSpPr>
            <a:spLocks noGrp="1"/>
          </p:cNvSpPr>
          <p:nvPr>
            <p:ph sz="quarter" idx="14" hasCustomPrompt="1"/>
          </p:nvPr>
        </p:nvSpPr>
        <p:spPr>
          <a:xfrm>
            <a:off x="471983" y="6070213"/>
            <a:ext cx="11274552" cy="265176"/>
          </a:xfrm>
        </p:spPr>
        <p:txBody>
          <a:bodyPr wrap="none">
            <a:noAutofit/>
          </a:bodyPr>
          <a:lstStyle>
            <a:lvl1pPr>
              <a:spcAft>
                <a:spcPts val="0"/>
              </a:spcAft>
              <a:defRPr sz="800"/>
            </a:lvl1pPr>
          </a:lstStyle>
          <a:p>
            <a:pPr lvl="0"/>
            <a:r>
              <a:rPr lang="en-US"/>
              <a:t>Click to add notes and sources</a:t>
            </a:r>
          </a:p>
        </p:txBody>
      </p:sp>
      <p:sp>
        <p:nvSpPr>
          <p:cNvPr id="13" name="Title Placeholder 1">
            <a:extLst>
              <a:ext uri="{FF2B5EF4-FFF2-40B4-BE49-F238E27FC236}">
                <a16:creationId xmlns:a16="http://schemas.microsoft.com/office/drawing/2014/main" id="{B6D0D5CA-F83B-4C19-758D-C3C6659EBE6E}"/>
              </a:ext>
            </a:extLst>
          </p:cNvPr>
          <p:cNvSpPr>
            <a:spLocks noGrp="1"/>
          </p:cNvSpPr>
          <p:nvPr>
            <p:ph type="title" hasCustomPrompt="1"/>
          </p:nvPr>
        </p:nvSpPr>
        <p:spPr bwMode="gray">
          <a:xfrm>
            <a:off x="467201" y="304800"/>
            <a:ext cx="11201400" cy="342900"/>
          </a:xfrm>
          <a:prstGeom prst="rect">
            <a:avLst/>
          </a:prstGeom>
        </p:spPr>
        <p:txBody>
          <a:bodyPr vert="horz" lIns="0" tIns="0" rIns="0" bIns="0" rtlCol="0" anchor="t" anchorCtr="0">
            <a:noAutofit/>
          </a:bodyPr>
          <a:lstStyle>
            <a:lvl1pPr>
              <a:defRPr/>
            </a:lvl1pPr>
          </a:lstStyle>
          <a:p>
            <a:r>
              <a:rPr lang="en-US" noProof="0"/>
              <a:t>Click to add title</a:t>
            </a:r>
          </a:p>
        </p:txBody>
      </p:sp>
    </p:spTree>
    <p:extLst>
      <p:ext uri="{BB962C8B-B14F-4D97-AF65-F5344CB8AC3E}">
        <p14:creationId xmlns:p14="http://schemas.microsoft.com/office/powerpoint/2010/main" val="2738359873"/>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slideLayout" Target="../slideLayouts/slideLayout30.xml"/><Relationship Id="rId16" Type="http://schemas.openxmlformats.org/officeDocument/2006/relationships/theme" Target="../theme/theme2.xml"/><Relationship Id="rId17"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17" name="Image 16"/>
          <p:cNvPicPr>
            <a:picLocks noChangeAspect="1"/>
          </p:cNvPicPr>
          <p:nvPr userDrawn="1"/>
        </p:nvPicPr>
        <p:blipFill rotWithShape="1">
          <a:blip r:embed="rId17" cstate="print">
            <a:extLst>
              <a:ext uri="{28A0092B-C50C-407E-A947-70E740481C1C}">
                <a14:useLocalDpi xmlns:a14="http://schemas.microsoft.com/office/drawing/2010/main" val="0"/>
              </a:ext>
            </a:extLst>
          </a:blip>
          <a:srcRect l="-1" r="1564" b="34369"/>
          <a:stretch/>
        </p:blipFill>
        <p:spPr>
          <a:xfrm>
            <a:off x="-147909" y="-58723"/>
            <a:ext cx="12339909" cy="6916723"/>
          </a:xfrm>
          <a:prstGeom prst="rect">
            <a:avLst/>
          </a:prstGeom>
        </p:spPr>
      </p:pic>
      <p:sp>
        <p:nvSpPr>
          <p:cNvPr id="2" name="Espace réservé du titre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r-FR"/>
          </a:p>
        </p:txBody>
      </p:sp>
      <p:sp>
        <p:nvSpPr>
          <p:cNvPr id="6" name="Espace réservé du numéro de diapositive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16977E6-38EB-41CC-A7E1-A449CC9EA7E2}" type="slidenum">
              <a:rPr lang="fr-FR" smtClean="0"/>
              <a:t>‹N°›</a:t>
            </a:fld>
            <a:endParaRPr lang="fr-FR"/>
          </a:p>
        </p:txBody>
      </p:sp>
      <p:sp>
        <p:nvSpPr>
          <p:cNvPr id="15" name="ZoneTexte 14">
            <a:extLst>
              <a:ext uri="{FF2B5EF4-FFF2-40B4-BE49-F238E27FC236}">
                <a16:creationId xmlns:a16="http://schemas.microsoft.com/office/drawing/2014/main" id="{C6E7D94B-8E49-C846-A392-87DFA5EF4A9D}"/>
              </a:ext>
            </a:extLst>
          </p:cNvPr>
          <p:cNvSpPr txBox="1"/>
          <p:nvPr userDrawn="1"/>
        </p:nvSpPr>
        <p:spPr>
          <a:xfrm>
            <a:off x="221940" y="6394008"/>
            <a:ext cx="10929842" cy="261610"/>
          </a:xfrm>
          <a:prstGeom prst="rect">
            <a:avLst/>
          </a:prstGeom>
          <a:noFill/>
        </p:spPr>
        <p:txBody>
          <a:bodyPr wrap="square">
            <a:spAutoFit/>
          </a:bodyPr>
          <a:lstStyle/>
          <a:p>
            <a:r>
              <a:rPr lang="fr-FR" sz="1100">
                <a:solidFill>
                  <a:schemeClr val="bg1"/>
                </a:solidFill>
                <a:latin typeface="Helvetica" panose="020B0604020202020204" pitchFamily="34" charset="0"/>
                <a:cs typeface="Helvetica" panose="020B0604020202020204" pitchFamily="34" charset="0"/>
              </a:rPr>
              <a:t>Empreinte Africaine, Expertise Internationale</a:t>
            </a:r>
          </a:p>
        </p:txBody>
      </p:sp>
    </p:spTree>
    <p:extLst>
      <p:ext uri="{BB962C8B-B14F-4D97-AF65-F5344CB8AC3E}">
        <p14:creationId xmlns:p14="http://schemas.microsoft.com/office/powerpoint/2010/main" val="206341372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1" r:id="rId12"/>
    <p:sldLayoutId id="2147483662" r:id="rId13"/>
    <p:sldLayoutId id="2147483663" r:id="rId14"/>
    <p:sldLayoutId id="2147483664" r:id="rId1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8" name="Image 7"/>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504" y="283"/>
            <a:ext cx="12190992" cy="6857433"/>
          </a:xfrm>
          <a:prstGeom prst="rect">
            <a:avLst/>
          </a:prstGeom>
        </p:spPr>
      </p:pic>
      <p:sp>
        <p:nvSpPr>
          <p:cNvPr id="2" name="Espace réservé du titre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6EBE14D-B461-4822-94E8-6203B1E77523}" type="datetimeFigureOut">
              <a:rPr lang="fr-FR" smtClean="0"/>
              <a:t>22/09/2026</a:t>
            </a:fld>
            <a:endParaRPr lang="fr-FR"/>
          </a:p>
        </p:txBody>
      </p:sp>
      <p:sp>
        <p:nvSpPr>
          <p:cNvPr id="5" name="Espace réservé du pied de page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r-FR"/>
          </a:p>
        </p:txBody>
      </p:sp>
      <p:sp>
        <p:nvSpPr>
          <p:cNvPr id="6" name="Espace réservé du numéro de diapositive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16977E6-38EB-41CC-A7E1-A449CC9EA7E2}" type="slidenum">
              <a:rPr lang="fr-FR" smtClean="0"/>
              <a:t>‹N°›</a:t>
            </a:fld>
            <a:endParaRPr lang="fr-FR"/>
          </a:p>
        </p:txBody>
      </p:sp>
    </p:spTree>
    <p:extLst>
      <p:ext uri="{BB962C8B-B14F-4D97-AF65-F5344CB8AC3E}">
        <p14:creationId xmlns:p14="http://schemas.microsoft.com/office/powerpoint/2010/main" val="605055638"/>
      </p:ext>
    </p:extLst>
  </p:cSld>
  <p:clrMap bg1="lt1" tx1="dk1" bg2="lt2" tx2="dk2" accent1="accent1" accent2="accent2" accent3="accent3" accent4="accent4" accent5="accent5" accent6="accent6" hlink="hlink" folHlink="folHlink"/>
  <p:sldLayoutIdLst>
    <p:sldLayoutId id="2147483666" r:id="rId1"/>
    <p:sldLayoutId id="2147483667" r:id="rId2"/>
    <p:sldLayoutId id="2147483668" r:id="rId3"/>
    <p:sldLayoutId id="2147483669" r:id="rId4"/>
    <p:sldLayoutId id="2147483670" r:id="rId5"/>
    <p:sldLayoutId id="2147483671" r:id="rId6"/>
    <p:sldLayoutId id="2147483672" r:id="rId7"/>
    <p:sldLayoutId id="2147483673" r:id="rId8"/>
    <p:sldLayoutId id="2147483674" r:id="rId9"/>
    <p:sldLayoutId id="2147483675" r:id="rId10"/>
    <p:sldLayoutId id="2147483676" r:id="rId11"/>
    <p:sldLayoutId id="2147483677" r:id="rId12"/>
    <p:sldLayoutId id="2147483678" r:id="rId13"/>
    <p:sldLayoutId id="2147483679" r:id="rId14"/>
    <p:sldLayoutId id="2147483680" r:id="rId1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9.jp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xml"/><Relationship Id="rId7" Type="http://schemas.openxmlformats.org/officeDocument/2006/relationships/slide" Target="slide8.xml"/><Relationship Id="rId8" Type="http://schemas.openxmlformats.org/officeDocument/2006/relationships/slide" Target="slide9.xml"/><Relationship Id="rId9" Type="http://schemas.openxmlformats.org/officeDocument/2006/relationships/slide" Target="slide10.xml"/><Relationship Id="rId10" Type="http://schemas.openxmlformats.org/officeDocument/2006/relationships/slide" Target="slide11.xml"/><Relationship Id="rId11" Type="http://schemas.openxmlformats.org/officeDocument/2006/relationships/slide" Target="slide12.xml"/><Relationship Id="rId12" Type="http://schemas.openxmlformats.org/officeDocument/2006/relationships/slide" Target="slide13.xml"/><Relationship Id="rId13" Type="http://schemas.openxmlformats.org/officeDocument/2006/relationships/slide" Target="slide14.xml"/><Relationship Id="rId14" Type="http://schemas.openxmlformats.org/officeDocument/2006/relationships/slide" Target="slide16.xml"/><Relationship Id="rId15" Type="http://schemas.openxmlformats.org/officeDocument/2006/relationships/slide" Target="slide17.xml"/><Relationship Id="rId16" Type="http://schemas.openxmlformats.org/officeDocument/2006/relationships/slide" Target="slide18.xml"/><Relationship Id="rId17" Type="http://schemas.openxmlformats.org/officeDocument/2006/relationships/slide" Target="slide19.xml"/><Relationship Id="rId18" Type="http://schemas.openxmlformats.org/officeDocument/2006/relationships/slide" Target="slide2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3.xml"/><Relationship Id="rId7" Type="http://schemas.openxmlformats.org/officeDocument/2006/relationships/slide" Target="slide8.xml"/><Relationship Id="rId8" Type="http://schemas.openxmlformats.org/officeDocument/2006/relationships/slide" Target="slide9.xml"/><Relationship Id="rId9" Type="http://schemas.openxmlformats.org/officeDocument/2006/relationships/slide" Target="slide10.xml"/><Relationship Id="rId10" Type="http://schemas.openxmlformats.org/officeDocument/2006/relationships/slide" Target="slide11.xml"/><Relationship Id="rId11" Type="http://schemas.openxmlformats.org/officeDocument/2006/relationships/slide" Target="slide12.xml"/><Relationship Id="rId12" Type="http://schemas.openxmlformats.org/officeDocument/2006/relationships/slide" Target="slide13.xml"/><Relationship Id="rId13" Type="http://schemas.openxmlformats.org/officeDocument/2006/relationships/slide" Target="slide14.xml"/><Relationship Id="rId14" Type="http://schemas.openxmlformats.org/officeDocument/2006/relationships/slide" Target="slide16.xml"/><Relationship Id="rId15" Type="http://schemas.openxmlformats.org/officeDocument/2006/relationships/slide" Target="slide17.xml"/><Relationship Id="rId16" Type="http://schemas.openxmlformats.org/officeDocument/2006/relationships/slide" Target="slide18.xml"/><Relationship Id="rId17" Type="http://schemas.openxmlformats.org/officeDocument/2006/relationships/slide" Target="slide19.xml"/><Relationship Id="rId18" Type="http://schemas.openxmlformats.org/officeDocument/2006/relationships/slide" Target="slide2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5.xml"/><Relationship Id="rId7" Type="http://schemas.openxmlformats.org/officeDocument/2006/relationships/slide" Target="slide9.xml"/><Relationship Id="rId8" Type="http://schemas.openxmlformats.org/officeDocument/2006/relationships/slide" Target="slide10.xml"/><Relationship Id="rId9" Type="http://schemas.openxmlformats.org/officeDocument/2006/relationships/slide" Target="slide11.xml"/><Relationship Id="rId10" Type="http://schemas.openxmlformats.org/officeDocument/2006/relationships/slide" Target="slide12.xml"/><Relationship Id="rId11" Type="http://schemas.openxmlformats.org/officeDocument/2006/relationships/slide" Target="slide13.xml"/><Relationship Id="rId12" Type="http://schemas.openxmlformats.org/officeDocument/2006/relationships/slide" Target="slide14.xml"/><Relationship Id="rId13" Type="http://schemas.openxmlformats.org/officeDocument/2006/relationships/slide" Target="slide16.xml"/><Relationship Id="rId14" Type="http://schemas.openxmlformats.org/officeDocument/2006/relationships/slide" Target="slide17.xml"/><Relationship Id="rId15" Type="http://schemas.openxmlformats.org/officeDocument/2006/relationships/slide" Target="slide18.xml"/><Relationship Id="rId16" Type="http://schemas.openxmlformats.org/officeDocument/2006/relationships/slide" Target="slide19.xml"/><Relationship Id="rId17" Type="http://schemas.openxmlformats.org/officeDocument/2006/relationships/slide" Target="slide20.xml"/><Relationship Id="rId18" Type="http://schemas.openxmlformats.org/officeDocument/2006/relationships/slide" Target="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6.xml"/><Relationship Id="rId7" Type="http://schemas.openxmlformats.org/officeDocument/2006/relationships/slide" Target="slide8.xml"/><Relationship Id="rId8" Type="http://schemas.openxmlformats.org/officeDocument/2006/relationships/slide" Target="slide10.xml"/><Relationship Id="rId9" Type="http://schemas.openxmlformats.org/officeDocument/2006/relationships/slide" Target="slide11.xml"/><Relationship Id="rId10" Type="http://schemas.openxmlformats.org/officeDocument/2006/relationships/slide" Target="slide12.xml"/><Relationship Id="rId11" Type="http://schemas.openxmlformats.org/officeDocument/2006/relationships/slide" Target="slide13.xml"/><Relationship Id="rId12" Type="http://schemas.openxmlformats.org/officeDocument/2006/relationships/slide" Target="slide14.xml"/><Relationship Id="rId13" Type="http://schemas.openxmlformats.org/officeDocument/2006/relationships/slide" Target="slide16.xml"/><Relationship Id="rId14" Type="http://schemas.openxmlformats.org/officeDocument/2006/relationships/slide" Target="slide17.xml"/><Relationship Id="rId15" Type="http://schemas.openxmlformats.org/officeDocument/2006/relationships/slide" Target="slide18.xml"/><Relationship Id="rId16" Type="http://schemas.openxmlformats.org/officeDocument/2006/relationships/slide" Target="slide19.xml"/><Relationship Id="rId17" Type="http://schemas.openxmlformats.org/officeDocument/2006/relationships/slide" Target="slide20.xml"/><Relationship Id="rId18" Type="http://schemas.openxmlformats.org/officeDocument/2006/relationships/slide" Target="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7.xml"/><Relationship Id="rId7" Type="http://schemas.openxmlformats.org/officeDocument/2006/relationships/slide" Target="slide8.xml"/><Relationship Id="rId8" Type="http://schemas.openxmlformats.org/officeDocument/2006/relationships/slide" Target="slide9.xml"/><Relationship Id="rId9" Type="http://schemas.openxmlformats.org/officeDocument/2006/relationships/slide" Target="slide11.xml"/><Relationship Id="rId10" Type="http://schemas.openxmlformats.org/officeDocument/2006/relationships/slide" Target="slide12.xml"/><Relationship Id="rId11" Type="http://schemas.openxmlformats.org/officeDocument/2006/relationships/slide" Target="slide13.xml"/><Relationship Id="rId12" Type="http://schemas.openxmlformats.org/officeDocument/2006/relationships/slide" Target="slide14.xml"/><Relationship Id="rId13" Type="http://schemas.openxmlformats.org/officeDocument/2006/relationships/slide" Target="slide16.xml"/><Relationship Id="rId14" Type="http://schemas.openxmlformats.org/officeDocument/2006/relationships/slide" Target="slide17.xml"/><Relationship Id="rId15" Type="http://schemas.openxmlformats.org/officeDocument/2006/relationships/slide" Target="slide18.xml"/><Relationship Id="rId16" Type="http://schemas.openxmlformats.org/officeDocument/2006/relationships/slide" Target="slide19.xml"/><Relationship Id="rId17" Type="http://schemas.openxmlformats.org/officeDocument/2006/relationships/slide" Target="slide20.xml"/><Relationship Id="rId18" Type="http://schemas.openxmlformats.org/officeDocument/2006/relationships/slide" Target="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8.xml"/><Relationship Id="rId7" Type="http://schemas.openxmlformats.org/officeDocument/2006/relationships/slide" Target="slide8.xml"/><Relationship Id="rId8" Type="http://schemas.openxmlformats.org/officeDocument/2006/relationships/slide" Target="slide9.xml"/><Relationship Id="rId9" Type="http://schemas.openxmlformats.org/officeDocument/2006/relationships/slide" Target="slide10.xml"/><Relationship Id="rId10" Type="http://schemas.openxmlformats.org/officeDocument/2006/relationships/slide" Target="slide12.xml"/><Relationship Id="rId11" Type="http://schemas.openxmlformats.org/officeDocument/2006/relationships/slide" Target="slide13.xml"/><Relationship Id="rId12" Type="http://schemas.openxmlformats.org/officeDocument/2006/relationships/slide" Target="slide14.xml"/><Relationship Id="rId13" Type="http://schemas.openxmlformats.org/officeDocument/2006/relationships/slide" Target="slide16.xml"/><Relationship Id="rId14" Type="http://schemas.openxmlformats.org/officeDocument/2006/relationships/slide" Target="slide17.xml"/><Relationship Id="rId15" Type="http://schemas.openxmlformats.org/officeDocument/2006/relationships/slide" Target="slide18.xml"/><Relationship Id="rId16" Type="http://schemas.openxmlformats.org/officeDocument/2006/relationships/slide" Target="slide19.xml"/><Relationship Id="rId17" Type="http://schemas.openxmlformats.org/officeDocument/2006/relationships/slide" Target="slide20.xml"/><Relationship Id="rId18" Type="http://schemas.openxmlformats.org/officeDocument/2006/relationships/slide" Target="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9.xml"/><Relationship Id="rId7" Type="http://schemas.openxmlformats.org/officeDocument/2006/relationships/slide" Target="slide8.xml"/><Relationship Id="rId8" Type="http://schemas.openxmlformats.org/officeDocument/2006/relationships/slide" Target="slide9.xml"/><Relationship Id="rId9" Type="http://schemas.openxmlformats.org/officeDocument/2006/relationships/slide" Target="slide10.xml"/><Relationship Id="rId10" Type="http://schemas.openxmlformats.org/officeDocument/2006/relationships/slide" Target="slide11.xml"/><Relationship Id="rId11" Type="http://schemas.openxmlformats.org/officeDocument/2006/relationships/slide" Target="slide13.xml"/><Relationship Id="rId12" Type="http://schemas.openxmlformats.org/officeDocument/2006/relationships/slide" Target="slide14.xml"/><Relationship Id="rId13" Type="http://schemas.openxmlformats.org/officeDocument/2006/relationships/slide" Target="slide16.xml"/><Relationship Id="rId14" Type="http://schemas.openxmlformats.org/officeDocument/2006/relationships/slide" Target="slide17.xml"/><Relationship Id="rId15" Type="http://schemas.openxmlformats.org/officeDocument/2006/relationships/slide" Target="slide18.xml"/><Relationship Id="rId16" Type="http://schemas.openxmlformats.org/officeDocument/2006/relationships/slide" Target="slide19.xml"/><Relationship Id="rId17" Type="http://schemas.openxmlformats.org/officeDocument/2006/relationships/slide" Target="slide20.xml"/><Relationship Id="rId18" Type="http://schemas.openxmlformats.org/officeDocument/2006/relationships/slide" Target="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0.xml"/><Relationship Id="rId7" Type="http://schemas.openxmlformats.org/officeDocument/2006/relationships/slide" Target="slide8.xml"/><Relationship Id="rId8" Type="http://schemas.openxmlformats.org/officeDocument/2006/relationships/slide" Target="slide9.xml"/><Relationship Id="rId9" Type="http://schemas.openxmlformats.org/officeDocument/2006/relationships/slide" Target="slide10.xml"/><Relationship Id="rId10" Type="http://schemas.openxmlformats.org/officeDocument/2006/relationships/slide" Target="slide11.xml"/><Relationship Id="rId11" Type="http://schemas.openxmlformats.org/officeDocument/2006/relationships/slide" Target="slide12.xml"/><Relationship Id="rId12" Type="http://schemas.openxmlformats.org/officeDocument/2006/relationships/slide" Target="slide14.xml"/><Relationship Id="rId13" Type="http://schemas.openxmlformats.org/officeDocument/2006/relationships/slide" Target="slide16.xml"/><Relationship Id="rId14" Type="http://schemas.openxmlformats.org/officeDocument/2006/relationships/slide" Target="slide17.xml"/><Relationship Id="rId15" Type="http://schemas.openxmlformats.org/officeDocument/2006/relationships/slide" Target="slide18.xml"/><Relationship Id="rId16" Type="http://schemas.openxmlformats.org/officeDocument/2006/relationships/slide" Target="slide19.xml"/><Relationship Id="rId17" Type="http://schemas.openxmlformats.org/officeDocument/2006/relationships/slide" Target="slide20.xml"/><Relationship Id="rId18" Type="http://schemas.openxmlformats.org/officeDocument/2006/relationships/slide" Target="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1.xml"/><Relationship Id="rId7" Type="http://schemas.openxmlformats.org/officeDocument/2006/relationships/slide" Target="slide8.xml"/><Relationship Id="rId8" Type="http://schemas.openxmlformats.org/officeDocument/2006/relationships/slide" Target="slide9.xml"/><Relationship Id="rId9" Type="http://schemas.openxmlformats.org/officeDocument/2006/relationships/slide" Target="slide10.xml"/><Relationship Id="rId10" Type="http://schemas.openxmlformats.org/officeDocument/2006/relationships/slide" Target="slide11.xml"/><Relationship Id="rId11" Type="http://schemas.openxmlformats.org/officeDocument/2006/relationships/slide" Target="slide12.xml"/><Relationship Id="rId12" Type="http://schemas.openxmlformats.org/officeDocument/2006/relationships/slide" Target="slide13.xml"/><Relationship Id="rId13" Type="http://schemas.openxmlformats.org/officeDocument/2006/relationships/slide" Target="slide16.xml"/><Relationship Id="rId14" Type="http://schemas.openxmlformats.org/officeDocument/2006/relationships/slide" Target="slide17.xml"/><Relationship Id="rId15" Type="http://schemas.openxmlformats.org/officeDocument/2006/relationships/slide" Target="slide18.xml"/><Relationship Id="rId16" Type="http://schemas.openxmlformats.org/officeDocument/2006/relationships/slide" Target="slide19.xml"/><Relationship Id="rId17" Type="http://schemas.openxmlformats.org/officeDocument/2006/relationships/slide" Target="slide20.xml"/><Relationship Id="rId18" Type="http://schemas.openxmlformats.org/officeDocument/2006/relationships/slide" Target="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2.xml"/><Relationship Id="rId7" Type="http://schemas.openxmlformats.org/officeDocument/2006/relationships/slide" Target="slide8.xml"/><Relationship Id="rId8" Type="http://schemas.openxmlformats.org/officeDocument/2006/relationships/slide" Target="slide9.xml"/><Relationship Id="rId9" Type="http://schemas.openxmlformats.org/officeDocument/2006/relationships/slide" Target="slide10.xml"/><Relationship Id="rId10" Type="http://schemas.openxmlformats.org/officeDocument/2006/relationships/slide" Target="slide11.xml"/><Relationship Id="rId11" Type="http://schemas.openxmlformats.org/officeDocument/2006/relationships/slide" Target="slide12.xml"/><Relationship Id="rId12" Type="http://schemas.openxmlformats.org/officeDocument/2006/relationships/slide" Target="slide13.xml"/><Relationship Id="rId13" Type="http://schemas.openxmlformats.org/officeDocument/2006/relationships/slide" Target="slide14.xml"/><Relationship Id="rId14" Type="http://schemas.openxmlformats.org/officeDocument/2006/relationships/slide" Target="slide17.xml"/><Relationship Id="rId15" Type="http://schemas.openxmlformats.org/officeDocument/2006/relationships/slide" Target="slide18.xml"/><Relationship Id="rId16" Type="http://schemas.openxmlformats.org/officeDocument/2006/relationships/slide" Target="slide19.xml"/><Relationship Id="rId17" Type="http://schemas.openxmlformats.org/officeDocument/2006/relationships/slide" Target="slide20.xml"/><Relationship Id="rId18" Type="http://schemas.openxmlformats.org/officeDocument/2006/relationships/slide" Target="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3.xml"/><Relationship Id="rId7" Type="http://schemas.openxmlformats.org/officeDocument/2006/relationships/slide" Target="slide8.xml"/><Relationship Id="rId8" Type="http://schemas.openxmlformats.org/officeDocument/2006/relationships/slide" Target="slide9.xml"/><Relationship Id="rId9" Type="http://schemas.openxmlformats.org/officeDocument/2006/relationships/slide" Target="slide10.xml"/><Relationship Id="rId10" Type="http://schemas.openxmlformats.org/officeDocument/2006/relationships/slide" Target="slide11.xml"/><Relationship Id="rId11" Type="http://schemas.openxmlformats.org/officeDocument/2006/relationships/slide" Target="slide12.xml"/><Relationship Id="rId12" Type="http://schemas.openxmlformats.org/officeDocument/2006/relationships/slide" Target="slide13.xml"/><Relationship Id="rId13" Type="http://schemas.openxmlformats.org/officeDocument/2006/relationships/slide" Target="slide14.xml"/><Relationship Id="rId14" Type="http://schemas.openxmlformats.org/officeDocument/2006/relationships/slide" Target="slide16.xml"/><Relationship Id="rId15" Type="http://schemas.openxmlformats.org/officeDocument/2006/relationships/slide" Target="slide18.xml"/><Relationship Id="rId16" Type="http://schemas.openxmlformats.org/officeDocument/2006/relationships/slide" Target="slide19.xml"/><Relationship Id="rId17" Type="http://schemas.openxmlformats.org/officeDocument/2006/relationships/slide" Target="slide20.xml"/><Relationship Id="rId18" Type="http://schemas.openxmlformats.org/officeDocument/2006/relationships/slide" Target="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4.xml"/><Relationship Id="rId7" Type="http://schemas.openxmlformats.org/officeDocument/2006/relationships/slide" Target="slide8.xml"/><Relationship Id="rId8" Type="http://schemas.openxmlformats.org/officeDocument/2006/relationships/slide" Target="slide9.xml"/><Relationship Id="rId9" Type="http://schemas.openxmlformats.org/officeDocument/2006/relationships/slide" Target="slide10.xml"/><Relationship Id="rId10" Type="http://schemas.openxmlformats.org/officeDocument/2006/relationships/slide" Target="slide11.xml"/><Relationship Id="rId11" Type="http://schemas.openxmlformats.org/officeDocument/2006/relationships/slide" Target="slide12.xml"/><Relationship Id="rId12" Type="http://schemas.openxmlformats.org/officeDocument/2006/relationships/slide" Target="slide13.xml"/><Relationship Id="rId13" Type="http://schemas.openxmlformats.org/officeDocument/2006/relationships/slide" Target="slide14.xml"/><Relationship Id="rId14" Type="http://schemas.openxmlformats.org/officeDocument/2006/relationships/slide" Target="slide16.xml"/><Relationship Id="rId15" Type="http://schemas.openxmlformats.org/officeDocument/2006/relationships/slide" Target="slide17.xml"/><Relationship Id="rId16" Type="http://schemas.openxmlformats.org/officeDocument/2006/relationships/slide" Target="slide19.xml"/><Relationship Id="rId17" Type="http://schemas.openxmlformats.org/officeDocument/2006/relationships/slide" Target="slide20.xml"/><Relationship Id="rId18" Type="http://schemas.openxmlformats.org/officeDocument/2006/relationships/slide" Target="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5.xml"/><Relationship Id="rId7" Type="http://schemas.openxmlformats.org/officeDocument/2006/relationships/slide" Target="slide8.xml"/><Relationship Id="rId8" Type="http://schemas.openxmlformats.org/officeDocument/2006/relationships/slide" Target="slide9.xml"/><Relationship Id="rId9" Type="http://schemas.openxmlformats.org/officeDocument/2006/relationships/slide" Target="slide10.xml"/><Relationship Id="rId10" Type="http://schemas.openxmlformats.org/officeDocument/2006/relationships/slide" Target="slide11.xml"/><Relationship Id="rId11" Type="http://schemas.openxmlformats.org/officeDocument/2006/relationships/slide" Target="slide12.xml"/><Relationship Id="rId12" Type="http://schemas.openxmlformats.org/officeDocument/2006/relationships/slide" Target="slide13.xml"/><Relationship Id="rId13" Type="http://schemas.openxmlformats.org/officeDocument/2006/relationships/slide" Target="slide14.xml"/><Relationship Id="rId14" Type="http://schemas.openxmlformats.org/officeDocument/2006/relationships/slide" Target="slide16.xml"/><Relationship Id="rId15" Type="http://schemas.openxmlformats.org/officeDocument/2006/relationships/slide" Target="slide17.xml"/><Relationship Id="rId16" Type="http://schemas.openxmlformats.org/officeDocument/2006/relationships/slide" Target="slide18.xml"/><Relationship Id="rId17" Type="http://schemas.openxmlformats.org/officeDocument/2006/relationships/slide" Target="slide20.xml"/><Relationship Id="rId18" Type="http://schemas.openxmlformats.org/officeDocument/2006/relationships/slide" Target="slide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6.xml"/><Relationship Id="rId7" Type="http://schemas.openxmlformats.org/officeDocument/2006/relationships/slide" Target="slide8.xml"/><Relationship Id="rId8" Type="http://schemas.openxmlformats.org/officeDocument/2006/relationships/slide" Target="slide9.xml"/><Relationship Id="rId9" Type="http://schemas.openxmlformats.org/officeDocument/2006/relationships/slide" Target="slide10.xml"/><Relationship Id="rId10" Type="http://schemas.openxmlformats.org/officeDocument/2006/relationships/slide" Target="slide11.xml"/><Relationship Id="rId11" Type="http://schemas.openxmlformats.org/officeDocument/2006/relationships/slide" Target="slide12.xml"/><Relationship Id="rId12" Type="http://schemas.openxmlformats.org/officeDocument/2006/relationships/slide" Target="slide13.xml"/><Relationship Id="rId13" Type="http://schemas.openxmlformats.org/officeDocument/2006/relationships/slide" Target="slide14.xml"/><Relationship Id="rId14" Type="http://schemas.openxmlformats.org/officeDocument/2006/relationships/slide" Target="slide16.xml"/><Relationship Id="rId15" Type="http://schemas.openxmlformats.org/officeDocument/2006/relationships/slide" Target="slide17.xml"/><Relationship Id="rId16" Type="http://schemas.openxmlformats.org/officeDocument/2006/relationships/slide" Target="slide18.xml"/><Relationship Id="rId17" Type="http://schemas.openxmlformats.org/officeDocument/2006/relationships/slide" Target="slide19.xml"/><Relationship Id="rId18" Type="http://schemas.openxmlformats.org/officeDocument/2006/relationships/slide" Target="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Image 15"/>
          <p:cNvPicPr>
            <a:picLocks noChangeAspect="1"/>
          </p:cNvPicPr>
          <p:nvPr/>
        </p:nvPicPr>
        <p:blipFill rotWithShape="1">
          <a:blip r:embed="rId2" cstate="print">
            <a:extLst>
              <a:ext uri="{28A0092B-C50C-407E-A947-70E740481C1C}">
                <a14:useLocalDpi xmlns:a14="http://schemas.microsoft.com/office/drawing/2010/main" val="0"/>
              </a:ext>
            </a:extLst>
          </a:blip>
          <a:srcRect l="-175" t="524" r="-2445" b="9082"/>
          <a:stretch/>
        </p:blipFill>
        <p:spPr>
          <a:xfrm>
            <a:off x="4883082" y="0"/>
            <a:ext cx="7785652" cy="6858000"/>
          </a:xfrm>
          <a:prstGeom prst="rect">
            <a:avLst/>
          </a:prstGeom>
        </p:spPr>
      </p:pic>
      <p:sp>
        <p:nvSpPr>
          <p:cNvPr id="5" name="Rectangle 4"/>
          <p:cNvSpPr/>
          <p:nvPr/>
        </p:nvSpPr>
        <p:spPr>
          <a:xfrm>
            <a:off x="13092" y="0"/>
            <a:ext cx="5740400" cy="6858000"/>
          </a:xfrm>
          <a:prstGeom prst="rect">
            <a:avLst/>
          </a:prstGeom>
          <a:solidFill>
            <a:srgbClr val="06060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CI" noProof="0"/>
          </a:p>
        </p:txBody>
      </p:sp>
      <p:pic>
        <p:nvPicPr>
          <p:cNvPr id="6" name="Image 5">
            <a:extLst>
              <a:ext uri="{FF2B5EF4-FFF2-40B4-BE49-F238E27FC236}">
                <a16:creationId xmlns:a16="http://schemas.microsoft.com/office/drawing/2014/main" id="{2C356854-0685-DCEF-E2F6-65D5E9653A4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25248" y="-135577"/>
            <a:ext cx="3261353" cy="1301437"/>
          </a:xfrm>
          <a:prstGeom prst="rect">
            <a:avLst/>
          </a:prstGeom>
        </p:spPr>
      </p:pic>
      <p:sp>
        <p:nvSpPr>
          <p:cNvPr id="8" name="Text Placeholder 4">
            <a:extLst>
              <a:ext uri="{FF2B5EF4-FFF2-40B4-BE49-F238E27FC236}">
                <a16:creationId xmlns:a16="http://schemas.microsoft.com/office/drawing/2014/main" id="{5B17207E-7FD3-4B75-ADFE-CC565F8DB8A1}"/>
              </a:ext>
            </a:extLst>
          </p:cNvPr>
          <p:cNvSpPr txBox="1">
            <a:spLocks/>
          </p:cNvSpPr>
          <p:nvPr/>
        </p:nvSpPr>
        <p:spPr>
          <a:xfrm>
            <a:off x="10506325" y="6388244"/>
            <a:ext cx="1187835" cy="337676"/>
          </a:xfrm>
          <a:prstGeom prst="rect">
            <a:avLst/>
          </a:prstGeom>
        </p:spPr>
        <p:txBody>
          <a:bodyPr vert="horz" lIns="91440" tIns="45720" rIns="91440" bIns="45720" rtlCol="0" anchor="ctr">
            <a:noAutofit/>
          </a:bodyPr>
          <a:lstStyle>
            <a:defPPr>
              <a:defRPr lang="fr-FR"/>
            </a:defPPr>
            <a:lvl1pPr marL="0" algn="l"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fr-CI" sz="1000" noProof="0">
                <a:solidFill>
                  <a:srgbClr val="FFFFFF"/>
                </a:solidFill>
                <a:latin typeface=".Helvetica"/>
                <a:ea typeface=".Helvetica Neue Interface" panose="020B0604020202020204" pitchFamily="34" charset="0"/>
                <a:cs typeface="Open Sans"/>
              </a:rPr>
              <a:t>26 octobre 2026</a:t>
            </a:r>
          </a:p>
        </p:txBody>
      </p:sp>
      <p:sp>
        <p:nvSpPr>
          <p:cNvPr id="9" name="Google Shape;138;p25"/>
          <p:cNvSpPr txBox="1"/>
          <p:nvPr/>
        </p:nvSpPr>
        <p:spPr>
          <a:xfrm>
            <a:off x="908861" y="2534894"/>
            <a:ext cx="5918659" cy="1231106"/>
          </a:xfrm>
          <a:prstGeom prst="rect">
            <a:avLst/>
          </a:prstGeom>
          <a:noFill/>
          <a:ln>
            <a:noFill/>
          </a:ln>
        </p:spPr>
        <p:txBody>
          <a:bodyPr spcFirstLastPara="1" wrap="square" lIns="0" tIns="0" rIns="0" bIns="0" anchor="t" anchorCtr="0">
            <a:spAutoFit/>
          </a:bodyPr>
          <a:lstStyle/>
          <a:p>
            <a:r>
              <a:rPr lang="fr-CI" sz="4000" b="1" noProof="0">
                <a:solidFill>
                  <a:srgbClr val="FFFFFF"/>
                </a:solidFill>
                <a:latin typeface="Helvetica" panose="020B0604020202020204" pitchFamily="34" charset="0"/>
                <a:cs typeface="Helvetica" panose="020B0604020202020204" pitchFamily="34" charset="0"/>
              </a:rPr>
              <a:t>Audit Comptable et financier FPPN</a:t>
            </a:r>
          </a:p>
        </p:txBody>
      </p:sp>
      <p:sp>
        <p:nvSpPr>
          <p:cNvPr id="14" name="ZoneTexte 13">
            <a:extLst>
              <a:ext uri="{FF2B5EF4-FFF2-40B4-BE49-F238E27FC236}">
                <a16:creationId xmlns:a16="http://schemas.microsoft.com/office/drawing/2014/main" id="{C6E7D94B-8E49-C846-A392-87DFA5EF4A9D}"/>
              </a:ext>
            </a:extLst>
          </p:cNvPr>
          <p:cNvSpPr txBox="1"/>
          <p:nvPr/>
        </p:nvSpPr>
        <p:spPr>
          <a:xfrm>
            <a:off x="456025" y="6300894"/>
            <a:ext cx="4653185" cy="338554"/>
          </a:xfrm>
          <a:prstGeom prst="rect">
            <a:avLst/>
          </a:prstGeom>
          <a:noFill/>
        </p:spPr>
        <p:txBody>
          <a:bodyPr wrap="square">
            <a:spAutoFit/>
          </a:bodyPr>
          <a:lstStyle/>
          <a:p>
            <a:r>
              <a:rPr lang="fr-CI" sz="1600" noProof="0">
                <a:solidFill>
                  <a:schemeClr val="bg1"/>
                </a:solidFill>
                <a:latin typeface="Helvetica" panose="020B0604020202020204" pitchFamily="34" charset="0"/>
                <a:cs typeface="Helvetica" panose="020B0604020202020204" pitchFamily="34" charset="0"/>
              </a:rPr>
              <a:t>Empreinte Africaine, Expertise Internationale</a:t>
            </a:r>
          </a:p>
        </p:txBody>
      </p:sp>
      <p:sp>
        <p:nvSpPr>
          <p:cNvPr id="12" name="Rectangle 11"/>
          <p:cNvSpPr/>
          <p:nvPr/>
        </p:nvSpPr>
        <p:spPr>
          <a:xfrm>
            <a:off x="9487408" y="229231"/>
            <a:ext cx="2704592" cy="1323439"/>
          </a:xfrm>
          <a:prstGeom prst="rect">
            <a:avLst/>
          </a:prstGeom>
        </p:spPr>
        <p:txBody>
          <a:bodyPr wrap="square">
            <a:spAutoFit/>
          </a:bodyPr>
          <a:lstStyle/>
          <a:p>
            <a: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SA au Capital de 100 millions FCFA </a:t>
            </a:r>
          </a:p>
          <a:p>
            <a: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Immeuble le 24, 3e étage</a:t>
            </a:r>
          </a:p>
          <a:p>
            <a: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Boulevard </a:t>
            </a:r>
            <a:r>
              <a:rPr lang="fr-CI" sz="1000" noProof="0" err="1">
                <a:solidFill>
                  <a:schemeClr val="bg1"/>
                </a:solidFill>
                <a:latin typeface="Helvetica" panose="020B0604020202020204" pitchFamily="34" charset="0"/>
                <a:ea typeface="Times New Roman" panose="02020603050405020304" pitchFamily="18" charset="0"/>
                <a:cs typeface="Helvetica" panose="020B0604020202020204" pitchFamily="34" charset="0"/>
              </a:rPr>
              <a:t>Clozel</a:t>
            </a: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 Plateau, Abidjan </a:t>
            </a:r>
          </a:p>
          <a:p>
            <a: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06 BPM 459 Abidjan 06, Côte d’ivoire</a:t>
            </a:r>
          </a:p>
          <a:p>
            <a: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NCC : 2404702K</a:t>
            </a:r>
          </a:p>
          <a:p>
            <a: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RCCM : CI-ABJ-03-2024-B14-00114 </a:t>
            </a:r>
          </a:p>
          <a:p>
            <a: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Tel (225) 27 20 33 90 90 </a:t>
            </a:r>
          </a:p>
          <a:p>
            <a: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fr-CI" sz="1000" noProof="0">
                <a:solidFill>
                  <a:schemeClr val="bg1"/>
                </a:solidFill>
                <a:latin typeface="Helvetica" panose="020B0604020202020204" pitchFamily="34" charset="0"/>
                <a:ea typeface="Times New Roman" panose="02020603050405020304" pitchFamily="18" charset="0"/>
                <a:cs typeface="Helvetica" panose="020B0604020202020204" pitchFamily="34" charset="0"/>
              </a:rPr>
              <a:t>www.adenka.ci</a:t>
            </a:r>
          </a:p>
        </p:txBody>
      </p:sp>
      <p:sp>
        <p:nvSpPr>
          <p:cNvPr id="17" name="ZoneTexte 2"/>
          <p:cNvSpPr txBox="1"/>
          <p:nvPr/>
        </p:nvSpPr>
        <p:spPr>
          <a:xfrm>
            <a:off x="817421" y="5135034"/>
            <a:ext cx="6497320" cy="461665"/>
          </a:xfrm>
          <a:prstGeom prst="rect">
            <a:avLst/>
          </a:prstGeom>
          <a:noFill/>
        </p:spPr>
        <p:txBody>
          <a:bodyPr wrap="none">
            <a:spAutoFit/>
          </a:bodyPr>
          <a:lstStyle/>
          <a:p>
            <a:r>
              <a:rPr sz="2400" b="1">
                <a:solidFill>
                  <a:srgbClr val="EFAC62"/>
                </a:solidFill>
                <a:latin typeface="Helvetica"/>
              </a:rPr>
              <a:t>Les constats par activité</a:t>
            </a:r>
          </a:p>
        </p:txBody>
      </p:sp>
      <p:pic>
        <p:nvPicPr>
          <p:cNvPr id="18" name="Logo FPPN" descr="logo_fppn.jpg"/>
          <p:cNvPicPr>
            <a:picLocks noChangeAspect="1"/>
          </p:cNvPicPr>
          <p:nvPr/>
        </p:nvPicPr>
        <p:blipFill>
          <a:blip r:embed="rId4"/>
          <a:srcRect t="23449" b="29631"/>
          <a:stretch>
            <a:fillRect/>
          </a:stretch>
        </p:blipFill>
        <p:spPr>
          <a:xfrm>
            <a:off x="938577" y="4017907"/>
            <a:ext cx="1844040" cy="865220"/>
          </a:xfrm>
          <a:prstGeom prst="rect">
            <a:avLst/>
          </a:prstGeom>
        </p:spPr>
      </p:pic>
    </p:spTree>
    <p:extLst>
      <p:ext uri="{BB962C8B-B14F-4D97-AF65-F5344CB8AC3E}">
        <p14:creationId xmlns:p14="http://schemas.microsoft.com/office/powerpoint/2010/main" val="10473288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TextBox 26"/>
          <p:cNvSpPr txBox="1"/>
          <p:nvPr/>
        </p:nvSpPr>
        <p:spPr>
          <a:xfrm>
            <a:off x="972000" y="306000"/>
            <a:ext cx="7200000" cy="396000"/>
          </a:xfrm>
          <a:prstGeom prst="rect">
            <a:avLst/>
          </a:prstGeom>
          <a:noFill/>
        </p:spPr>
        <p:txBody>
          <a:bodyPr wrap="square" anchor="t" lIns="54000" rIns="54000"/>
          <a:lstStyle/>
          <a:p>
            <a:pPr algn="l"/>
            <a:r>
              <a:rPr sz="2400" b="1">
                <a:solidFill>
                  <a:srgbClr val="112A40"/>
                </a:solidFill>
                <a:latin typeface="Helvetica"/>
              </a:rPr>
              <a:t>SOMMAIRE</a:t>
            </a:r>
          </a:p>
        </p:txBody>
      </p:sp>
      <p:cxnSp>
        <p:nvCxnSpPr>
          <p:cNvPr id="28" name="Connector 27"/>
          <p:cNvCxnSpPr/>
          <p:nvPr/>
        </p:nvCxnSpPr>
        <p:spPr>
          <a:xfrm>
            <a:off x="932400" y="1470600"/>
            <a:ext cx="0" cy="147960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32400" y="1470600"/>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1745999" y="1254600"/>
            <a:ext cx="432000" cy="4320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image.png"/>
          <p:cNvPicPr>
            <a:picLocks noChangeAspect="1"/>
          </p:cNvPicPr>
          <p:nvPr/>
        </p:nvPicPr>
        <p:blipFill>
          <a:blip r:embed="rId6"/>
          <a:stretch>
            <a:fillRect/>
          </a:stretch>
        </p:blipFill>
        <p:spPr>
          <a:xfrm>
            <a:off x="1832399" y="1341000"/>
            <a:ext cx="259200" cy="259200"/>
          </a:xfrm>
          <a:prstGeom prst="rect">
            <a:avLst/>
          </a:prstGeom>
        </p:spPr>
      </p:pic>
      <p:sp>
        <p:nvSpPr>
          <p:cNvPr id="32" name="Rectangle 31"/>
          <p:cNvSpPr/>
          <p:nvPr/>
        </p:nvSpPr>
        <p:spPr>
          <a:xfrm>
            <a:off x="2444400" y="1288800"/>
            <a:ext cx="8272800" cy="3636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600">
                <a:solidFill>
                  <a:srgbClr val="060606"/>
                </a:solidFill>
                <a:latin typeface="Helvetica"/>
              </a:rPr>
              <a:t>Vue d'ensemble</a:t>
            </a:r>
          </a:p>
        </p:txBody>
      </p:sp>
      <p:sp>
        <p:nvSpPr>
          <p:cNvPr id="33" name="Rectangle 32"/>
          <p:cNvSpPr/>
          <p:nvPr/>
        </p:nvSpPr>
        <p:spPr>
          <a:xfrm>
            <a:off x="10756800" y="1288800"/>
            <a:ext cx="550800" cy="3636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600">
                <a:solidFill>
                  <a:srgbClr val="060606"/>
                </a:solidFill>
                <a:latin typeface="Helvetica"/>
              </a:rPr>
              <a:t>3</a:t>
            </a:r>
          </a:p>
        </p:txBody>
      </p:sp>
      <p:cxnSp>
        <p:nvCxnSpPr>
          <p:cNvPr id="34" name="Connector 33"/>
          <p:cNvCxnSpPr/>
          <p:nvPr/>
        </p:nvCxnSpPr>
        <p:spPr>
          <a:xfrm>
            <a:off x="932400" y="1963800"/>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1745999" y="1747800"/>
            <a:ext cx="432000" cy="4320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image.png"/>
          <p:cNvPicPr>
            <a:picLocks noChangeAspect="1"/>
          </p:cNvPicPr>
          <p:nvPr/>
        </p:nvPicPr>
        <p:blipFill>
          <a:blip r:embed="rId7"/>
          <a:stretch>
            <a:fillRect/>
          </a:stretch>
        </p:blipFill>
        <p:spPr>
          <a:xfrm>
            <a:off x="1832399" y="1834200"/>
            <a:ext cx="259200" cy="259200"/>
          </a:xfrm>
          <a:prstGeom prst="rect">
            <a:avLst/>
          </a:prstGeom>
        </p:spPr>
      </p:pic>
      <p:sp>
        <p:nvSpPr>
          <p:cNvPr id="37" name="Rectangle 36"/>
          <p:cNvSpPr/>
          <p:nvPr/>
        </p:nvSpPr>
        <p:spPr>
          <a:xfrm>
            <a:off x="2444400" y="1782000"/>
            <a:ext cx="8272800" cy="3636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600">
                <a:solidFill>
                  <a:srgbClr val="060606"/>
                </a:solidFill>
                <a:latin typeface="Helvetica"/>
              </a:rPr>
              <a:t>Produits</a:t>
            </a:r>
          </a:p>
        </p:txBody>
      </p:sp>
      <p:sp>
        <p:nvSpPr>
          <p:cNvPr id="38" name="Rectangle 37"/>
          <p:cNvSpPr/>
          <p:nvPr/>
        </p:nvSpPr>
        <p:spPr>
          <a:xfrm>
            <a:off x="10756800" y="1782000"/>
            <a:ext cx="550800" cy="3636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600">
                <a:solidFill>
                  <a:srgbClr val="060606"/>
                </a:solidFill>
                <a:latin typeface="Helvetica"/>
              </a:rPr>
              <a:t>7</a:t>
            </a:r>
          </a:p>
        </p:txBody>
      </p:sp>
      <p:cxnSp>
        <p:nvCxnSpPr>
          <p:cNvPr id="39" name="Connector 38"/>
          <p:cNvCxnSpPr/>
          <p:nvPr/>
        </p:nvCxnSpPr>
        <p:spPr>
          <a:xfrm>
            <a:off x="932400" y="2457000"/>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40" name="Oval 39"/>
          <p:cNvSpPr/>
          <p:nvPr/>
        </p:nvSpPr>
        <p:spPr>
          <a:xfrm>
            <a:off x="1745999" y="2241000"/>
            <a:ext cx="432000" cy="4320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image.png"/>
          <p:cNvPicPr>
            <a:picLocks noChangeAspect="1"/>
          </p:cNvPicPr>
          <p:nvPr/>
        </p:nvPicPr>
        <p:blipFill>
          <a:blip r:embed="rId8"/>
          <a:stretch>
            <a:fillRect/>
          </a:stretch>
        </p:blipFill>
        <p:spPr>
          <a:xfrm>
            <a:off x="1832399" y="2327400"/>
            <a:ext cx="259200" cy="259200"/>
          </a:xfrm>
          <a:prstGeom prst="rect">
            <a:avLst/>
          </a:prstGeom>
        </p:spPr>
      </p:pic>
      <p:sp>
        <p:nvSpPr>
          <p:cNvPr id="42" name="Rectangle 41"/>
          <p:cNvSpPr/>
          <p:nvPr/>
        </p:nvSpPr>
        <p:spPr>
          <a:xfrm>
            <a:off x="2444400" y="2275200"/>
            <a:ext cx="8272800" cy="3636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600">
                <a:solidFill>
                  <a:srgbClr val="060606"/>
                </a:solidFill>
                <a:latin typeface="Helvetica"/>
              </a:rPr>
              <a:t>Fonctions transverses</a:t>
            </a:r>
          </a:p>
        </p:txBody>
      </p:sp>
      <p:sp>
        <p:nvSpPr>
          <p:cNvPr id="43" name="Rectangle 42"/>
          <p:cNvSpPr/>
          <p:nvPr/>
        </p:nvSpPr>
        <p:spPr>
          <a:xfrm>
            <a:off x="10756800" y="2275200"/>
            <a:ext cx="550800" cy="3636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600">
                <a:solidFill>
                  <a:srgbClr val="060606"/>
                </a:solidFill>
                <a:latin typeface="Helvetica"/>
              </a:rPr>
              <a:t>15</a:t>
            </a:r>
          </a:p>
        </p:txBody>
      </p:sp>
      <p:cxnSp>
        <p:nvCxnSpPr>
          <p:cNvPr id="44" name="Connector 43"/>
          <p:cNvCxnSpPr/>
          <p:nvPr/>
        </p:nvCxnSpPr>
        <p:spPr>
          <a:xfrm>
            <a:off x="932400" y="2950200"/>
            <a:ext cx="813599" cy="0"/>
          </a:xfrm>
          <a:prstGeom prst="line">
            <a:avLst/>
          </a:prstGeom>
          <a:ln w="12700">
            <a:solidFill>
              <a:srgbClr val="112A40"/>
            </a:solidFill>
          </a:ln>
        </p:spPr>
        <p:style>
          <a:lnRef idx="2">
            <a:schemeClr val="accent1"/>
          </a:lnRef>
          <a:fillRef idx="0">
            <a:schemeClr val="accent1"/>
          </a:fillRef>
          <a:effectRef idx="1">
            <a:schemeClr val="accent1"/>
          </a:effectRef>
          <a:fontRef idx="minor">
            <a:schemeClr val="tx1"/>
          </a:fontRef>
        </p:style>
      </p:cxnSp>
      <p:sp>
        <p:nvSpPr>
          <p:cNvPr id="45" name="Oval 44"/>
          <p:cNvSpPr/>
          <p:nvPr/>
        </p:nvSpPr>
        <p:spPr>
          <a:xfrm>
            <a:off x="1745999" y="2734200"/>
            <a:ext cx="432000" cy="432000"/>
          </a:xfrm>
          <a:prstGeom prst="ellipse">
            <a:avLst/>
          </a:prstGeom>
          <a:solidFill>
            <a:srgbClr val="0606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image.png"/>
          <p:cNvPicPr>
            <a:picLocks noChangeAspect="1"/>
          </p:cNvPicPr>
          <p:nvPr/>
        </p:nvPicPr>
        <p:blipFill>
          <a:blip r:embed="rId9"/>
          <a:stretch>
            <a:fillRect/>
          </a:stretch>
        </p:blipFill>
        <p:spPr>
          <a:xfrm>
            <a:off x="1832399" y="2820600"/>
            <a:ext cx="259200" cy="259200"/>
          </a:xfrm>
          <a:prstGeom prst="rect">
            <a:avLst/>
          </a:prstGeom>
        </p:spPr>
      </p:pic>
      <p:sp>
        <p:nvSpPr>
          <p:cNvPr id="47" name="Rectangle 46"/>
          <p:cNvSpPr/>
          <p:nvPr/>
        </p:nvSpPr>
        <p:spPr>
          <a:xfrm>
            <a:off x="2444400" y="2768400"/>
            <a:ext cx="8272800" cy="3636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l"/>
            <a:r>
              <a:rPr sz="1600">
                <a:solidFill>
                  <a:srgbClr val="060606"/>
                </a:solidFill>
                <a:latin typeface="Helvetica"/>
              </a:rPr>
              <a:t>Annexes</a:t>
            </a:r>
          </a:p>
        </p:txBody>
      </p:sp>
      <p:sp>
        <p:nvSpPr>
          <p:cNvPr id="48" name="Rectangle 47"/>
          <p:cNvSpPr/>
          <p:nvPr/>
        </p:nvSpPr>
        <p:spPr>
          <a:xfrm>
            <a:off x="10756800" y="2768400"/>
            <a:ext cx="550800" cy="363600"/>
          </a:xfrm>
          <a:prstGeom prst="rect">
            <a:avLst/>
          </a:prstGeom>
          <a:noFill/>
          <a:ln w="19050">
            <a:solidFill>
              <a:srgbClr val="060606"/>
            </a:solidFill>
          </a:ln>
        </p:spPr>
        <p:style>
          <a:lnRef idx="1">
            <a:schemeClr val="accent1"/>
          </a:lnRef>
          <a:fillRef idx="3">
            <a:schemeClr val="accent1"/>
          </a:fillRef>
          <a:effectRef idx="2">
            <a:schemeClr val="accent1"/>
          </a:effectRef>
          <a:fontRef idx="minor">
            <a:schemeClr val="lt1"/>
          </a:fontRef>
        </p:style>
        <p:txBody>
          <a:bodyPr rtlCol="0" anchor="ctr" lIns="108000" tIns="0" bIns="0"/>
          <a:lstStyle/>
          <a:p>
            <a:pPr algn="ctr"/>
            <a:r>
              <a:rPr sz="1600">
                <a:solidFill>
                  <a:srgbClr val="060606"/>
                </a:solidFill>
                <a:latin typeface="Helvetica"/>
              </a:rPr>
              <a:t>21</a:t>
            </a:r>
          </a:p>
        </p:txBody>
      </p:sp>
    </p:spTree>
    <p:extLst>
      <p:ext uri="{BB962C8B-B14F-4D97-AF65-F5344CB8AC3E}">
        <p14:creationId xmlns:p14="http://schemas.microsoft.com/office/powerpoint/2010/main" val="775771764"/>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square" lIns="0" tIns="0" rIns="0" bIns="0">
            <a:spAutoFit/>
          </a:bodyPr>
          <a:lstStyle/>
          <a:p>
            <a:pPr lvl="0">
              <a:lnSpc>
                <a:spcPct val="110000"/>
              </a:lnSpc>
            </a:pPr>
            <a:r>
              <a:rPr lang="fr-CI" sz="60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1</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Vue d'ensemble</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Les activités du FPPN, les types de constats et leur gravité</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2551613406"/>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Carte des activités du FPPN</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L'argent des policiers entre par la solde et la pension, et sort en prestations, en épargne et en services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64 constats sur 14 activités. Les plus graves touchent l'épargne, la liquidité et les règles de solidité</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rapport actuariel et statistique du 23/10/2026. Résumé exécutif du 26/10/2026</a:t>
            </a:r>
          </a:p>
        </p:txBody>
      </p:sp>
      <p:sp>
        <p:nvSpPr>
          <p:cNvPr id="31" name="Rectangle 30"/>
          <p:cNvSpPr/>
          <p:nvPr/>
        </p:nvSpPr>
        <p:spPr>
          <a:xfrm>
            <a:off x="503999" y="1584000"/>
            <a:ext cx="2015999" cy="5400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50" b="1">
                <a:solidFill>
                  <a:srgbClr val="FFFFFF"/>
                </a:solidFill>
                <a:latin typeface="Helvetica"/>
              </a:rPr>
              <a:t>Policiers en activité</a:t>
            </a:r>
          </a:p>
          <a:p>
            <a:pPr algn="ctr"/>
            <a:r>
              <a:rPr sz="800" b="0">
                <a:solidFill>
                  <a:srgbClr val="FFFFFF"/>
                </a:solidFill>
                <a:latin typeface="Helvetica"/>
              </a:rPr>
              <a:t>cotisations et épargne prélevées sur la solde (Solde)</a:t>
            </a:r>
          </a:p>
        </p:txBody>
      </p:sp>
      <p:sp>
        <p:nvSpPr>
          <p:cNvPr id="32" name="Rectangle 31"/>
          <p:cNvSpPr/>
          <p:nvPr/>
        </p:nvSpPr>
        <p:spPr>
          <a:xfrm>
            <a:off x="503999" y="2736000"/>
            <a:ext cx="2015999" cy="5400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50" b="1">
                <a:solidFill>
                  <a:srgbClr val="FFFFFF"/>
                </a:solidFill>
                <a:latin typeface="Helvetica"/>
              </a:rPr>
              <a:t>Policiers retraités</a:t>
            </a:r>
          </a:p>
          <a:p>
            <a:pPr algn="ctr"/>
            <a:r>
              <a:rPr sz="800" b="0">
                <a:solidFill>
                  <a:srgbClr val="FFFFFF"/>
                </a:solidFill>
                <a:latin typeface="Helvetica"/>
              </a:rPr>
              <a:t>cotisation santé prélevée sur la pension (CGRAE)</a:t>
            </a:r>
          </a:p>
        </p:txBody>
      </p:sp>
      <p:sp>
        <p:nvSpPr>
          <p:cNvPr id="33" name="Rectangle 32"/>
          <p:cNvSpPr/>
          <p:nvPr/>
        </p:nvSpPr>
        <p:spPr>
          <a:xfrm>
            <a:off x="3708000" y="1908000"/>
            <a:ext cx="1655999" cy="10440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50" b="1">
                <a:solidFill>
                  <a:srgbClr val="FFFFFF"/>
                </a:solidFill>
                <a:latin typeface="Helvetica"/>
              </a:rPr>
              <a:t>FPPN</a:t>
            </a:r>
          </a:p>
          <a:p>
            <a:pPr algn="ctr"/>
            <a:r>
              <a:rPr sz="800" b="0">
                <a:solidFill>
                  <a:srgbClr val="FFFFFF"/>
                </a:solidFill>
                <a:latin typeface="Helvetica"/>
              </a:rPr>
              <a:t>cotisations : 3 418 141 722 FCFA en 2025
épargne due : 15 743 516 391 FCFA</a:t>
            </a:r>
          </a:p>
        </p:txBody>
      </p:sp>
      <p:cxnSp>
        <p:nvCxnSpPr>
          <p:cNvPr id="34" name="Connector 33"/>
          <p:cNvCxnSpPr/>
          <p:nvPr/>
        </p:nvCxnSpPr>
        <p:spPr>
          <a:xfrm>
            <a:off x="2520000" y="1854000"/>
            <a:ext cx="1188000" cy="378000"/>
          </a:xfrm>
          <a:prstGeom prst="line">
            <a:avLst/>
          </a:prstGeom>
          <a:ln w="22225">
            <a:solidFill>
              <a:srgbClr val="53565A"/>
            </a:solidFill>
            <a:tailEnd type="triangle"/>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2520000" y="2097000"/>
            <a:ext cx="1260000" cy="144000"/>
          </a:xfrm>
          <a:prstGeom prst="rect">
            <a:avLst/>
          </a:prstGeom>
          <a:noFill/>
        </p:spPr>
        <p:txBody>
          <a:bodyPr wrap="none">
            <a:spAutoFit/>
          </a:bodyPr>
          <a:lstStyle/>
          <a:p>
            <a:pPr algn="ctr"/>
            <a:r>
              <a:rPr sz="750" b="0">
                <a:solidFill>
                  <a:srgbClr val="53565A"/>
                </a:solidFill>
                <a:latin typeface="Helvetica"/>
              </a:rPr>
              <a:t>5 % du salaire, EFC, PEP</a:t>
            </a:r>
          </a:p>
        </p:txBody>
      </p:sp>
      <p:cxnSp>
        <p:nvCxnSpPr>
          <p:cNvPr id="36" name="Connector 35"/>
          <p:cNvCxnSpPr/>
          <p:nvPr/>
        </p:nvCxnSpPr>
        <p:spPr>
          <a:xfrm flipV="1">
            <a:off x="2520000" y="2664000"/>
            <a:ext cx="1188000" cy="342000"/>
          </a:xfrm>
          <a:prstGeom prst="line">
            <a:avLst/>
          </a:prstGeom>
          <a:ln w="22225">
            <a:solidFill>
              <a:srgbClr val="53565A"/>
            </a:solidFill>
            <a:tailEnd type="triangle"/>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2520000" y="2853000"/>
            <a:ext cx="1260000" cy="144000"/>
          </a:xfrm>
          <a:prstGeom prst="rect">
            <a:avLst/>
          </a:prstGeom>
          <a:noFill/>
        </p:spPr>
        <p:txBody>
          <a:bodyPr wrap="none">
            <a:spAutoFit/>
          </a:bodyPr>
          <a:lstStyle/>
          <a:p>
            <a:pPr algn="ctr"/>
            <a:r>
              <a:rPr sz="750" b="0">
                <a:solidFill>
                  <a:srgbClr val="53565A"/>
                </a:solidFill>
                <a:latin typeface="Helvetica"/>
              </a:rPr>
              <a:t>barème CGRAE</a:t>
            </a:r>
          </a:p>
        </p:txBody>
      </p:sp>
      <p:sp>
        <p:nvSpPr>
          <p:cNvPr id="38" name="Rectangle 37"/>
          <p:cNvSpPr/>
          <p:nvPr/>
        </p:nvSpPr>
        <p:spPr>
          <a:xfrm>
            <a:off x="6696000" y="1422000"/>
            <a:ext cx="5040000" cy="1800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50" b="1">
                <a:solidFill>
                  <a:srgbClr val="FFFFFF"/>
                </a:solidFill>
                <a:latin typeface="Helvetica"/>
              </a:rPr>
              <a:t>Garanties</a:t>
            </a:r>
          </a:p>
        </p:txBody>
      </p:sp>
      <p:sp>
        <p:nvSpPr>
          <p:cNvPr id="39" name="Nav Maladie">
            <a:hlinkClick action="ppaction://hlinksldjump" r:id="rId7"/>
          </p:cNvPr>
          <p:cNvSpPr/>
          <p:nvPr/>
        </p:nvSpPr>
        <p:spPr>
          <a:xfrm>
            <a:off x="6696000" y="1620000"/>
            <a:ext cx="1632000" cy="259200"/>
          </a:xfrm>
          <a:prstGeom prst="rect">
            <a:avLst/>
          </a:prstGeom>
          <a:solidFill>
            <a:srgbClr val="FFFFFF"/>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00" b="1">
                <a:solidFill>
                  <a:srgbClr val="C00000"/>
                </a:solidFill>
                <a:latin typeface="Helvetica"/>
              </a:rPr>
              <a:t>● </a:t>
            </a:r>
            <a:r>
              <a:rPr sz="950" b="1">
                <a:solidFill>
                  <a:srgbClr val="060606"/>
                </a:solidFill>
                <a:latin typeface="Helvetica"/>
              </a:rPr>
              <a:t>Maladie</a:t>
            </a:r>
            <a:r>
              <a:rPr sz="850" b="0">
                <a:solidFill>
                  <a:srgbClr val="53565A"/>
                </a:solidFill>
                <a:latin typeface="Helvetica"/>
              </a:rPr>
              <a:t>  (6)</a:t>
            </a:r>
          </a:p>
        </p:txBody>
      </p:sp>
      <p:sp>
        <p:nvSpPr>
          <p:cNvPr id="40" name="Nav Décès">
            <a:hlinkClick action="ppaction://hlinksldjump" r:id="rId8"/>
          </p:cNvPr>
          <p:cNvSpPr/>
          <p:nvPr/>
        </p:nvSpPr>
        <p:spPr>
          <a:xfrm>
            <a:off x="8400000" y="1620000"/>
            <a:ext cx="1632000" cy="259200"/>
          </a:xfrm>
          <a:prstGeom prst="rect">
            <a:avLst/>
          </a:prstGeom>
          <a:solidFill>
            <a:srgbClr val="FFFFFF"/>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00" b="1">
                <a:solidFill>
                  <a:srgbClr val="ED7D31"/>
                </a:solidFill>
                <a:latin typeface="Helvetica"/>
              </a:rPr>
              <a:t>● </a:t>
            </a:r>
            <a:r>
              <a:rPr sz="950" b="1">
                <a:solidFill>
                  <a:srgbClr val="060606"/>
                </a:solidFill>
                <a:latin typeface="Helvetica"/>
              </a:rPr>
              <a:t>Décès</a:t>
            </a:r>
            <a:r>
              <a:rPr sz="850" b="0">
                <a:solidFill>
                  <a:srgbClr val="53565A"/>
                </a:solidFill>
                <a:latin typeface="Helvetica"/>
              </a:rPr>
              <a:t>  (7)</a:t>
            </a:r>
          </a:p>
        </p:txBody>
      </p:sp>
      <p:sp>
        <p:nvSpPr>
          <p:cNvPr id="41" name="Nav Retraités (CGRAE)">
            <a:hlinkClick action="ppaction://hlinksldjump" r:id="rId9"/>
          </p:cNvPr>
          <p:cNvSpPr/>
          <p:nvPr/>
        </p:nvSpPr>
        <p:spPr>
          <a:xfrm>
            <a:off x="10104000" y="1620000"/>
            <a:ext cx="1632000" cy="259200"/>
          </a:xfrm>
          <a:prstGeom prst="rect">
            <a:avLst/>
          </a:prstGeom>
          <a:solidFill>
            <a:srgbClr val="FFFFFF"/>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00" b="1">
                <a:solidFill>
                  <a:srgbClr val="ED7D31"/>
                </a:solidFill>
                <a:latin typeface="Helvetica"/>
              </a:rPr>
              <a:t>● </a:t>
            </a:r>
            <a:r>
              <a:rPr sz="950" b="1">
                <a:solidFill>
                  <a:srgbClr val="060606"/>
                </a:solidFill>
                <a:latin typeface="Helvetica"/>
              </a:rPr>
              <a:t>Retraités (CGRAE)</a:t>
            </a:r>
            <a:r>
              <a:rPr sz="850" b="0">
                <a:solidFill>
                  <a:srgbClr val="53565A"/>
                </a:solidFill>
                <a:latin typeface="Helvetica"/>
              </a:rPr>
              <a:t>  (5)</a:t>
            </a:r>
          </a:p>
        </p:txBody>
      </p:sp>
      <p:sp>
        <p:nvSpPr>
          <p:cNvPr id="42" name="Rectangle 41"/>
          <p:cNvSpPr/>
          <p:nvPr/>
        </p:nvSpPr>
        <p:spPr>
          <a:xfrm>
            <a:off x="6696000" y="1980000"/>
            <a:ext cx="5040000" cy="1800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50" b="1">
                <a:solidFill>
                  <a:srgbClr val="FFFFFF"/>
                </a:solidFill>
                <a:latin typeface="Helvetica"/>
              </a:rPr>
              <a:t>Épargne</a:t>
            </a:r>
          </a:p>
        </p:txBody>
      </p:sp>
      <p:sp>
        <p:nvSpPr>
          <p:cNvPr id="43" name="Nav EFC">
            <a:hlinkClick action="ppaction://hlinksldjump" r:id="rId10"/>
          </p:cNvPr>
          <p:cNvSpPr/>
          <p:nvPr/>
        </p:nvSpPr>
        <p:spPr>
          <a:xfrm>
            <a:off x="6696000" y="2178000"/>
            <a:ext cx="2484000" cy="259200"/>
          </a:xfrm>
          <a:prstGeom prst="rect">
            <a:avLst/>
          </a:prstGeom>
          <a:solidFill>
            <a:srgbClr val="FFFFFF"/>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00" b="1">
                <a:solidFill>
                  <a:srgbClr val="C00000"/>
                </a:solidFill>
                <a:latin typeface="Helvetica"/>
              </a:rPr>
              <a:t>● </a:t>
            </a:r>
            <a:r>
              <a:rPr sz="950" b="1">
                <a:solidFill>
                  <a:srgbClr val="060606"/>
                </a:solidFill>
                <a:latin typeface="Helvetica"/>
              </a:rPr>
              <a:t>EFC</a:t>
            </a:r>
            <a:r>
              <a:rPr sz="850" b="0">
                <a:solidFill>
                  <a:srgbClr val="53565A"/>
                </a:solidFill>
                <a:latin typeface="Helvetica"/>
              </a:rPr>
              <a:t>  (6)</a:t>
            </a:r>
          </a:p>
        </p:txBody>
      </p:sp>
      <p:sp>
        <p:nvSpPr>
          <p:cNvPr id="44" name="Nav PEP">
            <a:hlinkClick action="ppaction://hlinksldjump" r:id="rId11"/>
          </p:cNvPr>
          <p:cNvSpPr/>
          <p:nvPr/>
        </p:nvSpPr>
        <p:spPr>
          <a:xfrm>
            <a:off x="9252000" y="2178000"/>
            <a:ext cx="2484000" cy="259200"/>
          </a:xfrm>
          <a:prstGeom prst="rect">
            <a:avLst/>
          </a:prstGeom>
          <a:solidFill>
            <a:srgbClr val="FFFFFF"/>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00" b="1">
                <a:solidFill>
                  <a:srgbClr val="C00000"/>
                </a:solidFill>
                <a:latin typeface="Helvetica"/>
              </a:rPr>
              <a:t>● </a:t>
            </a:r>
            <a:r>
              <a:rPr sz="950" b="1">
                <a:solidFill>
                  <a:srgbClr val="060606"/>
                </a:solidFill>
                <a:latin typeface="Helvetica"/>
              </a:rPr>
              <a:t>PEP</a:t>
            </a:r>
            <a:r>
              <a:rPr sz="850" b="0">
                <a:solidFill>
                  <a:srgbClr val="53565A"/>
                </a:solidFill>
                <a:latin typeface="Helvetica"/>
              </a:rPr>
              <a:t>  (4)</a:t>
            </a:r>
          </a:p>
        </p:txBody>
      </p:sp>
      <p:sp>
        <p:nvSpPr>
          <p:cNvPr id="45" name="Rectangle 44"/>
          <p:cNvSpPr/>
          <p:nvPr/>
        </p:nvSpPr>
        <p:spPr>
          <a:xfrm>
            <a:off x="6696000" y="2538000"/>
            <a:ext cx="5040000" cy="1800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50" b="1">
                <a:solidFill>
                  <a:srgbClr val="FFFFFF"/>
                </a:solidFill>
                <a:latin typeface="Helvetica"/>
              </a:rPr>
              <a:t>Services aux policiers</a:t>
            </a:r>
          </a:p>
        </p:txBody>
      </p:sp>
      <p:sp>
        <p:nvSpPr>
          <p:cNvPr id="46" name="Nav Grenier">
            <a:hlinkClick action="ppaction://hlinksldjump" r:id="rId12"/>
          </p:cNvPr>
          <p:cNvSpPr/>
          <p:nvPr/>
        </p:nvSpPr>
        <p:spPr>
          <a:xfrm>
            <a:off x="6696000" y="2736000"/>
            <a:ext cx="2484000" cy="259200"/>
          </a:xfrm>
          <a:prstGeom prst="rect">
            <a:avLst/>
          </a:prstGeom>
          <a:solidFill>
            <a:srgbClr val="FFFFFF"/>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00" b="1">
                <a:solidFill>
                  <a:srgbClr val="ED7D31"/>
                </a:solidFill>
                <a:latin typeface="Helvetica"/>
              </a:rPr>
              <a:t>● </a:t>
            </a:r>
            <a:r>
              <a:rPr sz="950" b="1">
                <a:solidFill>
                  <a:srgbClr val="060606"/>
                </a:solidFill>
                <a:latin typeface="Helvetica"/>
              </a:rPr>
              <a:t>Grenier</a:t>
            </a:r>
            <a:r>
              <a:rPr sz="850" b="0">
                <a:solidFill>
                  <a:srgbClr val="53565A"/>
                </a:solidFill>
                <a:latin typeface="Helvetica"/>
              </a:rPr>
              <a:t>  (4)</a:t>
            </a:r>
          </a:p>
        </p:txBody>
      </p:sp>
      <p:sp>
        <p:nvSpPr>
          <p:cNvPr id="47" name="Nav Flotte automobile">
            <a:hlinkClick action="ppaction://hlinksldjump" r:id="rId13"/>
          </p:cNvPr>
          <p:cNvSpPr/>
          <p:nvPr/>
        </p:nvSpPr>
        <p:spPr>
          <a:xfrm>
            <a:off x="9252000" y="2736000"/>
            <a:ext cx="2484000" cy="259200"/>
          </a:xfrm>
          <a:prstGeom prst="rect">
            <a:avLst/>
          </a:prstGeom>
          <a:solidFill>
            <a:srgbClr val="FFFFFF"/>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00" b="1">
                <a:solidFill>
                  <a:srgbClr val="FFC000"/>
                </a:solidFill>
                <a:latin typeface="Helvetica"/>
              </a:rPr>
              <a:t>● </a:t>
            </a:r>
            <a:r>
              <a:rPr sz="950" b="1">
                <a:solidFill>
                  <a:srgbClr val="060606"/>
                </a:solidFill>
                <a:latin typeface="Helvetica"/>
              </a:rPr>
              <a:t>Flotte automobile</a:t>
            </a:r>
            <a:r>
              <a:rPr sz="850" b="0">
                <a:solidFill>
                  <a:srgbClr val="53565A"/>
                </a:solidFill>
                <a:latin typeface="Helvetica"/>
              </a:rPr>
              <a:t>  (3)</a:t>
            </a:r>
          </a:p>
        </p:txBody>
      </p:sp>
      <p:sp>
        <p:nvSpPr>
          <p:cNvPr id="48" name="Nav MEDOC">
            <a:hlinkClick action="ppaction://hlinksldjump" r:id="rId11"/>
          </p:cNvPr>
          <p:cNvSpPr/>
          <p:nvPr/>
        </p:nvSpPr>
        <p:spPr>
          <a:xfrm>
            <a:off x="6696000" y="3024000"/>
            <a:ext cx="2484000" cy="259200"/>
          </a:xfrm>
          <a:prstGeom prst="rect">
            <a:avLst/>
          </a:prstGeom>
          <a:solidFill>
            <a:srgbClr val="FFFFFF"/>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00" b="1">
                <a:solidFill>
                  <a:srgbClr val="ED7D31"/>
                </a:solidFill>
                <a:latin typeface="Helvetica"/>
              </a:rPr>
              <a:t>● </a:t>
            </a:r>
            <a:r>
              <a:rPr sz="950" b="1">
                <a:solidFill>
                  <a:srgbClr val="060606"/>
                </a:solidFill>
                <a:latin typeface="Helvetica"/>
              </a:rPr>
              <a:t>MEDOC</a:t>
            </a:r>
            <a:r>
              <a:rPr sz="850" b="0">
                <a:solidFill>
                  <a:srgbClr val="53565A"/>
                </a:solidFill>
                <a:latin typeface="Helvetica"/>
              </a:rPr>
              <a:t>  (2)</a:t>
            </a:r>
          </a:p>
        </p:txBody>
      </p:sp>
      <p:sp>
        <p:nvSpPr>
          <p:cNvPr id="49" name="Nav Clinique (CMP)">
            <a:hlinkClick action="ppaction://hlinksldjump" r:id="rId13"/>
          </p:cNvPr>
          <p:cNvSpPr/>
          <p:nvPr/>
        </p:nvSpPr>
        <p:spPr>
          <a:xfrm>
            <a:off x="9252000" y="3024000"/>
            <a:ext cx="2484000" cy="259200"/>
          </a:xfrm>
          <a:prstGeom prst="rect">
            <a:avLst/>
          </a:prstGeom>
          <a:solidFill>
            <a:srgbClr val="FFFFFF"/>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00" b="1">
                <a:solidFill>
                  <a:srgbClr val="ED7D31"/>
                </a:solidFill>
                <a:latin typeface="Helvetica"/>
              </a:rPr>
              <a:t>● </a:t>
            </a:r>
            <a:r>
              <a:rPr sz="950" b="1">
                <a:solidFill>
                  <a:srgbClr val="060606"/>
                </a:solidFill>
                <a:latin typeface="Helvetica"/>
              </a:rPr>
              <a:t>Clinique (CMP)</a:t>
            </a:r>
            <a:r>
              <a:rPr sz="850" b="0">
                <a:solidFill>
                  <a:srgbClr val="53565A"/>
                </a:solidFill>
                <a:latin typeface="Helvetica"/>
              </a:rPr>
              <a:t>  (2)</a:t>
            </a:r>
          </a:p>
        </p:txBody>
      </p:sp>
      <p:cxnSp>
        <p:nvCxnSpPr>
          <p:cNvPr id="50" name="Connector 49"/>
          <p:cNvCxnSpPr/>
          <p:nvPr/>
        </p:nvCxnSpPr>
        <p:spPr>
          <a:xfrm flipV="1">
            <a:off x="5364000" y="1745999"/>
            <a:ext cx="1332000" cy="270000"/>
          </a:xfrm>
          <a:prstGeom prst="line">
            <a:avLst/>
          </a:prstGeom>
          <a:ln w="22225">
            <a:solidFill>
              <a:srgbClr val="53565A"/>
            </a:solidFill>
            <a:tailEnd type="triangle"/>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5364000" y="1683000"/>
            <a:ext cx="1404000" cy="144000"/>
          </a:xfrm>
          <a:prstGeom prst="rect">
            <a:avLst/>
          </a:prstGeom>
          <a:noFill/>
        </p:spPr>
        <p:txBody>
          <a:bodyPr wrap="none">
            <a:spAutoFit/>
          </a:bodyPr>
          <a:lstStyle/>
          <a:p>
            <a:pPr algn="ctr"/>
            <a:r>
              <a:rPr sz="750" b="0">
                <a:solidFill>
                  <a:srgbClr val="53565A"/>
                </a:solidFill>
                <a:latin typeface="Helvetica"/>
              </a:rPr>
              <a:t>soins, allocations</a:t>
            </a:r>
          </a:p>
        </p:txBody>
      </p:sp>
      <p:cxnSp>
        <p:nvCxnSpPr>
          <p:cNvPr id="52" name="Connector 51"/>
          <p:cNvCxnSpPr/>
          <p:nvPr/>
        </p:nvCxnSpPr>
        <p:spPr>
          <a:xfrm flipV="1">
            <a:off x="5364000" y="2304000"/>
            <a:ext cx="1332000" cy="126000"/>
          </a:xfrm>
          <a:prstGeom prst="line">
            <a:avLst/>
          </a:prstGeom>
          <a:ln w="22225">
            <a:solidFill>
              <a:srgbClr val="53565A"/>
            </a:solidFill>
            <a:tailEnd type="triangle"/>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5364000" y="2187000"/>
            <a:ext cx="1404000" cy="144000"/>
          </a:xfrm>
          <a:prstGeom prst="rect">
            <a:avLst/>
          </a:prstGeom>
          <a:noFill/>
        </p:spPr>
        <p:txBody>
          <a:bodyPr wrap="none">
            <a:spAutoFit/>
          </a:bodyPr>
          <a:lstStyle/>
          <a:p>
            <a:pPr algn="ctr"/>
            <a:r>
              <a:rPr sz="750" b="0">
                <a:solidFill>
                  <a:srgbClr val="53565A"/>
                </a:solidFill>
                <a:latin typeface="Helvetica"/>
              </a:rPr>
              <a:t>remboursement de l'épargne</a:t>
            </a:r>
          </a:p>
        </p:txBody>
      </p:sp>
      <p:cxnSp>
        <p:nvCxnSpPr>
          <p:cNvPr id="54" name="Connector 53"/>
          <p:cNvCxnSpPr/>
          <p:nvPr/>
        </p:nvCxnSpPr>
        <p:spPr>
          <a:xfrm>
            <a:off x="5364000" y="2844000"/>
            <a:ext cx="1332000" cy="162000"/>
          </a:xfrm>
          <a:prstGeom prst="line">
            <a:avLst/>
          </a:prstGeom>
          <a:ln w="22225">
            <a:solidFill>
              <a:srgbClr val="53565A"/>
            </a:solidFill>
            <a:tailEnd type="triangle"/>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5364000" y="2961000"/>
            <a:ext cx="1404000" cy="144000"/>
          </a:xfrm>
          <a:prstGeom prst="rect">
            <a:avLst/>
          </a:prstGeom>
          <a:noFill/>
        </p:spPr>
        <p:txBody>
          <a:bodyPr wrap="none">
            <a:spAutoFit/>
          </a:bodyPr>
          <a:lstStyle/>
          <a:p>
            <a:pPr algn="ctr"/>
            <a:r>
              <a:rPr sz="750" b="0">
                <a:solidFill>
                  <a:srgbClr val="53565A"/>
                </a:solidFill>
                <a:latin typeface="Helvetica"/>
              </a:rPr>
              <a:t>prêts, assurance, soins</a:t>
            </a:r>
          </a:p>
        </p:txBody>
      </p:sp>
      <p:sp>
        <p:nvSpPr>
          <p:cNvPr id="56" name="Rectangle 55"/>
          <p:cNvSpPr/>
          <p:nvPr/>
        </p:nvSpPr>
        <p:spPr>
          <a:xfrm>
            <a:off x="503999" y="3726000"/>
            <a:ext cx="11232000" cy="198000"/>
          </a:xfrm>
          <a:prstGeom prst="rect">
            <a:avLst/>
          </a:prstGeom>
          <a:solidFill>
            <a:srgbClr val="53565A"/>
          </a:solidFill>
          <a:ln w="952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50" b="1">
                <a:solidFill>
                  <a:srgbClr val="FFFFFF"/>
                </a:solidFill>
                <a:latin typeface="Helvetica"/>
              </a:rPr>
              <a:t>Fonctions transverses</a:t>
            </a:r>
          </a:p>
        </p:txBody>
      </p:sp>
      <p:sp>
        <p:nvSpPr>
          <p:cNvPr id="57" name="Nav Cotisations et précomptes">
            <a:hlinkClick action="ppaction://hlinksldjump" r:id="rId14"/>
          </p:cNvPr>
          <p:cNvSpPr/>
          <p:nvPr/>
        </p:nvSpPr>
        <p:spPr>
          <a:xfrm>
            <a:off x="503999" y="3978000"/>
            <a:ext cx="2131200" cy="259200"/>
          </a:xfrm>
          <a:prstGeom prst="rect">
            <a:avLst/>
          </a:prstGeom>
          <a:solidFill>
            <a:srgbClr val="FFFFFF"/>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00" b="1">
                <a:solidFill>
                  <a:srgbClr val="ED7D31"/>
                </a:solidFill>
                <a:latin typeface="Helvetica"/>
              </a:rPr>
              <a:t>● </a:t>
            </a:r>
            <a:r>
              <a:rPr sz="950" b="1">
                <a:solidFill>
                  <a:srgbClr val="060606"/>
                </a:solidFill>
                <a:latin typeface="Helvetica"/>
              </a:rPr>
              <a:t>Cotisations et précomptes</a:t>
            </a:r>
            <a:r>
              <a:rPr sz="850" b="0">
                <a:solidFill>
                  <a:srgbClr val="53565A"/>
                </a:solidFill>
                <a:latin typeface="Helvetica"/>
              </a:rPr>
              <a:t>  (5)</a:t>
            </a:r>
          </a:p>
        </p:txBody>
      </p:sp>
      <p:sp>
        <p:nvSpPr>
          <p:cNvPr id="58" name="Nav Comptabilité et provisions">
            <a:hlinkClick action="ppaction://hlinksldjump" r:id="rId15"/>
          </p:cNvPr>
          <p:cNvSpPr/>
          <p:nvPr/>
        </p:nvSpPr>
        <p:spPr>
          <a:xfrm>
            <a:off x="2779200" y="3978000"/>
            <a:ext cx="2131200" cy="259200"/>
          </a:xfrm>
          <a:prstGeom prst="rect">
            <a:avLst/>
          </a:prstGeom>
          <a:solidFill>
            <a:srgbClr val="FFFFFF"/>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00" b="1">
                <a:solidFill>
                  <a:srgbClr val="C00000"/>
                </a:solidFill>
                <a:latin typeface="Helvetica"/>
              </a:rPr>
              <a:t>● </a:t>
            </a:r>
            <a:r>
              <a:rPr sz="950" b="1">
                <a:solidFill>
                  <a:srgbClr val="060606"/>
                </a:solidFill>
                <a:latin typeface="Helvetica"/>
              </a:rPr>
              <a:t>Comptabilité et provisions</a:t>
            </a:r>
            <a:r>
              <a:rPr sz="850" b="0">
                <a:solidFill>
                  <a:srgbClr val="53565A"/>
                </a:solidFill>
                <a:latin typeface="Helvetica"/>
              </a:rPr>
              <a:t>  (6)</a:t>
            </a:r>
          </a:p>
        </p:txBody>
      </p:sp>
      <p:sp>
        <p:nvSpPr>
          <p:cNvPr id="59" name="Nav Trésorerie et placements">
            <a:hlinkClick action="ppaction://hlinksldjump" r:id="rId16"/>
          </p:cNvPr>
          <p:cNvSpPr/>
          <p:nvPr/>
        </p:nvSpPr>
        <p:spPr>
          <a:xfrm>
            <a:off x="5054400" y="3978000"/>
            <a:ext cx="2131200" cy="259200"/>
          </a:xfrm>
          <a:prstGeom prst="rect">
            <a:avLst/>
          </a:prstGeom>
          <a:solidFill>
            <a:srgbClr val="FFFFFF"/>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00" b="1">
                <a:solidFill>
                  <a:srgbClr val="C00000"/>
                </a:solidFill>
                <a:latin typeface="Helvetica"/>
              </a:rPr>
              <a:t>● </a:t>
            </a:r>
            <a:r>
              <a:rPr sz="950" b="1">
                <a:solidFill>
                  <a:srgbClr val="060606"/>
                </a:solidFill>
                <a:latin typeface="Helvetica"/>
              </a:rPr>
              <a:t>Trésorerie et placements</a:t>
            </a:r>
            <a:r>
              <a:rPr sz="850" b="0">
                <a:solidFill>
                  <a:srgbClr val="53565A"/>
                </a:solidFill>
                <a:latin typeface="Helvetica"/>
              </a:rPr>
              <a:t>  (6)</a:t>
            </a:r>
          </a:p>
        </p:txBody>
      </p:sp>
      <p:sp>
        <p:nvSpPr>
          <p:cNvPr id="60" name="Nav Gouvernance">
            <a:hlinkClick action="ppaction://hlinksldjump" r:id="rId17"/>
          </p:cNvPr>
          <p:cNvSpPr/>
          <p:nvPr/>
        </p:nvSpPr>
        <p:spPr>
          <a:xfrm>
            <a:off x="7329600" y="3978000"/>
            <a:ext cx="2131200" cy="259200"/>
          </a:xfrm>
          <a:prstGeom prst="rect">
            <a:avLst/>
          </a:prstGeom>
          <a:solidFill>
            <a:srgbClr val="FFFFFF"/>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00" b="1">
                <a:solidFill>
                  <a:srgbClr val="C00000"/>
                </a:solidFill>
                <a:latin typeface="Helvetica"/>
              </a:rPr>
              <a:t>● </a:t>
            </a:r>
            <a:r>
              <a:rPr sz="950" b="1">
                <a:solidFill>
                  <a:srgbClr val="060606"/>
                </a:solidFill>
                <a:latin typeface="Helvetica"/>
              </a:rPr>
              <a:t>Gouvernance</a:t>
            </a:r>
            <a:r>
              <a:rPr sz="850" b="0">
                <a:solidFill>
                  <a:srgbClr val="53565A"/>
                </a:solidFill>
                <a:latin typeface="Helvetica"/>
              </a:rPr>
              <a:t>  (4)</a:t>
            </a:r>
          </a:p>
        </p:txBody>
      </p:sp>
      <p:sp>
        <p:nvSpPr>
          <p:cNvPr id="61" name="Nav Données et informatique">
            <a:hlinkClick action="ppaction://hlinksldjump" r:id="rId18"/>
          </p:cNvPr>
          <p:cNvSpPr/>
          <p:nvPr/>
        </p:nvSpPr>
        <p:spPr>
          <a:xfrm>
            <a:off x="9604800" y="3978000"/>
            <a:ext cx="2131200" cy="259200"/>
          </a:xfrm>
          <a:prstGeom prst="rect">
            <a:avLst/>
          </a:prstGeom>
          <a:solidFill>
            <a:srgbClr val="FFFFFF"/>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00" b="1">
                <a:solidFill>
                  <a:srgbClr val="ED7D31"/>
                </a:solidFill>
                <a:latin typeface="Helvetica"/>
              </a:rPr>
              <a:t>● </a:t>
            </a:r>
            <a:r>
              <a:rPr sz="950" b="1">
                <a:solidFill>
                  <a:srgbClr val="060606"/>
                </a:solidFill>
                <a:latin typeface="Helvetica"/>
              </a:rPr>
              <a:t>Données et informatique</a:t>
            </a:r>
            <a:r>
              <a:rPr sz="850" b="0">
                <a:solidFill>
                  <a:srgbClr val="53565A"/>
                </a:solidFill>
                <a:latin typeface="Helvetica"/>
              </a:rPr>
              <a:t>  (4)</a:t>
            </a:r>
          </a:p>
        </p:txBody>
      </p:sp>
      <p:sp>
        <p:nvSpPr>
          <p:cNvPr id="62" name="TextBox 61"/>
          <p:cNvSpPr txBox="1"/>
          <p:nvPr/>
        </p:nvSpPr>
        <p:spPr>
          <a:xfrm>
            <a:off x="503999" y="4374000"/>
            <a:ext cx="11232000" cy="1224000"/>
          </a:xfrm>
          <a:prstGeom prst="rect">
            <a:avLst/>
          </a:prstGeom>
          <a:noFill/>
        </p:spPr>
        <p:txBody>
          <a:bodyPr wrap="square">
            <a:spAutoFit/>
          </a:bodyPr>
          <a:lstStyle/>
          <a:p>
            <a:pPr>
              <a:spcAft>
                <a:spcPts val="400"/>
              </a:spcAft>
            </a:pPr>
            <a:r>
              <a:rPr sz="1100" b="1">
                <a:solidFill>
                  <a:srgbClr val="060606"/>
                </a:solidFill>
                <a:latin typeface="Helvetica"/>
              </a:rPr>
              <a:t>Comment lire. </a:t>
            </a:r>
            <a:r>
              <a:rPr sz="1100" b="0">
                <a:solidFill>
                  <a:srgbClr val="060606"/>
                </a:solidFill>
                <a:latin typeface="Helvetica"/>
              </a:rPr>
              <a:t>Cliquez sur une activité pour ouvrir sa fiche, et sur « ↩ Carte des activités » pour revenir ici. Chaque activité porte une boule de la couleur de son constat le plus grave et, entre parenthèses, son nombre de constats. Les flèches suivent l'argent : il entre par les prélèvements sur la solde et sur la pension, il sort en prestations, en remboursements d'épargne et en services.</a:t>
            </a:r>
          </a:p>
          <a:p>
            <a:pPr>
              <a:spcAft>
                <a:spcPts val="400"/>
              </a:spcAft>
            </a:pPr>
            <a:r>
              <a:rPr sz="1100" b="1">
                <a:solidFill>
                  <a:srgbClr val="060606"/>
                </a:solidFill>
                <a:latin typeface="Helvetica"/>
              </a:rPr>
              <a:t>Ce que montre la carte. </a:t>
            </a:r>
            <a:r>
              <a:rPr sz="1100" b="0">
                <a:solidFill>
                  <a:srgbClr val="060606"/>
                </a:solidFill>
                <a:latin typeface="Helvetica"/>
              </a:rPr>
              <a:t>Les activités les plus exposées touchent à l'épargne (EFC, PEP, trésorerie et placements) et aux règles de solidité (gouvernance, comptabilité et provisions). Les services aux policiers posent surtout la question de l'épargne qu'ils immobilisent (Grenier, clinique) et de leurs documents.</a:t>
            </a:r>
          </a:p>
        </p:txBody>
      </p:sp>
      <p:sp>
        <p:nvSpPr>
          <p:cNvPr id="63" name="TextBox 62"/>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 | PEP : Plan Épargne Plus | EFC : entraide fin de carrière | CMP : Clinique médicale du policier | MEDOC : produit santé complémentaire du poste 8Z7</a:t>
            </a:r>
          </a:p>
        </p:txBody>
      </p:sp>
    </p:spTree>
    <p:extLst>
      <p:ext uri="{BB962C8B-B14F-4D97-AF65-F5344CB8AC3E}">
        <p14:creationId xmlns:p14="http://schemas.microsoft.com/office/powerpoint/2010/main" val="2869412203"/>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Activités et types de constats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manques de données touchent 9 activités sur 14, les constats critiques portent sur l'épargne et la solidité</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Matrice des 14 activités et des cinq types de constats : données, comptabilité, actuariel, conformité, gouvernance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rapport actuariel et statistique du 23/10/2026. Analyses Adenka</a:t>
            </a:r>
          </a:p>
        </p:txBody>
      </p:sp>
      <p:sp>
        <p:nvSpPr>
          <p:cNvPr id="31" name="Rectangle 30"/>
          <p:cNvSpPr/>
          <p:nvPr/>
        </p:nvSpPr>
        <p:spPr>
          <a:xfrm>
            <a:off x="503999" y="1422000"/>
            <a:ext cx="2304000" cy="2232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FFFFFF"/>
                </a:solidFill>
                <a:latin typeface="Helvetica"/>
              </a:rPr>
              <a:t>Activité</a:t>
            </a:r>
          </a:p>
        </p:txBody>
      </p:sp>
      <p:sp>
        <p:nvSpPr>
          <p:cNvPr id="32" name="Rectangle 31"/>
          <p:cNvSpPr/>
          <p:nvPr/>
        </p:nvSpPr>
        <p:spPr>
          <a:xfrm>
            <a:off x="2808000" y="1422000"/>
            <a:ext cx="1404000" cy="2232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FFFFFF"/>
                </a:solidFill>
                <a:latin typeface="Helvetica"/>
              </a:rPr>
              <a:t>Données</a:t>
            </a:r>
          </a:p>
        </p:txBody>
      </p:sp>
      <p:sp>
        <p:nvSpPr>
          <p:cNvPr id="33" name="Rectangle 32"/>
          <p:cNvSpPr/>
          <p:nvPr/>
        </p:nvSpPr>
        <p:spPr>
          <a:xfrm>
            <a:off x="4212000" y="1422000"/>
            <a:ext cx="1404000" cy="2232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FFFFFF"/>
                </a:solidFill>
                <a:latin typeface="Helvetica"/>
              </a:rPr>
              <a:t>Comptabilité</a:t>
            </a:r>
          </a:p>
        </p:txBody>
      </p:sp>
      <p:sp>
        <p:nvSpPr>
          <p:cNvPr id="34" name="Rectangle 33"/>
          <p:cNvSpPr/>
          <p:nvPr/>
        </p:nvSpPr>
        <p:spPr>
          <a:xfrm>
            <a:off x="5616000" y="1422000"/>
            <a:ext cx="1404000" cy="2232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FFFFFF"/>
                </a:solidFill>
                <a:latin typeface="Helvetica"/>
              </a:rPr>
              <a:t>Actuariel</a:t>
            </a:r>
          </a:p>
        </p:txBody>
      </p:sp>
      <p:sp>
        <p:nvSpPr>
          <p:cNvPr id="35" name="Rectangle 34"/>
          <p:cNvSpPr/>
          <p:nvPr/>
        </p:nvSpPr>
        <p:spPr>
          <a:xfrm>
            <a:off x="7020000" y="1422000"/>
            <a:ext cx="1404000" cy="2232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FFFFFF"/>
                </a:solidFill>
                <a:latin typeface="Helvetica"/>
              </a:rPr>
              <a:t>Conformité</a:t>
            </a:r>
          </a:p>
        </p:txBody>
      </p:sp>
      <p:sp>
        <p:nvSpPr>
          <p:cNvPr id="36" name="Rectangle 35"/>
          <p:cNvSpPr/>
          <p:nvPr/>
        </p:nvSpPr>
        <p:spPr>
          <a:xfrm>
            <a:off x="8424000" y="1422000"/>
            <a:ext cx="1404000" cy="2232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FFFFFF"/>
                </a:solidFill>
                <a:latin typeface="Helvetica"/>
              </a:rPr>
              <a:t>Gouvernance</a:t>
            </a:r>
          </a:p>
        </p:txBody>
      </p:sp>
      <p:sp>
        <p:nvSpPr>
          <p:cNvPr id="37" name="Rectangle 36"/>
          <p:cNvSpPr/>
          <p:nvPr/>
        </p:nvSpPr>
        <p:spPr>
          <a:xfrm>
            <a:off x="9827999" y="1422000"/>
            <a:ext cx="1908000" cy="2232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FFFFFF"/>
                </a:solidFill>
                <a:latin typeface="Helvetica"/>
              </a:rPr>
              <a:t>Total</a:t>
            </a:r>
          </a:p>
        </p:txBody>
      </p:sp>
      <p:sp>
        <p:nvSpPr>
          <p:cNvPr id="38" name="Nav Maladie">
            <a:hlinkClick action="ppaction://hlinksldjump" r:id="rId7"/>
          </p:cNvPr>
          <p:cNvSpPr/>
          <p:nvPr/>
        </p:nvSpPr>
        <p:spPr>
          <a:xfrm>
            <a:off x="503999" y="1645200"/>
            <a:ext cx="2304000" cy="266400"/>
          </a:xfrm>
          <a:prstGeom prst="rect">
            <a:avLst/>
          </a:prstGeom>
          <a:solidFill>
            <a:srgbClr val="F2F2F2"/>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00" b="1">
                <a:solidFill>
                  <a:srgbClr val="060606"/>
                </a:solidFill>
                <a:latin typeface="Helvetica"/>
              </a:rPr>
              <a:t>Maladie</a:t>
            </a:r>
          </a:p>
        </p:txBody>
      </p:sp>
      <p:sp>
        <p:nvSpPr>
          <p:cNvPr id="39" name="Rectangle 38"/>
          <p:cNvSpPr/>
          <p:nvPr/>
        </p:nvSpPr>
        <p:spPr>
          <a:xfrm>
            <a:off x="2808000" y="1645200"/>
            <a:ext cx="1404000" cy="266400"/>
          </a:xfrm>
          <a:prstGeom prst="rect">
            <a:avLst/>
          </a:prstGeom>
          <a:solidFill>
            <a:srgbClr val="FFF2CC"/>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FFC000"/>
                </a:solidFill>
                <a:latin typeface="Helvetica"/>
              </a:rPr>
              <a:t>● </a:t>
            </a:r>
            <a:r>
              <a:rPr sz="950" b="1">
                <a:solidFill>
                  <a:srgbClr val="060606"/>
                </a:solidFill>
                <a:latin typeface="Helvetica"/>
              </a:rPr>
              <a:t>2</a:t>
            </a:r>
          </a:p>
        </p:txBody>
      </p:sp>
      <p:sp>
        <p:nvSpPr>
          <p:cNvPr id="40" name="Rectangle 39"/>
          <p:cNvSpPr/>
          <p:nvPr/>
        </p:nvSpPr>
        <p:spPr>
          <a:xfrm>
            <a:off x="4212000" y="1645200"/>
            <a:ext cx="1404000" cy="266400"/>
          </a:xfrm>
          <a:prstGeom prst="rect">
            <a:avLst/>
          </a:prstGeom>
          <a:solidFill>
            <a:srgbClr val="FCE5CD"/>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ED7D31"/>
                </a:solidFill>
                <a:latin typeface="Helvetica"/>
              </a:rPr>
              <a:t>● </a:t>
            </a:r>
            <a:r>
              <a:rPr sz="950" b="1">
                <a:solidFill>
                  <a:srgbClr val="060606"/>
                </a:solidFill>
                <a:latin typeface="Helvetica"/>
              </a:rPr>
              <a:t>2</a:t>
            </a:r>
          </a:p>
        </p:txBody>
      </p:sp>
      <p:sp>
        <p:nvSpPr>
          <p:cNvPr id="41" name="Rectangle 40"/>
          <p:cNvSpPr/>
          <p:nvPr/>
        </p:nvSpPr>
        <p:spPr>
          <a:xfrm>
            <a:off x="5616000" y="1645200"/>
            <a:ext cx="1404000" cy="266400"/>
          </a:xfrm>
          <a:prstGeom prst="rect">
            <a:avLst/>
          </a:prstGeom>
          <a:solidFill>
            <a:srgbClr val="F4CCCC"/>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C00000"/>
                </a:solidFill>
                <a:latin typeface="Helvetica"/>
              </a:rPr>
              <a:t>● </a:t>
            </a:r>
            <a:r>
              <a:rPr sz="950" b="1">
                <a:solidFill>
                  <a:srgbClr val="060606"/>
                </a:solidFill>
                <a:latin typeface="Helvetica"/>
              </a:rPr>
              <a:t>2</a:t>
            </a:r>
          </a:p>
        </p:txBody>
      </p:sp>
      <p:sp>
        <p:nvSpPr>
          <p:cNvPr id="42" name="Rectangle 41"/>
          <p:cNvSpPr/>
          <p:nvPr/>
        </p:nvSpPr>
        <p:spPr>
          <a:xfrm>
            <a:off x="7020000" y="1645200"/>
            <a:ext cx="1404000" cy="266400"/>
          </a:xfrm>
          <a:prstGeom prst="rect">
            <a:avLst/>
          </a:prstGeom>
          <a:solidFill>
            <a:srgbClr val="FFF2CC"/>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FFC000"/>
                </a:solidFill>
                <a:latin typeface="Helvetica"/>
              </a:rPr>
              <a:t>● </a:t>
            </a:r>
            <a:r>
              <a:rPr sz="950" b="1">
                <a:solidFill>
                  <a:srgbClr val="060606"/>
                </a:solidFill>
                <a:latin typeface="Helvetica"/>
              </a:rPr>
              <a:t>1</a:t>
            </a:r>
          </a:p>
        </p:txBody>
      </p:sp>
      <p:sp>
        <p:nvSpPr>
          <p:cNvPr id="43" name="Rectangle 42"/>
          <p:cNvSpPr/>
          <p:nvPr/>
        </p:nvSpPr>
        <p:spPr>
          <a:xfrm>
            <a:off x="8424000" y="16452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44" name="Rectangle 43"/>
          <p:cNvSpPr/>
          <p:nvPr/>
        </p:nvSpPr>
        <p:spPr>
          <a:xfrm>
            <a:off x="9827999" y="1645200"/>
            <a:ext cx="1908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00" b="0">
                <a:solidFill>
                  <a:srgbClr val="060606"/>
                </a:solidFill>
                <a:latin typeface="Helvetica"/>
              </a:rPr>
              <a:t>6 constats</a:t>
            </a:r>
          </a:p>
        </p:txBody>
      </p:sp>
      <p:sp>
        <p:nvSpPr>
          <p:cNvPr id="45" name="Nav Décès">
            <a:hlinkClick action="ppaction://hlinksldjump" r:id="rId8"/>
          </p:cNvPr>
          <p:cNvSpPr/>
          <p:nvPr/>
        </p:nvSpPr>
        <p:spPr>
          <a:xfrm>
            <a:off x="503999" y="1911600"/>
            <a:ext cx="2304000" cy="266400"/>
          </a:xfrm>
          <a:prstGeom prst="rect">
            <a:avLst/>
          </a:prstGeom>
          <a:solidFill>
            <a:srgbClr val="F2F2F2"/>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00" b="1">
                <a:solidFill>
                  <a:srgbClr val="060606"/>
                </a:solidFill>
                <a:latin typeface="Helvetica"/>
              </a:rPr>
              <a:t>Décès</a:t>
            </a:r>
          </a:p>
        </p:txBody>
      </p:sp>
      <p:sp>
        <p:nvSpPr>
          <p:cNvPr id="46" name="Rectangle 45"/>
          <p:cNvSpPr/>
          <p:nvPr/>
        </p:nvSpPr>
        <p:spPr>
          <a:xfrm>
            <a:off x="2808000" y="1911600"/>
            <a:ext cx="1404000" cy="266400"/>
          </a:xfrm>
          <a:prstGeom prst="rect">
            <a:avLst/>
          </a:prstGeom>
          <a:solidFill>
            <a:srgbClr val="FFF2CC"/>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FFC000"/>
                </a:solidFill>
                <a:latin typeface="Helvetica"/>
              </a:rPr>
              <a:t>● </a:t>
            </a:r>
            <a:r>
              <a:rPr sz="950" b="1">
                <a:solidFill>
                  <a:srgbClr val="060606"/>
                </a:solidFill>
                <a:latin typeface="Helvetica"/>
              </a:rPr>
              <a:t>2</a:t>
            </a:r>
          </a:p>
        </p:txBody>
      </p:sp>
      <p:sp>
        <p:nvSpPr>
          <p:cNvPr id="47" name="Rectangle 46"/>
          <p:cNvSpPr/>
          <p:nvPr/>
        </p:nvSpPr>
        <p:spPr>
          <a:xfrm>
            <a:off x="4212000" y="1911600"/>
            <a:ext cx="1404000" cy="266400"/>
          </a:xfrm>
          <a:prstGeom prst="rect">
            <a:avLst/>
          </a:prstGeom>
          <a:solidFill>
            <a:srgbClr val="FCE5CD"/>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ED7D31"/>
                </a:solidFill>
                <a:latin typeface="Helvetica"/>
              </a:rPr>
              <a:t>● </a:t>
            </a:r>
            <a:r>
              <a:rPr sz="950" b="1">
                <a:solidFill>
                  <a:srgbClr val="060606"/>
                </a:solidFill>
                <a:latin typeface="Helvetica"/>
              </a:rPr>
              <a:t>5</a:t>
            </a:r>
          </a:p>
        </p:txBody>
      </p:sp>
      <p:sp>
        <p:nvSpPr>
          <p:cNvPr id="48" name="Rectangle 47"/>
          <p:cNvSpPr/>
          <p:nvPr/>
        </p:nvSpPr>
        <p:spPr>
          <a:xfrm>
            <a:off x="5616000" y="19116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49" name="Rectangle 48"/>
          <p:cNvSpPr/>
          <p:nvPr/>
        </p:nvSpPr>
        <p:spPr>
          <a:xfrm>
            <a:off x="7020000" y="1911600"/>
            <a:ext cx="1404000" cy="266400"/>
          </a:xfrm>
          <a:prstGeom prst="rect">
            <a:avLst/>
          </a:prstGeom>
          <a:solidFill>
            <a:srgbClr val="FCE5CD"/>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ED7D31"/>
                </a:solidFill>
                <a:latin typeface="Helvetica"/>
              </a:rPr>
              <a:t>● </a:t>
            </a:r>
            <a:r>
              <a:rPr sz="950" b="1">
                <a:solidFill>
                  <a:srgbClr val="060606"/>
                </a:solidFill>
                <a:latin typeface="Helvetica"/>
              </a:rPr>
              <a:t>1</a:t>
            </a:r>
          </a:p>
        </p:txBody>
      </p:sp>
      <p:sp>
        <p:nvSpPr>
          <p:cNvPr id="50" name="Rectangle 49"/>
          <p:cNvSpPr/>
          <p:nvPr/>
        </p:nvSpPr>
        <p:spPr>
          <a:xfrm>
            <a:off x="8424000" y="19116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51" name="Rectangle 50"/>
          <p:cNvSpPr/>
          <p:nvPr/>
        </p:nvSpPr>
        <p:spPr>
          <a:xfrm>
            <a:off x="9827999" y="1911600"/>
            <a:ext cx="1908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00" b="0">
                <a:solidFill>
                  <a:srgbClr val="060606"/>
                </a:solidFill>
                <a:latin typeface="Helvetica"/>
              </a:rPr>
              <a:t>7 constats</a:t>
            </a:r>
          </a:p>
        </p:txBody>
      </p:sp>
      <p:sp>
        <p:nvSpPr>
          <p:cNvPr id="52" name="Nav Retraités (CGRAE)">
            <a:hlinkClick action="ppaction://hlinksldjump" r:id="rId9"/>
          </p:cNvPr>
          <p:cNvSpPr/>
          <p:nvPr/>
        </p:nvSpPr>
        <p:spPr>
          <a:xfrm>
            <a:off x="503999" y="2178000"/>
            <a:ext cx="2304000" cy="266400"/>
          </a:xfrm>
          <a:prstGeom prst="rect">
            <a:avLst/>
          </a:prstGeom>
          <a:solidFill>
            <a:srgbClr val="F2F2F2"/>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00" b="1">
                <a:solidFill>
                  <a:srgbClr val="060606"/>
                </a:solidFill>
                <a:latin typeface="Helvetica"/>
              </a:rPr>
              <a:t>Retraités (CGRAE)</a:t>
            </a:r>
          </a:p>
        </p:txBody>
      </p:sp>
      <p:sp>
        <p:nvSpPr>
          <p:cNvPr id="53" name="Rectangle 52"/>
          <p:cNvSpPr/>
          <p:nvPr/>
        </p:nvSpPr>
        <p:spPr>
          <a:xfrm>
            <a:off x="2808000" y="2178000"/>
            <a:ext cx="1404000" cy="266400"/>
          </a:xfrm>
          <a:prstGeom prst="rect">
            <a:avLst/>
          </a:prstGeom>
          <a:solidFill>
            <a:srgbClr val="FFF2CC"/>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FFC000"/>
                </a:solidFill>
                <a:latin typeface="Helvetica"/>
              </a:rPr>
              <a:t>● </a:t>
            </a:r>
            <a:r>
              <a:rPr sz="950" b="1">
                <a:solidFill>
                  <a:srgbClr val="060606"/>
                </a:solidFill>
                <a:latin typeface="Helvetica"/>
              </a:rPr>
              <a:t>2</a:t>
            </a:r>
          </a:p>
        </p:txBody>
      </p:sp>
      <p:sp>
        <p:nvSpPr>
          <p:cNvPr id="54" name="Rectangle 53"/>
          <p:cNvSpPr/>
          <p:nvPr/>
        </p:nvSpPr>
        <p:spPr>
          <a:xfrm>
            <a:off x="4212000" y="2178000"/>
            <a:ext cx="1404000" cy="266400"/>
          </a:xfrm>
          <a:prstGeom prst="rect">
            <a:avLst/>
          </a:prstGeom>
          <a:solidFill>
            <a:srgbClr val="FFF2CC"/>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FFC000"/>
                </a:solidFill>
                <a:latin typeface="Helvetica"/>
              </a:rPr>
              <a:t>● </a:t>
            </a:r>
            <a:r>
              <a:rPr sz="950" b="1">
                <a:solidFill>
                  <a:srgbClr val="060606"/>
                </a:solidFill>
                <a:latin typeface="Helvetica"/>
              </a:rPr>
              <a:t>1</a:t>
            </a:r>
          </a:p>
        </p:txBody>
      </p:sp>
      <p:sp>
        <p:nvSpPr>
          <p:cNvPr id="55" name="Rectangle 54"/>
          <p:cNvSpPr/>
          <p:nvPr/>
        </p:nvSpPr>
        <p:spPr>
          <a:xfrm>
            <a:off x="5616000" y="2178000"/>
            <a:ext cx="1404000" cy="266400"/>
          </a:xfrm>
          <a:prstGeom prst="rect">
            <a:avLst/>
          </a:prstGeom>
          <a:solidFill>
            <a:srgbClr val="FCE5CD"/>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ED7D31"/>
                </a:solidFill>
                <a:latin typeface="Helvetica"/>
              </a:rPr>
              <a:t>● </a:t>
            </a:r>
            <a:r>
              <a:rPr sz="950" b="1">
                <a:solidFill>
                  <a:srgbClr val="060606"/>
                </a:solidFill>
                <a:latin typeface="Helvetica"/>
              </a:rPr>
              <a:t>2</a:t>
            </a:r>
          </a:p>
        </p:txBody>
      </p:sp>
      <p:sp>
        <p:nvSpPr>
          <p:cNvPr id="56" name="Rectangle 55"/>
          <p:cNvSpPr/>
          <p:nvPr/>
        </p:nvSpPr>
        <p:spPr>
          <a:xfrm>
            <a:off x="7020000" y="2178000"/>
            <a:ext cx="1404000" cy="266400"/>
          </a:xfrm>
          <a:prstGeom prst="rect">
            <a:avLst/>
          </a:prstGeom>
          <a:solidFill>
            <a:srgbClr val="FCE5CD"/>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ED7D31"/>
                </a:solidFill>
                <a:latin typeface="Helvetica"/>
              </a:rPr>
              <a:t>● </a:t>
            </a:r>
            <a:r>
              <a:rPr sz="950" b="1">
                <a:solidFill>
                  <a:srgbClr val="060606"/>
                </a:solidFill>
                <a:latin typeface="Helvetica"/>
              </a:rPr>
              <a:t>1</a:t>
            </a:r>
          </a:p>
        </p:txBody>
      </p:sp>
      <p:sp>
        <p:nvSpPr>
          <p:cNvPr id="57" name="Rectangle 56"/>
          <p:cNvSpPr/>
          <p:nvPr/>
        </p:nvSpPr>
        <p:spPr>
          <a:xfrm>
            <a:off x="8424000" y="21780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58" name="Rectangle 57"/>
          <p:cNvSpPr/>
          <p:nvPr/>
        </p:nvSpPr>
        <p:spPr>
          <a:xfrm>
            <a:off x="9827999" y="2178000"/>
            <a:ext cx="1908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00" b="0">
                <a:solidFill>
                  <a:srgbClr val="060606"/>
                </a:solidFill>
                <a:latin typeface="Helvetica"/>
              </a:rPr>
              <a:t>5 constats</a:t>
            </a:r>
          </a:p>
        </p:txBody>
      </p:sp>
      <p:sp>
        <p:nvSpPr>
          <p:cNvPr id="59" name="Nav EFC">
            <a:hlinkClick action="ppaction://hlinksldjump" r:id="rId10"/>
          </p:cNvPr>
          <p:cNvSpPr/>
          <p:nvPr/>
        </p:nvSpPr>
        <p:spPr>
          <a:xfrm>
            <a:off x="503999" y="2444400"/>
            <a:ext cx="2304000" cy="266400"/>
          </a:xfrm>
          <a:prstGeom prst="rect">
            <a:avLst/>
          </a:prstGeom>
          <a:solidFill>
            <a:srgbClr val="F2F2F2"/>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00" b="1">
                <a:solidFill>
                  <a:srgbClr val="060606"/>
                </a:solidFill>
                <a:latin typeface="Helvetica"/>
              </a:rPr>
              <a:t>EFC</a:t>
            </a:r>
          </a:p>
        </p:txBody>
      </p:sp>
      <p:sp>
        <p:nvSpPr>
          <p:cNvPr id="60" name="Rectangle 59"/>
          <p:cNvSpPr/>
          <p:nvPr/>
        </p:nvSpPr>
        <p:spPr>
          <a:xfrm>
            <a:off x="2808000" y="2444400"/>
            <a:ext cx="1404000" cy="266400"/>
          </a:xfrm>
          <a:prstGeom prst="rect">
            <a:avLst/>
          </a:prstGeom>
          <a:solidFill>
            <a:srgbClr val="FCE5CD"/>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ED7D31"/>
                </a:solidFill>
                <a:latin typeface="Helvetica"/>
              </a:rPr>
              <a:t>● </a:t>
            </a:r>
            <a:r>
              <a:rPr sz="950" b="1">
                <a:solidFill>
                  <a:srgbClr val="060606"/>
                </a:solidFill>
                <a:latin typeface="Helvetica"/>
              </a:rPr>
              <a:t>2</a:t>
            </a:r>
          </a:p>
        </p:txBody>
      </p:sp>
      <p:sp>
        <p:nvSpPr>
          <p:cNvPr id="61" name="Rectangle 60"/>
          <p:cNvSpPr/>
          <p:nvPr/>
        </p:nvSpPr>
        <p:spPr>
          <a:xfrm>
            <a:off x="4212000" y="2444400"/>
            <a:ext cx="1404000" cy="266400"/>
          </a:xfrm>
          <a:prstGeom prst="rect">
            <a:avLst/>
          </a:prstGeom>
          <a:solidFill>
            <a:srgbClr val="F4CCCC"/>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C00000"/>
                </a:solidFill>
                <a:latin typeface="Helvetica"/>
              </a:rPr>
              <a:t>● </a:t>
            </a:r>
            <a:r>
              <a:rPr sz="950" b="1">
                <a:solidFill>
                  <a:srgbClr val="060606"/>
                </a:solidFill>
                <a:latin typeface="Helvetica"/>
              </a:rPr>
              <a:t>1</a:t>
            </a:r>
          </a:p>
        </p:txBody>
      </p:sp>
      <p:sp>
        <p:nvSpPr>
          <p:cNvPr id="62" name="Rectangle 61"/>
          <p:cNvSpPr/>
          <p:nvPr/>
        </p:nvSpPr>
        <p:spPr>
          <a:xfrm>
            <a:off x="5616000" y="2444400"/>
            <a:ext cx="1404000" cy="266400"/>
          </a:xfrm>
          <a:prstGeom prst="rect">
            <a:avLst/>
          </a:prstGeom>
          <a:solidFill>
            <a:srgbClr val="F4CCCC"/>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C00000"/>
                </a:solidFill>
                <a:latin typeface="Helvetica"/>
              </a:rPr>
              <a:t>● </a:t>
            </a:r>
            <a:r>
              <a:rPr sz="950" b="1">
                <a:solidFill>
                  <a:srgbClr val="060606"/>
                </a:solidFill>
                <a:latin typeface="Helvetica"/>
              </a:rPr>
              <a:t>3</a:t>
            </a:r>
          </a:p>
        </p:txBody>
      </p:sp>
      <p:sp>
        <p:nvSpPr>
          <p:cNvPr id="63" name="Rectangle 62"/>
          <p:cNvSpPr/>
          <p:nvPr/>
        </p:nvSpPr>
        <p:spPr>
          <a:xfrm>
            <a:off x="7020000" y="2444400"/>
            <a:ext cx="1404000" cy="266400"/>
          </a:xfrm>
          <a:prstGeom prst="rect">
            <a:avLst/>
          </a:prstGeom>
          <a:solidFill>
            <a:srgbClr val="F4CCCC"/>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C00000"/>
                </a:solidFill>
                <a:latin typeface="Helvetica"/>
              </a:rPr>
              <a:t>● </a:t>
            </a:r>
            <a:r>
              <a:rPr sz="950" b="1">
                <a:solidFill>
                  <a:srgbClr val="060606"/>
                </a:solidFill>
                <a:latin typeface="Helvetica"/>
              </a:rPr>
              <a:t>1</a:t>
            </a:r>
          </a:p>
        </p:txBody>
      </p:sp>
      <p:sp>
        <p:nvSpPr>
          <p:cNvPr id="64" name="Rectangle 63"/>
          <p:cNvSpPr/>
          <p:nvPr/>
        </p:nvSpPr>
        <p:spPr>
          <a:xfrm>
            <a:off x="8424000" y="2444400"/>
            <a:ext cx="1404000" cy="266400"/>
          </a:xfrm>
          <a:prstGeom prst="rect">
            <a:avLst/>
          </a:prstGeom>
          <a:solidFill>
            <a:srgbClr val="F4CCCC"/>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C00000"/>
                </a:solidFill>
                <a:latin typeface="Helvetica"/>
              </a:rPr>
              <a:t>● </a:t>
            </a:r>
            <a:r>
              <a:rPr sz="950" b="1">
                <a:solidFill>
                  <a:srgbClr val="060606"/>
                </a:solidFill>
                <a:latin typeface="Helvetica"/>
              </a:rPr>
              <a:t>1</a:t>
            </a:r>
          </a:p>
        </p:txBody>
      </p:sp>
      <p:sp>
        <p:nvSpPr>
          <p:cNvPr id="65" name="Rectangle 64"/>
          <p:cNvSpPr/>
          <p:nvPr/>
        </p:nvSpPr>
        <p:spPr>
          <a:xfrm>
            <a:off x="9827999" y="2444400"/>
            <a:ext cx="1908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00" b="0">
                <a:solidFill>
                  <a:srgbClr val="060606"/>
                </a:solidFill>
                <a:latin typeface="Helvetica"/>
              </a:rPr>
              <a:t>6 constats</a:t>
            </a:r>
          </a:p>
        </p:txBody>
      </p:sp>
      <p:sp>
        <p:nvSpPr>
          <p:cNvPr id="66" name="Nav PEP">
            <a:hlinkClick action="ppaction://hlinksldjump" r:id="rId11"/>
          </p:cNvPr>
          <p:cNvSpPr/>
          <p:nvPr/>
        </p:nvSpPr>
        <p:spPr>
          <a:xfrm>
            <a:off x="503999" y="2710800"/>
            <a:ext cx="2304000" cy="266400"/>
          </a:xfrm>
          <a:prstGeom prst="rect">
            <a:avLst/>
          </a:prstGeom>
          <a:solidFill>
            <a:srgbClr val="F2F2F2"/>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00" b="1">
                <a:solidFill>
                  <a:srgbClr val="060606"/>
                </a:solidFill>
                <a:latin typeface="Helvetica"/>
              </a:rPr>
              <a:t>PEP</a:t>
            </a:r>
          </a:p>
        </p:txBody>
      </p:sp>
      <p:sp>
        <p:nvSpPr>
          <p:cNvPr id="67" name="Rectangle 66"/>
          <p:cNvSpPr/>
          <p:nvPr/>
        </p:nvSpPr>
        <p:spPr>
          <a:xfrm>
            <a:off x="2808000" y="2710800"/>
            <a:ext cx="1404000" cy="266400"/>
          </a:xfrm>
          <a:prstGeom prst="rect">
            <a:avLst/>
          </a:prstGeom>
          <a:solidFill>
            <a:srgbClr val="FFF2CC"/>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FFC000"/>
                </a:solidFill>
                <a:latin typeface="Helvetica"/>
              </a:rPr>
              <a:t>● </a:t>
            </a:r>
            <a:r>
              <a:rPr sz="950" b="1">
                <a:solidFill>
                  <a:srgbClr val="060606"/>
                </a:solidFill>
                <a:latin typeface="Helvetica"/>
              </a:rPr>
              <a:t>1</a:t>
            </a:r>
          </a:p>
        </p:txBody>
      </p:sp>
      <p:sp>
        <p:nvSpPr>
          <p:cNvPr id="68" name="Rectangle 67"/>
          <p:cNvSpPr/>
          <p:nvPr/>
        </p:nvSpPr>
        <p:spPr>
          <a:xfrm>
            <a:off x="4212000" y="2710800"/>
            <a:ext cx="1404000" cy="266400"/>
          </a:xfrm>
          <a:prstGeom prst="rect">
            <a:avLst/>
          </a:prstGeom>
          <a:solidFill>
            <a:srgbClr val="F4CCCC"/>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C00000"/>
                </a:solidFill>
                <a:latin typeface="Helvetica"/>
              </a:rPr>
              <a:t>● </a:t>
            </a:r>
            <a:r>
              <a:rPr sz="950" b="1">
                <a:solidFill>
                  <a:srgbClr val="060606"/>
                </a:solidFill>
                <a:latin typeface="Helvetica"/>
              </a:rPr>
              <a:t>2</a:t>
            </a:r>
          </a:p>
        </p:txBody>
      </p:sp>
      <p:sp>
        <p:nvSpPr>
          <p:cNvPr id="69" name="Rectangle 68"/>
          <p:cNvSpPr/>
          <p:nvPr/>
        </p:nvSpPr>
        <p:spPr>
          <a:xfrm>
            <a:off x="5616000" y="2710800"/>
            <a:ext cx="1404000" cy="266400"/>
          </a:xfrm>
          <a:prstGeom prst="rect">
            <a:avLst/>
          </a:prstGeom>
          <a:solidFill>
            <a:srgbClr val="FCE5CD"/>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ED7D31"/>
                </a:solidFill>
                <a:latin typeface="Helvetica"/>
              </a:rPr>
              <a:t>● </a:t>
            </a:r>
            <a:r>
              <a:rPr sz="950" b="1">
                <a:solidFill>
                  <a:srgbClr val="060606"/>
                </a:solidFill>
                <a:latin typeface="Helvetica"/>
              </a:rPr>
              <a:t>1</a:t>
            </a:r>
          </a:p>
        </p:txBody>
      </p:sp>
      <p:sp>
        <p:nvSpPr>
          <p:cNvPr id="70" name="Rectangle 69"/>
          <p:cNvSpPr/>
          <p:nvPr/>
        </p:nvSpPr>
        <p:spPr>
          <a:xfrm>
            <a:off x="7020000" y="27108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1" name="Rectangle 70"/>
          <p:cNvSpPr/>
          <p:nvPr/>
        </p:nvSpPr>
        <p:spPr>
          <a:xfrm>
            <a:off x="8424000" y="27108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2" name="Rectangle 71"/>
          <p:cNvSpPr/>
          <p:nvPr/>
        </p:nvSpPr>
        <p:spPr>
          <a:xfrm>
            <a:off x="9827999" y="2710800"/>
            <a:ext cx="1908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00" b="0">
                <a:solidFill>
                  <a:srgbClr val="060606"/>
                </a:solidFill>
                <a:latin typeface="Helvetica"/>
              </a:rPr>
              <a:t>4 constats</a:t>
            </a:r>
          </a:p>
        </p:txBody>
      </p:sp>
      <p:sp>
        <p:nvSpPr>
          <p:cNvPr id="73" name="Nav MEDOC">
            <a:hlinkClick action="ppaction://hlinksldjump" r:id="rId11"/>
          </p:cNvPr>
          <p:cNvSpPr/>
          <p:nvPr/>
        </p:nvSpPr>
        <p:spPr>
          <a:xfrm>
            <a:off x="503999" y="2977200"/>
            <a:ext cx="2304000" cy="266400"/>
          </a:xfrm>
          <a:prstGeom prst="rect">
            <a:avLst/>
          </a:prstGeom>
          <a:solidFill>
            <a:srgbClr val="F2F2F2"/>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00" b="1">
                <a:solidFill>
                  <a:srgbClr val="060606"/>
                </a:solidFill>
                <a:latin typeface="Helvetica"/>
              </a:rPr>
              <a:t>MEDOC</a:t>
            </a:r>
          </a:p>
        </p:txBody>
      </p:sp>
      <p:sp>
        <p:nvSpPr>
          <p:cNvPr id="74" name="Rectangle 73"/>
          <p:cNvSpPr/>
          <p:nvPr/>
        </p:nvSpPr>
        <p:spPr>
          <a:xfrm>
            <a:off x="2808000" y="2977200"/>
            <a:ext cx="1404000" cy="266400"/>
          </a:xfrm>
          <a:prstGeom prst="rect">
            <a:avLst/>
          </a:prstGeom>
          <a:solidFill>
            <a:srgbClr val="FCE5CD"/>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ED7D31"/>
                </a:solidFill>
                <a:latin typeface="Helvetica"/>
              </a:rPr>
              <a:t>● </a:t>
            </a:r>
            <a:r>
              <a:rPr sz="950" b="1">
                <a:solidFill>
                  <a:srgbClr val="060606"/>
                </a:solidFill>
                <a:latin typeface="Helvetica"/>
              </a:rPr>
              <a:t>1</a:t>
            </a:r>
          </a:p>
        </p:txBody>
      </p:sp>
      <p:sp>
        <p:nvSpPr>
          <p:cNvPr id="75" name="Rectangle 74"/>
          <p:cNvSpPr/>
          <p:nvPr/>
        </p:nvSpPr>
        <p:spPr>
          <a:xfrm>
            <a:off x="4212000" y="2977200"/>
            <a:ext cx="1404000" cy="266400"/>
          </a:xfrm>
          <a:prstGeom prst="rect">
            <a:avLst/>
          </a:prstGeom>
          <a:solidFill>
            <a:srgbClr val="FFF2CC"/>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FFC000"/>
                </a:solidFill>
                <a:latin typeface="Helvetica"/>
              </a:rPr>
              <a:t>● </a:t>
            </a:r>
            <a:r>
              <a:rPr sz="950" b="1">
                <a:solidFill>
                  <a:srgbClr val="060606"/>
                </a:solidFill>
                <a:latin typeface="Helvetica"/>
              </a:rPr>
              <a:t>1</a:t>
            </a:r>
          </a:p>
        </p:txBody>
      </p:sp>
      <p:sp>
        <p:nvSpPr>
          <p:cNvPr id="76" name="Rectangle 75"/>
          <p:cNvSpPr/>
          <p:nvPr/>
        </p:nvSpPr>
        <p:spPr>
          <a:xfrm>
            <a:off x="5616000" y="29772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7" name="Rectangle 76"/>
          <p:cNvSpPr/>
          <p:nvPr/>
        </p:nvSpPr>
        <p:spPr>
          <a:xfrm>
            <a:off x="7020000" y="29772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8" name="Rectangle 77"/>
          <p:cNvSpPr/>
          <p:nvPr/>
        </p:nvSpPr>
        <p:spPr>
          <a:xfrm>
            <a:off x="8424000" y="29772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9" name="Rectangle 78"/>
          <p:cNvSpPr/>
          <p:nvPr/>
        </p:nvSpPr>
        <p:spPr>
          <a:xfrm>
            <a:off x="9827999" y="2977200"/>
            <a:ext cx="1908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00" b="0">
                <a:solidFill>
                  <a:srgbClr val="060606"/>
                </a:solidFill>
                <a:latin typeface="Helvetica"/>
              </a:rPr>
              <a:t>2 constats</a:t>
            </a:r>
          </a:p>
        </p:txBody>
      </p:sp>
      <p:sp>
        <p:nvSpPr>
          <p:cNvPr id="80" name="Nav Grenier">
            <a:hlinkClick action="ppaction://hlinksldjump" r:id="rId12"/>
          </p:cNvPr>
          <p:cNvSpPr/>
          <p:nvPr/>
        </p:nvSpPr>
        <p:spPr>
          <a:xfrm>
            <a:off x="503999" y="3243600"/>
            <a:ext cx="2304000" cy="266400"/>
          </a:xfrm>
          <a:prstGeom prst="rect">
            <a:avLst/>
          </a:prstGeom>
          <a:solidFill>
            <a:srgbClr val="F2F2F2"/>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00" b="1">
                <a:solidFill>
                  <a:srgbClr val="060606"/>
                </a:solidFill>
                <a:latin typeface="Helvetica"/>
              </a:rPr>
              <a:t>Grenier</a:t>
            </a:r>
          </a:p>
        </p:txBody>
      </p:sp>
      <p:sp>
        <p:nvSpPr>
          <p:cNvPr id="81" name="Rectangle 80"/>
          <p:cNvSpPr/>
          <p:nvPr/>
        </p:nvSpPr>
        <p:spPr>
          <a:xfrm>
            <a:off x="2808000" y="32436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2" name="Rectangle 81"/>
          <p:cNvSpPr/>
          <p:nvPr/>
        </p:nvSpPr>
        <p:spPr>
          <a:xfrm>
            <a:off x="4212000" y="3243600"/>
            <a:ext cx="1404000" cy="266400"/>
          </a:xfrm>
          <a:prstGeom prst="rect">
            <a:avLst/>
          </a:prstGeom>
          <a:solidFill>
            <a:srgbClr val="FFF2CC"/>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FFC000"/>
                </a:solidFill>
                <a:latin typeface="Helvetica"/>
              </a:rPr>
              <a:t>● </a:t>
            </a:r>
            <a:r>
              <a:rPr sz="950" b="1">
                <a:solidFill>
                  <a:srgbClr val="060606"/>
                </a:solidFill>
                <a:latin typeface="Helvetica"/>
              </a:rPr>
              <a:t>2</a:t>
            </a:r>
          </a:p>
        </p:txBody>
      </p:sp>
      <p:sp>
        <p:nvSpPr>
          <p:cNvPr id="83" name="Rectangle 82"/>
          <p:cNvSpPr/>
          <p:nvPr/>
        </p:nvSpPr>
        <p:spPr>
          <a:xfrm>
            <a:off x="5616000" y="3243600"/>
            <a:ext cx="1404000" cy="266400"/>
          </a:xfrm>
          <a:prstGeom prst="rect">
            <a:avLst/>
          </a:prstGeom>
          <a:solidFill>
            <a:srgbClr val="FCE5CD"/>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ED7D31"/>
                </a:solidFill>
                <a:latin typeface="Helvetica"/>
              </a:rPr>
              <a:t>● </a:t>
            </a:r>
            <a:r>
              <a:rPr sz="950" b="1">
                <a:solidFill>
                  <a:srgbClr val="060606"/>
                </a:solidFill>
                <a:latin typeface="Helvetica"/>
              </a:rPr>
              <a:t>2</a:t>
            </a:r>
          </a:p>
        </p:txBody>
      </p:sp>
      <p:sp>
        <p:nvSpPr>
          <p:cNvPr id="84" name="Rectangle 83"/>
          <p:cNvSpPr/>
          <p:nvPr/>
        </p:nvSpPr>
        <p:spPr>
          <a:xfrm>
            <a:off x="7020000" y="32436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5" name="Rectangle 84"/>
          <p:cNvSpPr/>
          <p:nvPr/>
        </p:nvSpPr>
        <p:spPr>
          <a:xfrm>
            <a:off x="8424000" y="3243600"/>
            <a:ext cx="1404000" cy="266400"/>
          </a:xfrm>
          <a:prstGeom prst="rect">
            <a:avLst/>
          </a:prstGeom>
          <a:solidFill>
            <a:srgbClr val="FCE5CD"/>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ED7D31"/>
                </a:solidFill>
                <a:latin typeface="Helvetica"/>
              </a:rPr>
              <a:t>● </a:t>
            </a:r>
            <a:r>
              <a:rPr sz="950" b="1">
                <a:solidFill>
                  <a:srgbClr val="060606"/>
                </a:solidFill>
                <a:latin typeface="Helvetica"/>
              </a:rPr>
              <a:t>1</a:t>
            </a:r>
          </a:p>
        </p:txBody>
      </p:sp>
      <p:sp>
        <p:nvSpPr>
          <p:cNvPr id="86" name="Rectangle 85"/>
          <p:cNvSpPr/>
          <p:nvPr/>
        </p:nvSpPr>
        <p:spPr>
          <a:xfrm>
            <a:off x="9827999" y="3243600"/>
            <a:ext cx="1908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00" b="0">
                <a:solidFill>
                  <a:srgbClr val="060606"/>
                </a:solidFill>
                <a:latin typeface="Helvetica"/>
              </a:rPr>
              <a:t>4 constats</a:t>
            </a:r>
          </a:p>
        </p:txBody>
      </p:sp>
      <p:sp>
        <p:nvSpPr>
          <p:cNvPr id="87" name="Nav Flotte automobile">
            <a:hlinkClick action="ppaction://hlinksldjump" r:id="rId13"/>
          </p:cNvPr>
          <p:cNvSpPr/>
          <p:nvPr/>
        </p:nvSpPr>
        <p:spPr>
          <a:xfrm>
            <a:off x="503999" y="3510000"/>
            <a:ext cx="2304000" cy="266400"/>
          </a:xfrm>
          <a:prstGeom prst="rect">
            <a:avLst/>
          </a:prstGeom>
          <a:solidFill>
            <a:srgbClr val="F2F2F2"/>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00" b="1">
                <a:solidFill>
                  <a:srgbClr val="060606"/>
                </a:solidFill>
                <a:latin typeface="Helvetica"/>
              </a:rPr>
              <a:t>Flotte automobile</a:t>
            </a:r>
          </a:p>
        </p:txBody>
      </p:sp>
      <p:sp>
        <p:nvSpPr>
          <p:cNvPr id="88" name="Rectangle 87"/>
          <p:cNvSpPr/>
          <p:nvPr/>
        </p:nvSpPr>
        <p:spPr>
          <a:xfrm>
            <a:off x="2808000" y="3510000"/>
            <a:ext cx="1404000" cy="266400"/>
          </a:xfrm>
          <a:prstGeom prst="rect">
            <a:avLst/>
          </a:prstGeom>
          <a:solidFill>
            <a:srgbClr val="FFF2CC"/>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FFC000"/>
                </a:solidFill>
                <a:latin typeface="Helvetica"/>
              </a:rPr>
              <a:t>● </a:t>
            </a:r>
            <a:r>
              <a:rPr sz="950" b="1">
                <a:solidFill>
                  <a:srgbClr val="060606"/>
                </a:solidFill>
                <a:latin typeface="Helvetica"/>
              </a:rPr>
              <a:t>2</a:t>
            </a:r>
          </a:p>
        </p:txBody>
      </p:sp>
      <p:sp>
        <p:nvSpPr>
          <p:cNvPr id="89" name="Rectangle 88"/>
          <p:cNvSpPr/>
          <p:nvPr/>
        </p:nvSpPr>
        <p:spPr>
          <a:xfrm>
            <a:off x="4212000" y="3510000"/>
            <a:ext cx="1404000" cy="266400"/>
          </a:xfrm>
          <a:prstGeom prst="rect">
            <a:avLst/>
          </a:prstGeom>
          <a:solidFill>
            <a:srgbClr val="FFF2CC"/>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FFC000"/>
                </a:solidFill>
                <a:latin typeface="Helvetica"/>
              </a:rPr>
              <a:t>● </a:t>
            </a:r>
            <a:r>
              <a:rPr sz="950" b="1">
                <a:solidFill>
                  <a:srgbClr val="060606"/>
                </a:solidFill>
                <a:latin typeface="Helvetica"/>
              </a:rPr>
              <a:t>1</a:t>
            </a:r>
          </a:p>
        </p:txBody>
      </p:sp>
      <p:sp>
        <p:nvSpPr>
          <p:cNvPr id="90" name="Rectangle 89"/>
          <p:cNvSpPr/>
          <p:nvPr/>
        </p:nvSpPr>
        <p:spPr>
          <a:xfrm>
            <a:off x="5616000" y="35100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91" name="Rectangle 90"/>
          <p:cNvSpPr/>
          <p:nvPr/>
        </p:nvSpPr>
        <p:spPr>
          <a:xfrm>
            <a:off x="7020000" y="35100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92" name="Rectangle 91"/>
          <p:cNvSpPr/>
          <p:nvPr/>
        </p:nvSpPr>
        <p:spPr>
          <a:xfrm>
            <a:off x="8424000" y="35100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93" name="Rectangle 92"/>
          <p:cNvSpPr/>
          <p:nvPr/>
        </p:nvSpPr>
        <p:spPr>
          <a:xfrm>
            <a:off x="9827999" y="3510000"/>
            <a:ext cx="1908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00" b="0">
                <a:solidFill>
                  <a:srgbClr val="060606"/>
                </a:solidFill>
                <a:latin typeface="Helvetica"/>
              </a:rPr>
              <a:t>3 constats</a:t>
            </a:r>
          </a:p>
        </p:txBody>
      </p:sp>
      <p:sp>
        <p:nvSpPr>
          <p:cNvPr id="94" name="Nav Clinique (CMP)">
            <a:hlinkClick action="ppaction://hlinksldjump" r:id="rId13"/>
          </p:cNvPr>
          <p:cNvSpPr/>
          <p:nvPr/>
        </p:nvSpPr>
        <p:spPr>
          <a:xfrm>
            <a:off x="503999" y="3776400"/>
            <a:ext cx="2304000" cy="266400"/>
          </a:xfrm>
          <a:prstGeom prst="rect">
            <a:avLst/>
          </a:prstGeom>
          <a:solidFill>
            <a:srgbClr val="F2F2F2"/>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00" b="1">
                <a:solidFill>
                  <a:srgbClr val="060606"/>
                </a:solidFill>
                <a:latin typeface="Helvetica"/>
              </a:rPr>
              <a:t>Clinique (CMP)</a:t>
            </a:r>
          </a:p>
        </p:txBody>
      </p:sp>
      <p:sp>
        <p:nvSpPr>
          <p:cNvPr id="95" name="Rectangle 94"/>
          <p:cNvSpPr/>
          <p:nvPr/>
        </p:nvSpPr>
        <p:spPr>
          <a:xfrm>
            <a:off x="2808000" y="37764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96" name="Rectangle 95"/>
          <p:cNvSpPr/>
          <p:nvPr/>
        </p:nvSpPr>
        <p:spPr>
          <a:xfrm>
            <a:off x="4212000" y="3776400"/>
            <a:ext cx="1404000" cy="266400"/>
          </a:xfrm>
          <a:prstGeom prst="rect">
            <a:avLst/>
          </a:prstGeom>
          <a:solidFill>
            <a:srgbClr val="FCE5CD"/>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ED7D31"/>
                </a:solidFill>
                <a:latin typeface="Helvetica"/>
              </a:rPr>
              <a:t>● </a:t>
            </a:r>
            <a:r>
              <a:rPr sz="950" b="1">
                <a:solidFill>
                  <a:srgbClr val="060606"/>
                </a:solidFill>
                <a:latin typeface="Helvetica"/>
              </a:rPr>
              <a:t>1</a:t>
            </a:r>
          </a:p>
        </p:txBody>
      </p:sp>
      <p:sp>
        <p:nvSpPr>
          <p:cNvPr id="97" name="Rectangle 96"/>
          <p:cNvSpPr/>
          <p:nvPr/>
        </p:nvSpPr>
        <p:spPr>
          <a:xfrm>
            <a:off x="5616000" y="3776400"/>
            <a:ext cx="1404000" cy="266400"/>
          </a:xfrm>
          <a:prstGeom prst="rect">
            <a:avLst/>
          </a:prstGeom>
          <a:solidFill>
            <a:srgbClr val="FCE5CD"/>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ED7D31"/>
                </a:solidFill>
                <a:latin typeface="Helvetica"/>
              </a:rPr>
              <a:t>● </a:t>
            </a:r>
            <a:r>
              <a:rPr sz="950" b="1">
                <a:solidFill>
                  <a:srgbClr val="060606"/>
                </a:solidFill>
                <a:latin typeface="Helvetica"/>
              </a:rPr>
              <a:t>1</a:t>
            </a:r>
          </a:p>
        </p:txBody>
      </p:sp>
      <p:sp>
        <p:nvSpPr>
          <p:cNvPr id="98" name="Rectangle 97"/>
          <p:cNvSpPr/>
          <p:nvPr/>
        </p:nvSpPr>
        <p:spPr>
          <a:xfrm>
            <a:off x="7020000" y="3776400"/>
            <a:ext cx="1404000" cy="266400"/>
          </a:xfrm>
          <a:prstGeom prst="rect">
            <a:avLst/>
          </a:prstGeom>
          <a:solidFill>
            <a:srgbClr val="FCE5CD"/>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ED7D31"/>
                </a:solidFill>
                <a:latin typeface="Helvetica"/>
              </a:rPr>
              <a:t>● </a:t>
            </a:r>
            <a:r>
              <a:rPr sz="950" b="1">
                <a:solidFill>
                  <a:srgbClr val="060606"/>
                </a:solidFill>
                <a:latin typeface="Helvetica"/>
              </a:rPr>
              <a:t>1</a:t>
            </a:r>
          </a:p>
        </p:txBody>
      </p:sp>
      <p:sp>
        <p:nvSpPr>
          <p:cNvPr id="99" name="Rectangle 98"/>
          <p:cNvSpPr/>
          <p:nvPr/>
        </p:nvSpPr>
        <p:spPr>
          <a:xfrm>
            <a:off x="8424000" y="37764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100" name="Rectangle 99"/>
          <p:cNvSpPr/>
          <p:nvPr/>
        </p:nvSpPr>
        <p:spPr>
          <a:xfrm>
            <a:off x="9827999" y="3776400"/>
            <a:ext cx="1908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00" b="0">
                <a:solidFill>
                  <a:srgbClr val="060606"/>
                </a:solidFill>
                <a:latin typeface="Helvetica"/>
              </a:rPr>
              <a:t>2 constats</a:t>
            </a:r>
          </a:p>
        </p:txBody>
      </p:sp>
      <p:sp>
        <p:nvSpPr>
          <p:cNvPr id="101" name="Nav Cotisations et précomptes">
            <a:hlinkClick action="ppaction://hlinksldjump" r:id="rId14"/>
          </p:cNvPr>
          <p:cNvSpPr/>
          <p:nvPr/>
        </p:nvSpPr>
        <p:spPr>
          <a:xfrm>
            <a:off x="503999" y="4042800"/>
            <a:ext cx="2304000" cy="266400"/>
          </a:xfrm>
          <a:prstGeom prst="rect">
            <a:avLst/>
          </a:prstGeom>
          <a:solidFill>
            <a:srgbClr val="F2F2F2"/>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00" b="1">
                <a:solidFill>
                  <a:srgbClr val="060606"/>
                </a:solidFill>
                <a:latin typeface="Helvetica"/>
              </a:rPr>
              <a:t>Cotisations et précomptes</a:t>
            </a:r>
          </a:p>
        </p:txBody>
      </p:sp>
      <p:sp>
        <p:nvSpPr>
          <p:cNvPr id="102" name="Rectangle 101"/>
          <p:cNvSpPr/>
          <p:nvPr/>
        </p:nvSpPr>
        <p:spPr>
          <a:xfrm>
            <a:off x="2808000" y="4042800"/>
            <a:ext cx="1404000" cy="266400"/>
          </a:xfrm>
          <a:prstGeom prst="rect">
            <a:avLst/>
          </a:prstGeom>
          <a:solidFill>
            <a:srgbClr val="FFF2CC"/>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FFC000"/>
                </a:solidFill>
                <a:latin typeface="Helvetica"/>
              </a:rPr>
              <a:t>● </a:t>
            </a:r>
            <a:r>
              <a:rPr sz="950" b="1">
                <a:solidFill>
                  <a:srgbClr val="060606"/>
                </a:solidFill>
                <a:latin typeface="Helvetica"/>
              </a:rPr>
              <a:t>2</a:t>
            </a:r>
          </a:p>
        </p:txBody>
      </p:sp>
      <p:sp>
        <p:nvSpPr>
          <p:cNvPr id="103" name="Rectangle 102"/>
          <p:cNvSpPr/>
          <p:nvPr/>
        </p:nvSpPr>
        <p:spPr>
          <a:xfrm>
            <a:off x="4212000" y="4042800"/>
            <a:ext cx="1404000" cy="266400"/>
          </a:xfrm>
          <a:prstGeom prst="rect">
            <a:avLst/>
          </a:prstGeom>
          <a:solidFill>
            <a:srgbClr val="FCE5CD"/>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ED7D31"/>
                </a:solidFill>
                <a:latin typeface="Helvetica"/>
              </a:rPr>
              <a:t>● </a:t>
            </a:r>
            <a:r>
              <a:rPr sz="950" b="1">
                <a:solidFill>
                  <a:srgbClr val="060606"/>
                </a:solidFill>
                <a:latin typeface="Helvetica"/>
              </a:rPr>
              <a:t>3</a:t>
            </a:r>
          </a:p>
        </p:txBody>
      </p:sp>
      <p:sp>
        <p:nvSpPr>
          <p:cNvPr id="104" name="Rectangle 103"/>
          <p:cNvSpPr/>
          <p:nvPr/>
        </p:nvSpPr>
        <p:spPr>
          <a:xfrm>
            <a:off x="5616000" y="40428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105" name="Rectangle 104"/>
          <p:cNvSpPr/>
          <p:nvPr/>
        </p:nvSpPr>
        <p:spPr>
          <a:xfrm>
            <a:off x="7020000" y="40428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106" name="Rectangle 105"/>
          <p:cNvSpPr/>
          <p:nvPr/>
        </p:nvSpPr>
        <p:spPr>
          <a:xfrm>
            <a:off x="8424000" y="40428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107" name="Rectangle 106"/>
          <p:cNvSpPr/>
          <p:nvPr/>
        </p:nvSpPr>
        <p:spPr>
          <a:xfrm>
            <a:off x="9827999" y="4042800"/>
            <a:ext cx="1908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00" b="0">
                <a:solidFill>
                  <a:srgbClr val="060606"/>
                </a:solidFill>
                <a:latin typeface="Helvetica"/>
              </a:rPr>
              <a:t>5 constats</a:t>
            </a:r>
          </a:p>
        </p:txBody>
      </p:sp>
      <p:sp>
        <p:nvSpPr>
          <p:cNvPr id="108" name="Nav Comptabilité et provisions">
            <a:hlinkClick action="ppaction://hlinksldjump" r:id="rId15"/>
          </p:cNvPr>
          <p:cNvSpPr/>
          <p:nvPr/>
        </p:nvSpPr>
        <p:spPr>
          <a:xfrm>
            <a:off x="503999" y="4309200"/>
            <a:ext cx="2304000" cy="266400"/>
          </a:xfrm>
          <a:prstGeom prst="rect">
            <a:avLst/>
          </a:prstGeom>
          <a:solidFill>
            <a:srgbClr val="F2F2F2"/>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00" b="1">
                <a:solidFill>
                  <a:srgbClr val="060606"/>
                </a:solidFill>
                <a:latin typeface="Helvetica"/>
              </a:rPr>
              <a:t>Comptabilité et provisions</a:t>
            </a:r>
          </a:p>
        </p:txBody>
      </p:sp>
      <p:sp>
        <p:nvSpPr>
          <p:cNvPr id="109" name="Rectangle 108"/>
          <p:cNvSpPr/>
          <p:nvPr/>
        </p:nvSpPr>
        <p:spPr>
          <a:xfrm>
            <a:off x="2808000" y="43092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110" name="Rectangle 109"/>
          <p:cNvSpPr/>
          <p:nvPr/>
        </p:nvSpPr>
        <p:spPr>
          <a:xfrm>
            <a:off x="4212000" y="4309200"/>
            <a:ext cx="1404000" cy="266400"/>
          </a:xfrm>
          <a:prstGeom prst="rect">
            <a:avLst/>
          </a:prstGeom>
          <a:solidFill>
            <a:srgbClr val="F4CCCC"/>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C00000"/>
                </a:solidFill>
                <a:latin typeface="Helvetica"/>
              </a:rPr>
              <a:t>● </a:t>
            </a:r>
            <a:r>
              <a:rPr sz="950" b="1">
                <a:solidFill>
                  <a:srgbClr val="060606"/>
                </a:solidFill>
                <a:latin typeface="Helvetica"/>
              </a:rPr>
              <a:t>5</a:t>
            </a:r>
          </a:p>
        </p:txBody>
      </p:sp>
      <p:sp>
        <p:nvSpPr>
          <p:cNvPr id="111" name="Rectangle 110"/>
          <p:cNvSpPr/>
          <p:nvPr/>
        </p:nvSpPr>
        <p:spPr>
          <a:xfrm>
            <a:off x="5616000" y="43092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112" name="Rectangle 111"/>
          <p:cNvSpPr/>
          <p:nvPr/>
        </p:nvSpPr>
        <p:spPr>
          <a:xfrm>
            <a:off x="7020000" y="4309200"/>
            <a:ext cx="1404000" cy="266400"/>
          </a:xfrm>
          <a:prstGeom prst="rect">
            <a:avLst/>
          </a:prstGeom>
          <a:solidFill>
            <a:srgbClr val="F4CCCC"/>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C00000"/>
                </a:solidFill>
                <a:latin typeface="Helvetica"/>
              </a:rPr>
              <a:t>● </a:t>
            </a:r>
            <a:r>
              <a:rPr sz="950" b="1">
                <a:solidFill>
                  <a:srgbClr val="060606"/>
                </a:solidFill>
                <a:latin typeface="Helvetica"/>
              </a:rPr>
              <a:t>1</a:t>
            </a:r>
          </a:p>
        </p:txBody>
      </p:sp>
      <p:sp>
        <p:nvSpPr>
          <p:cNvPr id="113" name="Rectangle 112"/>
          <p:cNvSpPr/>
          <p:nvPr/>
        </p:nvSpPr>
        <p:spPr>
          <a:xfrm>
            <a:off x="8424000" y="4309200"/>
            <a:ext cx="1404000" cy="266400"/>
          </a:xfrm>
          <a:prstGeom prst="rect">
            <a:avLst/>
          </a:prstGeom>
          <a:solidFill>
            <a:srgbClr val="FCE5CD"/>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ED7D31"/>
                </a:solidFill>
                <a:latin typeface="Helvetica"/>
              </a:rPr>
              <a:t>● </a:t>
            </a:r>
            <a:r>
              <a:rPr sz="950" b="1">
                <a:solidFill>
                  <a:srgbClr val="060606"/>
                </a:solidFill>
                <a:latin typeface="Helvetica"/>
              </a:rPr>
              <a:t>1</a:t>
            </a:r>
          </a:p>
        </p:txBody>
      </p:sp>
      <p:sp>
        <p:nvSpPr>
          <p:cNvPr id="114" name="Rectangle 113"/>
          <p:cNvSpPr/>
          <p:nvPr/>
        </p:nvSpPr>
        <p:spPr>
          <a:xfrm>
            <a:off x="9827999" y="4309200"/>
            <a:ext cx="1908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00" b="0">
                <a:solidFill>
                  <a:srgbClr val="060606"/>
                </a:solidFill>
                <a:latin typeface="Helvetica"/>
              </a:rPr>
              <a:t>6 constats</a:t>
            </a:r>
          </a:p>
        </p:txBody>
      </p:sp>
      <p:sp>
        <p:nvSpPr>
          <p:cNvPr id="115" name="Nav Trésorerie et placements">
            <a:hlinkClick action="ppaction://hlinksldjump" r:id="rId16"/>
          </p:cNvPr>
          <p:cNvSpPr/>
          <p:nvPr/>
        </p:nvSpPr>
        <p:spPr>
          <a:xfrm>
            <a:off x="503999" y="4575600"/>
            <a:ext cx="2304000" cy="266400"/>
          </a:xfrm>
          <a:prstGeom prst="rect">
            <a:avLst/>
          </a:prstGeom>
          <a:solidFill>
            <a:srgbClr val="F2F2F2"/>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00" b="1">
                <a:solidFill>
                  <a:srgbClr val="060606"/>
                </a:solidFill>
                <a:latin typeface="Helvetica"/>
              </a:rPr>
              <a:t>Trésorerie et placements</a:t>
            </a:r>
          </a:p>
        </p:txBody>
      </p:sp>
      <p:sp>
        <p:nvSpPr>
          <p:cNvPr id="116" name="Rectangle 115"/>
          <p:cNvSpPr/>
          <p:nvPr/>
        </p:nvSpPr>
        <p:spPr>
          <a:xfrm>
            <a:off x="2808000" y="45756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117" name="Rectangle 116"/>
          <p:cNvSpPr/>
          <p:nvPr/>
        </p:nvSpPr>
        <p:spPr>
          <a:xfrm>
            <a:off x="4212000" y="45756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118" name="Rectangle 117"/>
          <p:cNvSpPr/>
          <p:nvPr/>
        </p:nvSpPr>
        <p:spPr>
          <a:xfrm>
            <a:off x="5616000" y="4575600"/>
            <a:ext cx="1404000" cy="266400"/>
          </a:xfrm>
          <a:prstGeom prst="rect">
            <a:avLst/>
          </a:prstGeom>
          <a:solidFill>
            <a:srgbClr val="F4CCCC"/>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C00000"/>
                </a:solidFill>
                <a:latin typeface="Helvetica"/>
              </a:rPr>
              <a:t>● </a:t>
            </a:r>
            <a:r>
              <a:rPr sz="950" b="1">
                <a:solidFill>
                  <a:srgbClr val="060606"/>
                </a:solidFill>
                <a:latin typeface="Helvetica"/>
              </a:rPr>
              <a:t>5</a:t>
            </a:r>
          </a:p>
        </p:txBody>
      </p:sp>
      <p:sp>
        <p:nvSpPr>
          <p:cNvPr id="119" name="Rectangle 118"/>
          <p:cNvSpPr/>
          <p:nvPr/>
        </p:nvSpPr>
        <p:spPr>
          <a:xfrm>
            <a:off x="7020000" y="4575600"/>
            <a:ext cx="1404000" cy="266400"/>
          </a:xfrm>
          <a:prstGeom prst="rect">
            <a:avLst/>
          </a:prstGeom>
          <a:solidFill>
            <a:srgbClr val="FCE5CD"/>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ED7D31"/>
                </a:solidFill>
                <a:latin typeface="Helvetica"/>
              </a:rPr>
              <a:t>● </a:t>
            </a:r>
            <a:r>
              <a:rPr sz="950" b="1">
                <a:solidFill>
                  <a:srgbClr val="060606"/>
                </a:solidFill>
                <a:latin typeface="Helvetica"/>
              </a:rPr>
              <a:t>3</a:t>
            </a:r>
          </a:p>
        </p:txBody>
      </p:sp>
      <p:sp>
        <p:nvSpPr>
          <p:cNvPr id="120" name="Rectangle 119"/>
          <p:cNvSpPr/>
          <p:nvPr/>
        </p:nvSpPr>
        <p:spPr>
          <a:xfrm>
            <a:off x="8424000" y="45756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121" name="Rectangle 120"/>
          <p:cNvSpPr/>
          <p:nvPr/>
        </p:nvSpPr>
        <p:spPr>
          <a:xfrm>
            <a:off x="9827999" y="4575600"/>
            <a:ext cx="1908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00" b="0">
                <a:solidFill>
                  <a:srgbClr val="060606"/>
                </a:solidFill>
                <a:latin typeface="Helvetica"/>
              </a:rPr>
              <a:t>6 constats</a:t>
            </a:r>
          </a:p>
        </p:txBody>
      </p:sp>
      <p:sp>
        <p:nvSpPr>
          <p:cNvPr id="122" name="Nav Gouvernance">
            <a:hlinkClick action="ppaction://hlinksldjump" r:id="rId17"/>
          </p:cNvPr>
          <p:cNvSpPr/>
          <p:nvPr/>
        </p:nvSpPr>
        <p:spPr>
          <a:xfrm>
            <a:off x="503999" y="4842000"/>
            <a:ext cx="2304000" cy="266400"/>
          </a:xfrm>
          <a:prstGeom prst="rect">
            <a:avLst/>
          </a:prstGeom>
          <a:solidFill>
            <a:srgbClr val="F2F2F2"/>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00" b="1">
                <a:solidFill>
                  <a:srgbClr val="060606"/>
                </a:solidFill>
                <a:latin typeface="Helvetica"/>
              </a:rPr>
              <a:t>Gouvernance</a:t>
            </a:r>
          </a:p>
        </p:txBody>
      </p:sp>
      <p:sp>
        <p:nvSpPr>
          <p:cNvPr id="123" name="Rectangle 122"/>
          <p:cNvSpPr/>
          <p:nvPr/>
        </p:nvSpPr>
        <p:spPr>
          <a:xfrm>
            <a:off x="2808000" y="48420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124" name="Rectangle 123"/>
          <p:cNvSpPr/>
          <p:nvPr/>
        </p:nvSpPr>
        <p:spPr>
          <a:xfrm>
            <a:off x="4212000" y="48420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125" name="Rectangle 124"/>
          <p:cNvSpPr/>
          <p:nvPr/>
        </p:nvSpPr>
        <p:spPr>
          <a:xfrm>
            <a:off x="5616000" y="48420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126" name="Rectangle 125"/>
          <p:cNvSpPr/>
          <p:nvPr/>
        </p:nvSpPr>
        <p:spPr>
          <a:xfrm>
            <a:off x="7020000" y="4842000"/>
            <a:ext cx="1404000" cy="266400"/>
          </a:xfrm>
          <a:prstGeom prst="rect">
            <a:avLst/>
          </a:prstGeom>
          <a:solidFill>
            <a:srgbClr val="F4CCCC"/>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C00000"/>
                </a:solidFill>
                <a:latin typeface="Helvetica"/>
              </a:rPr>
              <a:t>● </a:t>
            </a:r>
            <a:r>
              <a:rPr sz="950" b="1">
                <a:solidFill>
                  <a:srgbClr val="060606"/>
                </a:solidFill>
                <a:latin typeface="Helvetica"/>
              </a:rPr>
              <a:t>2</a:t>
            </a:r>
          </a:p>
        </p:txBody>
      </p:sp>
      <p:sp>
        <p:nvSpPr>
          <p:cNvPr id="127" name="Rectangle 126"/>
          <p:cNvSpPr/>
          <p:nvPr/>
        </p:nvSpPr>
        <p:spPr>
          <a:xfrm>
            <a:off x="8424000" y="4842000"/>
            <a:ext cx="1404000" cy="266400"/>
          </a:xfrm>
          <a:prstGeom prst="rect">
            <a:avLst/>
          </a:prstGeom>
          <a:solidFill>
            <a:srgbClr val="FCE5CD"/>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ED7D31"/>
                </a:solidFill>
                <a:latin typeface="Helvetica"/>
              </a:rPr>
              <a:t>● </a:t>
            </a:r>
            <a:r>
              <a:rPr sz="950" b="1">
                <a:solidFill>
                  <a:srgbClr val="060606"/>
                </a:solidFill>
                <a:latin typeface="Helvetica"/>
              </a:rPr>
              <a:t>2</a:t>
            </a:r>
          </a:p>
        </p:txBody>
      </p:sp>
      <p:sp>
        <p:nvSpPr>
          <p:cNvPr id="128" name="Rectangle 127"/>
          <p:cNvSpPr/>
          <p:nvPr/>
        </p:nvSpPr>
        <p:spPr>
          <a:xfrm>
            <a:off x="9827999" y="4842000"/>
            <a:ext cx="1908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00" b="0">
                <a:solidFill>
                  <a:srgbClr val="060606"/>
                </a:solidFill>
                <a:latin typeface="Helvetica"/>
              </a:rPr>
              <a:t>4 constats</a:t>
            </a:r>
          </a:p>
        </p:txBody>
      </p:sp>
      <p:sp>
        <p:nvSpPr>
          <p:cNvPr id="129" name="Nav Données et informatique">
            <a:hlinkClick action="ppaction://hlinksldjump" r:id="rId18"/>
          </p:cNvPr>
          <p:cNvSpPr/>
          <p:nvPr/>
        </p:nvSpPr>
        <p:spPr>
          <a:xfrm>
            <a:off x="503999" y="5108400"/>
            <a:ext cx="2304000" cy="266400"/>
          </a:xfrm>
          <a:prstGeom prst="rect">
            <a:avLst/>
          </a:prstGeom>
          <a:solidFill>
            <a:srgbClr val="F2F2F2"/>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00" b="1">
                <a:solidFill>
                  <a:srgbClr val="060606"/>
                </a:solidFill>
                <a:latin typeface="Helvetica"/>
              </a:rPr>
              <a:t>Données et informatique</a:t>
            </a:r>
          </a:p>
        </p:txBody>
      </p:sp>
      <p:sp>
        <p:nvSpPr>
          <p:cNvPr id="130" name="Rectangle 129"/>
          <p:cNvSpPr/>
          <p:nvPr/>
        </p:nvSpPr>
        <p:spPr>
          <a:xfrm>
            <a:off x="2808000" y="5108400"/>
            <a:ext cx="1404000" cy="266400"/>
          </a:xfrm>
          <a:prstGeom prst="rect">
            <a:avLst/>
          </a:prstGeom>
          <a:solidFill>
            <a:srgbClr val="FCE5CD"/>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1000" b="1">
                <a:solidFill>
                  <a:srgbClr val="ED7D31"/>
                </a:solidFill>
                <a:latin typeface="Helvetica"/>
              </a:rPr>
              <a:t>● </a:t>
            </a:r>
            <a:r>
              <a:rPr sz="950" b="1">
                <a:solidFill>
                  <a:srgbClr val="060606"/>
                </a:solidFill>
                <a:latin typeface="Helvetica"/>
              </a:rPr>
              <a:t>4</a:t>
            </a:r>
          </a:p>
        </p:txBody>
      </p:sp>
      <p:sp>
        <p:nvSpPr>
          <p:cNvPr id="131" name="Rectangle 130"/>
          <p:cNvSpPr/>
          <p:nvPr/>
        </p:nvSpPr>
        <p:spPr>
          <a:xfrm>
            <a:off x="4212000" y="51084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132" name="Rectangle 131"/>
          <p:cNvSpPr/>
          <p:nvPr/>
        </p:nvSpPr>
        <p:spPr>
          <a:xfrm>
            <a:off x="5616000" y="51084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133" name="Rectangle 132"/>
          <p:cNvSpPr/>
          <p:nvPr/>
        </p:nvSpPr>
        <p:spPr>
          <a:xfrm>
            <a:off x="7020000" y="51084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134" name="Rectangle 133"/>
          <p:cNvSpPr/>
          <p:nvPr/>
        </p:nvSpPr>
        <p:spPr>
          <a:xfrm>
            <a:off x="8424000" y="5108400"/>
            <a:ext cx="1404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135" name="Rectangle 134"/>
          <p:cNvSpPr/>
          <p:nvPr/>
        </p:nvSpPr>
        <p:spPr>
          <a:xfrm>
            <a:off x="9827999" y="5108400"/>
            <a:ext cx="1908000" cy="266400"/>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00" b="0">
                <a:solidFill>
                  <a:srgbClr val="060606"/>
                </a:solidFill>
                <a:latin typeface="Helvetica"/>
              </a:rPr>
              <a:t>4 constats</a:t>
            </a:r>
          </a:p>
        </p:txBody>
      </p:sp>
      <p:sp>
        <p:nvSpPr>
          <p:cNvPr id="136" name="TextBox 135"/>
          <p:cNvSpPr txBox="1"/>
          <p:nvPr/>
        </p:nvSpPr>
        <p:spPr>
          <a:xfrm>
            <a:off x="503999" y="5392800"/>
            <a:ext cx="11232000" cy="162000"/>
          </a:xfrm>
          <a:prstGeom prst="rect">
            <a:avLst/>
          </a:prstGeom>
          <a:noFill/>
        </p:spPr>
        <p:txBody>
          <a:bodyPr wrap="none">
            <a:spAutoFit/>
          </a:bodyPr>
          <a:lstStyle/>
          <a:p>
            <a:r>
              <a:rPr sz="750" b="1">
                <a:solidFill>
                  <a:srgbClr val="060606"/>
                </a:solidFill>
                <a:latin typeface="Helvetica"/>
              </a:rPr>
              <a:t>Dans chaque case : nombre de constats du type, et boule de la couleur du plus grave. </a:t>
            </a:r>
            <a:r>
              <a:rPr sz="850" b="1">
                <a:solidFill>
                  <a:srgbClr val="C00000"/>
                </a:solidFill>
                <a:latin typeface="Helvetica"/>
              </a:rPr>
              <a:t>● </a:t>
            </a:r>
            <a:r>
              <a:rPr sz="750" b="0">
                <a:solidFill>
                  <a:srgbClr val="060606"/>
                </a:solidFill>
                <a:latin typeface="Helvetica"/>
              </a:rPr>
              <a:t>Critique   </a:t>
            </a:r>
            <a:r>
              <a:rPr sz="850" b="1">
                <a:solidFill>
                  <a:srgbClr val="ED7D31"/>
                </a:solidFill>
                <a:latin typeface="Helvetica"/>
              </a:rPr>
              <a:t>● </a:t>
            </a:r>
            <a:r>
              <a:rPr sz="750" b="0">
                <a:solidFill>
                  <a:srgbClr val="060606"/>
                </a:solidFill>
                <a:latin typeface="Helvetica"/>
              </a:rPr>
              <a:t>Élevé   </a:t>
            </a:r>
            <a:r>
              <a:rPr sz="850" b="1">
                <a:solidFill>
                  <a:srgbClr val="FFC000"/>
                </a:solidFill>
                <a:latin typeface="Helvetica"/>
              </a:rPr>
              <a:t>● </a:t>
            </a:r>
            <a:r>
              <a:rPr sz="750" b="0">
                <a:solidFill>
                  <a:srgbClr val="060606"/>
                </a:solidFill>
                <a:latin typeface="Helvetica"/>
              </a:rPr>
              <a:t>Moyen   </a:t>
            </a:r>
            <a:r>
              <a:rPr sz="850" b="1">
                <a:solidFill>
                  <a:srgbClr val="70AD47"/>
                </a:solidFill>
                <a:latin typeface="Helvetica"/>
              </a:rPr>
              <a:t>● </a:t>
            </a:r>
            <a:r>
              <a:rPr sz="750" b="0">
                <a:solidFill>
                  <a:srgbClr val="060606"/>
                </a:solidFill>
                <a:latin typeface="Helvetica"/>
              </a:rPr>
              <a:t>Faible   </a:t>
            </a:r>
            <a:r>
              <a:rPr sz="750" b="0">
                <a:solidFill>
                  <a:srgbClr val="060606"/>
                </a:solidFill>
                <a:latin typeface="Helvetica"/>
              </a:rPr>
              <a:t>Un constat peut relever de plusieurs types.</a:t>
            </a:r>
          </a:p>
        </p:txBody>
      </p:sp>
      <p:sp>
        <p:nvSpPr>
          <p:cNvPr id="137" name="TextBox 136"/>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CGRAE : Caisse générale de retraite des agents de l'État | PEP : Plan Épargne Plus | EFC : entraide fin de carrière | CMP : Clinique médicale du policier | MEDOC : produit santé complémentaire du poste 8Z7</a:t>
            </a:r>
          </a:p>
        </p:txBody>
      </p:sp>
    </p:spTree>
    <p:extLst>
      <p:ext uri="{BB962C8B-B14F-4D97-AF65-F5344CB8AC3E}">
        <p14:creationId xmlns:p14="http://schemas.microsoft.com/office/powerpoint/2010/main" val="1764839336"/>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Synthèse chiffrée par activité</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Cinq activités ont au moins un constat critique à traiter dans les trois mois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Nombre de constats, criticité la plus haute, constat le plus grave et priorité la plus haute de chaque activité</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rapport actuariel et statistique du 23/10/2026. Résumé exécutif du 26/10/2026</a:t>
            </a:r>
          </a:p>
        </p:txBody>
      </p:sp>
      <p:graphicFrame>
        <p:nvGraphicFramePr>
          <p:cNvPr id="31" name="Table 30"/>
          <p:cNvGraphicFramePr>
            <a:graphicFrameLocks noGrp="1"/>
          </p:cNvGraphicFramePr>
          <p:nvPr/>
        </p:nvGraphicFramePr>
        <p:xfrm>
          <a:off x="503999" y="1386000"/>
          <a:ext cx="11232000" cy="3058689"/>
        </p:xfrm>
        <a:graphic>
          <a:graphicData uri="http://schemas.openxmlformats.org/drawingml/2006/table">
            <a:tbl>
              <a:tblPr firstRow="0" bandRow="0">
                <a:tableStyleId>{5940675A-B579-460E-94D1-54222C63F5DA}</a:tableStyleId>
              </a:tblPr>
              <a:tblGrid>
                <a:gridCol w="2304000"/>
                <a:gridCol w="864000"/>
                <a:gridCol w="1512000"/>
                <a:gridCol w="4320000"/>
                <a:gridCol w="1296000"/>
                <a:gridCol w="936000"/>
              </a:tblGrid>
              <a:tr h="331937">
                <a:tc>
                  <a:txBody>
                    <a:bodyPr/>
                    <a:lstStyle/>
                    <a:p>
                      <a:pPr marL="0" indent="0" lvl="0">
                        <a:buNone/>
                      </a:pPr>
                      <a:r>
                        <a:rPr sz="900" b="1">
                          <a:solidFill>
                            <a:srgbClr val="FFFFFF"/>
                          </a:solidFill>
                          <a:latin typeface="Helvetica"/>
                        </a:rPr>
                        <a:t>Activité</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Constats</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Criticité la plus haute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Constat le plus grave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Priorité la plus haute</a:t>
                      </a:r>
                    </a:p>
                  </a:txBody>
                  <a:tcPr marL="43200" marR="43200" marT="14400" marB="14400" anchor="ctr">
                    <a:solidFill>
                      <a:srgbClr val="060606"/>
                    </a:solidFill>
                  </a:tcPr>
                </a:tc>
                <a:tc>
                  <a:txBody>
                    <a:bodyPr/>
                    <a:lstStyle/>
                    <a:p>
                      <a:pPr marL="0" indent="0" lvl="0">
                        <a:buNone/>
                      </a:pPr>
                      <a:r>
                        <a:rPr sz="900" b="1">
                          <a:solidFill>
                            <a:srgbClr val="FFFFFF"/>
                          </a:solidFill>
                          <a:latin typeface="Helvetica"/>
                        </a:rPr>
                        <a:t>Constats en P1</a:t>
                      </a:r>
                    </a:p>
                  </a:txBody>
                  <a:tcPr marL="43200" marR="43200" marT="14400" marB="14400" anchor="ctr">
                    <a:solidFill>
                      <a:srgbClr val="060606"/>
                    </a:solidFill>
                  </a:tcPr>
                </a:tc>
              </a:tr>
              <a:tr h="194768">
                <a:tc>
                  <a:txBody>
                    <a:bodyPr/>
                    <a:lstStyle/>
                    <a:p>
                      <a:pPr marL="0" indent="0" lvl="0">
                        <a:buNone/>
                      </a:pPr>
                      <a:r>
                        <a:rPr sz="900" b="1">
                          <a:solidFill>
                            <a:srgbClr val="060606"/>
                          </a:solidFill>
                          <a:latin typeface="Helvetica"/>
                        </a:rPr>
                        <a:t>Maladie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Critique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19 : La garantie maladie perd de l'argent depuis 2025.</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P1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Décès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7</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Élevé</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1.b : La provision obsèques fait double emploi.</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P1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Retraités (CGRAE)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5</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Élevé</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22.a : La durée de la garantie santé n'est pas fixée.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P2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EFC</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6</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Critique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6 : Les intérêts promis ne sont pas comptabilisés.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P1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PEP</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Critique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6.a : Les intérêts promis ne sont pas comptabilisés.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P1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MEDOC</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Élevé</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26.f : MEDOC n'est pas documenté.</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P3</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Grenier</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Élevé</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25 : Le Grenier grandit vite avec l'épargne.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P2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Flotte automobile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3</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Moyen</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18.a : Les trop-perçus ne sont pas suivis comme une dette.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P3</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Clinique (CMP)</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Élevé</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17 : La clinique n'a pas de comptabilité séparée.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P2</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0</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Cotisations et précomptes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5</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Élevé</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27 : Les fichiers ne sont pas rapprochés.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P2</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0</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Comptabilité et provisions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6</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Critique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 : Les provisions ne sont pas calculées.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P1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Trésorerie et placements</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6</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Critique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11 : L'argent disponible ne couvre pas l'année.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P1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1</a:t>
                      </a:r>
                    </a:p>
                  </a:txBody>
                  <a:tcPr marL="43200" marR="43200" marT="14400" marB="14400" anchor="ctr">
                    <a:solidFill>
                      <a:srgbClr val="F2F2F2"/>
                    </a:solidFill>
                  </a:tcPr>
                </a:tc>
              </a:tr>
              <a:tr h="194768">
                <a:tc>
                  <a:txBody>
                    <a:bodyPr/>
                    <a:lstStyle/>
                    <a:p>
                      <a:pPr marL="0" indent="0" lvl="0">
                        <a:buNone/>
                      </a:pPr>
                      <a:r>
                        <a:rPr sz="900" b="1">
                          <a:solidFill>
                            <a:srgbClr val="060606"/>
                          </a:solidFill>
                          <a:latin typeface="Helvetica"/>
                        </a:rPr>
                        <a:t>Gouvernance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4</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Critique</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14 : Plusieurs règles de solidité ne sont pas respectées.</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P1</a:t>
                      </a:r>
                    </a:p>
                  </a:txBody>
                  <a:tcPr marL="43200" marR="43200" marT="14400" marB="14400" anchor="ctr">
                    <a:solidFill>
                      <a:srgbClr val="FFFFFF"/>
                    </a:solidFill>
                  </a:tcPr>
                </a:tc>
                <a:tc>
                  <a:txBody>
                    <a:bodyPr/>
                    <a:lstStyle/>
                    <a:p>
                      <a:pPr marL="0" indent="0" lvl="0">
                        <a:buNone/>
                      </a:pPr>
                      <a:r>
                        <a:rPr sz="900" b="0">
                          <a:solidFill>
                            <a:srgbClr val="060606"/>
                          </a:solidFill>
                          <a:latin typeface="Helvetica"/>
                        </a:rPr>
                        <a:t>1</a:t>
                      </a:r>
                    </a:p>
                  </a:txBody>
                  <a:tcPr marL="43200" marR="43200" marT="14400" marB="14400" anchor="ctr">
                    <a:solidFill>
                      <a:srgbClr val="FFFFFF"/>
                    </a:solidFill>
                  </a:tcPr>
                </a:tc>
              </a:tr>
              <a:tr h="194768">
                <a:tc>
                  <a:txBody>
                    <a:bodyPr/>
                    <a:lstStyle/>
                    <a:p>
                      <a:pPr marL="0" indent="0" lvl="0">
                        <a:buNone/>
                      </a:pPr>
                      <a:r>
                        <a:rPr sz="900" b="1">
                          <a:solidFill>
                            <a:srgbClr val="060606"/>
                          </a:solidFill>
                          <a:latin typeface="Helvetica"/>
                        </a:rPr>
                        <a:t>Données et informatique</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4</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Élevé</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26 : Des données essentielles manquent.</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P1</a:t>
                      </a:r>
                    </a:p>
                  </a:txBody>
                  <a:tcPr marL="43200" marR="43200" marT="14400" marB="14400" anchor="ctr">
                    <a:solidFill>
                      <a:srgbClr val="F2F2F2"/>
                    </a:solidFill>
                  </a:tcPr>
                </a:tc>
                <a:tc>
                  <a:txBody>
                    <a:bodyPr/>
                    <a:lstStyle/>
                    <a:p>
                      <a:pPr marL="0" indent="0" lvl="0">
                        <a:buNone/>
                      </a:pPr>
                      <a:r>
                        <a:rPr sz="900" b="0">
                          <a:solidFill>
                            <a:srgbClr val="060606"/>
                          </a:solidFill>
                          <a:latin typeface="Helvetica"/>
                        </a:rPr>
                        <a:t>2</a:t>
                      </a:r>
                    </a:p>
                  </a:txBody>
                  <a:tcPr marL="43200" marR="43200" marT="14400" marB="14400" anchor="ctr">
                    <a:solidFill>
                      <a:srgbClr val="F2F2F2"/>
                    </a:solidFill>
                  </a:tcPr>
                </a:tc>
              </a:tr>
            </a:tbl>
          </a:graphicData>
        </a:graphic>
      </p:graphicFrame>
      <p:sp>
        <p:nvSpPr>
          <p:cNvPr id="32" name="TextBox 31"/>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CGRAE : Caisse générale de retraite des agents de l'État | PEP : Plan Épargne Plus | EFC : entraide fin de carrière | CMP : Clinique médicale du policier | MEDOC : produit santé complémentaire du poste 8Z7</a:t>
            </a:r>
          </a:p>
        </p:txBody>
      </p:sp>
    </p:spTree>
    <p:extLst>
      <p:ext uri="{BB962C8B-B14F-4D97-AF65-F5344CB8AC3E}">
        <p14:creationId xmlns:p14="http://schemas.microsoft.com/office/powerpoint/2010/main" val="247750587"/>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square" lIns="0" tIns="0" rIns="0" bIns="0">
            <a:spAutoFit/>
          </a:bodyPr>
          <a:lstStyle/>
          <a:p>
            <a:pPr lvl="0">
              <a:lnSpc>
                <a:spcPct val="110000"/>
              </a:lnSpc>
            </a:pPr>
            <a:r>
              <a:rPr lang="fr-CI" sz="60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2</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Produits</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Chaque constat se lit sur une ligne : son commentaire, sa recommandation, sa complexité et sa priorité</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1399259322"/>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Maladie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garantie maladie perd de l'argent depuis 2025, et ses provisions ne sont pas calculées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Constat le plus grave : 19, la garantie maladie perd de l'argent depuis 2025</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rapport actuariel et statistique du 23/10/2026. Logigrammes du FPPN (« FLOW_CHART_COTISATION_ET_PRODUITS_DEPARGNE_1.pptx »). Résumé exécutif du 26/10/2026</a:t>
            </a:r>
          </a:p>
        </p:txBody>
      </p:sp>
      <p:sp>
        <p:nvSpPr>
          <p:cNvPr id="31" name="Rectangle 30"/>
          <p:cNvSpPr/>
          <p:nvPr/>
        </p:nvSpPr>
        <p:spPr>
          <a:xfrm>
            <a:off x="503999" y="1411200"/>
            <a:ext cx="7085571" cy="1512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00" b="1">
                <a:solidFill>
                  <a:srgbClr val="FFFFFF"/>
                </a:solidFill>
                <a:latin typeface="Helvetica"/>
              </a:rPr>
              <a:t>PRODUITS</a:t>
            </a:r>
          </a:p>
        </p:txBody>
      </p:sp>
      <p:sp>
        <p:nvSpPr>
          <p:cNvPr id="32" name="Rectangle 31"/>
          <p:cNvSpPr/>
          <p:nvPr/>
        </p:nvSpPr>
        <p:spPr>
          <a:xfrm>
            <a:off x="7823571" y="1411200"/>
            <a:ext cx="3912428" cy="1512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00" b="1">
                <a:solidFill>
                  <a:srgbClr val="FFFFFF"/>
                </a:solidFill>
                <a:latin typeface="Helvetica"/>
              </a:rPr>
              <a:t>FONCTIONS TRANSVERSES</a:t>
            </a:r>
          </a:p>
        </p:txBody>
      </p:sp>
      <p:sp>
        <p:nvSpPr>
          <p:cNvPr id="33" name="Nav Maladie"/>
          <p:cNvSpPr/>
          <p:nvPr/>
        </p:nvSpPr>
        <p:spPr>
          <a:xfrm>
            <a:off x="503999" y="1591200"/>
            <a:ext cx="739285" cy="1800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1">
                <a:solidFill>
                  <a:srgbClr val="FFFFFF"/>
                </a:solidFill>
                <a:latin typeface="Helvetica"/>
              </a:rPr>
              <a:t>Maladie</a:t>
            </a:r>
          </a:p>
        </p:txBody>
      </p:sp>
      <p:sp>
        <p:nvSpPr>
          <p:cNvPr id="34" name="Nav Décès">
            <a:hlinkClick action="ppaction://hlinksldjump" r:id="rId7"/>
          </p:cNvPr>
          <p:cNvSpPr/>
          <p:nvPr/>
        </p:nvSpPr>
        <p:spPr>
          <a:xfrm>
            <a:off x="1297285"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Décès</a:t>
            </a:r>
          </a:p>
        </p:txBody>
      </p:sp>
      <p:sp>
        <p:nvSpPr>
          <p:cNvPr id="35" name="Nav Retraités (CGRAE)">
            <a:hlinkClick action="ppaction://hlinksldjump" r:id="rId8"/>
          </p:cNvPr>
          <p:cNvSpPr/>
          <p:nvPr/>
        </p:nvSpPr>
        <p:spPr>
          <a:xfrm>
            <a:off x="2090571"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Retraités</a:t>
            </a:r>
          </a:p>
        </p:txBody>
      </p:sp>
      <p:sp>
        <p:nvSpPr>
          <p:cNvPr id="36" name="Nav EFC">
            <a:hlinkClick action="ppaction://hlinksldjump" r:id="rId9"/>
          </p:cNvPr>
          <p:cNvSpPr/>
          <p:nvPr/>
        </p:nvSpPr>
        <p:spPr>
          <a:xfrm>
            <a:off x="2883857"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EFC</a:t>
            </a:r>
          </a:p>
        </p:txBody>
      </p:sp>
      <p:sp>
        <p:nvSpPr>
          <p:cNvPr id="37" name="Nav PEP">
            <a:hlinkClick action="ppaction://hlinksldjump" r:id="rId10"/>
          </p:cNvPr>
          <p:cNvSpPr/>
          <p:nvPr/>
        </p:nvSpPr>
        <p:spPr>
          <a:xfrm>
            <a:off x="3677142"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PEP</a:t>
            </a:r>
          </a:p>
        </p:txBody>
      </p:sp>
      <p:sp>
        <p:nvSpPr>
          <p:cNvPr id="38" name="Nav MEDOC">
            <a:hlinkClick action="ppaction://hlinksldjump" r:id="rId10"/>
          </p:cNvPr>
          <p:cNvSpPr/>
          <p:nvPr/>
        </p:nvSpPr>
        <p:spPr>
          <a:xfrm>
            <a:off x="4470428"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MEDOC</a:t>
            </a:r>
          </a:p>
        </p:txBody>
      </p:sp>
      <p:sp>
        <p:nvSpPr>
          <p:cNvPr id="39" name="Nav Grenier">
            <a:hlinkClick action="ppaction://hlinksldjump" r:id="rId11"/>
          </p:cNvPr>
          <p:cNvSpPr/>
          <p:nvPr/>
        </p:nvSpPr>
        <p:spPr>
          <a:xfrm>
            <a:off x="5263714"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Grenier</a:t>
            </a:r>
          </a:p>
        </p:txBody>
      </p:sp>
      <p:sp>
        <p:nvSpPr>
          <p:cNvPr id="40" name="Nav Flotte automobile">
            <a:hlinkClick action="ppaction://hlinksldjump" r:id="rId12"/>
          </p:cNvPr>
          <p:cNvSpPr/>
          <p:nvPr/>
        </p:nvSpPr>
        <p:spPr>
          <a:xfrm>
            <a:off x="6057000"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FFC000"/>
                </a:solidFill>
                <a:latin typeface="Helvetica"/>
              </a:rPr>
              <a:t>● </a:t>
            </a:r>
            <a:r>
              <a:rPr sz="750" b="0">
                <a:solidFill>
                  <a:srgbClr val="53565A"/>
                </a:solidFill>
                <a:latin typeface="Helvetica"/>
              </a:rPr>
              <a:t>Flotte auto</a:t>
            </a:r>
          </a:p>
        </p:txBody>
      </p:sp>
      <p:sp>
        <p:nvSpPr>
          <p:cNvPr id="41" name="Nav Clinique (CMP)">
            <a:hlinkClick action="ppaction://hlinksldjump" r:id="rId12"/>
          </p:cNvPr>
          <p:cNvSpPr/>
          <p:nvPr/>
        </p:nvSpPr>
        <p:spPr>
          <a:xfrm>
            <a:off x="6850285"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Clinique</a:t>
            </a:r>
          </a:p>
        </p:txBody>
      </p:sp>
      <p:sp>
        <p:nvSpPr>
          <p:cNvPr id="42" name="Nav Cotisations et précomptes">
            <a:hlinkClick action="ppaction://hlinksldjump" r:id="rId13"/>
          </p:cNvPr>
          <p:cNvSpPr/>
          <p:nvPr/>
        </p:nvSpPr>
        <p:spPr>
          <a:xfrm>
            <a:off x="7823571"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Cotisations</a:t>
            </a:r>
          </a:p>
        </p:txBody>
      </p:sp>
      <p:sp>
        <p:nvSpPr>
          <p:cNvPr id="43" name="Nav Comptabilité et provisions">
            <a:hlinkClick action="ppaction://hlinksldjump" r:id="rId14"/>
          </p:cNvPr>
          <p:cNvSpPr/>
          <p:nvPr/>
        </p:nvSpPr>
        <p:spPr>
          <a:xfrm>
            <a:off x="8616857"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Comptabilité</a:t>
            </a:r>
          </a:p>
        </p:txBody>
      </p:sp>
      <p:sp>
        <p:nvSpPr>
          <p:cNvPr id="44" name="Nav Trésorerie et placements">
            <a:hlinkClick action="ppaction://hlinksldjump" r:id="rId15"/>
          </p:cNvPr>
          <p:cNvSpPr/>
          <p:nvPr/>
        </p:nvSpPr>
        <p:spPr>
          <a:xfrm>
            <a:off x="9410142"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Trésorerie</a:t>
            </a:r>
          </a:p>
        </p:txBody>
      </p:sp>
      <p:sp>
        <p:nvSpPr>
          <p:cNvPr id="45" name="Nav Gouvernance">
            <a:hlinkClick action="ppaction://hlinksldjump" r:id="rId16"/>
          </p:cNvPr>
          <p:cNvSpPr/>
          <p:nvPr/>
        </p:nvSpPr>
        <p:spPr>
          <a:xfrm>
            <a:off x="10203428"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Gouvernance</a:t>
            </a:r>
          </a:p>
        </p:txBody>
      </p:sp>
      <p:sp>
        <p:nvSpPr>
          <p:cNvPr id="46" name="Nav Données et informatique">
            <a:hlinkClick action="ppaction://hlinksldjump" r:id="rId17"/>
          </p:cNvPr>
          <p:cNvSpPr/>
          <p:nvPr/>
        </p:nvSpPr>
        <p:spPr>
          <a:xfrm>
            <a:off x="10996714"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Données</a:t>
            </a:r>
          </a:p>
        </p:txBody>
      </p:sp>
      <p:sp>
        <p:nvSpPr>
          <p:cNvPr id="47" name="Bloc Maladie"/>
          <p:cNvSpPr/>
          <p:nvPr/>
        </p:nvSpPr>
        <p:spPr>
          <a:xfrm>
            <a:off x="503999" y="1835999"/>
            <a:ext cx="11232000" cy="2232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00" b="1">
                <a:solidFill>
                  <a:srgbClr val="C00000"/>
                </a:solidFill>
                <a:latin typeface="Helvetica"/>
              </a:rPr>
              <a:t>● </a:t>
            </a:r>
            <a:r>
              <a:rPr sz="1000" b="0">
                <a:solidFill>
                  <a:srgbClr val="BBBCBC"/>
                </a:solidFill>
                <a:latin typeface="Helvetica"/>
              </a:rPr>
              <a:t>PRODUITS  ›  </a:t>
            </a:r>
            <a:r>
              <a:rPr sz="1200" b="1">
                <a:solidFill>
                  <a:srgbClr val="FFFFFF"/>
                </a:solidFill>
                <a:latin typeface="Helvetica"/>
              </a:rPr>
              <a:t>MALADIE</a:t>
            </a:r>
            <a:r>
              <a:rPr sz="950" b="0">
                <a:solidFill>
                  <a:srgbClr val="FFFFFF"/>
                </a:solidFill>
                <a:latin typeface="Helvetica"/>
              </a:rPr>
              <a:t>     6 constats, dont 2 à traiter dans les trois mois</a:t>
            </a:r>
          </a:p>
        </p:txBody>
      </p:sp>
      <p:sp>
        <p:nvSpPr>
          <p:cNvPr id="48" name="Nav Carte">
            <a:hlinkClick action="ppaction://hlinksldjump" r:id="rId18"/>
          </p:cNvPr>
          <p:cNvSpPr/>
          <p:nvPr/>
        </p:nvSpPr>
        <p:spPr>
          <a:xfrm>
            <a:off x="10007999" y="1871999"/>
            <a:ext cx="1655999" cy="151200"/>
          </a:xfrm>
          <a:prstGeom prst="rect">
            <a:avLst/>
          </a:prstGeom>
          <a:solidFill>
            <a:srgbClr val="53565A"/>
          </a:solidFill>
          <a:ln w="952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50" b="1">
                <a:solidFill>
                  <a:srgbClr val="FFFFFF"/>
                </a:solidFill>
                <a:latin typeface="Helvetica"/>
              </a:rPr>
              <a:t>↩ Carte des activités</a:t>
            </a:r>
          </a:p>
        </p:txBody>
      </p:sp>
      <p:sp>
        <p:nvSpPr>
          <p:cNvPr id="49" name="Rectangle 48"/>
          <p:cNvSpPr/>
          <p:nvPr/>
        </p:nvSpPr>
        <p:spPr>
          <a:xfrm>
            <a:off x="503999" y="2088000"/>
            <a:ext cx="597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Constat et commentaire</a:t>
            </a:r>
          </a:p>
        </p:txBody>
      </p:sp>
      <p:sp>
        <p:nvSpPr>
          <p:cNvPr id="50" name="Rectangle 49"/>
          <p:cNvSpPr/>
          <p:nvPr/>
        </p:nvSpPr>
        <p:spPr>
          <a:xfrm>
            <a:off x="6480000" y="2088000"/>
            <a:ext cx="3384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Recommandation</a:t>
            </a:r>
          </a:p>
        </p:txBody>
      </p:sp>
      <p:sp>
        <p:nvSpPr>
          <p:cNvPr id="51" name="Rectangle 50"/>
          <p:cNvSpPr/>
          <p:nvPr/>
        </p:nvSpPr>
        <p:spPr>
          <a:xfrm>
            <a:off x="9864000" y="2088000"/>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Complexité</a:t>
            </a:r>
          </a:p>
        </p:txBody>
      </p:sp>
      <p:sp>
        <p:nvSpPr>
          <p:cNvPr id="52" name="Rectangle 51"/>
          <p:cNvSpPr/>
          <p:nvPr/>
        </p:nvSpPr>
        <p:spPr>
          <a:xfrm>
            <a:off x="10800000" y="2088000"/>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Priorité</a:t>
            </a:r>
          </a:p>
        </p:txBody>
      </p:sp>
      <p:sp>
        <p:nvSpPr>
          <p:cNvPr id="53" name="Rectangle 52"/>
          <p:cNvSpPr/>
          <p:nvPr/>
        </p:nvSpPr>
        <p:spPr>
          <a:xfrm>
            <a:off x="503999" y="2286000"/>
            <a:ext cx="5976000" cy="80718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C00000"/>
                </a:solidFill>
                <a:latin typeface="Helvetica"/>
              </a:rPr>
              <a:t>● </a:t>
            </a:r>
            <a:r>
              <a:rPr sz="1050" b="1">
                <a:solidFill>
                  <a:srgbClr val="112A40"/>
                </a:solidFill>
                <a:latin typeface="Helvetica"/>
              </a:rPr>
              <a:t>19   </a:t>
            </a:r>
            <a:r>
              <a:rPr sz="1050" b="1">
                <a:solidFill>
                  <a:srgbClr val="060606"/>
                </a:solidFill>
                <a:latin typeface="Helvetica"/>
              </a:rPr>
              <a:t>La garantie maladie perd de l'argent depuis 2025. </a:t>
            </a:r>
            <a:r>
              <a:rPr sz="1050" b="0">
                <a:solidFill>
                  <a:srgbClr val="060606"/>
                </a:solidFill>
                <a:latin typeface="Helvetica"/>
              </a:rPr>
              <a:t>Les soins consomment 73,53 % des cotisations maladie en 2025 et 97,40 % sur huit mois de 2026 (109,87 % frais compris en 2025). Le niveau bas de 2020 à 2022 venait d'une couverture limitée à l'hospitalisation et de factures impayées, pas d'une bonne santé.</a:t>
            </a:r>
          </a:p>
        </p:txBody>
      </p:sp>
      <p:sp>
        <p:nvSpPr>
          <p:cNvPr id="54" name="Rectangle 53"/>
          <p:cNvSpPr/>
          <p:nvPr/>
        </p:nvSpPr>
        <p:spPr>
          <a:xfrm>
            <a:off x="6480000" y="2286000"/>
            <a:ext cx="3384000" cy="80718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Recalculer la cotisation maladie sur le coût complet et revoir le barème et les conventions avec les cliniques.</a:t>
            </a:r>
          </a:p>
        </p:txBody>
      </p:sp>
      <p:sp>
        <p:nvSpPr>
          <p:cNvPr id="55" name="Rectangle 54"/>
          <p:cNvSpPr/>
          <p:nvPr/>
        </p:nvSpPr>
        <p:spPr>
          <a:xfrm>
            <a:off x="9864000" y="2286000"/>
            <a:ext cx="936000" cy="80718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56" name="Rectangle 55"/>
          <p:cNvSpPr/>
          <p:nvPr/>
        </p:nvSpPr>
        <p:spPr>
          <a:xfrm>
            <a:off x="10800000" y="2286000"/>
            <a:ext cx="936000" cy="80718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57" name="Rounded Rectangle 56"/>
          <p:cNvSpPr/>
          <p:nvPr/>
        </p:nvSpPr>
        <p:spPr>
          <a:xfrm>
            <a:off x="9936000" y="2581590"/>
            <a:ext cx="792000" cy="216000"/>
          </a:xfrm>
          <a:prstGeom prst="roundRect">
            <a:avLst/>
          </a:prstGeom>
          <a:solidFill>
            <a:srgbClr val="F4CC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Élevée</a:t>
            </a:r>
          </a:p>
        </p:txBody>
      </p:sp>
      <p:sp>
        <p:nvSpPr>
          <p:cNvPr id="58" name="Rounded Rectangle 57"/>
          <p:cNvSpPr/>
          <p:nvPr/>
        </p:nvSpPr>
        <p:spPr>
          <a:xfrm>
            <a:off x="10962000" y="2581590"/>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59" name="Rectangle 58"/>
          <p:cNvSpPr/>
          <p:nvPr/>
        </p:nvSpPr>
        <p:spPr>
          <a:xfrm>
            <a:off x="503999" y="3093181"/>
            <a:ext cx="5976000" cy="486939"/>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ED7D31"/>
                </a:solidFill>
                <a:latin typeface="Helvetica"/>
              </a:rPr>
              <a:t>● </a:t>
            </a:r>
            <a:r>
              <a:rPr sz="1050" b="1">
                <a:solidFill>
                  <a:srgbClr val="112A40"/>
                </a:solidFill>
                <a:latin typeface="Helvetica"/>
              </a:rPr>
              <a:t>1.a   </a:t>
            </a:r>
            <a:r>
              <a:rPr sz="1050" b="1">
                <a:solidFill>
                  <a:srgbClr val="060606"/>
                </a:solidFill>
                <a:latin typeface="Helvetica"/>
              </a:rPr>
              <a:t>La provision maladie est figée depuis 2020. </a:t>
            </a:r>
            <a:r>
              <a:rPr sz="1050" b="0">
                <a:solidFill>
                  <a:srgbClr val="060606"/>
                </a:solidFill>
                <a:latin typeface="Helvetica"/>
              </a:rPr>
              <a:t>2 867 602 878 FCFA au bilan pour un besoin mesuré de 12 481 392 FCFA.</a:t>
            </a:r>
          </a:p>
        </p:txBody>
      </p:sp>
      <p:sp>
        <p:nvSpPr>
          <p:cNvPr id="60" name="Rectangle 59"/>
          <p:cNvSpPr/>
          <p:nvPr/>
        </p:nvSpPr>
        <p:spPr>
          <a:xfrm>
            <a:off x="6480000" y="3093181"/>
            <a:ext cx="3384000" cy="486939"/>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Calculer la provision chaque année dans une note signée.</a:t>
            </a:r>
          </a:p>
        </p:txBody>
      </p:sp>
      <p:sp>
        <p:nvSpPr>
          <p:cNvPr id="61" name="Rectangle 60"/>
          <p:cNvSpPr/>
          <p:nvPr/>
        </p:nvSpPr>
        <p:spPr>
          <a:xfrm>
            <a:off x="9864000" y="3093181"/>
            <a:ext cx="936000" cy="486939"/>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2" name="Rectangle 61"/>
          <p:cNvSpPr/>
          <p:nvPr/>
        </p:nvSpPr>
        <p:spPr>
          <a:xfrm>
            <a:off x="10800000" y="3093181"/>
            <a:ext cx="936000" cy="486939"/>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3" name="Rounded Rectangle 62"/>
          <p:cNvSpPr/>
          <p:nvPr/>
        </p:nvSpPr>
        <p:spPr>
          <a:xfrm>
            <a:off x="9936000" y="3228651"/>
            <a:ext cx="792000" cy="216000"/>
          </a:xfrm>
          <a:prstGeom prst="round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Moyenne</a:t>
            </a:r>
          </a:p>
        </p:txBody>
      </p:sp>
      <p:sp>
        <p:nvSpPr>
          <p:cNvPr id="64" name="Rounded Rectangle 63"/>
          <p:cNvSpPr/>
          <p:nvPr/>
        </p:nvSpPr>
        <p:spPr>
          <a:xfrm>
            <a:off x="10962000" y="3228651"/>
            <a:ext cx="612000" cy="216000"/>
          </a:xfrm>
          <a:prstGeom prst="round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P1</a:t>
            </a:r>
          </a:p>
        </p:txBody>
      </p:sp>
      <p:sp>
        <p:nvSpPr>
          <p:cNvPr id="65" name="Rectangle 64"/>
          <p:cNvSpPr/>
          <p:nvPr/>
        </p:nvSpPr>
        <p:spPr>
          <a:xfrm>
            <a:off x="503999" y="3580120"/>
            <a:ext cx="5976000" cy="486939"/>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ED7D31"/>
                </a:solidFill>
                <a:latin typeface="Helvetica"/>
              </a:rPr>
              <a:t>● </a:t>
            </a:r>
            <a:r>
              <a:rPr sz="1050" b="1">
                <a:solidFill>
                  <a:srgbClr val="112A40"/>
                </a:solidFill>
                <a:latin typeface="Helvetica"/>
              </a:rPr>
              <a:t>21   </a:t>
            </a:r>
            <a:r>
              <a:rPr sz="1050" b="1">
                <a:solidFill>
                  <a:srgbClr val="060606"/>
                </a:solidFill>
                <a:latin typeface="Helvetica"/>
              </a:rPr>
              <a:t>Le paiement des cliniques ralentit. </a:t>
            </a:r>
            <a:r>
              <a:rPr sz="1050" b="0">
                <a:solidFill>
                  <a:srgbClr val="060606"/>
                </a:solidFill>
                <a:latin typeface="Helvetica"/>
              </a:rPr>
              <a:t>2,62 mois en 2025, 5,00 mois au 31/08/2026, pour une règle de 3 mois. 690 234 451 FCFA de factures en attente.</a:t>
            </a:r>
          </a:p>
        </p:txBody>
      </p:sp>
      <p:sp>
        <p:nvSpPr>
          <p:cNvPr id="66" name="Rectangle 65"/>
          <p:cNvSpPr/>
          <p:nvPr/>
        </p:nvSpPr>
        <p:spPr>
          <a:xfrm>
            <a:off x="6480000" y="3580120"/>
            <a:ext cx="3384000" cy="486939"/>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Suivre chaque mois le délai de paiement et les factures en attente.</a:t>
            </a:r>
          </a:p>
        </p:txBody>
      </p:sp>
      <p:sp>
        <p:nvSpPr>
          <p:cNvPr id="67" name="Rectangle 66"/>
          <p:cNvSpPr/>
          <p:nvPr/>
        </p:nvSpPr>
        <p:spPr>
          <a:xfrm>
            <a:off x="9864000" y="3580120"/>
            <a:ext cx="936000" cy="486939"/>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8" name="Rectangle 67"/>
          <p:cNvSpPr/>
          <p:nvPr/>
        </p:nvSpPr>
        <p:spPr>
          <a:xfrm>
            <a:off x="10800000" y="3580120"/>
            <a:ext cx="936000" cy="486939"/>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9" name="Rounded Rectangle 68"/>
          <p:cNvSpPr/>
          <p:nvPr/>
        </p:nvSpPr>
        <p:spPr>
          <a:xfrm>
            <a:off x="9936000" y="3715590"/>
            <a:ext cx="792000" cy="216000"/>
          </a:xfrm>
          <a:prstGeom prst="round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Moyenne</a:t>
            </a:r>
          </a:p>
        </p:txBody>
      </p:sp>
      <p:sp>
        <p:nvSpPr>
          <p:cNvPr id="70" name="Rounded Rectangle 69"/>
          <p:cNvSpPr/>
          <p:nvPr/>
        </p:nvSpPr>
        <p:spPr>
          <a:xfrm>
            <a:off x="10962000" y="3715590"/>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71" name="Rectangle 70"/>
          <p:cNvSpPr/>
          <p:nvPr/>
        </p:nvSpPr>
        <p:spPr>
          <a:xfrm>
            <a:off x="503999" y="4067060"/>
            <a:ext cx="5976000" cy="486939"/>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FFC000"/>
                </a:solidFill>
                <a:latin typeface="Helvetica"/>
              </a:rPr>
              <a:t>● </a:t>
            </a:r>
            <a:r>
              <a:rPr sz="1050" b="1">
                <a:solidFill>
                  <a:srgbClr val="112A40"/>
                </a:solidFill>
                <a:latin typeface="Helvetica"/>
              </a:rPr>
              <a:t>26.a   </a:t>
            </a:r>
            <a:r>
              <a:rPr sz="1050" b="1">
                <a:solidFill>
                  <a:srgbClr val="060606"/>
                </a:solidFill>
                <a:latin typeface="Helvetica"/>
              </a:rPr>
              <a:t>La date des soins n'est saisie nulle part. </a:t>
            </a:r>
            <a:r>
              <a:rPr sz="1050" b="0">
                <a:solidFill>
                  <a:srgbClr val="060606"/>
                </a:solidFill>
                <a:latin typeface="Helvetica"/>
              </a:rPr>
              <a:t>Le délai réel de paiement et les soins non encore facturés ne peuvent pas être mesurés précisément.</a:t>
            </a:r>
          </a:p>
        </p:txBody>
      </p:sp>
      <p:sp>
        <p:nvSpPr>
          <p:cNvPr id="72" name="Rectangle 71"/>
          <p:cNvSpPr/>
          <p:nvPr/>
        </p:nvSpPr>
        <p:spPr>
          <a:xfrm>
            <a:off x="6480000" y="4067060"/>
            <a:ext cx="3384000" cy="486939"/>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Saisir la date des soins et la date de dépôt de chaque facture.</a:t>
            </a:r>
          </a:p>
        </p:txBody>
      </p:sp>
      <p:sp>
        <p:nvSpPr>
          <p:cNvPr id="73" name="Rectangle 72"/>
          <p:cNvSpPr/>
          <p:nvPr/>
        </p:nvSpPr>
        <p:spPr>
          <a:xfrm>
            <a:off x="9864000" y="4067060"/>
            <a:ext cx="936000" cy="486939"/>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4" name="Rectangle 73"/>
          <p:cNvSpPr/>
          <p:nvPr/>
        </p:nvSpPr>
        <p:spPr>
          <a:xfrm>
            <a:off x="10800000" y="4067060"/>
            <a:ext cx="936000" cy="486939"/>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5" name="Rounded Rectangle 74"/>
          <p:cNvSpPr/>
          <p:nvPr/>
        </p:nvSpPr>
        <p:spPr>
          <a:xfrm>
            <a:off x="9936000" y="4202530"/>
            <a:ext cx="792000" cy="216000"/>
          </a:xfrm>
          <a:prstGeom prst="round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Moyenne</a:t>
            </a:r>
          </a:p>
        </p:txBody>
      </p:sp>
      <p:sp>
        <p:nvSpPr>
          <p:cNvPr id="76" name="Rounded Rectangle 75"/>
          <p:cNvSpPr/>
          <p:nvPr/>
        </p:nvSpPr>
        <p:spPr>
          <a:xfrm>
            <a:off x="10962000" y="4202530"/>
            <a:ext cx="612000" cy="216000"/>
          </a:xfrm>
          <a:prstGeom prst="round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P1</a:t>
            </a:r>
          </a:p>
        </p:txBody>
      </p:sp>
      <p:sp>
        <p:nvSpPr>
          <p:cNvPr id="77" name="Rectangle 76"/>
          <p:cNvSpPr/>
          <p:nvPr/>
        </p:nvSpPr>
        <p:spPr>
          <a:xfrm>
            <a:off x="503999" y="4554000"/>
            <a:ext cx="5976000" cy="6470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FFC000"/>
                </a:solidFill>
                <a:latin typeface="Helvetica"/>
              </a:rPr>
              <a:t>● </a:t>
            </a:r>
            <a:r>
              <a:rPr sz="1050" b="1">
                <a:solidFill>
                  <a:srgbClr val="112A40"/>
                </a:solidFill>
                <a:latin typeface="Helvetica"/>
              </a:rPr>
              <a:t>19.a   </a:t>
            </a:r>
            <a:r>
              <a:rPr sz="1050" b="1">
                <a:solidFill>
                  <a:srgbClr val="060606"/>
                </a:solidFill>
                <a:latin typeface="Helvetica"/>
              </a:rPr>
              <a:t>Le contrôle des factures après paiement n'est pas démontré. </a:t>
            </a:r>
            <a:r>
              <a:rPr sz="1050" b="0">
                <a:solidFill>
                  <a:srgbClr val="060606"/>
                </a:solidFill>
                <a:latin typeface="Helvetica"/>
              </a:rPr>
              <a:t>Aucun registre des contrôles n'a été transmis, alors que la réglementation demande d'en contrôler au moins 5 %.</a:t>
            </a:r>
          </a:p>
        </p:txBody>
      </p:sp>
      <p:sp>
        <p:nvSpPr>
          <p:cNvPr id="78" name="Rectangle 77"/>
          <p:cNvSpPr/>
          <p:nvPr/>
        </p:nvSpPr>
        <p:spPr>
          <a:xfrm>
            <a:off x="6480000" y="4554000"/>
            <a:ext cx="3384000" cy="6470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Contrôler après paiement au moins 5 % des factures.</a:t>
            </a:r>
          </a:p>
        </p:txBody>
      </p:sp>
      <p:sp>
        <p:nvSpPr>
          <p:cNvPr id="79" name="Rectangle 78"/>
          <p:cNvSpPr/>
          <p:nvPr/>
        </p:nvSpPr>
        <p:spPr>
          <a:xfrm>
            <a:off x="9864000" y="4554000"/>
            <a:ext cx="936000" cy="6470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0" name="Rectangle 79"/>
          <p:cNvSpPr/>
          <p:nvPr/>
        </p:nvSpPr>
        <p:spPr>
          <a:xfrm>
            <a:off x="10800000" y="4554000"/>
            <a:ext cx="936000" cy="64706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1" name="Rounded Rectangle 80"/>
          <p:cNvSpPr/>
          <p:nvPr/>
        </p:nvSpPr>
        <p:spPr>
          <a:xfrm>
            <a:off x="9936000" y="4769530"/>
            <a:ext cx="792000" cy="216000"/>
          </a:xfrm>
          <a:prstGeom prst="round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Moyenne</a:t>
            </a:r>
          </a:p>
        </p:txBody>
      </p:sp>
      <p:sp>
        <p:nvSpPr>
          <p:cNvPr id="82" name="Rounded Rectangle 81"/>
          <p:cNvSpPr/>
          <p:nvPr/>
        </p:nvSpPr>
        <p:spPr>
          <a:xfrm>
            <a:off x="10962000" y="4769530"/>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83" name="Rectangle 82"/>
          <p:cNvSpPr/>
          <p:nvPr/>
        </p:nvSpPr>
        <p:spPr>
          <a:xfrm>
            <a:off x="503999" y="5201060"/>
            <a:ext cx="5976000" cy="486939"/>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FFC000"/>
                </a:solidFill>
                <a:latin typeface="Helvetica"/>
              </a:rPr>
              <a:t>● </a:t>
            </a:r>
            <a:r>
              <a:rPr sz="1050" b="1">
                <a:solidFill>
                  <a:srgbClr val="112A40"/>
                </a:solidFill>
                <a:latin typeface="Helvetica"/>
              </a:rPr>
              <a:t>26.b   </a:t>
            </a:r>
            <a:r>
              <a:rPr sz="1050" b="1">
                <a:solidFill>
                  <a:srgbClr val="060606"/>
                </a:solidFill>
                <a:latin typeface="Helvetica"/>
              </a:rPr>
              <a:t>Le fichier des cartes de santé actives manque. </a:t>
            </a:r>
            <a:r>
              <a:rPr sz="1050" b="0">
                <a:solidFill>
                  <a:srgbClr val="060606"/>
                </a:solidFill>
                <a:latin typeface="Helvetica"/>
              </a:rPr>
              <a:t>Le nombre de personnes couvertes, ayants droit compris, n'est pas connu.</a:t>
            </a:r>
          </a:p>
        </p:txBody>
      </p:sp>
      <p:sp>
        <p:nvSpPr>
          <p:cNvPr id="84" name="Rectangle 83"/>
          <p:cNvSpPr/>
          <p:nvPr/>
        </p:nvSpPr>
        <p:spPr>
          <a:xfrm>
            <a:off x="6480000" y="5201060"/>
            <a:ext cx="3384000" cy="486939"/>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Transmettre le fichier des cartes actives, ayants droit compris.</a:t>
            </a:r>
          </a:p>
        </p:txBody>
      </p:sp>
      <p:sp>
        <p:nvSpPr>
          <p:cNvPr id="85" name="Rectangle 84"/>
          <p:cNvSpPr/>
          <p:nvPr/>
        </p:nvSpPr>
        <p:spPr>
          <a:xfrm>
            <a:off x="9864000" y="5201060"/>
            <a:ext cx="936000" cy="486939"/>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6" name="Rectangle 85"/>
          <p:cNvSpPr/>
          <p:nvPr/>
        </p:nvSpPr>
        <p:spPr>
          <a:xfrm>
            <a:off x="10800000" y="5201060"/>
            <a:ext cx="936000" cy="486939"/>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7" name="Rounded Rectangle 86"/>
          <p:cNvSpPr/>
          <p:nvPr/>
        </p:nvSpPr>
        <p:spPr>
          <a:xfrm>
            <a:off x="9936000" y="5336530"/>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88" name="Rounded Rectangle 87"/>
          <p:cNvSpPr/>
          <p:nvPr/>
        </p:nvSpPr>
        <p:spPr>
          <a:xfrm>
            <a:off x="10962000" y="5336530"/>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89" name="TextBox 88"/>
          <p:cNvSpPr txBox="1"/>
          <p:nvPr/>
        </p:nvSpPr>
        <p:spPr>
          <a:xfrm>
            <a:off x="503999" y="5716800"/>
            <a:ext cx="11232000" cy="151200"/>
          </a:xfrm>
          <a:prstGeom prst="rect">
            <a:avLst/>
          </a:prstGeom>
          <a:noFill/>
        </p:spPr>
        <p:txBody>
          <a:bodyPr wrap="square">
            <a:spAutoFit/>
          </a:bodyPr>
          <a:lstStyle/>
          <a:p>
            <a:r>
              <a:rPr sz="750" b="1">
                <a:solidFill>
                  <a:srgbClr val="060606"/>
                </a:solidFill>
                <a:latin typeface="Helvetica"/>
              </a:rPr>
              <a:t>Criticité : </a:t>
            </a:r>
            <a:r>
              <a:rPr sz="850" b="1">
                <a:solidFill>
                  <a:srgbClr val="C00000"/>
                </a:solidFill>
                <a:latin typeface="Helvetica"/>
              </a:rPr>
              <a:t>● </a:t>
            </a:r>
            <a:r>
              <a:rPr sz="750" b="0">
                <a:solidFill>
                  <a:srgbClr val="060606"/>
                </a:solidFill>
                <a:latin typeface="Helvetica"/>
              </a:rPr>
              <a:t>Critique   </a:t>
            </a:r>
            <a:r>
              <a:rPr sz="850" b="1">
                <a:solidFill>
                  <a:srgbClr val="ED7D31"/>
                </a:solidFill>
                <a:latin typeface="Helvetica"/>
              </a:rPr>
              <a:t>● </a:t>
            </a:r>
            <a:r>
              <a:rPr sz="750" b="0">
                <a:solidFill>
                  <a:srgbClr val="060606"/>
                </a:solidFill>
                <a:latin typeface="Helvetica"/>
              </a:rPr>
              <a:t>Élevé   </a:t>
            </a:r>
            <a:r>
              <a:rPr sz="850" b="1">
                <a:solidFill>
                  <a:srgbClr val="FFC000"/>
                </a:solidFill>
                <a:latin typeface="Helvetica"/>
              </a:rPr>
              <a:t>● </a:t>
            </a:r>
            <a:r>
              <a:rPr sz="750" b="0">
                <a:solidFill>
                  <a:srgbClr val="060606"/>
                </a:solidFill>
                <a:latin typeface="Helvetica"/>
              </a:rPr>
              <a:t>Moyen   </a:t>
            </a:r>
            <a:r>
              <a:rPr sz="850" b="1">
                <a:solidFill>
                  <a:srgbClr val="70AD47"/>
                </a:solidFill>
                <a:latin typeface="Helvetica"/>
              </a:rPr>
              <a:t>● </a:t>
            </a:r>
            <a:r>
              <a:rPr sz="750" b="0">
                <a:solidFill>
                  <a:srgbClr val="060606"/>
                </a:solidFill>
                <a:latin typeface="Helvetica"/>
              </a:rPr>
              <a:t>Faible   </a:t>
            </a:r>
            <a:r>
              <a:rPr sz="750" b="0">
                <a:solidFill>
                  <a:srgbClr val="060606"/>
                </a:solidFill>
                <a:latin typeface="Helvetica"/>
              </a:rPr>
              <a:t>Priorité : P1 dans les 3 mois, P2 dans les 6 mois, P3 de 6 à 18 mois, P4 au-delà.   Complexité : Faible (une décision suffit), Moyenne (travail interne), Élevée (tiers ou financement).   Numéros : ceux du résumé exécutif.</a:t>
            </a:r>
          </a:p>
        </p:txBody>
      </p:sp>
      <p:sp>
        <p:nvSpPr>
          <p:cNvPr id="90" name="TextBox 89"/>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 | MEDOC : produit santé complémentaire du poste 8Z7</a:t>
            </a:r>
          </a:p>
        </p:txBody>
      </p:sp>
    </p:spTree>
    <p:extLst>
      <p:ext uri="{BB962C8B-B14F-4D97-AF65-F5344CB8AC3E}">
        <p14:creationId xmlns:p14="http://schemas.microsoft.com/office/powerpoint/2010/main" val="2821830558"/>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Décès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garantie décès est excédentaire, mais sa dette envers les familles grossit</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Constat le plus grave : 1.b, la provision obsèques fait double emploi</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rapport actuariel et statistique du 23/10/2026. Logigrammes du FPPN (« FLOW_CHART_COTISATION_ET_PRODUITS_DEPARGNE_1.pptx »). Résumé exécutif du 26/10/2026</a:t>
            </a:r>
          </a:p>
        </p:txBody>
      </p:sp>
      <p:sp>
        <p:nvSpPr>
          <p:cNvPr id="31" name="Rectangle 30"/>
          <p:cNvSpPr/>
          <p:nvPr/>
        </p:nvSpPr>
        <p:spPr>
          <a:xfrm>
            <a:off x="503999" y="1411200"/>
            <a:ext cx="7085571" cy="1512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00" b="1">
                <a:solidFill>
                  <a:srgbClr val="FFFFFF"/>
                </a:solidFill>
                <a:latin typeface="Helvetica"/>
              </a:rPr>
              <a:t>PRODUITS</a:t>
            </a:r>
          </a:p>
        </p:txBody>
      </p:sp>
      <p:sp>
        <p:nvSpPr>
          <p:cNvPr id="32" name="Rectangle 31"/>
          <p:cNvSpPr/>
          <p:nvPr/>
        </p:nvSpPr>
        <p:spPr>
          <a:xfrm>
            <a:off x="7823571" y="1411200"/>
            <a:ext cx="3912428" cy="1512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00" b="1">
                <a:solidFill>
                  <a:srgbClr val="FFFFFF"/>
                </a:solidFill>
                <a:latin typeface="Helvetica"/>
              </a:rPr>
              <a:t>FONCTIONS TRANSVERSES</a:t>
            </a:r>
          </a:p>
        </p:txBody>
      </p:sp>
      <p:sp>
        <p:nvSpPr>
          <p:cNvPr id="33" name="Nav Maladie">
            <a:hlinkClick action="ppaction://hlinksldjump" r:id="rId7"/>
          </p:cNvPr>
          <p:cNvSpPr/>
          <p:nvPr/>
        </p:nvSpPr>
        <p:spPr>
          <a:xfrm>
            <a:off x="503999"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Maladie</a:t>
            </a:r>
          </a:p>
        </p:txBody>
      </p:sp>
      <p:sp>
        <p:nvSpPr>
          <p:cNvPr id="34" name="Nav Décès"/>
          <p:cNvSpPr/>
          <p:nvPr/>
        </p:nvSpPr>
        <p:spPr>
          <a:xfrm>
            <a:off x="1297285" y="1591200"/>
            <a:ext cx="739285" cy="1800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1">
                <a:solidFill>
                  <a:srgbClr val="FFFFFF"/>
                </a:solidFill>
                <a:latin typeface="Helvetica"/>
              </a:rPr>
              <a:t>Décès</a:t>
            </a:r>
          </a:p>
        </p:txBody>
      </p:sp>
      <p:sp>
        <p:nvSpPr>
          <p:cNvPr id="35" name="Nav Retraités (CGRAE)">
            <a:hlinkClick action="ppaction://hlinksldjump" r:id="rId8"/>
          </p:cNvPr>
          <p:cNvSpPr/>
          <p:nvPr/>
        </p:nvSpPr>
        <p:spPr>
          <a:xfrm>
            <a:off x="2090571"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Retraités</a:t>
            </a:r>
          </a:p>
        </p:txBody>
      </p:sp>
      <p:sp>
        <p:nvSpPr>
          <p:cNvPr id="36" name="Nav EFC">
            <a:hlinkClick action="ppaction://hlinksldjump" r:id="rId9"/>
          </p:cNvPr>
          <p:cNvSpPr/>
          <p:nvPr/>
        </p:nvSpPr>
        <p:spPr>
          <a:xfrm>
            <a:off x="2883857"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EFC</a:t>
            </a:r>
          </a:p>
        </p:txBody>
      </p:sp>
      <p:sp>
        <p:nvSpPr>
          <p:cNvPr id="37" name="Nav PEP">
            <a:hlinkClick action="ppaction://hlinksldjump" r:id="rId10"/>
          </p:cNvPr>
          <p:cNvSpPr/>
          <p:nvPr/>
        </p:nvSpPr>
        <p:spPr>
          <a:xfrm>
            <a:off x="3677142"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PEP</a:t>
            </a:r>
          </a:p>
        </p:txBody>
      </p:sp>
      <p:sp>
        <p:nvSpPr>
          <p:cNvPr id="38" name="Nav MEDOC">
            <a:hlinkClick action="ppaction://hlinksldjump" r:id="rId10"/>
          </p:cNvPr>
          <p:cNvSpPr/>
          <p:nvPr/>
        </p:nvSpPr>
        <p:spPr>
          <a:xfrm>
            <a:off x="4470428"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MEDOC</a:t>
            </a:r>
          </a:p>
        </p:txBody>
      </p:sp>
      <p:sp>
        <p:nvSpPr>
          <p:cNvPr id="39" name="Nav Grenier">
            <a:hlinkClick action="ppaction://hlinksldjump" r:id="rId11"/>
          </p:cNvPr>
          <p:cNvSpPr/>
          <p:nvPr/>
        </p:nvSpPr>
        <p:spPr>
          <a:xfrm>
            <a:off x="5263714"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Grenier</a:t>
            </a:r>
          </a:p>
        </p:txBody>
      </p:sp>
      <p:sp>
        <p:nvSpPr>
          <p:cNvPr id="40" name="Nav Flotte automobile">
            <a:hlinkClick action="ppaction://hlinksldjump" r:id="rId12"/>
          </p:cNvPr>
          <p:cNvSpPr/>
          <p:nvPr/>
        </p:nvSpPr>
        <p:spPr>
          <a:xfrm>
            <a:off x="6057000"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FFC000"/>
                </a:solidFill>
                <a:latin typeface="Helvetica"/>
              </a:rPr>
              <a:t>● </a:t>
            </a:r>
            <a:r>
              <a:rPr sz="750" b="0">
                <a:solidFill>
                  <a:srgbClr val="53565A"/>
                </a:solidFill>
                <a:latin typeface="Helvetica"/>
              </a:rPr>
              <a:t>Flotte auto</a:t>
            </a:r>
          </a:p>
        </p:txBody>
      </p:sp>
      <p:sp>
        <p:nvSpPr>
          <p:cNvPr id="41" name="Nav Clinique (CMP)">
            <a:hlinkClick action="ppaction://hlinksldjump" r:id="rId12"/>
          </p:cNvPr>
          <p:cNvSpPr/>
          <p:nvPr/>
        </p:nvSpPr>
        <p:spPr>
          <a:xfrm>
            <a:off x="6850285"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Clinique</a:t>
            </a:r>
          </a:p>
        </p:txBody>
      </p:sp>
      <p:sp>
        <p:nvSpPr>
          <p:cNvPr id="42" name="Nav Cotisations et précomptes">
            <a:hlinkClick action="ppaction://hlinksldjump" r:id="rId13"/>
          </p:cNvPr>
          <p:cNvSpPr/>
          <p:nvPr/>
        </p:nvSpPr>
        <p:spPr>
          <a:xfrm>
            <a:off x="7823571"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Cotisations</a:t>
            </a:r>
          </a:p>
        </p:txBody>
      </p:sp>
      <p:sp>
        <p:nvSpPr>
          <p:cNvPr id="43" name="Nav Comptabilité et provisions">
            <a:hlinkClick action="ppaction://hlinksldjump" r:id="rId14"/>
          </p:cNvPr>
          <p:cNvSpPr/>
          <p:nvPr/>
        </p:nvSpPr>
        <p:spPr>
          <a:xfrm>
            <a:off x="8616857"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Comptabilité</a:t>
            </a:r>
          </a:p>
        </p:txBody>
      </p:sp>
      <p:sp>
        <p:nvSpPr>
          <p:cNvPr id="44" name="Nav Trésorerie et placements">
            <a:hlinkClick action="ppaction://hlinksldjump" r:id="rId15"/>
          </p:cNvPr>
          <p:cNvSpPr/>
          <p:nvPr/>
        </p:nvSpPr>
        <p:spPr>
          <a:xfrm>
            <a:off x="9410142"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Trésorerie</a:t>
            </a:r>
          </a:p>
        </p:txBody>
      </p:sp>
      <p:sp>
        <p:nvSpPr>
          <p:cNvPr id="45" name="Nav Gouvernance">
            <a:hlinkClick action="ppaction://hlinksldjump" r:id="rId16"/>
          </p:cNvPr>
          <p:cNvSpPr/>
          <p:nvPr/>
        </p:nvSpPr>
        <p:spPr>
          <a:xfrm>
            <a:off x="10203428"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Gouvernance</a:t>
            </a:r>
          </a:p>
        </p:txBody>
      </p:sp>
      <p:sp>
        <p:nvSpPr>
          <p:cNvPr id="46" name="Nav Données et informatique">
            <a:hlinkClick action="ppaction://hlinksldjump" r:id="rId17"/>
          </p:cNvPr>
          <p:cNvSpPr/>
          <p:nvPr/>
        </p:nvSpPr>
        <p:spPr>
          <a:xfrm>
            <a:off x="10996714"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Données</a:t>
            </a:r>
          </a:p>
        </p:txBody>
      </p:sp>
      <p:sp>
        <p:nvSpPr>
          <p:cNvPr id="47" name="Bloc Décès"/>
          <p:cNvSpPr/>
          <p:nvPr/>
        </p:nvSpPr>
        <p:spPr>
          <a:xfrm>
            <a:off x="503999" y="1835999"/>
            <a:ext cx="11232000" cy="2232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00" b="1">
                <a:solidFill>
                  <a:srgbClr val="ED7D31"/>
                </a:solidFill>
                <a:latin typeface="Helvetica"/>
              </a:rPr>
              <a:t>● </a:t>
            </a:r>
            <a:r>
              <a:rPr sz="1000" b="0">
                <a:solidFill>
                  <a:srgbClr val="BBBCBC"/>
                </a:solidFill>
                <a:latin typeface="Helvetica"/>
              </a:rPr>
              <a:t>PRODUITS  ›  </a:t>
            </a:r>
            <a:r>
              <a:rPr sz="1200" b="1">
                <a:solidFill>
                  <a:srgbClr val="FFFFFF"/>
                </a:solidFill>
                <a:latin typeface="Helvetica"/>
              </a:rPr>
              <a:t>DÉCÈS</a:t>
            </a:r>
            <a:r>
              <a:rPr sz="950" b="0">
                <a:solidFill>
                  <a:srgbClr val="FFFFFF"/>
                </a:solidFill>
                <a:latin typeface="Helvetica"/>
              </a:rPr>
              <a:t>     7 constats, dont 1 à traiter dans les trois mois</a:t>
            </a:r>
          </a:p>
        </p:txBody>
      </p:sp>
      <p:sp>
        <p:nvSpPr>
          <p:cNvPr id="48" name="Nav Carte">
            <a:hlinkClick action="ppaction://hlinksldjump" r:id="rId18"/>
          </p:cNvPr>
          <p:cNvSpPr/>
          <p:nvPr/>
        </p:nvSpPr>
        <p:spPr>
          <a:xfrm>
            <a:off x="10007999" y="1871999"/>
            <a:ext cx="1655999" cy="151200"/>
          </a:xfrm>
          <a:prstGeom prst="rect">
            <a:avLst/>
          </a:prstGeom>
          <a:solidFill>
            <a:srgbClr val="53565A"/>
          </a:solidFill>
          <a:ln w="952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50" b="1">
                <a:solidFill>
                  <a:srgbClr val="FFFFFF"/>
                </a:solidFill>
                <a:latin typeface="Helvetica"/>
              </a:rPr>
              <a:t>↩ Carte des activités</a:t>
            </a:r>
          </a:p>
        </p:txBody>
      </p:sp>
      <p:sp>
        <p:nvSpPr>
          <p:cNvPr id="49" name="Rectangle 48"/>
          <p:cNvSpPr/>
          <p:nvPr/>
        </p:nvSpPr>
        <p:spPr>
          <a:xfrm>
            <a:off x="503999" y="2088000"/>
            <a:ext cx="597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Constat et commentaire</a:t>
            </a:r>
          </a:p>
        </p:txBody>
      </p:sp>
      <p:sp>
        <p:nvSpPr>
          <p:cNvPr id="50" name="Rectangle 49"/>
          <p:cNvSpPr/>
          <p:nvPr/>
        </p:nvSpPr>
        <p:spPr>
          <a:xfrm>
            <a:off x="6480000" y="2088000"/>
            <a:ext cx="3384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Recommandation</a:t>
            </a:r>
          </a:p>
        </p:txBody>
      </p:sp>
      <p:sp>
        <p:nvSpPr>
          <p:cNvPr id="51" name="Rectangle 50"/>
          <p:cNvSpPr/>
          <p:nvPr/>
        </p:nvSpPr>
        <p:spPr>
          <a:xfrm>
            <a:off x="9864000" y="2088000"/>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Complexité</a:t>
            </a:r>
          </a:p>
        </p:txBody>
      </p:sp>
      <p:sp>
        <p:nvSpPr>
          <p:cNvPr id="52" name="Rectangle 51"/>
          <p:cNvSpPr/>
          <p:nvPr/>
        </p:nvSpPr>
        <p:spPr>
          <a:xfrm>
            <a:off x="10800000" y="2088000"/>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Priorité</a:t>
            </a:r>
          </a:p>
        </p:txBody>
      </p:sp>
      <p:sp>
        <p:nvSpPr>
          <p:cNvPr id="53" name="Rectangle 52"/>
          <p:cNvSpPr/>
          <p:nvPr/>
        </p:nvSpPr>
        <p:spPr>
          <a:xfrm>
            <a:off x="503999" y="2286000"/>
            <a:ext cx="5976000" cy="62324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ED7D31"/>
                </a:solidFill>
                <a:latin typeface="Helvetica"/>
              </a:rPr>
              <a:t>● </a:t>
            </a:r>
            <a:r>
              <a:rPr sz="1050" b="1">
                <a:solidFill>
                  <a:srgbClr val="112A40"/>
                </a:solidFill>
                <a:latin typeface="Helvetica"/>
              </a:rPr>
              <a:t>1.b   </a:t>
            </a:r>
            <a:r>
              <a:rPr sz="1050" b="1">
                <a:solidFill>
                  <a:srgbClr val="060606"/>
                </a:solidFill>
                <a:latin typeface="Helvetica"/>
              </a:rPr>
              <a:t>La provision obsèques fait double emploi. </a:t>
            </a:r>
            <a:r>
              <a:rPr sz="1050" b="0">
                <a:solidFill>
                  <a:srgbClr val="060606"/>
                </a:solidFill>
                <a:latin typeface="Helvetica"/>
              </a:rPr>
              <a:t>1 961 695 412 FCFA figés depuis 2020, alors que la dette décès est déjà comptée au compte 41591000. Besoin mesuré : 7 100 000 FCFA de décès déclarés en retard.</a:t>
            </a:r>
          </a:p>
        </p:txBody>
      </p:sp>
      <p:sp>
        <p:nvSpPr>
          <p:cNvPr id="54" name="Rectangle 53"/>
          <p:cNvSpPr/>
          <p:nvPr/>
        </p:nvSpPr>
        <p:spPr>
          <a:xfrm>
            <a:off x="6480000" y="2286000"/>
            <a:ext cx="3384000" cy="62324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Faire décider le reclassement par les organes, après information de l'AIRMS.</a:t>
            </a:r>
          </a:p>
        </p:txBody>
      </p:sp>
      <p:sp>
        <p:nvSpPr>
          <p:cNvPr id="55" name="Rectangle 54"/>
          <p:cNvSpPr/>
          <p:nvPr/>
        </p:nvSpPr>
        <p:spPr>
          <a:xfrm>
            <a:off x="9864000" y="2286000"/>
            <a:ext cx="936000" cy="62324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56" name="Rectangle 55"/>
          <p:cNvSpPr/>
          <p:nvPr/>
        </p:nvSpPr>
        <p:spPr>
          <a:xfrm>
            <a:off x="10800000" y="2286000"/>
            <a:ext cx="936000" cy="62324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57" name="Rounded Rectangle 56"/>
          <p:cNvSpPr/>
          <p:nvPr/>
        </p:nvSpPr>
        <p:spPr>
          <a:xfrm>
            <a:off x="9936000" y="2489623"/>
            <a:ext cx="792000" cy="216000"/>
          </a:xfrm>
          <a:prstGeom prst="round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Moyenne</a:t>
            </a:r>
          </a:p>
        </p:txBody>
      </p:sp>
      <p:sp>
        <p:nvSpPr>
          <p:cNvPr id="58" name="Rounded Rectangle 57"/>
          <p:cNvSpPr/>
          <p:nvPr/>
        </p:nvSpPr>
        <p:spPr>
          <a:xfrm>
            <a:off x="10962000" y="2489623"/>
            <a:ext cx="612000" cy="216000"/>
          </a:xfrm>
          <a:prstGeom prst="round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P1</a:t>
            </a:r>
          </a:p>
        </p:txBody>
      </p:sp>
      <p:sp>
        <p:nvSpPr>
          <p:cNvPr id="59" name="Rectangle 58"/>
          <p:cNvSpPr/>
          <p:nvPr/>
        </p:nvSpPr>
        <p:spPr>
          <a:xfrm>
            <a:off x="503999" y="2909246"/>
            <a:ext cx="5976000" cy="463125"/>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ED7D31"/>
                </a:solidFill>
                <a:latin typeface="Helvetica"/>
              </a:rPr>
              <a:t>● </a:t>
            </a:r>
            <a:r>
              <a:rPr sz="1050" b="1">
                <a:solidFill>
                  <a:srgbClr val="112A40"/>
                </a:solidFill>
                <a:latin typeface="Helvetica"/>
              </a:rPr>
              <a:t>2   </a:t>
            </a:r>
            <a:r>
              <a:rPr sz="1050" b="1">
                <a:solidFill>
                  <a:srgbClr val="060606"/>
                </a:solidFill>
                <a:latin typeface="Helvetica"/>
              </a:rPr>
              <a:t>La dette envers les familles grossit. </a:t>
            </a:r>
            <a:r>
              <a:rPr sz="1050" b="0">
                <a:solidFill>
                  <a:srgbClr val="060606"/>
                </a:solidFill>
                <a:latin typeface="Helvetica"/>
              </a:rPr>
              <a:t>370 503 332 FCFA fin 2021, 489 419 669 FCFA au 31/08/2026. La date de dépôt des demandes n'est pas saisie.</a:t>
            </a:r>
          </a:p>
        </p:txBody>
      </p:sp>
      <p:sp>
        <p:nvSpPr>
          <p:cNvPr id="60" name="Rectangle 59"/>
          <p:cNvSpPr/>
          <p:nvPr/>
        </p:nvSpPr>
        <p:spPr>
          <a:xfrm>
            <a:off x="6480000" y="2909246"/>
            <a:ext cx="3384000" cy="463125"/>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Dresser la liste nominative des dossiers, payer les dus, clôturer les prescrits.</a:t>
            </a:r>
          </a:p>
        </p:txBody>
      </p:sp>
      <p:sp>
        <p:nvSpPr>
          <p:cNvPr id="61" name="Rectangle 60"/>
          <p:cNvSpPr/>
          <p:nvPr/>
        </p:nvSpPr>
        <p:spPr>
          <a:xfrm>
            <a:off x="9864000" y="2909246"/>
            <a:ext cx="936000" cy="463125"/>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2" name="Rectangle 61"/>
          <p:cNvSpPr/>
          <p:nvPr/>
        </p:nvSpPr>
        <p:spPr>
          <a:xfrm>
            <a:off x="10800000" y="2909246"/>
            <a:ext cx="936000" cy="463125"/>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3" name="Rounded Rectangle 62"/>
          <p:cNvSpPr/>
          <p:nvPr/>
        </p:nvSpPr>
        <p:spPr>
          <a:xfrm>
            <a:off x="9936000" y="3032809"/>
            <a:ext cx="792000" cy="216000"/>
          </a:xfrm>
          <a:prstGeom prst="round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Moyenne</a:t>
            </a:r>
          </a:p>
        </p:txBody>
      </p:sp>
      <p:sp>
        <p:nvSpPr>
          <p:cNvPr id="64" name="Rounded Rectangle 63"/>
          <p:cNvSpPr/>
          <p:nvPr/>
        </p:nvSpPr>
        <p:spPr>
          <a:xfrm>
            <a:off x="10962000" y="3032809"/>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65" name="Rectangle 64"/>
          <p:cNvSpPr/>
          <p:nvPr/>
        </p:nvSpPr>
        <p:spPr>
          <a:xfrm>
            <a:off x="503999" y="3372371"/>
            <a:ext cx="5976000" cy="463125"/>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ED7D31"/>
                </a:solidFill>
                <a:latin typeface="Helvetica"/>
              </a:rPr>
              <a:t>● </a:t>
            </a:r>
            <a:r>
              <a:rPr sz="1050" b="1">
                <a:solidFill>
                  <a:srgbClr val="112A40"/>
                </a:solidFill>
                <a:latin typeface="Helvetica"/>
              </a:rPr>
              <a:t>3   </a:t>
            </a:r>
            <a:r>
              <a:rPr sz="1050" b="1">
                <a:solidFill>
                  <a:srgbClr val="060606"/>
                </a:solidFill>
                <a:latin typeface="Helvetica"/>
              </a:rPr>
              <a:t>Des allocations sont payées avec l'argent de l'épargne. </a:t>
            </a:r>
            <a:r>
              <a:rPr sz="1050" b="0">
                <a:solidFill>
                  <a:srgbClr val="060606"/>
                </a:solidFill>
                <a:latin typeface="Helvetica"/>
              </a:rPr>
              <a:t>102 allocations payées en 2024 depuis les comptes de l'épargne, pour 53 288 000 FCFA.</a:t>
            </a:r>
          </a:p>
        </p:txBody>
      </p:sp>
      <p:sp>
        <p:nvSpPr>
          <p:cNvPr id="66" name="Rectangle 65"/>
          <p:cNvSpPr/>
          <p:nvPr/>
        </p:nvSpPr>
        <p:spPr>
          <a:xfrm>
            <a:off x="6480000" y="3372371"/>
            <a:ext cx="3384000" cy="463125"/>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Payer depuis les comptes des garanties et rembourser l'épargne.</a:t>
            </a:r>
          </a:p>
        </p:txBody>
      </p:sp>
      <p:sp>
        <p:nvSpPr>
          <p:cNvPr id="67" name="Rectangle 66"/>
          <p:cNvSpPr/>
          <p:nvPr/>
        </p:nvSpPr>
        <p:spPr>
          <a:xfrm>
            <a:off x="9864000" y="3372371"/>
            <a:ext cx="936000" cy="463125"/>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8" name="Rectangle 67"/>
          <p:cNvSpPr/>
          <p:nvPr/>
        </p:nvSpPr>
        <p:spPr>
          <a:xfrm>
            <a:off x="10800000" y="3372371"/>
            <a:ext cx="936000" cy="463125"/>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9" name="Rounded Rectangle 68"/>
          <p:cNvSpPr/>
          <p:nvPr/>
        </p:nvSpPr>
        <p:spPr>
          <a:xfrm>
            <a:off x="9936000" y="3495934"/>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70" name="Rounded Rectangle 69"/>
          <p:cNvSpPr/>
          <p:nvPr/>
        </p:nvSpPr>
        <p:spPr>
          <a:xfrm>
            <a:off x="10962000" y="3495934"/>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71" name="Rectangle 70"/>
          <p:cNvSpPr/>
          <p:nvPr/>
        </p:nvSpPr>
        <p:spPr>
          <a:xfrm>
            <a:off x="503999" y="3835497"/>
            <a:ext cx="5976000" cy="463125"/>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FFC000"/>
                </a:solidFill>
                <a:latin typeface="Helvetica"/>
              </a:rPr>
              <a:t>● </a:t>
            </a:r>
            <a:r>
              <a:rPr sz="1050" b="1">
                <a:solidFill>
                  <a:srgbClr val="112A40"/>
                </a:solidFill>
                <a:latin typeface="Helvetica"/>
              </a:rPr>
              <a:t>20.a   </a:t>
            </a:r>
            <a:r>
              <a:rPr sz="1050" b="1">
                <a:solidFill>
                  <a:srgbClr val="060606"/>
                </a:solidFill>
                <a:latin typeface="Helvetica"/>
              </a:rPr>
              <a:t>Le décès finance la maladie. </a:t>
            </a:r>
            <a:r>
              <a:rPr sz="1050" b="0">
                <a:solidFill>
                  <a:srgbClr val="060606"/>
                </a:solidFill>
                <a:latin typeface="Helvetica"/>
              </a:rPr>
              <a:t>La Solde prélève 1,23 % au lieu de 1,50 %. Le décès reste excédentaire : 449 151 155 FCFA en 2025.</a:t>
            </a:r>
          </a:p>
        </p:txBody>
      </p:sp>
      <p:sp>
        <p:nvSpPr>
          <p:cNvPr id="72" name="Rectangle 71"/>
          <p:cNvSpPr/>
          <p:nvPr/>
        </p:nvSpPr>
        <p:spPr>
          <a:xfrm>
            <a:off x="6480000" y="3835497"/>
            <a:ext cx="3384000" cy="463125"/>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Appliquer la clé des statuts et suivre le résultat de chaque garantie.</a:t>
            </a:r>
          </a:p>
        </p:txBody>
      </p:sp>
      <p:sp>
        <p:nvSpPr>
          <p:cNvPr id="73" name="Rectangle 72"/>
          <p:cNvSpPr/>
          <p:nvPr/>
        </p:nvSpPr>
        <p:spPr>
          <a:xfrm>
            <a:off x="9864000" y="3835497"/>
            <a:ext cx="936000" cy="463125"/>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4" name="Rectangle 73"/>
          <p:cNvSpPr/>
          <p:nvPr/>
        </p:nvSpPr>
        <p:spPr>
          <a:xfrm>
            <a:off x="10800000" y="3835497"/>
            <a:ext cx="936000" cy="463125"/>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5" name="Rounded Rectangle 74"/>
          <p:cNvSpPr/>
          <p:nvPr/>
        </p:nvSpPr>
        <p:spPr>
          <a:xfrm>
            <a:off x="9936000" y="3959060"/>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76" name="Rounded Rectangle 75"/>
          <p:cNvSpPr/>
          <p:nvPr/>
        </p:nvSpPr>
        <p:spPr>
          <a:xfrm>
            <a:off x="10962000" y="3959060"/>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77" name="Rectangle 76"/>
          <p:cNvSpPr/>
          <p:nvPr/>
        </p:nvSpPr>
        <p:spPr>
          <a:xfrm>
            <a:off x="503999" y="4298623"/>
            <a:ext cx="5976000" cy="463125"/>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FFC000"/>
                </a:solidFill>
                <a:latin typeface="Helvetica"/>
              </a:rPr>
              <a:t>● </a:t>
            </a:r>
            <a:r>
              <a:rPr sz="1050" b="1">
                <a:solidFill>
                  <a:srgbClr val="112A40"/>
                </a:solidFill>
                <a:latin typeface="Helvetica"/>
              </a:rPr>
              <a:t>27.a   </a:t>
            </a:r>
            <a:r>
              <a:rPr sz="1050" b="1">
                <a:solidFill>
                  <a:srgbClr val="060606"/>
                </a:solidFill>
                <a:latin typeface="Helvetica"/>
              </a:rPr>
              <a:t>Des fichiers décès sont vides ou à valider. </a:t>
            </a:r>
            <a:r>
              <a:rPr sz="1050" b="0">
                <a:solidFill>
                  <a:srgbClr val="060606"/>
                </a:solidFill>
                <a:latin typeface="Helvetica"/>
              </a:rPr>
              <a:t>Fichiers de décembre 2024 vides (0 octet). Montants supérieurs à 1 000 000 FCFA à valider dans les fichiers retour.</a:t>
            </a:r>
          </a:p>
        </p:txBody>
      </p:sp>
      <p:sp>
        <p:nvSpPr>
          <p:cNvPr id="78" name="Rectangle 77"/>
          <p:cNvSpPr/>
          <p:nvPr/>
        </p:nvSpPr>
        <p:spPr>
          <a:xfrm>
            <a:off x="6480000" y="4298623"/>
            <a:ext cx="3384000" cy="463125"/>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Transmettre les fichiers et valider ces montants.</a:t>
            </a:r>
          </a:p>
        </p:txBody>
      </p:sp>
      <p:sp>
        <p:nvSpPr>
          <p:cNvPr id="79" name="Rectangle 78"/>
          <p:cNvSpPr/>
          <p:nvPr/>
        </p:nvSpPr>
        <p:spPr>
          <a:xfrm>
            <a:off x="9864000" y="4298623"/>
            <a:ext cx="936000" cy="463125"/>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0" name="Rectangle 79"/>
          <p:cNvSpPr/>
          <p:nvPr/>
        </p:nvSpPr>
        <p:spPr>
          <a:xfrm>
            <a:off x="10800000" y="4298623"/>
            <a:ext cx="936000" cy="463125"/>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1" name="Rounded Rectangle 80"/>
          <p:cNvSpPr/>
          <p:nvPr/>
        </p:nvSpPr>
        <p:spPr>
          <a:xfrm>
            <a:off x="9936000" y="4422186"/>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82" name="Rounded Rectangle 81"/>
          <p:cNvSpPr/>
          <p:nvPr/>
        </p:nvSpPr>
        <p:spPr>
          <a:xfrm>
            <a:off x="10962000" y="4422186"/>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83" name="Rectangle 82"/>
          <p:cNvSpPr/>
          <p:nvPr/>
        </p:nvSpPr>
        <p:spPr>
          <a:xfrm>
            <a:off x="503999" y="4761748"/>
            <a:ext cx="5976000" cy="463125"/>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FFC000"/>
                </a:solidFill>
                <a:latin typeface="Helvetica"/>
              </a:rPr>
              <a:t>● </a:t>
            </a:r>
            <a:r>
              <a:rPr sz="1050" b="1">
                <a:solidFill>
                  <a:srgbClr val="112A40"/>
                </a:solidFill>
                <a:latin typeface="Helvetica"/>
              </a:rPr>
              <a:t>28.a   </a:t>
            </a:r>
            <a:r>
              <a:rPr sz="1050" b="1">
                <a:solidFill>
                  <a:srgbClr val="060606"/>
                </a:solidFill>
                <a:latin typeface="Helvetica"/>
              </a:rPr>
              <a:t>Les décès 2021 diffèrent selon la source. </a:t>
            </a:r>
            <a:r>
              <a:rPr sz="1050" b="0">
                <a:solidFill>
                  <a:srgbClr val="060606"/>
                </a:solidFill>
                <a:latin typeface="Helvetica"/>
              </a:rPr>
              <a:t>156 020 000 FCFA dans l'étude du FPPN, 401 856 666 FCFA en comptabilité.</a:t>
            </a:r>
          </a:p>
        </p:txBody>
      </p:sp>
      <p:sp>
        <p:nvSpPr>
          <p:cNvPr id="84" name="Rectangle 83"/>
          <p:cNvSpPr/>
          <p:nvPr/>
        </p:nvSpPr>
        <p:spPr>
          <a:xfrm>
            <a:off x="6480000" y="4761748"/>
            <a:ext cx="3384000" cy="463125"/>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Expliquer l'écart.</a:t>
            </a:r>
          </a:p>
        </p:txBody>
      </p:sp>
      <p:sp>
        <p:nvSpPr>
          <p:cNvPr id="85" name="Rectangle 84"/>
          <p:cNvSpPr/>
          <p:nvPr/>
        </p:nvSpPr>
        <p:spPr>
          <a:xfrm>
            <a:off x="9864000" y="4761748"/>
            <a:ext cx="936000" cy="463125"/>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6" name="Rectangle 85"/>
          <p:cNvSpPr/>
          <p:nvPr/>
        </p:nvSpPr>
        <p:spPr>
          <a:xfrm>
            <a:off x="10800000" y="4761748"/>
            <a:ext cx="936000" cy="463125"/>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7" name="Rounded Rectangle 86"/>
          <p:cNvSpPr/>
          <p:nvPr/>
        </p:nvSpPr>
        <p:spPr>
          <a:xfrm>
            <a:off x="9936000" y="4885311"/>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88" name="Rounded Rectangle 87"/>
          <p:cNvSpPr/>
          <p:nvPr/>
        </p:nvSpPr>
        <p:spPr>
          <a:xfrm>
            <a:off x="10962000" y="4885311"/>
            <a:ext cx="612000" cy="216000"/>
          </a:xfrm>
          <a:prstGeom prst="round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P3</a:t>
            </a:r>
          </a:p>
        </p:txBody>
      </p:sp>
      <p:sp>
        <p:nvSpPr>
          <p:cNvPr id="89" name="Rectangle 88"/>
          <p:cNvSpPr/>
          <p:nvPr/>
        </p:nvSpPr>
        <p:spPr>
          <a:xfrm>
            <a:off x="503999" y="5224874"/>
            <a:ext cx="5976000" cy="463125"/>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FFC000"/>
                </a:solidFill>
                <a:latin typeface="Helvetica"/>
              </a:rPr>
              <a:t>● </a:t>
            </a:r>
            <a:r>
              <a:rPr sz="1050" b="1">
                <a:solidFill>
                  <a:srgbClr val="112A40"/>
                </a:solidFill>
                <a:latin typeface="Helvetica"/>
              </a:rPr>
              <a:t>26.c   </a:t>
            </a:r>
            <a:r>
              <a:rPr sz="1050" b="1">
                <a:solidFill>
                  <a:srgbClr val="060606"/>
                </a:solidFill>
                <a:latin typeface="Helvetica"/>
              </a:rPr>
              <a:t>Le barème officiel et la règle du suicide ne sont pas documentés. </a:t>
            </a:r>
            <a:r>
              <a:rPr sz="1050" b="0">
                <a:solidFill>
                  <a:srgbClr val="060606"/>
                </a:solidFill>
                <a:latin typeface="Helvetica"/>
              </a:rPr>
              <a:t>Quatre décès valorisés à 0 FCFA en 2025 sans texte transmis.</a:t>
            </a:r>
          </a:p>
        </p:txBody>
      </p:sp>
      <p:sp>
        <p:nvSpPr>
          <p:cNvPr id="90" name="Rectangle 89"/>
          <p:cNvSpPr/>
          <p:nvPr/>
        </p:nvSpPr>
        <p:spPr>
          <a:xfrm>
            <a:off x="6480000" y="5224874"/>
            <a:ext cx="3384000" cy="463125"/>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Transmettre le texte et le barème signé.</a:t>
            </a:r>
          </a:p>
        </p:txBody>
      </p:sp>
      <p:sp>
        <p:nvSpPr>
          <p:cNvPr id="91" name="Rectangle 90"/>
          <p:cNvSpPr/>
          <p:nvPr/>
        </p:nvSpPr>
        <p:spPr>
          <a:xfrm>
            <a:off x="9864000" y="5224874"/>
            <a:ext cx="936000" cy="463125"/>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92" name="Rectangle 91"/>
          <p:cNvSpPr/>
          <p:nvPr/>
        </p:nvSpPr>
        <p:spPr>
          <a:xfrm>
            <a:off x="10800000" y="5224874"/>
            <a:ext cx="936000" cy="463125"/>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93" name="Rounded Rectangle 92"/>
          <p:cNvSpPr/>
          <p:nvPr/>
        </p:nvSpPr>
        <p:spPr>
          <a:xfrm>
            <a:off x="9936000" y="5348437"/>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94" name="Rounded Rectangle 93"/>
          <p:cNvSpPr/>
          <p:nvPr/>
        </p:nvSpPr>
        <p:spPr>
          <a:xfrm>
            <a:off x="10962000" y="5348437"/>
            <a:ext cx="612000" cy="216000"/>
          </a:xfrm>
          <a:prstGeom prst="round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P3</a:t>
            </a:r>
          </a:p>
        </p:txBody>
      </p:sp>
      <p:sp>
        <p:nvSpPr>
          <p:cNvPr id="95" name="TextBox 94"/>
          <p:cNvSpPr txBox="1"/>
          <p:nvPr/>
        </p:nvSpPr>
        <p:spPr>
          <a:xfrm>
            <a:off x="503999" y="5716800"/>
            <a:ext cx="11232000" cy="151200"/>
          </a:xfrm>
          <a:prstGeom prst="rect">
            <a:avLst/>
          </a:prstGeom>
          <a:noFill/>
        </p:spPr>
        <p:txBody>
          <a:bodyPr wrap="square">
            <a:spAutoFit/>
          </a:bodyPr>
          <a:lstStyle/>
          <a:p>
            <a:r>
              <a:rPr sz="750" b="1">
                <a:solidFill>
                  <a:srgbClr val="060606"/>
                </a:solidFill>
                <a:latin typeface="Helvetica"/>
              </a:rPr>
              <a:t>Criticité : </a:t>
            </a:r>
            <a:r>
              <a:rPr sz="850" b="1">
                <a:solidFill>
                  <a:srgbClr val="C00000"/>
                </a:solidFill>
                <a:latin typeface="Helvetica"/>
              </a:rPr>
              <a:t>● </a:t>
            </a:r>
            <a:r>
              <a:rPr sz="750" b="0">
                <a:solidFill>
                  <a:srgbClr val="060606"/>
                </a:solidFill>
                <a:latin typeface="Helvetica"/>
              </a:rPr>
              <a:t>Critique   </a:t>
            </a:r>
            <a:r>
              <a:rPr sz="850" b="1">
                <a:solidFill>
                  <a:srgbClr val="ED7D31"/>
                </a:solidFill>
                <a:latin typeface="Helvetica"/>
              </a:rPr>
              <a:t>● </a:t>
            </a:r>
            <a:r>
              <a:rPr sz="750" b="0">
                <a:solidFill>
                  <a:srgbClr val="060606"/>
                </a:solidFill>
                <a:latin typeface="Helvetica"/>
              </a:rPr>
              <a:t>Élevé   </a:t>
            </a:r>
            <a:r>
              <a:rPr sz="850" b="1">
                <a:solidFill>
                  <a:srgbClr val="FFC000"/>
                </a:solidFill>
                <a:latin typeface="Helvetica"/>
              </a:rPr>
              <a:t>● </a:t>
            </a:r>
            <a:r>
              <a:rPr sz="750" b="0">
                <a:solidFill>
                  <a:srgbClr val="060606"/>
                </a:solidFill>
                <a:latin typeface="Helvetica"/>
              </a:rPr>
              <a:t>Moyen   </a:t>
            </a:r>
            <a:r>
              <a:rPr sz="850" b="1">
                <a:solidFill>
                  <a:srgbClr val="70AD47"/>
                </a:solidFill>
                <a:latin typeface="Helvetica"/>
              </a:rPr>
              <a:t>● </a:t>
            </a:r>
            <a:r>
              <a:rPr sz="750" b="0">
                <a:solidFill>
                  <a:srgbClr val="060606"/>
                </a:solidFill>
                <a:latin typeface="Helvetica"/>
              </a:rPr>
              <a:t>Faible   </a:t>
            </a:r>
            <a:r>
              <a:rPr sz="750" b="0">
                <a:solidFill>
                  <a:srgbClr val="060606"/>
                </a:solidFill>
                <a:latin typeface="Helvetica"/>
              </a:rPr>
              <a:t>Priorité : P1 dans les 3 mois, P2 dans les 6 mois, P3 de 6 à 18 mois, P4 au-delà.   Complexité : Faible (une décision suffit), Moyenne (travail interne), Élevée (tiers ou financement).   Numéros : ceux du résumé exécutif.</a:t>
            </a:r>
          </a:p>
        </p:txBody>
      </p:sp>
      <p:sp>
        <p:nvSpPr>
          <p:cNvPr id="96" name="TextBox 9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AIRMS : Agence ivoirienne de régulation de la mutualité sociale | PEP : Plan Épargne Plus | EFC : entraide fin de carrière | MEDOC : produit santé complémentaire du poste 8Z7</a:t>
            </a:r>
          </a:p>
        </p:txBody>
      </p:sp>
    </p:spTree>
    <p:extLst>
      <p:ext uri="{BB962C8B-B14F-4D97-AF65-F5344CB8AC3E}">
        <p14:creationId xmlns:p14="http://schemas.microsoft.com/office/powerpoint/2010/main" val="2383782411"/>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Retraités (CGRAE)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retraités cotisent de plus en plus, mais leurs soins et leurs âges ne sont pas suivis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Constat le plus grave : 22.a, la durée de la garantie santé n'est pas fixée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rapport actuariel et statistique du 23/10/2026. Logigrammes du FPPN (« FLOW_CHART_COTISATION_ET_PRODUITS_DEPARGNE_1.pptx »). Résumé exécutif du 26/10/2026</a:t>
            </a:r>
          </a:p>
        </p:txBody>
      </p:sp>
      <p:sp>
        <p:nvSpPr>
          <p:cNvPr id="31" name="Rectangle 30"/>
          <p:cNvSpPr/>
          <p:nvPr/>
        </p:nvSpPr>
        <p:spPr>
          <a:xfrm>
            <a:off x="503999" y="1411200"/>
            <a:ext cx="7085571" cy="1512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00" b="1">
                <a:solidFill>
                  <a:srgbClr val="FFFFFF"/>
                </a:solidFill>
                <a:latin typeface="Helvetica"/>
              </a:rPr>
              <a:t>PRODUITS</a:t>
            </a:r>
          </a:p>
        </p:txBody>
      </p:sp>
      <p:sp>
        <p:nvSpPr>
          <p:cNvPr id="32" name="Rectangle 31"/>
          <p:cNvSpPr/>
          <p:nvPr/>
        </p:nvSpPr>
        <p:spPr>
          <a:xfrm>
            <a:off x="7823571" y="1411200"/>
            <a:ext cx="3912428" cy="1512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00" b="1">
                <a:solidFill>
                  <a:srgbClr val="FFFFFF"/>
                </a:solidFill>
                <a:latin typeface="Helvetica"/>
              </a:rPr>
              <a:t>FONCTIONS TRANSVERSES</a:t>
            </a:r>
          </a:p>
        </p:txBody>
      </p:sp>
      <p:sp>
        <p:nvSpPr>
          <p:cNvPr id="33" name="Nav Maladie">
            <a:hlinkClick action="ppaction://hlinksldjump" r:id="rId7"/>
          </p:cNvPr>
          <p:cNvSpPr/>
          <p:nvPr/>
        </p:nvSpPr>
        <p:spPr>
          <a:xfrm>
            <a:off x="503999"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Maladie</a:t>
            </a:r>
          </a:p>
        </p:txBody>
      </p:sp>
      <p:sp>
        <p:nvSpPr>
          <p:cNvPr id="34" name="Nav Décès">
            <a:hlinkClick action="ppaction://hlinksldjump" r:id="rId8"/>
          </p:cNvPr>
          <p:cNvSpPr/>
          <p:nvPr/>
        </p:nvSpPr>
        <p:spPr>
          <a:xfrm>
            <a:off x="1297285"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Décès</a:t>
            </a:r>
          </a:p>
        </p:txBody>
      </p:sp>
      <p:sp>
        <p:nvSpPr>
          <p:cNvPr id="35" name="Nav Retraités (CGRAE)"/>
          <p:cNvSpPr/>
          <p:nvPr/>
        </p:nvSpPr>
        <p:spPr>
          <a:xfrm>
            <a:off x="2090571" y="1591200"/>
            <a:ext cx="739285" cy="1800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1">
                <a:solidFill>
                  <a:srgbClr val="FFFFFF"/>
                </a:solidFill>
                <a:latin typeface="Helvetica"/>
              </a:rPr>
              <a:t>Retraités</a:t>
            </a:r>
          </a:p>
        </p:txBody>
      </p:sp>
      <p:sp>
        <p:nvSpPr>
          <p:cNvPr id="36" name="Nav EFC">
            <a:hlinkClick action="ppaction://hlinksldjump" r:id="rId9"/>
          </p:cNvPr>
          <p:cNvSpPr/>
          <p:nvPr/>
        </p:nvSpPr>
        <p:spPr>
          <a:xfrm>
            <a:off x="2883857"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EFC</a:t>
            </a:r>
          </a:p>
        </p:txBody>
      </p:sp>
      <p:sp>
        <p:nvSpPr>
          <p:cNvPr id="37" name="Nav PEP">
            <a:hlinkClick action="ppaction://hlinksldjump" r:id="rId10"/>
          </p:cNvPr>
          <p:cNvSpPr/>
          <p:nvPr/>
        </p:nvSpPr>
        <p:spPr>
          <a:xfrm>
            <a:off x="3677142"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PEP</a:t>
            </a:r>
          </a:p>
        </p:txBody>
      </p:sp>
      <p:sp>
        <p:nvSpPr>
          <p:cNvPr id="38" name="Nav MEDOC">
            <a:hlinkClick action="ppaction://hlinksldjump" r:id="rId10"/>
          </p:cNvPr>
          <p:cNvSpPr/>
          <p:nvPr/>
        </p:nvSpPr>
        <p:spPr>
          <a:xfrm>
            <a:off x="4470428"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MEDOC</a:t>
            </a:r>
          </a:p>
        </p:txBody>
      </p:sp>
      <p:sp>
        <p:nvSpPr>
          <p:cNvPr id="39" name="Nav Grenier">
            <a:hlinkClick action="ppaction://hlinksldjump" r:id="rId11"/>
          </p:cNvPr>
          <p:cNvSpPr/>
          <p:nvPr/>
        </p:nvSpPr>
        <p:spPr>
          <a:xfrm>
            <a:off x="5263714"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Grenier</a:t>
            </a:r>
          </a:p>
        </p:txBody>
      </p:sp>
      <p:sp>
        <p:nvSpPr>
          <p:cNvPr id="40" name="Nav Flotte automobile">
            <a:hlinkClick action="ppaction://hlinksldjump" r:id="rId12"/>
          </p:cNvPr>
          <p:cNvSpPr/>
          <p:nvPr/>
        </p:nvSpPr>
        <p:spPr>
          <a:xfrm>
            <a:off x="6057000"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FFC000"/>
                </a:solidFill>
                <a:latin typeface="Helvetica"/>
              </a:rPr>
              <a:t>● </a:t>
            </a:r>
            <a:r>
              <a:rPr sz="750" b="0">
                <a:solidFill>
                  <a:srgbClr val="53565A"/>
                </a:solidFill>
                <a:latin typeface="Helvetica"/>
              </a:rPr>
              <a:t>Flotte auto</a:t>
            </a:r>
          </a:p>
        </p:txBody>
      </p:sp>
      <p:sp>
        <p:nvSpPr>
          <p:cNvPr id="41" name="Nav Clinique (CMP)">
            <a:hlinkClick action="ppaction://hlinksldjump" r:id="rId12"/>
          </p:cNvPr>
          <p:cNvSpPr/>
          <p:nvPr/>
        </p:nvSpPr>
        <p:spPr>
          <a:xfrm>
            <a:off x="6850285"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Clinique</a:t>
            </a:r>
          </a:p>
        </p:txBody>
      </p:sp>
      <p:sp>
        <p:nvSpPr>
          <p:cNvPr id="42" name="Nav Cotisations et précomptes">
            <a:hlinkClick action="ppaction://hlinksldjump" r:id="rId13"/>
          </p:cNvPr>
          <p:cNvSpPr/>
          <p:nvPr/>
        </p:nvSpPr>
        <p:spPr>
          <a:xfrm>
            <a:off x="7823571"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Cotisations</a:t>
            </a:r>
          </a:p>
        </p:txBody>
      </p:sp>
      <p:sp>
        <p:nvSpPr>
          <p:cNvPr id="43" name="Nav Comptabilité et provisions">
            <a:hlinkClick action="ppaction://hlinksldjump" r:id="rId14"/>
          </p:cNvPr>
          <p:cNvSpPr/>
          <p:nvPr/>
        </p:nvSpPr>
        <p:spPr>
          <a:xfrm>
            <a:off x="8616857"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Comptabilité</a:t>
            </a:r>
          </a:p>
        </p:txBody>
      </p:sp>
      <p:sp>
        <p:nvSpPr>
          <p:cNvPr id="44" name="Nav Trésorerie et placements">
            <a:hlinkClick action="ppaction://hlinksldjump" r:id="rId15"/>
          </p:cNvPr>
          <p:cNvSpPr/>
          <p:nvPr/>
        </p:nvSpPr>
        <p:spPr>
          <a:xfrm>
            <a:off x="9410142"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Trésorerie</a:t>
            </a:r>
          </a:p>
        </p:txBody>
      </p:sp>
      <p:sp>
        <p:nvSpPr>
          <p:cNvPr id="45" name="Nav Gouvernance">
            <a:hlinkClick action="ppaction://hlinksldjump" r:id="rId16"/>
          </p:cNvPr>
          <p:cNvSpPr/>
          <p:nvPr/>
        </p:nvSpPr>
        <p:spPr>
          <a:xfrm>
            <a:off x="10203428"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Gouvernance</a:t>
            </a:r>
          </a:p>
        </p:txBody>
      </p:sp>
      <p:sp>
        <p:nvSpPr>
          <p:cNvPr id="46" name="Nav Données et informatique">
            <a:hlinkClick action="ppaction://hlinksldjump" r:id="rId17"/>
          </p:cNvPr>
          <p:cNvSpPr/>
          <p:nvPr/>
        </p:nvSpPr>
        <p:spPr>
          <a:xfrm>
            <a:off x="10996714"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Données</a:t>
            </a:r>
          </a:p>
        </p:txBody>
      </p:sp>
      <p:sp>
        <p:nvSpPr>
          <p:cNvPr id="47" name="Bloc Retraités (CGRAE)"/>
          <p:cNvSpPr/>
          <p:nvPr/>
        </p:nvSpPr>
        <p:spPr>
          <a:xfrm>
            <a:off x="503999" y="1835999"/>
            <a:ext cx="11232000" cy="2232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00" b="1">
                <a:solidFill>
                  <a:srgbClr val="ED7D31"/>
                </a:solidFill>
                <a:latin typeface="Helvetica"/>
              </a:rPr>
              <a:t>● </a:t>
            </a:r>
            <a:r>
              <a:rPr sz="1000" b="0">
                <a:solidFill>
                  <a:srgbClr val="BBBCBC"/>
                </a:solidFill>
                <a:latin typeface="Helvetica"/>
              </a:rPr>
              <a:t>PRODUITS  ›  </a:t>
            </a:r>
            <a:r>
              <a:rPr sz="1200" b="1">
                <a:solidFill>
                  <a:srgbClr val="FFFFFF"/>
                </a:solidFill>
                <a:latin typeface="Helvetica"/>
              </a:rPr>
              <a:t>RETRAITÉS (CGRAE)</a:t>
            </a:r>
            <a:r>
              <a:rPr sz="950" b="0">
                <a:solidFill>
                  <a:srgbClr val="FFFFFF"/>
                </a:solidFill>
                <a:latin typeface="Helvetica"/>
              </a:rPr>
              <a:t>     5 constats</a:t>
            </a:r>
          </a:p>
        </p:txBody>
      </p:sp>
      <p:sp>
        <p:nvSpPr>
          <p:cNvPr id="48" name="Nav Carte">
            <a:hlinkClick action="ppaction://hlinksldjump" r:id="rId18"/>
          </p:cNvPr>
          <p:cNvSpPr/>
          <p:nvPr/>
        </p:nvSpPr>
        <p:spPr>
          <a:xfrm>
            <a:off x="10007999" y="1871999"/>
            <a:ext cx="1655999" cy="151200"/>
          </a:xfrm>
          <a:prstGeom prst="rect">
            <a:avLst/>
          </a:prstGeom>
          <a:solidFill>
            <a:srgbClr val="53565A"/>
          </a:solidFill>
          <a:ln w="952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50" b="1">
                <a:solidFill>
                  <a:srgbClr val="FFFFFF"/>
                </a:solidFill>
                <a:latin typeface="Helvetica"/>
              </a:rPr>
              <a:t>↩ Carte des activités</a:t>
            </a:r>
          </a:p>
        </p:txBody>
      </p:sp>
      <p:sp>
        <p:nvSpPr>
          <p:cNvPr id="49" name="Rectangle 48"/>
          <p:cNvSpPr/>
          <p:nvPr/>
        </p:nvSpPr>
        <p:spPr>
          <a:xfrm>
            <a:off x="503999" y="2088000"/>
            <a:ext cx="597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Constat et commentaire</a:t>
            </a:r>
          </a:p>
        </p:txBody>
      </p:sp>
      <p:sp>
        <p:nvSpPr>
          <p:cNvPr id="50" name="Rectangle 49"/>
          <p:cNvSpPr/>
          <p:nvPr/>
        </p:nvSpPr>
        <p:spPr>
          <a:xfrm>
            <a:off x="6480000" y="2088000"/>
            <a:ext cx="3384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Recommandation</a:t>
            </a:r>
          </a:p>
        </p:txBody>
      </p:sp>
      <p:sp>
        <p:nvSpPr>
          <p:cNvPr id="51" name="Rectangle 50"/>
          <p:cNvSpPr/>
          <p:nvPr/>
        </p:nvSpPr>
        <p:spPr>
          <a:xfrm>
            <a:off x="9864000" y="2088000"/>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Complexité</a:t>
            </a:r>
          </a:p>
        </p:txBody>
      </p:sp>
      <p:sp>
        <p:nvSpPr>
          <p:cNvPr id="52" name="Rectangle 51"/>
          <p:cNvSpPr/>
          <p:nvPr/>
        </p:nvSpPr>
        <p:spPr>
          <a:xfrm>
            <a:off x="10800000" y="2088000"/>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Priorité</a:t>
            </a:r>
          </a:p>
        </p:txBody>
      </p:sp>
      <p:sp>
        <p:nvSpPr>
          <p:cNvPr id="53" name="Rectangle 52"/>
          <p:cNvSpPr/>
          <p:nvPr/>
        </p:nvSpPr>
        <p:spPr>
          <a:xfrm>
            <a:off x="503999" y="2286000"/>
            <a:ext cx="5976000" cy="73956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ED7D31"/>
                </a:solidFill>
                <a:latin typeface="Helvetica"/>
              </a:rPr>
              <a:t>● </a:t>
            </a:r>
            <a:r>
              <a:rPr sz="1050" b="1">
                <a:solidFill>
                  <a:srgbClr val="112A40"/>
                </a:solidFill>
                <a:latin typeface="Helvetica"/>
              </a:rPr>
              <a:t>22   </a:t>
            </a:r>
            <a:r>
              <a:rPr sz="1050" b="1">
                <a:solidFill>
                  <a:srgbClr val="060606"/>
                </a:solidFill>
                <a:latin typeface="Helvetica"/>
              </a:rPr>
              <a:t>Le coût des soins des retraités n'est pas suivi. </a:t>
            </a:r>
            <a:r>
              <a:rPr sz="1050" b="0">
                <a:solidFill>
                  <a:srgbClr val="060606"/>
                </a:solidFill>
                <a:latin typeface="Helvetica"/>
              </a:rPr>
              <a:t>610 retraités cotisent en août 2026 (16 en février 2024), 11 954 FCFA par mois en moyenne. On ne sait pas si cela couvre leurs soins.</a:t>
            </a:r>
          </a:p>
        </p:txBody>
      </p:sp>
      <p:sp>
        <p:nvSpPr>
          <p:cNvPr id="54" name="Rectangle 53"/>
          <p:cNvSpPr/>
          <p:nvPr/>
        </p:nvSpPr>
        <p:spPr>
          <a:xfrm>
            <a:off x="6480000" y="2286000"/>
            <a:ext cx="3384000" cy="73956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Suivre séparément les soins des retraités.</a:t>
            </a:r>
          </a:p>
        </p:txBody>
      </p:sp>
      <p:sp>
        <p:nvSpPr>
          <p:cNvPr id="55" name="Rectangle 54"/>
          <p:cNvSpPr/>
          <p:nvPr/>
        </p:nvSpPr>
        <p:spPr>
          <a:xfrm>
            <a:off x="9864000" y="2286000"/>
            <a:ext cx="936000" cy="73956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56" name="Rectangle 55"/>
          <p:cNvSpPr/>
          <p:nvPr/>
        </p:nvSpPr>
        <p:spPr>
          <a:xfrm>
            <a:off x="10800000" y="2286000"/>
            <a:ext cx="936000" cy="73956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57" name="Rounded Rectangle 56"/>
          <p:cNvSpPr/>
          <p:nvPr/>
        </p:nvSpPr>
        <p:spPr>
          <a:xfrm>
            <a:off x="9936000" y="2547781"/>
            <a:ext cx="792000" cy="216000"/>
          </a:xfrm>
          <a:prstGeom prst="round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Moyenne</a:t>
            </a:r>
          </a:p>
        </p:txBody>
      </p:sp>
      <p:sp>
        <p:nvSpPr>
          <p:cNvPr id="58" name="Rounded Rectangle 57"/>
          <p:cNvSpPr/>
          <p:nvPr/>
        </p:nvSpPr>
        <p:spPr>
          <a:xfrm>
            <a:off x="10962000" y="2547781"/>
            <a:ext cx="612000" cy="216000"/>
          </a:xfrm>
          <a:prstGeom prst="round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P3</a:t>
            </a:r>
          </a:p>
        </p:txBody>
      </p:sp>
      <p:sp>
        <p:nvSpPr>
          <p:cNvPr id="59" name="Rectangle 58"/>
          <p:cNvSpPr/>
          <p:nvPr/>
        </p:nvSpPr>
        <p:spPr>
          <a:xfrm>
            <a:off x="503999" y="3025562"/>
            <a:ext cx="5976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ED7D31"/>
                </a:solidFill>
                <a:latin typeface="Helvetica"/>
              </a:rPr>
              <a:t>● </a:t>
            </a:r>
            <a:r>
              <a:rPr sz="1050" b="1">
                <a:solidFill>
                  <a:srgbClr val="112A40"/>
                </a:solidFill>
                <a:latin typeface="Helvetica"/>
              </a:rPr>
              <a:t>22.a   </a:t>
            </a:r>
            <a:r>
              <a:rPr sz="1050" b="1">
                <a:solidFill>
                  <a:srgbClr val="060606"/>
                </a:solidFill>
                <a:latin typeface="Helvetica"/>
              </a:rPr>
              <a:t>La durée de la garantie santé n'est pas fixée. </a:t>
            </a:r>
            <a:r>
              <a:rPr sz="1050" b="0">
                <a:solidFill>
                  <a:srgbClr val="060606"/>
                </a:solidFill>
                <a:latin typeface="Helvetica"/>
              </a:rPr>
              <a:t>Aucun texte transmis ne dit si elle est à vie ou limitée.</a:t>
            </a:r>
          </a:p>
        </p:txBody>
      </p:sp>
      <p:sp>
        <p:nvSpPr>
          <p:cNvPr id="60" name="Rectangle 59"/>
          <p:cNvSpPr/>
          <p:nvPr/>
        </p:nvSpPr>
        <p:spPr>
          <a:xfrm>
            <a:off x="6480000" y="3025562"/>
            <a:ext cx="3384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Fixer la durée de la garantie par décision écrite.</a:t>
            </a:r>
          </a:p>
        </p:txBody>
      </p:sp>
      <p:sp>
        <p:nvSpPr>
          <p:cNvPr id="61" name="Rectangle 60"/>
          <p:cNvSpPr/>
          <p:nvPr/>
        </p:nvSpPr>
        <p:spPr>
          <a:xfrm>
            <a:off x="9864000" y="3025562"/>
            <a:ext cx="936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2" name="Rectangle 61"/>
          <p:cNvSpPr/>
          <p:nvPr/>
        </p:nvSpPr>
        <p:spPr>
          <a:xfrm>
            <a:off x="10800000" y="3025562"/>
            <a:ext cx="936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3" name="Rounded Rectangle 62"/>
          <p:cNvSpPr/>
          <p:nvPr/>
        </p:nvSpPr>
        <p:spPr>
          <a:xfrm>
            <a:off x="9936000" y="3207283"/>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64" name="Rounded Rectangle 63"/>
          <p:cNvSpPr/>
          <p:nvPr/>
        </p:nvSpPr>
        <p:spPr>
          <a:xfrm>
            <a:off x="10962000" y="3207283"/>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65" name="Rectangle 64"/>
          <p:cNvSpPr/>
          <p:nvPr/>
        </p:nvSpPr>
        <p:spPr>
          <a:xfrm>
            <a:off x="503999" y="3605004"/>
            <a:ext cx="5976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FFC000"/>
                </a:solidFill>
                <a:latin typeface="Helvetica"/>
              </a:rPr>
              <a:t>● </a:t>
            </a:r>
            <a:r>
              <a:rPr sz="1050" b="1">
                <a:solidFill>
                  <a:srgbClr val="112A40"/>
                </a:solidFill>
                <a:latin typeface="Helvetica"/>
              </a:rPr>
              <a:t>22.b   </a:t>
            </a:r>
            <a:r>
              <a:rPr sz="1050" b="1">
                <a:solidFill>
                  <a:srgbClr val="060606"/>
                </a:solidFill>
                <a:latin typeface="Helvetica"/>
              </a:rPr>
              <a:t>Les âges des retraités manquent. </a:t>
            </a:r>
            <a:r>
              <a:rPr sz="1050" b="0">
                <a:solidFill>
                  <a:srgbClr val="060606"/>
                </a:solidFill>
                <a:latin typeface="Helvetica"/>
              </a:rPr>
              <a:t>Date de naissance connue pour 105 retraités seulement.</a:t>
            </a:r>
          </a:p>
        </p:txBody>
      </p:sp>
      <p:sp>
        <p:nvSpPr>
          <p:cNvPr id="66" name="Rectangle 65"/>
          <p:cNvSpPr/>
          <p:nvPr/>
        </p:nvSpPr>
        <p:spPr>
          <a:xfrm>
            <a:off x="6480000" y="3605004"/>
            <a:ext cx="3384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Obtenir de la CGRAE les dates de naissance.</a:t>
            </a:r>
          </a:p>
        </p:txBody>
      </p:sp>
      <p:sp>
        <p:nvSpPr>
          <p:cNvPr id="67" name="Rectangle 66"/>
          <p:cNvSpPr/>
          <p:nvPr/>
        </p:nvSpPr>
        <p:spPr>
          <a:xfrm>
            <a:off x="9864000" y="3605004"/>
            <a:ext cx="936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8" name="Rectangle 67"/>
          <p:cNvSpPr/>
          <p:nvPr/>
        </p:nvSpPr>
        <p:spPr>
          <a:xfrm>
            <a:off x="10800000" y="3605004"/>
            <a:ext cx="936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9" name="Rounded Rectangle 68"/>
          <p:cNvSpPr/>
          <p:nvPr/>
        </p:nvSpPr>
        <p:spPr>
          <a:xfrm>
            <a:off x="9936000" y="3786724"/>
            <a:ext cx="792000" cy="216000"/>
          </a:xfrm>
          <a:prstGeom prst="round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Moyenne</a:t>
            </a:r>
          </a:p>
        </p:txBody>
      </p:sp>
      <p:sp>
        <p:nvSpPr>
          <p:cNvPr id="70" name="Rounded Rectangle 69"/>
          <p:cNvSpPr/>
          <p:nvPr/>
        </p:nvSpPr>
        <p:spPr>
          <a:xfrm>
            <a:off x="10962000" y="3786724"/>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71" name="Rectangle 70"/>
          <p:cNvSpPr/>
          <p:nvPr/>
        </p:nvSpPr>
        <p:spPr>
          <a:xfrm>
            <a:off x="503999" y="4184445"/>
            <a:ext cx="5976000" cy="739562"/>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FFC000"/>
                </a:solidFill>
                <a:latin typeface="Helvetica"/>
              </a:rPr>
              <a:t>● </a:t>
            </a:r>
            <a:r>
              <a:rPr sz="1050" b="1">
                <a:solidFill>
                  <a:srgbClr val="112A40"/>
                </a:solidFill>
                <a:latin typeface="Helvetica"/>
              </a:rPr>
              <a:t>27.b   </a:t>
            </a:r>
            <a:r>
              <a:rPr sz="1050" b="1">
                <a:solidFill>
                  <a:srgbClr val="060606"/>
                </a:solidFill>
                <a:latin typeface="Helvetica"/>
              </a:rPr>
              <a:t>Une partie des retraités n'est pas prélevée. </a:t>
            </a:r>
            <a:r>
              <a:rPr sz="1050" b="0">
                <a:solidFill>
                  <a:srgbClr val="060606"/>
                </a:solidFill>
                <a:latin typeface="Helvetica"/>
              </a:rPr>
              <a:t>Sans quotité cessible suffisante, pas de prélèvement, et la liste n'a pas été transmise. Le virement de la CGRAE n'est pas rapproché du fichier retour.</a:t>
            </a:r>
          </a:p>
        </p:txBody>
      </p:sp>
      <p:sp>
        <p:nvSpPr>
          <p:cNvPr id="72" name="Rectangle 71"/>
          <p:cNvSpPr/>
          <p:nvPr/>
        </p:nvSpPr>
        <p:spPr>
          <a:xfrm>
            <a:off x="6480000" y="4184445"/>
            <a:ext cx="3384000" cy="739562"/>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Suivre les non-prélevés et rapprocher chaque virement.</a:t>
            </a:r>
          </a:p>
        </p:txBody>
      </p:sp>
      <p:sp>
        <p:nvSpPr>
          <p:cNvPr id="73" name="Rectangle 72"/>
          <p:cNvSpPr/>
          <p:nvPr/>
        </p:nvSpPr>
        <p:spPr>
          <a:xfrm>
            <a:off x="9864000" y="4184445"/>
            <a:ext cx="936000" cy="739562"/>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4" name="Rectangle 73"/>
          <p:cNvSpPr/>
          <p:nvPr/>
        </p:nvSpPr>
        <p:spPr>
          <a:xfrm>
            <a:off x="10800000" y="4184445"/>
            <a:ext cx="936000" cy="739562"/>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5" name="Rounded Rectangle 74"/>
          <p:cNvSpPr/>
          <p:nvPr/>
        </p:nvSpPr>
        <p:spPr>
          <a:xfrm>
            <a:off x="9936000" y="4446226"/>
            <a:ext cx="792000" cy="216000"/>
          </a:xfrm>
          <a:prstGeom prst="round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Moyenne</a:t>
            </a:r>
          </a:p>
        </p:txBody>
      </p:sp>
      <p:sp>
        <p:nvSpPr>
          <p:cNvPr id="76" name="Rounded Rectangle 75"/>
          <p:cNvSpPr/>
          <p:nvPr/>
        </p:nvSpPr>
        <p:spPr>
          <a:xfrm>
            <a:off x="10962000" y="4446226"/>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77" name="Rectangle 76"/>
          <p:cNvSpPr/>
          <p:nvPr/>
        </p:nvSpPr>
        <p:spPr>
          <a:xfrm>
            <a:off x="503999" y="4924008"/>
            <a:ext cx="597600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70AD47"/>
                </a:solidFill>
                <a:latin typeface="Helvetica"/>
              </a:rPr>
              <a:t>● </a:t>
            </a:r>
            <a:r>
              <a:rPr sz="1050" b="1">
                <a:solidFill>
                  <a:srgbClr val="112A40"/>
                </a:solidFill>
                <a:latin typeface="Helvetica"/>
              </a:rPr>
              <a:t>26.d   </a:t>
            </a:r>
            <a:r>
              <a:rPr sz="1050" b="1">
                <a:solidFill>
                  <a:srgbClr val="060606"/>
                </a:solidFill>
                <a:latin typeface="Helvetica"/>
              </a:rPr>
              <a:t>Deux fichiers retour manquent. </a:t>
            </a:r>
            <a:r>
              <a:rPr sz="1050" b="0">
                <a:solidFill>
                  <a:srgbClr val="060606"/>
                </a:solidFill>
                <a:latin typeface="Helvetica"/>
              </a:rPr>
              <a:t>Janvier et juin 2024.</a:t>
            </a:r>
          </a:p>
        </p:txBody>
      </p:sp>
      <p:sp>
        <p:nvSpPr>
          <p:cNvPr id="78" name="Rectangle 77"/>
          <p:cNvSpPr/>
          <p:nvPr/>
        </p:nvSpPr>
        <p:spPr>
          <a:xfrm>
            <a:off x="6480000" y="4924008"/>
            <a:ext cx="338400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Transmettre les deux fichiers.</a:t>
            </a:r>
          </a:p>
        </p:txBody>
      </p:sp>
      <p:sp>
        <p:nvSpPr>
          <p:cNvPr id="79" name="Rectangle 78"/>
          <p:cNvSpPr/>
          <p:nvPr/>
        </p:nvSpPr>
        <p:spPr>
          <a:xfrm>
            <a:off x="9864000" y="4924008"/>
            <a:ext cx="93600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0" name="Rectangle 79"/>
          <p:cNvSpPr/>
          <p:nvPr/>
        </p:nvSpPr>
        <p:spPr>
          <a:xfrm>
            <a:off x="10800000" y="4924008"/>
            <a:ext cx="93600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1" name="Rounded Rectangle 80"/>
          <p:cNvSpPr/>
          <p:nvPr/>
        </p:nvSpPr>
        <p:spPr>
          <a:xfrm>
            <a:off x="9936000" y="5044608"/>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82" name="Rounded Rectangle 81"/>
          <p:cNvSpPr/>
          <p:nvPr/>
        </p:nvSpPr>
        <p:spPr>
          <a:xfrm>
            <a:off x="10962000" y="5044608"/>
            <a:ext cx="612000" cy="216000"/>
          </a:xfrm>
          <a:prstGeom prst="round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P3</a:t>
            </a:r>
          </a:p>
        </p:txBody>
      </p:sp>
      <p:sp>
        <p:nvSpPr>
          <p:cNvPr id="83" name="TextBox 82"/>
          <p:cNvSpPr txBox="1"/>
          <p:nvPr/>
        </p:nvSpPr>
        <p:spPr>
          <a:xfrm>
            <a:off x="503999" y="5716800"/>
            <a:ext cx="11232000" cy="151200"/>
          </a:xfrm>
          <a:prstGeom prst="rect">
            <a:avLst/>
          </a:prstGeom>
          <a:noFill/>
        </p:spPr>
        <p:txBody>
          <a:bodyPr wrap="square">
            <a:spAutoFit/>
          </a:bodyPr>
          <a:lstStyle/>
          <a:p>
            <a:r>
              <a:rPr sz="750" b="1">
                <a:solidFill>
                  <a:srgbClr val="060606"/>
                </a:solidFill>
                <a:latin typeface="Helvetica"/>
              </a:rPr>
              <a:t>Criticité : </a:t>
            </a:r>
            <a:r>
              <a:rPr sz="850" b="1">
                <a:solidFill>
                  <a:srgbClr val="C00000"/>
                </a:solidFill>
                <a:latin typeface="Helvetica"/>
              </a:rPr>
              <a:t>● </a:t>
            </a:r>
            <a:r>
              <a:rPr sz="750" b="0">
                <a:solidFill>
                  <a:srgbClr val="060606"/>
                </a:solidFill>
                <a:latin typeface="Helvetica"/>
              </a:rPr>
              <a:t>Critique   </a:t>
            </a:r>
            <a:r>
              <a:rPr sz="850" b="1">
                <a:solidFill>
                  <a:srgbClr val="ED7D31"/>
                </a:solidFill>
                <a:latin typeface="Helvetica"/>
              </a:rPr>
              <a:t>● </a:t>
            </a:r>
            <a:r>
              <a:rPr sz="750" b="0">
                <a:solidFill>
                  <a:srgbClr val="060606"/>
                </a:solidFill>
                <a:latin typeface="Helvetica"/>
              </a:rPr>
              <a:t>Élevé   </a:t>
            </a:r>
            <a:r>
              <a:rPr sz="850" b="1">
                <a:solidFill>
                  <a:srgbClr val="FFC000"/>
                </a:solidFill>
                <a:latin typeface="Helvetica"/>
              </a:rPr>
              <a:t>● </a:t>
            </a:r>
            <a:r>
              <a:rPr sz="750" b="0">
                <a:solidFill>
                  <a:srgbClr val="060606"/>
                </a:solidFill>
                <a:latin typeface="Helvetica"/>
              </a:rPr>
              <a:t>Moyen   </a:t>
            </a:r>
            <a:r>
              <a:rPr sz="850" b="1">
                <a:solidFill>
                  <a:srgbClr val="70AD47"/>
                </a:solidFill>
                <a:latin typeface="Helvetica"/>
              </a:rPr>
              <a:t>● </a:t>
            </a:r>
            <a:r>
              <a:rPr sz="750" b="0">
                <a:solidFill>
                  <a:srgbClr val="060606"/>
                </a:solidFill>
                <a:latin typeface="Helvetica"/>
              </a:rPr>
              <a:t>Faible   </a:t>
            </a:r>
            <a:r>
              <a:rPr sz="750" b="0">
                <a:solidFill>
                  <a:srgbClr val="060606"/>
                </a:solidFill>
                <a:latin typeface="Helvetica"/>
              </a:rPr>
              <a:t>Priorité : P1 dans les 3 mois, P2 dans les 6 mois, P3 de 6 à 18 mois, P4 au-delà.   Complexité : Faible (une décision suffit), Moyenne (travail interne), Élevée (tiers ou financement).   Numéros : ceux du résumé exécutif.</a:t>
            </a:r>
          </a:p>
        </p:txBody>
      </p:sp>
      <p:sp>
        <p:nvSpPr>
          <p:cNvPr id="84" name="TextBox 8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 | PEP : Plan Épargne Plus | EFC : entraide fin de carrière | MEDOC : produit santé complémentaire du poste 8Z7</a:t>
            </a:r>
          </a:p>
        </p:txBody>
      </p:sp>
    </p:spTree>
    <p:extLst>
      <p:ext uri="{BB962C8B-B14F-4D97-AF65-F5344CB8AC3E}">
        <p14:creationId xmlns:p14="http://schemas.microsoft.com/office/powerpoint/2010/main" val="1198827011"/>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EFC</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L'épargne de fin de carrière a triplé, sans taux fixé ni intérêts comptabilisés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Constat le plus grave : 6, les intérêts promis ne sont pas comptabilisés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rapport actuariel et statistique du 23/10/2026. Logigrammes du FPPN (« FLOW_CHART_COTISATION_ET_PRODUITS_DEPARGNE_1.pptx »). Résumé exécutif du 26/10/2026</a:t>
            </a:r>
          </a:p>
        </p:txBody>
      </p:sp>
      <p:sp>
        <p:nvSpPr>
          <p:cNvPr id="31" name="Rectangle 30"/>
          <p:cNvSpPr/>
          <p:nvPr/>
        </p:nvSpPr>
        <p:spPr>
          <a:xfrm>
            <a:off x="503999" y="1411200"/>
            <a:ext cx="7085571" cy="1512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00" b="1">
                <a:solidFill>
                  <a:srgbClr val="FFFFFF"/>
                </a:solidFill>
                <a:latin typeface="Helvetica"/>
              </a:rPr>
              <a:t>PRODUITS</a:t>
            </a:r>
          </a:p>
        </p:txBody>
      </p:sp>
      <p:sp>
        <p:nvSpPr>
          <p:cNvPr id="32" name="Rectangle 31"/>
          <p:cNvSpPr/>
          <p:nvPr/>
        </p:nvSpPr>
        <p:spPr>
          <a:xfrm>
            <a:off x="7823571" y="1411200"/>
            <a:ext cx="3912428" cy="1512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00" b="1">
                <a:solidFill>
                  <a:srgbClr val="FFFFFF"/>
                </a:solidFill>
                <a:latin typeface="Helvetica"/>
              </a:rPr>
              <a:t>FONCTIONS TRANSVERSES</a:t>
            </a:r>
          </a:p>
        </p:txBody>
      </p:sp>
      <p:sp>
        <p:nvSpPr>
          <p:cNvPr id="33" name="Nav Maladie">
            <a:hlinkClick action="ppaction://hlinksldjump" r:id="rId7"/>
          </p:cNvPr>
          <p:cNvSpPr/>
          <p:nvPr/>
        </p:nvSpPr>
        <p:spPr>
          <a:xfrm>
            <a:off x="503999"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Maladie</a:t>
            </a:r>
          </a:p>
        </p:txBody>
      </p:sp>
      <p:sp>
        <p:nvSpPr>
          <p:cNvPr id="34" name="Nav Décès">
            <a:hlinkClick action="ppaction://hlinksldjump" r:id="rId8"/>
          </p:cNvPr>
          <p:cNvSpPr/>
          <p:nvPr/>
        </p:nvSpPr>
        <p:spPr>
          <a:xfrm>
            <a:off x="1297285"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Décès</a:t>
            </a:r>
          </a:p>
        </p:txBody>
      </p:sp>
      <p:sp>
        <p:nvSpPr>
          <p:cNvPr id="35" name="Nav Retraités (CGRAE)">
            <a:hlinkClick action="ppaction://hlinksldjump" r:id="rId9"/>
          </p:cNvPr>
          <p:cNvSpPr/>
          <p:nvPr/>
        </p:nvSpPr>
        <p:spPr>
          <a:xfrm>
            <a:off x="2090571"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Retraités</a:t>
            </a:r>
          </a:p>
        </p:txBody>
      </p:sp>
      <p:sp>
        <p:nvSpPr>
          <p:cNvPr id="36" name="Nav EFC"/>
          <p:cNvSpPr/>
          <p:nvPr/>
        </p:nvSpPr>
        <p:spPr>
          <a:xfrm>
            <a:off x="2883857" y="1591200"/>
            <a:ext cx="739285" cy="1800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1">
                <a:solidFill>
                  <a:srgbClr val="FFFFFF"/>
                </a:solidFill>
                <a:latin typeface="Helvetica"/>
              </a:rPr>
              <a:t>EFC</a:t>
            </a:r>
          </a:p>
        </p:txBody>
      </p:sp>
      <p:sp>
        <p:nvSpPr>
          <p:cNvPr id="37" name="Nav PEP">
            <a:hlinkClick action="ppaction://hlinksldjump" r:id="rId10"/>
          </p:cNvPr>
          <p:cNvSpPr/>
          <p:nvPr/>
        </p:nvSpPr>
        <p:spPr>
          <a:xfrm>
            <a:off x="3677142"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PEP</a:t>
            </a:r>
          </a:p>
        </p:txBody>
      </p:sp>
      <p:sp>
        <p:nvSpPr>
          <p:cNvPr id="38" name="Nav MEDOC">
            <a:hlinkClick action="ppaction://hlinksldjump" r:id="rId10"/>
          </p:cNvPr>
          <p:cNvSpPr/>
          <p:nvPr/>
        </p:nvSpPr>
        <p:spPr>
          <a:xfrm>
            <a:off x="4470428"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MEDOC</a:t>
            </a:r>
          </a:p>
        </p:txBody>
      </p:sp>
      <p:sp>
        <p:nvSpPr>
          <p:cNvPr id="39" name="Nav Grenier">
            <a:hlinkClick action="ppaction://hlinksldjump" r:id="rId11"/>
          </p:cNvPr>
          <p:cNvSpPr/>
          <p:nvPr/>
        </p:nvSpPr>
        <p:spPr>
          <a:xfrm>
            <a:off x="5263714"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Grenier</a:t>
            </a:r>
          </a:p>
        </p:txBody>
      </p:sp>
      <p:sp>
        <p:nvSpPr>
          <p:cNvPr id="40" name="Nav Flotte automobile">
            <a:hlinkClick action="ppaction://hlinksldjump" r:id="rId12"/>
          </p:cNvPr>
          <p:cNvSpPr/>
          <p:nvPr/>
        </p:nvSpPr>
        <p:spPr>
          <a:xfrm>
            <a:off x="6057000"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FFC000"/>
                </a:solidFill>
                <a:latin typeface="Helvetica"/>
              </a:rPr>
              <a:t>● </a:t>
            </a:r>
            <a:r>
              <a:rPr sz="750" b="0">
                <a:solidFill>
                  <a:srgbClr val="53565A"/>
                </a:solidFill>
                <a:latin typeface="Helvetica"/>
              </a:rPr>
              <a:t>Flotte auto</a:t>
            </a:r>
          </a:p>
        </p:txBody>
      </p:sp>
      <p:sp>
        <p:nvSpPr>
          <p:cNvPr id="41" name="Nav Clinique (CMP)">
            <a:hlinkClick action="ppaction://hlinksldjump" r:id="rId12"/>
          </p:cNvPr>
          <p:cNvSpPr/>
          <p:nvPr/>
        </p:nvSpPr>
        <p:spPr>
          <a:xfrm>
            <a:off x="6850285"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Clinique</a:t>
            </a:r>
          </a:p>
        </p:txBody>
      </p:sp>
      <p:sp>
        <p:nvSpPr>
          <p:cNvPr id="42" name="Nav Cotisations et précomptes">
            <a:hlinkClick action="ppaction://hlinksldjump" r:id="rId13"/>
          </p:cNvPr>
          <p:cNvSpPr/>
          <p:nvPr/>
        </p:nvSpPr>
        <p:spPr>
          <a:xfrm>
            <a:off x="7823571"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Cotisations</a:t>
            </a:r>
          </a:p>
        </p:txBody>
      </p:sp>
      <p:sp>
        <p:nvSpPr>
          <p:cNvPr id="43" name="Nav Comptabilité et provisions">
            <a:hlinkClick action="ppaction://hlinksldjump" r:id="rId14"/>
          </p:cNvPr>
          <p:cNvSpPr/>
          <p:nvPr/>
        </p:nvSpPr>
        <p:spPr>
          <a:xfrm>
            <a:off x="8616857"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Comptabilité</a:t>
            </a:r>
          </a:p>
        </p:txBody>
      </p:sp>
      <p:sp>
        <p:nvSpPr>
          <p:cNvPr id="44" name="Nav Trésorerie et placements">
            <a:hlinkClick action="ppaction://hlinksldjump" r:id="rId15"/>
          </p:cNvPr>
          <p:cNvSpPr/>
          <p:nvPr/>
        </p:nvSpPr>
        <p:spPr>
          <a:xfrm>
            <a:off x="9410142"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Trésorerie</a:t>
            </a:r>
          </a:p>
        </p:txBody>
      </p:sp>
      <p:sp>
        <p:nvSpPr>
          <p:cNvPr id="45" name="Nav Gouvernance">
            <a:hlinkClick action="ppaction://hlinksldjump" r:id="rId16"/>
          </p:cNvPr>
          <p:cNvSpPr/>
          <p:nvPr/>
        </p:nvSpPr>
        <p:spPr>
          <a:xfrm>
            <a:off x="10203428"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Gouvernance</a:t>
            </a:r>
          </a:p>
        </p:txBody>
      </p:sp>
      <p:sp>
        <p:nvSpPr>
          <p:cNvPr id="46" name="Nav Données et informatique">
            <a:hlinkClick action="ppaction://hlinksldjump" r:id="rId17"/>
          </p:cNvPr>
          <p:cNvSpPr/>
          <p:nvPr/>
        </p:nvSpPr>
        <p:spPr>
          <a:xfrm>
            <a:off x="10996714"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Données</a:t>
            </a:r>
          </a:p>
        </p:txBody>
      </p:sp>
      <p:sp>
        <p:nvSpPr>
          <p:cNvPr id="47" name="Bloc EFC"/>
          <p:cNvSpPr/>
          <p:nvPr/>
        </p:nvSpPr>
        <p:spPr>
          <a:xfrm>
            <a:off x="503999" y="1835999"/>
            <a:ext cx="11232000" cy="2232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00" b="1">
                <a:solidFill>
                  <a:srgbClr val="C00000"/>
                </a:solidFill>
                <a:latin typeface="Helvetica"/>
              </a:rPr>
              <a:t>● </a:t>
            </a:r>
            <a:r>
              <a:rPr sz="1000" b="0">
                <a:solidFill>
                  <a:srgbClr val="BBBCBC"/>
                </a:solidFill>
                <a:latin typeface="Helvetica"/>
              </a:rPr>
              <a:t>PRODUITS  ›  </a:t>
            </a:r>
            <a:r>
              <a:rPr sz="1200" b="1">
                <a:solidFill>
                  <a:srgbClr val="FFFFFF"/>
                </a:solidFill>
                <a:latin typeface="Helvetica"/>
              </a:rPr>
              <a:t>EFC</a:t>
            </a:r>
            <a:r>
              <a:rPr sz="950" b="0">
                <a:solidFill>
                  <a:srgbClr val="FFFFFF"/>
                </a:solidFill>
                <a:latin typeface="Helvetica"/>
              </a:rPr>
              <a:t>     6 constats, dont 3 à traiter dans les trois mois</a:t>
            </a:r>
          </a:p>
        </p:txBody>
      </p:sp>
      <p:sp>
        <p:nvSpPr>
          <p:cNvPr id="48" name="Nav Carte">
            <a:hlinkClick action="ppaction://hlinksldjump" r:id="rId18"/>
          </p:cNvPr>
          <p:cNvSpPr/>
          <p:nvPr/>
        </p:nvSpPr>
        <p:spPr>
          <a:xfrm>
            <a:off x="10007999" y="1871999"/>
            <a:ext cx="1655999" cy="151200"/>
          </a:xfrm>
          <a:prstGeom prst="rect">
            <a:avLst/>
          </a:prstGeom>
          <a:solidFill>
            <a:srgbClr val="53565A"/>
          </a:solidFill>
          <a:ln w="952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50" b="1">
                <a:solidFill>
                  <a:srgbClr val="FFFFFF"/>
                </a:solidFill>
                <a:latin typeface="Helvetica"/>
              </a:rPr>
              <a:t>↩ Carte des activités</a:t>
            </a:r>
          </a:p>
        </p:txBody>
      </p:sp>
      <p:sp>
        <p:nvSpPr>
          <p:cNvPr id="49" name="Rectangle 48"/>
          <p:cNvSpPr/>
          <p:nvPr/>
        </p:nvSpPr>
        <p:spPr>
          <a:xfrm>
            <a:off x="503999" y="2088000"/>
            <a:ext cx="597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Constat et commentaire</a:t>
            </a:r>
          </a:p>
        </p:txBody>
      </p:sp>
      <p:sp>
        <p:nvSpPr>
          <p:cNvPr id="50" name="Rectangle 49"/>
          <p:cNvSpPr/>
          <p:nvPr/>
        </p:nvSpPr>
        <p:spPr>
          <a:xfrm>
            <a:off x="6480000" y="2088000"/>
            <a:ext cx="3384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Recommandation</a:t>
            </a:r>
          </a:p>
        </p:txBody>
      </p:sp>
      <p:sp>
        <p:nvSpPr>
          <p:cNvPr id="51" name="Rectangle 50"/>
          <p:cNvSpPr/>
          <p:nvPr/>
        </p:nvSpPr>
        <p:spPr>
          <a:xfrm>
            <a:off x="9864000" y="2088000"/>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Complexité</a:t>
            </a:r>
          </a:p>
        </p:txBody>
      </p:sp>
      <p:sp>
        <p:nvSpPr>
          <p:cNvPr id="52" name="Rectangle 51"/>
          <p:cNvSpPr/>
          <p:nvPr/>
        </p:nvSpPr>
        <p:spPr>
          <a:xfrm>
            <a:off x="10800000" y="2088000"/>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Priorité</a:t>
            </a:r>
          </a:p>
        </p:txBody>
      </p:sp>
      <p:sp>
        <p:nvSpPr>
          <p:cNvPr id="53" name="Rectangle 52"/>
          <p:cNvSpPr/>
          <p:nvPr/>
        </p:nvSpPr>
        <p:spPr>
          <a:xfrm>
            <a:off x="503999" y="2286000"/>
            <a:ext cx="5976000" cy="540313"/>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C00000"/>
                </a:solidFill>
                <a:latin typeface="Helvetica"/>
              </a:rPr>
              <a:t>● </a:t>
            </a:r>
            <a:r>
              <a:rPr sz="1050" b="1">
                <a:solidFill>
                  <a:srgbClr val="112A40"/>
                </a:solidFill>
                <a:latin typeface="Helvetica"/>
              </a:rPr>
              <a:t>6   </a:t>
            </a:r>
            <a:r>
              <a:rPr sz="1050" b="1">
                <a:solidFill>
                  <a:srgbClr val="060606"/>
                </a:solidFill>
                <a:latin typeface="Helvetica"/>
              </a:rPr>
              <a:t>Les intérêts promis ne sont pas comptabilisés. </a:t>
            </a:r>
            <a:r>
              <a:rPr sz="1050" b="0">
                <a:solidFill>
                  <a:srgbClr val="060606"/>
                </a:solidFill>
                <a:latin typeface="Helvetica"/>
              </a:rPr>
              <a:t>Pour l'EFC : 2 027 062 663 FCFA à 5,50 % de 2020 au 31/08/2026, sur 3 278 913 238 FCFA au total.</a:t>
            </a:r>
          </a:p>
        </p:txBody>
      </p:sp>
      <p:sp>
        <p:nvSpPr>
          <p:cNvPr id="54" name="Rectangle 53"/>
          <p:cNvSpPr/>
          <p:nvPr/>
        </p:nvSpPr>
        <p:spPr>
          <a:xfrm>
            <a:off x="6480000" y="2286000"/>
            <a:ext cx="3384000" cy="540313"/>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Comptabiliser chaque année les intérêts dus.</a:t>
            </a:r>
          </a:p>
        </p:txBody>
      </p:sp>
      <p:sp>
        <p:nvSpPr>
          <p:cNvPr id="55" name="Rectangle 54"/>
          <p:cNvSpPr/>
          <p:nvPr/>
        </p:nvSpPr>
        <p:spPr>
          <a:xfrm>
            <a:off x="9864000" y="2286000"/>
            <a:ext cx="936000" cy="540313"/>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56" name="Rectangle 55"/>
          <p:cNvSpPr/>
          <p:nvPr/>
        </p:nvSpPr>
        <p:spPr>
          <a:xfrm>
            <a:off x="10800000" y="2286000"/>
            <a:ext cx="936000" cy="540313"/>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57" name="Rounded Rectangle 56"/>
          <p:cNvSpPr/>
          <p:nvPr/>
        </p:nvSpPr>
        <p:spPr>
          <a:xfrm>
            <a:off x="9936000" y="2448156"/>
            <a:ext cx="792000" cy="216000"/>
          </a:xfrm>
          <a:prstGeom prst="round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Moyenne</a:t>
            </a:r>
          </a:p>
        </p:txBody>
      </p:sp>
      <p:sp>
        <p:nvSpPr>
          <p:cNvPr id="58" name="Rounded Rectangle 57"/>
          <p:cNvSpPr/>
          <p:nvPr/>
        </p:nvSpPr>
        <p:spPr>
          <a:xfrm>
            <a:off x="10962000" y="2448156"/>
            <a:ext cx="612000" cy="216000"/>
          </a:xfrm>
          <a:prstGeom prst="round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P1</a:t>
            </a:r>
          </a:p>
        </p:txBody>
      </p:sp>
      <p:sp>
        <p:nvSpPr>
          <p:cNvPr id="59" name="Rectangle 58"/>
          <p:cNvSpPr/>
          <p:nvPr/>
        </p:nvSpPr>
        <p:spPr>
          <a:xfrm>
            <a:off x="503999" y="2826313"/>
            <a:ext cx="5976000" cy="700434"/>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C00000"/>
                </a:solidFill>
                <a:latin typeface="Helvetica"/>
              </a:rPr>
              <a:t>● </a:t>
            </a:r>
            <a:r>
              <a:rPr sz="1050" b="1">
                <a:solidFill>
                  <a:srgbClr val="112A40"/>
                </a:solidFill>
                <a:latin typeface="Helvetica"/>
              </a:rPr>
              <a:t>7   </a:t>
            </a:r>
            <a:r>
              <a:rPr sz="1050" b="1">
                <a:solidFill>
                  <a:srgbClr val="060606"/>
                </a:solidFill>
                <a:latin typeface="Helvetica"/>
              </a:rPr>
              <a:t>Aucun taux n'est officiellement fixé. </a:t>
            </a:r>
            <a:r>
              <a:rPr sz="1050" b="0">
                <a:solidFill>
                  <a:srgbClr val="060606"/>
                </a:solidFill>
                <a:latin typeface="Helvetica"/>
              </a:rPr>
              <a:t>3,50 %, 5,50 % ou 14 % selon le document. Même à 3,50 %, une année d'intérêts (309 709 577 FCFA en 2025) dépasse les produits de tous les placements.</a:t>
            </a:r>
          </a:p>
        </p:txBody>
      </p:sp>
      <p:sp>
        <p:nvSpPr>
          <p:cNvPr id="60" name="Rectangle 59"/>
          <p:cNvSpPr/>
          <p:nvPr/>
        </p:nvSpPr>
        <p:spPr>
          <a:xfrm>
            <a:off x="6480000" y="2826313"/>
            <a:ext cx="3384000" cy="700434"/>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Faire fixer le taux par le conseil d'administration.</a:t>
            </a:r>
          </a:p>
        </p:txBody>
      </p:sp>
      <p:sp>
        <p:nvSpPr>
          <p:cNvPr id="61" name="Rectangle 60"/>
          <p:cNvSpPr/>
          <p:nvPr/>
        </p:nvSpPr>
        <p:spPr>
          <a:xfrm>
            <a:off x="9864000" y="2826313"/>
            <a:ext cx="936000" cy="700434"/>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2" name="Rectangle 61"/>
          <p:cNvSpPr/>
          <p:nvPr/>
        </p:nvSpPr>
        <p:spPr>
          <a:xfrm>
            <a:off x="10800000" y="2826313"/>
            <a:ext cx="936000" cy="700434"/>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3" name="Rounded Rectangle 62"/>
          <p:cNvSpPr/>
          <p:nvPr/>
        </p:nvSpPr>
        <p:spPr>
          <a:xfrm>
            <a:off x="9936000" y="3068530"/>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64" name="Rounded Rectangle 63"/>
          <p:cNvSpPr/>
          <p:nvPr/>
        </p:nvSpPr>
        <p:spPr>
          <a:xfrm>
            <a:off x="10962000" y="3068530"/>
            <a:ext cx="612000" cy="216000"/>
          </a:xfrm>
          <a:prstGeom prst="round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P1</a:t>
            </a:r>
          </a:p>
        </p:txBody>
      </p:sp>
      <p:sp>
        <p:nvSpPr>
          <p:cNvPr id="65" name="Rectangle 64"/>
          <p:cNvSpPr/>
          <p:nvPr/>
        </p:nvSpPr>
        <p:spPr>
          <a:xfrm>
            <a:off x="503999" y="3526747"/>
            <a:ext cx="5976000" cy="540313"/>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C00000"/>
                </a:solidFill>
                <a:latin typeface="Helvetica"/>
              </a:rPr>
              <a:t>● </a:t>
            </a:r>
            <a:r>
              <a:rPr sz="1050" b="1">
                <a:solidFill>
                  <a:srgbClr val="112A40"/>
                </a:solidFill>
                <a:latin typeface="Helvetica"/>
              </a:rPr>
              <a:t>11.a   </a:t>
            </a:r>
            <a:r>
              <a:rPr sz="1050" b="1">
                <a:solidFill>
                  <a:srgbClr val="060606"/>
                </a:solidFill>
                <a:latin typeface="Helvetica"/>
              </a:rPr>
              <a:t>Les sorties ne sont pas prévues. </a:t>
            </a:r>
            <a:r>
              <a:rPr sz="1050" b="0">
                <a:solidFill>
                  <a:srgbClr val="060606"/>
                </a:solidFill>
                <a:latin typeface="Helvetica"/>
              </a:rPr>
              <a:t>L'EFC sort aux départs à la retraite, imprévisibles sans dates de naissance. Aucun échéancier n'existe.</a:t>
            </a:r>
          </a:p>
        </p:txBody>
      </p:sp>
      <p:sp>
        <p:nvSpPr>
          <p:cNvPr id="66" name="Rectangle 65"/>
          <p:cNvSpPr/>
          <p:nvPr/>
        </p:nvSpPr>
        <p:spPr>
          <a:xfrm>
            <a:off x="6480000" y="3526747"/>
            <a:ext cx="3384000" cy="540313"/>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Établir l'échéancier des départs à la retraite.</a:t>
            </a:r>
          </a:p>
        </p:txBody>
      </p:sp>
      <p:sp>
        <p:nvSpPr>
          <p:cNvPr id="67" name="Rectangle 66"/>
          <p:cNvSpPr/>
          <p:nvPr/>
        </p:nvSpPr>
        <p:spPr>
          <a:xfrm>
            <a:off x="9864000" y="3526747"/>
            <a:ext cx="936000" cy="540313"/>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8" name="Rectangle 67"/>
          <p:cNvSpPr/>
          <p:nvPr/>
        </p:nvSpPr>
        <p:spPr>
          <a:xfrm>
            <a:off x="10800000" y="3526747"/>
            <a:ext cx="936000" cy="540313"/>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9" name="Rounded Rectangle 68"/>
          <p:cNvSpPr/>
          <p:nvPr/>
        </p:nvSpPr>
        <p:spPr>
          <a:xfrm>
            <a:off x="9936000" y="3688903"/>
            <a:ext cx="792000" cy="216000"/>
          </a:xfrm>
          <a:prstGeom prst="roundRect">
            <a:avLst/>
          </a:prstGeom>
          <a:solidFill>
            <a:srgbClr val="F4CC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Élevée</a:t>
            </a:r>
          </a:p>
        </p:txBody>
      </p:sp>
      <p:sp>
        <p:nvSpPr>
          <p:cNvPr id="70" name="Rounded Rectangle 69"/>
          <p:cNvSpPr/>
          <p:nvPr/>
        </p:nvSpPr>
        <p:spPr>
          <a:xfrm>
            <a:off x="10962000" y="3688903"/>
            <a:ext cx="612000" cy="216000"/>
          </a:xfrm>
          <a:prstGeom prst="round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P1</a:t>
            </a:r>
          </a:p>
        </p:txBody>
      </p:sp>
      <p:sp>
        <p:nvSpPr>
          <p:cNvPr id="71" name="Rectangle 70"/>
          <p:cNvSpPr/>
          <p:nvPr/>
        </p:nvSpPr>
        <p:spPr>
          <a:xfrm>
            <a:off x="503999" y="4067060"/>
            <a:ext cx="5976000" cy="540313"/>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ED7D31"/>
                </a:solidFill>
                <a:latin typeface="Helvetica"/>
              </a:rPr>
              <a:t>● </a:t>
            </a:r>
            <a:r>
              <a:rPr sz="1050" b="1">
                <a:solidFill>
                  <a:srgbClr val="112A40"/>
                </a:solidFill>
                <a:latin typeface="Helvetica"/>
              </a:rPr>
              <a:t>10.b   </a:t>
            </a:r>
            <a:r>
              <a:rPr sz="1050" b="1">
                <a:solidFill>
                  <a:srgbClr val="060606"/>
                </a:solidFill>
                <a:latin typeface="Helvetica"/>
              </a:rPr>
              <a:t>L'EFC a triplé sans réserve dédiée. </a:t>
            </a:r>
            <a:r>
              <a:rPr sz="1050" b="0">
                <a:solidFill>
                  <a:srgbClr val="060606"/>
                </a:solidFill>
                <a:latin typeface="Helvetica"/>
              </a:rPr>
              <a:t>3 461 975 893 FCFA en 2020, 10 514 270 966 FCFA au 31/08/2026. Le dépôt à terme EFC est vidé chaque décembre pour payer l'EFC.</a:t>
            </a:r>
          </a:p>
        </p:txBody>
      </p:sp>
      <p:sp>
        <p:nvSpPr>
          <p:cNvPr id="72" name="Rectangle 71"/>
          <p:cNvSpPr/>
          <p:nvPr/>
        </p:nvSpPr>
        <p:spPr>
          <a:xfrm>
            <a:off x="6480000" y="4067060"/>
            <a:ext cx="3384000" cy="540313"/>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Constituer une réserve réservée à l'épargne.</a:t>
            </a:r>
          </a:p>
        </p:txBody>
      </p:sp>
      <p:sp>
        <p:nvSpPr>
          <p:cNvPr id="73" name="Rectangle 72"/>
          <p:cNvSpPr/>
          <p:nvPr/>
        </p:nvSpPr>
        <p:spPr>
          <a:xfrm>
            <a:off x="9864000" y="4067060"/>
            <a:ext cx="936000" cy="540313"/>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4" name="Rectangle 73"/>
          <p:cNvSpPr/>
          <p:nvPr/>
        </p:nvSpPr>
        <p:spPr>
          <a:xfrm>
            <a:off x="10800000" y="4067060"/>
            <a:ext cx="936000" cy="540313"/>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5" name="Rounded Rectangle 74"/>
          <p:cNvSpPr/>
          <p:nvPr/>
        </p:nvSpPr>
        <p:spPr>
          <a:xfrm>
            <a:off x="9936000" y="4229217"/>
            <a:ext cx="792000" cy="216000"/>
          </a:xfrm>
          <a:prstGeom prst="round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Moyenne</a:t>
            </a:r>
          </a:p>
        </p:txBody>
      </p:sp>
      <p:sp>
        <p:nvSpPr>
          <p:cNvPr id="76" name="Rounded Rectangle 75"/>
          <p:cNvSpPr/>
          <p:nvPr/>
        </p:nvSpPr>
        <p:spPr>
          <a:xfrm>
            <a:off x="10962000" y="4229217"/>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77" name="Rectangle 76"/>
          <p:cNvSpPr/>
          <p:nvPr/>
        </p:nvSpPr>
        <p:spPr>
          <a:xfrm>
            <a:off x="503999" y="4607373"/>
            <a:ext cx="5976000" cy="540313"/>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ED7D31"/>
                </a:solidFill>
                <a:latin typeface="Helvetica"/>
              </a:rPr>
              <a:t>● </a:t>
            </a:r>
            <a:r>
              <a:rPr sz="1050" b="1">
                <a:solidFill>
                  <a:srgbClr val="112A40"/>
                </a:solidFill>
                <a:latin typeface="Helvetica"/>
              </a:rPr>
              <a:t>8   </a:t>
            </a:r>
            <a:r>
              <a:rPr sz="1050" b="1">
                <a:solidFill>
                  <a:srgbClr val="060606"/>
                </a:solidFill>
                <a:latin typeface="Helvetica"/>
              </a:rPr>
              <a:t>Pas de compte individuel par épargnant. </a:t>
            </a:r>
            <a:r>
              <a:rPr sz="1050" b="0">
                <a:solidFill>
                  <a:srgbClr val="060606"/>
                </a:solidFill>
                <a:latin typeface="Helvetica"/>
              </a:rPr>
              <a:t>Le solde de chaque policier n'est pas connu.</a:t>
            </a:r>
          </a:p>
        </p:txBody>
      </p:sp>
      <p:sp>
        <p:nvSpPr>
          <p:cNvPr id="78" name="Rectangle 77"/>
          <p:cNvSpPr/>
          <p:nvPr/>
        </p:nvSpPr>
        <p:spPr>
          <a:xfrm>
            <a:off x="6480000" y="4607373"/>
            <a:ext cx="3384000" cy="540313"/>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Tenir un compte par épargnant et envoyer un relevé annuel.</a:t>
            </a:r>
          </a:p>
        </p:txBody>
      </p:sp>
      <p:sp>
        <p:nvSpPr>
          <p:cNvPr id="79" name="Rectangle 78"/>
          <p:cNvSpPr/>
          <p:nvPr/>
        </p:nvSpPr>
        <p:spPr>
          <a:xfrm>
            <a:off x="9864000" y="4607373"/>
            <a:ext cx="936000" cy="540313"/>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0" name="Rectangle 79"/>
          <p:cNvSpPr/>
          <p:nvPr/>
        </p:nvSpPr>
        <p:spPr>
          <a:xfrm>
            <a:off x="10800000" y="4607373"/>
            <a:ext cx="936000" cy="540313"/>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1" name="Rounded Rectangle 80"/>
          <p:cNvSpPr/>
          <p:nvPr/>
        </p:nvSpPr>
        <p:spPr>
          <a:xfrm>
            <a:off x="9936000" y="4769530"/>
            <a:ext cx="792000" cy="216000"/>
          </a:xfrm>
          <a:prstGeom prst="roundRect">
            <a:avLst/>
          </a:prstGeom>
          <a:solidFill>
            <a:srgbClr val="F4CC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Élevée</a:t>
            </a:r>
          </a:p>
        </p:txBody>
      </p:sp>
      <p:sp>
        <p:nvSpPr>
          <p:cNvPr id="82" name="Rounded Rectangle 81"/>
          <p:cNvSpPr/>
          <p:nvPr/>
        </p:nvSpPr>
        <p:spPr>
          <a:xfrm>
            <a:off x="10962000" y="4769530"/>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83" name="Rectangle 82"/>
          <p:cNvSpPr/>
          <p:nvPr/>
        </p:nvSpPr>
        <p:spPr>
          <a:xfrm>
            <a:off x="503999" y="5147686"/>
            <a:ext cx="5976000" cy="540313"/>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FFC000"/>
                </a:solidFill>
                <a:latin typeface="Helvetica"/>
              </a:rPr>
              <a:t>● </a:t>
            </a:r>
            <a:r>
              <a:rPr sz="1050" b="1">
                <a:solidFill>
                  <a:srgbClr val="112A40"/>
                </a:solidFill>
                <a:latin typeface="Helvetica"/>
              </a:rPr>
              <a:t>26.e   </a:t>
            </a:r>
            <a:r>
              <a:rPr sz="1050" b="1">
                <a:solidFill>
                  <a:srgbClr val="060606"/>
                </a:solidFill>
                <a:latin typeface="Helvetica"/>
              </a:rPr>
              <a:t>La hausse de l'EFC à 10 000 FCFA n'est pas documentée. </a:t>
            </a:r>
            <a:r>
              <a:rPr sz="1050" b="0">
                <a:solidFill>
                  <a:srgbClr val="060606"/>
                </a:solidFill>
                <a:latin typeface="Helvetica"/>
              </a:rPr>
              <a:t>Décision de 2021 non transmise. </a:t>
            </a:r>
            <a:r>
              <a:rPr sz="1050" b="0">
                <a:solidFill>
                  <a:srgbClr val="060606"/>
                </a:solidFill>
                <a:highlight>
                  <a:srgbClr val="FFFF00"/>
                </a:highlight>
                <a:latin typeface="Helvetica"/>
              </a:rPr>
              <a:t>Le premier prélèvement des nouvelles recrues peut être décalé d'un mois.</a:t>
            </a:r>
          </a:p>
        </p:txBody>
      </p:sp>
      <p:sp>
        <p:nvSpPr>
          <p:cNvPr id="84" name="Rectangle 83"/>
          <p:cNvSpPr/>
          <p:nvPr/>
        </p:nvSpPr>
        <p:spPr>
          <a:xfrm>
            <a:off x="6480000" y="5147686"/>
            <a:ext cx="3384000" cy="540313"/>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Transmettre la décision et dater chaque souscription.</a:t>
            </a:r>
          </a:p>
        </p:txBody>
      </p:sp>
      <p:sp>
        <p:nvSpPr>
          <p:cNvPr id="85" name="Rectangle 84"/>
          <p:cNvSpPr/>
          <p:nvPr/>
        </p:nvSpPr>
        <p:spPr>
          <a:xfrm>
            <a:off x="9864000" y="5147686"/>
            <a:ext cx="936000" cy="540313"/>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6" name="Rectangle 85"/>
          <p:cNvSpPr/>
          <p:nvPr/>
        </p:nvSpPr>
        <p:spPr>
          <a:xfrm>
            <a:off x="10800000" y="5147686"/>
            <a:ext cx="936000" cy="540313"/>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7" name="Rounded Rectangle 86"/>
          <p:cNvSpPr/>
          <p:nvPr/>
        </p:nvSpPr>
        <p:spPr>
          <a:xfrm>
            <a:off x="9936000" y="5309843"/>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88" name="Rounded Rectangle 87"/>
          <p:cNvSpPr/>
          <p:nvPr/>
        </p:nvSpPr>
        <p:spPr>
          <a:xfrm>
            <a:off x="10962000" y="5309843"/>
            <a:ext cx="612000" cy="216000"/>
          </a:xfrm>
          <a:prstGeom prst="round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P3</a:t>
            </a:r>
          </a:p>
        </p:txBody>
      </p:sp>
      <p:sp>
        <p:nvSpPr>
          <p:cNvPr id="89" name="TextBox 88"/>
          <p:cNvSpPr txBox="1"/>
          <p:nvPr/>
        </p:nvSpPr>
        <p:spPr>
          <a:xfrm>
            <a:off x="503999" y="5716800"/>
            <a:ext cx="11232000" cy="151200"/>
          </a:xfrm>
          <a:prstGeom prst="rect">
            <a:avLst/>
          </a:prstGeom>
          <a:noFill/>
        </p:spPr>
        <p:txBody>
          <a:bodyPr wrap="square">
            <a:spAutoFit/>
          </a:bodyPr>
          <a:lstStyle/>
          <a:p>
            <a:r>
              <a:rPr sz="750" b="1">
                <a:solidFill>
                  <a:srgbClr val="060606"/>
                </a:solidFill>
                <a:latin typeface="Helvetica"/>
              </a:rPr>
              <a:t>Criticité : </a:t>
            </a:r>
            <a:r>
              <a:rPr sz="850" b="1">
                <a:solidFill>
                  <a:srgbClr val="C00000"/>
                </a:solidFill>
                <a:latin typeface="Helvetica"/>
              </a:rPr>
              <a:t>● </a:t>
            </a:r>
            <a:r>
              <a:rPr sz="750" b="0">
                <a:solidFill>
                  <a:srgbClr val="060606"/>
                </a:solidFill>
                <a:latin typeface="Helvetica"/>
              </a:rPr>
              <a:t>Critique   </a:t>
            </a:r>
            <a:r>
              <a:rPr sz="850" b="1">
                <a:solidFill>
                  <a:srgbClr val="ED7D31"/>
                </a:solidFill>
                <a:latin typeface="Helvetica"/>
              </a:rPr>
              <a:t>● </a:t>
            </a:r>
            <a:r>
              <a:rPr sz="750" b="0">
                <a:solidFill>
                  <a:srgbClr val="060606"/>
                </a:solidFill>
                <a:latin typeface="Helvetica"/>
              </a:rPr>
              <a:t>Élevé   </a:t>
            </a:r>
            <a:r>
              <a:rPr sz="850" b="1">
                <a:solidFill>
                  <a:srgbClr val="FFC000"/>
                </a:solidFill>
                <a:latin typeface="Helvetica"/>
              </a:rPr>
              <a:t>● </a:t>
            </a:r>
            <a:r>
              <a:rPr sz="750" b="0">
                <a:solidFill>
                  <a:srgbClr val="060606"/>
                </a:solidFill>
                <a:latin typeface="Helvetica"/>
              </a:rPr>
              <a:t>Moyen   </a:t>
            </a:r>
            <a:r>
              <a:rPr sz="850" b="1">
                <a:solidFill>
                  <a:srgbClr val="70AD47"/>
                </a:solidFill>
                <a:latin typeface="Helvetica"/>
              </a:rPr>
              <a:t>● </a:t>
            </a:r>
            <a:r>
              <a:rPr sz="750" b="0">
                <a:solidFill>
                  <a:srgbClr val="060606"/>
                </a:solidFill>
                <a:latin typeface="Helvetica"/>
              </a:rPr>
              <a:t>Faible   </a:t>
            </a:r>
            <a:r>
              <a:rPr sz="750" b="0">
                <a:solidFill>
                  <a:srgbClr val="060606"/>
                </a:solidFill>
                <a:latin typeface="Helvetica"/>
              </a:rPr>
              <a:t>Priorité : P1 dans les 3 mois, P2 dans les 6 mois, P3 de 6 à 18 mois, P4 au-delà.   Complexité : Faible (une décision suffit), Moyenne (travail interne), Élevée (tiers ou financement).   Numéros : ceux du résumé exécutif.</a:t>
            </a:r>
          </a:p>
        </p:txBody>
      </p:sp>
      <p:sp>
        <p:nvSpPr>
          <p:cNvPr id="90" name="TextBox 89"/>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Surligné en jaune : affirmation à confirmer par une pièce ou une réponse écrite du FPPN. Sigles : FPPN : Fonds de prévoyance de la Police nationale | PEP : Plan Épargne Plus | EFC : entraide fin de carrière | MEDOC : produit santé complémentaire du poste 8Z7</a:t>
            </a:r>
          </a:p>
        </p:txBody>
      </p:sp>
    </p:spTree>
    <p:extLst>
      <p:ext uri="{BB962C8B-B14F-4D97-AF65-F5344CB8AC3E}">
        <p14:creationId xmlns:p14="http://schemas.microsoft.com/office/powerpoint/2010/main" val="3096484330"/>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PEP et MEDOC</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L'épargne volontaire sort vite et ses intérêts ne sont pas comptabilisés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Constat le plus grave : 6.a, les intérêts promis ne sont pas comptabilisés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rapport actuariel et statistique du 23/10/2026. Logigrammes du FPPN (« FLOW_CHART_COTISATION_ET_PRODUITS_DEPARGNE_1.pptx »). Résumé exécutif du 26/10/2026</a:t>
            </a:r>
          </a:p>
        </p:txBody>
      </p:sp>
      <p:sp>
        <p:nvSpPr>
          <p:cNvPr id="31" name="Rectangle 30"/>
          <p:cNvSpPr/>
          <p:nvPr/>
        </p:nvSpPr>
        <p:spPr>
          <a:xfrm>
            <a:off x="503999" y="1411200"/>
            <a:ext cx="7085571" cy="1512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00" b="1">
                <a:solidFill>
                  <a:srgbClr val="FFFFFF"/>
                </a:solidFill>
                <a:latin typeface="Helvetica"/>
              </a:rPr>
              <a:t>PRODUITS</a:t>
            </a:r>
          </a:p>
        </p:txBody>
      </p:sp>
      <p:sp>
        <p:nvSpPr>
          <p:cNvPr id="32" name="Rectangle 31"/>
          <p:cNvSpPr/>
          <p:nvPr/>
        </p:nvSpPr>
        <p:spPr>
          <a:xfrm>
            <a:off x="7823571" y="1411200"/>
            <a:ext cx="3912428" cy="1512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00" b="1">
                <a:solidFill>
                  <a:srgbClr val="FFFFFF"/>
                </a:solidFill>
                <a:latin typeface="Helvetica"/>
              </a:rPr>
              <a:t>FONCTIONS TRANSVERSES</a:t>
            </a:r>
          </a:p>
        </p:txBody>
      </p:sp>
      <p:sp>
        <p:nvSpPr>
          <p:cNvPr id="33" name="Nav Maladie">
            <a:hlinkClick action="ppaction://hlinksldjump" r:id="rId7"/>
          </p:cNvPr>
          <p:cNvSpPr/>
          <p:nvPr/>
        </p:nvSpPr>
        <p:spPr>
          <a:xfrm>
            <a:off x="503999"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Maladie</a:t>
            </a:r>
          </a:p>
        </p:txBody>
      </p:sp>
      <p:sp>
        <p:nvSpPr>
          <p:cNvPr id="34" name="Nav Décès">
            <a:hlinkClick action="ppaction://hlinksldjump" r:id="rId8"/>
          </p:cNvPr>
          <p:cNvSpPr/>
          <p:nvPr/>
        </p:nvSpPr>
        <p:spPr>
          <a:xfrm>
            <a:off x="1297285"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Décès</a:t>
            </a:r>
          </a:p>
        </p:txBody>
      </p:sp>
      <p:sp>
        <p:nvSpPr>
          <p:cNvPr id="35" name="Nav Retraités (CGRAE)">
            <a:hlinkClick action="ppaction://hlinksldjump" r:id="rId9"/>
          </p:cNvPr>
          <p:cNvSpPr/>
          <p:nvPr/>
        </p:nvSpPr>
        <p:spPr>
          <a:xfrm>
            <a:off x="2090571"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Retraités</a:t>
            </a:r>
          </a:p>
        </p:txBody>
      </p:sp>
      <p:sp>
        <p:nvSpPr>
          <p:cNvPr id="36" name="Nav EFC">
            <a:hlinkClick action="ppaction://hlinksldjump" r:id="rId10"/>
          </p:cNvPr>
          <p:cNvSpPr/>
          <p:nvPr/>
        </p:nvSpPr>
        <p:spPr>
          <a:xfrm>
            <a:off x="2883857"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EFC</a:t>
            </a:r>
          </a:p>
        </p:txBody>
      </p:sp>
      <p:sp>
        <p:nvSpPr>
          <p:cNvPr id="37" name="Nav PEP"/>
          <p:cNvSpPr/>
          <p:nvPr/>
        </p:nvSpPr>
        <p:spPr>
          <a:xfrm>
            <a:off x="3677142" y="1591200"/>
            <a:ext cx="739285" cy="1800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1">
                <a:solidFill>
                  <a:srgbClr val="FFFFFF"/>
                </a:solidFill>
                <a:latin typeface="Helvetica"/>
              </a:rPr>
              <a:t>PEP</a:t>
            </a:r>
          </a:p>
        </p:txBody>
      </p:sp>
      <p:sp>
        <p:nvSpPr>
          <p:cNvPr id="38" name="Nav MEDOC"/>
          <p:cNvSpPr/>
          <p:nvPr/>
        </p:nvSpPr>
        <p:spPr>
          <a:xfrm>
            <a:off x="4470428" y="1591200"/>
            <a:ext cx="739285" cy="1800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1">
                <a:solidFill>
                  <a:srgbClr val="FFFFFF"/>
                </a:solidFill>
                <a:latin typeface="Helvetica"/>
              </a:rPr>
              <a:t>MEDOC</a:t>
            </a:r>
          </a:p>
        </p:txBody>
      </p:sp>
      <p:sp>
        <p:nvSpPr>
          <p:cNvPr id="39" name="Nav Grenier">
            <a:hlinkClick action="ppaction://hlinksldjump" r:id="rId11"/>
          </p:cNvPr>
          <p:cNvSpPr/>
          <p:nvPr/>
        </p:nvSpPr>
        <p:spPr>
          <a:xfrm>
            <a:off x="5263714"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Grenier</a:t>
            </a:r>
          </a:p>
        </p:txBody>
      </p:sp>
      <p:sp>
        <p:nvSpPr>
          <p:cNvPr id="40" name="Nav Flotte automobile">
            <a:hlinkClick action="ppaction://hlinksldjump" r:id="rId12"/>
          </p:cNvPr>
          <p:cNvSpPr/>
          <p:nvPr/>
        </p:nvSpPr>
        <p:spPr>
          <a:xfrm>
            <a:off x="6057000"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FFC000"/>
                </a:solidFill>
                <a:latin typeface="Helvetica"/>
              </a:rPr>
              <a:t>● </a:t>
            </a:r>
            <a:r>
              <a:rPr sz="750" b="0">
                <a:solidFill>
                  <a:srgbClr val="53565A"/>
                </a:solidFill>
                <a:latin typeface="Helvetica"/>
              </a:rPr>
              <a:t>Flotte auto</a:t>
            </a:r>
          </a:p>
        </p:txBody>
      </p:sp>
      <p:sp>
        <p:nvSpPr>
          <p:cNvPr id="41" name="Nav Clinique (CMP)">
            <a:hlinkClick action="ppaction://hlinksldjump" r:id="rId12"/>
          </p:cNvPr>
          <p:cNvSpPr/>
          <p:nvPr/>
        </p:nvSpPr>
        <p:spPr>
          <a:xfrm>
            <a:off x="6850285"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Clinique</a:t>
            </a:r>
          </a:p>
        </p:txBody>
      </p:sp>
      <p:sp>
        <p:nvSpPr>
          <p:cNvPr id="42" name="Nav Cotisations et précomptes">
            <a:hlinkClick action="ppaction://hlinksldjump" r:id="rId13"/>
          </p:cNvPr>
          <p:cNvSpPr/>
          <p:nvPr/>
        </p:nvSpPr>
        <p:spPr>
          <a:xfrm>
            <a:off x="7823571"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Cotisations</a:t>
            </a:r>
          </a:p>
        </p:txBody>
      </p:sp>
      <p:sp>
        <p:nvSpPr>
          <p:cNvPr id="43" name="Nav Comptabilité et provisions">
            <a:hlinkClick action="ppaction://hlinksldjump" r:id="rId14"/>
          </p:cNvPr>
          <p:cNvSpPr/>
          <p:nvPr/>
        </p:nvSpPr>
        <p:spPr>
          <a:xfrm>
            <a:off x="8616857"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Comptabilité</a:t>
            </a:r>
          </a:p>
        </p:txBody>
      </p:sp>
      <p:sp>
        <p:nvSpPr>
          <p:cNvPr id="44" name="Nav Trésorerie et placements">
            <a:hlinkClick action="ppaction://hlinksldjump" r:id="rId15"/>
          </p:cNvPr>
          <p:cNvSpPr/>
          <p:nvPr/>
        </p:nvSpPr>
        <p:spPr>
          <a:xfrm>
            <a:off x="9410142"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Trésorerie</a:t>
            </a:r>
          </a:p>
        </p:txBody>
      </p:sp>
      <p:sp>
        <p:nvSpPr>
          <p:cNvPr id="45" name="Nav Gouvernance">
            <a:hlinkClick action="ppaction://hlinksldjump" r:id="rId16"/>
          </p:cNvPr>
          <p:cNvSpPr/>
          <p:nvPr/>
        </p:nvSpPr>
        <p:spPr>
          <a:xfrm>
            <a:off x="10203428"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Gouvernance</a:t>
            </a:r>
          </a:p>
        </p:txBody>
      </p:sp>
      <p:sp>
        <p:nvSpPr>
          <p:cNvPr id="46" name="Nav Données et informatique">
            <a:hlinkClick action="ppaction://hlinksldjump" r:id="rId17"/>
          </p:cNvPr>
          <p:cNvSpPr/>
          <p:nvPr/>
        </p:nvSpPr>
        <p:spPr>
          <a:xfrm>
            <a:off x="10996714"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Données</a:t>
            </a:r>
          </a:p>
        </p:txBody>
      </p:sp>
      <p:sp>
        <p:nvSpPr>
          <p:cNvPr id="47" name="Bloc PEP"/>
          <p:cNvSpPr/>
          <p:nvPr/>
        </p:nvSpPr>
        <p:spPr>
          <a:xfrm>
            <a:off x="503999" y="1835999"/>
            <a:ext cx="11232000" cy="2232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00" b="1">
                <a:solidFill>
                  <a:srgbClr val="C00000"/>
                </a:solidFill>
                <a:latin typeface="Helvetica"/>
              </a:rPr>
              <a:t>● </a:t>
            </a:r>
            <a:r>
              <a:rPr sz="1000" b="0">
                <a:solidFill>
                  <a:srgbClr val="BBBCBC"/>
                </a:solidFill>
                <a:latin typeface="Helvetica"/>
              </a:rPr>
              <a:t>PRODUITS  ›  </a:t>
            </a:r>
            <a:r>
              <a:rPr sz="1200" b="1">
                <a:solidFill>
                  <a:srgbClr val="FFFFFF"/>
                </a:solidFill>
                <a:latin typeface="Helvetica"/>
              </a:rPr>
              <a:t>PEP</a:t>
            </a:r>
            <a:r>
              <a:rPr sz="950" b="0">
                <a:solidFill>
                  <a:srgbClr val="FFFFFF"/>
                </a:solidFill>
                <a:latin typeface="Helvetica"/>
              </a:rPr>
              <a:t>     4 constats, dont 1 à traiter dans les trois mois</a:t>
            </a:r>
          </a:p>
        </p:txBody>
      </p:sp>
      <p:sp>
        <p:nvSpPr>
          <p:cNvPr id="48" name="Nav Carte">
            <a:hlinkClick action="ppaction://hlinksldjump" r:id="rId18"/>
          </p:cNvPr>
          <p:cNvSpPr/>
          <p:nvPr/>
        </p:nvSpPr>
        <p:spPr>
          <a:xfrm>
            <a:off x="10007999" y="1871999"/>
            <a:ext cx="1655999" cy="151200"/>
          </a:xfrm>
          <a:prstGeom prst="rect">
            <a:avLst/>
          </a:prstGeom>
          <a:solidFill>
            <a:srgbClr val="53565A"/>
          </a:solidFill>
          <a:ln w="952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50" b="1">
                <a:solidFill>
                  <a:srgbClr val="FFFFFF"/>
                </a:solidFill>
                <a:latin typeface="Helvetica"/>
              </a:rPr>
              <a:t>↩ Carte des activités</a:t>
            </a:r>
          </a:p>
        </p:txBody>
      </p:sp>
      <p:sp>
        <p:nvSpPr>
          <p:cNvPr id="49" name="Rectangle 48"/>
          <p:cNvSpPr/>
          <p:nvPr/>
        </p:nvSpPr>
        <p:spPr>
          <a:xfrm>
            <a:off x="503999" y="2088000"/>
            <a:ext cx="597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Constat et commentaire</a:t>
            </a:r>
          </a:p>
        </p:txBody>
      </p:sp>
      <p:sp>
        <p:nvSpPr>
          <p:cNvPr id="50" name="Rectangle 49"/>
          <p:cNvSpPr/>
          <p:nvPr/>
        </p:nvSpPr>
        <p:spPr>
          <a:xfrm>
            <a:off x="6480000" y="2088000"/>
            <a:ext cx="3384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Recommandation</a:t>
            </a:r>
          </a:p>
        </p:txBody>
      </p:sp>
      <p:sp>
        <p:nvSpPr>
          <p:cNvPr id="51" name="Rectangle 50"/>
          <p:cNvSpPr/>
          <p:nvPr/>
        </p:nvSpPr>
        <p:spPr>
          <a:xfrm>
            <a:off x="9864000" y="2088000"/>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Complexité</a:t>
            </a:r>
          </a:p>
        </p:txBody>
      </p:sp>
      <p:sp>
        <p:nvSpPr>
          <p:cNvPr id="52" name="Rectangle 51"/>
          <p:cNvSpPr/>
          <p:nvPr/>
        </p:nvSpPr>
        <p:spPr>
          <a:xfrm>
            <a:off x="10800000" y="2088000"/>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Priorité</a:t>
            </a:r>
          </a:p>
        </p:txBody>
      </p:sp>
      <p:sp>
        <p:nvSpPr>
          <p:cNvPr id="53" name="Rectangle 52"/>
          <p:cNvSpPr/>
          <p:nvPr/>
        </p:nvSpPr>
        <p:spPr>
          <a:xfrm>
            <a:off x="503999" y="2286000"/>
            <a:ext cx="5976000" cy="4920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00" b="1">
                <a:solidFill>
                  <a:srgbClr val="C00000"/>
                </a:solidFill>
                <a:latin typeface="Helvetica"/>
              </a:rPr>
              <a:t>● </a:t>
            </a:r>
            <a:r>
              <a:rPr sz="1000" b="1">
                <a:solidFill>
                  <a:srgbClr val="112A40"/>
                </a:solidFill>
                <a:latin typeface="Helvetica"/>
              </a:rPr>
              <a:t>6.a   </a:t>
            </a:r>
            <a:r>
              <a:rPr sz="1000" b="1">
                <a:solidFill>
                  <a:srgbClr val="060606"/>
                </a:solidFill>
                <a:latin typeface="Helvetica"/>
              </a:rPr>
              <a:t>Les intérêts promis ne sont pas comptabilisés. </a:t>
            </a:r>
            <a:r>
              <a:rPr sz="1000" b="0">
                <a:solidFill>
                  <a:srgbClr val="060606"/>
                </a:solidFill>
                <a:latin typeface="Helvetica"/>
              </a:rPr>
              <a:t>Pour le PEP : 1 251 850 574 FCFA à 3,50 % de 2020 au 31/08/2026.</a:t>
            </a:r>
          </a:p>
        </p:txBody>
      </p:sp>
      <p:sp>
        <p:nvSpPr>
          <p:cNvPr id="54" name="Rectangle 53"/>
          <p:cNvSpPr/>
          <p:nvPr/>
        </p:nvSpPr>
        <p:spPr>
          <a:xfrm>
            <a:off x="6480000" y="2286000"/>
            <a:ext cx="3384000" cy="4920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00" b="1">
                <a:solidFill>
                  <a:srgbClr val="EFAC62"/>
                </a:solidFill>
                <a:latin typeface="Helvetica"/>
              </a:rPr>
              <a:t>→ </a:t>
            </a:r>
            <a:r>
              <a:rPr sz="1000" b="0">
                <a:solidFill>
                  <a:srgbClr val="060606"/>
                </a:solidFill>
                <a:latin typeface="Helvetica"/>
              </a:rPr>
              <a:t>Comptabiliser chaque année les intérêts dus.</a:t>
            </a:r>
          </a:p>
        </p:txBody>
      </p:sp>
      <p:sp>
        <p:nvSpPr>
          <p:cNvPr id="55" name="Rectangle 54"/>
          <p:cNvSpPr/>
          <p:nvPr/>
        </p:nvSpPr>
        <p:spPr>
          <a:xfrm>
            <a:off x="9864000" y="2286000"/>
            <a:ext cx="936000" cy="4920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56" name="Rectangle 55"/>
          <p:cNvSpPr/>
          <p:nvPr/>
        </p:nvSpPr>
        <p:spPr>
          <a:xfrm>
            <a:off x="10800000" y="2286000"/>
            <a:ext cx="936000" cy="4920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57" name="Rounded Rectangle 56"/>
          <p:cNvSpPr/>
          <p:nvPr/>
        </p:nvSpPr>
        <p:spPr>
          <a:xfrm>
            <a:off x="9936000" y="2424000"/>
            <a:ext cx="792000" cy="216000"/>
          </a:xfrm>
          <a:prstGeom prst="round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Moyenne</a:t>
            </a:r>
          </a:p>
        </p:txBody>
      </p:sp>
      <p:sp>
        <p:nvSpPr>
          <p:cNvPr id="58" name="Rounded Rectangle 57"/>
          <p:cNvSpPr/>
          <p:nvPr/>
        </p:nvSpPr>
        <p:spPr>
          <a:xfrm>
            <a:off x="10962000" y="2424000"/>
            <a:ext cx="612000" cy="216000"/>
          </a:xfrm>
          <a:prstGeom prst="round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P1</a:t>
            </a:r>
          </a:p>
        </p:txBody>
      </p:sp>
      <p:sp>
        <p:nvSpPr>
          <p:cNvPr id="59" name="Rectangle 58"/>
          <p:cNvSpPr/>
          <p:nvPr/>
        </p:nvSpPr>
        <p:spPr>
          <a:xfrm>
            <a:off x="503999" y="2778000"/>
            <a:ext cx="5976000" cy="492000"/>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00" b="1">
                <a:solidFill>
                  <a:srgbClr val="ED7D31"/>
                </a:solidFill>
                <a:latin typeface="Helvetica"/>
              </a:rPr>
              <a:t>● </a:t>
            </a:r>
            <a:r>
              <a:rPr sz="1000" b="1">
                <a:solidFill>
                  <a:srgbClr val="112A40"/>
                </a:solidFill>
                <a:latin typeface="Helvetica"/>
              </a:rPr>
              <a:t>10.a   </a:t>
            </a:r>
            <a:r>
              <a:rPr sz="1000" b="1">
                <a:solidFill>
                  <a:srgbClr val="060606"/>
                </a:solidFill>
                <a:latin typeface="Helvetica"/>
              </a:rPr>
              <a:t>Le PEP sort vite. </a:t>
            </a:r>
            <a:r>
              <a:rPr sz="1000" b="0">
                <a:solidFill>
                  <a:srgbClr val="060606"/>
                </a:solidFill>
                <a:latin typeface="Helvetica"/>
              </a:rPr>
              <a:t>46,17 % de l'épargne PEP est sortie en 2023, 23,60 % en 2025.</a:t>
            </a:r>
          </a:p>
        </p:txBody>
      </p:sp>
      <p:sp>
        <p:nvSpPr>
          <p:cNvPr id="60" name="Rectangle 59"/>
          <p:cNvSpPr/>
          <p:nvPr/>
        </p:nvSpPr>
        <p:spPr>
          <a:xfrm>
            <a:off x="6480000" y="2778000"/>
            <a:ext cx="3384000" cy="492000"/>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00" b="1">
                <a:solidFill>
                  <a:srgbClr val="EFAC62"/>
                </a:solidFill>
                <a:latin typeface="Helvetica"/>
              </a:rPr>
              <a:t>→ </a:t>
            </a:r>
            <a:r>
              <a:rPr sz="1000" b="0">
                <a:solidFill>
                  <a:srgbClr val="060606"/>
                </a:solidFill>
                <a:latin typeface="Helvetica"/>
              </a:rPr>
              <a:t>Prévoir la liquidité selon les échéances des plans.</a:t>
            </a:r>
          </a:p>
        </p:txBody>
      </p:sp>
      <p:sp>
        <p:nvSpPr>
          <p:cNvPr id="61" name="Rectangle 60"/>
          <p:cNvSpPr/>
          <p:nvPr/>
        </p:nvSpPr>
        <p:spPr>
          <a:xfrm>
            <a:off x="9864000" y="2778000"/>
            <a:ext cx="936000" cy="492000"/>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2" name="Rectangle 61"/>
          <p:cNvSpPr/>
          <p:nvPr/>
        </p:nvSpPr>
        <p:spPr>
          <a:xfrm>
            <a:off x="10800000" y="2778000"/>
            <a:ext cx="936000" cy="492000"/>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3" name="Rounded Rectangle 62"/>
          <p:cNvSpPr/>
          <p:nvPr/>
        </p:nvSpPr>
        <p:spPr>
          <a:xfrm>
            <a:off x="9936000" y="2916000"/>
            <a:ext cx="792000" cy="216000"/>
          </a:xfrm>
          <a:prstGeom prst="round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Moyenne</a:t>
            </a:r>
          </a:p>
        </p:txBody>
      </p:sp>
      <p:sp>
        <p:nvSpPr>
          <p:cNvPr id="64" name="Rounded Rectangle 63"/>
          <p:cNvSpPr/>
          <p:nvPr/>
        </p:nvSpPr>
        <p:spPr>
          <a:xfrm>
            <a:off x="10962000" y="2916000"/>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65" name="Rectangle 64"/>
          <p:cNvSpPr/>
          <p:nvPr/>
        </p:nvSpPr>
        <p:spPr>
          <a:xfrm>
            <a:off x="503999" y="3270000"/>
            <a:ext cx="5976000" cy="4920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00" b="1">
                <a:solidFill>
                  <a:srgbClr val="FFC000"/>
                </a:solidFill>
                <a:latin typeface="Helvetica"/>
              </a:rPr>
              <a:t>● </a:t>
            </a:r>
            <a:r>
              <a:rPr sz="1000" b="1">
                <a:solidFill>
                  <a:srgbClr val="112A40"/>
                </a:solidFill>
                <a:latin typeface="Helvetica"/>
              </a:rPr>
              <a:t>27.c   </a:t>
            </a:r>
            <a:r>
              <a:rPr sz="1000" b="1">
                <a:solidFill>
                  <a:srgbClr val="060606"/>
                </a:solidFill>
                <a:latin typeface="Helvetica"/>
              </a:rPr>
              <a:t>Des prélèvements PEP sont de nature inconnue. </a:t>
            </a:r>
            <a:r>
              <a:rPr sz="1000" b="0">
                <a:solidFill>
                  <a:srgbClr val="060606"/>
                </a:solidFill>
                <a:latin typeface="Helvetica"/>
              </a:rPr>
              <a:t>174 461 860 FCFA de références PTI, RPEP, EP, TI et PTQ de 2020 à 2026.</a:t>
            </a:r>
          </a:p>
        </p:txBody>
      </p:sp>
      <p:sp>
        <p:nvSpPr>
          <p:cNvPr id="66" name="Rectangle 65"/>
          <p:cNvSpPr/>
          <p:nvPr/>
        </p:nvSpPr>
        <p:spPr>
          <a:xfrm>
            <a:off x="6480000" y="3270000"/>
            <a:ext cx="3384000" cy="4920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00" b="1">
                <a:solidFill>
                  <a:srgbClr val="EFAC62"/>
                </a:solidFill>
                <a:latin typeface="Helvetica"/>
              </a:rPr>
              <a:t>→ </a:t>
            </a:r>
            <a:r>
              <a:rPr sz="1000" b="0">
                <a:solidFill>
                  <a:srgbClr val="060606"/>
                </a:solidFill>
                <a:latin typeface="Helvetica"/>
              </a:rPr>
              <a:t>Préciser la nature de ces prélèvements.</a:t>
            </a:r>
          </a:p>
        </p:txBody>
      </p:sp>
      <p:sp>
        <p:nvSpPr>
          <p:cNvPr id="67" name="Rectangle 66"/>
          <p:cNvSpPr/>
          <p:nvPr/>
        </p:nvSpPr>
        <p:spPr>
          <a:xfrm>
            <a:off x="9864000" y="3270000"/>
            <a:ext cx="936000" cy="4920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8" name="Rectangle 67"/>
          <p:cNvSpPr/>
          <p:nvPr/>
        </p:nvSpPr>
        <p:spPr>
          <a:xfrm>
            <a:off x="10800000" y="3270000"/>
            <a:ext cx="936000" cy="4920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9" name="Rounded Rectangle 68"/>
          <p:cNvSpPr/>
          <p:nvPr/>
        </p:nvSpPr>
        <p:spPr>
          <a:xfrm>
            <a:off x="9936000" y="3408000"/>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70" name="Rounded Rectangle 69"/>
          <p:cNvSpPr/>
          <p:nvPr/>
        </p:nvSpPr>
        <p:spPr>
          <a:xfrm>
            <a:off x="10962000" y="3408000"/>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71" name="Rectangle 70"/>
          <p:cNvSpPr/>
          <p:nvPr/>
        </p:nvSpPr>
        <p:spPr>
          <a:xfrm>
            <a:off x="503999" y="3762000"/>
            <a:ext cx="5976000" cy="492000"/>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00" b="1">
                <a:solidFill>
                  <a:srgbClr val="FFC000"/>
                </a:solidFill>
                <a:latin typeface="Helvetica"/>
              </a:rPr>
              <a:t>● </a:t>
            </a:r>
            <a:r>
              <a:rPr sz="1000" b="1">
                <a:solidFill>
                  <a:srgbClr val="112A40"/>
                </a:solidFill>
                <a:latin typeface="Helvetica"/>
              </a:rPr>
              <a:t>23.a   </a:t>
            </a:r>
            <a:r>
              <a:rPr sz="1000" b="1">
                <a:solidFill>
                  <a:srgbClr val="060606"/>
                </a:solidFill>
                <a:latin typeface="Helvetica"/>
              </a:rPr>
              <a:t>Les intérêts du dépôt PEP sont enregistrés en une fois. </a:t>
            </a:r>
            <a:r>
              <a:rPr sz="1000" b="0">
                <a:solidFill>
                  <a:srgbClr val="060606"/>
                </a:solidFill>
                <a:latin typeface="Helvetica"/>
              </a:rPr>
              <a:t>Dépôt de 505 383 858 FCFA placé de 2020 à 2025 : 132 663 262 FCFA d'intérêts enregistrés en 2025 seulement.</a:t>
            </a:r>
          </a:p>
        </p:txBody>
      </p:sp>
      <p:sp>
        <p:nvSpPr>
          <p:cNvPr id="72" name="Rectangle 71"/>
          <p:cNvSpPr/>
          <p:nvPr/>
        </p:nvSpPr>
        <p:spPr>
          <a:xfrm>
            <a:off x="6480000" y="3762000"/>
            <a:ext cx="3384000" cy="492000"/>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00" b="1">
                <a:solidFill>
                  <a:srgbClr val="EFAC62"/>
                </a:solidFill>
                <a:latin typeface="Helvetica"/>
              </a:rPr>
              <a:t>→ </a:t>
            </a:r>
            <a:r>
              <a:rPr sz="1000" b="0">
                <a:solidFill>
                  <a:srgbClr val="060606"/>
                </a:solidFill>
                <a:latin typeface="Helvetica"/>
              </a:rPr>
              <a:t>Enregistrer les intérêts chaque année.</a:t>
            </a:r>
          </a:p>
        </p:txBody>
      </p:sp>
      <p:sp>
        <p:nvSpPr>
          <p:cNvPr id="73" name="Rectangle 72"/>
          <p:cNvSpPr/>
          <p:nvPr/>
        </p:nvSpPr>
        <p:spPr>
          <a:xfrm>
            <a:off x="9864000" y="3762000"/>
            <a:ext cx="936000" cy="492000"/>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4" name="Rectangle 73"/>
          <p:cNvSpPr/>
          <p:nvPr/>
        </p:nvSpPr>
        <p:spPr>
          <a:xfrm>
            <a:off x="10800000" y="3762000"/>
            <a:ext cx="936000" cy="492000"/>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5" name="Rounded Rectangle 74"/>
          <p:cNvSpPr/>
          <p:nvPr/>
        </p:nvSpPr>
        <p:spPr>
          <a:xfrm>
            <a:off x="9936000" y="3900000"/>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76" name="Rounded Rectangle 75"/>
          <p:cNvSpPr/>
          <p:nvPr/>
        </p:nvSpPr>
        <p:spPr>
          <a:xfrm>
            <a:off x="10962000" y="3900000"/>
            <a:ext cx="612000" cy="216000"/>
          </a:xfrm>
          <a:prstGeom prst="round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P3</a:t>
            </a:r>
          </a:p>
        </p:txBody>
      </p:sp>
      <p:sp>
        <p:nvSpPr>
          <p:cNvPr id="77" name="Bloc MEDOC"/>
          <p:cNvSpPr/>
          <p:nvPr/>
        </p:nvSpPr>
        <p:spPr>
          <a:xfrm>
            <a:off x="503999" y="4282800"/>
            <a:ext cx="11232000" cy="2232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00" b="1">
                <a:solidFill>
                  <a:srgbClr val="ED7D31"/>
                </a:solidFill>
                <a:latin typeface="Helvetica"/>
              </a:rPr>
              <a:t>● </a:t>
            </a:r>
            <a:r>
              <a:rPr sz="1000" b="0">
                <a:solidFill>
                  <a:srgbClr val="BBBCBC"/>
                </a:solidFill>
                <a:latin typeface="Helvetica"/>
              </a:rPr>
              <a:t>PRODUITS  ›  </a:t>
            </a:r>
            <a:r>
              <a:rPr sz="1200" b="1">
                <a:solidFill>
                  <a:srgbClr val="FFFFFF"/>
                </a:solidFill>
                <a:latin typeface="Helvetica"/>
              </a:rPr>
              <a:t>MEDOC</a:t>
            </a:r>
            <a:r>
              <a:rPr sz="950" b="0">
                <a:solidFill>
                  <a:srgbClr val="FFFFFF"/>
                </a:solidFill>
                <a:latin typeface="Helvetica"/>
              </a:rPr>
              <a:t>     2 constats</a:t>
            </a:r>
          </a:p>
        </p:txBody>
      </p:sp>
      <p:sp>
        <p:nvSpPr>
          <p:cNvPr id="78" name="Nav Carte">
            <a:hlinkClick action="ppaction://hlinksldjump" r:id="rId18"/>
          </p:cNvPr>
          <p:cNvSpPr/>
          <p:nvPr/>
        </p:nvSpPr>
        <p:spPr>
          <a:xfrm>
            <a:off x="10007999" y="4318800"/>
            <a:ext cx="1655999" cy="151200"/>
          </a:xfrm>
          <a:prstGeom prst="rect">
            <a:avLst/>
          </a:prstGeom>
          <a:solidFill>
            <a:srgbClr val="53565A"/>
          </a:solidFill>
          <a:ln w="952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50" b="1">
                <a:solidFill>
                  <a:srgbClr val="FFFFFF"/>
                </a:solidFill>
                <a:latin typeface="Helvetica"/>
              </a:rPr>
              <a:t>↩ Carte des activités</a:t>
            </a:r>
          </a:p>
        </p:txBody>
      </p:sp>
      <p:sp>
        <p:nvSpPr>
          <p:cNvPr id="79" name="Rectangle 78"/>
          <p:cNvSpPr/>
          <p:nvPr/>
        </p:nvSpPr>
        <p:spPr>
          <a:xfrm>
            <a:off x="503999" y="4534800"/>
            <a:ext cx="597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Constat et commentaire</a:t>
            </a:r>
          </a:p>
        </p:txBody>
      </p:sp>
      <p:sp>
        <p:nvSpPr>
          <p:cNvPr id="80" name="Rectangle 79"/>
          <p:cNvSpPr/>
          <p:nvPr/>
        </p:nvSpPr>
        <p:spPr>
          <a:xfrm>
            <a:off x="6480000" y="4534800"/>
            <a:ext cx="3384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Recommandation</a:t>
            </a:r>
          </a:p>
        </p:txBody>
      </p:sp>
      <p:sp>
        <p:nvSpPr>
          <p:cNvPr id="81" name="Rectangle 80"/>
          <p:cNvSpPr/>
          <p:nvPr/>
        </p:nvSpPr>
        <p:spPr>
          <a:xfrm>
            <a:off x="9864000" y="4534800"/>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Complexité</a:t>
            </a:r>
          </a:p>
        </p:txBody>
      </p:sp>
      <p:sp>
        <p:nvSpPr>
          <p:cNvPr id="82" name="Rectangle 81"/>
          <p:cNvSpPr/>
          <p:nvPr/>
        </p:nvSpPr>
        <p:spPr>
          <a:xfrm>
            <a:off x="10800000" y="4534800"/>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Priorité</a:t>
            </a:r>
          </a:p>
        </p:txBody>
      </p:sp>
      <p:sp>
        <p:nvSpPr>
          <p:cNvPr id="83" name="Rectangle 82"/>
          <p:cNvSpPr/>
          <p:nvPr/>
        </p:nvSpPr>
        <p:spPr>
          <a:xfrm>
            <a:off x="503999" y="4732800"/>
            <a:ext cx="5976000" cy="4920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00" b="1">
                <a:solidFill>
                  <a:srgbClr val="ED7D31"/>
                </a:solidFill>
                <a:latin typeface="Helvetica"/>
              </a:rPr>
              <a:t>● </a:t>
            </a:r>
            <a:r>
              <a:rPr sz="1000" b="1">
                <a:solidFill>
                  <a:srgbClr val="112A40"/>
                </a:solidFill>
                <a:latin typeface="Helvetica"/>
              </a:rPr>
              <a:t>26.f   </a:t>
            </a:r>
            <a:r>
              <a:rPr sz="1000" b="1">
                <a:solidFill>
                  <a:srgbClr val="060606"/>
                </a:solidFill>
                <a:latin typeface="Helvetica"/>
              </a:rPr>
              <a:t>MEDOC n'est pas documenté. </a:t>
            </a:r>
            <a:r>
              <a:rPr sz="1000" b="0">
                <a:solidFill>
                  <a:srgbClr val="060606"/>
                </a:solidFill>
                <a:latin typeface="Helvetica"/>
              </a:rPr>
              <a:t>Ni conventions avec les pharmacies, ni période de fonctionnement, ni décision de suspension.</a:t>
            </a:r>
          </a:p>
        </p:txBody>
      </p:sp>
      <p:sp>
        <p:nvSpPr>
          <p:cNvPr id="84" name="Rectangle 83"/>
          <p:cNvSpPr/>
          <p:nvPr/>
        </p:nvSpPr>
        <p:spPr>
          <a:xfrm>
            <a:off x="6480000" y="4732800"/>
            <a:ext cx="3384000" cy="4920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00" b="1">
                <a:solidFill>
                  <a:srgbClr val="EFAC62"/>
                </a:solidFill>
                <a:latin typeface="Helvetica"/>
              </a:rPr>
              <a:t>→ </a:t>
            </a:r>
            <a:r>
              <a:rPr sz="1000" b="0">
                <a:solidFill>
                  <a:srgbClr val="060606"/>
                </a:solidFill>
                <a:latin typeface="Helvetica"/>
              </a:rPr>
              <a:t>Transmettre la documentation de MEDOC.</a:t>
            </a:r>
          </a:p>
        </p:txBody>
      </p:sp>
      <p:sp>
        <p:nvSpPr>
          <p:cNvPr id="85" name="Rectangle 84"/>
          <p:cNvSpPr/>
          <p:nvPr/>
        </p:nvSpPr>
        <p:spPr>
          <a:xfrm>
            <a:off x="9864000" y="4732800"/>
            <a:ext cx="936000" cy="4920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6" name="Rectangle 85"/>
          <p:cNvSpPr/>
          <p:nvPr/>
        </p:nvSpPr>
        <p:spPr>
          <a:xfrm>
            <a:off x="10800000" y="4732800"/>
            <a:ext cx="936000" cy="4920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7" name="Rounded Rectangle 86"/>
          <p:cNvSpPr/>
          <p:nvPr/>
        </p:nvSpPr>
        <p:spPr>
          <a:xfrm>
            <a:off x="9936000" y="4870800"/>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88" name="Rounded Rectangle 87"/>
          <p:cNvSpPr/>
          <p:nvPr/>
        </p:nvSpPr>
        <p:spPr>
          <a:xfrm>
            <a:off x="10962000" y="4870800"/>
            <a:ext cx="612000" cy="216000"/>
          </a:xfrm>
          <a:prstGeom prst="round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P3</a:t>
            </a:r>
          </a:p>
        </p:txBody>
      </p:sp>
      <p:sp>
        <p:nvSpPr>
          <p:cNvPr id="89" name="Rectangle 88"/>
          <p:cNvSpPr/>
          <p:nvPr/>
        </p:nvSpPr>
        <p:spPr>
          <a:xfrm>
            <a:off x="503999" y="5224800"/>
            <a:ext cx="5976000" cy="492000"/>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00" b="1">
                <a:solidFill>
                  <a:srgbClr val="FFC000"/>
                </a:solidFill>
                <a:latin typeface="Helvetica"/>
              </a:rPr>
              <a:t>● </a:t>
            </a:r>
            <a:r>
              <a:rPr sz="1000" b="1">
                <a:solidFill>
                  <a:srgbClr val="112A40"/>
                </a:solidFill>
                <a:latin typeface="Helvetica"/>
              </a:rPr>
              <a:t>27.d   </a:t>
            </a:r>
            <a:r>
              <a:rPr sz="1000" b="1">
                <a:solidFill>
                  <a:srgbClr val="060606"/>
                </a:solidFill>
                <a:latin typeface="Helvetica"/>
              </a:rPr>
              <a:t>Les prélèvements MEDOC sont incomplets. </a:t>
            </a:r>
            <a:r>
              <a:rPr sz="1000" b="0">
                <a:solidFill>
                  <a:srgbClr val="060606"/>
                </a:solidFill>
                <a:latin typeface="Helvetica"/>
              </a:rPr>
              <a:t>Fichiers reçus de novembre 2025 à août 2026 seulement. Produit ou garantie : nature à préciser.</a:t>
            </a:r>
          </a:p>
        </p:txBody>
      </p:sp>
      <p:sp>
        <p:nvSpPr>
          <p:cNvPr id="90" name="Rectangle 89"/>
          <p:cNvSpPr/>
          <p:nvPr/>
        </p:nvSpPr>
        <p:spPr>
          <a:xfrm>
            <a:off x="6480000" y="5224800"/>
            <a:ext cx="3384000" cy="492000"/>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00" b="1">
                <a:solidFill>
                  <a:srgbClr val="EFAC62"/>
                </a:solidFill>
                <a:latin typeface="Helvetica"/>
              </a:rPr>
              <a:t>→ </a:t>
            </a:r>
            <a:r>
              <a:rPr sz="1000" b="0">
                <a:solidFill>
                  <a:srgbClr val="060606"/>
                </a:solidFill>
                <a:latin typeface="Helvetica"/>
              </a:rPr>
              <a:t>Transmettre les fichiers manquants et préciser la nature.</a:t>
            </a:r>
          </a:p>
        </p:txBody>
      </p:sp>
      <p:sp>
        <p:nvSpPr>
          <p:cNvPr id="91" name="Rectangle 90"/>
          <p:cNvSpPr/>
          <p:nvPr/>
        </p:nvSpPr>
        <p:spPr>
          <a:xfrm>
            <a:off x="9864000" y="5224800"/>
            <a:ext cx="936000" cy="492000"/>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92" name="Rectangle 91"/>
          <p:cNvSpPr/>
          <p:nvPr/>
        </p:nvSpPr>
        <p:spPr>
          <a:xfrm>
            <a:off x="10800000" y="5224800"/>
            <a:ext cx="936000" cy="492000"/>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93" name="Rounded Rectangle 92"/>
          <p:cNvSpPr/>
          <p:nvPr/>
        </p:nvSpPr>
        <p:spPr>
          <a:xfrm>
            <a:off x="9936000" y="5362800"/>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94" name="Rounded Rectangle 93"/>
          <p:cNvSpPr/>
          <p:nvPr/>
        </p:nvSpPr>
        <p:spPr>
          <a:xfrm>
            <a:off x="10962000" y="5362800"/>
            <a:ext cx="612000" cy="216000"/>
          </a:xfrm>
          <a:prstGeom prst="round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P3</a:t>
            </a:r>
          </a:p>
        </p:txBody>
      </p:sp>
      <p:sp>
        <p:nvSpPr>
          <p:cNvPr id="95" name="TextBox 94"/>
          <p:cNvSpPr txBox="1"/>
          <p:nvPr/>
        </p:nvSpPr>
        <p:spPr>
          <a:xfrm>
            <a:off x="503999" y="5716800"/>
            <a:ext cx="11232000" cy="151200"/>
          </a:xfrm>
          <a:prstGeom prst="rect">
            <a:avLst/>
          </a:prstGeom>
          <a:noFill/>
        </p:spPr>
        <p:txBody>
          <a:bodyPr wrap="square">
            <a:spAutoFit/>
          </a:bodyPr>
          <a:lstStyle/>
          <a:p>
            <a:r>
              <a:rPr sz="750" b="1">
                <a:solidFill>
                  <a:srgbClr val="060606"/>
                </a:solidFill>
                <a:latin typeface="Helvetica"/>
              </a:rPr>
              <a:t>Criticité : </a:t>
            </a:r>
            <a:r>
              <a:rPr sz="850" b="1">
                <a:solidFill>
                  <a:srgbClr val="C00000"/>
                </a:solidFill>
                <a:latin typeface="Helvetica"/>
              </a:rPr>
              <a:t>● </a:t>
            </a:r>
            <a:r>
              <a:rPr sz="750" b="0">
                <a:solidFill>
                  <a:srgbClr val="060606"/>
                </a:solidFill>
                <a:latin typeface="Helvetica"/>
              </a:rPr>
              <a:t>Critique   </a:t>
            </a:r>
            <a:r>
              <a:rPr sz="850" b="1">
                <a:solidFill>
                  <a:srgbClr val="ED7D31"/>
                </a:solidFill>
                <a:latin typeface="Helvetica"/>
              </a:rPr>
              <a:t>● </a:t>
            </a:r>
            <a:r>
              <a:rPr sz="750" b="0">
                <a:solidFill>
                  <a:srgbClr val="060606"/>
                </a:solidFill>
                <a:latin typeface="Helvetica"/>
              </a:rPr>
              <a:t>Élevé   </a:t>
            </a:r>
            <a:r>
              <a:rPr sz="850" b="1">
                <a:solidFill>
                  <a:srgbClr val="FFC000"/>
                </a:solidFill>
                <a:latin typeface="Helvetica"/>
              </a:rPr>
              <a:t>● </a:t>
            </a:r>
            <a:r>
              <a:rPr sz="750" b="0">
                <a:solidFill>
                  <a:srgbClr val="060606"/>
                </a:solidFill>
                <a:latin typeface="Helvetica"/>
              </a:rPr>
              <a:t>Moyen   </a:t>
            </a:r>
            <a:r>
              <a:rPr sz="850" b="1">
                <a:solidFill>
                  <a:srgbClr val="70AD47"/>
                </a:solidFill>
                <a:latin typeface="Helvetica"/>
              </a:rPr>
              <a:t>● </a:t>
            </a:r>
            <a:r>
              <a:rPr sz="750" b="0">
                <a:solidFill>
                  <a:srgbClr val="060606"/>
                </a:solidFill>
                <a:latin typeface="Helvetica"/>
              </a:rPr>
              <a:t>Faible   </a:t>
            </a:r>
            <a:r>
              <a:rPr sz="750" b="0">
                <a:solidFill>
                  <a:srgbClr val="060606"/>
                </a:solidFill>
                <a:latin typeface="Helvetica"/>
              </a:rPr>
              <a:t>Priorité : P1 dans les 3 mois, P2 dans les 6 mois, P3 de 6 à 18 mois, P4 au-delà.   Complexité : Faible (une décision suffit), Moyenne (travail interne), Élevée (tiers ou financement).   Numéros : ceux du résumé exécutif.</a:t>
            </a:r>
          </a:p>
        </p:txBody>
      </p:sp>
      <p:sp>
        <p:nvSpPr>
          <p:cNvPr id="96" name="TextBox 95"/>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 | MEDOC : produit santé complémentaire du poste 8Z7</a:t>
            </a:r>
          </a:p>
        </p:txBody>
      </p:sp>
    </p:spTree>
    <p:extLst>
      <p:ext uri="{BB962C8B-B14F-4D97-AF65-F5344CB8AC3E}">
        <p14:creationId xmlns:p14="http://schemas.microsoft.com/office/powerpoint/2010/main" val="890730458"/>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Grenier</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Grenier grandit vite, financé presque entièrement par l'épargne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Constat le plus grave : 25, le Grenier grandit vite avec l'épargne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rapport actuariel et statistique du 23/10/2026. Logigrammes du FPPN (« FLOW_CHART_COTISATION_ET_PRODUITS_DEPARGNE_1.pptx »). Résumé exécutif du 26/10/2026</a:t>
            </a:r>
          </a:p>
        </p:txBody>
      </p:sp>
      <p:sp>
        <p:nvSpPr>
          <p:cNvPr id="31" name="Rectangle 30"/>
          <p:cNvSpPr/>
          <p:nvPr/>
        </p:nvSpPr>
        <p:spPr>
          <a:xfrm>
            <a:off x="503999" y="1411200"/>
            <a:ext cx="7085571" cy="1512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00" b="1">
                <a:solidFill>
                  <a:srgbClr val="FFFFFF"/>
                </a:solidFill>
                <a:latin typeface="Helvetica"/>
              </a:rPr>
              <a:t>PRODUITS</a:t>
            </a:r>
          </a:p>
        </p:txBody>
      </p:sp>
      <p:sp>
        <p:nvSpPr>
          <p:cNvPr id="32" name="Rectangle 31"/>
          <p:cNvSpPr/>
          <p:nvPr/>
        </p:nvSpPr>
        <p:spPr>
          <a:xfrm>
            <a:off x="7823571" y="1411200"/>
            <a:ext cx="3912428" cy="1512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00" b="1">
                <a:solidFill>
                  <a:srgbClr val="FFFFFF"/>
                </a:solidFill>
                <a:latin typeface="Helvetica"/>
              </a:rPr>
              <a:t>FONCTIONS TRANSVERSES</a:t>
            </a:r>
          </a:p>
        </p:txBody>
      </p:sp>
      <p:sp>
        <p:nvSpPr>
          <p:cNvPr id="33" name="Nav Maladie">
            <a:hlinkClick action="ppaction://hlinksldjump" r:id="rId7"/>
          </p:cNvPr>
          <p:cNvSpPr/>
          <p:nvPr/>
        </p:nvSpPr>
        <p:spPr>
          <a:xfrm>
            <a:off x="503999"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Maladie</a:t>
            </a:r>
          </a:p>
        </p:txBody>
      </p:sp>
      <p:sp>
        <p:nvSpPr>
          <p:cNvPr id="34" name="Nav Décès">
            <a:hlinkClick action="ppaction://hlinksldjump" r:id="rId8"/>
          </p:cNvPr>
          <p:cNvSpPr/>
          <p:nvPr/>
        </p:nvSpPr>
        <p:spPr>
          <a:xfrm>
            <a:off x="1297285"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Décès</a:t>
            </a:r>
          </a:p>
        </p:txBody>
      </p:sp>
      <p:sp>
        <p:nvSpPr>
          <p:cNvPr id="35" name="Nav Retraités (CGRAE)">
            <a:hlinkClick action="ppaction://hlinksldjump" r:id="rId9"/>
          </p:cNvPr>
          <p:cNvSpPr/>
          <p:nvPr/>
        </p:nvSpPr>
        <p:spPr>
          <a:xfrm>
            <a:off x="2090571"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Retraités</a:t>
            </a:r>
          </a:p>
        </p:txBody>
      </p:sp>
      <p:sp>
        <p:nvSpPr>
          <p:cNvPr id="36" name="Nav EFC">
            <a:hlinkClick action="ppaction://hlinksldjump" r:id="rId10"/>
          </p:cNvPr>
          <p:cNvSpPr/>
          <p:nvPr/>
        </p:nvSpPr>
        <p:spPr>
          <a:xfrm>
            <a:off x="2883857"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EFC</a:t>
            </a:r>
          </a:p>
        </p:txBody>
      </p:sp>
      <p:sp>
        <p:nvSpPr>
          <p:cNvPr id="37" name="Nav PEP">
            <a:hlinkClick action="ppaction://hlinksldjump" r:id="rId11"/>
          </p:cNvPr>
          <p:cNvSpPr/>
          <p:nvPr/>
        </p:nvSpPr>
        <p:spPr>
          <a:xfrm>
            <a:off x="3677142"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PEP</a:t>
            </a:r>
          </a:p>
        </p:txBody>
      </p:sp>
      <p:sp>
        <p:nvSpPr>
          <p:cNvPr id="38" name="Nav MEDOC">
            <a:hlinkClick action="ppaction://hlinksldjump" r:id="rId11"/>
          </p:cNvPr>
          <p:cNvSpPr/>
          <p:nvPr/>
        </p:nvSpPr>
        <p:spPr>
          <a:xfrm>
            <a:off x="4470428"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MEDOC</a:t>
            </a:r>
          </a:p>
        </p:txBody>
      </p:sp>
      <p:sp>
        <p:nvSpPr>
          <p:cNvPr id="39" name="Nav Grenier"/>
          <p:cNvSpPr/>
          <p:nvPr/>
        </p:nvSpPr>
        <p:spPr>
          <a:xfrm>
            <a:off x="5263714" y="1591200"/>
            <a:ext cx="739285" cy="1800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1">
                <a:solidFill>
                  <a:srgbClr val="FFFFFF"/>
                </a:solidFill>
                <a:latin typeface="Helvetica"/>
              </a:rPr>
              <a:t>Grenier</a:t>
            </a:r>
          </a:p>
        </p:txBody>
      </p:sp>
      <p:sp>
        <p:nvSpPr>
          <p:cNvPr id="40" name="Nav Flotte automobile">
            <a:hlinkClick action="ppaction://hlinksldjump" r:id="rId12"/>
          </p:cNvPr>
          <p:cNvSpPr/>
          <p:nvPr/>
        </p:nvSpPr>
        <p:spPr>
          <a:xfrm>
            <a:off x="6057000"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FFC000"/>
                </a:solidFill>
                <a:latin typeface="Helvetica"/>
              </a:rPr>
              <a:t>● </a:t>
            </a:r>
            <a:r>
              <a:rPr sz="750" b="0">
                <a:solidFill>
                  <a:srgbClr val="53565A"/>
                </a:solidFill>
                <a:latin typeface="Helvetica"/>
              </a:rPr>
              <a:t>Flotte auto</a:t>
            </a:r>
          </a:p>
        </p:txBody>
      </p:sp>
      <p:sp>
        <p:nvSpPr>
          <p:cNvPr id="41" name="Nav Clinique (CMP)">
            <a:hlinkClick action="ppaction://hlinksldjump" r:id="rId12"/>
          </p:cNvPr>
          <p:cNvSpPr/>
          <p:nvPr/>
        </p:nvSpPr>
        <p:spPr>
          <a:xfrm>
            <a:off x="6850285"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Clinique</a:t>
            </a:r>
          </a:p>
        </p:txBody>
      </p:sp>
      <p:sp>
        <p:nvSpPr>
          <p:cNvPr id="42" name="Nav Cotisations et précomptes">
            <a:hlinkClick action="ppaction://hlinksldjump" r:id="rId13"/>
          </p:cNvPr>
          <p:cNvSpPr/>
          <p:nvPr/>
        </p:nvSpPr>
        <p:spPr>
          <a:xfrm>
            <a:off x="7823571"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Cotisations</a:t>
            </a:r>
          </a:p>
        </p:txBody>
      </p:sp>
      <p:sp>
        <p:nvSpPr>
          <p:cNvPr id="43" name="Nav Comptabilité et provisions">
            <a:hlinkClick action="ppaction://hlinksldjump" r:id="rId14"/>
          </p:cNvPr>
          <p:cNvSpPr/>
          <p:nvPr/>
        </p:nvSpPr>
        <p:spPr>
          <a:xfrm>
            <a:off x="8616857"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Comptabilité</a:t>
            </a:r>
          </a:p>
        </p:txBody>
      </p:sp>
      <p:sp>
        <p:nvSpPr>
          <p:cNvPr id="44" name="Nav Trésorerie et placements">
            <a:hlinkClick action="ppaction://hlinksldjump" r:id="rId15"/>
          </p:cNvPr>
          <p:cNvSpPr/>
          <p:nvPr/>
        </p:nvSpPr>
        <p:spPr>
          <a:xfrm>
            <a:off x="9410142"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Trésorerie</a:t>
            </a:r>
          </a:p>
        </p:txBody>
      </p:sp>
      <p:sp>
        <p:nvSpPr>
          <p:cNvPr id="45" name="Nav Gouvernance">
            <a:hlinkClick action="ppaction://hlinksldjump" r:id="rId16"/>
          </p:cNvPr>
          <p:cNvSpPr/>
          <p:nvPr/>
        </p:nvSpPr>
        <p:spPr>
          <a:xfrm>
            <a:off x="10203428"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Gouvernance</a:t>
            </a:r>
          </a:p>
        </p:txBody>
      </p:sp>
      <p:sp>
        <p:nvSpPr>
          <p:cNvPr id="46" name="Nav Données et informatique">
            <a:hlinkClick action="ppaction://hlinksldjump" r:id="rId17"/>
          </p:cNvPr>
          <p:cNvSpPr/>
          <p:nvPr/>
        </p:nvSpPr>
        <p:spPr>
          <a:xfrm>
            <a:off x="10996714"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Données</a:t>
            </a:r>
          </a:p>
        </p:txBody>
      </p:sp>
      <p:sp>
        <p:nvSpPr>
          <p:cNvPr id="47" name="Bloc Grenier"/>
          <p:cNvSpPr/>
          <p:nvPr/>
        </p:nvSpPr>
        <p:spPr>
          <a:xfrm>
            <a:off x="503999" y="1835999"/>
            <a:ext cx="11232000" cy="2232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00" b="1">
                <a:solidFill>
                  <a:srgbClr val="ED7D31"/>
                </a:solidFill>
                <a:latin typeface="Helvetica"/>
              </a:rPr>
              <a:t>● </a:t>
            </a:r>
            <a:r>
              <a:rPr sz="1000" b="0">
                <a:solidFill>
                  <a:srgbClr val="BBBCBC"/>
                </a:solidFill>
                <a:latin typeface="Helvetica"/>
              </a:rPr>
              <a:t>PRODUITS  ›  </a:t>
            </a:r>
            <a:r>
              <a:rPr sz="1200" b="1">
                <a:solidFill>
                  <a:srgbClr val="FFFFFF"/>
                </a:solidFill>
                <a:latin typeface="Helvetica"/>
              </a:rPr>
              <a:t>GRENIER</a:t>
            </a:r>
            <a:r>
              <a:rPr sz="950" b="0">
                <a:solidFill>
                  <a:srgbClr val="FFFFFF"/>
                </a:solidFill>
                <a:latin typeface="Helvetica"/>
              </a:rPr>
              <a:t>     4 constats</a:t>
            </a:r>
          </a:p>
        </p:txBody>
      </p:sp>
      <p:sp>
        <p:nvSpPr>
          <p:cNvPr id="48" name="Nav Carte">
            <a:hlinkClick action="ppaction://hlinksldjump" r:id="rId18"/>
          </p:cNvPr>
          <p:cNvSpPr/>
          <p:nvPr/>
        </p:nvSpPr>
        <p:spPr>
          <a:xfrm>
            <a:off x="10007999" y="1871999"/>
            <a:ext cx="1655999" cy="151200"/>
          </a:xfrm>
          <a:prstGeom prst="rect">
            <a:avLst/>
          </a:prstGeom>
          <a:solidFill>
            <a:srgbClr val="53565A"/>
          </a:solidFill>
          <a:ln w="952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50" b="1">
                <a:solidFill>
                  <a:srgbClr val="FFFFFF"/>
                </a:solidFill>
                <a:latin typeface="Helvetica"/>
              </a:rPr>
              <a:t>↩ Carte des activités</a:t>
            </a:r>
          </a:p>
        </p:txBody>
      </p:sp>
      <p:sp>
        <p:nvSpPr>
          <p:cNvPr id="49" name="Rectangle 48"/>
          <p:cNvSpPr/>
          <p:nvPr/>
        </p:nvSpPr>
        <p:spPr>
          <a:xfrm>
            <a:off x="503999" y="2088000"/>
            <a:ext cx="597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Constat et commentaire</a:t>
            </a:r>
          </a:p>
        </p:txBody>
      </p:sp>
      <p:sp>
        <p:nvSpPr>
          <p:cNvPr id="50" name="Rectangle 49"/>
          <p:cNvSpPr/>
          <p:nvPr/>
        </p:nvSpPr>
        <p:spPr>
          <a:xfrm>
            <a:off x="6480000" y="2088000"/>
            <a:ext cx="3384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Recommandation</a:t>
            </a:r>
          </a:p>
        </p:txBody>
      </p:sp>
      <p:sp>
        <p:nvSpPr>
          <p:cNvPr id="51" name="Rectangle 50"/>
          <p:cNvSpPr/>
          <p:nvPr/>
        </p:nvSpPr>
        <p:spPr>
          <a:xfrm>
            <a:off x="9864000" y="2088000"/>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Complexité</a:t>
            </a:r>
          </a:p>
        </p:txBody>
      </p:sp>
      <p:sp>
        <p:nvSpPr>
          <p:cNvPr id="52" name="Rectangle 51"/>
          <p:cNvSpPr/>
          <p:nvPr/>
        </p:nvSpPr>
        <p:spPr>
          <a:xfrm>
            <a:off x="10800000" y="2088000"/>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Priorité</a:t>
            </a:r>
          </a:p>
        </p:txBody>
      </p:sp>
      <p:sp>
        <p:nvSpPr>
          <p:cNvPr id="53" name="Rectangle 52"/>
          <p:cNvSpPr/>
          <p:nvPr/>
        </p:nvSpPr>
        <p:spPr>
          <a:xfrm>
            <a:off x="503999" y="2286000"/>
            <a:ext cx="5976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ED7D31"/>
                </a:solidFill>
                <a:latin typeface="Helvetica"/>
              </a:rPr>
              <a:t>● </a:t>
            </a:r>
            <a:r>
              <a:rPr sz="1050" b="1">
                <a:solidFill>
                  <a:srgbClr val="112A40"/>
                </a:solidFill>
                <a:latin typeface="Helvetica"/>
              </a:rPr>
              <a:t>25   </a:t>
            </a:r>
            <a:r>
              <a:rPr sz="1050" b="1">
                <a:solidFill>
                  <a:srgbClr val="060606"/>
                </a:solidFill>
                <a:latin typeface="Helvetica"/>
              </a:rPr>
              <a:t>Le Grenier grandit vite avec l'épargne. </a:t>
            </a:r>
            <a:r>
              <a:rPr sz="1050" b="0">
                <a:solidFill>
                  <a:srgbClr val="060606"/>
                </a:solidFill>
                <a:latin typeface="Helvetica"/>
              </a:rPr>
              <a:t>Encours de 7 900 000 FCFA fin 2021 à 1 044 302 107 FCFA au 31/08/2026, financé à 87,66 % par le FPPN.</a:t>
            </a:r>
          </a:p>
        </p:txBody>
      </p:sp>
      <p:sp>
        <p:nvSpPr>
          <p:cNvPr id="54" name="Rectangle 53"/>
          <p:cNvSpPr/>
          <p:nvPr/>
        </p:nvSpPr>
        <p:spPr>
          <a:xfrm>
            <a:off x="6480000" y="2286000"/>
            <a:ext cx="3384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Fixer par décision un plafond de financement du Grenier.</a:t>
            </a:r>
          </a:p>
        </p:txBody>
      </p:sp>
      <p:sp>
        <p:nvSpPr>
          <p:cNvPr id="55" name="Rectangle 54"/>
          <p:cNvSpPr/>
          <p:nvPr/>
        </p:nvSpPr>
        <p:spPr>
          <a:xfrm>
            <a:off x="9864000" y="2286000"/>
            <a:ext cx="936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56" name="Rectangle 55"/>
          <p:cNvSpPr/>
          <p:nvPr/>
        </p:nvSpPr>
        <p:spPr>
          <a:xfrm>
            <a:off x="10800000" y="2286000"/>
            <a:ext cx="936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57" name="Rounded Rectangle 56"/>
          <p:cNvSpPr/>
          <p:nvPr/>
        </p:nvSpPr>
        <p:spPr>
          <a:xfrm>
            <a:off x="9936000" y="2467720"/>
            <a:ext cx="792000" cy="216000"/>
          </a:xfrm>
          <a:prstGeom prst="round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Moyenne</a:t>
            </a:r>
          </a:p>
        </p:txBody>
      </p:sp>
      <p:sp>
        <p:nvSpPr>
          <p:cNvPr id="58" name="Rounded Rectangle 57"/>
          <p:cNvSpPr/>
          <p:nvPr/>
        </p:nvSpPr>
        <p:spPr>
          <a:xfrm>
            <a:off x="10962000" y="2467720"/>
            <a:ext cx="612000" cy="216000"/>
          </a:xfrm>
          <a:prstGeom prst="round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P3</a:t>
            </a:r>
          </a:p>
        </p:txBody>
      </p:sp>
      <p:sp>
        <p:nvSpPr>
          <p:cNvPr id="59" name="Rectangle 58"/>
          <p:cNvSpPr/>
          <p:nvPr/>
        </p:nvSpPr>
        <p:spPr>
          <a:xfrm>
            <a:off x="503999" y="2865441"/>
            <a:ext cx="5976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70AD47"/>
                </a:solidFill>
                <a:latin typeface="Helvetica"/>
              </a:rPr>
              <a:t>● </a:t>
            </a:r>
            <a:r>
              <a:rPr sz="1050" b="1">
                <a:solidFill>
                  <a:srgbClr val="112A40"/>
                </a:solidFill>
                <a:latin typeface="Helvetica"/>
              </a:rPr>
              <a:t>4   </a:t>
            </a:r>
            <a:r>
              <a:rPr sz="1050" b="1">
                <a:solidFill>
                  <a:srgbClr val="060606"/>
                </a:solidFill>
                <a:latin typeface="Helvetica"/>
              </a:rPr>
              <a:t>Les pertes probables ne sont pas comptées. </a:t>
            </a:r>
            <a:r>
              <a:rPr sz="1050" b="0">
                <a:solidFill>
                  <a:srgbClr val="060606"/>
                </a:solidFill>
                <a:latin typeface="Helvetica"/>
              </a:rPr>
              <a:t>14 016 392 FCFA selon la politique de crédit (40 %, 80 % ou 100 % selon le retard).</a:t>
            </a:r>
          </a:p>
        </p:txBody>
      </p:sp>
      <p:sp>
        <p:nvSpPr>
          <p:cNvPr id="60" name="Rectangle 59"/>
          <p:cNvSpPr/>
          <p:nvPr/>
        </p:nvSpPr>
        <p:spPr>
          <a:xfrm>
            <a:off x="6480000" y="2865441"/>
            <a:ext cx="3384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Déprécier chaque année les prêts en retard.</a:t>
            </a:r>
          </a:p>
        </p:txBody>
      </p:sp>
      <p:sp>
        <p:nvSpPr>
          <p:cNvPr id="61" name="Rectangle 60"/>
          <p:cNvSpPr/>
          <p:nvPr/>
        </p:nvSpPr>
        <p:spPr>
          <a:xfrm>
            <a:off x="9864000" y="2865441"/>
            <a:ext cx="936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2" name="Rectangle 61"/>
          <p:cNvSpPr/>
          <p:nvPr/>
        </p:nvSpPr>
        <p:spPr>
          <a:xfrm>
            <a:off x="10800000" y="2865441"/>
            <a:ext cx="936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3" name="Rounded Rectangle 62"/>
          <p:cNvSpPr/>
          <p:nvPr/>
        </p:nvSpPr>
        <p:spPr>
          <a:xfrm>
            <a:off x="9936000" y="3047162"/>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64" name="Rounded Rectangle 63"/>
          <p:cNvSpPr/>
          <p:nvPr/>
        </p:nvSpPr>
        <p:spPr>
          <a:xfrm>
            <a:off x="10962000" y="3047162"/>
            <a:ext cx="612000" cy="216000"/>
          </a:xfrm>
          <a:prstGeom prst="round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P3</a:t>
            </a:r>
          </a:p>
        </p:txBody>
      </p:sp>
      <p:sp>
        <p:nvSpPr>
          <p:cNvPr id="65" name="Rectangle 64"/>
          <p:cNvSpPr/>
          <p:nvPr/>
        </p:nvSpPr>
        <p:spPr>
          <a:xfrm>
            <a:off x="503999" y="3444883"/>
            <a:ext cx="5976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FFC000"/>
                </a:solidFill>
                <a:latin typeface="Helvetica"/>
              </a:rPr>
              <a:t>● </a:t>
            </a:r>
            <a:r>
              <a:rPr sz="1050" b="1">
                <a:solidFill>
                  <a:srgbClr val="112A40"/>
                </a:solidFill>
                <a:latin typeface="Helvetica"/>
              </a:rPr>
              <a:t>4.a   </a:t>
            </a:r>
            <a:r>
              <a:rPr sz="1050" b="1">
                <a:solidFill>
                  <a:srgbClr val="060606"/>
                </a:solidFill>
                <a:latin typeface="Helvetica"/>
              </a:rPr>
              <a:t>126 prêts ont plus de 180 jours de retard. </a:t>
            </a:r>
            <a:r>
              <a:rPr sz="1050" b="0">
                <a:solidFill>
                  <a:srgbClr val="060606"/>
                </a:solidFill>
                <a:latin typeface="Helvetica"/>
              </a:rPr>
              <a:t>Les retards de fin janvier 2026 se sont résorbés, signe d'échéances non prélevées fin 2025.</a:t>
            </a:r>
          </a:p>
        </p:txBody>
      </p:sp>
      <p:sp>
        <p:nvSpPr>
          <p:cNvPr id="66" name="Rectangle 65"/>
          <p:cNvSpPr/>
          <p:nvPr/>
        </p:nvSpPr>
        <p:spPr>
          <a:xfrm>
            <a:off x="6480000" y="3444883"/>
            <a:ext cx="3384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Suivre chaque mois les retards et les échéances non prélevées.</a:t>
            </a:r>
          </a:p>
        </p:txBody>
      </p:sp>
      <p:sp>
        <p:nvSpPr>
          <p:cNvPr id="67" name="Rectangle 66"/>
          <p:cNvSpPr/>
          <p:nvPr/>
        </p:nvSpPr>
        <p:spPr>
          <a:xfrm>
            <a:off x="9864000" y="3444883"/>
            <a:ext cx="936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8" name="Rectangle 67"/>
          <p:cNvSpPr/>
          <p:nvPr/>
        </p:nvSpPr>
        <p:spPr>
          <a:xfrm>
            <a:off x="10800000" y="3444883"/>
            <a:ext cx="936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9" name="Rounded Rectangle 68"/>
          <p:cNvSpPr/>
          <p:nvPr/>
        </p:nvSpPr>
        <p:spPr>
          <a:xfrm>
            <a:off x="9936000" y="3626604"/>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70" name="Rounded Rectangle 69"/>
          <p:cNvSpPr/>
          <p:nvPr/>
        </p:nvSpPr>
        <p:spPr>
          <a:xfrm>
            <a:off x="10962000" y="3626604"/>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71" name="Rectangle 70"/>
          <p:cNvSpPr/>
          <p:nvPr/>
        </p:nvSpPr>
        <p:spPr>
          <a:xfrm>
            <a:off x="503999" y="4024324"/>
            <a:ext cx="5976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70AD47"/>
                </a:solidFill>
                <a:latin typeface="Helvetica"/>
              </a:rPr>
              <a:t>● </a:t>
            </a:r>
            <a:r>
              <a:rPr sz="1050" b="1">
                <a:solidFill>
                  <a:srgbClr val="112A40"/>
                </a:solidFill>
                <a:latin typeface="Helvetica"/>
              </a:rPr>
              <a:t>25.a   </a:t>
            </a:r>
            <a:r>
              <a:rPr sz="1050" b="1">
                <a:solidFill>
                  <a:srgbClr val="060606"/>
                </a:solidFill>
                <a:latin typeface="Helvetica"/>
              </a:rPr>
              <a:t>Les prêts sont courts mais l'habitat allonge le risque. </a:t>
            </a:r>
            <a:r>
              <a:rPr sz="1050" b="0">
                <a:solidFill>
                  <a:srgbClr val="060606"/>
                </a:solidFill>
                <a:latin typeface="Helvetica"/>
              </a:rPr>
              <a:t>Durée médiane de 10 mois, taux médian de 18,00 %. Scolaire et habitat : 66,12 % des montants de 2025.</a:t>
            </a:r>
          </a:p>
        </p:txBody>
      </p:sp>
      <p:sp>
        <p:nvSpPr>
          <p:cNvPr id="72" name="Rectangle 71"/>
          <p:cNvSpPr/>
          <p:nvPr/>
        </p:nvSpPr>
        <p:spPr>
          <a:xfrm>
            <a:off x="6480000" y="4024324"/>
            <a:ext cx="3384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Encadrer la part des crédits longs.</a:t>
            </a:r>
          </a:p>
        </p:txBody>
      </p:sp>
      <p:sp>
        <p:nvSpPr>
          <p:cNvPr id="73" name="Rectangle 72"/>
          <p:cNvSpPr/>
          <p:nvPr/>
        </p:nvSpPr>
        <p:spPr>
          <a:xfrm>
            <a:off x="9864000" y="4024324"/>
            <a:ext cx="936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4" name="Rectangle 73"/>
          <p:cNvSpPr/>
          <p:nvPr/>
        </p:nvSpPr>
        <p:spPr>
          <a:xfrm>
            <a:off x="10800000" y="4024324"/>
            <a:ext cx="936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5" name="Rounded Rectangle 74"/>
          <p:cNvSpPr/>
          <p:nvPr/>
        </p:nvSpPr>
        <p:spPr>
          <a:xfrm>
            <a:off x="9936000" y="4206045"/>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76" name="Rounded Rectangle 75"/>
          <p:cNvSpPr/>
          <p:nvPr/>
        </p:nvSpPr>
        <p:spPr>
          <a:xfrm>
            <a:off x="10962000" y="4206045"/>
            <a:ext cx="612000" cy="216000"/>
          </a:xfrm>
          <a:prstGeom prst="round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P3</a:t>
            </a:r>
          </a:p>
        </p:txBody>
      </p:sp>
      <p:sp>
        <p:nvSpPr>
          <p:cNvPr id="77" name="TextBox 76"/>
          <p:cNvSpPr txBox="1"/>
          <p:nvPr/>
        </p:nvSpPr>
        <p:spPr>
          <a:xfrm>
            <a:off x="503999" y="5716800"/>
            <a:ext cx="11232000" cy="151200"/>
          </a:xfrm>
          <a:prstGeom prst="rect">
            <a:avLst/>
          </a:prstGeom>
          <a:noFill/>
        </p:spPr>
        <p:txBody>
          <a:bodyPr wrap="square">
            <a:spAutoFit/>
          </a:bodyPr>
          <a:lstStyle/>
          <a:p>
            <a:r>
              <a:rPr sz="750" b="1">
                <a:solidFill>
                  <a:srgbClr val="060606"/>
                </a:solidFill>
                <a:latin typeface="Helvetica"/>
              </a:rPr>
              <a:t>Criticité : </a:t>
            </a:r>
            <a:r>
              <a:rPr sz="850" b="1">
                <a:solidFill>
                  <a:srgbClr val="C00000"/>
                </a:solidFill>
                <a:latin typeface="Helvetica"/>
              </a:rPr>
              <a:t>● </a:t>
            </a:r>
            <a:r>
              <a:rPr sz="750" b="0">
                <a:solidFill>
                  <a:srgbClr val="060606"/>
                </a:solidFill>
                <a:latin typeface="Helvetica"/>
              </a:rPr>
              <a:t>Critique   </a:t>
            </a:r>
            <a:r>
              <a:rPr sz="850" b="1">
                <a:solidFill>
                  <a:srgbClr val="ED7D31"/>
                </a:solidFill>
                <a:latin typeface="Helvetica"/>
              </a:rPr>
              <a:t>● </a:t>
            </a:r>
            <a:r>
              <a:rPr sz="750" b="0">
                <a:solidFill>
                  <a:srgbClr val="060606"/>
                </a:solidFill>
                <a:latin typeface="Helvetica"/>
              </a:rPr>
              <a:t>Élevé   </a:t>
            </a:r>
            <a:r>
              <a:rPr sz="850" b="1">
                <a:solidFill>
                  <a:srgbClr val="FFC000"/>
                </a:solidFill>
                <a:latin typeface="Helvetica"/>
              </a:rPr>
              <a:t>● </a:t>
            </a:r>
            <a:r>
              <a:rPr sz="750" b="0">
                <a:solidFill>
                  <a:srgbClr val="060606"/>
                </a:solidFill>
                <a:latin typeface="Helvetica"/>
              </a:rPr>
              <a:t>Moyen   </a:t>
            </a:r>
            <a:r>
              <a:rPr sz="850" b="1">
                <a:solidFill>
                  <a:srgbClr val="70AD47"/>
                </a:solidFill>
                <a:latin typeface="Helvetica"/>
              </a:rPr>
              <a:t>● </a:t>
            </a:r>
            <a:r>
              <a:rPr sz="750" b="0">
                <a:solidFill>
                  <a:srgbClr val="060606"/>
                </a:solidFill>
                <a:latin typeface="Helvetica"/>
              </a:rPr>
              <a:t>Faible   </a:t>
            </a:r>
            <a:r>
              <a:rPr sz="750" b="0">
                <a:solidFill>
                  <a:srgbClr val="060606"/>
                </a:solidFill>
                <a:latin typeface="Helvetica"/>
              </a:rPr>
              <a:t>Priorité : P1 dans les 3 mois, P2 dans les 6 mois, P3 de 6 à 18 mois, P4 au-delà.   Complexité : Faible (une décision suffit), Moyenne (travail interne), Élevée (tiers ou financement).   Numéros : ceux du résumé exécutif.</a:t>
            </a:r>
          </a:p>
        </p:txBody>
      </p:sp>
      <p:sp>
        <p:nvSpPr>
          <p:cNvPr id="78" name="TextBox 77"/>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 | MEDOC : produit santé complémentaire du poste 8Z7</a:t>
            </a:r>
          </a:p>
        </p:txBody>
      </p:sp>
    </p:spTree>
    <p:extLst>
      <p:ext uri="{BB962C8B-B14F-4D97-AF65-F5344CB8AC3E}">
        <p14:creationId xmlns:p14="http://schemas.microsoft.com/office/powerpoint/2010/main" val="2305774683"/>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Flotte automobile et Clinique (CMP)</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clinique n'a ni comptes séparés ni valeur établie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Constat le plus grave : 17, la clinique n'a pas de comptabilité séparée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rapport actuariel et statistique du 23/10/2026. Logigrammes du FPPN (« FLOW_CHART_COTISATION_ET_PRODUITS_DEPARGNE_1.pptx »). Résumé exécutif du 26/10/2026</a:t>
            </a:r>
          </a:p>
        </p:txBody>
      </p:sp>
      <p:sp>
        <p:nvSpPr>
          <p:cNvPr id="31" name="Rectangle 30"/>
          <p:cNvSpPr/>
          <p:nvPr/>
        </p:nvSpPr>
        <p:spPr>
          <a:xfrm>
            <a:off x="503999" y="1411200"/>
            <a:ext cx="7085571" cy="1512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00" b="1">
                <a:solidFill>
                  <a:srgbClr val="FFFFFF"/>
                </a:solidFill>
                <a:latin typeface="Helvetica"/>
              </a:rPr>
              <a:t>PRODUITS</a:t>
            </a:r>
          </a:p>
        </p:txBody>
      </p:sp>
      <p:sp>
        <p:nvSpPr>
          <p:cNvPr id="32" name="Rectangle 31"/>
          <p:cNvSpPr/>
          <p:nvPr/>
        </p:nvSpPr>
        <p:spPr>
          <a:xfrm>
            <a:off x="7823571" y="1411200"/>
            <a:ext cx="3912428" cy="1512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00" b="1">
                <a:solidFill>
                  <a:srgbClr val="FFFFFF"/>
                </a:solidFill>
                <a:latin typeface="Helvetica"/>
              </a:rPr>
              <a:t>FONCTIONS TRANSVERSES</a:t>
            </a:r>
          </a:p>
        </p:txBody>
      </p:sp>
      <p:sp>
        <p:nvSpPr>
          <p:cNvPr id="33" name="Nav Maladie">
            <a:hlinkClick action="ppaction://hlinksldjump" r:id="rId7"/>
          </p:cNvPr>
          <p:cNvSpPr/>
          <p:nvPr/>
        </p:nvSpPr>
        <p:spPr>
          <a:xfrm>
            <a:off x="503999"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Maladie</a:t>
            </a:r>
          </a:p>
        </p:txBody>
      </p:sp>
      <p:sp>
        <p:nvSpPr>
          <p:cNvPr id="34" name="Nav Décès">
            <a:hlinkClick action="ppaction://hlinksldjump" r:id="rId8"/>
          </p:cNvPr>
          <p:cNvSpPr/>
          <p:nvPr/>
        </p:nvSpPr>
        <p:spPr>
          <a:xfrm>
            <a:off x="1297285"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Décès</a:t>
            </a:r>
          </a:p>
        </p:txBody>
      </p:sp>
      <p:sp>
        <p:nvSpPr>
          <p:cNvPr id="35" name="Nav Retraités (CGRAE)">
            <a:hlinkClick action="ppaction://hlinksldjump" r:id="rId9"/>
          </p:cNvPr>
          <p:cNvSpPr/>
          <p:nvPr/>
        </p:nvSpPr>
        <p:spPr>
          <a:xfrm>
            <a:off x="2090571"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Retraités</a:t>
            </a:r>
          </a:p>
        </p:txBody>
      </p:sp>
      <p:sp>
        <p:nvSpPr>
          <p:cNvPr id="36" name="Nav EFC">
            <a:hlinkClick action="ppaction://hlinksldjump" r:id="rId10"/>
          </p:cNvPr>
          <p:cNvSpPr/>
          <p:nvPr/>
        </p:nvSpPr>
        <p:spPr>
          <a:xfrm>
            <a:off x="2883857"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EFC</a:t>
            </a:r>
          </a:p>
        </p:txBody>
      </p:sp>
      <p:sp>
        <p:nvSpPr>
          <p:cNvPr id="37" name="Nav PEP">
            <a:hlinkClick action="ppaction://hlinksldjump" r:id="rId11"/>
          </p:cNvPr>
          <p:cNvSpPr/>
          <p:nvPr/>
        </p:nvSpPr>
        <p:spPr>
          <a:xfrm>
            <a:off x="3677142"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PEP</a:t>
            </a:r>
          </a:p>
        </p:txBody>
      </p:sp>
      <p:sp>
        <p:nvSpPr>
          <p:cNvPr id="38" name="Nav MEDOC">
            <a:hlinkClick action="ppaction://hlinksldjump" r:id="rId11"/>
          </p:cNvPr>
          <p:cNvSpPr/>
          <p:nvPr/>
        </p:nvSpPr>
        <p:spPr>
          <a:xfrm>
            <a:off x="4470428"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MEDOC</a:t>
            </a:r>
          </a:p>
        </p:txBody>
      </p:sp>
      <p:sp>
        <p:nvSpPr>
          <p:cNvPr id="39" name="Nav Grenier">
            <a:hlinkClick action="ppaction://hlinksldjump" r:id="rId12"/>
          </p:cNvPr>
          <p:cNvSpPr/>
          <p:nvPr/>
        </p:nvSpPr>
        <p:spPr>
          <a:xfrm>
            <a:off x="5263714"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Grenier</a:t>
            </a:r>
          </a:p>
        </p:txBody>
      </p:sp>
      <p:sp>
        <p:nvSpPr>
          <p:cNvPr id="40" name="Nav Flotte automobile"/>
          <p:cNvSpPr/>
          <p:nvPr/>
        </p:nvSpPr>
        <p:spPr>
          <a:xfrm>
            <a:off x="6057000" y="1591200"/>
            <a:ext cx="739285" cy="1800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FFC000"/>
                </a:solidFill>
                <a:latin typeface="Helvetica"/>
              </a:rPr>
              <a:t>● </a:t>
            </a:r>
            <a:r>
              <a:rPr sz="750" b="1">
                <a:solidFill>
                  <a:srgbClr val="FFFFFF"/>
                </a:solidFill>
                <a:latin typeface="Helvetica"/>
              </a:rPr>
              <a:t>Flotte auto</a:t>
            </a:r>
          </a:p>
        </p:txBody>
      </p:sp>
      <p:sp>
        <p:nvSpPr>
          <p:cNvPr id="41" name="Nav Clinique (CMP)"/>
          <p:cNvSpPr/>
          <p:nvPr/>
        </p:nvSpPr>
        <p:spPr>
          <a:xfrm>
            <a:off x="6850285" y="1591200"/>
            <a:ext cx="739285" cy="1800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1">
                <a:solidFill>
                  <a:srgbClr val="FFFFFF"/>
                </a:solidFill>
                <a:latin typeface="Helvetica"/>
              </a:rPr>
              <a:t>Clinique</a:t>
            </a:r>
          </a:p>
        </p:txBody>
      </p:sp>
      <p:sp>
        <p:nvSpPr>
          <p:cNvPr id="42" name="Nav Cotisations et précomptes">
            <a:hlinkClick action="ppaction://hlinksldjump" r:id="rId13"/>
          </p:cNvPr>
          <p:cNvSpPr/>
          <p:nvPr/>
        </p:nvSpPr>
        <p:spPr>
          <a:xfrm>
            <a:off x="7823571"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Cotisations</a:t>
            </a:r>
          </a:p>
        </p:txBody>
      </p:sp>
      <p:sp>
        <p:nvSpPr>
          <p:cNvPr id="43" name="Nav Comptabilité et provisions">
            <a:hlinkClick action="ppaction://hlinksldjump" r:id="rId14"/>
          </p:cNvPr>
          <p:cNvSpPr/>
          <p:nvPr/>
        </p:nvSpPr>
        <p:spPr>
          <a:xfrm>
            <a:off x="8616857"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Comptabilité</a:t>
            </a:r>
          </a:p>
        </p:txBody>
      </p:sp>
      <p:sp>
        <p:nvSpPr>
          <p:cNvPr id="44" name="Nav Trésorerie et placements">
            <a:hlinkClick action="ppaction://hlinksldjump" r:id="rId15"/>
          </p:cNvPr>
          <p:cNvSpPr/>
          <p:nvPr/>
        </p:nvSpPr>
        <p:spPr>
          <a:xfrm>
            <a:off x="9410142"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Trésorerie</a:t>
            </a:r>
          </a:p>
        </p:txBody>
      </p:sp>
      <p:sp>
        <p:nvSpPr>
          <p:cNvPr id="45" name="Nav Gouvernance">
            <a:hlinkClick action="ppaction://hlinksldjump" r:id="rId16"/>
          </p:cNvPr>
          <p:cNvSpPr/>
          <p:nvPr/>
        </p:nvSpPr>
        <p:spPr>
          <a:xfrm>
            <a:off x="10203428"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Gouvernance</a:t>
            </a:r>
          </a:p>
        </p:txBody>
      </p:sp>
      <p:sp>
        <p:nvSpPr>
          <p:cNvPr id="46" name="Nav Données et informatique">
            <a:hlinkClick action="ppaction://hlinksldjump" r:id="rId17"/>
          </p:cNvPr>
          <p:cNvSpPr/>
          <p:nvPr/>
        </p:nvSpPr>
        <p:spPr>
          <a:xfrm>
            <a:off x="10996714"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Données</a:t>
            </a:r>
          </a:p>
        </p:txBody>
      </p:sp>
      <p:sp>
        <p:nvSpPr>
          <p:cNvPr id="47" name="Bloc Flotte automobile"/>
          <p:cNvSpPr/>
          <p:nvPr/>
        </p:nvSpPr>
        <p:spPr>
          <a:xfrm>
            <a:off x="503999" y="1835999"/>
            <a:ext cx="11232000" cy="2232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00" b="1">
                <a:solidFill>
                  <a:srgbClr val="FFC000"/>
                </a:solidFill>
                <a:latin typeface="Helvetica"/>
              </a:rPr>
              <a:t>● </a:t>
            </a:r>
            <a:r>
              <a:rPr sz="1000" b="0">
                <a:solidFill>
                  <a:srgbClr val="BBBCBC"/>
                </a:solidFill>
                <a:latin typeface="Helvetica"/>
              </a:rPr>
              <a:t>PRODUITS  ›  </a:t>
            </a:r>
            <a:r>
              <a:rPr sz="1200" b="1">
                <a:solidFill>
                  <a:srgbClr val="FFFFFF"/>
                </a:solidFill>
                <a:latin typeface="Helvetica"/>
              </a:rPr>
              <a:t>FLOTTE AUTOMOBILE</a:t>
            </a:r>
            <a:r>
              <a:rPr sz="950" b="0">
                <a:solidFill>
                  <a:srgbClr val="FFFFFF"/>
                </a:solidFill>
                <a:latin typeface="Helvetica"/>
              </a:rPr>
              <a:t>     3 constats</a:t>
            </a:r>
          </a:p>
        </p:txBody>
      </p:sp>
      <p:sp>
        <p:nvSpPr>
          <p:cNvPr id="48" name="Nav Carte">
            <a:hlinkClick action="ppaction://hlinksldjump" r:id="rId18"/>
          </p:cNvPr>
          <p:cNvSpPr/>
          <p:nvPr/>
        </p:nvSpPr>
        <p:spPr>
          <a:xfrm>
            <a:off x="10007999" y="1871999"/>
            <a:ext cx="1655999" cy="151200"/>
          </a:xfrm>
          <a:prstGeom prst="rect">
            <a:avLst/>
          </a:prstGeom>
          <a:solidFill>
            <a:srgbClr val="53565A"/>
          </a:solidFill>
          <a:ln w="952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50" b="1">
                <a:solidFill>
                  <a:srgbClr val="FFFFFF"/>
                </a:solidFill>
                <a:latin typeface="Helvetica"/>
              </a:rPr>
              <a:t>↩ Carte des activités</a:t>
            </a:r>
          </a:p>
        </p:txBody>
      </p:sp>
      <p:sp>
        <p:nvSpPr>
          <p:cNvPr id="49" name="Rectangle 48"/>
          <p:cNvSpPr/>
          <p:nvPr/>
        </p:nvSpPr>
        <p:spPr>
          <a:xfrm>
            <a:off x="503999" y="2088000"/>
            <a:ext cx="597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Constat et commentaire</a:t>
            </a:r>
          </a:p>
        </p:txBody>
      </p:sp>
      <p:sp>
        <p:nvSpPr>
          <p:cNvPr id="50" name="Rectangle 49"/>
          <p:cNvSpPr/>
          <p:nvPr/>
        </p:nvSpPr>
        <p:spPr>
          <a:xfrm>
            <a:off x="6480000" y="2088000"/>
            <a:ext cx="3384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Recommandation</a:t>
            </a:r>
          </a:p>
        </p:txBody>
      </p:sp>
      <p:sp>
        <p:nvSpPr>
          <p:cNvPr id="51" name="Rectangle 50"/>
          <p:cNvSpPr/>
          <p:nvPr/>
        </p:nvSpPr>
        <p:spPr>
          <a:xfrm>
            <a:off x="9864000" y="2088000"/>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Complexité</a:t>
            </a:r>
          </a:p>
        </p:txBody>
      </p:sp>
      <p:sp>
        <p:nvSpPr>
          <p:cNvPr id="52" name="Rectangle 51"/>
          <p:cNvSpPr/>
          <p:nvPr/>
        </p:nvSpPr>
        <p:spPr>
          <a:xfrm>
            <a:off x="10800000" y="2088000"/>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Priorité</a:t>
            </a:r>
          </a:p>
        </p:txBody>
      </p:sp>
      <p:sp>
        <p:nvSpPr>
          <p:cNvPr id="53" name="Rectangle 52"/>
          <p:cNvSpPr/>
          <p:nvPr/>
        </p:nvSpPr>
        <p:spPr>
          <a:xfrm>
            <a:off x="503999" y="2286000"/>
            <a:ext cx="5976000" cy="5641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00" b="1">
                <a:solidFill>
                  <a:srgbClr val="FFC000"/>
                </a:solidFill>
                <a:latin typeface="Helvetica"/>
              </a:rPr>
              <a:t>● </a:t>
            </a:r>
            <a:r>
              <a:rPr sz="1000" b="1">
                <a:solidFill>
                  <a:srgbClr val="112A40"/>
                </a:solidFill>
                <a:latin typeface="Helvetica"/>
              </a:rPr>
              <a:t>18.a   </a:t>
            </a:r>
            <a:r>
              <a:rPr sz="1000" b="1">
                <a:solidFill>
                  <a:srgbClr val="060606"/>
                </a:solidFill>
                <a:latin typeface="Helvetica"/>
              </a:rPr>
              <a:t>Les trop-perçus ne sont pas suivis comme une dette. </a:t>
            </a:r>
            <a:r>
              <a:rPr sz="1000" b="0">
                <a:solidFill>
                  <a:srgbClr val="060606"/>
                </a:solidFill>
                <a:latin typeface="Helvetica"/>
              </a:rPr>
              <a:t>Le risque est porté par GNA : pas de provision au FPPN. Mais le compte 47111106 n'est pas justifié de 2023 à 2026.</a:t>
            </a:r>
          </a:p>
        </p:txBody>
      </p:sp>
      <p:sp>
        <p:nvSpPr>
          <p:cNvPr id="54" name="Rectangle 53"/>
          <p:cNvSpPr/>
          <p:nvPr/>
        </p:nvSpPr>
        <p:spPr>
          <a:xfrm>
            <a:off x="6480000" y="2286000"/>
            <a:ext cx="3384000" cy="5641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00" b="1">
                <a:solidFill>
                  <a:srgbClr val="EFAC62"/>
                </a:solidFill>
                <a:latin typeface="Helvetica"/>
              </a:rPr>
              <a:t>→ </a:t>
            </a:r>
            <a:r>
              <a:rPr sz="1000" b="0">
                <a:solidFill>
                  <a:srgbClr val="060606"/>
                </a:solidFill>
                <a:latin typeface="Helvetica"/>
              </a:rPr>
              <a:t>Justifier les mouvements et traiter les trop-perçus comme une dette envers les adhérents.</a:t>
            </a:r>
          </a:p>
        </p:txBody>
      </p:sp>
      <p:sp>
        <p:nvSpPr>
          <p:cNvPr id="55" name="Rectangle 54"/>
          <p:cNvSpPr/>
          <p:nvPr/>
        </p:nvSpPr>
        <p:spPr>
          <a:xfrm>
            <a:off x="9864000" y="2286000"/>
            <a:ext cx="936000" cy="5641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56" name="Rectangle 55"/>
          <p:cNvSpPr/>
          <p:nvPr/>
        </p:nvSpPr>
        <p:spPr>
          <a:xfrm>
            <a:off x="10800000" y="2286000"/>
            <a:ext cx="936000" cy="5641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57" name="Rounded Rectangle 56"/>
          <p:cNvSpPr/>
          <p:nvPr/>
        </p:nvSpPr>
        <p:spPr>
          <a:xfrm>
            <a:off x="9936000" y="2460096"/>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58" name="Rounded Rectangle 57"/>
          <p:cNvSpPr/>
          <p:nvPr/>
        </p:nvSpPr>
        <p:spPr>
          <a:xfrm>
            <a:off x="10962000" y="2460096"/>
            <a:ext cx="612000" cy="216000"/>
          </a:xfrm>
          <a:prstGeom prst="round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P3</a:t>
            </a:r>
          </a:p>
        </p:txBody>
      </p:sp>
      <p:sp>
        <p:nvSpPr>
          <p:cNvPr id="59" name="Rectangle 58"/>
          <p:cNvSpPr/>
          <p:nvPr/>
        </p:nvSpPr>
        <p:spPr>
          <a:xfrm>
            <a:off x="503999" y="2850191"/>
            <a:ext cx="5976000" cy="564192"/>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00" b="1">
                <a:solidFill>
                  <a:srgbClr val="FFC000"/>
                </a:solidFill>
                <a:latin typeface="Helvetica"/>
              </a:rPr>
              <a:t>● </a:t>
            </a:r>
            <a:r>
              <a:rPr sz="1000" b="1">
                <a:solidFill>
                  <a:srgbClr val="112A40"/>
                </a:solidFill>
                <a:latin typeface="Helvetica"/>
              </a:rPr>
              <a:t>26.g   </a:t>
            </a:r>
            <a:r>
              <a:rPr sz="1000" b="1">
                <a:solidFill>
                  <a:srgbClr val="060606"/>
                </a:solidFill>
                <a:latin typeface="Helvetica"/>
              </a:rPr>
              <a:t>La convention avec GNA manque. </a:t>
            </a:r>
            <a:r>
              <a:rPr sz="1000" b="0">
                <a:solidFill>
                  <a:srgbClr val="060606"/>
                </a:solidFill>
                <a:latin typeface="Helvetica"/>
              </a:rPr>
              <a:t>Convention d'apporteur d'affaires et décomptes non transmis : l'assiette de la commission de 20 % n'est pas vérifiable.</a:t>
            </a:r>
          </a:p>
        </p:txBody>
      </p:sp>
      <p:sp>
        <p:nvSpPr>
          <p:cNvPr id="60" name="Rectangle 59"/>
          <p:cNvSpPr/>
          <p:nvPr/>
        </p:nvSpPr>
        <p:spPr>
          <a:xfrm>
            <a:off x="6480000" y="2850191"/>
            <a:ext cx="3384000" cy="564192"/>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00" b="1">
                <a:solidFill>
                  <a:srgbClr val="EFAC62"/>
                </a:solidFill>
                <a:latin typeface="Helvetica"/>
              </a:rPr>
              <a:t>→ </a:t>
            </a:r>
            <a:r>
              <a:rPr sz="1000" b="0">
                <a:solidFill>
                  <a:srgbClr val="060606"/>
                </a:solidFill>
                <a:latin typeface="Helvetica"/>
              </a:rPr>
              <a:t>Transmettre la convention et rapprocher chaque année la commission des primes.</a:t>
            </a:r>
          </a:p>
        </p:txBody>
      </p:sp>
      <p:sp>
        <p:nvSpPr>
          <p:cNvPr id="61" name="Rectangle 60"/>
          <p:cNvSpPr/>
          <p:nvPr/>
        </p:nvSpPr>
        <p:spPr>
          <a:xfrm>
            <a:off x="9864000" y="2850191"/>
            <a:ext cx="936000" cy="564192"/>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2" name="Rectangle 61"/>
          <p:cNvSpPr/>
          <p:nvPr/>
        </p:nvSpPr>
        <p:spPr>
          <a:xfrm>
            <a:off x="10800000" y="2850191"/>
            <a:ext cx="936000" cy="564192"/>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3" name="Rounded Rectangle 62"/>
          <p:cNvSpPr/>
          <p:nvPr/>
        </p:nvSpPr>
        <p:spPr>
          <a:xfrm>
            <a:off x="9936000" y="3024287"/>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64" name="Rounded Rectangle 63"/>
          <p:cNvSpPr/>
          <p:nvPr/>
        </p:nvSpPr>
        <p:spPr>
          <a:xfrm>
            <a:off x="10962000" y="3024287"/>
            <a:ext cx="612000" cy="216000"/>
          </a:xfrm>
          <a:prstGeom prst="round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P3</a:t>
            </a:r>
          </a:p>
        </p:txBody>
      </p:sp>
      <p:sp>
        <p:nvSpPr>
          <p:cNvPr id="65" name="Rectangle 64"/>
          <p:cNvSpPr/>
          <p:nvPr/>
        </p:nvSpPr>
        <p:spPr>
          <a:xfrm>
            <a:off x="503999" y="3414383"/>
            <a:ext cx="597600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00" b="1">
                <a:solidFill>
                  <a:srgbClr val="70AD47"/>
                </a:solidFill>
                <a:latin typeface="Helvetica"/>
              </a:rPr>
              <a:t>● </a:t>
            </a:r>
            <a:r>
              <a:rPr sz="1000" b="1">
                <a:solidFill>
                  <a:srgbClr val="112A40"/>
                </a:solidFill>
                <a:latin typeface="Helvetica"/>
              </a:rPr>
              <a:t>27.e   </a:t>
            </a:r>
            <a:r>
              <a:rPr sz="1000" b="1">
                <a:solidFill>
                  <a:srgbClr val="060606"/>
                </a:solidFill>
                <a:latin typeface="Helvetica"/>
              </a:rPr>
              <a:t>Un fichier retour manque. </a:t>
            </a:r>
            <a:r>
              <a:rPr sz="1000" b="0">
                <a:solidFill>
                  <a:srgbClr val="060606"/>
                </a:solidFill>
                <a:latin typeface="Helvetica"/>
              </a:rPr>
              <a:t>Janvier 2026.</a:t>
            </a:r>
          </a:p>
        </p:txBody>
      </p:sp>
      <p:sp>
        <p:nvSpPr>
          <p:cNvPr id="66" name="Rectangle 65"/>
          <p:cNvSpPr/>
          <p:nvPr/>
        </p:nvSpPr>
        <p:spPr>
          <a:xfrm>
            <a:off x="6480000" y="3414383"/>
            <a:ext cx="338400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00" b="1">
                <a:solidFill>
                  <a:srgbClr val="EFAC62"/>
                </a:solidFill>
                <a:latin typeface="Helvetica"/>
              </a:rPr>
              <a:t>→ </a:t>
            </a:r>
            <a:r>
              <a:rPr sz="1000" b="0">
                <a:solidFill>
                  <a:srgbClr val="060606"/>
                </a:solidFill>
                <a:latin typeface="Helvetica"/>
              </a:rPr>
              <a:t>Transmettre le fichier.</a:t>
            </a:r>
          </a:p>
        </p:txBody>
      </p:sp>
      <p:sp>
        <p:nvSpPr>
          <p:cNvPr id="67" name="Rectangle 66"/>
          <p:cNvSpPr/>
          <p:nvPr/>
        </p:nvSpPr>
        <p:spPr>
          <a:xfrm>
            <a:off x="9864000" y="3414383"/>
            <a:ext cx="93600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8" name="Rectangle 67"/>
          <p:cNvSpPr/>
          <p:nvPr/>
        </p:nvSpPr>
        <p:spPr>
          <a:xfrm>
            <a:off x="10800000" y="3414383"/>
            <a:ext cx="93600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9" name="Rounded Rectangle 68"/>
          <p:cNvSpPr/>
          <p:nvPr/>
        </p:nvSpPr>
        <p:spPr>
          <a:xfrm>
            <a:off x="9936000" y="3534984"/>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70" name="Rounded Rectangle 69"/>
          <p:cNvSpPr/>
          <p:nvPr/>
        </p:nvSpPr>
        <p:spPr>
          <a:xfrm>
            <a:off x="10962000" y="3534984"/>
            <a:ext cx="612000" cy="216000"/>
          </a:xfrm>
          <a:prstGeom prst="round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P3</a:t>
            </a:r>
          </a:p>
        </p:txBody>
      </p:sp>
      <p:sp>
        <p:nvSpPr>
          <p:cNvPr id="71" name="Bloc Clinique (CMP)"/>
          <p:cNvSpPr/>
          <p:nvPr/>
        </p:nvSpPr>
        <p:spPr>
          <a:xfrm>
            <a:off x="503999" y="3900383"/>
            <a:ext cx="11232000" cy="2232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00" b="1">
                <a:solidFill>
                  <a:srgbClr val="ED7D31"/>
                </a:solidFill>
                <a:latin typeface="Helvetica"/>
              </a:rPr>
              <a:t>● </a:t>
            </a:r>
            <a:r>
              <a:rPr sz="1000" b="0">
                <a:solidFill>
                  <a:srgbClr val="BBBCBC"/>
                </a:solidFill>
                <a:latin typeface="Helvetica"/>
              </a:rPr>
              <a:t>PRODUITS  ›  </a:t>
            </a:r>
            <a:r>
              <a:rPr sz="1200" b="1">
                <a:solidFill>
                  <a:srgbClr val="FFFFFF"/>
                </a:solidFill>
                <a:latin typeface="Helvetica"/>
              </a:rPr>
              <a:t>CLINIQUE (CMP)</a:t>
            </a:r>
            <a:r>
              <a:rPr sz="950" b="0">
                <a:solidFill>
                  <a:srgbClr val="FFFFFF"/>
                </a:solidFill>
                <a:latin typeface="Helvetica"/>
              </a:rPr>
              <a:t>     2 constats</a:t>
            </a:r>
          </a:p>
        </p:txBody>
      </p:sp>
      <p:sp>
        <p:nvSpPr>
          <p:cNvPr id="72" name="Nav Carte">
            <a:hlinkClick action="ppaction://hlinksldjump" r:id="rId18"/>
          </p:cNvPr>
          <p:cNvSpPr/>
          <p:nvPr/>
        </p:nvSpPr>
        <p:spPr>
          <a:xfrm>
            <a:off x="10007999" y="3936383"/>
            <a:ext cx="1655999" cy="151200"/>
          </a:xfrm>
          <a:prstGeom prst="rect">
            <a:avLst/>
          </a:prstGeom>
          <a:solidFill>
            <a:srgbClr val="53565A"/>
          </a:solidFill>
          <a:ln w="952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50" b="1">
                <a:solidFill>
                  <a:srgbClr val="FFFFFF"/>
                </a:solidFill>
                <a:latin typeface="Helvetica"/>
              </a:rPr>
              <a:t>↩ Carte des activités</a:t>
            </a:r>
          </a:p>
        </p:txBody>
      </p:sp>
      <p:sp>
        <p:nvSpPr>
          <p:cNvPr id="73" name="Rectangle 72"/>
          <p:cNvSpPr/>
          <p:nvPr/>
        </p:nvSpPr>
        <p:spPr>
          <a:xfrm>
            <a:off x="503999" y="4152383"/>
            <a:ext cx="597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Constat et commentaire</a:t>
            </a:r>
          </a:p>
        </p:txBody>
      </p:sp>
      <p:sp>
        <p:nvSpPr>
          <p:cNvPr id="74" name="Rectangle 73"/>
          <p:cNvSpPr/>
          <p:nvPr/>
        </p:nvSpPr>
        <p:spPr>
          <a:xfrm>
            <a:off x="6480000" y="4152383"/>
            <a:ext cx="3384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Recommandation</a:t>
            </a:r>
          </a:p>
        </p:txBody>
      </p:sp>
      <p:sp>
        <p:nvSpPr>
          <p:cNvPr id="75" name="Rectangle 74"/>
          <p:cNvSpPr/>
          <p:nvPr/>
        </p:nvSpPr>
        <p:spPr>
          <a:xfrm>
            <a:off x="9864000" y="4152383"/>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Complexité</a:t>
            </a:r>
          </a:p>
        </p:txBody>
      </p:sp>
      <p:sp>
        <p:nvSpPr>
          <p:cNvPr id="76" name="Rectangle 75"/>
          <p:cNvSpPr/>
          <p:nvPr/>
        </p:nvSpPr>
        <p:spPr>
          <a:xfrm>
            <a:off x="10800000" y="4152383"/>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Priorité</a:t>
            </a:r>
          </a:p>
        </p:txBody>
      </p:sp>
      <p:sp>
        <p:nvSpPr>
          <p:cNvPr id="77" name="Rectangle 76"/>
          <p:cNvSpPr/>
          <p:nvPr/>
        </p:nvSpPr>
        <p:spPr>
          <a:xfrm>
            <a:off x="503999" y="4350383"/>
            <a:ext cx="5976000" cy="5641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00" b="1">
                <a:solidFill>
                  <a:srgbClr val="ED7D31"/>
                </a:solidFill>
                <a:latin typeface="Helvetica"/>
              </a:rPr>
              <a:t>● </a:t>
            </a:r>
            <a:r>
              <a:rPr sz="1000" b="1">
                <a:solidFill>
                  <a:srgbClr val="112A40"/>
                </a:solidFill>
                <a:latin typeface="Helvetica"/>
              </a:rPr>
              <a:t>17   </a:t>
            </a:r>
            <a:r>
              <a:rPr sz="1000" b="1">
                <a:solidFill>
                  <a:srgbClr val="060606"/>
                </a:solidFill>
                <a:latin typeface="Helvetica"/>
              </a:rPr>
              <a:t>La clinique n'a pas de comptabilité séparée. </a:t>
            </a:r>
            <a:r>
              <a:rPr sz="1000" b="0">
                <a:solidFill>
                  <a:srgbClr val="060606"/>
                </a:solidFill>
                <a:latin typeface="Helvetica"/>
              </a:rPr>
              <a:t>7 083 534 565 FCFA au bilan, dont 1 280 300 860 FCFA de charges de fonctionnement. On ne sait pas si elle gagne ou perd de l'argent.</a:t>
            </a:r>
          </a:p>
        </p:txBody>
      </p:sp>
      <p:sp>
        <p:nvSpPr>
          <p:cNvPr id="78" name="Rectangle 77"/>
          <p:cNvSpPr/>
          <p:nvPr/>
        </p:nvSpPr>
        <p:spPr>
          <a:xfrm>
            <a:off x="6480000" y="4350383"/>
            <a:ext cx="3384000" cy="5641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00" b="1">
                <a:solidFill>
                  <a:srgbClr val="EFAC62"/>
                </a:solidFill>
                <a:latin typeface="Helvetica"/>
              </a:rPr>
              <a:t>→ </a:t>
            </a:r>
            <a:r>
              <a:rPr sz="1000" b="0">
                <a:solidFill>
                  <a:srgbClr val="060606"/>
                </a:solidFill>
                <a:latin typeface="Helvetica"/>
              </a:rPr>
              <a:t>Tenir une comptabilité séparée et présenter son résultat chaque année.</a:t>
            </a:r>
          </a:p>
        </p:txBody>
      </p:sp>
      <p:sp>
        <p:nvSpPr>
          <p:cNvPr id="79" name="Rectangle 78"/>
          <p:cNvSpPr/>
          <p:nvPr/>
        </p:nvSpPr>
        <p:spPr>
          <a:xfrm>
            <a:off x="9864000" y="4350383"/>
            <a:ext cx="936000" cy="5641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0" name="Rectangle 79"/>
          <p:cNvSpPr/>
          <p:nvPr/>
        </p:nvSpPr>
        <p:spPr>
          <a:xfrm>
            <a:off x="10800000" y="4350383"/>
            <a:ext cx="936000" cy="56419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1" name="Rounded Rectangle 80"/>
          <p:cNvSpPr/>
          <p:nvPr/>
        </p:nvSpPr>
        <p:spPr>
          <a:xfrm>
            <a:off x="9936000" y="4524479"/>
            <a:ext cx="792000" cy="216000"/>
          </a:xfrm>
          <a:prstGeom prst="round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Moyenne</a:t>
            </a:r>
          </a:p>
        </p:txBody>
      </p:sp>
      <p:sp>
        <p:nvSpPr>
          <p:cNvPr id="82" name="Rounded Rectangle 81"/>
          <p:cNvSpPr/>
          <p:nvPr/>
        </p:nvSpPr>
        <p:spPr>
          <a:xfrm>
            <a:off x="10962000" y="4524479"/>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83" name="Rectangle 82"/>
          <p:cNvSpPr/>
          <p:nvPr/>
        </p:nvSpPr>
        <p:spPr>
          <a:xfrm>
            <a:off x="503999" y="4914575"/>
            <a:ext cx="5976000" cy="564192"/>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00" b="1">
                <a:solidFill>
                  <a:srgbClr val="ED7D31"/>
                </a:solidFill>
                <a:latin typeface="Helvetica"/>
              </a:rPr>
              <a:t>● </a:t>
            </a:r>
            <a:r>
              <a:rPr sz="1000" b="1">
                <a:solidFill>
                  <a:srgbClr val="112A40"/>
                </a:solidFill>
                <a:latin typeface="Helvetica"/>
              </a:rPr>
              <a:t>12.a   </a:t>
            </a:r>
            <a:r>
              <a:rPr sz="1000" b="1">
                <a:solidFill>
                  <a:srgbClr val="060606"/>
                </a:solidFill>
                <a:latin typeface="Helvetica"/>
              </a:rPr>
              <a:t>Sa valeur n'est pas établie. </a:t>
            </a:r>
            <a:r>
              <a:rPr sz="1000" b="0">
                <a:solidFill>
                  <a:srgbClr val="060606"/>
                </a:solidFill>
                <a:latin typeface="Helvetica"/>
              </a:rPr>
              <a:t>Aucune expertise. Elle est financée en grande partie par l'épargne.</a:t>
            </a:r>
          </a:p>
        </p:txBody>
      </p:sp>
      <p:sp>
        <p:nvSpPr>
          <p:cNvPr id="84" name="Rectangle 83"/>
          <p:cNvSpPr/>
          <p:nvPr/>
        </p:nvSpPr>
        <p:spPr>
          <a:xfrm>
            <a:off x="6480000" y="4914575"/>
            <a:ext cx="3384000" cy="564192"/>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00" b="1">
                <a:solidFill>
                  <a:srgbClr val="EFAC62"/>
                </a:solidFill>
                <a:latin typeface="Helvetica"/>
              </a:rPr>
              <a:t>→ </a:t>
            </a:r>
            <a:r>
              <a:rPr sz="1000" b="0">
                <a:solidFill>
                  <a:srgbClr val="060606"/>
                </a:solidFill>
                <a:latin typeface="Helvetica"/>
              </a:rPr>
              <a:t>Faire évaluer la clinique par un expert.</a:t>
            </a:r>
          </a:p>
        </p:txBody>
      </p:sp>
      <p:sp>
        <p:nvSpPr>
          <p:cNvPr id="85" name="Rectangle 84"/>
          <p:cNvSpPr/>
          <p:nvPr/>
        </p:nvSpPr>
        <p:spPr>
          <a:xfrm>
            <a:off x="9864000" y="4914575"/>
            <a:ext cx="936000" cy="564192"/>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6" name="Rectangle 85"/>
          <p:cNvSpPr/>
          <p:nvPr/>
        </p:nvSpPr>
        <p:spPr>
          <a:xfrm>
            <a:off x="10800000" y="4914575"/>
            <a:ext cx="936000" cy="564192"/>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7" name="Rounded Rectangle 86"/>
          <p:cNvSpPr/>
          <p:nvPr/>
        </p:nvSpPr>
        <p:spPr>
          <a:xfrm>
            <a:off x="9936000" y="5088671"/>
            <a:ext cx="792000" cy="216000"/>
          </a:xfrm>
          <a:prstGeom prst="roundRect">
            <a:avLst/>
          </a:prstGeom>
          <a:solidFill>
            <a:srgbClr val="F4CC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Élevée</a:t>
            </a:r>
          </a:p>
        </p:txBody>
      </p:sp>
      <p:sp>
        <p:nvSpPr>
          <p:cNvPr id="88" name="Rounded Rectangle 87"/>
          <p:cNvSpPr/>
          <p:nvPr/>
        </p:nvSpPr>
        <p:spPr>
          <a:xfrm>
            <a:off x="10962000" y="5088671"/>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89" name="TextBox 88"/>
          <p:cNvSpPr txBox="1"/>
          <p:nvPr/>
        </p:nvSpPr>
        <p:spPr>
          <a:xfrm>
            <a:off x="503999" y="5716800"/>
            <a:ext cx="11232000" cy="151200"/>
          </a:xfrm>
          <a:prstGeom prst="rect">
            <a:avLst/>
          </a:prstGeom>
          <a:noFill/>
        </p:spPr>
        <p:txBody>
          <a:bodyPr wrap="square">
            <a:spAutoFit/>
          </a:bodyPr>
          <a:lstStyle/>
          <a:p>
            <a:r>
              <a:rPr sz="750" b="1">
                <a:solidFill>
                  <a:srgbClr val="060606"/>
                </a:solidFill>
                <a:latin typeface="Helvetica"/>
              </a:rPr>
              <a:t>Criticité : </a:t>
            </a:r>
            <a:r>
              <a:rPr sz="850" b="1">
                <a:solidFill>
                  <a:srgbClr val="C00000"/>
                </a:solidFill>
                <a:latin typeface="Helvetica"/>
              </a:rPr>
              <a:t>● </a:t>
            </a:r>
            <a:r>
              <a:rPr sz="750" b="0">
                <a:solidFill>
                  <a:srgbClr val="060606"/>
                </a:solidFill>
                <a:latin typeface="Helvetica"/>
              </a:rPr>
              <a:t>Critique   </a:t>
            </a:r>
            <a:r>
              <a:rPr sz="850" b="1">
                <a:solidFill>
                  <a:srgbClr val="ED7D31"/>
                </a:solidFill>
                <a:latin typeface="Helvetica"/>
              </a:rPr>
              <a:t>● </a:t>
            </a:r>
            <a:r>
              <a:rPr sz="750" b="0">
                <a:solidFill>
                  <a:srgbClr val="060606"/>
                </a:solidFill>
                <a:latin typeface="Helvetica"/>
              </a:rPr>
              <a:t>Élevé   </a:t>
            </a:r>
            <a:r>
              <a:rPr sz="850" b="1">
                <a:solidFill>
                  <a:srgbClr val="FFC000"/>
                </a:solidFill>
                <a:latin typeface="Helvetica"/>
              </a:rPr>
              <a:t>● </a:t>
            </a:r>
            <a:r>
              <a:rPr sz="750" b="0">
                <a:solidFill>
                  <a:srgbClr val="060606"/>
                </a:solidFill>
                <a:latin typeface="Helvetica"/>
              </a:rPr>
              <a:t>Moyen   </a:t>
            </a:r>
            <a:r>
              <a:rPr sz="850" b="1">
                <a:solidFill>
                  <a:srgbClr val="70AD47"/>
                </a:solidFill>
                <a:latin typeface="Helvetica"/>
              </a:rPr>
              <a:t>● </a:t>
            </a:r>
            <a:r>
              <a:rPr sz="750" b="0">
                <a:solidFill>
                  <a:srgbClr val="060606"/>
                </a:solidFill>
                <a:latin typeface="Helvetica"/>
              </a:rPr>
              <a:t>Faible   </a:t>
            </a:r>
            <a:r>
              <a:rPr sz="750" b="0">
                <a:solidFill>
                  <a:srgbClr val="060606"/>
                </a:solidFill>
                <a:latin typeface="Helvetica"/>
              </a:rPr>
              <a:t>Priorité : P1 dans les 3 mois, P2 dans les 6 mois, P3 de 6 à 18 mois, P4 au-delà.   Complexité : Faible (une décision suffit), Moyenne (travail interne), Élevée (tiers ou financement).   Numéros : ceux du résumé exécutif.</a:t>
            </a:r>
          </a:p>
        </p:txBody>
      </p:sp>
      <p:sp>
        <p:nvSpPr>
          <p:cNvPr id="90" name="TextBox 89"/>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 | CMP : Clinique médicale du policier | GNA : assureur de la flotte automobile (compte 47111106) | MEDOC : produit santé complémentaire du poste 8Z7</a:t>
            </a:r>
          </a:p>
        </p:txBody>
      </p:sp>
    </p:spTree>
    <p:extLst>
      <p:ext uri="{BB962C8B-B14F-4D97-AF65-F5344CB8AC3E}">
        <p14:creationId xmlns:p14="http://schemas.microsoft.com/office/powerpoint/2010/main" val="1622737540"/>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square" lIns="0" tIns="0" rIns="0" bIns="0">
            <a:spAutoFit/>
          </a:bodyPr>
          <a:lstStyle/>
          <a:p>
            <a:pPr lvl="0">
              <a:lnSpc>
                <a:spcPct val="110000"/>
              </a:lnSpc>
            </a:pPr>
            <a:r>
              <a:rPr lang="fr-CI" sz="60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3</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Fonctions transverses</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Chaque constat se lit sur une ligne : son commentaire, sa recommandation, sa complexité et sa priorité</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3520798674"/>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Cotisations et précomptes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total prélevé est juste, mais les fichiers ne sont pas rapprochés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Constat le plus grave : 27, les fichiers ne sont pas rapprochés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rapport actuariel et statistique du 23/10/2026. Logigrammes du FPPN (« FLOW_CHART_COTISATION_ET_PRODUITS_DEPARGNE_1.pptx »). Résumé exécutif du 26/10/2026</a:t>
            </a:r>
          </a:p>
        </p:txBody>
      </p:sp>
      <p:sp>
        <p:nvSpPr>
          <p:cNvPr id="31" name="Rectangle 30"/>
          <p:cNvSpPr/>
          <p:nvPr/>
        </p:nvSpPr>
        <p:spPr>
          <a:xfrm>
            <a:off x="503999" y="1411200"/>
            <a:ext cx="7085571" cy="1512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00" b="1">
                <a:solidFill>
                  <a:srgbClr val="FFFFFF"/>
                </a:solidFill>
                <a:latin typeface="Helvetica"/>
              </a:rPr>
              <a:t>PRODUITS</a:t>
            </a:r>
          </a:p>
        </p:txBody>
      </p:sp>
      <p:sp>
        <p:nvSpPr>
          <p:cNvPr id="32" name="Rectangle 31"/>
          <p:cNvSpPr/>
          <p:nvPr/>
        </p:nvSpPr>
        <p:spPr>
          <a:xfrm>
            <a:off x="7823571" y="1411200"/>
            <a:ext cx="3912428" cy="1512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00" b="1">
                <a:solidFill>
                  <a:srgbClr val="FFFFFF"/>
                </a:solidFill>
                <a:latin typeface="Helvetica"/>
              </a:rPr>
              <a:t>FONCTIONS TRANSVERSES</a:t>
            </a:r>
          </a:p>
        </p:txBody>
      </p:sp>
      <p:sp>
        <p:nvSpPr>
          <p:cNvPr id="33" name="Nav Maladie">
            <a:hlinkClick action="ppaction://hlinksldjump" r:id="rId7"/>
          </p:cNvPr>
          <p:cNvSpPr/>
          <p:nvPr/>
        </p:nvSpPr>
        <p:spPr>
          <a:xfrm>
            <a:off x="503999"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Maladie</a:t>
            </a:r>
          </a:p>
        </p:txBody>
      </p:sp>
      <p:sp>
        <p:nvSpPr>
          <p:cNvPr id="34" name="Nav Décès">
            <a:hlinkClick action="ppaction://hlinksldjump" r:id="rId8"/>
          </p:cNvPr>
          <p:cNvSpPr/>
          <p:nvPr/>
        </p:nvSpPr>
        <p:spPr>
          <a:xfrm>
            <a:off x="1297285"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Décès</a:t>
            </a:r>
          </a:p>
        </p:txBody>
      </p:sp>
      <p:sp>
        <p:nvSpPr>
          <p:cNvPr id="35" name="Nav Retraités (CGRAE)">
            <a:hlinkClick action="ppaction://hlinksldjump" r:id="rId9"/>
          </p:cNvPr>
          <p:cNvSpPr/>
          <p:nvPr/>
        </p:nvSpPr>
        <p:spPr>
          <a:xfrm>
            <a:off x="2090571"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Retraités</a:t>
            </a:r>
          </a:p>
        </p:txBody>
      </p:sp>
      <p:sp>
        <p:nvSpPr>
          <p:cNvPr id="36" name="Nav EFC">
            <a:hlinkClick action="ppaction://hlinksldjump" r:id="rId10"/>
          </p:cNvPr>
          <p:cNvSpPr/>
          <p:nvPr/>
        </p:nvSpPr>
        <p:spPr>
          <a:xfrm>
            <a:off x="2883857"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EFC</a:t>
            </a:r>
          </a:p>
        </p:txBody>
      </p:sp>
      <p:sp>
        <p:nvSpPr>
          <p:cNvPr id="37" name="Nav PEP">
            <a:hlinkClick action="ppaction://hlinksldjump" r:id="rId11"/>
          </p:cNvPr>
          <p:cNvSpPr/>
          <p:nvPr/>
        </p:nvSpPr>
        <p:spPr>
          <a:xfrm>
            <a:off x="3677142"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PEP</a:t>
            </a:r>
          </a:p>
        </p:txBody>
      </p:sp>
      <p:sp>
        <p:nvSpPr>
          <p:cNvPr id="38" name="Nav MEDOC">
            <a:hlinkClick action="ppaction://hlinksldjump" r:id="rId11"/>
          </p:cNvPr>
          <p:cNvSpPr/>
          <p:nvPr/>
        </p:nvSpPr>
        <p:spPr>
          <a:xfrm>
            <a:off x="4470428"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MEDOC</a:t>
            </a:r>
          </a:p>
        </p:txBody>
      </p:sp>
      <p:sp>
        <p:nvSpPr>
          <p:cNvPr id="39" name="Nav Grenier">
            <a:hlinkClick action="ppaction://hlinksldjump" r:id="rId12"/>
          </p:cNvPr>
          <p:cNvSpPr/>
          <p:nvPr/>
        </p:nvSpPr>
        <p:spPr>
          <a:xfrm>
            <a:off x="5263714"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Grenier</a:t>
            </a:r>
          </a:p>
        </p:txBody>
      </p:sp>
      <p:sp>
        <p:nvSpPr>
          <p:cNvPr id="40" name="Nav Flotte automobile">
            <a:hlinkClick action="ppaction://hlinksldjump" r:id="rId13"/>
          </p:cNvPr>
          <p:cNvSpPr/>
          <p:nvPr/>
        </p:nvSpPr>
        <p:spPr>
          <a:xfrm>
            <a:off x="6057000"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FFC000"/>
                </a:solidFill>
                <a:latin typeface="Helvetica"/>
              </a:rPr>
              <a:t>● </a:t>
            </a:r>
            <a:r>
              <a:rPr sz="750" b="0">
                <a:solidFill>
                  <a:srgbClr val="53565A"/>
                </a:solidFill>
                <a:latin typeface="Helvetica"/>
              </a:rPr>
              <a:t>Flotte auto</a:t>
            </a:r>
          </a:p>
        </p:txBody>
      </p:sp>
      <p:sp>
        <p:nvSpPr>
          <p:cNvPr id="41" name="Nav Clinique (CMP)">
            <a:hlinkClick action="ppaction://hlinksldjump" r:id="rId13"/>
          </p:cNvPr>
          <p:cNvSpPr/>
          <p:nvPr/>
        </p:nvSpPr>
        <p:spPr>
          <a:xfrm>
            <a:off x="6850285"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Clinique</a:t>
            </a:r>
          </a:p>
        </p:txBody>
      </p:sp>
      <p:sp>
        <p:nvSpPr>
          <p:cNvPr id="42" name="Nav Cotisations et précomptes"/>
          <p:cNvSpPr/>
          <p:nvPr/>
        </p:nvSpPr>
        <p:spPr>
          <a:xfrm>
            <a:off x="7823571" y="1591200"/>
            <a:ext cx="739285" cy="1800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1">
                <a:solidFill>
                  <a:srgbClr val="FFFFFF"/>
                </a:solidFill>
                <a:latin typeface="Helvetica"/>
              </a:rPr>
              <a:t>Cotisations</a:t>
            </a:r>
          </a:p>
        </p:txBody>
      </p:sp>
      <p:sp>
        <p:nvSpPr>
          <p:cNvPr id="43" name="Nav Comptabilité et provisions">
            <a:hlinkClick action="ppaction://hlinksldjump" r:id="rId14"/>
          </p:cNvPr>
          <p:cNvSpPr/>
          <p:nvPr/>
        </p:nvSpPr>
        <p:spPr>
          <a:xfrm>
            <a:off x="8616857"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Comptabilité</a:t>
            </a:r>
          </a:p>
        </p:txBody>
      </p:sp>
      <p:sp>
        <p:nvSpPr>
          <p:cNvPr id="44" name="Nav Trésorerie et placements">
            <a:hlinkClick action="ppaction://hlinksldjump" r:id="rId15"/>
          </p:cNvPr>
          <p:cNvSpPr/>
          <p:nvPr/>
        </p:nvSpPr>
        <p:spPr>
          <a:xfrm>
            <a:off x="9410142"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Trésorerie</a:t>
            </a:r>
          </a:p>
        </p:txBody>
      </p:sp>
      <p:sp>
        <p:nvSpPr>
          <p:cNvPr id="45" name="Nav Gouvernance">
            <a:hlinkClick action="ppaction://hlinksldjump" r:id="rId16"/>
          </p:cNvPr>
          <p:cNvSpPr/>
          <p:nvPr/>
        </p:nvSpPr>
        <p:spPr>
          <a:xfrm>
            <a:off x="10203428"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Gouvernance</a:t>
            </a:r>
          </a:p>
        </p:txBody>
      </p:sp>
      <p:sp>
        <p:nvSpPr>
          <p:cNvPr id="46" name="Nav Données et informatique">
            <a:hlinkClick action="ppaction://hlinksldjump" r:id="rId17"/>
          </p:cNvPr>
          <p:cNvSpPr/>
          <p:nvPr/>
        </p:nvSpPr>
        <p:spPr>
          <a:xfrm>
            <a:off x="10996714"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Données</a:t>
            </a:r>
          </a:p>
        </p:txBody>
      </p:sp>
      <p:sp>
        <p:nvSpPr>
          <p:cNvPr id="47" name="Bloc Cotisations et précomptes"/>
          <p:cNvSpPr/>
          <p:nvPr/>
        </p:nvSpPr>
        <p:spPr>
          <a:xfrm>
            <a:off x="503999" y="1835999"/>
            <a:ext cx="11232000" cy="2232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00" b="1">
                <a:solidFill>
                  <a:srgbClr val="ED7D31"/>
                </a:solidFill>
                <a:latin typeface="Helvetica"/>
              </a:rPr>
              <a:t>● </a:t>
            </a:r>
            <a:r>
              <a:rPr sz="1000" b="0">
                <a:solidFill>
                  <a:srgbClr val="BBBCBC"/>
                </a:solidFill>
                <a:latin typeface="Helvetica"/>
              </a:rPr>
              <a:t>FONCTIONS TRANSVERSES  ›  </a:t>
            </a:r>
            <a:r>
              <a:rPr sz="1200" b="1">
                <a:solidFill>
                  <a:srgbClr val="FFFFFF"/>
                </a:solidFill>
                <a:latin typeface="Helvetica"/>
              </a:rPr>
              <a:t>COTISATIONS ET PRÉCOMPTES</a:t>
            </a:r>
            <a:r>
              <a:rPr sz="950" b="0">
                <a:solidFill>
                  <a:srgbClr val="FFFFFF"/>
                </a:solidFill>
                <a:latin typeface="Helvetica"/>
              </a:rPr>
              <a:t>     5 constats</a:t>
            </a:r>
          </a:p>
        </p:txBody>
      </p:sp>
      <p:sp>
        <p:nvSpPr>
          <p:cNvPr id="48" name="Nav Carte">
            <a:hlinkClick action="ppaction://hlinksldjump" r:id="rId18"/>
          </p:cNvPr>
          <p:cNvSpPr/>
          <p:nvPr/>
        </p:nvSpPr>
        <p:spPr>
          <a:xfrm>
            <a:off x="10007999" y="1871999"/>
            <a:ext cx="1655999" cy="151200"/>
          </a:xfrm>
          <a:prstGeom prst="rect">
            <a:avLst/>
          </a:prstGeom>
          <a:solidFill>
            <a:srgbClr val="53565A"/>
          </a:solidFill>
          <a:ln w="952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50" b="1">
                <a:solidFill>
                  <a:srgbClr val="FFFFFF"/>
                </a:solidFill>
                <a:latin typeface="Helvetica"/>
              </a:rPr>
              <a:t>↩ Carte des activités</a:t>
            </a:r>
          </a:p>
        </p:txBody>
      </p:sp>
      <p:sp>
        <p:nvSpPr>
          <p:cNvPr id="49" name="Rectangle 48"/>
          <p:cNvSpPr/>
          <p:nvPr/>
        </p:nvSpPr>
        <p:spPr>
          <a:xfrm>
            <a:off x="503999" y="2088000"/>
            <a:ext cx="597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Constat et commentaire</a:t>
            </a:r>
          </a:p>
        </p:txBody>
      </p:sp>
      <p:sp>
        <p:nvSpPr>
          <p:cNvPr id="50" name="Rectangle 49"/>
          <p:cNvSpPr/>
          <p:nvPr/>
        </p:nvSpPr>
        <p:spPr>
          <a:xfrm>
            <a:off x="6480000" y="2088000"/>
            <a:ext cx="3384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Recommandation</a:t>
            </a:r>
          </a:p>
        </p:txBody>
      </p:sp>
      <p:sp>
        <p:nvSpPr>
          <p:cNvPr id="51" name="Rectangle 50"/>
          <p:cNvSpPr/>
          <p:nvPr/>
        </p:nvSpPr>
        <p:spPr>
          <a:xfrm>
            <a:off x="9864000" y="2088000"/>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Complexité</a:t>
            </a:r>
          </a:p>
        </p:txBody>
      </p:sp>
      <p:sp>
        <p:nvSpPr>
          <p:cNvPr id="52" name="Rectangle 51"/>
          <p:cNvSpPr/>
          <p:nvPr/>
        </p:nvSpPr>
        <p:spPr>
          <a:xfrm>
            <a:off x="10800000" y="2088000"/>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Priorité</a:t>
            </a:r>
          </a:p>
        </p:txBody>
      </p:sp>
      <p:sp>
        <p:nvSpPr>
          <p:cNvPr id="53" name="Rectangle 52"/>
          <p:cNvSpPr/>
          <p:nvPr/>
        </p:nvSpPr>
        <p:spPr>
          <a:xfrm>
            <a:off x="503999" y="2286000"/>
            <a:ext cx="5976000" cy="73956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FFC000"/>
                </a:solidFill>
                <a:latin typeface="Helvetica"/>
              </a:rPr>
              <a:t>● </a:t>
            </a:r>
            <a:r>
              <a:rPr sz="1050" b="1">
                <a:solidFill>
                  <a:srgbClr val="112A40"/>
                </a:solidFill>
                <a:latin typeface="Helvetica"/>
              </a:rPr>
              <a:t>20   </a:t>
            </a:r>
            <a:r>
              <a:rPr sz="1050" b="1">
                <a:solidFill>
                  <a:srgbClr val="060606"/>
                </a:solidFill>
                <a:latin typeface="Helvetica"/>
              </a:rPr>
              <a:t>La répartition maladie et décès diffère selon la source. </a:t>
            </a:r>
            <a:r>
              <a:rPr sz="1050" b="0">
                <a:solidFill>
                  <a:srgbClr val="060606"/>
                </a:solidFill>
                <a:latin typeface="Helvetica"/>
              </a:rPr>
              <a:t>Total de 5 % respecté, mais la Solde prélève 3,77 % et 1,23 % au lieu des 3,50 % et 1,50 % des statuts. La comptabilité retient 3,52 % et 1,48 %.</a:t>
            </a:r>
          </a:p>
        </p:txBody>
      </p:sp>
      <p:sp>
        <p:nvSpPr>
          <p:cNvPr id="54" name="Rectangle 53"/>
          <p:cNvSpPr/>
          <p:nvPr/>
        </p:nvSpPr>
        <p:spPr>
          <a:xfrm>
            <a:off x="6480000" y="2286000"/>
            <a:ext cx="3384000" cy="73956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Notifier à la Solde la clé des statuts et l'appliquer en comptabilité.</a:t>
            </a:r>
          </a:p>
        </p:txBody>
      </p:sp>
      <p:sp>
        <p:nvSpPr>
          <p:cNvPr id="55" name="Rectangle 54"/>
          <p:cNvSpPr/>
          <p:nvPr/>
        </p:nvSpPr>
        <p:spPr>
          <a:xfrm>
            <a:off x="9864000" y="2286000"/>
            <a:ext cx="936000" cy="73956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56" name="Rectangle 55"/>
          <p:cNvSpPr/>
          <p:nvPr/>
        </p:nvSpPr>
        <p:spPr>
          <a:xfrm>
            <a:off x="10800000" y="2286000"/>
            <a:ext cx="936000" cy="73956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57" name="Rounded Rectangle 56"/>
          <p:cNvSpPr/>
          <p:nvPr/>
        </p:nvSpPr>
        <p:spPr>
          <a:xfrm>
            <a:off x="9936000" y="2547781"/>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58" name="Rounded Rectangle 57"/>
          <p:cNvSpPr/>
          <p:nvPr/>
        </p:nvSpPr>
        <p:spPr>
          <a:xfrm>
            <a:off x="10962000" y="2547781"/>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59" name="Rectangle 58"/>
          <p:cNvSpPr/>
          <p:nvPr/>
        </p:nvSpPr>
        <p:spPr>
          <a:xfrm>
            <a:off x="503999" y="3025562"/>
            <a:ext cx="5976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ED7D31"/>
                </a:solidFill>
                <a:latin typeface="Helvetica"/>
              </a:rPr>
              <a:t>● </a:t>
            </a:r>
            <a:r>
              <a:rPr sz="1050" b="1">
                <a:solidFill>
                  <a:srgbClr val="112A40"/>
                </a:solidFill>
                <a:latin typeface="Helvetica"/>
              </a:rPr>
              <a:t>27   </a:t>
            </a:r>
            <a:r>
              <a:rPr sz="1050" b="1">
                <a:solidFill>
                  <a:srgbClr val="060606"/>
                </a:solidFill>
                <a:latin typeface="Helvetica"/>
              </a:rPr>
              <a:t>Les fichiers ne sont pas rapprochés. </a:t>
            </a:r>
            <a:r>
              <a:rPr sz="1050" b="0">
                <a:solidFill>
                  <a:srgbClr val="060606"/>
                </a:solidFill>
                <a:latin typeface="Helvetica"/>
              </a:rPr>
              <a:t>Le fichier envoyé n'est jamais comparé au fichier retour. Aucun fichier envoyé transmis sur 80 mois.</a:t>
            </a:r>
          </a:p>
        </p:txBody>
      </p:sp>
      <p:sp>
        <p:nvSpPr>
          <p:cNvPr id="60" name="Rectangle 59"/>
          <p:cNvSpPr/>
          <p:nvPr/>
        </p:nvSpPr>
        <p:spPr>
          <a:xfrm>
            <a:off x="6480000" y="3025562"/>
            <a:ext cx="3384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Rapprocher chaque mois l'aller et le retour, avec un état des rejets signé.</a:t>
            </a:r>
          </a:p>
        </p:txBody>
      </p:sp>
      <p:sp>
        <p:nvSpPr>
          <p:cNvPr id="61" name="Rectangle 60"/>
          <p:cNvSpPr/>
          <p:nvPr/>
        </p:nvSpPr>
        <p:spPr>
          <a:xfrm>
            <a:off x="9864000" y="3025562"/>
            <a:ext cx="936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2" name="Rectangle 61"/>
          <p:cNvSpPr/>
          <p:nvPr/>
        </p:nvSpPr>
        <p:spPr>
          <a:xfrm>
            <a:off x="10800000" y="3025562"/>
            <a:ext cx="936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3" name="Rounded Rectangle 62"/>
          <p:cNvSpPr/>
          <p:nvPr/>
        </p:nvSpPr>
        <p:spPr>
          <a:xfrm>
            <a:off x="9936000" y="3207283"/>
            <a:ext cx="792000" cy="216000"/>
          </a:xfrm>
          <a:prstGeom prst="round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Moyenne</a:t>
            </a:r>
          </a:p>
        </p:txBody>
      </p:sp>
      <p:sp>
        <p:nvSpPr>
          <p:cNvPr id="64" name="Rounded Rectangle 63"/>
          <p:cNvSpPr/>
          <p:nvPr/>
        </p:nvSpPr>
        <p:spPr>
          <a:xfrm>
            <a:off x="10962000" y="3207283"/>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65" name="Rectangle 64"/>
          <p:cNvSpPr/>
          <p:nvPr/>
        </p:nvSpPr>
        <p:spPr>
          <a:xfrm>
            <a:off x="503999" y="3605004"/>
            <a:ext cx="5976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FFC000"/>
                </a:solidFill>
                <a:latin typeface="Helvetica"/>
              </a:rPr>
              <a:t>● </a:t>
            </a:r>
            <a:r>
              <a:rPr sz="1050" b="1">
                <a:solidFill>
                  <a:srgbClr val="112A40"/>
                </a:solidFill>
                <a:latin typeface="Helvetica"/>
              </a:rPr>
              <a:t>26.h   </a:t>
            </a:r>
            <a:r>
              <a:rPr sz="1050" b="1">
                <a:solidFill>
                  <a:srgbClr val="060606"/>
                </a:solidFill>
                <a:latin typeface="Helvetica"/>
              </a:rPr>
              <a:t>2020 à 2022 ne sont pas vérifiables. </a:t>
            </a:r>
            <a:r>
              <a:rPr sz="1050" b="0">
                <a:solidFill>
                  <a:srgbClr val="060606"/>
                </a:solidFill>
                <a:latin typeface="Helvetica"/>
              </a:rPr>
              <a:t>Prélèvements mensuels disponibles seulement depuis 2023 ou 2024 selon le poste.</a:t>
            </a:r>
          </a:p>
        </p:txBody>
      </p:sp>
      <p:sp>
        <p:nvSpPr>
          <p:cNvPr id="66" name="Rectangle 65"/>
          <p:cNvSpPr/>
          <p:nvPr/>
        </p:nvSpPr>
        <p:spPr>
          <a:xfrm>
            <a:off x="6480000" y="3605004"/>
            <a:ext cx="3384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Transmettre les fichiers de 2020 à 2022.</a:t>
            </a:r>
          </a:p>
        </p:txBody>
      </p:sp>
      <p:sp>
        <p:nvSpPr>
          <p:cNvPr id="67" name="Rectangle 66"/>
          <p:cNvSpPr/>
          <p:nvPr/>
        </p:nvSpPr>
        <p:spPr>
          <a:xfrm>
            <a:off x="9864000" y="3605004"/>
            <a:ext cx="936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8" name="Rectangle 67"/>
          <p:cNvSpPr/>
          <p:nvPr/>
        </p:nvSpPr>
        <p:spPr>
          <a:xfrm>
            <a:off x="10800000" y="3605004"/>
            <a:ext cx="936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9" name="Rounded Rectangle 68"/>
          <p:cNvSpPr/>
          <p:nvPr/>
        </p:nvSpPr>
        <p:spPr>
          <a:xfrm>
            <a:off x="9936000" y="3786724"/>
            <a:ext cx="792000" cy="216000"/>
          </a:xfrm>
          <a:prstGeom prst="round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Moyenne</a:t>
            </a:r>
          </a:p>
        </p:txBody>
      </p:sp>
      <p:sp>
        <p:nvSpPr>
          <p:cNvPr id="70" name="Rounded Rectangle 69"/>
          <p:cNvSpPr/>
          <p:nvPr/>
        </p:nvSpPr>
        <p:spPr>
          <a:xfrm>
            <a:off x="10962000" y="3786724"/>
            <a:ext cx="612000" cy="216000"/>
          </a:xfrm>
          <a:prstGeom prst="round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P3</a:t>
            </a:r>
          </a:p>
        </p:txBody>
      </p:sp>
      <p:sp>
        <p:nvSpPr>
          <p:cNvPr id="71" name="Rectangle 70"/>
          <p:cNvSpPr/>
          <p:nvPr/>
        </p:nvSpPr>
        <p:spPr>
          <a:xfrm>
            <a:off x="503999" y="4184445"/>
            <a:ext cx="5976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FFC000"/>
                </a:solidFill>
                <a:latin typeface="Helvetica"/>
              </a:rPr>
              <a:t>● </a:t>
            </a:r>
            <a:r>
              <a:rPr sz="1050" b="1">
                <a:solidFill>
                  <a:srgbClr val="112A40"/>
                </a:solidFill>
                <a:latin typeface="Helvetica"/>
              </a:rPr>
              <a:t>27.f   </a:t>
            </a:r>
            <a:r>
              <a:rPr sz="1050" b="1">
                <a:solidFill>
                  <a:srgbClr val="060606"/>
                </a:solidFill>
                <a:latin typeface="Helvetica"/>
              </a:rPr>
              <a:t>Rejets et paiements manuels non suivis. </a:t>
            </a:r>
            <a:r>
              <a:rPr sz="1050" b="0">
                <a:solidFill>
                  <a:srgbClr val="060606"/>
                </a:solidFill>
                <a:latin typeface="Helvetica"/>
              </a:rPr>
              <a:t>États des rejets de la Solde et liste des paiements manuels non transmis.</a:t>
            </a:r>
          </a:p>
        </p:txBody>
      </p:sp>
      <p:sp>
        <p:nvSpPr>
          <p:cNvPr id="72" name="Rectangle 71"/>
          <p:cNvSpPr/>
          <p:nvPr/>
        </p:nvSpPr>
        <p:spPr>
          <a:xfrm>
            <a:off x="6480000" y="4184445"/>
            <a:ext cx="3384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Transmettre ces états chaque mois.</a:t>
            </a:r>
          </a:p>
        </p:txBody>
      </p:sp>
      <p:sp>
        <p:nvSpPr>
          <p:cNvPr id="73" name="Rectangle 72"/>
          <p:cNvSpPr/>
          <p:nvPr/>
        </p:nvSpPr>
        <p:spPr>
          <a:xfrm>
            <a:off x="9864000" y="4184445"/>
            <a:ext cx="936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4" name="Rectangle 73"/>
          <p:cNvSpPr/>
          <p:nvPr/>
        </p:nvSpPr>
        <p:spPr>
          <a:xfrm>
            <a:off x="10800000" y="4184445"/>
            <a:ext cx="936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5" name="Rounded Rectangle 74"/>
          <p:cNvSpPr/>
          <p:nvPr/>
        </p:nvSpPr>
        <p:spPr>
          <a:xfrm>
            <a:off x="9936000" y="4366166"/>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76" name="Rounded Rectangle 75"/>
          <p:cNvSpPr/>
          <p:nvPr/>
        </p:nvSpPr>
        <p:spPr>
          <a:xfrm>
            <a:off x="10962000" y="4366166"/>
            <a:ext cx="612000" cy="216000"/>
          </a:xfrm>
          <a:prstGeom prst="round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P3</a:t>
            </a:r>
          </a:p>
        </p:txBody>
      </p:sp>
      <p:sp>
        <p:nvSpPr>
          <p:cNvPr id="77" name="Rectangle 76"/>
          <p:cNvSpPr/>
          <p:nvPr/>
        </p:nvSpPr>
        <p:spPr>
          <a:xfrm>
            <a:off x="503999" y="4763887"/>
            <a:ext cx="5976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70AD47"/>
                </a:solidFill>
                <a:latin typeface="Helvetica"/>
              </a:rPr>
              <a:t>● </a:t>
            </a:r>
            <a:r>
              <a:rPr sz="1050" b="1">
                <a:solidFill>
                  <a:srgbClr val="112A40"/>
                </a:solidFill>
                <a:latin typeface="Helvetica"/>
              </a:rPr>
              <a:t>27.g   </a:t>
            </a:r>
            <a:r>
              <a:rPr sz="1050" b="1">
                <a:solidFill>
                  <a:srgbClr val="060606"/>
                </a:solidFill>
                <a:latin typeface="Helvetica"/>
              </a:rPr>
              <a:t>La dette de l'État est soldée. </a:t>
            </a:r>
            <a:r>
              <a:rPr sz="1050" b="0">
                <a:solidFill>
                  <a:srgbClr val="060606"/>
                </a:solidFill>
                <a:latin typeface="Helvetica"/>
              </a:rPr>
              <a:t>704 189 157 FCFA dus fin 2025, compte soldé au 31/08/2026.</a:t>
            </a:r>
          </a:p>
        </p:txBody>
      </p:sp>
      <p:sp>
        <p:nvSpPr>
          <p:cNvPr id="78" name="Rectangle 77"/>
          <p:cNvSpPr/>
          <p:nvPr/>
        </p:nvSpPr>
        <p:spPr>
          <a:xfrm>
            <a:off x="6480000" y="4763887"/>
            <a:ext cx="3384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Suivre chaque mois les reversements de l'État.</a:t>
            </a:r>
          </a:p>
        </p:txBody>
      </p:sp>
      <p:sp>
        <p:nvSpPr>
          <p:cNvPr id="79" name="Rectangle 78"/>
          <p:cNvSpPr/>
          <p:nvPr/>
        </p:nvSpPr>
        <p:spPr>
          <a:xfrm>
            <a:off x="9864000" y="4763887"/>
            <a:ext cx="936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0" name="Rectangle 79"/>
          <p:cNvSpPr/>
          <p:nvPr/>
        </p:nvSpPr>
        <p:spPr>
          <a:xfrm>
            <a:off x="10800000" y="4763887"/>
            <a:ext cx="936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1" name="Rounded Rectangle 80"/>
          <p:cNvSpPr/>
          <p:nvPr/>
        </p:nvSpPr>
        <p:spPr>
          <a:xfrm>
            <a:off x="9936000" y="4945608"/>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82" name="Rounded Rectangle 81"/>
          <p:cNvSpPr/>
          <p:nvPr/>
        </p:nvSpPr>
        <p:spPr>
          <a:xfrm>
            <a:off x="10962000" y="4945608"/>
            <a:ext cx="612000" cy="216000"/>
          </a:xfrm>
          <a:prstGeom prst="round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P4</a:t>
            </a:r>
          </a:p>
        </p:txBody>
      </p:sp>
      <p:sp>
        <p:nvSpPr>
          <p:cNvPr id="83" name="TextBox 82"/>
          <p:cNvSpPr txBox="1"/>
          <p:nvPr/>
        </p:nvSpPr>
        <p:spPr>
          <a:xfrm>
            <a:off x="503999" y="5716800"/>
            <a:ext cx="11232000" cy="151200"/>
          </a:xfrm>
          <a:prstGeom prst="rect">
            <a:avLst/>
          </a:prstGeom>
          <a:noFill/>
        </p:spPr>
        <p:txBody>
          <a:bodyPr wrap="square">
            <a:spAutoFit/>
          </a:bodyPr>
          <a:lstStyle/>
          <a:p>
            <a:r>
              <a:rPr sz="750" b="1">
                <a:solidFill>
                  <a:srgbClr val="060606"/>
                </a:solidFill>
                <a:latin typeface="Helvetica"/>
              </a:rPr>
              <a:t>Criticité : </a:t>
            </a:r>
            <a:r>
              <a:rPr sz="850" b="1">
                <a:solidFill>
                  <a:srgbClr val="C00000"/>
                </a:solidFill>
                <a:latin typeface="Helvetica"/>
              </a:rPr>
              <a:t>● </a:t>
            </a:r>
            <a:r>
              <a:rPr sz="750" b="0">
                <a:solidFill>
                  <a:srgbClr val="060606"/>
                </a:solidFill>
                <a:latin typeface="Helvetica"/>
              </a:rPr>
              <a:t>Critique   </a:t>
            </a:r>
            <a:r>
              <a:rPr sz="850" b="1">
                <a:solidFill>
                  <a:srgbClr val="ED7D31"/>
                </a:solidFill>
                <a:latin typeface="Helvetica"/>
              </a:rPr>
              <a:t>● </a:t>
            </a:r>
            <a:r>
              <a:rPr sz="750" b="0">
                <a:solidFill>
                  <a:srgbClr val="060606"/>
                </a:solidFill>
                <a:latin typeface="Helvetica"/>
              </a:rPr>
              <a:t>Élevé   </a:t>
            </a:r>
            <a:r>
              <a:rPr sz="850" b="1">
                <a:solidFill>
                  <a:srgbClr val="FFC000"/>
                </a:solidFill>
                <a:latin typeface="Helvetica"/>
              </a:rPr>
              <a:t>● </a:t>
            </a:r>
            <a:r>
              <a:rPr sz="750" b="0">
                <a:solidFill>
                  <a:srgbClr val="060606"/>
                </a:solidFill>
                <a:latin typeface="Helvetica"/>
              </a:rPr>
              <a:t>Moyen   </a:t>
            </a:r>
            <a:r>
              <a:rPr sz="850" b="1">
                <a:solidFill>
                  <a:srgbClr val="70AD47"/>
                </a:solidFill>
                <a:latin typeface="Helvetica"/>
              </a:rPr>
              <a:t>● </a:t>
            </a:r>
            <a:r>
              <a:rPr sz="750" b="0">
                <a:solidFill>
                  <a:srgbClr val="060606"/>
                </a:solidFill>
                <a:latin typeface="Helvetica"/>
              </a:rPr>
              <a:t>Faible   </a:t>
            </a:r>
            <a:r>
              <a:rPr sz="750" b="0">
                <a:solidFill>
                  <a:srgbClr val="060606"/>
                </a:solidFill>
                <a:latin typeface="Helvetica"/>
              </a:rPr>
              <a:t>Priorité : P1 dans les 3 mois, P2 dans les 6 mois, P3 de 6 à 18 mois, P4 au-delà.   Complexité : Faible (une décision suffit), Moyenne (travail interne), Élevée (tiers ou financement).   Numéros : ceux du résumé exécutif.</a:t>
            </a:r>
          </a:p>
        </p:txBody>
      </p:sp>
      <p:sp>
        <p:nvSpPr>
          <p:cNvPr id="84" name="TextBox 83"/>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 | MEDOC : produit santé complémentaire du poste 8Z7</a:t>
            </a:r>
          </a:p>
        </p:txBody>
      </p:sp>
    </p:spTree>
    <p:extLst>
      <p:ext uri="{BB962C8B-B14F-4D97-AF65-F5344CB8AC3E}">
        <p14:creationId xmlns:p14="http://schemas.microsoft.com/office/powerpoint/2010/main" val="2541773032"/>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Comptabilité et provisions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comptes ne mesurent pas les vraies dettes envers les policiers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Constat le plus grave : 1, les provisions ne sont pas calculées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rapport actuariel et statistique du 23/10/2026. Logigrammes du FPPN (« FLOW_CHART_COTISATION_ET_PRODUITS_DEPARGNE_1.pptx »). Résumé exécutif du 26/10/2026</a:t>
            </a:r>
          </a:p>
        </p:txBody>
      </p:sp>
      <p:sp>
        <p:nvSpPr>
          <p:cNvPr id="31" name="Rectangle 30"/>
          <p:cNvSpPr/>
          <p:nvPr/>
        </p:nvSpPr>
        <p:spPr>
          <a:xfrm>
            <a:off x="503999" y="1411200"/>
            <a:ext cx="7085571" cy="1512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00" b="1">
                <a:solidFill>
                  <a:srgbClr val="FFFFFF"/>
                </a:solidFill>
                <a:latin typeface="Helvetica"/>
              </a:rPr>
              <a:t>PRODUITS</a:t>
            </a:r>
          </a:p>
        </p:txBody>
      </p:sp>
      <p:sp>
        <p:nvSpPr>
          <p:cNvPr id="32" name="Rectangle 31"/>
          <p:cNvSpPr/>
          <p:nvPr/>
        </p:nvSpPr>
        <p:spPr>
          <a:xfrm>
            <a:off x="7823571" y="1411200"/>
            <a:ext cx="3912428" cy="1512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00" b="1">
                <a:solidFill>
                  <a:srgbClr val="FFFFFF"/>
                </a:solidFill>
                <a:latin typeface="Helvetica"/>
              </a:rPr>
              <a:t>FONCTIONS TRANSVERSES</a:t>
            </a:r>
          </a:p>
        </p:txBody>
      </p:sp>
      <p:sp>
        <p:nvSpPr>
          <p:cNvPr id="33" name="Nav Maladie">
            <a:hlinkClick action="ppaction://hlinksldjump" r:id="rId7"/>
          </p:cNvPr>
          <p:cNvSpPr/>
          <p:nvPr/>
        </p:nvSpPr>
        <p:spPr>
          <a:xfrm>
            <a:off x="503999"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Maladie</a:t>
            </a:r>
          </a:p>
        </p:txBody>
      </p:sp>
      <p:sp>
        <p:nvSpPr>
          <p:cNvPr id="34" name="Nav Décès">
            <a:hlinkClick action="ppaction://hlinksldjump" r:id="rId8"/>
          </p:cNvPr>
          <p:cNvSpPr/>
          <p:nvPr/>
        </p:nvSpPr>
        <p:spPr>
          <a:xfrm>
            <a:off x="1297285"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Décès</a:t>
            </a:r>
          </a:p>
        </p:txBody>
      </p:sp>
      <p:sp>
        <p:nvSpPr>
          <p:cNvPr id="35" name="Nav Retraités (CGRAE)">
            <a:hlinkClick action="ppaction://hlinksldjump" r:id="rId9"/>
          </p:cNvPr>
          <p:cNvSpPr/>
          <p:nvPr/>
        </p:nvSpPr>
        <p:spPr>
          <a:xfrm>
            <a:off x="2090571"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Retraités</a:t>
            </a:r>
          </a:p>
        </p:txBody>
      </p:sp>
      <p:sp>
        <p:nvSpPr>
          <p:cNvPr id="36" name="Nav EFC">
            <a:hlinkClick action="ppaction://hlinksldjump" r:id="rId10"/>
          </p:cNvPr>
          <p:cNvSpPr/>
          <p:nvPr/>
        </p:nvSpPr>
        <p:spPr>
          <a:xfrm>
            <a:off x="2883857"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EFC</a:t>
            </a:r>
          </a:p>
        </p:txBody>
      </p:sp>
      <p:sp>
        <p:nvSpPr>
          <p:cNvPr id="37" name="Nav PEP">
            <a:hlinkClick action="ppaction://hlinksldjump" r:id="rId11"/>
          </p:cNvPr>
          <p:cNvSpPr/>
          <p:nvPr/>
        </p:nvSpPr>
        <p:spPr>
          <a:xfrm>
            <a:off x="3677142"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PEP</a:t>
            </a:r>
          </a:p>
        </p:txBody>
      </p:sp>
      <p:sp>
        <p:nvSpPr>
          <p:cNvPr id="38" name="Nav MEDOC">
            <a:hlinkClick action="ppaction://hlinksldjump" r:id="rId11"/>
          </p:cNvPr>
          <p:cNvSpPr/>
          <p:nvPr/>
        </p:nvSpPr>
        <p:spPr>
          <a:xfrm>
            <a:off x="4470428"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MEDOC</a:t>
            </a:r>
          </a:p>
        </p:txBody>
      </p:sp>
      <p:sp>
        <p:nvSpPr>
          <p:cNvPr id="39" name="Nav Grenier">
            <a:hlinkClick action="ppaction://hlinksldjump" r:id="rId12"/>
          </p:cNvPr>
          <p:cNvSpPr/>
          <p:nvPr/>
        </p:nvSpPr>
        <p:spPr>
          <a:xfrm>
            <a:off x="5263714"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Grenier</a:t>
            </a:r>
          </a:p>
        </p:txBody>
      </p:sp>
      <p:sp>
        <p:nvSpPr>
          <p:cNvPr id="40" name="Nav Flotte automobile">
            <a:hlinkClick action="ppaction://hlinksldjump" r:id="rId13"/>
          </p:cNvPr>
          <p:cNvSpPr/>
          <p:nvPr/>
        </p:nvSpPr>
        <p:spPr>
          <a:xfrm>
            <a:off x="6057000"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FFC000"/>
                </a:solidFill>
                <a:latin typeface="Helvetica"/>
              </a:rPr>
              <a:t>● </a:t>
            </a:r>
            <a:r>
              <a:rPr sz="750" b="0">
                <a:solidFill>
                  <a:srgbClr val="53565A"/>
                </a:solidFill>
                <a:latin typeface="Helvetica"/>
              </a:rPr>
              <a:t>Flotte auto</a:t>
            </a:r>
          </a:p>
        </p:txBody>
      </p:sp>
      <p:sp>
        <p:nvSpPr>
          <p:cNvPr id="41" name="Nav Clinique (CMP)">
            <a:hlinkClick action="ppaction://hlinksldjump" r:id="rId13"/>
          </p:cNvPr>
          <p:cNvSpPr/>
          <p:nvPr/>
        </p:nvSpPr>
        <p:spPr>
          <a:xfrm>
            <a:off x="6850285"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Clinique</a:t>
            </a:r>
          </a:p>
        </p:txBody>
      </p:sp>
      <p:sp>
        <p:nvSpPr>
          <p:cNvPr id="42" name="Nav Cotisations et précomptes">
            <a:hlinkClick action="ppaction://hlinksldjump" r:id="rId14"/>
          </p:cNvPr>
          <p:cNvSpPr/>
          <p:nvPr/>
        </p:nvSpPr>
        <p:spPr>
          <a:xfrm>
            <a:off x="7823571"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Cotisations</a:t>
            </a:r>
          </a:p>
        </p:txBody>
      </p:sp>
      <p:sp>
        <p:nvSpPr>
          <p:cNvPr id="43" name="Nav Comptabilité et provisions"/>
          <p:cNvSpPr/>
          <p:nvPr/>
        </p:nvSpPr>
        <p:spPr>
          <a:xfrm>
            <a:off x="8616857" y="1591200"/>
            <a:ext cx="739285" cy="1800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1">
                <a:solidFill>
                  <a:srgbClr val="FFFFFF"/>
                </a:solidFill>
                <a:latin typeface="Helvetica"/>
              </a:rPr>
              <a:t>Comptabilité</a:t>
            </a:r>
          </a:p>
        </p:txBody>
      </p:sp>
      <p:sp>
        <p:nvSpPr>
          <p:cNvPr id="44" name="Nav Trésorerie et placements">
            <a:hlinkClick action="ppaction://hlinksldjump" r:id="rId15"/>
          </p:cNvPr>
          <p:cNvSpPr/>
          <p:nvPr/>
        </p:nvSpPr>
        <p:spPr>
          <a:xfrm>
            <a:off x="9410142"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Trésorerie</a:t>
            </a:r>
          </a:p>
        </p:txBody>
      </p:sp>
      <p:sp>
        <p:nvSpPr>
          <p:cNvPr id="45" name="Nav Gouvernance">
            <a:hlinkClick action="ppaction://hlinksldjump" r:id="rId16"/>
          </p:cNvPr>
          <p:cNvSpPr/>
          <p:nvPr/>
        </p:nvSpPr>
        <p:spPr>
          <a:xfrm>
            <a:off x="10203428"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Gouvernance</a:t>
            </a:r>
          </a:p>
        </p:txBody>
      </p:sp>
      <p:sp>
        <p:nvSpPr>
          <p:cNvPr id="46" name="Nav Données et informatique">
            <a:hlinkClick action="ppaction://hlinksldjump" r:id="rId17"/>
          </p:cNvPr>
          <p:cNvSpPr/>
          <p:nvPr/>
        </p:nvSpPr>
        <p:spPr>
          <a:xfrm>
            <a:off x="10996714"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Données</a:t>
            </a:r>
          </a:p>
        </p:txBody>
      </p:sp>
      <p:sp>
        <p:nvSpPr>
          <p:cNvPr id="47" name="Bloc Comptabilité et provisions"/>
          <p:cNvSpPr/>
          <p:nvPr/>
        </p:nvSpPr>
        <p:spPr>
          <a:xfrm>
            <a:off x="503999" y="1835999"/>
            <a:ext cx="11232000" cy="2232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00" b="1">
                <a:solidFill>
                  <a:srgbClr val="C00000"/>
                </a:solidFill>
                <a:latin typeface="Helvetica"/>
              </a:rPr>
              <a:t>● </a:t>
            </a:r>
            <a:r>
              <a:rPr sz="1000" b="0">
                <a:solidFill>
                  <a:srgbClr val="BBBCBC"/>
                </a:solidFill>
                <a:latin typeface="Helvetica"/>
              </a:rPr>
              <a:t>FONCTIONS TRANSVERSES  ›  </a:t>
            </a:r>
            <a:r>
              <a:rPr sz="1200" b="1">
                <a:solidFill>
                  <a:srgbClr val="FFFFFF"/>
                </a:solidFill>
                <a:latin typeface="Helvetica"/>
              </a:rPr>
              <a:t>COMPTABILITÉ ET PROVISIONS</a:t>
            </a:r>
            <a:r>
              <a:rPr sz="950" b="0">
                <a:solidFill>
                  <a:srgbClr val="FFFFFF"/>
                </a:solidFill>
                <a:latin typeface="Helvetica"/>
              </a:rPr>
              <a:t>     6 constats, dont 1 à traiter dans les trois mois</a:t>
            </a:r>
          </a:p>
        </p:txBody>
      </p:sp>
      <p:sp>
        <p:nvSpPr>
          <p:cNvPr id="48" name="Nav Carte">
            <a:hlinkClick action="ppaction://hlinksldjump" r:id="rId18"/>
          </p:cNvPr>
          <p:cNvSpPr/>
          <p:nvPr/>
        </p:nvSpPr>
        <p:spPr>
          <a:xfrm>
            <a:off x="10007999" y="1871999"/>
            <a:ext cx="1655999" cy="151200"/>
          </a:xfrm>
          <a:prstGeom prst="rect">
            <a:avLst/>
          </a:prstGeom>
          <a:solidFill>
            <a:srgbClr val="53565A"/>
          </a:solidFill>
          <a:ln w="952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50" b="1">
                <a:solidFill>
                  <a:srgbClr val="FFFFFF"/>
                </a:solidFill>
                <a:latin typeface="Helvetica"/>
              </a:rPr>
              <a:t>↩ Carte des activités</a:t>
            </a:r>
          </a:p>
        </p:txBody>
      </p:sp>
      <p:sp>
        <p:nvSpPr>
          <p:cNvPr id="49" name="Rectangle 48"/>
          <p:cNvSpPr/>
          <p:nvPr/>
        </p:nvSpPr>
        <p:spPr>
          <a:xfrm>
            <a:off x="503999" y="2088000"/>
            <a:ext cx="597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Constat et commentaire</a:t>
            </a:r>
          </a:p>
        </p:txBody>
      </p:sp>
      <p:sp>
        <p:nvSpPr>
          <p:cNvPr id="50" name="Rectangle 49"/>
          <p:cNvSpPr/>
          <p:nvPr/>
        </p:nvSpPr>
        <p:spPr>
          <a:xfrm>
            <a:off x="6480000" y="2088000"/>
            <a:ext cx="3384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Recommandation</a:t>
            </a:r>
          </a:p>
        </p:txBody>
      </p:sp>
      <p:sp>
        <p:nvSpPr>
          <p:cNvPr id="51" name="Rectangle 50"/>
          <p:cNvSpPr/>
          <p:nvPr/>
        </p:nvSpPr>
        <p:spPr>
          <a:xfrm>
            <a:off x="9864000" y="2088000"/>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Complexité</a:t>
            </a:r>
          </a:p>
        </p:txBody>
      </p:sp>
      <p:sp>
        <p:nvSpPr>
          <p:cNvPr id="52" name="Rectangle 51"/>
          <p:cNvSpPr/>
          <p:nvPr/>
        </p:nvSpPr>
        <p:spPr>
          <a:xfrm>
            <a:off x="10800000" y="2088000"/>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Priorité</a:t>
            </a:r>
          </a:p>
        </p:txBody>
      </p:sp>
      <p:sp>
        <p:nvSpPr>
          <p:cNvPr id="53" name="Rectangle 52"/>
          <p:cNvSpPr/>
          <p:nvPr/>
        </p:nvSpPr>
        <p:spPr>
          <a:xfrm>
            <a:off x="503999" y="2286000"/>
            <a:ext cx="5976000" cy="5670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C00000"/>
                </a:solidFill>
                <a:latin typeface="Helvetica"/>
              </a:rPr>
              <a:t>● </a:t>
            </a:r>
            <a:r>
              <a:rPr sz="1050" b="1">
                <a:solidFill>
                  <a:srgbClr val="112A40"/>
                </a:solidFill>
                <a:latin typeface="Helvetica"/>
              </a:rPr>
              <a:t>1   </a:t>
            </a:r>
            <a:r>
              <a:rPr sz="1050" b="1">
                <a:solidFill>
                  <a:srgbClr val="060606"/>
                </a:solidFill>
                <a:latin typeface="Helvetica"/>
              </a:rPr>
              <a:t>Les provisions ne sont pas calculées. </a:t>
            </a:r>
            <a:r>
              <a:rPr sz="1050" b="0">
                <a:solidFill>
                  <a:srgbClr val="060606"/>
                </a:solidFill>
                <a:latin typeface="Helvetica"/>
              </a:rPr>
              <a:t>4 829 298 290 FCFA identiques depuis 2020, soit 4 809 716 898 FCFA au-dessus du besoin mesuré. Rien pour les intérêts de l'épargne.</a:t>
            </a:r>
          </a:p>
        </p:txBody>
      </p:sp>
      <p:sp>
        <p:nvSpPr>
          <p:cNvPr id="54" name="Rectangle 53"/>
          <p:cNvSpPr/>
          <p:nvPr/>
        </p:nvSpPr>
        <p:spPr>
          <a:xfrm>
            <a:off x="6480000" y="2286000"/>
            <a:ext cx="3384000" cy="5670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Note de calcul annuelle signée et reclassement décidé par les organes.</a:t>
            </a:r>
          </a:p>
        </p:txBody>
      </p:sp>
      <p:sp>
        <p:nvSpPr>
          <p:cNvPr id="55" name="Rectangle 54"/>
          <p:cNvSpPr/>
          <p:nvPr/>
        </p:nvSpPr>
        <p:spPr>
          <a:xfrm>
            <a:off x="9864000" y="2286000"/>
            <a:ext cx="936000" cy="5670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56" name="Rectangle 55"/>
          <p:cNvSpPr/>
          <p:nvPr/>
        </p:nvSpPr>
        <p:spPr>
          <a:xfrm>
            <a:off x="10800000" y="2286000"/>
            <a:ext cx="936000" cy="5670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57" name="Rounded Rectangle 56"/>
          <p:cNvSpPr/>
          <p:nvPr/>
        </p:nvSpPr>
        <p:spPr>
          <a:xfrm>
            <a:off x="9936000" y="2461500"/>
            <a:ext cx="792000" cy="216000"/>
          </a:xfrm>
          <a:prstGeom prst="round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Moyenne</a:t>
            </a:r>
          </a:p>
        </p:txBody>
      </p:sp>
      <p:sp>
        <p:nvSpPr>
          <p:cNvPr id="58" name="Rounded Rectangle 57"/>
          <p:cNvSpPr/>
          <p:nvPr/>
        </p:nvSpPr>
        <p:spPr>
          <a:xfrm>
            <a:off x="10962000" y="2461500"/>
            <a:ext cx="612000" cy="216000"/>
          </a:xfrm>
          <a:prstGeom prst="round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P1</a:t>
            </a:r>
          </a:p>
        </p:txBody>
      </p:sp>
      <p:sp>
        <p:nvSpPr>
          <p:cNvPr id="59" name="Rectangle 58"/>
          <p:cNvSpPr/>
          <p:nvPr/>
        </p:nvSpPr>
        <p:spPr>
          <a:xfrm>
            <a:off x="503999" y="2853000"/>
            <a:ext cx="5976000" cy="567000"/>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ED7D31"/>
                </a:solidFill>
                <a:latin typeface="Helvetica"/>
              </a:rPr>
              <a:t>● </a:t>
            </a:r>
            <a:r>
              <a:rPr sz="1050" b="1">
                <a:solidFill>
                  <a:srgbClr val="112A40"/>
                </a:solidFill>
                <a:latin typeface="Helvetica"/>
              </a:rPr>
              <a:t>15   </a:t>
            </a:r>
            <a:r>
              <a:rPr sz="1050" b="1">
                <a:solidFill>
                  <a:srgbClr val="060606"/>
                </a:solidFill>
                <a:latin typeface="Helvetica"/>
              </a:rPr>
              <a:t>Les fonds propres sont négatifs. </a:t>
            </a:r>
            <a:r>
              <a:rPr sz="1050" b="0">
                <a:solidFill>
                  <a:srgbClr val="060606"/>
                </a:solidFill>
                <a:latin typeface="Helvetica"/>
              </a:rPr>
              <a:t>-879 498 700 FCFA au 31/08/2026. Comptes remis en ordre (constats 1, 4 et 6), ils seraient positifs d'environ 637 millions de FCFA.</a:t>
            </a:r>
          </a:p>
        </p:txBody>
      </p:sp>
      <p:sp>
        <p:nvSpPr>
          <p:cNvPr id="60" name="Rectangle 59"/>
          <p:cNvSpPr/>
          <p:nvPr/>
        </p:nvSpPr>
        <p:spPr>
          <a:xfrm>
            <a:off x="6480000" y="2853000"/>
            <a:ext cx="3384000" cy="567000"/>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Affecter les excédents aux réserves et faire les reclassements.</a:t>
            </a:r>
          </a:p>
        </p:txBody>
      </p:sp>
      <p:sp>
        <p:nvSpPr>
          <p:cNvPr id="61" name="Rectangle 60"/>
          <p:cNvSpPr/>
          <p:nvPr/>
        </p:nvSpPr>
        <p:spPr>
          <a:xfrm>
            <a:off x="9864000" y="2853000"/>
            <a:ext cx="936000" cy="567000"/>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2" name="Rectangle 61"/>
          <p:cNvSpPr/>
          <p:nvPr/>
        </p:nvSpPr>
        <p:spPr>
          <a:xfrm>
            <a:off x="10800000" y="2853000"/>
            <a:ext cx="936000" cy="567000"/>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3" name="Rounded Rectangle 62"/>
          <p:cNvSpPr/>
          <p:nvPr/>
        </p:nvSpPr>
        <p:spPr>
          <a:xfrm>
            <a:off x="9936000" y="3028500"/>
            <a:ext cx="792000" cy="216000"/>
          </a:xfrm>
          <a:prstGeom prst="round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Moyenne</a:t>
            </a:r>
          </a:p>
        </p:txBody>
      </p:sp>
      <p:sp>
        <p:nvSpPr>
          <p:cNvPr id="64" name="Rounded Rectangle 63"/>
          <p:cNvSpPr/>
          <p:nvPr/>
        </p:nvSpPr>
        <p:spPr>
          <a:xfrm>
            <a:off x="10962000" y="3028500"/>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65" name="Rectangle 64"/>
          <p:cNvSpPr/>
          <p:nvPr/>
        </p:nvSpPr>
        <p:spPr>
          <a:xfrm>
            <a:off x="503999" y="3420000"/>
            <a:ext cx="5976000" cy="5670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ED7D31"/>
                </a:solidFill>
                <a:latin typeface="Helvetica"/>
              </a:rPr>
              <a:t>● </a:t>
            </a:r>
            <a:r>
              <a:rPr sz="1050" b="1">
                <a:solidFill>
                  <a:srgbClr val="112A40"/>
                </a:solidFill>
                <a:latin typeface="Helvetica"/>
              </a:rPr>
              <a:t>9   </a:t>
            </a:r>
            <a:r>
              <a:rPr sz="1050" b="1">
                <a:solidFill>
                  <a:srgbClr val="060606"/>
                </a:solidFill>
                <a:latin typeface="Helvetica"/>
              </a:rPr>
              <a:t>L'épargne due est minorée en Assemblée générale. </a:t>
            </a:r>
            <a:r>
              <a:rPr sz="1050" b="0">
                <a:solidFill>
                  <a:srgbClr val="060606"/>
                </a:solidFill>
                <a:latin typeface="Helvetica"/>
              </a:rPr>
              <a:t>Rapport de gestion 2025 : 4 387 823 635 FCFA présentés, pour 13 814 066 964 FCFA dus.</a:t>
            </a:r>
          </a:p>
        </p:txBody>
      </p:sp>
      <p:sp>
        <p:nvSpPr>
          <p:cNvPr id="66" name="Rectangle 65"/>
          <p:cNvSpPr/>
          <p:nvPr/>
        </p:nvSpPr>
        <p:spPr>
          <a:xfrm>
            <a:off x="6480000" y="3420000"/>
            <a:ext cx="3384000" cy="5670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Présenter le solde dû, distinct de la collecte.</a:t>
            </a:r>
          </a:p>
        </p:txBody>
      </p:sp>
      <p:sp>
        <p:nvSpPr>
          <p:cNvPr id="67" name="Rectangle 66"/>
          <p:cNvSpPr/>
          <p:nvPr/>
        </p:nvSpPr>
        <p:spPr>
          <a:xfrm>
            <a:off x="9864000" y="3420000"/>
            <a:ext cx="936000" cy="5670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8" name="Rectangle 67"/>
          <p:cNvSpPr/>
          <p:nvPr/>
        </p:nvSpPr>
        <p:spPr>
          <a:xfrm>
            <a:off x="10800000" y="3420000"/>
            <a:ext cx="936000" cy="5670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9" name="Rounded Rectangle 68"/>
          <p:cNvSpPr/>
          <p:nvPr/>
        </p:nvSpPr>
        <p:spPr>
          <a:xfrm>
            <a:off x="9936000" y="3595500"/>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70" name="Rounded Rectangle 69"/>
          <p:cNvSpPr/>
          <p:nvPr/>
        </p:nvSpPr>
        <p:spPr>
          <a:xfrm>
            <a:off x="10962000" y="3595500"/>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71" name="Rectangle 70"/>
          <p:cNvSpPr/>
          <p:nvPr/>
        </p:nvSpPr>
        <p:spPr>
          <a:xfrm>
            <a:off x="503999" y="3986999"/>
            <a:ext cx="5976000" cy="567000"/>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FFC000"/>
                </a:solidFill>
                <a:latin typeface="Helvetica"/>
              </a:rPr>
              <a:t>● </a:t>
            </a:r>
            <a:r>
              <a:rPr sz="1050" b="1">
                <a:solidFill>
                  <a:srgbClr val="112A40"/>
                </a:solidFill>
                <a:latin typeface="Helvetica"/>
              </a:rPr>
              <a:t>18   </a:t>
            </a:r>
            <a:r>
              <a:rPr sz="1050" b="1">
                <a:solidFill>
                  <a:srgbClr val="060606"/>
                </a:solidFill>
                <a:latin typeface="Helvetica"/>
              </a:rPr>
              <a:t>Des sommes durables sont en comptes d'attente. </a:t>
            </a:r>
            <a:r>
              <a:rPr sz="1050" b="0">
                <a:solidFill>
                  <a:srgbClr val="060606"/>
                </a:solidFill>
                <a:latin typeface="Helvetica"/>
              </a:rPr>
              <a:t>11 603 989 675 FCFA d'avances et de créances suivis comme du court terme.</a:t>
            </a:r>
          </a:p>
        </p:txBody>
      </p:sp>
      <p:sp>
        <p:nvSpPr>
          <p:cNvPr id="72" name="Rectangle 71"/>
          <p:cNvSpPr/>
          <p:nvPr/>
        </p:nvSpPr>
        <p:spPr>
          <a:xfrm>
            <a:off x="6480000" y="3986999"/>
            <a:ext cx="3384000" cy="567000"/>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Reclasser dans les comptes prévus par le plan comptable.</a:t>
            </a:r>
          </a:p>
        </p:txBody>
      </p:sp>
      <p:sp>
        <p:nvSpPr>
          <p:cNvPr id="73" name="Rectangle 72"/>
          <p:cNvSpPr/>
          <p:nvPr/>
        </p:nvSpPr>
        <p:spPr>
          <a:xfrm>
            <a:off x="9864000" y="3986999"/>
            <a:ext cx="936000" cy="567000"/>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4" name="Rectangle 73"/>
          <p:cNvSpPr/>
          <p:nvPr/>
        </p:nvSpPr>
        <p:spPr>
          <a:xfrm>
            <a:off x="10800000" y="3986999"/>
            <a:ext cx="936000" cy="567000"/>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5" name="Rounded Rectangle 74"/>
          <p:cNvSpPr/>
          <p:nvPr/>
        </p:nvSpPr>
        <p:spPr>
          <a:xfrm>
            <a:off x="9936000" y="4162500"/>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76" name="Rounded Rectangle 75"/>
          <p:cNvSpPr/>
          <p:nvPr/>
        </p:nvSpPr>
        <p:spPr>
          <a:xfrm>
            <a:off x="10962000" y="4162500"/>
            <a:ext cx="612000" cy="216000"/>
          </a:xfrm>
          <a:prstGeom prst="round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P3</a:t>
            </a:r>
          </a:p>
        </p:txBody>
      </p:sp>
      <p:sp>
        <p:nvSpPr>
          <p:cNvPr id="77" name="Rectangle 76"/>
          <p:cNvSpPr/>
          <p:nvPr/>
        </p:nvSpPr>
        <p:spPr>
          <a:xfrm>
            <a:off x="503999" y="4553999"/>
            <a:ext cx="5976000" cy="5670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70AD47"/>
                </a:solidFill>
                <a:latin typeface="Helvetica"/>
              </a:rPr>
              <a:t>● </a:t>
            </a:r>
            <a:r>
              <a:rPr sz="1050" b="1">
                <a:solidFill>
                  <a:srgbClr val="112A40"/>
                </a:solidFill>
                <a:latin typeface="Helvetica"/>
              </a:rPr>
              <a:t>28   </a:t>
            </a:r>
            <a:r>
              <a:rPr sz="1050" b="1">
                <a:solidFill>
                  <a:srgbClr val="060606"/>
                </a:solidFill>
                <a:latin typeface="Helvetica"/>
              </a:rPr>
              <a:t>Deux versions des comptes 2023 existent. </a:t>
            </a:r>
            <a:r>
              <a:rPr sz="1050" b="0">
                <a:solidFill>
                  <a:srgbClr val="060606"/>
                </a:solidFill>
                <a:latin typeface="Helvetica"/>
              </a:rPr>
              <a:t>Excédent de 928 699 102 FCFA ou de 930 629 102 FCFA.</a:t>
            </a:r>
          </a:p>
        </p:txBody>
      </p:sp>
      <p:sp>
        <p:nvSpPr>
          <p:cNvPr id="78" name="Rectangle 77"/>
          <p:cNvSpPr/>
          <p:nvPr/>
        </p:nvSpPr>
        <p:spPr>
          <a:xfrm>
            <a:off x="6480000" y="4553999"/>
            <a:ext cx="3384000" cy="5670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Transmettre la version approuvée.</a:t>
            </a:r>
          </a:p>
        </p:txBody>
      </p:sp>
      <p:sp>
        <p:nvSpPr>
          <p:cNvPr id="79" name="Rectangle 78"/>
          <p:cNvSpPr/>
          <p:nvPr/>
        </p:nvSpPr>
        <p:spPr>
          <a:xfrm>
            <a:off x="9864000" y="4553999"/>
            <a:ext cx="936000" cy="5670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0" name="Rectangle 79"/>
          <p:cNvSpPr/>
          <p:nvPr/>
        </p:nvSpPr>
        <p:spPr>
          <a:xfrm>
            <a:off x="10800000" y="4553999"/>
            <a:ext cx="936000" cy="5670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1" name="Rounded Rectangle 80"/>
          <p:cNvSpPr/>
          <p:nvPr/>
        </p:nvSpPr>
        <p:spPr>
          <a:xfrm>
            <a:off x="9936000" y="4729500"/>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82" name="Rounded Rectangle 81"/>
          <p:cNvSpPr/>
          <p:nvPr/>
        </p:nvSpPr>
        <p:spPr>
          <a:xfrm>
            <a:off x="10962000" y="4729500"/>
            <a:ext cx="612000" cy="216000"/>
          </a:xfrm>
          <a:prstGeom prst="round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P3</a:t>
            </a:r>
          </a:p>
        </p:txBody>
      </p:sp>
      <p:sp>
        <p:nvSpPr>
          <p:cNvPr id="83" name="Rectangle 82"/>
          <p:cNvSpPr/>
          <p:nvPr/>
        </p:nvSpPr>
        <p:spPr>
          <a:xfrm>
            <a:off x="503999" y="5120999"/>
            <a:ext cx="5976000" cy="567000"/>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70AD47"/>
                </a:solidFill>
                <a:latin typeface="Helvetica"/>
              </a:rPr>
              <a:t>● </a:t>
            </a:r>
            <a:r>
              <a:rPr sz="1050" b="1">
                <a:solidFill>
                  <a:srgbClr val="112A40"/>
                </a:solidFill>
                <a:latin typeface="Helvetica"/>
              </a:rPr>
              <a:t>5   </a:t>
            </a:r>
            <a:r>
              <a:rPr sz="1050" b="1">
                <a:solidFill>
                  <a:srgbClr val="060606"/>
                </a:solidFill>
                <a:latin typeface="Helvetica"/>
              </a:rPr>
              <a:t>La provision du personnel est suffisante. </a:t>
            </a:r>
            <a:r>
              <a:rPr sz="1050" b="0">
                <a:solidFill>
                  <a:srgbClr val="060606"/>
                </a:solidFill>
                <a:latin typeface="Helvetica"/>
              </a:rPr>
              <a:t>43 666 678 FCFA pour 24 446 566 FCFA recalculés. Méthode non écrite.</a:t>
            </a:r>
          </a:p>
        </p:txBody>
      </p:sp>
      <p:sp>
        <p:nvSpPr>
          <p:cNvPr id="84" name="Rectangle 83"/>
          <p:cNvSpPr/>
          <p:nvPr/>
        </p:nvSpPr>
        <p:spPr>
          <a:xfrm>
            <a:off x="6480000" y="5120999"/>
            <a:ext cx="3384000" cy="567000"/>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Rédiger la note de calcul annuelle.</a:t>
            </a:r>
          </a:p>
        </p:txBody>
      </p:sp>
      <p:sp>
        <p:nvSpPr>
          <p:cNvPr id="85" name="Rectangle 84"/>
          <p:cNvSpPr/>
          <p:nvPr/>
        </p:nvSpPr>
        <p:spPr>
          <a:xfrm>
            <a:off x="9864000" y="5120999"/>
            <a:ext cx="936000" cy="567000"/>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6" name="Rectangle 85"/>
          <p:cNvSpPr/>
          <p:nvPr/>
        </p:nvSpPr>
        <p:spPr>
          <a:xfrm>
            <a:off x="10800000" y="5120999"/>
            <a:ext cx="936000" cy="567000"/>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7" name="Rounded Rectangle 86"/>
          <p:cNvSpPr/>
          <p:nvPr/>
        </p:nvSpPr>
        <p:spPr>
          <a:xfrm>
            <a:off x="9936000" y="5296499"/>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88" name="Rounded Rectangle 87"/>
          <p:cNvSpPr/>
          <p:nvPr/>
        </p:nvSpPr>
        <p:spPr>
          <a:xfrm>
            <a:off x="10962000" y="5296499"/>
            <a:ext cx="612000" cy="216000"/>
          </a:xfrm>
          <a:prstGeom prst="round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P4</a:t>
            </a:r>
          </a:p>
        </p:txBody>
      </p:sp>
      <p:sp>
        <p:nvSpPr>
          <p:cNvPr id="89" name="TextBox 88"/>
          <p:cNvSpPr txBox="1"/>
          <p:nvPr/>
        </p:nvSpPr>
        <p:spPr>
          <a:xfrm>
            <a:off x="503999" y="5716800"/>
            <a:ext cx="11232000" cy="151200"/>
          </a:xfrm>
          <a:prstGeom prst="rect">
            <a:avLst/>
          </a:prstGeom>
          <a:noFill/>
        </p:spPr>
        <p:txBody>
          <a:bodyPr wrap="square">
            <a:spAutoFit/>
          </a:bodyPr>
          <a:lstStyle/>
          <a:p>
            <a:r>
              <a:rPr sz="750" b="1">
                <a:solidFill>
                  <a:srgbClr val="060606"/>
                </a:solidFill>
                <a:latin typeface="Helvetica"/>
              </a:rPr>
              <a:t>Criticité : </a:t>
            </a:r>
            <a:r>
              <a:rPr sz="850" b="1">
                <a:solidFill>
                  <a:srgbClr val="C00000"/>
                </a:solidFill>
                <a:latin typeface="Helvetica"/>
              </a:rPr>
              <a:t>● </a:t>
            </a:r>
            <a:r>
              <a:rPr sz="750" b="0">
                <a:solidFill>
                  <a:srgbClr val="060606"/>
                </a:solidFill>
                <a:latin typeface="Helvetica"/>
              </a:rPr>
              <a:t>Critique   </a:t>
            </a:r>
            <a:r>
              <a:rPr sz="850" b="1">
                <a:solidFill>
                  <a:srgbClr val="ED7D31"/>
                </a:solidFill>
                <a:latin typeface="Helvetica"/>
              </a:rPr>
              <a:t>● </a:t>
            </a:r>
            <a:r>
              <a:rPr sz="750" b="0">
                <a:solidFill>
                  <a:srgbClr val="060606"/>
                </a:solidFill>
                <a:latin typeface="Helvetica"/>
              </a:rPr>
              <a:t>Élevé   </a:t>
            </a:r>
            <a:r>
              <a:rPr sz="850" b="1">
                <a:solidFill>
                  <a:srgbClr val="FFC000"/>
                </a:solidFill>
                <a:latin typeface="Helvetica"/>
              </a:rPr>
              <a:t>● </a:t>
            </a:r>
            <a:r>
              <a:rPr sz="750" b="0">
                <a:solidFill>
                  <a:srgbClr val="060606"/>
                </a:solidFill>
                <a:latin typeface="Helvetica"/>
              </a:rPr>
              <a:t>Moyen   </a:t>
            </a:r>
            <a:r>
              <a:rPr sz="850" b="1">
                <a:solidFill>
                  <a:srgbClr val="70AD47"/>
                </a:solidFill>
                <a:latin typeface="Helvetica"/>
              </a:rPr>
              <a:t>● </a:t>
            </a:r>
            <a:r>
              <a:rPr sz="750" b="0">
                <a:solidFill>
                  <a:srgbClr val="060606"/>
                </a:solidFill>
                <a:latin typeface="Helvetica"/>
              </a:rPr>
              <a:t>Faible   </a:t>
            </a:r>
            <a:r>
              <a:rPr sz="750" b="0">
                <a:solidFill>
                  <a:srgbClr val="060606"/>
                </a:solidFill>
                <a:latin typeface="Helvetica"/>
              </a:rPr>
              <a:t>Priorité : P1 dans les 3 mois, P2 dans les 6 mois, P3 de 6 à 18 mois, P4 au-delà.   Complexité : Faible (une décision suffit), Moyenne (travail interne), Élevée (tiers ou financement).   Numéros : ceux du résumé exécutif.</a:t>
            </a:r>
          </a:p>
        </p:txBody>
      </p:sp>
      <p:sp>
        <p:nvSpPr>
          <p:cNvPr id="90" name="TextBox 89"/>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 | MEDOC : produit santé complémentaire du poste 8Z7</a:t>
            </a:r>
          </a:p>
        </p:txBody>
      </p:sp>
    </p:spTree>
    <p:extLst>
      <p:ext uri="{BB962C8B-B14F-4D97-AF65-F5344CB8AC3E}">
        <p14:creationId xmlns:p14="http://schemas.microsoft.com/office/powerpoint/2010/main" val="2005206694"/>
      </p:ext>
    </p:extLst>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Trésorerie et placements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L'argent disponible ne couvre pas l'année, et l'épargne n'est pas mise à part</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Constat le plus grave : 11, L'argent disponible ne couvre pas l'année</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rapport actuariel et statistique du 23/10/2026. Logigrammes du FPPN (« FLOW_CHART_COTISATION_ET_PRODUITS_DEPARGNE_1.pptx »). Résumé exécutif du 26/10/2026</a:t>
            </a:r>
          </a:p>
        </p:txBody>
      </p:sp>
      <p:sp>
        <p:nvSpPr>
          <p:cNvPr id="31" name="Rectangle 30"/>
          <p:cNvSpPr/>
          <p:nvPr/>
        </p:nvSpPr>
        <p:spPr>
          <a:xfrm>
            <a:off x="503999" y="1411200"/>
            <a:ext cx="7085571" cy="1512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00" b="1">
                <a:solidFill>
                  <a:srgbClr val="FFFFFF"/>
                </a:solidFill>
                <a:latin typeface="Helvetica"/>
              </a:rPr>
              <a:t>PRODUITS</a:t>
            </a:r>
          </a:p>
        </p:txBody>
      </p:sp>
      <p:sp>
        <p:nvSpPr>
          <p:cNvPr id="32" name="Rectangle 31"/>
          <p:cNvSpPr/>
          <p:nvPr/>
        </p:nvSpPr>
        <p:spPr>
          <a:xfrm>
            <a:off x="7823571" y="1411200"/>
            <a:ext cx="3912428" cy="1512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00" b="1">
                <a:solidFill>
                  <a:srgbClr val="FFFFFF"/>
                </a:solidFill>
                <a:latin typeface="Helvetica"/>
              </a:rPr>
              <a:t>FONCTIONS TRANSVERSES</a:t>
            </a:r>
          </a:p>
        </p:txBody>
      </p:sp>
      <p:sp>
        <p:nvSpPr>
          <p:cNvPr id="33" name="Nav Maladie">
            <a:hlinkClick action="ppaction://hlinksldjump" r:id="rId7"/>
          </p:cNvPr>
          <p:cNvSpPr/>
          <p:nvPr/>
        </p:nvSpPr>
        <p:spPr>
          <a:xfrm>
            <a:off x="503999"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Maladie</a:t>
            </a:r>
          </a:p>
        </p:txBody>
      </p:sp>
      <p:sp>
        <p:nvSpPr>
          <p:cNvPr id="34" name="Nav Décès">
            <a:hlinkClick action="ppaction://hlinksldjump" r:id="rId8"/>
          </p:cNvPr>
          <p:cNvSpPr/>
          <p:nvPr/>
        </p:nvSpPr>
        <p:spPr>
          <a:xfrm>
            <a:off x="1297285"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Décès</a:t>
            </a:r>
          </a:p>
        </p:txBody>
      </p:sp>
      <p:sp>
        <p:nvSpPr>
          <p:cNvPr id="35" name="Nav Retraités (CGRAE)">
            <a:hlinkClick action="ppaction://hlinksldjump" r:id="rId9"/>
          </p:cNvPr>
          <p:cNvSpPr/>
          <p:nvPr/>
        </p:nvSpPr>
        <p:spPr>
          <a:xfrm>
            <a:off x="2090571"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Retraités</a:t>
            </a:r>
          </a:p>
        </p:txBody>
      </p:sp>
      <p:sp>
        <p:nvSpPr>
          <p:cNvPr id="36" name="Nav EFC">
            <a:hlinkClick action="ppaction://hlinksldjump" r:id="rId10"/>
          </p:cNvPr>
          <p:cNvSpPr/>
          <p:nvPr/>
        </p:nvSpPr>
        <p:spPr>
          <a:xfrm>
            <a:off x="2883857"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EFC</a:t>
            </a:r>
          </a:p>
        </p:txBody>
      </p:sp>
      <p:sp>
        <p:nvSpPr>
          <p:cNvPr id="37" name="Nav PEP">
            <a:hlinkClick action="ppaction://hlinksldjump" r:id="rId11"/>
          </p:cNvPr>
          <p:cNvSpPr/>
          <p:nvPr/>
        </p:nvSpPr>
        <p:spPr>
          <a:xfrm>
            <a:off x="3677142"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PEP</a:t>
            </a:r>
          </a:p>
        </p:txBody>
      </p:sp>
      <p:sp>
        <p:nvSpPr>
          <p:cNvPr id="38" name="Nav MEDOC">
            <a:hlinkClick action="ppaction://hlinksldjump" r:id="rId11"/>
          </p:cNvPr>
          <p:cNvSpPr/>
          <p:nvPr/>
        </p:nvSpPr>
        <p:spPr>
          <a:xfrm>
            <a:off x="4470428"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MEDOC</a:t>
            </a:r>
          </a:p>
        </p:txBody>
      </p:sp>
      <p:sp>
        <p:nvSpPr>
          <p:cNvPr id="39" name="Nav Grenier">
            <a:hlinkClick action="ppaction://hlinksldjump" r:id="rId12"/>
          </p:cNvPr>
          <p:cNvSpPr/>
          <p:nvPr/>
        </p:nvSpPr>
        <p:spPr>
          <a:xfrm>
            <a:off x="5263714"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Grenier</a:t>
            </a:r>
          </a:p>
        </p:txBody>
      </p:sp>
      <p:sp>
        <p:nvSpPr>
          <p:cNvPr id="40" name="Nav Flotte automobile">
            <a:hlinkClick action="ppaction://hlinksldjump" r:id="rId13"/>
          </p:cNvPr>
          <p:cNvSpPr/>
          <p:nvPr/>
        </p:nvSpPr>
        <p:spPr>
          <a:xfrm>
            <a:off x="6057000"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FFC000"/>
                </a:solidFill>
                <a:latin typeface="Helvetica"/>
              </a:rPr>
              <a:t>● </a:t>
            </a:r>
            <a:r>
              <a:rPr sz="750" b="0">
                <a:solidFill>
                  <a:srgbClr val="53565A"/>
                </a:solidFill>
                <a:latin typeface="Helvetica"/>
              </a:rPr>
              <a:t>Flotte auto</a:t>
            </a:r>
          </a:p>
        </p:txBody>
      </p:sp>
      <p:sp>
        <p:nvSpPr>
          <p:cNvPr id="41" name="Nav Clinique (CMP)">
            <a:hlinkClick action="ppaction://hlinksldjump" r:id="rId13"/>
          </p:cNvPr>
          <p:cNvSpPr/>
          <p:nvPr/>
        </p:nvSpPr>
        <p:spPr>
          <a:xfrm>
            <a:off x="6850285"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Clinique</a:t>
            </a:r>
          </a:p>
        </p:txBody>
      </p:sp>
      <p:sp>
        <p:nvSpPr>
          <p:cNvPr id="42" name="Nav Cotisations et précomptes">
            <a:hlinkClick action="ppaction://hlinksldjump" r:id="rId14"/>
          </p:cNvPr>
          <p:cNvSpPr/>
          <p:nvPr/>
        </p:nvSpPr>
        <p:spPr>
          <a:xfrm>
            <a:off x="7823571"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Cotisations</a:t>
            </a:r>
          </a:p>
        </p:txBody>
      </p:sp>
      <p:sp>
        <p:nvSpPr>
          <p:cNvPr id="43" name="Nav Comptabilité et provisions">
            <a:hlinkClick action="ppaction://hlinksldjump" r:id="rId15"/>
          </p:cNvPr>
          <p:cNvSpPr/>
          <p:nvPr/>
        </p:nvSpPr>
        <p:spPr>
          <a:xfrm>
            <a:off x="8616857"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Comptabilité</a:t>
            </a:r>
          </a:p>
        </p:txBody>
      </p:sp>
      <p:sp>
        <p:nvSpPr>
          <p:cNvPr id="44" name="Nav Trésorerie et placements"/>
          <p:cNvSpPr/>
          <p:nvPr/>
        </p:nvSpPr>
        <p:spPr>
          <a:xfrm>
            <a:off x="9410142" y="1591200"/>
            <a:ext cx="739285" cy="1800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1">
                <a:solidFill>
                  <a:srgbClr val="FFFFFF"/>
                </a:solidFill>
                <a:latin typeface="Helvetica"/>
              </a:rPr>
              <a:t>Trésorerie</a:t>
            </a:r>
          </a:p>
        </p:txBody>
      </p:sp>
      <p:sp>
        <p:nvSpPr>
          <p:cNvPr id="45" name="Nav Gouvernance">
            <a:hlinkClick action="ppaction://hlinksldjump" r:id="rId16"/>
          </p:cNvPr>
          <p:cNvSpPr/>
          <p:nvPr/>
        </p:nvSpPr>
        <p:spPr>
          <a:xfrm>
            <a:off x="10203428"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Gouvernance</a:t>
            </a:r>
          </a:p>
        </p:txBody>
      </p:sp>
      <p:sp>
        <p:nvSpPr>
          <p:cNvPr id="46" name="Nav Données et informatique">
            <a:hlinkClick action="ppaction://hlinksldjump" r:id="rId17"/>
          </p:cNvPr>
          <p:cNvSpPr/>
          <p:nvPr/>
        </p:nvSpPr>
        <p:spPr>
          <a:xfrm>
            <a:off x="10996714"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Données</a:t>
            </a:r>
          </a:p>
        </p:txBody>
      </p:sp>
      <p:sp>
        <p:nvSpPr>
          <p:cNvPr id="47" name="Bloc Trésorerie et placements"/>
          <p:cNvSpPr/>
          <p:nvPr/>
        </p:nvSpPr>
        <p:spPr>
          <a:xfrm>
            <a:off x="503999" y="1835999"/>
            <a:ext cx="11232000" cy="2232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00" b="1">
                <a:solidFill>
                  <a:srgbClr val="C00000"/>
                </a:solidFill>
                <a:latin typeface="Helvetica"/>
              </a:rPr>
              <a:t>● </a:t>
            </a:r>
            <a:r>
              <a:rPr sz="1000" b="0">
                <a:solidFill>
                  <a:srgbClr val="BBBCBC"/>
                </a:solidFill>
                <a:latin typeface="Helvetica"/>
              </a:rPr>
              <a:t>FONCTIONS TRANSVERSES  ›  </a:t>
            </a:r>
            <a:r>
              <a:rPr sz="1200" b="1">
                <a:solidFill>
                  <a:srgbClr val="FFFFFF"/>
                </a:solidFill>
                <a:latin typeface="Helvetica"/>
              </a:rPr>
              <a:t>TRÉSORERIE ET PLACEMENTS</a:t>
            </a:r>
            <a:r>
              <a:rPr sz="950" b="0">
                <a:solidFill>
                  <a:srgbClr val="FFFFFF"/>
                </a:solidFill>
                <a:latin typeface="Helvetica"/>
              </a:rPr>
              <a:t>     6 constats, dont 1 à traiter dans les trois mois</a:t>
            </a:r>
          </a:p>
        </p:txBody>
      </p:sp>
      <p:sp>
        <p:nvSpPr>
          <p:cNvPr id="48" name="Nav Carte">
            <a:hlinkClick action="ppaction://hlinksldjump" r:id="rId18"/>
          </p:cNvPr>
          <p:cNvSpPr/>
          <p:nvPr/>
        </p:nvSpPr>
        <p:spPr>
          <a:xfrm>
            <a:off x="10007999" y="1871999"/>
            <a:ext cx="1655999" cy="151200"/>
          </a:xfrm>
          <a:prstGeom prst="rect">
            <a:avLst/>
          </a:prstGeom>
          <a:solidFill>
            <a:srgbClr val="53565A"/>
          </a:solidFill>
          <a:ln w="952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50" b="1">
                <a:solidFill>
                  <a:srgbClr val="FFFFFF"/>
                </a:solidFill>
                <a:latin typeface="Helvetica"/>
              </a:rPr>
              <a:t>↩ Carte des activités</a:t>
            </a:r>
          </a:p>
        </p:txBody>
      </p:sp>
      <p:sp>
        <p:nvSpPr>
          <p:cNvPr id="49" name="Rectangle 48"/>
          <p:cNvSpPr/>
          <p:nvPr/>
        </p:nvSpPr>
        <p:spPr>
          <a:xfrm>
            <a:off x="503999" y="2088000"/>
            <a:ext cx="597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Constat et commentaire</a:t>
            </a:r>
          </a:p>
        </p:txBody>
      </p:sp>
      <p:sp>
        <p:nvSpPr>
          <p:cNvPr id="50" name="Rectangle 49"/>
          <p:cNvSpPr/>
          <p:nvPr/>
        </p:nvSpPr>
        <p:spPr>
          <a:xfrm>
            <a:off x="6480000" y="2088000"/>
            <a:ext cx="3384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Recommandation</a:t>
            </a:r>
          </a:p>
        </p:txBody>
      </p:sp>
      <p:sp>
        <p:nvSpPr>
          <p:cNvPr id="51" name="Rectangle 50"/>
          <p:cNvSpPr/>
          <p:nvPr/>
        </p:nvSpPr>
        <p:spPr>
          <a:xfrm>
            <a:off x="9864000" y="2088000"/>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Complexité</a:t>
            </a:r>
          </a:p>
        </p:txBody>
      </p:sp>
      <p:sp>
        <p:nvSpPr>
          <p:cNvPr id="52" name="Rectangle 51"/>
          <p:cNvSpPr/>
          <p:nvPr/>
        </p:nvSpPr>
        <p:spPr>
          <a:xfrm>
            <a:off x="10800000" y="2088000"/>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Priorité</a:t>
            </a:r>
          </a:p>
        </p:txBody>
      </p:sp>
      <p:sp>
        <p:nvSpPr>
          <p:cNvPr id="53" name="Rectangle 52"/>
          <p:cNvSpPr/>
          <p:nvPr/>
        </p:nvSpPr>
        <p:spPr>
          <a:xfrm>
            <a:off x="503999" y="2286000"/>
            <a:ext cx="5976000" cy="51362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C00000"/>
                </a:solidFill>
                <a:latin typeface="Helvetica"/>
              </a:rPr>
              <a:t>● </a:t>
            </a:r>
            <a:r>
              <a:rPr sz="1050" b="1">
                <a:solidFill>
                  <a:srgbClr val="112A40"/>
                </a:solidFill>
                <a:latin typeface="Helvetica"/>
              </a:rPr>
              <a:t>11   </a:t>
            </a:r>
            <a:r>
              <a:rPr sz="1050" b="1">
                <a:solidFill>
                  <a:srgbClr val="060606"/>
                </a:solidFill>
                <a:latin typeface="Helvetica"/>
              </a:rPr>
              <a:t>L'argent disponible ne couvre pas l'année. </a:t>
            </a:r>
            <a:r>
              <a:rPr sz="1050" b="0">
                <a:solidFill>
                  <a:srgbClr val="060606"/>
                </a:solidFill>
                <a:latin typeface="Helvetica"/>
              </a:rPr>
              <a:t>34,42 % des paiements de l'année couverts au 31/08/2026. Manque cumulé de 12 596 052 822 FCFA à cinq ans.</a:t>
            </a:r>
          </a:p>
        </p:txBody>
      </p:sp>
      <p:sp>
        <p:nvSpPr>
          <p:cNvPr id="54" name="Rectangle 53"/>
          <p:cNvSpPr/>
          <p:nvPr/>
        </p:nvSpPr>
        <p:spPr>
          <a:xfrm>
            <a:off x="6480000" y="2286000"/>
            <a:ext cx="3384000" cy="51362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Réserve de trésorerie et échéancier des sorties d'épargne.</a:t>
            </a:r>
          </a:p>
        </p:txBody>
      </p:sp>
      <p:sp>
        <p:nvSpPr>
          <p:cNvPr id="55" name="Rectangle 54"/>
          <p:cNvSpPr/>
          <p:nvPr/>
        </p:nvSpPr>
        <p:spPr>
          <a:xfrm>
            <a:off x="9864000" y="2286000"/>
            <a:ext cx="936000" cy="51362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56" name="Rectangle 55"/>
          <p:cNvSpPr/>
          <p:nvPr/>
        </p:nvSpPr>
        <p:spPr>
          <a:xfrm>
            <a:off x="10800000" y="2286000"/>
            <a:ext cx="936000" cy="51362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57" name="Rounded Rectangle 56"/>
          <p:cNvSpPr/>
          <p:nvPr/>
        </p:nvSpPr>
        <p:spPr>
          <a:xfrm>
            <a:off x="9936000" y="2434813"/>
            <a:ext cx="792000" cy="216000"/>
          </a:xfrm>
          <a:prstGeom prst="roundRect">
            <a:avLst/>
          </a:prstGeom>
          <a:solidFill>
            <a:srgbClr val="F4CC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Élevée</a:t>
            </a:r>
          </a:p>
        </p:txBody>
      </p:sp>
      <p:sp>
        <p:nvSpPr>
          <p:cNvPr id="58" name="Rounded Rectangle 57"/>
          <p:cNvSpPr/>
          <p:nvPr/>
        </p:nvSpPr>
        <p:spPr>
          <a:xfrm>
            <a:off x="10962000" y="2434813"/>
            <a:ext cx="612000" cy="216000"/>
          </a:xfrm>
          <a:prstGeom prst="round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P1</a:t>
            </a:r>
          </a:p>
        </p:txBody>
      </p:sp>
      <p:sp>
        <p:nvSpPr>
          <p:cNvPr id="59" name="Rectangle 58"/>
          <p:cNvSpPr/>
          <p:nvPr/>
        </p:nvSpPr>
        <p:spPr>
          <a:xfrm>
            <a:off x="503999" y="2799626"/>
            <a:ext cx="5976000" cy="513626"/>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ED7D31"/>
                </a:solidFill>
                <a:latin typeface="Helvetica"/>
              </a:rPr>
              <a:t>● </a:t>
            </a:r>
            <a:r>
              <a:rPr sz="1050" b="1">
                <a:solidFill>
                  <a:srgbClr val="112A40"/>
                </a:solidFill>
                <a:latin typeface="Helvetica"/>
              </a:rPr>
              <a:t>10   </a:t>
            </a:r>
            <a:r>
              <a:rPr sz="1050" b="1">
                <a:solidFill>
                  <a:srgbClr val="060606"/>
                </a:solidFill>
                <a:latin typeface="Helvetica"/>
              </a:rPr>
              <a:t>L'épargne n'est pas séparée. </a:t>
            </a:r>
            <a:r>
              <a:rPr sz="1050" b="0">
                <a:solidFill>
                  <a:srgbClr val="060606"/>
                </a:solidFill>
                <a:latin typeface="Helvetica"/>
              </a:rPr>
              <a:t>16,28 % de l'épargne couverte par des actifs qui lui sont réservés.</a:t>
            </a:r>
          </a:p>
        </p:txBody>
      </p:sp>
      <p:sp>
        <p:nvSpPr>
          <p:cNvPr id="60" name="Rectangle 59"/>
          <p:cNvSpPr/>
          <p:nvPr/>
        </p:nvSpPr>
        <p:spPr>
          <a:xfrm>
            <a:off x="6480000" y="2799626"/>
            <a:ext cx="3384000" cy="513626"/>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Comptes réservés à l'épargne et objectif de couverture.</a:t>
            </a:r>
          </a:p>
        </p:txBody>
      </p:sp>
      <p:sp>
        <p:nvSpPr>
          <p:cNvPr id="61" name="Rectangle 60"/>
          <p:cNvSpPr/>
          <p:nvPr/>
        </p:nvSpPr>
        <p:spPr>
          <a:xfrm>
            <a:off x="9864000" y="2799626"/>
            <a:ext cx="936000" cy="513626"/>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2" name="Rectangle 61"/>
          <p:cNvSpPr/>
          <p:nvPr/>
        </p:nvSpPr>
        <p:spPr>
          <a:xfrm>
            <a:off x="10800000" y="2799626"/>
            <a:ext cx="936000" cy="513626"/>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3" name="Rounded Rectangle 62"/>
          <p:cNvSpPr/>
          <p:nvPr/>
        </p:nvSpPr>
        <p:spPr>
          <a:xfrm>
            <a:off x="9936000" y="2948439"/>
            <a:ext cx="792000" cy="216000"/>
          </a:xfrm>
          <a:prstGeom prst="round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Moyenne</a:t>
            </a:r>
          </a:p>
        </p:txBody>
      </p:sp>
      <p:sp>
        <p:nvSpPr>
          <p:cNvPr id="64" name="Rounded Rectangle 63"/>
          <p:cNvSpPr/>
          <p:nvPr/>
        </p:nvSpPr>
        <p:spPr>
          <a:xfrm>
            <a:off x="10962000" y="2948439"/>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65" name="Rectangle 64"/>
          <p:cNvSpPr/>
          <p:nvPr/>
        </p:nvSpPr>
        <p:spPr>
          <a:xfrm>
            <a:off x="503999" y="3313252"/>
            <a:ext cx="5976000" cy="673747"/>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ED7D31"/>
                </a:solidFill>
                <a:latin typeface="Helvetica"/>
              </a:rPr>
              <a:t>● </a:t>
            </a:r>
            <a:r>
              <a:rPr sz="1050" b="1">
                <a:solidFill>
                  <a:srgbClr val="112A40"/>
                </a:solidFill>
                <a:latin typeface="Helvetica"/>
              </a:rPr>
              <a:t>12   </a:t>
            </a:r>
            <a:r>
              <a:rPr sz="1050" b="1">
                <a:solidFill>
                  <a:srgbClr val="060606"/>
                </a:solidFill>
                <a:latin typeface="Helvetica"/>
              </a:rPr>
              <a:t>Les biens ne se vendent pas vite. </a:t>
            </a:r>
            <a:r>
              <a:rPr sz="1050" b="0">
                <a:solidFill>
                  <a:srgbClr val="060606"/>
                </a:solidFill>
                <a:latin typeface="Helvetica"/>
              </a:rPr>
              <a:t>Plus des trois quarts de l'actif à plus de cinq ans. Couverture des dettes : 96,33 % sur le papier, 27,19 % sans les biens non évalués. Créance sur l'hôpital de 3 407 519 850 FCFA inchangée depuis 2020.</a:t>
            </a:r>
          </a:p>
        </p:txBody>
      </p:sp>
      <p:sp>
        <p:nvSpPr>
          <p:cNvPr id="66" name="Rectangle 65"/>
          <p:cNvSpPr/>
          <p:nvPr/>
        </p:nvSpPr>
        <p:spPr>
          <a:xfrm>
            <a:off x="6480000" y="3313252"/>
            <a:ext cx="3384000" cy="673747"/>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Évaluer les biens et obtenir un accord de l'État sur la créance.</a:t>
            </a:r>
          </a:p>
        </p:txBody>
      </p:sp>
      <p:sp>
        <p:nvSpPr>
          <p:cNvPr id="67" name="Rectangle 66"/>
          <p:cNvSpPr/>
          <p:nvPr/>
        </p:nvSpPr>
        <p:spPr>
          <a:xfrm>
            <a:off x="9864000" y="3313252"/>
            <a:ext cx="936000" cy="673747"/>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8" name="Rectangle 67"/>
          <p:cNvSpPr/>
          <p:nvPr/>
        </p:nvSpPr>
        <p:spPr>
          <a:xfrm>
            <a:off x="10800000" y="3313252"/>
            <a:ext cx="936000" cy="673747"/>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9" name="Rounded Rectangle 68"/>
          <p:cNvSpPr/>
          <p:nvPr/>
        </p:nvSpPr>
        <p:spPr>
          <a:xfrm>
            <a:off x="9936000" y="3542126"/>
            <a:ext cx="792000" cy="216000"/>
          </a:xfrm>
          <a:prstGeom prst="roundRect">
            <a:avLst/>
          </a:prstGeom>
          <a:solidFill>
            <a:srgbClr val="F4CC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Élevée</a:t>
            </a:r>
          </a:p>
        </p:txBody>
      </p:sp>
      <p:sp>
        <p:nvSpPr>
          <p:cNvPr id="70" name="Rounded Rectangle 69"/>
          <p:cNvSpPr/>
          <p:nvPr/>
        </p:nvSpPr>
        <p:spPr>
          <a:xfrm>
            <a:off x="10962000" y="3542126"/>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71" name="Rectangle 70"/>
          <p:cNvSpPr/>
          <p:nvPr/>
        </p:nvSpPr>
        <p:spPr>
          <a:xfrm>
            <a:off x="503999" y="3987000"/>
            <a:ext cx="5976000" cy="673747"/>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ED7D31"/>
                </a:solidFill>
                <a:latin typeface="Helvetica"/>
              </a:rPr>
              <a:t>● </a:t>
            </a:r>
            <a:r>
              <a:rPr sz="1050" b="1">
                <a:solidFill>
                  <a:srgbClr val="112A40"/>
                </a:solidFill>
                <a:latin typeface="Helvetica"/>
              </a:rPr>
              <a:t>23   </a:t>
            </a:r>
            <a:r>
              <a:rPr sz="1050" b="1">
                <a:solidFill>
                  <a:srgbClr val="060606"/>
                </a:solidFill>
                <a:latin typeface="Helvetica"/>
              </a:rPr>
              <a:t>Les placements sont trop faibles. </a:t>
            </a:r>
            <a:r>
              <a:rPr sz="1050" b="0">
                <a:solidFill>
                  <a:srgbClr val="060606"/>
                </a:solidFill>
                <a:latin typeface="Helvetica"/>
              </a:rPr>
              <a:t>5,53 % de l'épargne réellement placée en 2025. Rendement de 4,90 % par an, mais les intérêts dus dépassent les produits de 470 608 168 FCFA en 2025.</a:t>
            </a:r>
          </a:p>
        </p:txBody>
      </p:sp>
      <p:sp>
        <p:nvSpPr>
          <p:cNvPr id="72" name="Rectangle 71"/>
          <p:cNvSpPr/>
          <p:nvPr/>
        </p:nvSpPr>
        <p:spPr>
          <a:xfrm>
            <a:off x="6480000" y="3987000"/>
            <a:ext cx="3384000" cy="673747"/>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Faire voter une politique de placement.</a:t>
            </a:r>
          </a:p>
        </p:txBody>
      </p:sp>
      <p:sp>
        <p:nvSpPr>
          <p:cNvPr id="73" name="Rectangle 72"/>
          <p:cNvSpPr/>
          <p:nvPr/>
        </p:nvSpPr>
        <p:spPr>
          <a:xfrm>
            <a:off x="9864000" y="3987000"/>
            <a:ext cx="936000" cy="673747"/>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4" name="Rectangle 73"/>
          <p:cNvSpPr/>
          <p:nvPr/>
        </p:nvSpPr>
        <p:spPr>
          <a:xfrm>
            <a:off x="10800000" y="3987000"/>
            <a:ext cx="936000" cy="673747"/>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5" name="Rounded Rectangle 74"/>
          <p:cNvSpPr/>
          <p:nvPr/>
        </p:nvSpPr>
        <p:spPr>
          <a:xfrm>
            <a:off x="9936000" y="4215873"/>
            <a:ext cx="792000" cy="216000"/>
          </a:xfrm>
          <a:prstGeom prst="round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Moyenne</a:t>
            </a:r>
          </a:p>
        </p:txBody>
      </p:sp>
      <p:sp>
        <p:nvSpPr>
          <p:cNvPr id="76" name="Rounded Rectangle 75"/>
          <p:cNvSpPr/>
          <p:nvPr/>
        </p:nvSpPr>
        <p:spPr>
          <a:xfrm>
            <a:off x="10962000" y="4215873"/>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77" name="Rectangle 76"/>
          <p:cNvSpPr/>
          <p:nvPr/>
        </p:nvSpPr>
        <p:spPr>
          <a:xfrm>
            <a:off x="503999" y="4660747"/>
            <a:ext cx="5976000" cy="51362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FFC000"/>
                </a:solidFill>
                <a:latin typeface="Helvetica"/>
              </a:rPr>
              <a:t>● </a:t>
            </a:r>
            <a:r>
              <a:rPr sz="1050" b="1">
                <a:solidFill>
                  <a:srgbClr val="112A40"/>
                </a:solidFill>
                <a:latin typeface="Helvetica"/>
              </a:rPr>
              <a:t>13   </a:t>
            </a:r>
            <a:r>
              <a:rPr sz="1050" b="1">
                <a:solidFill>
                  <a:srgbClr val="060606"/>
                </a:solidFill>
                <a:latin typeface="Helvetica"/>
              </a:rPr>
              <a:t>Une partie de la trésorerie dort. </a:t>
            </a:r>
            <a:r>
              <a:rPr sz="1050" b="0">
                <a:solidFill>
                  <a:srgbClr val="060606"/>
                </a:solidFill>
                <a:latin typeface="Helvetica"/>
              </a:rPr>
              <a:t>2 356 399 123 FCFA sur des comptes non rémunérés.</a:t>
            </a:r>
          </a:p>
        </p:txBody>
      </p:sp>
      <p:sp>
        <p:nvSpPr>
          <p:cNvPr id="78" name="Rectangle 77"/>
          <p:cNvSpPr/>
          <p:nvPr/>
        </p:nvSpPr>
        <p:spPr>
          <a:xfrm>
            <a:off x="6480000" y="4660747"/>
            <a:ext cx="3384000" cy="51362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Placer à court terme la trésorerie non utilisée.</a:t>
            </a:r>
          </a:p>
        </p:txBody>
      </p:sp>
      <p:sp>
        <p:nvSpPr>
          <p:cNvPr id="79" name="Rectangle 78"/>
          <p:cNvSpPr/>
          <p:nvPr/>
        </p:nvSpPr>
        <p:spPr>
          <a:xfrm>
            <a:off x="9864000" y="4660747"/>
            <a:ext cx="936000" cy="51362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0" name="Rectangle 79"/>
          <p:cNvSpPr/>
          <p:nvPr/>
        </p:nvSpPr>
        <p:spPr>
          <a:xfrm>
            <a:off x="10800000" y="4660747"/>
            <a:ext cx="936000" cy="51362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1" name="Rounded Rectangle 80"/>
          <p:cNvSpPr/>
          <p:nvPr/>
        </p:nvSpPr>
        <p:spPr>
          <a:xfrm>
            <a:off x="9936000" y="4809560"/>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82" name="Rounded Rectangle 81"/>
          <p:cNvSpPr/>
          <p:nvPr/>
        </p:nvSpPr>
        <p:spPr>
          <a:xfrm>
            <a:off x="10962000" y="4809560"/>
            <a:ext cx="612000" cy="216000"/>
          </a:xfrm>
          <a:prstGeom prst="round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P3</a:t>
            </a:r>
          </a:p>
        </p:txBody>
      </p:sp>
      <p:sp>
        <p:nvSpPr>
          <p:cNvPr id="83" name="Rectangle 82"/>
          <p:cNvSpPr/>
          <p:nvPr/>
        </p:nvSpPr>
        <p:spPr>
          <a:xfrm>
            <a:off x="503999" y="5174373"/>
            <a:ext cx="5976000" cy="513626"/>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FFC000"/>
                </a:solidFill>
                <a:latin typeface="Helvetica"/>
              </a:rPr>
              <a:t>● </a:t>
            </a:r>
            <a:r>
              <a:rPr sz="1050" b="1">
                <a:solidFill>
                  <a:srgbClr val="112A40"/>
                </a:solidFill>
                <a:latin typeface="Helvetica"/>
              </a:rPr>
              <a:t>23.b   </a:t>
            </a:r>
            <a:r>
              <a:rPr sz="1050" b="1">
                <a:solidFill>
                  <a:srgbClr val="060606"/>
                </a:solidFill>
                <a:latin typeface="Helvetica"/>
              </a:rPr>
              <a:t>Le fonds commun de placement n'est pas suivi. </a:t>
            </a:r>
            <a:r>
              <a:rPr sz="1050" b="0">
                <a:solidFill>
                  <a:srgbClr val="060606"/>
                </a:solidFill>
                <a:latin typeface="Helvetica"/>
              </a:rPr>
              <a:t>500 000 000 FCFA placés en 2025, non garantis et non revalorisés dans les comptes.</a:t>
            </a:r>
          </a:p>
        </p:txBody>
      </p:sp>
      <p:sp>
        <p:nvSpPr>
          <p:cNvPr id="84" name="Rectangle 83"/>
          <p:cNvSpPr/>
          <p:nvPr/>
        </p:nvSpPr>
        <p:spPr>
          <a:xfrm>
            <a:off x="6480000" y="5174373"/>
            <a:ext cx="3384000" cy="513626"/>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Suivre la valeur liquidative.</a:t>
            </a:r>
          </a:p>
        </p:txBody>
      </p:sp>
      <p:sp>
        <p:nvSpPr>
          <p:cNvPr id="85" name="Rectangle 84"/>
          <p:cNvSpPr/>
          <p:nvPr/>
        </p:nvSpPr>
        <p:spPr>
          <a:xfrm>
            <a:off x="9864000" y="5174373"/>
            <a:ext cx="936000" cy="513626"/>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6" name="Rectangle 85"/>
          <p:cNvSpPr/>
          <p:nvPr/>
        </p:nvSpPr>
        <p:spPr>
          <a:xfrm>
            <a:off x="10800000" y="5174373"/>
            <a:ext cx="936000" cy="513626"/>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87" name="Rounded Rectangle 86"/>
          <p:cNvSpPr/>
          <p:nvPr/>
        </p:nvSpPr>
        <p:spPr>
          <a:xfrm>
            <a:off x="9936000" y="5323186"/>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88" name="Rounded Rectangle 87"/>
          <p:cNvSpPr/>
          <p:nvPr/>
        </p:nvSpPr>
        <p:spPr>
          <a:xfrm>
            <a:off x="10962000" y="5323186"/>
            <a:ext cx="612000" cy="216000"/>
          </a:xfrm>
          <a:prstGeom prst="round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P3</a:t>
            </a:r>
          </a:p>
        </p:txBody>
      </p:sp>
      <p:sp>
        <p:nvSpPr>
          <p:cNvPr id="89" name="TextBox 88"/>
          <p:cNvSpPr txBox="1"/>
          <p:nvPr/>
        </p:nvSpPr>
        <p:spPr>
          <a:xfrm>
            <a:off x="503999" y="5716800"/>
            <a:ext cx="11232000" cy="151200"/>
          </a:xfrm>
          <a:prstGeom prst="rect">
            <a:avLst/>
          </a:prstGeom>
          <a:noFill/>
        </p:spPr>
        <p:txBody>
          <a:bodyPr wrap="square">
            <a:spAutoFit/>
          </a:bodyPr>
          <a:lstStyle/>
          <a:p>
            <a:r>
              <a:rPr sz="750" b="1">
                <a:solidFill>
                  <a:srgbClr val="060606"/>
                </a:solidFill>
                <a:latin typeface="Helvetica"/>
              </a:rPr>
              <a:t>Criticité : </a:t>
            </a:r>
            <a:r>
              <a:rPr sz="850" b="1">
                <a:solidFill>
                  <a:srgbClr val="C00000"/>
                </a:solidFill>
                <a:latin typeface="Helvetica"/>
              </a:rPr>
              <a:t>● </a:t>
            </a:r>
            <a:r>
              <a:rPr sz="750" b="0">
                <a:solidFill>
                  <a:srgbClr val="060606"/>
                </a:solidFill>
                <a:latin typeface="Helvetica"/>
              </a:rPr>
              <a:t>Critique   </a:t>
            </a:r>
            <a:r>
              <a:rPr sz="850" b="1">
                <a:solidFill>
                  <a:srgbClr val="ED7D31"/>
                </a:solidFill>
                <a:latin typeface="Helvetica"/>
              </a:rPr>
              <a:t>● </a:t>
            </a:r>
            <a:r>
              <a:rPr sz="750" b="0">
                <a:solidFill>
                  <a:srgbClr val="060606"/>
                </a:solidFill>
                <a:latin typeface="Helvetica"/>
              </a:rPr>
              <a:t>Élevé   </a:t>
            </a:r>
            <a:r>
              <a:rPr sz="850" b="1">
                <a:solidFill>
                  <a:srgbClr val="FFC000"/>
                </a:solidFill>
                <a:latin typeface="Helvetica"/>
              </a:rPr>
              <a:t>● </a:t>
            </a:r>
            <a:r>
              <a:rPr sz="750" b="0">
                <a:solidFill>
                  <a:srgbClr val="060606"/>
                </a:solidFill>
                <a:latin typeface="Helvetica"/>
              </a:rPr>
              <a:t>Moyen   </a:t>
            </a:r>
            <a:r>
              <a:rPr sz="850" b="1">
                <a:solidFill>
                  <a:srgbClr val="70AD47"/>
                </a:solidFill>
                <a:latin typeface="Helvetica"/>
              </a:rPr>
              <a:t>● </a:t>
            </a:r>
            <a:r>
              <a:rPr sz="750" b="0">
                <a:solidFill>
                  <a:srgbClr val="060606"/>
                </a:solidFill>
                <a:latin typeface="Helvetica"/>
              </a:rPr>
              <a:t>Faible   </a:t>
            </a:r>
            <a:r>
              <a:rPr sz="750" b="0">
                <a:solidFill>
                  <a:srgbClr val="060606"/>
                </a:solidFill>
                <a:latin typeface="Helvetica"/>
              </a:rPr>
              <a:t>Priorité : P1 dans les 3 mois, P2 dans les 6 mois, P3 de 6 à 18 mois, P4 au-delà.   Complexité : Faible (une décision suffit), Moyenne (travail interne), Élevée (tiers ou financement).   Numéros : ceux du résumé exécutif.</a:t>
            </a:r>
          </a:p>
        </p:txBody>
      </p:sp>
      <p:sp>
        <p:nvSpPr>
          <p:cNvPr id="90" name="TextBox 89"/>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 | MEDOC : produit santé complémentaire du poste 8Z7</a:t>
            </a:r>
          </a:p>
        </p:txBody>
      </p:sp>
    </p:spTree>
    <p:extLst>
      <p:ext uri="{BB962C8B-B14F-4D97-AF65-F5344CB8AC3E}">
        <p14:creationId xmlns:p14="http://schemas.microsoft.com/office/powerpoint/2010/main" val="803962378"/>
      </p:ext>
    </p:extLst>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Gouvernance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Les règles de solidité ne sont pas respectées, et les décisions ne sont pas encadrées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Constat le plus grave : 14, plusieurs règles de solidité ne sont pas respectées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rapport actuariel et statistique du 23/10/2026. Logigrammes du FPPN (« FLOW_CHART_COTISATION_ET_PRODUITS_DEPARGNE_1.pptx »). Résumé exécutif du 26/10/2026</a:t>
            </a:r>
          </a:p>
        </p:txBody>
      </p:sp>
      <p:sp>
        <p:nvSpPr>
          <p:cNvPr id="31" name="Rectangle 30"/>
          <p:cNvSpPr/>
          <p:nvPr/>
        </p:nvSpPr>
        <p:spPr>
          <a:xfrm>
            <a:off x="503999" y="1411200"/>
            <a:ext cx="7085571" cy="1512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00" b="1">
                <a:solidFill>
                  <a:srgbClr val="FFFFFF"/>
                </a:solidFill>
                <a:latin typeface="Helvetica"/>
              </a:rPr>
              <a:t>PRODUITS</a:t>
            </a:r>
          </a:p>
        </p:txBody>
      </p:sp>
      <p:sp>
        <p:nvSpPr>
          <p:cNvPr id="32" name="Rectangle 31"/>
          <p:cNvSpPr/>
          <p:nvPr/>
        </p:nvSpPr>
        <p:spPr>
          <a:xfrm>
            <a:off x="7823571" y="1411200"/>
            <a:ext cx="3912428" cy="1512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00" b="1">
                <a:solidFill>
                  <a:srgbClr val="FFFFFF"/>
                </a:solidFill>
                <a:latin typeface="Helvetica"/>
              </a:rPr>
              <a:t>FONCTIONS TRANSVERSES</a:t>
            </a:r>
          </a:p>
        </p:txBody>
      </p:sp>
      <p:sp>
        <p:nvSpPr>
          <p:cNvPr id="33" name="Nav Maladie">
            <a:hlinkClick action="ppaction://hlinksldjump" r:id="rId7"/>
          </p:cNvPr>
          <p:cNvSpPr/>
          <p:nvPr/>
        </p:nvSpPr>
        <p:spPr>
          <a:xfrm>
            <a:off x="503999"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Maladie</a:t>
            </a:r>
          </a:p>
        </p:txBody>
      </p:sp>
      <p:sp>
        <p:nvSpPr>
          <p:cNvPr id="34" name="Nav Décès">
            <a:hlinkClick action="ppaction://hlinksldjump" r:id="rId8"/>
          </p:cNvPr>
          <p:cNvSpPr/>
          <p:nvPr/>
        </p:nvSpPr>
        <p:spPr>
          <a:xfrm>
            <a:off x="1297285"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Décès</a:t>
            </a:r>
          </a:p>
        </p:txBody>
      </p:sp>
      <p:sp>
        <p:nvSpPr>
          <p:cNvPr id="35" name="Nav Retraités (CGRAE)">
            <a:hlinkClick action="ppaction://hlinksldjump" r:id="rId9"/>
          </p:cNvPr>
          <p:cNvSpPr/>
          <p:nvPr/>
        </p:nvSpPr>
        <p:spPr>
          <a:xfrm>
            <a:off x="2090571"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Retraités</a:t>
            </a:r>
          </a:p>
        </p:txBody>
      </p:sp>
      <p:sp>
        <p:nvSpPr>
          <p:cNvPr id="36" name="Nav EFC">
            <a:hlinkClick action="ppaction://hlinksldjump" r:id="rId10"/>
          </p:cNvPr>
          <p:cNvSpPr/>
          <p:nvPr/>
        </p:nvSpPr>
        <p:spPr>
          <a:xfrm>
            <a:off x="2883857"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EFC</a:t>
            </a:r>
          </a:p>
        </p:txBody>
      </p:sp>
      <p:sp>
        <p:nvSpPr>
          <p:cNvPr id="37" name="Nav PEP">
            <a:hlinkClick action="ppaction://hlinksldjump" r:id="rId11"/>
          </p:cNvPr>
          <p:cNvSpPr/>
          <p:nvPr/>
        </p:nvSpPr>
        <p:spPr>
          <a:xfrm>
            <a:off x="3677142"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PEP</a:t>
            </a:r>
          </a:p>
        </p:txBody>
      </p:sp>
      <p:sp>
        <p:nvSpPr>
          <p:cNvPr id="38" name="Nav MEDOC">
            <a:hlinkClick action="ppaction://hlinksldjump" r:id="rId11"/>
          </p:cNvPr>
          <p:cNvSpPr/>
          <p:nvPr/>
        </p:nvSpPr>
        <p:spPr>
          <a:xfrm>
            <a:off x="4470428"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MEDOC</a:t>
            </a:r>
          </a:p>
        </p:txBody>
      </p:sp>
      <p:sp>
        <p:nvSpPr>
          <p:cNvPr id="39" name="Nav Grenier">
            <a:hlinkClick action="ppaction://hlinksldjump" r:id="rId12"/>
          </p:cNvPr>
          <p:cNvSpPr/>
          <p:nvPr/>
        </p:nvSpPr>
        <p:spPr>
          <a:xfrm>
            <a:off x="5263714"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Grenier</a:t>
            </a:r>
          </a:p>
        </p:txBody>
      </p:sp>
      <p:sp>
        <p:nvSpPr>
          <p:cNvPr id="40" name="Nav Flotte automobile">
            <a:hlinkClick action="ppaction://hlinksldjump" r:id="rId13"/>
          </p:cNvPr>
          <p:cNvSpPr/>
          <p:nvPr/>
        </p:nvSpPr>
        <p:spPr>
          <a:xfrm>
            <a:off x="6057000"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FFC000"/>
                </a:solidFill>
                <a:latin typeface="Helvetica"/>
              </a:rPr>
              <a:t>● </a:t>
            </a:r>
            <a:r>
              <a:rPr sz="750" b="0">
                <a:solidFill>
                  <a:srgbClr val="53565A"/>
                </a:solidFill>
                <a:latin typeface="Helvetica"/>
              </a:rPr>
              <a:t>Flotte auto</a:t>
            </a:r>
          </a:p>
        </p:txBody>
      </p:sp>
      <p:sp>
        <p:nvSpPr>
          <p:cNvPr id="41" name="Nav Clinique (CMP)">
            <a:hlinkClick action="ppaction://hlinksldjump" r:id="rId13"/>
          </p:cNvPr>
          <p:cNvSpPr/>
          <p:nvPr/>
        </p:nvSpPr>
        <p:spPr>
          <a:xfrm>
            <a:off x="6850285"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Clinique</a:t>
            </a:r>
          </a:p>
        </p:txBody>
      </p:sp>
      <p:sp>
        <p:nvSpPr>
          <p:cNvPr id="42" name="Nav Cotisations et précomptes">
            <a:hlinkClick action="ppaction://hlinksldjump" r:id="rId14"/>
          </p:cNvPr>
          <p:cNvSpPr/>
          <p:nvPr/>
        </p:nvSpPr>
        <p:spPr>
          <a:xfrm>
            <a:off x="7823571"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Cotisations</a:t>
            </a:r>
          </a:p>
        </p:txBody>
      </p:sp>
      <p:sp>
        <p:nvSpPr>
          <p:cNvPr id="43" name="Nav Comptabilité et provisions">
            <a:hlinkClick action="ppaction://hlinksldjump" r:id="rId15"/>
          </p:cNvPr>
          <p:cNvSpPr/>
          <p:nvPr/>
        </p:nvSpPr>
        <p:spPr>
          <a:xfrm>
            <a:off x="8616857"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Comptabilité</a:t>
            </a:r>
          </a:p>
        </p:txBody>
      </p:sp>
      <p:sp>
        <p:nvSpPr>
          <p:cNvPr id="44" name="Nav Trésorerie et placements">
            <a:hlinkClick action="ppaction://hlinksldjump" r:id="rId16"/>
          </p:cNvPr>
          <p:cNvSpPr/>
          <p:nvPr/>
        </p:nvSpPr>
        <p:spPr>
          <a:xfrm>
            <a:off x="9410142"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Trésorerie</a:t>
            </a:r>
          </a:p>
        </p:txBody>
      </p:sp>
      <p:sp>
        <p:nvSpPr>
          <p:cNvPr id="45" name="Nav Gouvernance"/>
          <p:cNvSpPr/>
          <p:nvPr/>
        </p:nvSpPr>
        <p:spPr>
          <a:xfrm>
            <a:off x="10203428" y="1591200"/>
            <a:ext cx="739285" cy="1800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1">
                <a:solidFill>
                  <a:srgbClr val="FFFFFF"/>
                </a:solidFill>
                <a:latin typeface="Helvetica"/>
              </a:rPr>
              <a:t>Gouvernance</a:t>
            </a:r>
          </a:p>
        </p:txBody>
      </p:sp>
      <p:sp>
        <p:nvSpPr>
          <p:cNvPr id="46" name="Nav Données et informatique">
            <a:hlinkClick action="ppaction://hlinksldjump" r:id="rId17"/>
          </p:cNvPr>
          <p:cNvSpPr/>
          <p:nvPr/>
        </p:nvSpPr>
        <p:spPr>
          <a:xfrm>
            <a:off x="10996714"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Données</a:t>
            </a:r>
          </a:p>
        </p:txBody>
      </p:sp>
      <p:sp>
        <p:nvSpPr>
          <p:cNvPr id="47" name="Bloc Gouvernance"/>
          <p:cNvSpPr/>
          <p:nvPr/>
        </p:nvSpPr>
        <p:spPr>
          <a:xfrm>
            <a:off x="503999" y="1835999"/>
            <a:ext cx="11232000" cy="2232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00" b="1">
                <a:solidFill>
                  <a:srgbClr val="C00000"/>
                </a:solidFill>
                <a:latin typeface="Helvetica"/>
              </a:rPr>
              <a:t>● </a:t>
            </a:r>
            <a:r>
              <a:rPr sz="1000" b="0">
                <a:solidFill>
                  <a:srgbClr val="BBBCBC"/>
                </a:solidFill>
                <a:latin typeface="Helvetica"/>
              </a:rPr>
              <a:t>FONCTIONS TRANSVERSES  ›  </a:t>
            </a:r>
            <a:r>
              <a:rPr sz="1200" b="1">
                <a:solidFill>
                  <a:srgbClr val="FFFFFF"/>
                </a:solidFill>
                <a:latin typeface="Helvetica"/>
              </a:rPr>
              <a:t>GOUVERNANCE</a:t>
            </a:r>
            <a:r>
              <a:rPr sz="950" b="0">
                <a:solidFill>
                  <a:srgbClr val="FFFFFF"/>
                </a:solidFill>
                <a:latin typeface="Helvetica"/>
              </a:rPr>
              <a:t>     4 constats, dont 1 à traiter dans les trois mois</a:t>
            </a:r>
          </a:p>
        </p:txBody>
      </p:sp>
      <p:sp>
        <p:nvSpPr>
          <p:cNvPr id="48" name="Nav Carte">
            <a:hlinkClick action="ppaction://hlinksldjump" r:id="rId18"/>
          </p:cNvPr>
          <p:cNvSpPr/>
          <p:nvPr/>
        </p:nvSpPr>
        <p:spPr>
          <a:xfrm>
            <a:off x="10007999" y="1871999"/>
            <a:ext cx="1655999" cy="151200"/>
          </a:xfrm>
          <a:prstGeom prst="rect">
            <a:avLst/>
          </a:prstGeom>
          <a:solidFill>
            <a:srgbClr val="53565A"/>
          </a:solidFill>
          <a:ln w="952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50" b="1">
                <a:solidFill>
                  <a:srgbClr val="FFFFFF"/>
                </a:solidFill>
                <a:latin typeface="Helvetica"/>
              </a:rPr>
              <a:t>↩ Carte des activités</a:t>
            </a:r>
          </a:p>
        </p:txBody>
      </p:sp>
      <p:sp>
        <p:nvSpPr>
          <p:cNvPr id="49" name="Rectangle 48"/>
          <p:cNvSpPr/>
          <p:nvPr/>
        </p:nvSpPr>
        <p:spPr>
          <a:xfrm>
            <a:off x="503999" y="2088000"/>
            <a:ext cx="597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Constat et commentaire</a:t>
            </a:r>
          </a:p>
        </p:txBody>
      </p:sp>
      <p:sp>
        <p:nvSpPr>
          <p:cNvPr id="50" name="Rectangle 49"/>
          <p:cNvSpPr/>
          <p:nvPr/>
        </p:nvSpPr>
        <p:spPr>
          <a:xfrm>
            <a:off x="6480000" y="2088000"/>
            <a:ext cx="3384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Recommandation</a:t>
            </a:r>
          </a:p>
        </p:txBody>
      </p:sp>
      <p:sp>
        <p:nvSpPr>
          <p:cNvPr id="51" name="Rectangle 50"/>
          <p:cNvSpPr/>
          <p:nvPr/>
        </p:nvSpPr>
        <p:spPr>
          <a:xfrm>
            <a:off x="9864000" y="2088000"/>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Complexité</a:t>
            </a:r>
          </a:p>
        </p:txBody>
      </p:sp>
      <p:sp>
        <p:nvSpPr>
          <p:cNvPr id="52" name="Rectangle 51"/>
          <p:cNvSpPr/>
          <p:nvPr/>
        </p:nvSpPr>
        <p:spPr>
          <a:xfrm>
            <a:off x="10800000" y="2088000"/>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Priorité</a:t>
            </a:r>
          </a:p>
        </p:txBody>
      </p:sp>
      <p:sp>
        <p:nvSpPr>
          <p:cNvPr id="53" name="Rectangle 52"/>
          <p:cNvSpPr/>
          <p:nvPr/>
        </p:nvSpPr>
        <p:spPr>
          <a:xfrm>
            <a:off x="503999" y="2286000"/>
            <a:ext cx="5976000" cy="73956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C00000"/>
                </a:solidFill>
                <a:latin typeface="Helvetica"/>
              </a:rPr>
              <a:t>● </a:t>
            </a:r>
            <a:r>
              <a:rPr sz="1050" b="1">
                <a:solidFill>
                  <a:srgbClr val="112A40"/>
                </a:solidFill>
                <a:latin typeface="Helvetica"/>
              </a:rPr>
              <a:t>14   </a:t>
            </a:r>
            <a:r>
              <a:rPr sz="1050" b="1">
                <a:solidFill>
                  <a:srgbClr val="060606"/>
                </a:solidFill>
                <a:latin typeface="Helvetica"/>
              </a:rPr>
              <a:t>Plusieurs règles de solidité ne sont pas respectées. </a:t>
            </a:r>
            <a:r>
              <a:rPr sz="1050" b="0">
                <a:solidFill>
                  <a:srgbClr val="060606"/>
                </a:solidFill>
                <a:latin typeface="Helvetica"/>
              </a:rPr>
              <a:t>14 indicateurs sur 36 non conformes de 2022 à 2025, dont la réserve obligatoire, la liquidité et les fonds propres. Retrait d'agrément possible.</a:t>
            </a:r>
          </a:p>
        </p:txBody>
      </p:sp>
      <p:sp>
        <p:nvSpPr>
          <p:cNvPr id="54" name="Rectangle 53"/>
          <p:cNvSpPr/>
          <p:nvPr/>
        </p:nvSpPr>
        <p:spPr>
          <a:xfrm>
            <a:off x="6480000" y="2286000"/>
            <a:ext cx="3384000" cy="73956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Plan de mise en conformité chiffré présenté à l'AIRMS.</a:t>
            </a:r>
          </a:p>
        </p:txBody>
      </p:sp>
      <p:sp>
        <p:nvSpPr>
          <p:cNvPr id="55" name="Rectangle 54"/>
          <p:cNvSpPr/>
          <p:nvPr/>
        </p:nvSpPr>
        <p:spPr>
          <a:xfrm>
            <a:off x="9864000" y="2286000"/>
            <a:ext cx="936000" cy="73956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56" name="Rectangle 55"/>
          <p:cNvSpPr/>
          <p:nvPr/>
        </p:nvSpPr>
        <p:spPr>
          <a:xfrm>
            <a:off x="10800000" y="2286000"/>
            <a:ext cx="936000" cy="739562"/>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57" name="Rounded Rectangle 56"/>
          <p:cNvSpPr/>
          <p:nvPr/>
        </p:nvSpPr>
        <p:spPr>
          <a:xfrm>
            <a:off x="9936000" y="2547781"/>
            <a:ext cx="792000" cy="216000"/>
          </a:xfrm>
          <a:prstGeom prst="roundRect">
            <a:avLst/>
          </a:prstGeom>
          <a:solidFill>
            <a:srgbClr val="F4CC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Élevée</a:t>
            </a:r>
          </a:p>
        </p:txBody>
      </p:sp>
      <p:sp>
        <p:nvSpPr>
          <p:cNvPr id="58" name="Rounded Rectangle 57"/>
          <p:cNvSpPr/>
          <p:nvPr/>
        </p:nvSpPr>
        <p:spPr>
          <a:xfrm>
            <a:off x="10962000" y="2547781"/>
            <a:ext cx="612000" cy="216000"/>
          </a:xfrm>
          <a:prstGeom prst="round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P1</a:t>
            </a:r>
          </a:p>
        </p:txBody>
      </p:sp>
      <p:sp>
        <p:nvSpPr>
          <p:cNvPr id="59" name="Rectangle 58"/>
          <p:cNvSpPr/>
          <p:nvPr/>
        </p:nvSpPr>
        <p:spPr>
          <a:xfrm>
            <a:off x="503999" y="3025562"/>
            <a:ext cx="5976000" cy="739562"/>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ED7D31"/>
                </a:solidFill>
                <a:latin typeface="Helvetica"/>
              </a:rPr>
              <a:t>● </a:t>
            </a:r>
            <a:r>
              <a:rPr sz="1050" b="1">
                <a:solidFill>
                  <a:srgbClr val="112A40"/>
                </a:solidFill>
                <a:latin typeface="Helvetica"/>
              </a:rPr>
              <a:t>24   </a:t>
            </a:r>
            <a:r>
              <a:rPr sz="1050" b="1">
                <a:solidFill>
                  <a:srgbClr val="060606"/>
                </a:solidFill>
                <a:latin typeface="Helvetica"/>
              </a:rPr>
              <a:t>Les placements ne passent pas par le conseil. </a:t>
            </a:r>
            <a:r>
              <a:rPr sz="1050" b="0">
                <a:solidFill>
                  <a:srgbClr val="060606"/>
                </a:solidFill>
                <a:highlight>
                  <a:srgbClr val="FFFF00"/>
                </a:highlight>
                <a:latin typeface="Helvetica"/>
              </a:rPr>
              <a:t>Selon le chef comptable, le directeur général décide seul.</a:t>
            </a:r>
            <a:r>
              <a:rPr sz="1050" b="0">
                <a:solidFill>
                  <a:srgbClr val="060606"/>
                </a:solidFill>
                <a:latin typeface="Helvetica"/>
              </a:rPr>
              <a:t> Projet de Cocody sans budget. Mandat du directeur général documenté pour 2020 à 2023.</a:t>
            </a:r>
          </a:p>
        </p:txBody>
      </p:sp>
      <p:sp>
        <p:nvSpPr>
          <p:cNvPr id="60" name="Rectangle 59"/>
          <p:cNvSpPr/>
          <p:nvPr/>
        </p:nvSpPr>
        <p:spPr>
          <a:xfrm>
            <a:off x="6480000" y="3025562"/>
            <a:ext cx="3384000" cy="739562"/>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Délibération du conseil d'administration pour chaque placement.</a:t>
            </a:r>
          </a:p>
        </p:txBody>
      </p:sp>
      <p:sp>
        <p:nvSpPr>
          <p:cNvPr id="61" name="Rectangle 60"/>
          <p:cNvSpPr/>
          <p:nvPr/>
        </p:nvSpPr>
        <p:spPr>
          <a:xfrm>
            <a:off x="9864000" y="3025562"/>
            <a:ext cx="936000" cy="739562"/>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2" name="Rectangle 61"/>
          <p:cNvSpPr/>
          <p:nvPr/>
        </p:nvSpPr>
        <p:spPr>
          <a:xfrm>
            <a:off x="10800000" y="3025562"/>
            <a:ext cx="936000" cy="739562"/>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3" name="Rounded Rectangle 62"/>
          <p:cNvSpPr/>
          <p:nvPr/>
        </p:nvSpPr>
        <p:spPr>
          <a:xfrm>
            <a:off x="9936000" y="3287343"/>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64" name="Rounded Rectangle 63"/>
          <p:cNvSpPr/>
          <p:nvPr/>
        </p:nvSpPr>
        <p:spPr>
          <a:xfrm>
            <a:off x="10962000" y="3287343"/>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65" name="Rectangle 64"/>
          <p:cNvSpPr/>
          <p:nvPr/>
        </p:nvSpPr>
        <p:spPr>
          <a:xfrm>
            <a:off x="503999" y="3765124"/>
            <a:ext cx="5976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ED7D31"/>
                </a:solidFill>
                <a:latin typeface="Helvetica"/>
              </a:rPr>
              <a:t>● </a:t>
            </a:r>
            <a:r>
              <a:rPr sz="1050" b="1">
                <a:solidFill>
                  <a:srgbClr val="112A40"/>
                </a:solidFill>
                <a:latin typeface="Helvetica"/>
              </a:rPr>
              <a:t>24.a   </a:t>
            </a:r>
            <a:r>
              <a:rPr sz="1050" b="1">
                <a:solidFill>
                  <a:srgbClr val="060606"/>
                </a:solidFill>
                <a:latin typeface="Helvetica"/>
              </a:rPr>
              <a:t>Aucun pilotage actif-passif. </a:t>
            </a:r>
            <a:r>
              <a:rPr sz="1050" b="0">
                <a:solidFill>
                  <a:srgbClr val="060606"/>
                </a:solidFill>
                <a:latin typeface="Helvetica"/>
              </a:rPr>
              <a:t>Ni politique votée, ni comité, ni limites.</a:t>
            </a:r>
          </a:p>
        </p:txBody>
      </p:sp>
      <p:sp>
        <p:nvSpPr>
          <p:cNvPr id="66" name="Rectangle 65"/>
          <p:cNvSpPr/>
          <p:nvPr/>
        </p:nvSpPr>
        <p:spPr>
          <a:xfrm>
            <a:off x="6480000" y="3765124"/>
            <a:ext cx="3384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Politique actif-passif votée et comité actif-passif.</a:t>
            </a:r>
          </a:p>
        </p:txBody>
      </p:sp>
      <p:sp>
        <p:nvSpPr>
          <p:cNvPr id="67" name="Rectangle 66"/>
          <p:cNvSpPr/>
          <p:nvPr/>
        </p:nvSpPr>
        <p:spPr>
          <a:xfrm>
            <a:off x="9864000" y="3765124"/>
            <a:ext cx="936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8" name="Rectangle 67"/>
          <p:cNvSpPr/>
          <p:nvPr/>
        </p:nvSpPr>
        <p:spPr>
          <a:xfrm>
            <a:off x="10800000" y="3765124"/>
            <a:ext cx="936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9" name="Rounded Rectangle 68"/>
          <p:cNvSpPr/>
          <p:nvPr/>
        </p:nvSpPr>
        <p:spPr>
          <a:xfrm>
            <a:off x="9936000" y="3946845"/>
            <a:ext cx="792000" cy="216000"/>
          </a:xfrm>
          <a:prstGeom prst="round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Moyenne</a:t>
            </a:r>
          </a:p>
        </p:txBody>
      </p:sp>
      <p:sp>
        <p:nvSpPr>
          <p:cNvPr id="70" name="Rounded Rectangle 69"/>
          <p:cNvSpPr/>
          <p:nvPr/>
        </p:nvSpPr>
        <p:spPr>
          <a:xfrm>
            <a:off x="10962000" y="3946845"/>
            <a:ext cx="612000" cy="216000"/>
          </a:xfrm>
          <a:prstGeom prst="roundRect">
            <a:avLst/>
          </a:prstGeom>
          <a:solidFill>
            <a:srgbClr val="ED7D31"/>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P2</a:t>
            </a:r>
          </a:p>
        </p:txBody>
      </p:sp>
      <p:sp>
        <p:nvSpPr>
          <p:cNvPr id="71" name="Rectangle 70"/>
          <p:cNvSpPr/>
          <p:nvPr/>
        </p:nvSpPr>
        <p:spPr>
          <a:xfrm>
            <a:off x="503999" y="4344566"/>
            <a:ext cx="5976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FFC000"/>
                </a:solidFill>
                <a:latin typeface="Helvetica"/>
              </a:rPr>
              <a:t>● </a:t>
            </a:r>
            <a:r>
              <a:rPr sz="1050" b="1">
                <a:solidFill>
                  <a:srgbClr val="112A40"/>
                </a:solidFill>
                <a:latin typeface="Helvetica"/>
              </a:rPr>
              <a:t>16   </a:t>
            </a:r>
            <a:r>
              <a:rPr sz="1050" b="1">
                <a:solidFill>
                  <a:srgbClr val="060606"/>
                </a:solidFill>
                <a:latin typeface="Helvetica"/>
              </a:rPr>
              <a:t>Les frais dépassent la norme. </a:t>
            </a:r>
            <a:r>
              <a:rPr sz="1050" b="0">
                <a:solidFill>
                  <a:srgbClr val="060606"/>
                </a:solidFill>
                <a:latin typeface="Helvetica"/>
              </a:rPr>
              <a:t>36,34 % des cotisations en 2025, 44,12 % sur huit mois de 2026, pour un maximum de 20 %.</a:t>
            </a:r>
          </a:p>
        </p:txBody>
      </p:sp>
      <p:sp>
        <p:nvSpPr>
          <p:cNvPr id="72" name="Rectangle 71"/>
          <p:cNvSpPr/>
          <p:nvPr/>
        </p:nvSpPr>
        <p:spPr>
          <a:xfrm>
            <a:off x="6480000" y="4344566"/>
            <a:ext cx="3384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Budget de fonctionnement avec un objectif de 20 %.</a:t>
            </a:r>
          </a:p>
        </p:txBody>
      </p:sp>
      <p:sp>
        <p:nvSpPr>
          <p:cNvPr id="73" name="Rectangle 72"/>
          <p:cNvSpPr/>
          <p:nvPr/>
        </p:nvSpPr>
        <p:spPr>
          <a:xfrm>
            <a:off x="9864000" y="4344566"/>
            <a:ext cx="936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4" name="Rectangle 73"/>
          <p:cNvSpPr/>
          <p:nvPr/>
        </p:nvSpPr>
        <p:spPr>
          <a:xfrm>
            <a:off x="10800000" y="4344566"/>
            <a:ext cx="936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5" name="Rounded Rectangle 74"/>
          <p:cNvSpPr/>
          <p:nvPr/>
        </p:nvSpPr>
        <p:spPr>
          <a:xfrm>
            <a:off x="9936000" y="4526287"/>
            <a:ext cx="792000" cy="216000"/>
          </a:xfrm>
          <a:prstGeom prst="round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Moyenne</a:t>
            </a:r>
          </a:p>
        </p:txBody>
      </p:sp>
      <p:sp>
        <p:nvSpPr>
          <p:cNvPr id="76" name="Rounded Rectangle 75"/>
          <p:cNvSpPr/>
          <p:nvPr/>
        </p:nvSpPr>
        <p:spPr>
          <a:xfrm>
            <a:off x="10962000" y="4526287"/>
            <a:ext cx="612000" cy="216000"/>
          </a:xfrm>
          <a:prstGeom prst="round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P3</a:t>
            </a:r>
          </a:p>
        </p:txBody>
      </p:sp>
      <p:sp>
        <p:nvSpPr>
          <p:cNvPr id="77" name="TextBox 76"/>
          <p:cNvSpPr txBox="1"/>
          <p:nvPr/>
        </p:nvSpPr>
        <p:spPr>
          <a:xfrm>
            <a:off x="503999" y="5716800"/>
            <a:ext cx="11232000" cy="151200"/>
          </a:xfrm>
          <a:prstGeom prst="rect">
            <a:avLst/>
          </a:prstGeom>
          <a:noFill/>
        </p:spPr>
        <p:txBody>
          <a:bodyPr wrap="square">
            <a:spAutoFit/>
          </a:bodyPr>
          <a:lstStyle/>
          <a:p>
            <a:r>
              <a:rPr sz="750" b="1">
                <a:solidFill>
                  <a:srgbClr val="060606"/>
                </a:solidFill>
                <a:latin typeface="Helvetica"/>
              </a:rPr>
              <a:t>Criticité : </a:t>
            </a:r>
            <a:r>
              <a:rPr sz="850" b="1">
                <a:solidFill>
                  <a:srgbClr val="C00000"/>
                </a:solidFill>
                <a:latin typeface="Helvetica"/>
              </a:rPr>
              <a:t>● </a:t>
            </a:r>
            <a:r>
              <a:rPr sz="750" b="0">
                <a:solidFill>
                  <a:srgbClr val="060606"/>
                </a:solidFill>
                <a:latin typeface="Helvetica"/>
              </a:rPr>
              <a:t>Critique   </a:t>
            </a:r>
            <a:r>
              <a:rPr sz="850" b="1">
                <a:solidFill>
                  <a:srgbClr val="ED7D31"/>
                </a:solidFill>
                <a:latin typeface="Helvetica"/>
              </a:rPr>
              <a:t>● </a:t>
            </a:r>
            <a:r>
              <a:rPr sz="750" b="0">
                <a:solidFill>
                  <a:srgbClr val="060606"/>
                </a:solidFill>
                <a:latin typeface="Helvetica"/>
              </a:rPr>
              <a:t>Élevé   </a:t>
            </a:r>
            <a:r>
              <a:rPr sz="850" b="1">
                <a:solidFill>
                  <a:srgbClr val="FFC000"/>
                </a:solidFill>
                <a:latin typeface="Helvetica"/>
              </a:rPr>
              <a:t>● </a:t>
            </a:r>
            <a:r>
              <a:rPr sz="750" b="0">
                <a:solidFill>
                  <a:srgbClr val="060606"/>
                </a:solidFill>
                <a:latin typeface="Helvetica"/>
              </a:rPr>
              <a:t>Moyen   </a:t>
            </a:r>
            <a:r>
              <a:rPr sz="850" b="1">
                <a:solidFill>
                  <a:srgbClr val="70AD47"/>
                </a:solidFill>
                <a:latin typeface="Helvetica"/>
              </a:rPr>
              <a:t>● </a:t>
            </a:r>
            <a:r>
              <a:rPr sz="750" b="0">
                <a:solidFill>
                  <a:srgbClr val="060606"/>
                </a:solidFill>
                <a:latin typeface="Helvetica"/>
              </a:rPr>
              <a:t>Faible   </a:t>
            </a:r>
            <a:r>
              <a:rPr sz="750" b="0">
                <a:solidFill>
                  <a:srgbClr val="060606"/>
                </a:solidFill>
                <a:latin typeface="Helvetica"/>
              </a:rPr>
              <a:t>Priorité : P1 dans les 3 mois, P2 dans les 6 mois, P3 de 6 à 18 mois, P4 au-delà.   Complexité : Faible (une décision suffit), Moyenne (travail interne), Élevée (tiers ou financement).   Numéros : ceux du résumé exécutif.</a:t>
            </a:r>
          </a:p>
        </p:txBody>
      </p:sp>
      <p:sp>
        <p:nvSpPr>
          <p:cNvPr id="78" name="TextBox 77"/>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Surligné en jaune : affirmation à confirmer par une pièce ou une réponse écrite du FPPN. Sigles : FPPN : Fonds de prévoyance de la Police nationale | AIRMS : Agence ivoirienne de régulation de la mutualité sociale | PEP : Plan Épargne Plus | EFC : entraide fin de carrière | MEDOC : produit santé complémentaire du poste 8Z7</a:t>
            </a:r>
          </a:p>
        </p:txBody>
      </p:sp>
    </p:spTree>
    <p:extLst>
      <p:ext uri="{BB962C8B-B14F-4D97-AF65-F5344CB8AC3E}">
        <p14:creationId xmlns:p14="http://schemas.microsoft.com/office/powerpoint/2010/main" val="248316250"/>
      </p:ext>
    </p:extLst>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Données et informatique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Des données essentielles manquent pour finir les calculs</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Constat le plus grave : 26, des données essentielles manquent</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rapport actuariel et statistique du 23/10/2026. Logigrammes du FPPN (« FLOW_CHART_COTISATION_ET_PRODUITS_DEPARGNE_1.pptx »). Résumé exécutif du 26/10/2026</a:t>
            </a:r>
          </a:p>
        </p:txBody>
      </p:sp>
      <p:sp>
        <p:nvSpPr>
          <p:cNvPr id="31" name="Rectangle 30"/>
          <p:cNvSpPr/>
          <p:nvPr/>
        </p:nvSpPr>
        <p:spPr>
          <a:xfrm>
            <a:off x="503999" y="1411200"/>
            <a:ext cx="7085571" cy="1512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00" b="1">
                <a:solidFill>
                  <a:srgbClr val="FFFFFF"/>
                </a:solidFill>
                <a:latin typeface="Helvetica"/>
              </a:rPr>
              <a:t>PRODUITS</a:t>
            </a:r>
          </a:p>
        </p:txBody>
      </p:sp>
      <p:sp>
        <p:nvSpPr>
          <p:cNvPr id="32" name="Rectangle 31"/>
          <p:cNvSpPr/>
          <p:nvPr/>
        </p:nvSpPr>
        <p:spPr>
          <a:xfrm>
            <a:off x="7823571" y="1411200"/>
            <a:ext cx="3912428" cy="151200"/>
          </a:xfrm>
          <a:prstGeom prst="rect">
            <a:avLst/>
          </a:prstGeom>
          <a:solidFill>
            <a:srgbClr val="112A40"/>
          </a:solidFill>
          <a:ln w="952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00" b="1">
                <a:solidFill>
                  <a:srgbClr val="FFFFFF"/>
                </a:solidFill>
                <a:latin typeface="Helvetica"/>
              </a:rPr>
              <a:t>FONCTIONS TRANSVERSES</a:t>
            </a:r>
          </a:p>
        </p:txBody>
      </p:sp>
      <p:sp>
        <p:nvSpPr>
          <p:cNvPr id="33" name="Nav Maladie">
            <a:hlinkClick action="ppaction://hlinksldjump" r:id="rId7"/>
          </p:cNvPr>
          <p:cNvSpPr/>
          <p:nvPr/>
        </p:nvSpPr>
        <p:spPr>
          <a:xfrm>
            <a:off x="503999"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Maladie</a:t>
            </a:r>
          </a:p>
        </p:txBody>
      </p:sp>
      <p:sp>
        <p:nvSpPr>
          <p:cNvPr id="34" name="Nav Décès">
            <a:hlinkClick action="ppaction://hlinksldjump" r:id="rId8"/>
          </p:cNvPr>
          <p:cNvSpPr/>
          <p:nvPr/>
        </p:nvSpPr>
        <p:spPr>
          <a:xfrm>
            <a:off x="1297285"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Décès</a:t>
            </a:r>
          </a:p>
        </p:txBody>
      </p:sp>
      <p:sp>
        <p:nvSpPr>
          <p:cNvPr id="35" name="Nav Retraités (CGRAE)">
            <a:hlinkClick action="ppaction://hlinksldjump" r:id="rId9"/>
          </p:cNvPr>
          <p:cNvSpPr/>
          <p:nvPr/>
        </p:nvSpPr>
        <p:spPr>
          <a:xfrm>
            <a:off x="2090571"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Retraités</a:t>
            </a:r>
          </a:p>
        </p:txBody>
      </p:sp>
      <p:sp>
        <p:nvSpPr>
          <p:cNvPr id="36" name="Nav EFC">
            <a:hlinkClick action="ppaction://hlinksldjump" r:id="rId10"/>
          </p:cNvPr>
          <p:cNvSpPr/>
          <p:nvPr/>
        </p:nvSpPr>
        <p:spPr>
          <a:xfrm>
            <a:off x="2883857"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EFC</a:t>
            </a:r>
          </a:p>
        </p:txBody>
      </p:sp>
      <p:sp>
        <p:nvSpPr>
          <p:cNvPr id="37" name="Nav PEP">
            <a:hlinkClick action="ppaction://hlinksldjump" r:id="rId11"/>
          </p:cNvPr>
          <p:cNvSpPr/>
          <p:nvPr/>
        </p:nvSpPr>
        <p:spPr>
          <a:xfrm>
            <a:off x="3677142"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PEP</a:t>
            </a:r>
          </a:p>
        </p:txBody>
      </p:sp>
      <p:sp>
        <p:nvSpPr>
          <p:cNvPr id="38" name="Nav MEDOC">
            <a:hlinkClick action="ppaction://hlinksldjump" r:id="rId11"/>
          </p:cNvPr>
          <p:cNvSpPr/>
          <p:nvPr/>
        </p:nvSpPr>
        <p:spPr>
          <a:xfrm>
            <a:off x="4470428"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MEDOC</a:t>
            </a:r>
          </a:p>
        </p:txBody>
      </p:sp>
      <p:sp>
        <p:nvSpPr>
          <p:cNvPr id="39" name="Nav Grenier">
            <a:hlinkClick action="ppaction://hlinksldjump" r:id="rId12"/>
          </p:cNvPr>
          <p:cNvSpPr/>
          <p:nvPr/>
        </p:nvSpPr>
        <p:spPr>
          <a:xfrm>
            <a:off x="5263714"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Grenier</a:t>
            </a:r>
          </a:p>
        </p:txBody>
      </p:sp>
      <p:sp>
        <p:nvSpPr>
          <p:cNvPr id="40" name="Nav Flotte automobile">
            <a:hlinkClick action="ppaction://hlinksldjump" r:id="rId13"/>
          </p:cNvPr>
          <p:cNvSpPr/>
          <p:nvPr/>
        </p:nvSpPr>
        <p:spPr>
          <a:xfrm>
            <a:off x="6057000"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FFC000"/>
                </a:solidFill>
                <a:latin typeface="Helvetica"/>
              </a:rPr>
              <a:t>● </a:t>
            </a:r>
            <a:r>
              <a:rPr sz="750" b="0">
                <a:solidFill>
                  <a:srgbClr val="53565A"/>
                </a:solidFill>
                <a:latin typeface="Helvetica"/>
              </a:rPr>
              <a:t>Flotte auto</a:t>
            </a:r>
          </a:p>
        </p:txBody>
      </p:sp>
      <p:sp>
        <p:nvSpPr>
          <p:cNvPr id="41" name="Nav Clinique (CMP)">
            <a:hlinkClick action="ppaction://hlinksldjump" r:id="rId13"/>
          </p:cNvPr>
          <p:cNvSpPr/>
          <p:nvPr/>
        </p:nvSpPr>
        <p:spPr>
          <a:xfrm>
            <a:off x="6850285"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Clinique</a:t>
            </a:r>
          </a:p>
        </p:txBody>
      </p:sp>
      <p:sp>
        <p:nvSpPr>
          <p:cNvPr id="42" name="Nav Cotisations et précomptes">
            <a:hlinkClick action="ppaction://hlinksldjump" r:id="rId14"/>
          </p:cNvPr>
          <p:cNvSpPr/>
          <p:nvPr/>
        </p:nvSpPr>
        <p:spPr>
          <a:xfrm>
            <a:off x="7823571"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0">
                <a:solidFill>
                  <a:srgbClr val="53565A"/>
                </a:solidFill>
                <a:latin typeface="Helvetica"/>
              </a:rPr>
              <a:t>Cotisations</a:t>
            </a:r>
          </a:p>
        </p:txBody>
      </p:sp>
      <p:sp>
        <p:nvSpPr>
          <p:cNvPr id="43" name="Nav Comptabilité et provisions">
            <a:hlinkClick action="ppaction://hlinksldjump" r:id="rId15"/>
          </p:cNvPr>
          <p:cNvSpPr/>
          <p:nvPr/>
        </p:nvSpPr>
        <p:spPr>
          <a:xfrm>
            <a:off x="8616857"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Comptabilité</a:t>
            </a:r>
          </a:p>
        </p:txBody>
      </p:sp>
      <p:sp>
        <p:nvSpPr>
          <p:cNvPr id="44" name="Nav Trésorerie et placements">
            <a:hlinkClick action="ppaction://hlinksldjump" r:id="rId16"/>
          </p:cNvPr>
          <p:cNvSpPr/>
          <p:nvPr/>
        </p:nvSpPr>
        <p:spPr>
          <a:xfrm>
            <a:off x="9410142"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Trésorerie</a:t>
            </a:r>
          </a:p>
        </p:txBody>
      </p:sp>
      <p:sp>
        <p:nvSpPr>
          <p:cNvPr id="45" name="Nav Gouvernance">
            <a:hlinkClick action="ppaction://hlinksldjump" r:id="rId17"/>
          </p:cNvPr>
          <p:cNvSpPr/>
          <p:nvPr/>
        </p:nvSpPr>
        <p:spPr>
          <a:xfrm>
            <a:off x="10203428" y="1591200"/>
            <a:ext cx="739285" cy="180000"/>
          </a:xfrm>
          <a:prstGeom prst="rect">
            <a:avLst/>
          </a:prstGeom>
          <a:solidFill>
            <a:srgbClr val="F2F2F2"/>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C00000"/>
                </a:solidFill>
                <a:latin typeface="Helvetica"/>
              </a:rPr>
              <a:t>● </a:t>
            </a:r>
            <a:r>
              <a:rPr sz="750" b="0">
                <a:solidFill>
                  <a:srgbClr val="53565A"/>
                </a:solidFill>
                <a:latin typeface="Helvetica"/>
              </a:rPr>
              <a:t>Gouvernance</a:t>
            </a:r>
          </a:p>
        </p:txBody>
      </p:sp>
      <p:sp>
        <p:nvSpPr>
          <p:cNvPr id="46" name="Nav Données et informatique"/>
          <p:cNvSpPr/>
          <p:nvPr/>
        </p:nvSpPr>
        <p:spPr>
          <a:xfrm>
            <a:off x="10996714" y="1591200"/>
            <a:ext cx="739285" cy="1800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750" b="1">
                <a:solidFill>
                  <a:srgbClr val="ED7D31"/>
                </a:solidFill>
                <a:latin typeface="Helvetica"/>
              </a:rPr>
              <a:t>● </a:t>
            </a:r>
            <a:r>
              <a:rPr sz="750" b="1">
                <a:solidFill>
                  <a:srgbClr val="FFFFFF"/>
                </a:solidFill>
                <a:latin typeface="Helvetica"/>
              </a:rPr>
              <a:t>Données</a:t>
            </a:r>
          </a:p>
        </p:txBody>
      </p:sp>
      <p:sp>
        <p:nvSpPr>
          <p:cNvPr id="47" name="Bloc Données et informatique"/>
          <p:cNvSpPr/>
          <p:nvPr/>
        </p:nvSpPr>
        <p:spPr>
          <a:xfrm>
            <a:off x="503999" y="1835999"/>
            <a:ext cx="11232000" cy="223200"/>
          </a:xfrm>
          <a:prstGeom prst="rect">
            <a:avLst/>
          </a:prstGeom>
          <a:solidFill>
            <a:srgbClr val="060606"/>
          </a:solidFill>
          <a:ln w="9525">
            <a:solidFill>
              <a:srgbClr val="0606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00" b="1">
                <a:solidFill>
                  <a:srgbClr val="ED7D31"/>
                </a:solidFill>
                <a:latin typeface="Helvetica"/>
              </a:rPr>
              <a:t>● </a:t>
            </a:r>
            <a:r>
              <a:rPr sz="1000" b="0">
                <a:solidFill>
                  <a:srgbClr val="BBBCBC"/>
                </a:solidFill>
                <a:latin typeface="Helvetica"/>
              </a:rPr>
              <a:t>FONCTIONS TRANSVERSES  ›  </a:t>
            </a:r>
            <a:r>
              <a:rPr sz="1200" b="1">
                <a:solidFill>
                  <a:srgbClr val="FFFFFF"/>
                </a:solidFill>
                <a:latin typeface="Helvetica"/>
              </a:rPr>
              <a:t>DONNÉES ET INFORMATIQUE</a:t>
            </a:r>
            <a:r>
              <a:rPr sz="950" b="0">
                <a:solidFill>
                  <a:srgbClr val="FFFFFF"/>
                </a:solidFill>
                <a:latin typeface="Helvetica"/>
              </a:rPr>
              <a:t>     4 constats, dont 2 à traiter dans les trois mois</a:t>
            </a:r>
          </a:p>
        </p:txBody>
      </p:sp>
      <p:sp>
        <p:nvSpPr>
          <p:cNvPr id="48" name="Nav Carte">
            <a:hlinkClick action="ppaction://hlinksldjump" r:id="rId18"/>
          </p:cNvPr>
          <p:cNvSpPr/>
          <p:nvPr/>
        </p:nvSpPr>
        <p:spPr>
          <a:xfrm>
            <a:off x="10007999" y="1871999"/>
            <a:ext cx="1655999" cy="151200"/>
          </a:xfrm>
          <a:prstGeom prst="rect">
            <a:avLst/>
          </a:prstGeom>
          <a:solidFill>
            <a:srgbClr val="53565A"/>
          </a:solidFill>
          <a:ln w="952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850" b="1">
                <a:solidFill>
                  <a:srgbClr val="FFFFFF"/>
                </a:solidFill>
                <a:latin typeface="Helvetica"/>
              </a:rPr>
              <a:t>↩ Carte des activités</a:t>
            </a:r>
          </a:p>
        </p:txBody>
      </p:sp>
      <p:sp>
        <p:nvSpPr>
          <p:cNvPr id="49" name="Rectangle 48"/>
          <p:cNvSpPr/>
          <p:nvPr/>
        </p:nvSpPr>
        <p:spPr>
          <a:xfrm>
            <a:off x="503999" y="2088000"/>
            <a:ext cx="597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Constat et commentaire</a:t>
            </a:r>
          </a:p>
        </p:txBody>
      </p:sp>
      <p:sp>
        <p:nvSpPr>
          <p:cNvPr id="50" name="Rectangle 49"/>
          <p:cNvSpPr/>
          <p:nvPr/>
        </p:nvSpPr>
        <p:spPr>
          <a:xfrm>
            <a:off x="6480000" y="2088000"/>
            <a:ext cx="3384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950" b="1">
                <a:solidFill>
                  <a:srgbClr val="060606"/>
                </a:solidFill>
                <a:latin typeface="Helvetica"/>
              </a:rPr>
              <a:t>Recommandation</a:t>
            </a:r>
          </a:p>
        </p:txBody>
      </p:sp>
      <p:sp>
        <p:nvSpPr>
          <p:cNvPr id="51" name="Rectangle 50"/>
          <p:cNvSpPr/>
          <p:nvPr/>
        </p:nvSpPr>
        <p:spPr>
          <a:xfrm>
            <a:off x="9864000" y="2088000"/>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Complexité</a:t>
            </a:r>
          </a:p>
        </p:txBody>
      </p:sp>
      <p:sp>
        <p:nvSpPr>
          <p:cNvPr id="52" name="Rectangle 51"/>
          <p:cNvSpPr/>
          <p:nvPr/>
        </p:nvSpPr>
        <p:spPr>
          <a:xfrm>
            <a:off x="10800000" y="2088000"/>
            <a:ext cx="936000" cy="180000"/>
          </a:xfrm>
          <a:prstGeom prst="rect">
            <a:avLst/>
          </a:prstGeom>
          <a:solidFill>
            <a:srgbClr val="D9D9D9"/>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ctr"/>
            <a:r>
              <a:rPr sz="950" b="1">
                <a:solidFill>
                  <a:srgbClr val="060606"/>
                </a:solidFill>
                <a:latin typeface="Helvetica"/>
              </a:rPr>
              <a:t>Priorité</a:t>
            </a:r>
          </a:p>
        </p:txBody>
      </p:sp>
      <p:sp>
        <p:nvSpPr>
          <p:cNvPr id="53" name="Rectangle 52"/>
          <p:cNvSpPr/>
          <p:nvPr/>
        </p:nvSpPr>
        <p:spPr>
          <a:xfrm>
            <a:off x="503999" y="2286000"/>
            <a:ext cx="5976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ED7D31"/>
                </a:solidFill>
                <a:latin typeface="Helvetica"/>
              </a:rPr>
              <a:t>● </a:t>
            </a:r>
            <a:r>
              <a:rPr sz="1050" b="1">
                <a:solidFill>
                  <a:srgbClr val="112A40"/>
                </a:solidFill>
                <a:latin typeface="Helvetica"/>
              </a:rPr>
              <a:t>26   </a:t>
            </a:r>
            <a:r>
              <a:rPr sz="1050" b="1">
                <a:solidFill>
                  <a:srgbClr val="060606"/>
                </a:solidFill>
                <a:latin typeface="Helvetica"/>
              </a:rPr>
              <a:t>Des données essentielles manquent. </a:t>
            </a:r>
            <a:r>
              <a:rPr sz="1050" b="0">
                <a:solidFill>
                  <a:srgbClr val="060606"/>
                </a:solidFill>
                <a:latin typeface="Helvetica"/>
              </a:rPr>
              <a:t>Pas de base des prestations datée, ni de dates de naissance, ni de fichier des ayants droit.</a:t>
            </a:r>
          </a:p>
        </p:txBody>
      </p:sp>
      <p:sp>
        <p:nvSpPr>
          <p:cNvPr id="54" name="Rectangle 53"/>
          <p:cNvSpPr/>
          <p:nvPr/>
        </p:nvSpPr>
        <p:spPr>
          <a:xfrm>
            <a:off x="6480000" y="2286000"/>
            <a:ext cx="3384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Transmettre les données demandées.</a:t>
            </a:r>
          </a:p>
        </p:txBody>
      </p:sp>
      <p:sp>
        <p:nvSpPr>
          <p:cNvPr id="55" name="Rectangle 54"/>
          <p:cNvSpPr/>
          <p:nvPr/>
        </p:nvSpPr>
        <p:spPr>
          <a:xfrm>
            <a:off x="9864000" y="2286000"/>
            <a:ext cx="936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56" name="Rectangle 55"/>
          <p:cNvSpPr/>
          <p:nvPr/>
        </p:nvSpPr>
        <p:spPr>
          <a:xfrm>
            <a:off x="10800000" y="2286000"/>
            <a:ext cx="936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57" name="Rounded Rectangle 56"/>
          <p:cNvSpPr/>
          <p:nvPr/>
        </p:nvSpPr>
        <p:spPr>
          <a:xfrm>
            <a:off x="9936000" y="2467720"/>
            <a:ext cx="792000" cy="216000"/>
          </a:xfrm>
          <a:prstGeom prst="round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Moyenne</a:t>
            </a:r>
          </a:p>
        </p:txBody>
      </p:sp>
      <p:sp>
        <p:nvSpPr>
          <p:cNvPr id="58" name="Rounded Rectangle 57"/>
          <p:cNvSpPr/>
          <p:nvPr/>
        </p:nvSpPr>
        <p:spPr>
          <a:xfrm>
            <a:off x="10962000" y="2467720"/>
            <a:ext cx="612000" cy="216000"/>
          </a:xfrm>
          <a:prstGeom prst="round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P1</a:t>
            </a:r>
          </a:p>
        </p:txBody>
      </p:sp>
      <p:sp>
        <p:nvSpPr>
          <p:cNvPr id="59" name="Rectangle 58"/>
          <p:cNvSpPr/>
          <p:nvPr/>
        </p:nvSpPr>
        <p:spPr>
          <a:xfrm>
            <a:off x="503999" y="2865441"/>
            <a:ext cx="5976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FFC000"/>
                </a:solidFill>
                <a:latin typeface="Helvetica"/>
              </a:rPr>
              <a:t>● </a:t>
            </a:r>
            <a:r>
              <a:rPr sz="1050" b="1">
                <a:solidFill>
                  <a:srgbClr val="112A40"/>
                </a:solidFill>
                <a:latin typeface="Helvetica"/>
              </a:rPr>
              <a:t>26.i   </a:t>
            </a:r>
            <a:r>
              <a:rPr sz="1050" b="1">
                <a:solidFill>
                  <a:srgbClr val="060606"/>
                </a:solidFill>
                <a:latin typeface="Helvetica"/>
              </a:rPr>
              <a:t>Le fichier des mutualistes est incomplet. </a:t>
            </a:r>
            <a:r>
              <a:rPr sz="1050" b="0">
                <a:solidFill>
                  <a:srgbClr val="060606"/>
                </a:solidFill>
                <a:latin typeface="Helvetica"/>
              </a:rPr>
              <a:t>Ni date de naissance ni sexe des actifs, ni date d'adhésion, ni statut, ni motif de sortie.</a:t>
            </a:r>
          </a:p>
        </p:txBody>
      </p:sp>
      <p:sp>
        <p:nvSpPr>
          <p:cNvPr id="60" name="Rectangle 59"/>
          <p:cNvSpPr/>
          <p:nvPr/>
        </p:nvSpPr>
        <p:spPr>
          <a:xfrm>
            <a:off x="6480000" y="2865441"/>
            <a:ext cx="3384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Extraire du logiciel le fichier complet des mutualistes.</a:t>
            </a:r>
          </a:p>
        </p:txBody>
      </p:sp>
      <p:sp>
        <p:nvSpPr>
          <p:cNvPr id="61" name="Rectangle 60"/>
          <p:cNvSpPr/>
          <p:nvPr/>
        </p:nvSpPr>
        <p:spPr>
          <a:xfrm>
            <a:off x="9864000" y="2865441"/>
            <a:ext cx="936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2" name="Rectangle 61"/>
          <p:cNvSpPr/>
          <p:nvPr/>
        </p:nvSpPr>
        <p:spPr>
          <a:xfrm>
            <a:off x="10800000" y="2865441"/>
            <a:ext cx="936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3" name="Rounded Rectangle 62"/>
          <p:cNvSpPr/>
          <p:nvPr/>
        </p:nvSpPr>
        <p:spPr>
          <a:xfrm>
            <a:off x="9936000" y="3047162"/>
            <a:ext cx="792000" cy="216000"/>
          </a:xfrm>
          <a:prstGeom prst="round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Moyenne</a:t>
            </a:r>
          </a:p>
        </p:txBody>
      </p:sp>
      <p:sp>
        <p:nvSpPr>
          <p:cNvPr id="64" name="Rounded Rectangle 63"/>
          <p:cNvSpPr/>
          <p:nvPr/>
        </p:nvSpPr>
        <p:spPr>
          <a:xfrm>
            <a:off x="10962000" y="3047162"/>
            <a:ext cx="612000" cy="216000"/>
          </a:xfrm>
          <a:prstGeom prst="round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P1</a:t>
            </a:r>
          </a:p>
        </p:txBody>
      </p:sp>
      <p:sp>
        <p:nvSpPr>
          <p:cNvPr id="65" name="Rectangle 64"/>
          <p:cNvSpPr/>
          <p:nvPr/>
        </p:nvSpPr>
        <p:spPr>
          <a:xfrm>
            <a:off x="503999" y="3444883"/>
            <a:ext cx="5976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FFC000"/>
                </a:solidFill>
                <a:latin typeface="Helvetica"/>
              </a:rPr>
              <a:t>● </a:t>
            </a:r>
            <a:r>
              <a:rPr sz="1050" b="1">
                <a:solidFill>
                  <a:srgbClr val="112A40"/>
                </a:solidFill>
                <a:latin typeface="Helvetica"/>
              </a:rPr>
              <a:t>26.k   </a:t>
            </a:r>
            <a:r>
              <a:rPr sz="1050" b="1">
                <a:solidFill>
                  <a:srgbClr val="060606"/>
                </a:solidFill>
                <a:latin typeface="Helvetica"/>
              </a:rPr>
              <a:t>Le lien entre matricule et mécano manque. </a:t>
            </a:r>
            <a:r>
              <a:rPr sz="1050" b="0">
                <a:solidFill>
                  <a:srgbClr val="060606"/>
                </a:solidFill>
                <a:latin typeface="Helvetica"/>
              </a:rPr>
              <a:t>La table de correspondance n'a pas été transmise.</a:t>
            </a:r>
          </a:p>
        </p:txBody>
      </p:sp>
      <p:sp>
        <p:nvSpPr>
          <p:cNvPr id="66" name="Rectangle 65"/>
          <p:cNvSpPr/>
          <p:nvPr/>
        </p:nvSpPr>
        <p:spPr>
          <a:xfrm>
            <a:off x="6480000" y="3444883"/>
            <a:ext cx="3384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Transmettre la table de correspondance.</a:t>
            </a:r>
          </a:p>
        </p:txBody>
      </p:sp>
      <p:sp>
        <p:nvSpPr>
          <p:cNvPr id="67" name="Rectangle 66"/>
          <p:cNvSpPr/>
          <p:nvPr/>
        </p:nvSpPr>
        <p:spPr>
          <a:xfrm>
            <a:off x="9864000" y="3444883"/>
            <a:ext cx="936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8" name="Rectangle 67"/>
          <p:cNvSpPr/>
          <p:nvPr/>
        </p:nvSpPr>
        <p:spPr>
          <a:xfrm>
            <a:off x="10800000" y="3444883"/>
            <a:ext cx="936000" cy="579441"/>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69" name="Rounded Rectangle 68"/>
          <p:cNvSpPr/>
          <p:nvPr/>
        </p:nvSpPr>
        <p:spPr>
          <a:xfrm>
            <a:off x="9936000" y="3626604"/>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70" name="Rounded Rectangle 69"/>
          <p:cNvSpPr/>
          <p:nvPr/>
        </p:nvSpPr>
        <p:spPr>
          <a:xfrm>
            <a:off x="10962000" y="3626604"/>
            <a:ext cx="612000" cy="216000"/>
          </a:xfrm>
          <a:prstGeom prst="round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P3</a:t>
            </a:r>
          </a:p>
        </p:txBody>
      </p:sp>
      <p:sp>
        <p:nvSpPr>
          <p:cNvPr id="71" name="Rectangle 70"/>
          <p:cNvSpPr/>
          <p:nvPr/>
        </p:nvSpPr>
        <p:spPr>
          <a:xfrm>
            <a:off x="503999" y="4024324"/>
            <a:ext cx="5976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250" b="1">
                <a:solidFill>
                  <a:srgbClr val="70AD47"/>
                </a:solidFill>
                <a:latin typeface="Helvetica"/>
              </a:rPr>
              <a:t>● </a:t>
            </a:r>
            <a:r>
              <a:rPr sz="1050" b="1">
                <a:solidFill>
                  <a:srgbClr val="112A40"/>
                </a:solidFill>
                <a:latin typeface="Helvetica"/>
              </a:rPr>
              <a:t>26.j   </a:t>
            </a:r>
            <a:r>
              <a:rPr sz="1050" b="1">
                <a:solidFill>
                  <a:srgbClr val="060606"/>
                </a:solidFill>
                <a:latin typeface="Helvetica"/>
              </a:rPr>
              <a:t>Certains exports sont difficiles à lire. </a:t>
            </a:r>
            <a:r>
              <a:rPr sz="1050" b="0">
                <a:solidFill>
                  <a:srgbClr val="060606"/>
                </a:solidFill>
                <a:latin typeface="Helvetica"/>
              </a:rPr>
              <a:t>Fichiers PEP de 2020 à 2022 au format texte. Exports du Grenier sans la lettre-clé du mécano.</a:t>
            </a:r>
          </a:p>
        </p:txBody>
      </p:sp>
      <p:sp>
        <p:nvSpPr>
          <p:cNvPr id="72" name="Rectangle 71"/>
          <p:cNvSpPr/>
          <p:nvPr/>
        </p:nvSpPr>
        <p:spPr>
          <a:xfrm>
            <a:off x="6480000" y="4024324"/>
            <a:ext cx="3384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8800" bIns="28800"/>
          <a:lstStyle/>
          <a:p>
            <a:pPr algn="l"/>
            <a:r>
              <a:rPr sz="1150" b="1">
                <a:solidFill>
                  <a:srgbClr val="EFAC62"/>
                </a:solidFill>
                <a:latin typeface="Helvetica"/>
              </a:rPr>
              <a:t>→ </a:t>
            </a:r>
            <a:r>
              <a:rPr sz="1050" b="0">
                <a:solidFill>
                  <a:srgbClr val="060606"/>
                </a:solidFill>
                <a:latin typeface="Helvetica"/>
              </a:rPr>
              <a:t>Fournir des exports Excel complets.</a:t>
            </a:r>
          </a:p>
        </p:txBody>
      </p:sp>
      <p:sp>
        <p:nvSpPr>
          <p:cNvPr id="73" name="Rectangle 72"/>
          <p:cNvSpPr/>
          <p:nvPr/>
        </p:nvSpPr>
        <p:spPr>
          <a:xfrm>
            <a:off x="9864000" y="4024324"/>
            <a:ext cx="936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4" name="Rectangle 73"/>
          <p:cNvSpPr/>
          <p:nvPr/>
        </p:nvSpPr>
        <p:spPr>
          <a:xfrm>
            <a:off x="10800000" y="4024324"/>
            <a:ext cx="936000" cy="579441"/>
          </a:xfrm>
          <a:prstGeom prst="rect">
            <a:avLst/>
          </a:prstGeom>
          <a:solidFill>
            <a:srgbClr val="F7F7F7"/>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54000" rIns="54000" tIns="28800" bIns="28800"/>
          <a:lstStyle/>
          <a:p>
            <a:pPr algn="l"/>
          </a:p>
        </p:txBody>
      </p:sp>
      <p:sp>
        <p:nvSpPr>
          <p:cNvPr id="75" name="Rounded Rectangle 74"/>
          <p:cNvSpPr/>
          <p:nvPr/>
        </p:nvSpPr>
        <p:spPr>
          <a:xfrm>
            <a:off x="9936000" y="4206045"/>
            <a:ext cx="792000" cy="216000"/>
          </a:xfrm>
          <a:prstGeom prst="roundRect">
            <a:avLst/>
          </a:prstGeom>
          <a:solidFill>
            <a:srgbClr val="D9EAD3"/>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900" b="1">
                <a:solidFill>
                  <a:srgbClr val="060606"/>
                </a:solidFill>
                <a:latin typeface="Helvetica"/>
              </a:rPr>
              <a:t>Faible</a:t>
            </a:r>
          </a:p>
        </p:txBody>
      </p:sp>
      <p:sp>
        <p:nvSpPr>
          <p:cNvPr id="76" name="Rounded Rectangle 75"/>
          <p:cNvSpPr/>
          <p:nvPr/>
        </p:nvSpPr>
        <p:spPr>
          <a:xfrm>
            <a:off x="10962000" y="4206045"/>
            <a:ext cx="612000" cy="216000"/>
          </a:xfrm>
          <a:prstGeom prst="round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7200" rIns="7200" tIns="7200" bIns="7200"/>
          <a:lstStyle/>
          <a:p>
            <a:pPr algn="ctr"/>
            <a:r>
              <a:rPr sz="1000" b="1">
                <a:solidFill>
                  <a:srgbClr val="FFFFFF"/>
                </a:solidFill>
                <a:latin typeface="Helvetica"/>
              </a:rPr>
              <a:t>P3</a:t>
            </a:r>
          </a:p>
        </p:txBody>
      </p:sp>
      <p:sp>
        <p:nvSpPr>
          <p:cNvPr id="77" name="TextBox 76"/>
          <p:cNvSpPr txBox="1"/>
          <p:nvPr/>
        </p:nvSpPr>
        <p:spPr>
          <a:xfrm>
            <a:off x="503999" y="5716800"/>
            <a:ext cx="11232000" cy="151200"/>
          </a:xfrm>
          <a:prstGeom prst="rect">
            <a:avLst/>
          </a:prstGeom>
          <a:noFill/>
        </p:spPr>
        <p:txBody>
          <a:bodyPr wrap="square">
            <a:spAutoFit/>
          </a:bodyPr>
          <a:lstStyle/>
          <a:p>
            <a:r>
              <a:rPr sz="750" b="1">
                <a:solidFill>
                  <a:srgbClr val="060606"/>
                </a:solidFill>
                <a:latin typeface="Helvetica"/>
              </a:rPr>
              <a:t>Criticité : </a:t>
            </a:r>
            <a:r>
              <a:rPr sz="850" b="1">
                <a:solidFill>
                  <a:srgbClr val="C00000"/>
                </a:solidFill>
                <a:latin typeface="Helvetica"/>
              </a:rPr>
              <a:t>● </a:t>
            </a:r>
            <a:r>
              <a:rPr sz="750" b="0">
                <a:solidFill>
                  <a:srgbClr val="060606"/>
                </a:solidFill>
                <a:latin typeface="Helvetica"/>
              </a:rPr>
              <a:t>Critique   </a:t>
            </a:r>
            <a:r>
              <a:rPr sz="850" b="1">
                <a:solidFill>
                  <a:srgbClr val="ED7D31"/>
                </a:solidFill>
                <a:latin typeface="Helvetica"/>
              </a:rPr>
              <a:t>● </a:t>
            </a:r>
            <a:r>
              <a:rPr sz="750" b="0">
                <a:solidFill>
                  <a:srgbClr val="060606"/>
                </a:solidFill>
                <a:latin typeface="Helvetica"/>
              </a:rPr>
              <a:t>Élevé   </a:t>
            </a:r>
            <a:r>
              <a:rPr sz="850" b="1">
                <a:solidFill>
                  <a:srgbClr val="FFC000"/>
                </a:solidFill>
                <a:latin typeface="Helvetica"/>
              </a:rPr>
              <a:t>● </a:t>
            </a:r>
            <a:r>
              <a:rPr sz="750" b="0">
                <a:solidFill>
                  <a:srgbClr val="060606"/>
                </a:solidFill>
                <a:latin typeface="Helvetica"/>
              </a:rPr>
              <a:t>Moyen   </a:t>
            </a:r>
            <a:r>
              <a:rPr sz="850" b="1">
                <a:solidFill>
                  <a:srgbClr val="70AD47"/>
                </a:solidFill>
                <a:latin typeface="Helvetica"/>
              </a:rPr>
              <a:t>● </a:t>
            </a:r>
            <a:r>
              <a:rPr sz="750" b="0">
                <a:solidFill>
                  <a:srgbClr val="060606"/>
                </a:solidFill>
                <a:latin typeface="Helvetica"/>
              </a:rPr>
              <a:t>Faible   </a:t>
            </a:r>
            <a:r>
              <a:rPr sz="750" b="0">
                <a:solidFill>
                  <a:srgbClr val="060606"/>
                </a:solidFill>
                <a:latin typeface="Helvetica"/>
              </a:rPr>
              <a:t>Priorité : P1 dans les 3 mois, P2 dans les 6 mois, P3 de 6 à 18 mois, P4 au-delà.   Complexité : Faible (une décision suffit), Moyenne (travail interne), Élevée (tiers ou financement).   Numéros : ceux du résumé exécutif.</a:t>
            </a:r>
          </a:p>
        </p:txBody>
      </p:sp>
      <p:sp>
        <p:nvSpPr>
          <p:cNvPr id="78" name="TextBox 77"/>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 | MEDOC : produit santé complémentaire du poste 8Z7</a:t>
            </a:r>
          </a:p>
        </p:txBody>
      </p:sp>
    </p:spTree>
    <p:extLst>
      <p:ext uri="{BB962C8B-B14F-4D97-AF65-F5344CB8AC3E}">
        <p14:creationId xmlns:p14="http://schemas.microsoft.com/office/powerpoint/2010/main" val="3091738035"/>
      </p:ext>
    </p:extLst>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Google Shape;8651;p70"/>
          <p:cNvSpPr/>
          <p:nvPr/>
        </p:nvSpPr>
        <p:spPr>
          <a:xfrm>
            <a:off x="2013108" y="2588204"/>
            <a:ext cx="1380332" cy="1428252"/>
          </a:xfrm>
          <a:custGeom>
            <a:avLst/>
            <a:gdLst/>
            <a:ahLst/>
            <a:cxnLst/>
            <a:rect l="l" t="t" r="r" b="b"/>
            <a:pathLst>
              <a:path w="8670" h="8971" extrusionOk="0">
                <a:moveTo>
                  <a:pt x="7105" y="1302"/>
                </a:moveTo>
                <a:cubicBezTo>
                  <a:pt x="7105" y="1315"/>
                  <a:pt x="7105" y="1328"/>
                  <a:pt x="7105" y="1341"/>
                </a:cubicBezTo>
                <a:cubicBezTo>
                  <a:pt x="7118" y="1980"/>
                  <a:pt x="7183" y="2619"/>
                  <a:pt x="7183" y="3283"/>
                </a:cubicBezTo>
                <a:cubicBezTo>
                  <a:pt x="7170" y="4404"/>
                  <a:pt x="7183" y="5525"/>
                  <a:pt x="7222" y="6646"/>
                </a:cubicBezTo>
                <a:cubicBezTo>
                  <a:pt x="7235" y="6959"/>
                  <a:pt x="7222" y="7259"/>
                  <a:pt x="7222" y="7559"/>
                </a:cubicBezTo>
                <a:lnTo>
                  <a:pt x="7222" y="7585"/>
                </a:lnTo>
                <a:cubicBezTo>
                  <a:pt x="6935" y="7598"/>
                  <a:pt x="6649" y="7611"/>
                  <a:pt x="6362" y="7611"/>
                </a:cubicBezTo>
                <a:cubicBezTo>
                  <a:pt x="6101" y="7598"/>
                  <a:pt x="5853" y="7585"/>
                  <a:pt x="5593" y="7585"/>
                </a:cubicBezTo>
                <a:cubicBezTo>
                  <a:pt x="4159" y="7559"/>
                  <a:pt x="2712" y="7559"/>
                  <a:pt x="1291" y="7442"/>
                </a:cubicBezTo>
                <a:cubicBezTo>
                  <a:pt x="1278" y="7207"/>
                  <a:pt x="1239" y="6959"/>
                  <a:pt x="1226" y="6725"/>
                </a:cubicBezTo>
                <a:cubicBezTo>
                  <a:pt x="1200" y="6255"/>
                  <a:pt x="1187" y="5799"/>
                  <a:pt x="1200" y="5330"/>
                </a:cubicBezTo>
                <a:cubicBezTo>
                  <a:pt x="1213" y="4222"/>
                  <a:pt x="1226" y="3101"/>
                  <a:pt x="1343" y="1993"/>
                </a:cubicBezTo>
                <a:lnTo>
                  <a:pt x="1552" y="1993"/>
                </a:lnTo>
                <a:cubicBezTo>
                  <a:pt x="2138" y="1980"/>
                  <a:pt x="2725" y="1889"/>
                  <a:pt x="3312" y="1810"/>
                </a:cubicBezTo>
                <a:cubicBezTo>
                  <a:pt x="4576" y="1641"/>
                  <a:pt x="5840" y="1524"/>
                  <a:pt x="7105" y="1302"/>
                </a:cubicBezTo>
                <a:close/>
                <a:moveTo>
                  <a:pt x="7529" y="1"/>
                </a:moveTo>
                <a:cubicBezTo>
                  <a:pt x="7291" y="1"/>
                  <a:pt x="7059" y="53"/>
                  <a:pt x="6818" y="64"/>
                </a:cubicBezTo>
                <a:cubicBezTo>
                  <a:pt x="6375" y="103"/>
                  <a:pt x="5932" y="142"/>
                  <a:pt x="5488" y="194"/>
                </a:cubicBezTo>
                <a:cubicBezTo>
                  <a:pt x="4824" y="259"/>
                  <a:pt x="4107" y="350"/>
                  <a:pt x="3429" y="389"/>
                </a:cubicBezTo>
                <a:cubicBezTo>
                  <a:pt x="2686" y="429"/>
                  <a:pt x="1943" y="481"/>
                  <a:pt x="1213" y="598"/>
                </a:cubicBezTo>
                <a:cubicBezTo>
                  <a:pt x="913" y="624"/>
                  <a:pt x="652" y="728"/>
                  <a:pt x="509" y="976"/>
                </a:cubicBezTo>
                <a:cubicBezTo>
                  <a:pt x="470" y="1028"/>
                  <a:pt x="444" y="1080"/>
                  <a:pt x="431" y="1146"/>
                </a:cubicBezTo>
                <a:cubicBezTo>
                  <a:pt x="300" y="1524"/>
                  <a:pt x="287" y="1928"/>
                  <a:pt x="300" y="2332"/>
                </a:cubicBezTo>
                <a:cubicBezTo>
                  <a:pt x="209" y="3010"/>
                  <a:pt x="209" y="3700"/>
                  <a:pt x="209" y="4378"/>
                </a:cubicBezTo>
                <a:cubicBezTo>
                  <a:pt x="170" y="4769"/>
                  <a:pt x="144" y="5173"/>
                  <a:pt x="131" y="5565"/>
                </a:cubicBezTo>
                <a:cubicBezTo>
                  <a:pt x="105" y="6203"/>
                  <a:pt x="14" y="6842"/>
                  <a:pt x="14" y="7481"/>
                </a:cubicBezTo>
                <a:cubicBezTo>
                  <a:pt x="1" y="7911"/>
                  <a:pt x="157" y="8315"/>
                  <a:pt x="613" y="8419"/>
                </a:cubicBezTo>
                <a:cubicBezTo>
                  <a:pt x="1056" y="8550"/>
                  <a:pt x="1526" y="8524"/>
                  <a:pt x="1982" y="8550"/>
                </a:cubicBezTo>
                <a:cubicBezTo>
                  <a:pt x="2243" y="8563"/>
                  <a:pt x="2503" y="8589"/>
                  <a:pt x="2764" y="8615"/>
                </a:cubicBezTo>
                <a:cubicBezTo>
                  <a:pt x="3885" y="8745"/>
                  <a:pt x="5006" y="8902"/>
                  <a:pt x="6140" y="8941"/>
                </a:cubicBezTo>
                <a:cubicBezTo>
                  <a:pt x="6220" y="8945"/>
                  <a:pt x="6302" y="8946"/>
                  <a:pt x="6383" y="8946"/>
                </a:cubicBezTo>
                <a:cubicBezTo>
                  <a:pt x="6581" y="8946"/>
                  <a:pt x="6781" y="8937"/>
                  <a:pt x="6974" y="8928"/>
                </a:cubicBezTo>
                <a:cubicBezTo>
                  <a:pt x="7118" y="8941"/>
                  <a:pt x="7274" y="8941"/>
                  <a:pt x="7418" y="8941"/>
                </a:cubicBezTo>
                <a:cubicBezTo>
                  <a:pt x="7568" y="8956"/>
                  <a:pt x="7723" y="8971"/>
                  <a:pt x="7877" y="8971"/>
                </a:cubicBezTo>
                <a:cubicBezTo>
                  <a:pt x="7990" y="8971"/>
                  <a:pt x="8103" y="8963"/>
                  <a:pt x="8213" y="8941"/>
                </a:cubicBezTo>
                <a:cubicBezTo>
                  <a:pt x="8643" y="8810"/>
                  <a:pt x="8565" y="8093"/>
                  <a:pt x="8604" y="7741"/>
                </a:cubicBezTo>
                <a:cubicBezTo>
                  <a:pt x="8669" y="6620"/>
                  <a:pt x="8539" y="5499"/>
                  <a:pt x="8487" y="4378"/>
                </a:cubicBezTo>
                <a:cubicBezTo>
                  <a:pt x="8434" y="3453"/>
                  <a:pt x="8330" y="2527"/>
                  <a:pt x="8252" y="1589"/>
                </a:cubicBezTo>
                <a:cubicBezTo>
                  <a:pt x="8200" y="1341"/>
                  <a:pt x="8239" y="637"/>
                  <a:pt x="8096" y="350"/>
                </a:cubicBezTo>
                <a:lnTo>
                  <a:pt x="8082" y="350"/>
                </a:lnTo>
                <a:cubicBezTo>
                  <a:pt x="8056" y="181"/>
                  <a:pt x="7952" y="51"/>
                  <a:pt x="7704" y="11"/>
                </a:cubicBezTo>
                <a:cubicBezTo>
                  <a:pt x="7645" y="4"/>
                  <a:pt x="7587" y="1"/>
                  <a:pt x="7529" y="1"/>
                </a:cubicBezTo>
                <a:close/>
              </a:path>
            </a:pathLst>
          </a:custGeom>
          <a:solidFill>
            <a:schemeClr val="bg1"/>
          </a:solidFill>
          <a:ln w="76200">
            <a:solidFill>
              <a:schemeClr val="tx1"/>
            </a:solidFill>
          </a:ln>
        </p:spPr>
        <p:txBody>
          <a:bodyPr spcFirstLastPara="1" wrap="square" lIns="91425" tIns="91425" rIns="91425" bIns="91425" anchor="ctr" anchorCtr="0">
            <a:noAutofit/>
          </a:bodyPr>
          <a:lstStyle/>
          <a:p>
            <a:pPr marL="0" lvl="0" indent="0" algn="l" rtl="0">
              <a:spcBef>
                <a:spcPts val="0"/>
              </a:spcBef>
              <a:spcAft>
                <a:spcPts val="0"/>
              </a:spcAft>
              <a:buNone/>
            </a:pPr>
            <a:endParaRPr lang="fr-CI" noProof="0">
              <a:solidFill>
                <a:schemeClr val="bg1"/>
              </a:solidFill>
              <a:latin typeface="Helvetica" panose="020B0604020202020204" pitchFamily="34" charset="0"/>
              <a:cs typeface="Helvetica" panose="020B0604020202020204" pitchFamily="34" charset="0"/>
            </a:endParaRPr>
          </a:p>
        </p:txBody>
      </p:sp>
      <p:sp>
        <p:nvSpPr>
          <p:cNvPr id="25" name="Rectangle 24">
            <a:extLst>
              <a:ext uri="{FF2B5EF4-FFF2-40B4-BE49-F238E27FC236}">
                <a16:creationId xmlns:a16="http://schemas.microsoft.com/office/drawing/2014/main" id="{9B9B23AA-050D-4543-80A0-873FE31AFFF7}"/>
              </a:ext>
            </a:extLst>
          </p:cNvPr>
          <p:cNvSpPr/>
          <p:nvPr/>
        </p:nvSpPr>
        <p:spPr>
          <a:xfrm>
            <a:off x="2446471" y="2869098"/>
            <a:ext cx="513606" cy="936923"/>
          </a:xfrm>
          <a:prstGeom prst="rect">
            <a:avLst/>
          </a:prstGeom>
        </p:spPr>
        <p:txBody>
          <a:bodyPr wrap="square" lIns="0" tIns="0" rIns="0" bIns="0">
            <a:spAutoFit/>
          </a:bodyPr>
          <a:lstStyle/>
          <a:p>
            <a:pPr lvl="0">
              <a:lnSpc>
                <a:spcPct val="110000"/>
              </a:lnSpc>
            </a:pPr>
            <a:r>
              <a:rPr lang="fr-CI" sz="6000" b="1" noProof="0">
                <a:solidFill>
                  <a:schemeClr val="bg1"/>
                </a:solidFill>
                <a:latin typeface="Helvetica" panose="020B0604020202020204" pitchFamily="34" charset="0"/>
                <a:ea typeface="Open Sans Semibold" panose="020B0706030804020204" pitchFamily="34" charset="0"/>
                <a:cs typeface="Helvetica" panose="020B0604020202020204" pitchFamily="34" charset="0"/>
              </a:rPr>
              <a:t>A</a:t>
            </a:r>
          </a:p>
        </p:txBody>
      </p:sp>
      <p:sp>
        <p:nvSpPr>
          <p:cNvPr id="10" name="Rectangle 9"/>
          <p:cNvSpPr/>
          <p:nvPr/>
        </p:nvSpPr>
        <p:spPr>
          <a:xfrm>
            <a:off x="3938554" y="2462184"/>
            <a:ext cx="3816000" cy="1200329"/>
          </a:xfrm>
          <a:prstGeom prst="rect">
            <a:avLst/>
          </a:prstGeom>
        </p:spPr>
        <p:txBody>
          <a:bodyPr wrap="square">
            <a:spAutoFit/>
          </a:bodyPr>
          <a:lstStyle/>
          <a:p>
            <a:r>
              <a:rPr lang="fr-CI" sz="3600" b="1" noProof="0">
                <a:solidFill>
                  <a:schemeClr val="bg1"/>
                </a:solidFill>
                <a:latin typeface="Helvetica" panose="020B0604020202020204" pitchFamily="34" charset="0"/>
                <a:cs typeface="Helvetica" panose="020B0604020202020204" pitchFamily="34" charset="0"/>
              </a:rPr>
              <a:t>Annexes</a:t>
            </a:r>
          </a:p>
        </p:txBody>
      </p:sp>
      <p:pic>
        <p:nvPicPr>
          <p:cNvPr id="9" name="Image 8">
            <a:extLst>
              <a:ext uri="{FF2B5EF4-FFF2-40B4-BE49-F238E27FC236}">
                <a16:creationId xmlns:a16="http://schemas.microsoft.com/office/drawing/2014/main" id="{2C356854-0685-DCEF-E2F6-65D5E9653A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1274" y="-185107"/>
            <a:ext cx="3179518" cy="1268781"/>
          </a:xfrm>
          <a:prstGeom prst="rect">
            <a:avLst/>
          </a:prstGeom>
        </p:spPr>
      </p:pic>
      <p:sp>
        <p:nvSpPr>
          <p:cNvPr id="6" name="Rectangle 5"/>
          <p:cNvSpPr/>
          <p:nvPr/>
        </p:nvSpPr>
        <p:spPr>
          <a:xfrm>
            <a:off x="3938554" y="3337559"/>
            <a:ext cx="3816000" cy="923330"/>
          </a:xfrm>
          <a:prstGeom prst="rect">
            <a:avLst/>
          </a:prstGeom>
        </p:spPr>
        <p:txBody>
          <a:bodyPr wrap="square">
            <a:spAutoFit/>
          </a:bodyPr>
          <a:lstStyle/>
          <a:p>
            <a:br>
              <a:rPr lang="fr-CI" noProof="0">
                <a:solidFill>
                  <a:schemeClr val="bg1"/>
                </a:solidFill>
              </a:rPr>
            </a:br>
            <a:r>
              <a:rPr lang="fr-CI" noProof="0">
                <a:solidFill>
                  <a:srgbClr val="EFAC62"/>
                </a:solidFill>
                <a:latin typeface="Helvetica" panose="020B0604020202020204" pitchFamily="34" charset="0"/>
                <a:ea typeface="Open Sans Light" panose="020B0306030504020204" pitchFamily="34" charset="0"/>
                <a:cs typeface="Helvetica" panose="020B0604020202020204" pitchFamily="34" charset="0"/>
              </a:rPr>
              <a:t>Circuits des cotisations par produit, avec les contrôles absents</a:t>
            </a:r>
          </a:p>
        </p:txBody>
      </p:sp>
      <p:pic>
        <p:nvPicPr>
          <p:cNvPr id="11" name="Imag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65561" y="2415481"/>
            <a:ext cx="1566911" cy="1600975"/>
          </a:xfrm>
          <a:prstGeom prst="rect">
            <a:avLst/>
          </a:prstGeom>
        </p:spPr>
      </p:pic>
    </p:spTree>
    <p:extLst>
      <p:ext uri="{BB962C8B-B14F-4D97-AF65-F5344CB8AC3E}">
        <p14:creationId xmlns:p14="http://schemas.microsoft.com/office/powerpoint/2010/main" val="1746499638"/>
      </p:ext>
    </p:extLst>
  </p:cSld>
  <p:clrMapOvr>
    <a:masterClrMapping/>
  </p:clrMapOvr>
  <p:transition>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Circuit de la maladie et du décès</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fichier envoyé à la Solde est produit hors du FPPN : le recouvrement ne peut pas être mesuré</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Logigramme du FPPN redessiné : les cadres rouges signalent les contrôles absents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 FLOW_CHART_COTISATION_ET_PRODUITS_DEPARGNE_1.pptx » (FPPN, reçu le 23/10/2026). Contrôles absents : analyses Adenka</a:t>
            </a:r>
          </a:p>
        </p:txBody>
      </p:sp>
      <p:sp>
        <p:nvSpPr>
          <p:cNvPr id="31" name="Rectangle 30"/>
          <p:cNvSpPr/>
          <p:nvPr/>
        </p:nvSpPr>
        <p:spPr>
          <a:xfrm>
            <a:off x="503999" y="1404000"/>
            <a:ext cx="11232000" cy="737999"/>
          </a:xfrm>
          <a:prstGeom prst="rect">
            <a:avLst/>
          </a:prstGeom>
          <a:solidFill>
            <a:srgbClr val="F7F7F7"/>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03999" y="1404000"/>
            <a:ext cx="1404000" cy="73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Policier</a:t>
            </a:r>
          </a:p>
        </p:txBody>
      </p:sp>
      <p:sp>
        <p:nvSpPr>
          <p:cNvPr id="33" name="Rectangle 32"/>
          <p:cNvSpPr/>
          <p:nvPr/>
        </p:nvSpPr>
        <p:spPr>
          <a:xfrm>
            <a:off x="503999" y="2141999"/>
            <a:ext cx="11232000" cy="737999"/>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3999" y="2141999"/>
            <a:ext cx="1404000" cy="73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FPPN : service informatique</a:t>
            </a:r>
          </a:p>
        </p:txBody>
      </p:sp>
      <p:sp>
        <p:nvSpPr>
          <p:cNvPr id="35" name="Rectangle 34"/>
          <p:cNvSpPr/>
          <p:nvPr/>
        </p:nvSpPr>
        <p:spPr>
          <a:xfrm>
            <a:off x="503999" y="2880000"/>
            <a:ext cx="11232000" cy="737999"/>
          </a:xfrm>
          <a:prstGeom prst="rect">
            <a:avLst/>
          </a:prstGeom>
          <a:solidFill>
            <a:srgbClr val="F7F7F7"/>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03999" y="2880000"/>
            <a:ext cx="1404000" cy="73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Service du personnel</a:t>
            </a:r>
          </a:p>
        </p:txBody>
      </p:sp>
      <p:sp>
        <p:nvSpPr>
          <p:cNvPr id="37" name="Rectangle 36"/>
          <p:cNvSpPr/>
          <p:nvPr/>
        </p:nvSpPr>
        <p:spPr>
          <a:xfrm>
            <a:off x="503999" y="3617999"/>
            <a:ext cx="11232000" cy="737999"/>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03999" y="3617999"/>
            <a:ext cx="1404000" cy="73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Trésor (Solde)</a:t>
            </a:r>
          </a:p>
        </p:txBody>
      </p:sp>
      <p:sp>
        <p:nvSpPr>
          <p:cNvPr id="39" name="Rectangle 38"/>
          <p:cNvSpPr/>
          <p:nvPr/>
        </p:nvSpPr>
        <p:spPr>
          <a:xfrm>
            <a:off x="503999" y="4356000"/>
            <a:ext cx="11232000" cy="737999"/>
          </a:xfrm>
          <a:prstGeom prst="rect">
            <a:avLst/>
          </a:prstGeom>
          <a:solidFill>
            <a:srgbClr val="F7F7F7"/>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03999" y="4356000"/>
            <a:ext cx="1404000" cy="73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FPPN : service comptable</a:t>
            </a:r>
          </a:p>
        </p:txBody>
      </p:sp>
      <p:sp>
        <p:nvSpPr>
          <p:cNvPr id="41" name="Logigramme m1"/>
          <p:cNvSpPr/>
          <p:nvPr/>
        </p:nvSpPr>
        <p:spPr>
          <a:xfrm>
            <a:off x="2015999" y="1512000"/>
            <a:ext cx="1224000" cy="522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FFFFFF"/>
                </a:solidFill>
                <a:latin typeface="Helvetica"/>
              </a:rPr>
              <a:t>Adhésion</a:t>
            </a:r>
          </a:p>
          <a:p>
            <a:pPr algn="ctr"/>
            <a:r>
              <a:rPr sz="800" b="1">
                <a:solidFill>
                  <a:srgbClr val="FFFFFF"/>
                </a:solidFill>
                <a:latin typeface="Helvetica"/>
              </a:rPr>
              <a:t>fiche d'adhésion</a:t>
            </a:r>
          </a:p>
        </p:txBody>
      </p:sp>
      <p:sp>
        <p:nvSpPr>
          <p:cNvPr id="42" name="Logigramme m2"/>
          <p:cNvSpPr/>
          <p:nvPr/>
        </p:nvSpPr>
        <p:spPr>
          <a:xfrm>
            <a:off x="2015999" y="2169000"/>
            <a:ext cx="1224000" cy="684000"/>
          </a:xfrm>
          <a:prstGeom prst="flowChartDecision">
            <a:avLst/>
          </a:prstGeom>
          <a:solidFill>
            <a:srgbClr val="EFAC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750" b="1">
                <a:solidFill>
                  <a:srgbClr val="060606"/>
                </a:solidFill>
                <a:latin typeface="Helvetica"/>
              </a:rPr>
              <a:t>Carte de santé</a:t>
            </a:r>
          </a:p>
          <a:p>
            <a:pPr algn="ctr"/>
            <a:r>
              <a:rPr sz="750" b="0">
                <a:solidFill>
                  <a:srgbClr val="060606"/>
                </a:solidFill>
                <a:latin typeface="Helvetica"/>
              </a:rPr>
              <a:t>FPPN ?</a:t>
            </a:r>
          </a:p>
        </p:txBody>
      </p:sp>
      <p:sp>
        <p:nvSpPr>
          <p:cNvPr id="43" name="Logigramme m3"/>
          <p:cNvSpPr/>
          <p:nvPr/>
        </p:nvSpPr>
        <p:spPr>
          <a:xfrm>
            <a:off x="3401999" y="1512000"/>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Pas de</a:t>
            </a:r>
          </a:p>
          <a:p>
            <a:pPr algn="ctr"/>
            <a:r>
              <a:rPr sz="800" b="0">
                <a:solidFill>
                  <a:srgbClr val="060606"/>
                </a:solidFill>
                <a:latin typeface="Helvetica"/>
              </a:rPr>
              <a:t>prestation</a:t>
            </a:r>
          </a:p>
        </p:txBody>
      </p:sp>
      <p:sp>
        <p:nvSpPr>
          <p:cNvPr id="44" name="Logigramme m4"/>
          <p:cNvSpPr/>
          <p:nvPr/>
        </p:nvSpPr>
        <p:spPr>
          <a:xfrm>
            <a:off x="4788000" y="2249999"/>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Intégration</a:t>
            </a:r>
          </a:p>
          <a:p>
            <a:pPr algn="ctr"/>
            <a:r>
              <a:rPr sz="800" b="0">
                <a:solidFill>
                  <a:srgbClr val="060606"/>
                </a:solidFill>
                <a:latin typeface="Helvetica"/>
              </a:rPr>
              <a:t>aux adhérents</a:t>
            </a:r>
          </a:p>
        </p:txBody>
      </p:sp>
      <p:sp>
        <p:nvSpPr>
          <p:cNvPr id="45" name="Logigramme m5"/>
          <p:cNvSpPr/>
          <p:nvPr/>
        </p:nvSpPr>
        <p:spPr>
          <a:xfrm>
            <a:off x="6173999" y="2249999"/>
            <a:ext cx="1224000" cy="522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Fichier recensant</a:t>
            </a:r>
          </a:p>
          <a:p>
            <a:pPr algn="ctr"/>
            <a:r>
              <a:rPr sz="800" b="0">
                <a:solidFill>
                  <a:srgbClr val="060606"/>
                </a:solidFill>
                <a:latin typeface="Helvetica"/>
              </a:rPr>
              <a:t>les adhérents</a:t>
            </a:r>
          </a:p>
        </p:txBody>
      </p:sp>
      <p:sp>
        <p:nvSpPr>
          <p:cNvPr id="46" name="Logigramme m6"/>
          <p:cNvSpPr/>
          <p:nvPr/>
        </p:nvSpPr>
        <p:spPr>
          <a:xfrm>
            <a:off x="6173999" y="2988000"/>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Fichier de précompte</a:t>
            </a:r>
          </a:p>
          <a:p>
            <a:pPr algn="ctr"/>
            <a:r>
              <a:rPr sz="800" b="0">
                <a:solidFill>
                  <a:srgbClr val="060606"/>
                </a:solidFill>
                <a:latin typeface="Helvetica"/>
              </a:rPr>
              <a:t>et calcul des cotisations</a:t>
            </a:r>
          </a:p>
        </p:txBody>
      </p:sp>
      <p:sp>
        <p:nvSpPr>
          <p:cNvPr id="47" name="Logigramme m7"/>
          <p:cNvSpPr/>
          <p:nvPr/>
        </p:nvSpPr>
        <p:spPr>
          <a:xfrm>
            <a:off x="7560000" y="2988000"/>
            <a:ext cx="1224000" cy="522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Fichier aller</a:t>
            </a:r>
          </a:p>
          <a:p>
            <a:pPr algn="ctr"/>
            <a:r>
              <a:rPr sz="800" b="0">
                <a:solidFill>
                  <a:srgbClr val="060606"/>
                </a:solidFill>
                <a:latin typeface="Helvetica"/>
              </a:rPr>
              <a:t>936 et 8Z6</a:t>
            </a:r>
          </a:p>
        </p:txBody>
      </p:sp>
      <p:sp>
        <p:nvSpPr>
          <p:cNvPr id="48" name="Logigramme m8"/>
          <p:cNvSpPr/>
          <p:nvPr/>
        </p:nvSpPr>
        <p:spPr>
          <a:xfrm>
            <a:off x="7560000" y="3726000"/>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Prélèvement</a:t>
            </a:r>
          </a:p>
          <a:p>
            <a:pPr algn="ctr"/>
            <a:r>
              <a:rPr sz="800" b="0">
                <a:solidFill>
                  <a:srgbClr val="060606"/>
                </a:solidFill>
                <a:latin typeface="Helvetica"/>
              </a:rPr>
              <a:t>sur la solde</a:t>
            </a:r>
          </a:p>
        </p:txBody>
      </p:sp>
      <p:sp>
        <p:nvSpPr>
          <p:cNvPr id="49" name="Logigramme m9"/>
          <p:cNvSpPr/>
          <p:nvPr/>
        </p:nvSpPr>
        <p:spPr>
          <a:xfrm>
            <a:off x="8946000" y="3726000"/>
            <a:ext cx="1224000" cy="522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Fichier retour</a:t>
            </a:r>
          </a:p>
          <a:p>
            <a:pPr algn="ctr"/>
            <a:r>
              <a:rPr sz="800" b="0">
                <a:solidFill>
                  <a:srgbClr val="060606"/>
                </a:solidFill>
                <a:latin typeface="Helvetica"/>
              </a:rPr>
              <a:t>papier et numérique</a:t>
            </a:r>
          </a:p>
        </p:txBody>
      </p:sp>
      <p:sp>
        <p:nvSpPr>
          <p:cNvPr id="50" name="Logigramme m10"/>
          <p:cNvSpPr/>
          <p:nvPr/>
        </p:nvSpPr>
        <p:spPr>
          <a:xfrm>
            <a:off x="8946000" y="2249999"/>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Réception du fichier</a:t>
            </a:r>
          </a:p>
          <a:p>
            <a:pPr algn="ctr"/>
            <a:r>
              <a:rPr sz="800" b="0">
                <a:solidFill>
                  <a:srgbClr val="060606"/>
                </a:solidFill>
                <a:latin typeface="Helvetica"/>
              </a:rPr>
              <a:t>retour numérique</a:t>
            </a:r>
          </a:p>
        </p:txBody>
      </p:sp>
      <p:sp>
        <p:nvSpPr>
          <p:cNvPr id="51" name="Logigramme m11"/>
          <p:cNvSpPr/>
          <p:nvPr/>
        </p:nvSpPr>
        <p:spPr>
          <a:xfrm>
            <a:off x="8946000" y="4464000"/>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Affectation des sommes</a:t>
            </a:r>
          </a:p>
          <a:p>
            <a:pPr algn="ctr"/>
            <a:r>
              <a:rPr sz="800" b="0">
                <a:solidFill>
                  <a:srgbClr val="060606"/>
                </a:solidFill>
                <a:latin typeface="Helvetica"/>
              </a:rPr>
              <a:t>aux produits (DFC)</a:t>
            </a:r>
          </a:p>
        </p:txBody>
      </p:sp>
      <p:sp>
        <p:nvSpPr>
          <p:cNvPr id="52" name="Logigramme m12"/>
          <p:cNvSpPr/>
          <p:nvPr/>
        </p:nvSpPr>
        <p:spPr>
          <a:xfrm>
            <a:off x="10332000" y="4464000"/>
            <a:ext cx="1224000" cy="522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FFFFFF"/>
                </a:solidFill>
                <a:latin typeface="Helvetica"/>
              </a:rPr>
              <a:t>Comptabilisation</a:t>
            </a:r>
          </a:p>
          <a:p>
            <a:pPr algn="ctr"/>
            <a:r>
              <a:rPr sz="800" b="1">
                <a:solidFill>
                  <a:srgbClr val="FFFFFF"/>
                </a:solidFill>
                <a:latin typeface="Helvetica"/>
              </a:rPr>
              <a:t>des précomptes</a:t>
            </a:r>
          </a:p>
        </p:txBody>
      </p:sp>
      <p:sp>
        <p:nvSpPr>
          <p:cNvPr id="53" name="Logigramme a1"/>
          <p:cNvSpPr/>
          <p:nvPr/>
        </p:nvSpPr>
        <p:spPr>
          <a:xfrm>
            <a:off x="7560000" y="2249999"/>
            <a:ext cx="1224000" cy="522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C00000"/>
                </a:solidFill>
                <a:latin typeface="Helvetica"/>
              </a:rPr>
              <a:t>Fichier aller non</a:t>
            </a:r>
          </a:p>
          <a:p>
            <a:pPr algn="ctr"/>
            <a:r>
              <a:rPr sz="800" b="1">
                <a:solidFill>
                  <a:srgbClr val="C00000"/>
                </a:solidFill>
                <a:latin typeface="Helvetica"/>
              </a:rPr>
              <a:t>transmis au FPPN</a:t>
            </a:r>
          </a:p>
        </p:txBody>
      </p:sp>
      <p:sp>
        <p:nvSpPr>
          <p:cNvPr id="54" name="Logigramme a2"/>
          <p:cNvSpPr/>
          <p:nvPr/>
        </p:nvSpPr>
        <p:spPr>
          <a:xfrm>
            <a:off x="4788000" y="2988000"/>
            <a:ext cx="1224000" cy="522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C00000"/>
                </a:solidFill>
                <a:latin typeface="Helvetica"/>
              </a:rPr>
              <a:t>3,77 % et 1,23 % retenus,</a:t>
            </a:r>
          </a:p>
          <a:p>
            <a:pPr algn="ctr"/>
            <a:r>
              <a:rPr sz="800" b="1">
                <a:solidFill>
                  <a:srgbClr val="C00000"/>
                </a:solidFill>
                <a:latin typeface="Helvetica"/>
              </a:rPr>
              <a:t>statuts : 3,5 % et 1,5 %</a:t>
            </a:r>
          </a:p>
        </p:txBody>
      </p:sp>
      <p:sp>
        <p:nvSpPr>
          <p:cNvPr id="55" name="Logigramme a3"/>
          <p:cNvSpPr/>
          <p:nvPr/>
        </p:nvSpPr>
        <p:spPr>
          <a:xfrm>
            <a:off x="10332000" y="3726000"/>
            <a:ext cx="1224000" cy="522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C00000"/>
                </a:solidFill>
                <a:latin typeface="Helvetica"/>
              </a:rPr>
              <a:t>Décembre 2024 :</a:t>
            </a:r>
          </a:p>
          <a:p>
            <a:pPr algn="ctr"/>
            <a:r>
              <a:rPr sz="800" b="1">
                <a:solidFill>
                  <a:srgbClr val="C00000"/>
                </a:solidFill>
                <a:latin typeface="Helvetica"/>
              </a:rPr>
              <a:t>fichiers vides</a:t>
            </a:r>
          </a:p>
        </p:txBody>
      </p:sp>
      <p:cxnSp>
        <p:nvCxnSpPr>
          <p:cNvPr id="56" name="Flèche m1 vers m2"/>
          <p:cNvCxnSpPr>
            <a:stCxn id="41" idx="2"/>
            <a:endCxn id="42" idx="0"/>
          </p:cNvCxnSpPr>
          <p:nvPr/>
        </p:nvCxnSpPr>
        <p:spPr>
          <a:xfrm flipH="1">
            <a:off x="2627999" y="2034000"/>
            <a:ext cx="0" cy="1350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7" name="Flèche m2 vers m3"/>
          <p:cNvCxnSpPr>
            <a:stCxn id="42" idx="3"/>
            <a:endCxn id="43" idx="2"/>
          </p:cNvCxnSpPr>
          <p:nvPr/>
        </p:nvCxnSpPr>
        <p:spPr>
          <a:xfrm flipV="1">
            <a:off x="3239999" y="2034000"/>
            <a:ext cx="774000" cy="477000"/>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3283198" y="2331000"/>
            <a:ext cx="864000" cy="162000"/>
          </a:xfrm>
          <a:prstGeom prst="rect">
            <a:avLst/>
          </a:prstGeom>
          <a:noFill/>
        </p:spPr>
        <p:txBody>
          <a:bodyPr wrap="square" anchor="t" lIns="28800" rIns="28800" tIns="10800" bIns="10800">
            <a:spAutoFit/>
          </a:bodyPr>
          <a:lstStyle/>
          <a:p>
            <a:pPr algn="l"/>
            <a:r>
              <a:rPr sz="650" b="1">
                <a:solidFill>
                  <a:srgbClr val="53565A"/>
                </a:solidFill>
                <a:latin typeface="Helvetica"/>
              </a:rPr>
              <a:t>non</a:t>
            </a:r>
          </a:p>
        </p:txBody>
      </p:sp>
      <p:cxnSp>
        <p:nvCxnSpPr>
          <p:cNvPr id="59" name="Flèche m2 vers m4"/>
          <p:cNvCxnSpPr>
            <a:stCxn id="42" idx="3"/>
            <a:endCxn id="44" idx="1"/>
          </p:cNvCxnSpPr>
          <p:nvPr/>
        </p:nvCxnSpPr>
        <p:spPr>
          <a:xfrm flipV="1">
            <a:off x="3239999" y="2510999"/>
            <a:ext cx="1548001" cy="1"/>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3283198" y="2331000"/>
            <a:ext cx="864000" cy="162000"/>
          </a:xfrm>
          <a:prstGeom prst="rect">
            <a:avLst/>
          </a:prstGeom>
          <a:noFill/>
        </p:spPr>
        <p:txBody>
          <a:bodyPr wrap="square" anchor="t" lIns="28800" rIns="28800" tIns="10800" bIns="10800">
            <a:spAutoFit/>
          </a:bodyPr>
          <a:lstStyle/>
          <a:p>
            <a:pPr algn="l"/>
            <a:r>
              <a:rPr sz="650" b="1">
                <a:solidFill>
                  <a:srgbClr val="53565A"/>
                </a:solidFill>
                <a:latin typeface="Helvetica"/>
              </a:rPr>
              <a:t>oui</a:t>
            </a:r>
          </a:p>
        </p:txBody>
      </p:sp>
      <p:cxnSp>
        <p:nvCxnSpPr>
          <p:cNvPr id="61" name="Flèche m4 vers m5"/>
          <p:cNvCxnSpPr>
            <a:stCxn id="44" idx="3"/>
            <a:endCxn id="45" idx="1"/>
          </p:cNvCxnSpPr>
          <p:nvPr/>
        </p:nvCxnSpPr>
        <p:spPr>
          <a:xfrm flipV="1">
            <a:off x="6012000" y="2510999"/>
            <a:ext cx="161999"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2" name="Flèche m5 vers m6"/>
          <p:cNvCxnSpPr>
            <a:stCxn id="45" idx="2"/>
            <a:endCxn id="46" idx="0"/>
          </p:cNvCxnSpPr>
          <p:nvPr/>
        </p:nvCxnSpPr>
        <p:spPr>
          <a:xfrm flipH="1">
            <a:off x="6785999" y="2771999"/>
            <a:ext cx="0" cy="216001"/>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3" name="Flèche m6 vers m7"/>
          <p:cNvCxnSpPr>
            <a:stCxn id="46" idx="3"/>
            <a:endCxn id="47" idx="1"/>
          </p:cNvCxnSpPr>
          <p:nvPr/>
        </p:nvCxnSpPr>
        <p:spPr>
          <a:xfrm flipV="1">
            <a:off x="7397999" y="3249000"/>
            <a:ext cx="162001"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4" name="Flèche m7 vers m8"/>
          <p:cNvCxnSpPr>
            <a:stCxn id="47" idx="2"/>
            <a:endCxn id="48" idx="0"/>
          </p:cNvCxnSpPr>
          <p:nvPr/>
        </p:nvCxnSpPr>
        <p:spPr>
          <a:xfrm flipH="1">
            <a:off x="8172000" y="3510000"/>
            <a:ext cx="0" cy="2160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Flèche m8 vers m9"/>
          <p:cNvCxnSpPr>
            <a:stCxn id="48" idx="3"/>
            <a:endCxn id="49" idx="1"/>
          </p:cNvCxnSpPr>
          <p:nvPr/>
        </p:nvCxnSpPr>
        <p:spPr>
          <a:xfrm flipV="1">
            <a:off x="8784000" y="3987000"/>
            <a:ext cx="162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Flèche m9 vers m10"/>
          <p:cNvCxnSpPr>
            <a:stCxn id="49" idx="0"/>
            <a:endCxn id="50" idx="2"/>
          </p:cNvCxnSpPr>
          <p:nvPr/>
        </p:nvCxnSpPr>
        <p:spPr>
          <a:xfrm flipH="1" flipV="1">
            <a:off x="9558000" y="2771999"/>
            <a:ext cx="0" cy="954001"/>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Flèche m9 vers m11"/>
          <p:cNvCxnSpPr>
            <a:stCxn id="49" idx="2"/>
            <a:endCxn id="51" idx="0"/>
          </p:cNvCxnSpPr>
          <p:nvPr/>
        </p:nvCxnSpPr>
        <p:spPr>
          <a:xfrm flipH="1">
            <a:off x="9558000" y="4248000"/>
            <a:ext cx="0" cy="2160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8" name="Flèche m11 vers m12"/>
          <p:cNvCxnSpPr>
            <a:stCxn id="51" idx="3"/>
            <a:endCxn id="52" idx="1"/>
          </p:cNvCxnSpPr>
          <p:nvPr/>
        </p:nvCxnSpPr>
        <p:spPr>
          <a:xfrm flipV="1">
            <a:off x="10170000" y="4725000"/>
            <a:ext cx="162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9" name="Flèche m7 vers a1"/>
          <p:cNvCxnSpPr>
            <a:stCxn id="47" idx="0"/>
            <a:endCxn id="53" idx="2"/>
          </p:cNvCxnSpPr>
          <p:nvPr/>
        </p:nvCxnSpPr>
        <p:spPr>
          <a:xfrm flipH="1" flipV="1">
            <a:off x="8172000" y="2771999"/>
            <a:ext cx="0" cy="216001"/>
          </a:xfrm>
          <a:prstGeom prst="line">
            <a:avLst/>
          </a:prstGeom>
          <a:ln w="22225">
            <a:solidFill>
              <a:srgbClr val="53565A"/>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70" name="Flèche m6 vers a2"/>
          <p:cNvCxnSpPr>
            <a:stCxn id="46" idx="1"/>
            <a:endCxn id="54" idx="3"/>
          </p:cNvCxnSpPr>
          <p:nvPr/>
        </p:nvCxnSpPr>
        <p:spPr>
          <a:xfrm flipH="1" flipV="1">
            <a:off x="6012000" y="3249000"/>
            <a:ext cx="161999" cy="0"/>
          </a:xfrm>
          <a:prstGeom prst="line">
            <a:avLst/>
          </a:prstGeom>
          <a:ln w="22225">
            <a:solidFill>
              <a:srgbClr val="53565A"/>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71" name="Flèche m9 vers a3"/>
          <p:cNvCxnSpPr>
            <a:stCxn id="49" idx="3"/>
            <a:endCxn id="55" idx="1"/>
          </p:cNvCxnSpPr>
          <p:nvPr/>
        </p:nvCxnSpPr>
        <p:spPr>
          <a:xfrm flipV="1">
            <a:off x="10170000" y="3987000"/>
            <a:ext cx="162000" cy="0"/>
          </a:xfrm>
          <a:prstGeom prst="line">
            <a:avLst/>
          </a:prstGeom>
          <a:ln w="22225">
            <a:solidFill>
              <a:srgbClr val="53565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03999" y="5184000"/>
            <a:ext cx="11232000" cy="684000"/>
          </a:xfrm>
          <a:prstGeom prst="rect">
            <a:avLst/>
          </a:prstGeom>
          <a:noFill/>
        </p:spPr>
        <p:txBody>
          <a:bodyPr wrap="square" lIns="54000" rIns="54000"/>
          <a:lstStyle/>
          <a:p>
            <a:pPr algn="just">
              <a:spcAft>
                <a:spcPts val="600"/>
              </a:spcAft>
            </a:pPr>
            <a:r>
              <a:rPr sz="1200" b="1">
                <a:solidFill>
                  <a:srgbClr val="060606"/>
                </a:solidFill>
                <a:latin typeface="Helvetica"/>
              </a:rPr>
              <a:t>Le service du personnel calcule et transmet le fichier sans le communiquer au FPPN.</a:t>
            </a:r>
            <a:r>
              <a:rPr sz="1200" b="0">
                <a:solidFill>
                  <a:srgbClr val="060606"/>
                </a:solidFill>
                <a:latin typeface="Helvetica"/>
              </a:rPr>
              <a:t> Le FPPN ne peut ni vérifier les taux retenus (3,77 % et 1,23 % au lieu de 3,50 % et 1,50 %), ni mesurer le taux de recouvrement (constats 20 et 27).</a:t>
            </a:r>
          </a:p>
        </p:txBody>
      </p:sp>
      <p:sp>
        <p:nvSpPr>
          <p:cNvPr id="73" name="TextBox 72"/>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936 : poste maladie | 8Z6 : poste décès</a:t>
            </a:r>
          </a:p>
        </p:txBody>
      </p:sp>
    </p:spTree>
    <p:extLst>
      <p:ext uri="{BB962C8B-B14F-4D97-AF65-F5344CB8AC3E}">
        <p14:creationId xmlns:p14="http://schemas.microsoft.com/office/powerpoint/2010/main" val="2520515903"/>
      </p:ext>
    </p:extLst>
  </p:cSld>
  <p:clrMapOvr>
    <a:masterClrMapping/>
  </p:clrMapOvr>
  <p:transition>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Circuit de l'EFC et du PEP</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FPPN produit le fichier de l'épargne, mais ne compare pas l'envoi et le retour</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Logigramme du FPPN redessiné : les cadres rouges signalent les contrôles absents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 FLOW_CHART_COTISATION_ET_PRODUITS_DEPARGNE_1.pptx » (FPPN, reçu le 23/10/2026). Contrôles absents : analyses Adenka</a:t>
            </a:r>
          </a:p>
        </p:txBody>
      </p:sp>
      <p:sp>
        <p:nvSpPr>
          <p:cNvPr id="31" name="Rectangle 30"/>
          <p:cNvSpPr/>
          <p:nvPr/>
        </p:nvSpPr>
        <p:spPr>
          <a:xfrm>
            <a:off x="503999" y="1404000"/>
            <a:ext cx="11232000" cy="737999"/>
          </a:xfrm>
          <a:prstGeom prst="rect">
            <a:avLst/>
          </a:prstGeom>
          <a:solidFill>
            <a:srgbClr val="F7F7F7"/>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03999" y="1404000"/>
            <a:ext cx="1404000" cy="73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Policier</a:t>
            </a:r>
          </a:p>
        </p:txBody>
      </p:sp>
      <p:sp>
        <p:nvSpPr>
          <p:cNvPr id="33" name="Rectangle 32"/>
          <p:cNvSpPr/>
          <p:nvPr/>
        </p:nvSpPr>
        <p:spPr>
          <a:xfrm>
            <a:off x="503999" y="2141999"/>
            <a:ext cx="11232000" cy="737999"/>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3999" y="2141999"/>
            <a:ext cx="1404000" cy="73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FPPN : service informatique</a:t>
            </a:r>
          </a:p>
        </p:txBody>
      </p:sp>
      <p:sp>
        <p:nvSpPr>
          <p:cNvPr id="35" name="Rectangle 34"/>
          <p:cNvSpPr/>
          <p:nvPr/>
        </p:nvSpPr>
        <p:spPr>
          <a:xfrm>
            <a:off x="503999" y="2880000"/>
            <a:ext cx="11232000" cy="737999"/>
          </a:xfrm>
          <a:prstGeom prst="rect">
            <a:avLst/>
          </a:prstGeom>
          <a:solidFill>
            <a:srgbClr val="F7F7F7"/>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03999" y="2880000"/>
            <a:ext cx="1404000" cy="73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Service du personnel</a:t>
            </a:r>
          </a:p>
        </p:txBody>
      </p:sp>
      <p:sp>
        <p:nvSpPr>
          <p:cNvPr id="37" name="Rectangle 36"/>
          <p:cNvSpPr/>
          <p:nvPr/>
        </p:nvSpPr>
        <p:spPr>
          <a:xfrm>
            <a:off x="503999" y="3617999"/>
            <a:ext cx="11232000" cy="737999"/>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03999" y="3617999"/>
            <a:ext cx="1404000" cy="73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Trésor (Solde)</a:t>
            </a:r>
          </a:p>
        </p:txBody>
      </p:sp>
      <p:sp>
        <p:nvSpPr>
          <p:cNvPr id="39" name="Rectangle 38"/>
          <p:cNvSpPr/>
          <p:nvPr/>
        </p:nvSpPr>
        <p:spPr>
          <a:xfrm>
            <a:off x="503999" y="4356000"/>
            <a:ext cx="11232000" cy="737999"/>
          </a:xfrm>
          <a:prstGeom prst="rect">
            <a:avLst/>
          </a:prstGeom>
          <a:solidFill>
            <a:srgbClr val="F7F7F7"/>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03999" y="4356000"/>
            <a:ext cx="1404000" cy="73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FPPN : service comptable</a:t>
            </a:r>
          </a:p>
        </p:txBody>
      </p:sp>
      <p:sp>
        <p:nvSpPr>
          <p:cNvPr id="41" name="Logigramme e1"/>
          <p:cNvSpPr/>
          <p:nvPr/>
        </p:nvSpPr>
        <p:spPr>
          <a:xfrm>
            <a:off x="2015999" y="1512000"/>
            <a:ext cx="1224000" cy="522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FFFFFF"/>
                </a:solidFill>
                <a:latin typeface="Helvetica"/>
              </a:rPr>
              <a:t>Adhésion</a:t>
            </a:r>
          </a:p>
          <a:p>
            <a:pPr algn="ctr"/>
            <a:r>
              <a:rPr sz="800" b="1">
                <a:solidFill>
                  <a:srgbClr val="FFFFFF"/>
                </a:solidFill>
                <a:latin typeface="Helvetica"/>
              </a:rPr>
              <a:t>fiche d'adhésion</a:t>
            </a:r>
          </a:p>
        </p:txBody>
      </p:sp>
      <p:sp>
        <p:nvSpPr>
          <p:cNvPr id="42" name="Logigramme e2"/>
          <p:cNvSpPr/>
          <p:nvPr/>
        </p:nvSpPr>
        <p:spPr>
          <a:xfrm>
            <a:off x="2015999" y="2169000"/>
            <a:ext cx="1224000" cy="684000"/>
          </a:xfrm>
          <a:prstGeom prst="flowChartDecision">
            <a:avLst/>
          </a:prstGeom>
          <a:solidFill>
            <a:srgbClr val="EFAC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750" b="0">
                <a:solidFill>
                  <a:srgbClr val="060606"/>
                </a:solidFill>
                <a:latin typeface="Helvetica"/>
              </a:rPr>
              <a:t>Mécano ?</a:t>
            </a:r>
          </a:p>
        </p:txBody>
      </p:sp>
      <p:sp>
        <p:nvSpPr>
          <p:cNvPr id="43" name="Logigramme e3"/>
          <p:cNvSpPr/>
          <p:nvPr/>
        </p:nvSpPr>
        <p:spPr>
          <a:xfrm>
            <a:off x="3401999" y="2988000"/>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Création du mécano</a:t>
            </a:r>
          </a:p>
          <a:p>
            <a:pPr algn="ctr"/>
            <a:r>
              <a:rPr sz="800" b="0">
                <a:solidFill>
                  <a:srgbClr val="060606"/>
                </a:solidFill>
                <a:latin typeface="Helvetica"/>
              </a:rPr>
              <a:t>et ajout à la fiche</a:t>
            </a:r>
          </a:p>
        </p:txBody>
      </p:sp>
      <p:sp>
        <p:nvSpPr>
          <p:cNvPr id="44" name="Logigramme e4"/>
          <p:cNvSpPr/>
          <p:nvPr/>
        </p:nvSpPr>
        <p:spPr>
          <a:xfrm>
            <a:off x="4788000" y="2249999"/>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Intégration dans</a:t>
            </a:r>
          </a:p>
          <a:p>
            <a:pPr algn="ctr"/>
            <a:r>
              <a:rPr sz="800" b="0">
                <a:solidFill>
                  <a:srgbClr val="060606"/>
                </a:solidFill>
                <a:latin typeface="Helvetica"/>
              </a:rPr>
              <a:t>Easy money</a:t>
            </a:r>
          </a:p>
        </p:txBody>
      </p:sp>
      <p:sp>
        <p:nvSpPr>
          <p:cNvPr id="45" name="Logigramme e5"/>
          <p:cNvSpPr/>
          <p:nvPr/>
        </p:nvSpPr>
        <p:spPr>
          <a:xfrm>
            <a:off x="6173999" y="2249999"/>
            <a:ext cx="1224000" cy="522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Fichier recensant</a:t>
            </a:r>
          </a:p>
          <a:p>
            <a:pPr algn="ctr"/>
            <a:r>
              <a:rPr sz="800" b="0">
                <a:solidFill>
                  <a:srgbClr val="060606"/>
                </a:solidFill>
                <a:latin typeface="Helvetica"/>
              </a:rPr>
              <a:t>les adhérents</a:t>
            </a:r>
          </a:p>
        </p:txBody>
      </p:sp>
      <p:sp>
        <p:nvSpPr>
          <p:cNvPr id="46" name="Logigramme e6"/>
          <p:cNvSpPr/>
          <p:nvPr/>
        </p:nvSpPr>
        <p:spPr>
          <a:xfrm>
            <a:off x="6173999" y="2988000"/>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Fichier de précompte</a:t>
            </a:r>
          </a:p>
          <a:p>
            <a:pPr algn="ctr"/>
            <a:r>
              <a:rPr sz="800" b="0">
                <a:solidFill>
                  <a:srgbClr val="060606"/>
                </a:solidFill>
                <a:latin typeface="Helvetica"/>
              </a:rPr>
              <a:t>et calcul des cotisations</a:t>
            </a:r>
          </a:p>
        </p:txBody>
      </p:sp>
      <p:sp>
        <p:nvSpPr>
          <p:cNvPr id="47" name="Logigramme e7"/>
          <p:cNvSpPr/>
          <p:nvPr/>
        </p:nvSpPr>
        <p:spPr>
          <a:xfrm>
            <a:off x="7560000" y="2988000"/>
            <a:ext cx="1224000" cy="522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0">
                <a:solidFill>
                  <a:srgbClr val="060606"/>
                </a:solidFill>
                <a:latin typeface="Helvetica"/>
              </a:rPr>
              <a:t>Fichier aller</a:t>
            </a:r>
          </a:p>
        </p:txBody>
      </p:sp>
      <p:sp>
        <p:nvSpPr>
          <p:cNvPr id="48" name="Logigramme e8"/>
          <p:cNvSpPr/>
          <p:nvPr/>
        </p:nvSpPr>
        <p:spPr>
          <a:xfrm>
            <a:off x="7560000" y="3726000"/>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Prélèvement</a:t>
            </a:r>
          </a:p>
          <a:p>
            <a:pPr algn="ctr"/>
            <a:r>
              <a:rPr sz="800" b="0">
                <a:solidFill>
                  <a:srgbClr val="060606"/>
                </a:solidFill>
                <a:latin typeface="Helvetica"/>
              </a:rPr>
              <a:t>sur salaire</a:t>
            </a:r>
          </a:p>
        </p:txBody>
      </p:sp>
      <p:sp>
        <p:nvSpPr>
          <p:cNvPr id="49" name="Logigramme e9"/>
          <p:cNvSpPr/>
          <p:nvPr/>
        </p:nvSpPr>
        <p:spPr>
          <a:xfrm>
            <a:off x="8946000" y="3726000"/>
            <a:ext cx="1224000" cy="522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Fichier retour</a:t>
            </a:r>
          </a:p>
          <a:p>
            <a:pPr algn="ctr"/>
            <a:r>
              <a:rPr sz="800" b="0">
                <a:solidFill>
                  <a:srgbClr val="060606"/>
                </a:solidFill>
                <a:latin typeface="Helvetica"/>
              </a:rPr>
              <a:t>papier et numérique</a:t>
            </a:r>
          </a:p>
        </p:txBody>
      </p:sp>
      <p:sp>
        <p:nvSpPr>
          <p:cNvPr id="50" name="Logigramme e10"/>
          <p:cNvSpPr/>
          <p:nvPr/>
        </p:nvSpPr>
        <p:spPr>
          <a:xfrm>
            <a:off x="8946000" y="2249999"/>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Réception du fichier</a:t>
            </a:r>
          </a:p>
          <a:p>
            <a:pPr algn="ctr"/>
            <a:r>
              <a:rPr sz="800" b="0">
                <a:solidFill>
                  <a:srgbClr val="060606"/>
                </a:solidFill>
                <a:latin typeface="Helvetica"/>
              </a:rPr>
              <a:t>retour numérique</a:t>
            </a:r>
          </a:p>
        </p:txBody>
      </p:sp>
      <p:sp>
        <p:nvSpPr>
          <p:cNvPr id="51" name="Logigramme e11"/>
          <p:cNvSpPr/>
          <p:nvPr/>
        </p:nvSpPr>
        <p:spPr>
          <a:xfrm>
            <a:off x="8946000" y="4464000"/>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Affectation des sommes</a:t>
            </a:r>
          </a:p>
          <a:p>
            <a:pPr algn="ctr"/>
            <a:r>
              <a:rPr sz="800" b="0">
                <a:solidFill>
                  <a:srgbClr val="060606"/>
                </a:solidFill>
                <a:latin typeface="Helvetica"/>
              </a:rPr>
              <a:t>aux produits (DFC)</a:t>
            </a:r>
          </a:p>
        </p:txBody>
      </p:sp>
      <p:sp>
        <p:nvSpPr>
          <p:cNvPr id="52" name="Logigramme e12"/>
          <p:cNvSpPr/>
          <p:nvPr/>
        </p:nvSpPr>
        <p:spPr>
          <a:xfrm>
            <a:off x="10332000" y="4464000"/>
            <a:ext cx="1224000" cy="522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FFFFFF"/>
                </a:solidFill>
                <a:latin typeface="Helvetica"/>
              </a:rPr>
              <a:t>Comptabilisation</a:t>
            </a:r>
          </a:p>
          <a:p>
            <a:pPr algn="ctr"/>
            <a:r>
              <a:rPr sz="800" b="1">
                <a:solidFill>
                  <a:srgbClr val="FFFFFF"/>
                </a:solidFill>
                <a:latin typeface="Helvetica"/>
              </a:rPr>
              <a:t>des précomptes</a:t>
            </a:r>
          </a:p>
        </p:txBody>
      </p:sp>
      <p:sp>
        <p:nvSpPr>
          <p:cNvPr id="53" name="Logigramme a1"/>
          <p:cNvSpPr/>
          <p:nvPr/>
        </p:nvSpPr>
        <p:spPr>
          <a:xfrm>
            <a:off x="10332000" y="2249999"/>
            <a:ext cx="1224000" cy="522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C00000"/>
                </a:solidFill>
                <a:latin typeface="Helvetica"/>
              </a:rPr>
              <a:t>Aucun rapprochement</a:t>
            </a:r>
          </a:p>
          <a:p>
            <a:pPr algn="ctr"/>
            <a:r>
              <a:rPr sz="800" b="1">
                <a:solidFill>
                  <a:srgbClr val="C00000"/>
                </a:solidFill>
                <a:latin typeface="Helvetica"/>
              </a:rPr>
              <a:t>des fichiers aller et retour</a:t>
            </a:r>
          </a:p>
        </p:txBody>
      </p:sp>
      <p:sp>
        <p:nvSpPr>
          <p:cNvPr id="54" name="Logigramme a2"/>
          <p:cNvSpPr/>
          <p:nvPr/>
        </p:nvSpPr>
        <p:spPr>
          <a:xfrm>
            <a:off x="10332000" y="3726000"/>
            <a:ext cx="1224000" cy="522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C00000"/>
                </a:solidFill>
                <a:latin typeface="Helvetica"/>
              </a:rPr>
              <a:t>Aucun intérêt calculé,</a:t>
            </a:r>
          </a:p>
          <a:p>
            <a:pPr algn="ctr"/>
            <a:r>
              <a:rPr sz="800" b="1">
                <a:solidFill>
                  <a:srgbClr val="C00000"/>
                </a:solidFill>
                <a:latin typeface="Helvetica"/>
              </a:rPr>
              <a:t>aucun relevé individuel</a:t>
            </a:r>
          </a:p>
        </p:txBody>
      </p:sp>
      <p:cxnSp>
        <p:nvCxnSpPr>
          <p:cNvPr id="55" name="Flèche e1 vers e2"/>
          <p:cNvCxnSpPr>
            <a:stCxn id="41" idx="2"/>
            <a:endCxn id="42" idx="0"/>
          </p:cNvCxnSpPr>
          <p:nvPr/>
        </p:nvCxnSpPr>
        <p:spPr>
          <a:xfrm flipH="1">
            <a:off x="2627999" y="2034000"/>
            <a:ext cx="0" cy="1350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6" name="Flèche e2 vers e3"/>
          <p:cNvCxnSpPr>
            <a:stCxn id="42" idx="2"/>
            <a:endCxn id="43" idx="1"/>
          </p:cNvCxnSpPr>
          <p:nvPr/>
        </p:nvCxnSpPr>
        <p:spPr>
          <a:xfrm>
            <a:off x="2627999" y="2853000"/>
            <a:ext cx="774000" cy="396000"/>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2681999" y="2871000"/>
            <a:ext cx="864000" cy="162000"/>
          </a:xfrm>
          <a:prstGeom prst="rect">
            <a:avLst/>
          </a:prstGeom>
          <a:noFill/>
        </p:spPr>
        <p:txBody>
          <a:bodyPr wrap="square" anchor="t" lIns="28800" rIns="28800" tIns="10800" bIns="10800">
            <a:spAutoFit/>
          </a:bodyPr>
          <a:lstStyle/>
          <a:p>
            <a:pPr algn="l"/>
            <a:r>
              <a:rPr sz="650" b="1">
                <a:solidFill>
                  <a:srgbClr val="53565A"/>
                </a:solidFill>
                <a:latin typeface="Helvetica"/>
              </a:rPr>
              <a:t>non</a:t>
            </a:r>
          </a:p>
        </p:txBody>
      </p:sp>
      <p:cxnSp>
        <p:nvCxnSpPr>
          <p:cNvPr id="58" name="Flèche e2 vers e4"/>
          <p:cNvCxnSpPr>
            <a:stCxn id="42" idx="3"/>
            <a:endCxn id="44" idx="1"/>
          </p:cNvCxnSpPr>
          <p:nvPr/>
        </p:nvCxnSpPr>
        <p:spPr>
          <a:xfrm flipV="1">
            <a:off x="3239999" y="2510999"/>
            <a:ext cx="1548001" cy="1"/>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3283198" y="2331000"/>
            <a:ext cx="864000" cy="162000"/>
          </a:xfrm>
          <a:prstGeom prst="rect">
            <a:avLst/>
          </a:prstGeom>
          <a:noFill/>
        </p:spPr>
        <p:txBody>
          <a:bodyPr wrap="square" anchor="t" lIns="28800" rIns="28800" tIns="10800" bIns="10800">
            <a:spAutoFit/>
          </a:bodyPr>
          <a:lstStyle/>
          <a:p>
            <a:pPr algn="l"/>
            <a:r>
              <a:rPr sz="650" b="1">
                <a:solidFill>
                  <a:srgbClr val="53565A"/>
                </a:solidFill>
                <a:latin typeface="Helvetica"/>
              </a:rPr>
              <a:t>oui</a:t>
            </a:r>
          </a:p>
        </p:txBody>
      </p:sp>
      <p:cxnSp>
        <p:nvCxnSpPr>
          <p:cNvPr id="60" name="Flèche e3 vers e4"/>
          <p:cNvCxnSpPr>
            <a:stCxn id="43" idx="3"/>
            <a:endCxn id="44" idx="2"/>
          </p:cNvCxnSpPr>
          <p:nvPr/>
        </p:nvCxnSpPr>
        <p:spPr>
          <a:xfrm flipV="1">
            <a:off x="4625999" y="2771999"/>
            <a:ext cx="774001" cy="477001"/>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1" name="Flèche e4 vers e5"/>
          <p:cNvCxnSpPr>
            <a:stCxn id="44" idx="3"/>
            <a:endCxn id="45" idx="1"/>
          </p:cNvCxnSpPr>
          <p:nvPr/>
        </p:nvCxnSpPr>
        <p:spPr>
          <a:xfrm flipV="1">
            <a:off x="6012000" y="2510999"/>
            <a:ext cx="161999"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2" name="Flèche e5 vers e6"/>
          <p:cNvCxnSpPr>
            <a:stCxn id="45" idx="2"/>
            <a:endCxn id="46" idx="0"/>
          </p:cNvCxnSpPr>
          <p:nvPr/>
        </p:nvCxnSpPr>
        <p:spPr>
          <a:xfrm flipH="1">
            <a:off x="6785999" y="2771999"/>
            <a:ext cx="0" cy="216001"/>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3" name="Flèche e6 vers e7"/>
          <p:cNvCxnSpPr>
            <a:stCxn id="46" idx="3"/>
            <a:endCxn id="47" idx="1"/>
          </p:cNvCxnSpPr>
          <p:nvPr/>
        </p:nvCxnSpPr>
        <p:spPr>
          <a:xfrm flipV="1">
            <a:off x="7397999" y="3249000"/>
            <a:ext cx="162001"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4" name="Flèche e7 vers e8"/>
          <p:cNvCxnSpPr>
            <a:stCxn id="47" idx="2"/>
            <a:endCxn id="48" idx="0"/>
          </p:cNvCxnSpPr>
          <p:nvPr/>
        </p:nvCxnSpPr>
        <p:spPr>
          <a:xfrm flipH="1">
            <a:off x="8172000" y="3510000"/>
            <a:ext cx="0" cy="2160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Flèche e8 vers e9"/>
          <p:cNvCxnSpPr>
            <a:stCxn id="48" idx="3"/>
            <a:endCxn id="49" idx="1"/>
          </p:cNvCxnSpPr>
          <p:nvPr/>
        </p:nvCxnSpPr>
        <p:spPr>
          <a:xfrm flipV="1">
            <a:off x="8784000" y="3987000"/>
            <a:ext cx="162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Flèche e9 vers e10"/>
          <p:cNvCxnSpPr>
            <a:stCxn id="49" idx="0"/>
            <a:endCxn id="50" idx="2"/>
          </p:cNvCxnSpPr>
          <p:nvPr/>
        </p:nvCxnSpPr>
        <p:spPr>
          <a:xfrm flipH="1" flipV="1">
            <a:off x="9558000" y="2771999"/>
            <a:ext cx="0" cy="954001"/>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Flèche e9 vers e11"/>
          <p:cNvCxnSpPr>
            <a:stCxn id="49" idx="2"/>
            <a:endCxn id="51" idx="0"/>
          </p:cNvCxnSpPr>
          <p:nvPr/>
        </p:nvCxnSpPr>
        <p:spPr>
          <a:xfrm flipH="1">
            <a:off x="9558000" y="4248000"/>
            <a:ext cx="0" cy="2160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8" name="Flèche e11 vers e12"/>
          <p:cNvCxnSpPr>
            <a:stCxn id="51" idx="3"/>
            <a:endCxn id="52" idx="1"/>
          </p:cNvCxnSpPr>
          <p:nvPr/>
        </p:nvCxnSpPr>
        <p:spPr>
          <a:xfrm flipV="1">
            <a:off x="10170000" y="4725000"/>
            <a:ext cx="162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9" name="Flèche e10 vers a1"/>
          <p:cNvCxnSpPr>
            <a:stCxn id="50" idx="3"/>
            <a:endCxn id="53" idx="1"/>
          </p:cNvCxnSpPr>
          <p:nvPr/>
        </p:nvCxnSpPr>
        <p:spPr>
          <a:xfrm flipV="1">
            <a:off x="10170000" y="2510999"/>
            <a:ext cx="162000" cy="0"/>
          </a:xfrm>
          <a:prstGeom prst="line">
            <a:avLst/>
          </a:prstGeom>
          <a:ln w="22225">
            <a:solidFill>
              <a:srgbClr val="53565A"/>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70" name="Flèche e12 vers a2"/>
          <p:cNvCxnSpPr>
            <a:stCxn id="52" idx="0"/>
            <a:endCxn id="54" idx="2"/>
          </p:cNvCxnSpPr>
          <p:nvPr/>
        </p:nvCxnSpPr>
        <p:spPr>
          <a:xfrm flipH="1" flipV="1">
            <a:off x="10944000" y="4248000"/>
            <a:ext cx="0" cy="216000"/>
          </a:xfrm>
          <a:prstGeom prst="line">
            <a:avLst/>
          </a:prstGeom>
          <a:ln w="22225">
            <a:solidFill>
              <a:srgbClr val="53565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503999" y="5184000"/>
            <a:ext cx="11232000" cy="684000"/>
          </a:xfrm>
          <a:prstGeom prst="rect">
            <a:avLst/>
          </a:prstGeom>
          <a:noFill/>
        </p:spPr>
        <p:txBody>
          <a:bodyPr wrap="square" lIns="54000" rIns="54000"/>
          <a:lstStyle/>
          <a:p>
            <a:pPr algn="just">
              <a:spcAft>
                <a:spcPts val="600"/>
              </a:spcAft>
            </a:pPr>
            <a:r>
              <a:rPr sz="1200" b="1">
                <a:solidFill>
                  <a:srgbClr val="060606"/>
                </a:solidFill>
                <a:latin typeface="Helvetica"/>
              </a:rPr>
              <a:t>Le circuit s'arrête à l'enregistrement des prélèvements.</a:t>
            </a:r>
            <a:r>
              <a:rPr sz="1200" b="0">
                <a:solidFill>
                  <a:srgbClr val="060606"/>
                </a:solidFill>
                <a:latin typeface="Helvetica"/>
              </a:rPr>
              <a:t> Aucune étape ne compare les fichiers, ne calcule les intérêts dus ni ne produit de relevé par épargnant (constats 6, 8 et 27).</a:t>
            </a:r>
          </a:p>
        </p:txBody>
      </p:sp>
      <p:sp>
        <p:nvSpPr>
          <p:cNvPr id="72" name="TextBox 71"/>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PEP : Plan Épargne Plus | EFC : entraide fin de carrière</a:t>
            </a:r>
          </a:p>
        </p:txBody>
      </p:sp>
    </p:spTree>
    <p:extLst>
      <p:ext uri="{BB962C8B-B14F-4D97-AF65-F5344CB8AC3E}">
        <p14:creationId xmlns:p14="http://schemas.microsoft.com/office/powerpoint/2010/main" val="3416629654"/>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Circuit de la flotte automobile (GNA)</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Le FPPN encaisse une commission de 20 % dont la base n'est pas documentée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Logigramme du FPPN redessiné : les cadres rouges signalent les contrôles absents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 FLOW_CHART_COTISATION_ET_PRODUITS_DEPARGNE_1.pptx » (FPPN, reçu le 23/10/2026). Contrôles absents : analyses Adenka</a:t>
            </a:r>
          </a:p>
        </p:txBody>
      </p:sp>
      <p:sp>
        <p:nvSpPr>
          <p:cNvPr id="31" name="Rectangle 30"/>
          <p:cNvSpPr/>
          <p:nvPr/>
        </p:nvSpPr>
        <p:spPr>
          <a:xfrm>
            <a:off x="503999" y="1404000"/>
            <a:ext cx="11232000" cy="737999"/>
          </a:xfrm>
          <a:prstGeom prst="rect">
            <a:avLst/>
          </a:prstGeom>
          <a:solidFill>
            <a:srgbClr val="F7F7F7"/>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03999" y="1404000"/>
            <a:ext cx="1404000" cy="73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Policier</a:t>
            </a:r>
          </a:p>
        </p:txBody>
      </p:sp>
      <p:sp>
        <p:nvSpPr>
          <p:cNvPr id="33" name="Rectangle 32"/>
          <p:cNvSpPr/>
          <p:nvPr/>
        </p:nvSpPr>
        <p:spPr>
          <a:xfrm>
            <a:off x="503999" y="2141999"/>
            <a:ext cx="11232000" cy="737999"/>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3999" y="2141999"/>
            <a:ext cx="1404000" cy="73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FPPN : service informatique</a:t>
            </a:r>
          </a:p>
        </p:txBody>
      </p:sp>
      <p:sp>
        <p:nvSpPr>
          <p:cNvPr id="35" name="Rectangle 34"/>
          <p:cNvSpPr/>
          <p:nvPr/>
        </p:nvSpPr>
        <p:spPr>
          <a:xfrm>
            <a:off x="503999" y="2880000"/>
            <a:ext cx="11232000" cy="737999"/>
          </a:xfrm>
          <a:prstGeom prst="rect">
            <a:avLst/>
          </a:prstGeom>
          <a:solidFill>
            <a:srgbClr val="F7F7F7"/>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03999" y="2880000"/>
            <a:ext cx="1404000" cy="73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Trésor (Solde)</a:t>
            </a:r>
          </a:p>
        </p:txBody>
      </p:sp>
      <p:sp>
        <p:nvSpPr>
          <p:cNvPr id="37" name="Rectangle 36"/>
          <p:cNvSpPr/>
          <p:nvPr/>
        </p:nvSpPr>
        <p:spPr>
          <a:xfrm>
            <a:off x="503999" y="3617999"/>
            <a:ext cx="11232000" cy="737999"/>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03999" y="3617999"/>
            <a:ext cx="1404000" cy="73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GNA</a:t>
            </a:r>
          </a:p>
        </p:txBody>
      </p:sp>
      <p:sp>
        <p:nvSpPr>
          <p:cNvPr id="39" name="Rectangle 38"/>
          <p:cNvSpPr/>
          <p:nvPr/>
        </p:nvSpPr>
        <p:spPr>
          <a:xfrm>
            <a:off x="503999" y="4356000"/>
            <a:ext cx="11232000" cy="737999"/>
          </a:xfrm>
          <a:prstGeom prst="rect">
            <a:avLst/>
          </a:prstGeom>
          <a:solidFill>
            <a:srgbClr val="F7F7F7"/>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03999" y="4356000"/>
            <a:ext cx="1404000" cy="73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FPPN : service comptable</a:t>
            </a:r>
          </a:p>
        </p:txBody>
      </p:sp>
      <p:sp>
        <p:nvSpPr>
          <p:cNvPr id="41" name="Logigramme g1"/>
          <p:cNvSpPr/>
          <p:nvPr/>
        </p:nvSpPr>
        <p:spPr>
          <a:xfrm>
            <a:off x="2015999" y="1512000"/>
            <a:ext cx="1224000" cy="522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FFFFFF"/>
                </a:solidFill>
                <a:latin typeface="Helvetica"/>
              </a:rPr>
              <a:t>Souscription,</a:t>
            </a:r>
          </a:p>
          <a:p>
            <a:pPr algn="ctr"/>
            <a:r>
              <a:rPr sz="800" b="1">
                <a:solidFill>
                  <a:srgbClr val="FFFFFF"/>
                </a:solidFill>
                <a:latin typeface="Helvetica"/>
              </a:rPr>
              <a:t>envoi des documents</a:t>
            </a:r>
          </a:p>
        </p:txBody>
      </p:sp>
      <p:sp>
        <p:nvSpPr>
          <p:cNvPr id="42" name="Logigramme g2"/>
          <p:cNvSpPr/>
          <p:nvPr/>
        </p:nvSpPr>
        <p:spPr>
          <a:xfrm>
            <a:off x="2015999" y="2249999"/>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Calcul des cotations,</a:t>
            </a:r>
          </a:p>
          <a:p>
            <a:pPr algn="ctr"/>
            <a:r>
              <a:rPr sz="800" b="0">
                <a:solidFill>
                  <a:srgbClr val="060606"/>
                </a:solidFill>
                <a:latin typeface="Helvetica"/>
              </a:rPr>
              <a:t>présentation au policier</a:t>
            </a:r>
          </a:p>
        </p:txBody>
      </p:sp>
      <p:sp>
        <p:nvSpPr>
          <p:cNvPr id="43" name="Logigramme g3"/>
          <p:cNvSpPr/>
          <p:nvPr/>
        </p:nvSpPr>
        <p:spPr>
          <a:xfrm>
            <a:off x="3401999" y="2169000"/>
            <a:ext cx="1224000" cy="684000"/>
          </a:xfrm>
          <a:prstGeom prst="flowChartDecision">
            <a:avLst/>
          </a:prstGeom>
          <a:solidFill>
            <a:srgbClr val="EFAC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750" b="0">
                <a:solidFill>
                  <a:srgbClr val="060606"/>
                </a:solidFill>
                <a:latin typeface="Helvetica"/>
              </a:rPr>
              <a:t>Accord ?</a:t>
            </a:r>
          </a:p>
        </p:txBody>
      </p:sp>
      <p:sp>
        <p:nvSpPr>
          <p:cNvPr id="44" name="Logigramme g4"/>
          <p:cNvSpPr/>
          <p:nvPr/>
        </p:nvSpPr>
        <p:spPr>
          <a:xfrm>
            <a:off x="4788000" y="2249999"/>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Enregistrement sur la</a:t>
            </a:r>
          </a:p>
          <a:p>
            <a:pPr algn="ctr"/>
            <a:r>
              <a:rPr sz="800" b="0">
                <a:solidFill>
                  <a:srgbClr val="060606"/>
                </a:solidFill>
                <a:latin typeface="Helvetica"/>
              </a:rPr>
              <a:t>plateforme du GNA</a:t>
            </a:r>
          </a:p>
        </p:txBody>
      </p:sp>
      <p:sp>
        <p:nvSpPr>
          <p:cNvPr id="45" name="Logigramme g5"/>
          <p:cNvSpPr/>
          <p:nvPr/>
        </p:nvSpPr>
        <p:spPr>
          <a:xfrm>
            <a:off x="6173999" y="2249999"/>
            <a:ext cx="1224000" cy="522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Fichier aller</a:t>
            </a:r>
          </a:p>
          <a:p>
            <a:pPr algn="ctr"/>
            <a:r>
              <a:rPr sz="800" b="0">
                <a:solidFill>
                  <a:srgbClr val="060606"/>
                </a:solidFill>
                <a:latin typeface="Helvetica"/>
              </a:rPr>
              <a:t>(liste des bénéficiaires)</a:t>
            </a:r>
          </a:p>
        </p:txBody>
      </p:sp>
      <p:sp>
        <p:nvSpPr>
          <p:cNvPr id="46" name="Logigramme g6"/>
          <p:cNvSpPr/>
          <p:nvPr/>
        </p:nvSpPr>
        <p:spPr>
          <a:xfrm>
            <a:off x="6173999" y="2988000"/>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Collecte des fonds :</a:t>
            </a:r>
          </a:p>
          <a:p>
            <a:pPr algn="ctr"/>
            <a:r>
              <a:rPr sz="800" b="0">
                <a:solidFill>
                  <a:srgbClr val="060606"/>
                </a:solidFill>
                <a:latin typeface="Helvetica"/>
              </a:rPr>
              <a:t>direct, précompte, FPPN</a:t>
            </a:r>
          </a:p>
        </p:txBody>
      </p:sp>
      <p:sp>
        <p:nvSpPr>
          <p:cNvPr id="47" name="Logigramme g7"/>
          <p:cNvSpPr/>
          <p:nvPr/>
        </p:nvSpPr>
        <p:spPr>
          <a:xfrm>
            <a:off x="7560000" y="2988000"/>
            <a:ext cx="1224000" cy="522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0">
                <a:solidFill>
                  <a:srgbClr val="060606"/>
                </a:solidFill>
                <a:latin typeface="Helvetica"/>
              </a:rPr>
              <a:t>Fichier retour</a:t>
            </a:r>
          </a:p>
        </p:txBody>
      </p:sp>
      <p:sp>
        <p:nvSpPr>
          <p:cNvPr id="48" name="Logigramme g8"/>
          <p:cNvSpPr/>
          <p:nvPr/>
        </p:nvSpPr>
        <p:spPr>
          <a:xfrm>
            <a:off x="7560000" y="2249999"/>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Dépôt du retour sur</a:t>
            </a:r>
          </a:p>
          <a:p>
            <a:pPr algn="ctr"/>
            <a:r>
              <a:rPr sz="800" b="0">
                <a:solidFill>
                  <a:srgbClr val="060606"/>
                </a:solidFill>
                <a:latin typeface="Helvetica"/>
              </a:rPr>
              <a:t>la plateforme du GNA</a:t>
            </a:r>
          </a:p>
        </p:txBody>
      </p:sp>
      <p:sp>
        <p:nvSpPr>
          <p:cNvPr id="49" name="Logigramme g9"/>
          <p:cNvSpPr/>
          <p:nvPr/>
        </p:nvSpPr>
        <p:spPr>
          <a:xfrm>
            <a:off x="8946000" y="1512000"/>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Demande de</a:t>
            </a:r>
          </a:p>
          <a:p>
            <a:pPr algn="ctr"/>
            <a:r>
              <a:rPr sz="800" b="0">
                <a:solidFill>
                  <a:srgbClr val="060606"/>
                </a:solidFill>
                <a:latin typeface="Helvetica"/>
              </a:rPr>
              <a:t>trop-perçu</a:t>
            </a:r>
          </a:p>
        </p:txBody>
      </p:sp>
      <p:sp>
        <p:nvSpPr>
          <p:cNvPr id="50" name="Logigramme g10"/>
          <p:cNvSpPr/>
          <p:nvPr/>
        </p:nvSpPr>
        <p:spPr>
          <a:xfrm>
            <a:off x="8946000" y="3726000"/>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Remboursement</a:t>
            </a:r>
          </a:p>
          <a:p>
            <a:pPr algn="ctr"/>
            <a:r>
              <a:rPr sz="800" b="0">
                <a:solidFill>
                  <a:srgbClr val="060606"/>
                </a:solidFill>
                <a:latin typeface="Helvetica"/>
              </a:rPr>
              <a:t>du trop-perçu</a:t>
            </a:r>
          </a:p>
        </p:txBody>
      </p:sp>
      <p:sp>
        <p:nvSpPr>
          <p:cNvPr id="51" name="Logigramme g11"/>
          <p:cNvSpPr/>
          <p:nvPr/>
        </p:nvSpPr>
        <p:spPr>
          <a:xfrm>
            <a:off x="10332000" y="3726000"/>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Virement de la</a:t>
            </a:r>
          </a:p>
          <a:p>
            <a:pPr algn="ctr"/>
            <a:r>
              <a:rPr sz="800" b="0">
                <a:solidFill>
                  <a:srgbClr val="060606"/>
                </a:solidFill>
                <a:latin typeface="Helvetica"/>
              </a:rPr>
              <a:t>commission (20 %)</a:t>
            </a:r>
          </a:p>
        </p:txBody>
      </p:sp>
      <p:sp>
        <p:nvSpPr>
          <p:cNvPr id="52" name="Logigramme g12"/>
          <p:cNvSpPr/>
          <p:nvPr/>
        </p:nvSpPr>
        <p:spPr>
          <a:xfrm>
            <a:off x="10332000" y="4464000"/>
            <a:ext cx="1224000" cy="522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FFFFFF"/>
                </a:solidFill>
                <a:latin typeface="Helvetica"/>
              </a:rPr>
              <a:t>Comptabilisation</a:t>
            </a:r>
          </a:p>
          <a:p>
            <a:pPr algn="ctr"/>
            <a:r>
              <a:rPr sz="800" b="1">
                <a:solidFill>
                  <a:srgbClr val="FFFFFF"/>
                </a:solidFill>
                <a:latin typeface="Helvetica"/>
              </a:rPr>
              <a:t>de la commission</a:t>
            </a:r>
          </a:p>
        </p:txBody>
      </p:sp>
      <p:sp>
        <p:nvSpPr>
          <p:cNvPr id="53" name="Logigramme a1"/>
          <p:cNvSpPr/>
          <p:nvPr/>
        </p:nvSpPr>
        <p:spPr>
          <a:xfrm>
            <a:off x="8946000" y="4464000"/>
            <a:ext cx="1224000" cy="522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C00000"/>
                </a:solidFill>
                <a:latin typeface="Helvetica"/>
              </a:rPr>
              <a:t>Assiette des 20 %</a:t>
            </a:r>
          </a:p>
          <a:p>
            <a:pPr algn="ctr"/>
            <a:r>
              <a:rPr sz="800" b="1">
                <a:solidFill>
                  <a:srgbClr val="C00000"/>
                </a:solidFill>
                <a:latin typeface="Helvetica"/>
              </a:rPr>
              <a:t>non documentée</a:t>
            </a:r>
          </a:p>
        </p:txBody>
      </p:sp>
      <p:sp>
        <p:nvSpPr>
          <p:cNvPr id="54" name="Logigramme a2"/>
          <p:cNvSpPr/>
          <p:nvPr/>
        </p:nvSpPr>
        <p:spPr>
          <a:xfrm>
            <a:off x="7560000" y="3726000"/>
            <a:ext cx="1224000" cy="522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C00000"/>
                </a:solidFill>
                <a:latin typeface="Helvetica"/>
              </a:rPr>
              <a:t>Retour de janvier</a:t>
            </a:r>
          </a:p>
          <a:p>
            <a:pPr algn="ctr"/>
            <a:r>
              <a:rPr sz="800" b="1">
                <a:solidFill>
                  <a:srgbClr val="C00000"/>
                </a:solidFill>
                <a:latin typeface="Helvetica"/>
              </a:rPr>
              <a:t>2026 manquant</a:t>
            </a:r>
          </a:p>
        </p:txBody>
      </p:sp>
      <p:cxnSp>
        <p:nvCxnSpPr>
          <p:cNvPr id="55" name="Flèche g1 vers g2"/>
          <p:cNvCxnSpPr>
            <a:stCxn id="41" idx="2"/>
            <a:endCxn id="42" idx="0"/>
          </p:cNvCxnSpPr>
          <p:nvPr/>
        </p:nvCxnSpPr>
        <p:spPr>
          <a:xfrm flipH="1">
            <a:off x="2627999" y="2034000"/>
            <a:ext cx="0" cy="215999"/>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6" name="Flèche g2 vers g3"/>
          <p:cNvCxnSpPr>
            <a:stCxn id="42" idx="3"/>
            <a:endCxn id="43" idx="1"/>
          </p:cNvCxnSpPr>
          <p:nvPr/>
        </p:nvCxnSpPr>
        <p:spPr>
          <a:xfrm>
            <a:off x="3239999" y="2510999"/>
            <a:ext cx="162000" cy="1"/>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7" name="Flèche g3 vers g4"/>
          <p:cNvCxnSpPr>
            <a:stCxn id="43" idx="3"/>
            <a:endCxn id="44" idx="1"/>
          </p:cNvCxnSpPr>
          <p:nvPr/>
        </p:nvCxnSpPr>
        <p:spPr>
          <a:xfrm flipV="1">
            <a:off x="4625999" y="2510999"/>
            <a:ext cx="162001" cy="1"/>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4669199" y="2331000"/>
            <a:ext cx="864000" cy="162000"/>
          </a:xfrm>
          <a:prstGeom prst="rect">
            <a:avLst/>
          </a:prstGeom>
          <a:noFill/>
        </p:spPr>
        <p:txBody>
          <a:bodyPr wrap="square" anchor="t" lIns="28800" rIns="28800" tIns="10800" bIns="10800">
            <a:spAutoFit/>
          </a:bodyPr>
          <a:lstStyle/>
          <a:p>
            <a:pPr algn="l"/>
            <a:r>
              <a:rPr sz="650" b="1">
                <a:solidFill>
                  <a:srgbClr val="53565A"/>
                </a:solidFill>
                <a:latin typeface="Helvetica"/>
              </a:rPr>
              <a:t>oui</a:t>
            </a:r>
          </a:p>
        </p:txBody>
      </p:sp>
      <p:cxnSp>
        <p:nvCxnSpPr>
          <p:cNvPr id="59" name="Flèche g4 vers g5"/>
          <p:cNvCxnSpPr>
            <a:stCxn id="44" idx="3"/>
            <a:endCxn id="45" idx="1"/>
          </p:cNvCxnSpPr>
          <p:nvPr/>
        </p:nvCxnSpPr>
        <p:spPr>
          <a:xfrm flipV="1">
            <a:off x="6012000" y="2510999"/>
            <a:ext cx="161999"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0" name="Flèche g5 vers g6"/>
          <p:cNvCxnSpPr>
            <a:stCxn id="45" idx="2"/>
            <a:endCxn id="46" idx="0"/>
          </p:cNvCxnSpPr>
          <p:nvPr/>
        </p:nvCxnSpPr>
        <p:spPr>
          <a:xfrm flipH="1">
            <a:off x="6785999" y="2771999"/>
            <a:ext cx="0" cy="216001"/>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1" name="Flèche g6 vers g7"/>
          <p:cNvCxnSpPr>
            <a:stCxn id="46" idx="3"/>
            <a:endCxn id="47" idx="1"/>
          </p:cNvCxnSpPr>
          <p:nvPr/>
        </p:nvCxnSpPr>
        <p:spPr>
          <a:xfrm flipV="1">
            <a:off x="7397999" y="3249000"/>
            <a:ext cx="162001"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2" name="Flèche g7 vers g8"/>
          <p:cNvCxnSpPr>
            <a:stCxn id="47" idx="0"/>
            <a:endCxn id="48" idx="2"/>
          </p:cNvCxnSpPr>
          <p:nvPr/>
        </p:nvCxnSpPr>
        <p:spPr>
          <a:xfrm flipH="1" flipV="1">
            <a:off x="8172000" y="2771999"/>
            <a:ext cx="0" cy="216001"/>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3" name="Flèche g9 vers g10"/>
          <p:cNvCxnSpPr>
            <a:stCxn id="49" idx="2"/>
            <a:endCxn id="50" idx="0"/>
          </p:cNvCxnSpPr>
          <p:nvPr/>
        </p:nvCxnSpPr>
        <p:spPr>
          <a:xfrm flipH="1">
            <a:off x="9558000" y="2034000"/>
            <a:ext cx="0" cy="16920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4" name="Flèche g10 vers g11"/>
          <p:cNvCxnSpPr>
            <a:stCxn id="50" idx="3"/>
            <a:endCxn id="51" idx="1"/>
          </p:cNvCxnSpPr>
          <p:nvPr/>
        </p:nvCxnSpPr>
        <p:spPr>
          <a:xfrm flipV="1">
            <a:off x="10170000" y="3987000"/>
            <a:ext cx="162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Flèche g11 vers g12"/>
          <p:cNvCxnSpPr>
            <a:stCxn id="51" idx="2"/>
            <a:endCxn id="52" idx="0"/>
          </p:cNvCxnSpPr>
          <p:nvPr/>
        </p:nvCxnSpPr>
        <p:spPr>
          <a:xfrm flipH="1">
            <a:off x="10944000" y="4248000"/>
            <a:ext cx="0" cy="2160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Flèche g12 vers a1"/>
          <p:cNvCxnSpPr>
            <a:stCxn id="52" idx="1"/>
            <a:endCxn id="53" idx="3"/>
          </p:cNvCxnSpPr>
          <p:nvPr/>
        </p:nvCxnSpPr>
        <p:spPr>
          <a:xfrm flipH="1" flipV="1">
            <a:off x="10170000" y="4725000"/>
            <a:ext cx="162000" cy="0"/>
          </a:xfrm>
          <a:prstGeom prst="line">
            <a:avLst/>
          </a:prstGeom>
          <a:ln w="22225">
            <a:solidFill>
              <a:srgbClr val="53565A"/>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67" name="Flèche g7 vers a2"/>
          <p:cNvCxnSpPr>
            <a:stCxn id="47" idx="2"/>
            <a:endCxn id="54" idx="0"/>
          </p:cNvCxnSpPr>
          <p:nvPr/>
        </p:nvCxnSpPr>
        <p:spPr>
          <a:xfrm flipH="1">
            <a:off x="8172000" y="3510000"/>
            <a:ext cx="0" cy="216000"/>
          </a:xfrm>
          <a:prstGeom prst="line">
            <a:avLst/>
          </a:prstGeom>
          <a:ln w="22225">
            <a:solidFill>
              <a:srgbClr val="53565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503999" y="5184000"/>
            <a:ext cx="11232000" cy="684000"/>
          </a:xfrm>
          <a:prstGeom prst="rect">
            <a:avLst/>
          </a:prstGeom>
          <a:noFill/>
        </p:spPr>
        <p:txBody>
          <a:bodyPr wrap="square" lIns="54000" rIns="54000"/>
          <a:lstStyle/>
          <a:p>
            <a:pPr algn="just">
              <a:spcAft>
                <a:spcPts val="600"/>
              </a:spcAft>
            </a:pPr>
            <a:r>
              <a:rPr sz="1200" b="1">
                <a:solidFill>
                  <a:srgbClr val="060606"/>
                </a:solidFill>
                <a:latin typeface="Helvetica"/>
              </a:rPr>
              <a:t>La convention avec GNA n'a pas été transmise.</a:t>
            </a:r>
            <a:r>
              <a:rPr sz="1200" b="0">
                <a:solidFill>
                  <a:srgbClr val="060606"/>
                </a:solidFill>
                <a:latin typeface="Helvetica"/>
              </a:rPr>
              <a:t> La commission ne peut pas être vérifiée, et le fichier retour de janvier 2026 manque (constats 18.a, 26.g et 27.e).</a:t>
            </a:r>
          </a:p>
        </p:txBody>
      </p:sp>
      <p:sp>
        <p:nvSpPr>
          <p:cNvPr id="69" name="TextBox 68"/>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GNA : assureur de la flotte automobile (compte 47111106)</a:t>
            </a:r>
          </a:p>
        </p:txBody>
      </p:sp>
    </p:spTree>
    <p:extLst>
      <p:ext uri="{BB962C8B-B14F-4D97-AF65-F5344CB8AC3E}">
        <p14:creationId xmlns:p14="http://schemas.microsoft.com/office/powerpoint/2010/main" val="187901463"/>
      </p:ext>
    </p:extLst>
  </p:cSld>
  <p:clrMapOvr>
    <a:masterClrMapping/>
  </p:clrMapOvr>
  <p:transition>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 21"/>
          <p:cNvPicPr>
            <a:picLocks noChangeAspect="1"/>
          </p:cNvPicPr>
          <p:nvPr/>
        </p:nvPicPr>
        <p:blipFill rotWithShape="1">
          <a:blip r:embed="rId2">
            <a:extLst>
              <a:ext uri="{28A0092B-C50C-407E-A947-70E740481C1C}">
                <a14:useLocalDpi xmlns:a14="http://schemas.microsoft.com/office/drawing/2010/main" val="0"/>
              </a:ext>
            </a:extLst>
          </a:blip>
          <a:srcRect l="187" t="1164" r="20416" b="19660"/>
          <a:stretch/>
        </p:blipFill>
        <p:spPr>
          <a:xfrm>
            <a:off x="1" y="0"/>
            <a:ext cx="12192000" cy="6911166"/>
          </a:xfrm>
          <a:prstGeom prst="rect">
            <a:avLst/>
          </a:prstGeom>
        </p:spPr>
      </p:pic>
      <p:sp>
        <p:nvSpPr>
          <p:cNvPr id="26" name="ZoneTexte 25">
            <a:extLst>
              <a:ext uri="{FF2B5EF4-FFF2-40B4-BE49-F238E27FC236}">
                <a16:creationId xmlns:a16="http://schemas.microsoft.com/office/drawing/2014/main" id="{C6E7D94B-8E49-C846-A392-87DFA5EF4A9D}"/>
              </a:ext>
            </a:extLst>
          </p:cNvPr>
          <p:cNvSpPr txBox="1"/>
          <p:nvPr/>
        </p:nvSpPr>
        <p:spPr>
          <a:xfrm>
            <a:off x="222103" y="6396591"/>
            <a:ext cx="4653185" cy="261610"/>
          </a:xfrm>
          <a:prstGeom prst="rect">
            <a:avLst/>
          </a:prstGeom>
          <a:noFill/>
        </p:spPr>
        <p:txBody>
          <a:bodyPr wrap="square">
            <a:spAutoFit/>
          </a:bodyPr>
          <a:lstStyle/>
          <a:p>
            <a:r>
              <a:rPr lang="fr-CI" sz="1100" noProof="0">
                <a:latin typeface="Helvetica" panose="020B0604020202020204" pitchFamily="34" charset="0"/>
                <a:cs typeface="Helvetica" panose="020B0604020202020204" pitchFamily="34" charset="0"/>
              </a:rPr>
              <a:t>Empreinte Africaine, Expertise Internationale</a:t>
            </a:r>
          </a:p>
        </p:txBody>
      </p:sp>
      <p:sp>
        <p:nvSpPr>
          <p:cNvPr id="27" name="Adenka_Titre"/>
          <p:cNvSpPr txBox="1"/>
          <p:nvPr/>
        </p:nvSpPr>
        <p:spPr>
          <a:xfrm>
            <a:off x="547200" y="144000"/>
            <a:ext cx="11246400" cy="396000"/>
          </a:xfrm>
          <a:prstGeom prst="rect">
            <a:avLst/>
          </a:prstGeom>
          <a:noFill/>
        </p:spPr>
        <p:txBody>
          <a:bodyPr wrap="square" lIns="36000" rIns="36000" tIns="7200" bIns="7200" anchor="t">
            <a:spAutoFit/>
          </a:bodyPr>
          <a:lstStyle/>
          <a:p>
            <a:pPr algn="l"/>
            <a:r>
              <a:rPr sz="2000" b="1">
                <a:solidFill>
                  <a:srgbClr val="060606"/>
                </a:solidFill>
                <a:latin typeface="Helvetica"/>
              </a:rPr>
              <a:t>Circuit des retraités (CGRAE)</a:t>
            </a:r>
          </a:p>
        </p:txBody>
      </p:sp>
      <p:sp>
        <p:nvSpPr>
          <p:cNvPr id="28" name="Adenka_SousTitre"/>
          <p:cNvSpPr txBox="1"/>
          <p:nvPr/>
        </p:nvSpPr>
        <p:spPr>
          <a:xfrm>
            <a:off x="745200" y="558000"/>
            <a:ext cx="11246400" cy="306000"/>
          </a:xfrm>
          <a:prstGeom prst="rect">
            <a:avLst/>
          </a:prstGeom>
          <a:noFill/>
        </p:spPr>
        <p:txBody>
          <a:bodyPr wrap="square" lIns="36000" rIns="36000" tIns="7200" bIns="7200" anchor="t">
            <a:spAutoFit/>
          </a:bodyPr>
          <a:lstStyle/>
          <a:p>
            <a:pPr algn="l"/>
            <a:r>
              <a:rPr sz="1600" b="1">
                <a:solidFill>
                  <a:srgbClr val="EFAC62"/>
                </a:solidFill>
                <a:latin typeface="Helvetica"/>
              </a:rPr>
              <a:t>La cotisation suit le barème de la CGRAE, dans la limite de la quotité cessible</a:t>
            </a:r>
          </a:p>
        </p:txBody>
      </p:sp>
      <p:sp>
        <p:nvSpPr>
          <p:cNvPr id="29" name="Adenka_Synthese"/>
          <p:cNvSpPr txBox="1"/>
          <p:nvPr/>
        </p:nvSpPr>
        <p:spPr>
          <a:xfrm>
            <a:off x="745200" y="882000"/>
            <a:ext cx="11062800" cy="288000"/>
          </a:xfrm>
          <a:prstGeom prst="rect">
            <a:avLst/>
          </a:prstGeom>
          <a:noFill/>
        </p:spPr>
        <p:txBody>
          <a:bodyPr wrap="square" lIns="36000" rIns="36000" tIns="7200" bIns="7200" anchor="t">
            <a:spAutoFit/>
          </a:bodyPr>
          <a:lstStyle/>
          <a:p>
            <a:pPr algn="l"/>
            <a:r>
              <a:rPr sz="1400" b="0">
                <a:solidFill>
                  <a:srgbClr val="808080"/>
                </a:solidFill>
                <a:latin typeface="Helvetica"/>
              </a:rPr>
              <a:t>Logigramme du FPPN redessiné : les cadres rouges signalent les contrôles absents</a:t>
            </a:r>
          </a:p>
        </p:txBody>
      </p:sp>
      <p:sp>
        <p:nvSpPr>
          <p:cNvPr id="30" name="Adenka_Source"/>
          <p:cNvSpPr txBox="1"/>
          <p:nvPr/>
        </p:nvSpPr>
        <p:spPr>
          <a:xfrm>
            <a:off x="367200" y="6173999"/>
            <a:ext cx="11430000" cy="183600"/>
          </a:xfrm>
          <a:prstGeom prst="rect">
            <a:avLst/>
          </a:prstGeom>
          <a:noFill/>
        </p:spPr>
        <p:txBody>
          <a:bodyPr wrap="square" lIns="36000" rIns="36000" tIns="7200" bIns="7200" anchor="t">
            <a:spAutoFit/>
          </a:bodyPr>
          <a:lstStyle/>
          <a:p>
            <a:pPr algn="l"/>
            <a:r>
              <a:rPr sz="750" b="0">
                <a:solidFill>
                  <a:srgbClr val="808080"/>
                </a:solidFill>
                <a:latin typeface="Helvetica"/>
              </a:rPr>
              <a:t>Source : « FLOW_CHART_COTISATION_ET_PRODUITS_DEPARGNE_1.pptx » (FPPN, reçu le 23/10/2026). Contrôles absents : analyses Adenka</a:t>
            </a:r>
          </a:p>
        </p:txBody>
      </p:sp>
      <p:sp>
        <p:nvSpPr>
          <p:cNvPr id="31" name="Rectangle 30"/>
          <p:cNvSpPr/>
          <p:nvPr/>
        </p:nvSpPr>
        <p:spPr>
          <a:xfrm>
            <a:off x="503999" y="1404000"/>
            <a:ext cx="11232000" cy="917999"/>
          </a:xfrm>
          <a:prstGeom prst="rect">
            <a:avLst/>
          </a:prstGeom>
          <a:solidFill>
            <a:srgbClr val="F7F7F7"/>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03999" y="1404000"/>
            <a:ext cx="1404000" cy="91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Policier retraité</a:t>
            </a:r>
          </a:p>
        </p:txBody>
      </p:sp>
      <p:sp>
        <p:nvSpPr>
          <p:cNvPr id="33" name="Rectangle 32"/>
          <p:cNvSpPr/>
          <p:nvPr/>
        </p:nvSpPr>
        <p:spPr>
          <a:xfrm>
            <a:off x="503999" y="2321999"/>
            <a:ext cx="11232000" cy="917999"/>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3999" y="2321999"/>
            <a:ext cx="1404000" cy="91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FPPN : service informatique</a:t>
            </a:r>
          </a:p>
        </p:txBody>
      </p:sp>
      <p:sp>
        <p:nvSpPr>
          <p:cNvPr id="35" name="Rectangle 34"/>
          <p:cNvSpPr/>
          <p:nvPr/>
        </p:nvSpPr>
        <p:spPr>
          <a:xfrm>
            <a:off x="503999" y="3240000"/>
            <a:ext cx="11232000" cy="917999"/>
          </a:xfrm>
          <a:prstGeom prst="rect">
            <a:avLst/>
          </a:prstGeom>
          <a:solidFill>
            <a:srgbClr val="F7F7F7"/>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03999" y="3240000"/>
            <a:ext cx="1404000" cy="91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CGRAE</a:t>
            </a:r>
          </a:p>
        </p:txBody>
      </p:sp>
      <p:sp>
        <p:nvSpPr>
          <p:cNvPr id="37" name="Rectangle 36"/>
          <p:cNvSpPr/>
          <p:nvPr/>
        </p:nvSpPr>
        <p:spPr>
          <a:xfrm>
            <a:off x="503999" y="4157999"/>
            <a:ext cx="11232000" cy="917999"/>
          </a:xfrm>
          <a:prstGeom prst="rect">
            <a:avLst/>
          </a:prstGeom>
          <a:solidFill>
            <a:srgbClr val="FFFFFF"/>
          </a:solidFill>
          <a:ln w="9525">
            <a:solidFill>
              <a:srgbClr val="BBBC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03999" y="4157999"/>
            <a:ext cx="1404000" cy="917999"/>
          </a:xfrm>
          <a:prstGeom prst="rect">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1000" b="1">
                <a:solidFill>
                  <a:srgbClr val="FFFFFF"/>
                </a:solidFill>
                <a:latin typeface="Helvetica"/>
              </a:rPr>
              <a:t>FPPN : service comptable</a:t>
            </a:r>
          </a:p>
        </p:txBody>
      </p:sp>
      <p:sp>
        <p:nvSpPr>
          <p:cNvPr id="39" name="Logigramme c1"/>
          <p:cNvSpPr/>
          <p:nvPr/>
        </p:nvSpPr>
        <p:spPr>
          <a:xfrm>
            <a:off x="2015999" y="1602000"/>
            <a:ext cx="1224000" cy="522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FFFFFF"/>
                </a:solidFill>
                <a:latin typeface="Helvetica"/>
              </a:rPr>
              <a:t>Adhésion sur</a:t>
            </a:r>
          </a:p>
          <a:p>
            <a:pPr algn="ctr"/>
            <a:r>
              <a:rPr sz="800" b="1">
                <a:solidFill>
                  <a:srgbClr val="FFFFFF"/>
                </a:solidFill>
                <a:latin typeface="Helvetica"/>
              </a:rPr>
              <a:t>fiche d'adhésion</a:t>
            </a:r>
          </a:p>
        </p:txBody>
      </p:sp>
      <p:sp>
        <p:nvSpPr>
          <p:cNvPr id="40" name="Logigramme c2"/>
          <p:cNvSpPr/>
          <p:nvPr/>
        </p:nvSpPr>
        <p:spPr>
          <a:xfrm>
            <a:off x="2015999" y="2439000"/>
            <a:ext cx="1224000" cy="684000"/>
          </a:xfrm>
          <a:prstGeom prst="flowChartDecision">
            <a:avLst/>
          </a:prstGeom>
          <a:solidFill>
            <a:srgbClr val="EFAC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750" b="0">
                <a:solidFill>
                  <a:srgbClr val="060606"/>
                </a:solidFill>
                <a:latin typeface="Helvetica"/>
              </a:rPr>
              <a:t>Mécano ?</a:t>
            </a:r>
          </a:p>
        </p:txBody>
      </p:sp>
      <p:sp>
        <p:nvSpPr>
          <p:cNvPr id="41" name="Logigramme c3"/>
          <p:cNvSpPr/>
          <p:nvPr/>
        </p:nvSpPr>
        <p:spPr>
          <a:xfrm>
            <a:off x="3401999" y="1602000"/>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Création du mécano</a:t>
            </a:r>
          </a:p>
          <a:p>
            <a:pPr algn="ctr"/>
            <a:r>
              <a:rPr sz="800" b="0">
                <a:solidFill>
                  <a:srgbClr val="060606"/>
                </a:solidFill>
                <a:latin typeface="Helvetica"/>
              </a:rPr>
              <a:t>et ajout à la fiche</a:t>
            </a:r>
          </a:p>
        </p:txBody>
      </p:sp>
      <p:sp>
        <p:nvSpPr>
          <p:cNvPr id="42" name="Logigramme c4"/>
          <p:cNvSpPr/>
          <p:nvPr/>
        </p:nvSpPr>
        <p:spPr>
          <a:xfrm>
            <a:off x="4788000" y="2519999"/>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Intégration au</a:t>
            </a:r>
          </a:p>
          <a:p>
            <a:pPr algn="ctr"/>
            <a:r>
              <a:rPr sz="800" b="0">
                <a:solidFill>
                  <a:srgbClr val="060606"/>
                </a:solidFill>
                <a:latin typeface="Helvetica"/>
              </a:rPr>
              <a:t>fichier en ligne</a:t>
            </a:r>
          </a:p>
        </p:txBody>
      </p:sp>
      <p:sp>
        <p:nvSpPr>
          <p:cNvPr id="43" name="Logigramme c5"/>
          <p:cNvSpPr/>
          <p:nvPr/>
        </p:nvSpPr>
        <p:spPr>
          <a:xfrm>
            <a:off x="6173999" y="2456999"/>
            <a:ext cx="1224000" cy="648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Fichier de précompte :</a:t>
            </a:r>
          </a:p>
          <a:p>
            <a:pPr algn="ctr"/>
            <a:r>
              <a:rPr sz="800" b="0">
                <a:solidFill>
                  <a:srgbClr val="060606"/>
                </a:solidFill>
                <a:latin typeface="Helvetica"/>
              </a:rPr>
              <a:t>2,5 % de la pension</a:t>
            </a:r>
          </a:p>
          <a:p>
            <a:pPr algn="ctr"/>
            <a:r>
              <a:rPr sz="800" b="0">
                <a:solidFill>
                  <a:srgbClr val="060606"/>
                </a:solidFill>
                <a:latin typeface="Helvetica"/>
              </a:rPr>
              <a:t>nette MUGEFCI + forfait</a:t>
            </a:r>
          </a:p>
        </p:txBody>
      </p:sp>
      <p:sp>
        <p:nvSpPr>
          <p:cNvPr id="44" name="Logigramme c6"/>
          <p:cNvSpPr/>
          <p:nvPr/>
        </p:nvSpPr>
        <p:spPr>
          <a:xfrm>
            <a:off x="7560000" y="2519999"/>
            <a:ext cx="1224000" cy="522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0">
                <a:solidFill>
                  <a:srgbClr val="060606"/>
                </a:solidFill>
                <a:latin typeface="Helvetica"/>
              </a:rPr>
              <a:t>Fichier aller</a:t>
            </a:r>
          </a:p>
        </p:txBody>
      </p:sp>
      <p:sp>
        <p:nvSpPr>
          <p:cNvPr id="45" name="Logigramme c7"/>
          <p:cNvSpPr/>
          <p:nvPr/>
        </p:nvSpPr>
        <p:spPr>
          <a:xfrm>
            <a:off x="7560000" y="3438000"/>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Prélèvement sur la</a:t>
            </a:r>
          </a:p>
          <a:p>
            <a:pPr algn="ctr"/>
            <a:r>
              <a:rPr sz="800" b="0">
                <a:solidFill>
                  <a:srgbClr val="060606"/>
                </a:solidFill>
                <a:latin typeface="Helvetica"/>
              </a:rPr>
              <a:t>pension (quotité cessible)</a:t>
            </a:r>
          </a:p>
        </p:txBody>
      </p:sp>
      <p:sp>
        <p:nvSpPr>
          <p:cNvPr id="46" name="Logigramme c8"/>
          <p:cNvSpPr/>
          <p:nvPr/>
        </p:nvSpPr>
        <p:spPr>
          <a:xfrm>
            <a:off x="8946000" y="3438000"/>
            <a:ext cx="1224000" cy="522000"/>
          </a:xfrm>
          <a:prstGeom prst="flowChartDocument">
            <a:avLst/>
          </a:prstGeom>
          <a:solidFill>
            <a:srgbClr val="F2F2F2"/>
          </a:solidFill>
          <a:ln w="15875">
            <a:solidFill>
              <a:srgbClr val="53565A"/>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Fichier retour</a:t>
            </a:r>
          </a:p>
          <a:p>
            <a:pPr algn="ctr"/>
            <a:r>
              <a:rPr sz="800" b="0">
                <a:solidFill>
                  <a:srgbClr val="060606"/>
                </a:solidFill>
                <a:latin typeface="Helvetica"/>
              </a:rPr>
              <a:t>numérique</a:t>
            </a:r>
          </a:p>
        </p:txBody>
      </p:sp>
      <p:sp>
        <p:nvSpPr>
          <p:cNvPr id="47" name="Logigramme c9"/>
          <p:cNvSpPr/>
          <p:nvPr/>
        </p:nvSpPr>
        <p:spPr>
          <a:xfrm>
            <a:off x="8946000" y="2519999"/>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Réception du</a:t>
            </a:r>
          </a:p>
          <a:p>
            <a:pPr algn="ctr"/>
            <a:r>
              <a:rPr sz="800" b="0">
                <a:solidFill>
                  <a:srgbClr val="060606"/>
                </a:solidFill>
                <a:latin typeface="Helvetica"/>
              </a:rPr>
              <a:t>fichier retour</a:t>
            </a:r>
          </a:p>
        </p:txBody>
      </p:sp>
      <p:sp>
        <p:nvSpPr>
          <p:cNvPr id="48" name="Logigramme c10"/>
          <p:cNvSpPr/>
          <p:nvPr/>
        </p:nvSpPr>
        <p:spPr>
          <a:xfrm>
            <a:off x="10332000" y="3438000"/>
            <a:ext cx="1224000" cy="522000"/>
          </a:xfrm>
          <a:prstGeom prst="flowChartProcess">
            <a:avLst/>
          </a:prstGeom>
          <a:solidFill>
            <a:srgbClr val="FFFFFF"/>
          </a:solidFill>
          <a:ln w="15875">
            <a:solidFill>
              <a:srgbClr val="112A4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060606"/>
                </a:solidFill>
                <a:latin typeface="Helvetica"/>
              </a:rPr>
              <a:t>Virement des fonds</a:t>
            </a:r>
          </a:p>
          <a:p>
            <a:pPr algn="ctr"/>
            <a:r>
              <a:rPr sz="800" b="0">
                <a:solidFill>
                  <a:srgbClr val="060606"/>
                </a:solidFill>
                <a:latin typeface="Helvetica"/>
              </a:rPr>
              <a:t>selon le barème</a:t>
            </a:r>
          </a:p>
        </p:txBody>
      </p:sp>
      <p:sp>
        <p:nvSpPr>
          <p:cNvPr id="49" name="Logigramme c11"/>
          <p:cNvSpPr/>
          <p:nvPr/>
        </p:nvSpPr>
        <p:spPr>
          <a:xfrm>
            <a:off x="10332000" y="4356000"/>
            <a:ext cx="1224000" cy="522000"/>
          </a:xfrm>
          <a:prstGeom prst="flowChartTerminator">
            <a:avLst/>
          </a:prstGeom>
          <a:solidFill>
            <a:srgbClr val="112A4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FFFFFF"/>
                </a:solidFill>
                <a:latin typeface="Helvetica"/>
              </a:rPr>
              <a:t>Comptabilisation</a:t>
            </a:r>
          </a:p>
          <a:p>
            <a:pPr algn="ctr"/>
            <a:r>
              <a:rPr sz="800" b="1">
                <a:solidFill>
                  <a:srgbClr val="FFFFFF"/>
                </a:solidFill>
                <a:latin typeface="Helvetica"/>
              </a:rPr>
              <a:t>du virement</a:t>
            </a:r>
          </a:p>
        </p:txBody>
      </p:sp>
      <p:sp>
        <p:nvSpPr>
          <p:cNvPr id="50" name="Logigramme a1"/>
          <p:cNvSpPr/>
          <p:nvPr/>
        </p:nvSpPr>
        <p:spPr>
          <a:xfrm>
            <a:off x="6173999" y="3438000"/>
            <a:ext cx="1224000" cy="522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C00000"/>
                </a:solidFill>
                <a:latin typeface="Helvetica"/>
              </a:rPr>
              <a:t>Retraités sans quotité</a:t>
            </a:r>
          </a:p>
          <a:p>
            <a:pPr algn="ctr"/>
            <a:r>
              <a:rPr sz="800" b="1">
                <a:solidFill>
                  <a:srgbClr val="C00000"/>
                </a:solidFill>
                <a:latin typeface="Helvetica"/>
              </a:rPr>
              <a:t>cessible non précomptés</a:t>
            </a:r>
          </a:p>
        </p:txBody>
      </p:sp>
      <p:sp>
        <p:nvSpPr>
          <p:cNvPr id="51" name="Logigramme a2"/>
          <p:cNvSpPr/>
          <p:nvPr/>
        </p:nvSpPr>
        <p:spPr>
          <a:xfrm>
            <a:off x="8946000" y="4356000"/>
            <a:ext cx="1224000" cy="522000"/>
          </a:xfrm>
          <a:prstGeom prst="flowChartProcess">
            <a:avLst/>
          </a:prstGeom>
          <a:solidFill>
            <a:srgbClr val="FFFFFF"/>
          </a:solidFill>
          <a:ln w="28575">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10800" bIns="10800"/>
          <a:lstStyle/>
          <a:p>
            <a:pPr algn="ctr"/>
            <a:r>
              <a:rPr sz="800" b="1">
                <a:solidFill>
                  <a:srgbClr val="C00000"/>
                </a:solidFill>
                <a:latin typeface="Helvetica"/>
              </a:rPr>
              <a:t>Retours de janvier et</a:t>
            </a:r>
          </a:p>
          <a:p>
            <a:pPr algn="ctr"/>
            <a:r>
              <a:rPr sz="800" b="1">
                <a:solidFill>
                  <a:srgbClr val="C00000"/>
                </a:solidFill>
                <a:latin typeface="Helvetica"/>
              </a:rPr>
              <a:t>juin 2024 manquants</a:t>
            </a:r>
          </a:p>
        </p:txBody>
      </p:sp>
      <p:cxnSp>
        <p:nvCxnSpPr>
          <p:cNvPr id="52" name="Flèche c1 vers c2"/>
          <p:cNvCxnSpPr>
            <a:stCxn id="39" idx="2"/>
            <a:endCxn id="40" idx="0"/>
          </p:cNvCxnSpPr>
          <p:nvPr/>
        </p:nvCxnSpPr>
        <p:spPr>
          <a:xfrm flipH="1">
            <a:off x="2627999" y="2124000"/>
            <a:ext cx="0" cy="3150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Flèche c2 vers c3"/>
          <p:cNvCxnSpPr>
            <a:stCxn id="40" idx="3"/>
            <a:endCxn id="41" idx="2"/>
          </p:cNvCxnSpPr>
          <p:nvPr/>
        </p:nvCxnSpPr>
        <p:spPr>
          <a:xfrm flipV="1">
            <a:off x="3239999" y="2124000"/>
            <a:ext cx="774000" cy="657000"/>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3283198" y="2601000"/>
            <a:ext cx="864000" cy="162000"/>
          </a:xfrm>
          <a:prstGeom prst="rect">
            <a:avLst/>
          </a:prstGeom>
          <a:noFill/>
        </p:spPr>
        <p:txBody>
          <a:bodyPr wrap="square" anchor="t" lIns="28800" rIns="28800" tIns="10800" bIns="10800">
            <a:spAutoFit/>
          </a:bodyPr>
          <a:lstStyle/>
          <a:p>
            <a:pPr algn="l"/>
            <a:r>
              <a:rPr sz="650" b="1">
                <a:solidFill>
                  <a:srgbClr val="53565A"/>
                </a:solidFill>
                <a:latin typeface="Helvetica"/>
              </a:rPr>
              <a:t>non</a:t>
            </a:r>
          </a:p>
        </p:txBody>
      </p:sp>
      <p:cxnSp>
        <p:nvCxnSpPr>
          <p:cNvPr id="55" name="Flèche c2 vers c4"/>
          <p:cNvCxnSpPr>
            <a:stCxn id="40" idx="3"/>
            <a:endCxn id="42" idx="1"/>
          </p:cNvCxnSpPr>
          <p:nvPr/>
        </p:nvCxnSpPr>
        <p:spPr>
          <a:xfrm flipV="1">
            <a:off x="3239999" y="2780999"/>
            <a:ext cx="1548001" cy="1"/>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3283198" y="2601000"/>
            <a:ext cx="864000" cy="162000"/>
          </a:xfrm>
          <a:prstGeom prst="rect">
            <a:avLst/>
          </a:prstGeom>
          <a:noFill/>
        </p:spPr>
        <p:txBody>
          <a:bodyPr wrap="square" anchor="t" lIns="28800" rIns="28800" tIns="10800" bIns="10800">
            <a:spAutoFit/>
          </a:bodyPr>
          <a:lstStyle/>
          <a:p>
            <a:pPr algn="l"/>
            <a:r>
              <a:rPr sz="650" b="1">
                <a:solidFill>
                  <a:srgbClr val="53565A"/>
                </a:solidFill>
                <a:latin typeface="Helvetica"/>
              </a:rPr>
              <a:t>oui</a:t>
            </a:r>
          </a:p>
        </p:txBody>
      </p:sp>
      <p:cxnSp>
        <p:nvCxnSpPr>
          <p:cNvPr id="57" name="Flèche c3 vers c4"/>
          <p:cNvCxnSpPr>
            <a:stCxn id="41" idx="3"/>
            <a:endCxn id="42" idx="0"/>
          </p:cNvCxnSpPr>
          <p:nvPr/>
        </p:nvCxnSpPr>
        <p:spPr>
          <a:xfrm>
            <a:off x="4625999" y="1863000"/>
            <a:ext cx="774001" cy="656999"/>
          </a:xfrm>
          <a:prstGeom prst="bentConnector3">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Flèche c4 vers c5"/>
          <p:cNvCxnSpPr>
            <a:stCxn id="42" idx="3"/>
            <a:endCxn id="43" idx="1"/>
          </p:cNvCxnSpPr>
          <p:nvPr/>
        </p:nvCxnSpPr>
        <p:spPr>
          <a:xfrm flipV="1">
            <a:off x="6012000" y="2780999"/>
            <a:ext cx="161999"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9" name="Flèche c5 vers c6"/>
          <p:cNvCxnSpPr>
            <a:stCxn id="43" idx="3"/>
            <a:endCxn id="44" idx="1"/>
          </p:cNvCxnSpPr>
          <p:nvPr/>
        </p:nvCxnSpPr>
        <p:spPr>
          <a:xfrm flipV="1">
            <a:off x="7397999" y="2780999"/>
            <a:ext cx="162001"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0" name="Flèche c6 vers c7"/>
          <p:cNvCxnSpPr>
            <a:stCxn id="44" idx="2"/>
            <a:endCxn id="45" idx="0"/>
          </p:cNvCxnSpPr>
          <p:nvPr/>
        </p:nvCxnSpPr>
        <p:spPr>
          <a:xfrm flipH="1">
            <a:off x="8172000" y="3041999"/>
            <a:ext cx="0" cy="396001"/>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1" name="Flèche c7 vers c8"/>
          <p:cNvCxnSpPr>
            <a:stCxn id="45" idx="3"/>
            <a:endCxn id="46" idx="1"/>
          </p:cNvCxnSpPr>
          <p:nvPr/>
        </p:nvCxnSpPr>
        <p:spPr>
          <a:xfrm flipV="1">
            <a:off x="8784000" y="3699000"/>
            <a:ext cx="162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2" name="Flèche c8 vers c9"/>
          <p:cNvCxnSpPr>
            <a:stCxn id="46" idx="0"/>
            <a:endCxn id="47" idx="2"/>
          </p:cNvCxnSpPr>
          <p:nvPr/>
        </p:nvCxnSpPr>
        <p:spPr>
          <a:xfrm flipH="1" flipV="1">
            <a:off x="9558000" y="3041999"/>
            <a:ext cx="0" cy="396001"/>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3" name="Flèche c8 vers c10"/>
          <p:cNvCxnSpPr>
            <a:stCxn id="46" idx="3"/>
            <a:endCxn id="48" idx="1"/>
          </p:cNvCxnSpPr>
          <p:nvPr/>
        </p:nvCxnSpPr>
        <p:spPr>
          <a:xfrm flipV="1">
            <a:off x="10170000" y="3699000"/>
            <a:ext cx="162000" cy="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4" name="Flèche c10 vers c11"/>
          <p:cNvCxnSpPr>
            <a:stCxn id="48" idx="2"/>
            <a:endCxn id="49" idx="0"/>
          </p:cNvCxnSpPr>
          <p:nvPr/>
        </p:nvCxnSpPr>
        <p:spPr>
          <a:xfrm flipH="1">
            <a:off x="10944000" y="3960000"/>
            <a:ext cx="0" cy="396000"/>
          </a:xfrm>
          <a:prstGeom prst="line">
            <a:avLst/>
          </a:prstGeom>
          <a:ln w="22225">
            <a:solidFill>
              <a:srgbClr val="53565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5" name="Flèche c7 vers a1"/>
          <p:cNvCxnSpPr>
            <a:stCxn id="45" idx="1"/>
            <a:endCxn id="50" idx="3"/>
          </p:cNvCxnSpPr>
          <p:nvPr/>
        </p:nvCxnSpPr>
        <p:spPr>
          <a:xfrm flipH="1" flipV="1">
            <a:off x="7397999" y="3699000"/>
            <a:ext cx="162001" cy="0"/>
          </a:xfrm>
          <a:prstGeom prst="line">
            <a:avLst/>
          </a:prstGeom>
          <a:ln w="22225">
            <a:solidFill>
              <a:srgbClr val="53565A"/>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66" name="Flèche c8 vers a2"/>
          <p:cNvCxnSpPr>
            <a:stCxn id="46" idx="2"/>
            <a:endCxn id="51" idx="0"/>
          </p:cNvCxnSpPr>
          <p:nvPr/>
        </p:nvCxnSpPr>
        <p:spPr>
          <a:xfrm flipH="1">
            <a:off x="9558000" y="3960000"/>
            <a:ext cx="0" cy="396000"/>
          </a:xfrm>
          <a:prstGeom prst="line">
            <a:avLst/>
          </a:prstGeom>
          <a:ln w="22225">
            <a:solidFill>
              <a:srgbClr val="53565A"/>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503999" y="5148000"/>
            <a:ext cx="11232000" cy="720000"/>
          </a:xfrm>
          <a:prstGeom prst="rect">
            <a:avLst/>
          </a:prstGeom>
          <a:noFill/>
        </p:spPr>
        <p:txBody>
          <a:bodyPr wrap="square" lIns="54000" rIns="54000"/>
          <a:lstStyle/>
          <a:p>
            <a:pPr algn="just">
              <a:spcAft>
                <a:spcPts val="600"/>
              </a:spcAft>
            </a:pPr>
            <a:r>
              <a:rPr sz="1200" b="1">
                <a:solidFill>
                  <a:srgbClr val="060606"/>
                </a:solidFill>
                <a:latin typeface="Helvetica"/>
              </a:rPr>
              <a:t>Seuls les retraités qui ont une quotité cessible suffisante sont prélevés, et la liste des autres n'a pas été transmise</a:t>
            </a:r>
            <a:r>
              <a:rPr sz="1200" b="0">
                <a:solidFill>
                  <a:srgbClr val="060606"/>
                </a:solidFill>
                <a:latin typeface="Helvetica"/>
              </a:rPr>
              <a:t> (constats 22.a, 27.b et 26.d).</a:t>
            </a:r>
          </a:p>
        </p:txBody>
      </p:sp>
      <p:sp>
        <p:nvSpPr>
          <p:cNvPr id="68" name="TextBox 67"/>
          <p:cNvSpPr txBox="1"/>
          <p:nvPr/>
        </p:nvSpPr>
        <p:spPr>
          <a:xfrm>
            <a:off x="367200" y="5932800"/>
            <a:ext cx="11430000" cy="237600"/>
          </a:xfrm>
          <a:prstGeom prst="rect">
            <a:avLst/>
          </a:prstGeom>
          <a:noFill/>
        </p:spPr>
        <p:txBody>
          <a:bodyPr wrap="square" anchor="b" lIns="54000" rIns="54000"/>
          <a:lstStyle/>
          <a:p>
            <a:pPr algn="l"/>
            <a:r>
              <a:rPr sz="700" b="0">
                <a:solidFill>
                  <a:srgbClr val="595959"/>
                </a:solidFill>
                <a:latin typeface="Helvetica"/>
              </a:rPr>
              <a:t>Sigles : FPPN : Fonds de prévoyance de la Police nationale | CGRAE : Caisse générale de retraite des agents de l'État</a:t>
            </a:r>
          </a:p>
        </p:txBody>
      </p:sp>
    </p:spTree>
    <p:extLst>
      <p:ext uri="{BB962C8B-B14F-4D97-AF65-F5344CB8AC3E}">
        <p14:creationId xmlns:p14="http://schemas.microsoft.com/office/powerpoint/2010/main" val="2317808962"/>
      </p:ext>
    </p:extLst>
  </p:cSld>
  <p:clrMapOvr>
    <a:masterClrMapping/>
  </p:clrMapOvr>
  <p:transition>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340667" y="-1240"/>
            <a:ext cx="6858000" cy="6858000"/>
          </a:xfrm>
          <a:prstGeom prst="rect">
            <a:avLst/>
          </a:prstGeom>
        </p:spPr>
      </p:pic>
      <p:sp>
        <p:nvSpPr>
          <p:cNvPr id="15" name="Rectangle 14"/>
          <p:cNvSpPr/>
          <p:nvPr/>
        </p:nvSpPr>
        <p:spPr>
          <a:xfrm>
            <a:off x="0" y="0"/>
            <a:ext cx="60452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CI" noProof="0"/>
          </a:p>
        </p:txBody>
      </p:sp>
      <p:pic>
        <p:nvPicPr>
          <p:cNvPr id="6" name="Image 5">
            <a:extLst>
              <a:ext uri="{FF2B5EF4-FFF2-40B4-BE49-F238E27FC236}">
                <a16:creationId xmlns:a16="http://schemas.microsoft.com/office/drawing/2014/main" id="{2C356854-0685-DCEF-E2F6-65D5E9653A4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25248" y="-135577"/>
            <a:ext cx="3261353" cy="1301437"/>
          </a:xfrm>
          <a:prstGeom prst="rect">
            <a:avLst/>
          </a:prstGeom>
        </p:spPr>
      </p:pic>
      <p:sp>
        <p:nvSpPr>
          <p:cNvPr id="14" name="ZoneTexte 13">
            <a:extLst>
              <a:ext uri="{FF2B5EF4-FFF2-40B4-BE49-F238E27FC236}">
                <a16:creationId xmlns:a16="http://schemas.microsoft.com/office/drawing/2014/main" id="{C6E7D94B-8E49-C846-A392-87DFA5EF4A9D}"/>
              </a:ext>
            </a:extLst>
          </p:cNvPr>
          <p:cNvSpPr txBox="1"/>
          <p:nvPr/>
        </p:nvSpPr>
        <p:spPr>
          <a:xfrm>
            <a:off x="456025" y="6300894"/>
            <a:ext cx="4653185" cy="338554"/>
          </a:xfrm>
          <a:prstGeom prst="rect">
            <a:avLst/>
          </a:prstGeom>
          <a:noFill/>
        </p:spPr>
        <p:txBody>
          <a:bodyPr wrap="square">
            <a:spAutoFit/>
          </a:bodyPr>
          <a:lstStyle/>
          <a:p>
            <a:r>
              <a:rPr lang="fr-CI" sz="1600" noProof="0">
                <a:solidFill>
                  <a:schemeClr val="bg1"/>
                </a:solidFill>
                <a:latin typeface="Helvetica" panose="020B0604020202020204" pitchFamily="34" charset="0"/>
                <a:cs typeface="Helvetica" panose="020B0604020202020204" pitchFamily="34" charset="0"/>
              </a:rPr>
              <a:t>Empreinte Africaine, Expertise Internationale</a:t>
            </a:r>
          </a:p>
        </p:txBody>
      </p:sp>
      <p:sp>
        <p:nvSpPr>
          <p:cNvPr id="13" name="Google Shape;138;p25"/>
          <p:cNvSpPr txBox="1"/>
          <p:nvPr/>
        </p:nvSpPr>
        <p:spPr>
          <a:xfrm>
            <a:off x="920037" y="3088600"/>
            <a:ext cx="5800971" cy="615553"/>
          </a:xfrm>
          <a:prstGeom prst="rect">
            <a:avLst/>
          </a:prstGeom>
          <a:noFill/>
          <a:ln>
            <a:noFill/>
          </a:ln>
        </p:spPr>
        <p:txBody>
          <a:bodyPr spcFirstLastPara="1" wrap="square" lIns="0" tIns="0" rIns="0" bIns="0" anchor="t" anchorCtr="0">
            <a:spAutoFit/>
          </a:bodyPr>
          <a:lstStyle/>
          <a:p>
            <a:r>
              <a:rPr lang="fr-CI" sz="4000" noProof="0">
                <a:solidFill>
                  <a:schemeClr val="bg1"/>
                </a:solidFill>
                <a:latin typeface="Helvetica" panose="020B0604020202020204" pitchFamily="34" charset="0"/>
                <a:cs typeface="Helvetica" panose="020B0604020202020204" pitchFamily="34" charset="0"/>
              </a:rPr>
              <a:t>Merci </a:t>
            </a:r>
          </a:p>
        </p:txBody>
      </p:sp>
    </p:spTree>
    <p:extLst>
      <p:ext uri="{BB962C8B-B14F-4D97-AF65-F5344CB8AC3E}">
        <p14:creationId xmlns:p14="http://schemas.microsoft.com/office/powerpoint/2010/main" val="211659023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2509</TotalTime>
  <Words>16641</Words>
  <Application>Microsoft Office PowerPoint</Application>
  <PresentationFormat>Grand écran</PresentationFormat>
  <Paragraphs>1935</Paragraphs>
  <Slides>26</Slides>
  <Notes>0</Notes>
  <HiddenSlides>0</HiddenSlides>
  <MMClips>0</MMClips>
  <ScaleCrop>false</ScaleCrop>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Adenka Consulting</dc:creator>
  <cp:lastModifiedBy>Adenka Consulting</cp:lastModifiedBy>
  <cp:revision>1</cp:revision>
  <dcterms:created xsi:type="dcterms:W3CDTF">2025-10-22T15:02:15Z</dcterms:created>
  <dcterms:modified xsi:type="dcterms:W3CDTF">2026-09-23T09:25:57Z</dcterms:modified>
  <dc:subject/>
  <cp:keywords/>
  <dc:description/>
</cp:coreProperties>
</file>