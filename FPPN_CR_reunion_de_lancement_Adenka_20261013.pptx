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3" r:id="rId7"/>
    <p:sldId id="317" r:id="rId13"/>
    <p:sldId id="325" r:id="rId25"/>
    <p:sldId id="404" r:id="rId124"/>
    <p:sldId id="271" r:id="rId29"/>
    <p:sldId id="330" r:id="rId41"/>
    <p:sldId id="405" r:id="rId125"/>
    <p:sldId id="406" r:id="rId126"/>
    <p:sldId id="320" r:id="rId23"/>
    <p:sldId id="407" r:id="rId127"/>
    <p:sldId id="408" r:id="rId128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7" Type="http://schemas.openxmlformats.org/officeDocument/2006/relationships/slide" Target="slides/slide2.xml"/><Relationship Id="rId13" Type="http://schemas.openxmlformats.org/officeDocument/2006/relationships/slide" Target="slides/slide3.xml"/><Relationship Id="rId23" Type="http://schemas.openxmlformats.org/officeDocument/2006/relationships/slide" Target="slides/slide10.xml"/><Relationship Id="rId25" Type="http://schemas.openxmlformats.org/officeDocument/2006/relationships/slide" Target="slides/slide4.xml"/><Relationship Id="rId29" Type="http://schemas.openxmlformats.org/officeDocument/2006/relationships/slide" Target="slides/slide6.xml"/><Relationship Id="rId41" Type="http://schemas.openxmlformats.org/officeDocument/2006/relationships/slide" Target="slides/slide7.xml"/><Relationship Id="rId112" Type="http://schemas.openxmlformats.org/officeDocument/2006/relationships/slide" Target="slides/slide13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5.xml"/><Relationship Id="rId125" Type="http://schemas.openxmlformats.org/officeDocument/2006/relationships/slide" Target="slides/slide8.xml"/><Relationship Id="rId126" Type="http://schemas.openxmlformats.org/officeDocument/2006/relationships/slide" Target="slides/slide9.xml"/><Relationship Id="rId127" Type="http://schemas.openxmlformats.org/officeDocument/2006/relationships/slide" Target="slides/slide11.xml"/><Relationship Id="rId128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18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18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18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10506325" y="6388244"/>
            <a:ext cx="1187835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13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307845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Audit FPPN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Réunion de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lancement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2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27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Réunion de lancement et participants</a:t>
            </a:r>
          </a:p>
        </p:txBody>
      </p:sp>
      <p:sp>
        <p:nvSpPr>
          <p:cNvPr id="28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Réunion de lancement tenue le 13 octobre 2026 avec la direction du FPPN</a:t>
            </a:r>
          </a:p>
        </p:txBody>
      </p:sp>
      <p:sp>
        <p:nvSpPr>
          <p:cNvPr id="29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34 minutes d'échanges, de 15h50 à 16h24, entre 11 responsables du FPPN et 6 membres de l'équipe Adenka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999" y="1386000"/>
            <a:ext cx="2682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99" y="1432800"/>
            <a:ext cx="2394000" cy="46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13 octobre 2026</a:t>
            </a:r>
          </a:p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Date de la réunion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0000" y="1386000"/>
            <a:ext cx="2682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000" y="1432800"/>
            <a:ext cx="2394000" cy="46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15h50 à 16h24</a:t>
            </a:r>
          </a:p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Horaires, soit 34 minutes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6000" y="1386000"/>
            <a:ext cx="2682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000" y="1432800"/>
            <a:ext cx="2394000" cy="46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17 participants</a:t>
            </a:r>
          </a:p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11 FPPN et 6 Adenka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2000" y="1386000"/>
            <a:ext cx="2682000" cy="5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6000" y="1432800"/>
            <a:ext cx="2394000" cy="46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Lancement</a:t>
            </a:r>
          </a:p>
          <a:p>
            <a:pPr algn="l"/>
            <a:r>
              <a:rPr sz="900" b="0">
                <a:solidFill>
                  <a:srgbClr val="53565A"/>
                </a:solidFill>
                <a:latin typeface="Helvetica"/>
              </a:rPr>
              <a:t>Mission d'audit 2020 au 31 août 2026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03999" y="2070000"/>
          <a:ext cx="11160000" cy="40319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92000"/>
                <a:gridCol w="3096000"/>
                <a:gridCol w="3384000"/>
                <a:gridCol w="2088000"/>
              </a:tblGrid>
              <a:tr h="201599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Nom et prénoms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Fonction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Email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11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Helvetica"/>
                        </a:rPr>
                        <a:t>Contact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112A40"/>
                    </a:solidFill>
                  </a:tcPr>
                </a:tc>
              </a:tr>
              <a:tr h="201599">
                <a:tc gridSpan="4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FPPN (11)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Timité Nomory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PCA du FPPN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tairtim@yahoo.fr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07 08 08 19 19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Coulibaly Kounvolo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Directeur général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ckounvolo2@yahoo.fr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01 01 29 07 32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Bamba Tiendoko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Conseiller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tbamba2020@gmail.com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07 08 28 22 64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Kouao Chiakou C.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Directeur, Grenier du Policier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Illisible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07 89 68 57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Grobri J. J.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Directeur administratif et financier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jjgrobri@gmail.com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07 07 70 10 07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Koffi Diby Clément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Chef comptable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clementkoffidiby@gmail.com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58 29 26 68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Diallo Wilfried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Responsable RH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wilfriediallo@gmail.com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01 03 46 65 73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Matoa Kiebe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Chef de service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mkiebe@yahoo.fr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01 01 31 73 61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Sangaré Mamadou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Conseiller juridique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Illisible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07 09 70 00 63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Soumahoro M.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Chef de département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Illisible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09 04 55 29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Attoumane Kouamé Régis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Chef de service informatique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regiskouame@gmail.com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01 72 23 88 71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 gridSpan="4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>Adenka (6)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60606"/>
                          </a:solidFill>
                          <a:latin typeface="Helvetica"/>
                        </a:rPr>
                        <a:t/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BBBCBC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Marc Wabi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Directeur général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marcwabi@adenka.ci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07 07 00 53 96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Inès Kwekam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Senior manager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ineskwekam@adenka.ci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13 02 20 14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Joël Kamin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Directeur juridique et fiscal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joelkamin@adenka.ci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07 59 59 20 36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Ruth Kouassi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Senior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ruthkouassi@adenka.ci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47 49 18 36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Jean-Noël Sialou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Consultant actuaire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jeannoelsialou@adenka.ci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07 59 09 56 17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Bamba Mamadi Issa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Senior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ima.bamba@adenka.ci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0606"/>
                          </a:solidFill>
                          <a:latin typeface="Helvetica"/>
                        </a:rPr>
                        <a:t>01 52 25 94 91 (?)</a:t>
                      </a:r>
                    </a:p>
                  </a:txBody>
                  <a:tcPr marL="72000" marR="36000" marT="7200" marB="7200" anchor="ctr">
                    <a:lnL w="6350">
                      <a:solidFill>
                        <a:srgbClr val="BBBCBC"/>
                      </a:solidFill>
                    </a:lnL>
                    <a:lnR w="6350">
                      <a:solidFill>
                        <a:srgbClr val="BBBCBC"/>
                      </a:solidFill>
                    </a:lnR>
                    <a:lnT w="6350">
                      <a:solidFill>
                        <a:srgbClr val="BBBCBC"/>
                      </a:solidFill>
                    </a:lnT>
                    <a:lnB w="6350">
                      <a:solidFill>
                        <a:srgbClr val="BBBCB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Adenka_Source"/>
          <p:cNvSpPr txBox="1"/>
          <p:nvPr/>
        </p:nvSpPr>
        <p:spPr>
          <a:xfrm>
            <a:off x="367200" y="6173999"/>
            <a:ext cx="11430000" cy="1836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Helvetica"/>
              </a:rPr>
              <a:t>Source : liste de présence signée du 13 octobre 2026. (?) : écriture manuscrite difficile à lire, à vérifier.</a:t>
            </a:r>
          </a:p>
        </p:txBody>
      </p:sp>
    </p:spTree>
    <p:extLst>
      <p:ext uri="{BB962C8B-B14F-4D97-AF65-F5344CB8AC3E}">
        <p14:creationId xmlns:p14="http://schemas.microsoft.com/office/powerpoint/2010/main" val="77577176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9" name="Google Shape;7386;p39"/>
          <p:cNvSpPr/>
          <p:nvPr/>
        </p:nvSpPr>
        <p:spPr>
          <a:xfrm rot="10800000">
            <a:off x="1686669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0" name="Google Shape;7367;p39"/>
          <p:cNvSpPr/>
          <p:nvPr/>
        </p:nvSpPr>
        <p:spPr>
          <a:xfrm rot="16200000">
            <a:off x="2328234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4" name="Rectangle 3"/>
          <p:cNvSpPr/>
          <p:nvPr/>
        </p:nvSpPr>
        <p:spPr>
          <a:xfrm>
            <a:off x="2929487" y="1853338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Message du Président</a:t>
            </a:r>
          </a:p>
        </p:txBody>
      </p:sp>
      <p:sp>
        <p:nvSpPr>
          <p:cNvPr id="13" name="Google Shape;7386;p39"/>
          <p:cNvSpPr/>
          <p:nvPr/>
        </p:nvSpPr>
        <p:spPr>
          <a:xfrm rot="10800000">
            <a:off x="6665593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EFAC62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4" name="Google Shape;7367;p39"/>
          <p:cNvSpPr/>
          <p:nvPr/>
        </p:nvSpPr>
        <p:spPr>
          <a:xfrm rot="16200000">
            <a:off x="7307158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7" name="Rectangle 16"/>
          <p:cNvSpPr/>
          <p:nvPr/>
        </p:nvSpPr>
        <p:spPr>
          <a:xfrm>
            <a:off x="7818980" y="1902791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Attentes d'Adenka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593DA389-08F4-31D9-6AB9-E96812D8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405" y="1867136"/>
            <a:ext cx="396525" cy="39652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60" y="1814991"/>
            <a:ext cx="486259" cy="49172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12412" y="2596068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Objectif de l'audit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Regard extérieur après six ans de gestion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Aucune recherche de coupable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Mieux servir les policiers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Engagements et contexte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Pleine disponibilité des équipes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Appui du Président en cas de blocage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Cabinet choisi sans son intervention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Régulateur récent, règles en évolution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1405" y="2576263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Délais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Forte sollicitation sur 30 jours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Remise rapide des documents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Points réguliers avec la direction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Méthode de travail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Remontée rapide des sujets sensibles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Informations justes, diagnostic juste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Rôle de conseil, travail commun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Relais du message aux équipes</a:t>
            </a:r>
          </a:p>
        </p:txBody>
      </p:sp>
      <p:sp>
        <p:nvSpPr>
          <p:cNvPr id="32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Ouverture de la réunion</a:t>
            </a:r>
          </a:p>
        </p:txBody>
      </p:sp>
      <p:sp>
        <p:nvSpPr>
          <p:cNvPr id="33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direction du FPPN soutient la mission et attend un regard extérieur</a:t>
            </a:r>
          </a:p>
        </p:txBody>
      </p:sp>
      <p:sp>
        <p:nvSpPr>
          <p:cNvPr id="34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Après 26 ans d'existence, le FPPN veut savoir ce qui fonctionne, ce qui fonctionne moins et comment progresser</a:t>
            </a:r>
          </a:p>
        </p:txBody>
      </p:sp>
    </p:spTree>
    <p:extLst>
      <p:ext uri="{BB962C8B-B14F-4D97-AF65-F5344CB8AC3E}">
        <p14:creationId xmlns:p14="http://schemas.microsoft.com/office/powerpoint/2010/main" val="39821679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1696495"/>
            <a:ext cx="561464" cy="561464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79" y="1762812"/>
            <a:ext cx="542282" cy="542282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3093364"/>
            <a:ext cx="698701" cy="706825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30" y="3093364"/>
            <a:ext cx="611431" cy="624722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4454973"/>
            <a:ext cx="678177" cy="678177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615" y="4594783"/>
            <a:ext cx="598246" cy="598246"/>
          </a:xfrm>
          <a:prstGeom prst="rect">
            <a:avLst/>
          </a:prstGeom>
        </p:spPr>
      </p:pic>
      <p:sp>
        <p:nvSpPr>
          <p:cNvPr id="17" name="TextBox 49"/>
          <p:cNvSpPr txBox="1"/>
          <p:nvPr/>
        </p:nvSpPr>
        <p:spPr>
          <a:xfrm>
            <a:off x="7085829" y="1404489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Contrôle interne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Évaluation des processus, matrice des constats hiérarchisés par impact et calendrier de correction.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TextBox 49"/>
          <p:cNvSpPr txBox="1"/>
          <p:nvPr/>
        </p:nvSpPr>
        <p:spPr>
          <a:xfrm>
            <a:off x="1932614" y="2848076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Équilibre financier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Ratios financiers et sectoriels. Équilibre entre cotisations, prestations, frais de gestion et engagements.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extBox 49"/>
          <p:cNvSpPr txBox="1"/>
          <p:nvPr/>
        </p:nvSpPr>
        <p:spPr>
          <a:xfrm>
            <a:off x="7085829" y="2818934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Conformité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Respect de la réglementation de la mutualité sociale, des statuts, des obligations fiscales et des conventions.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49"/>
          <p:cNvSpPr txBox="1"/>
          <p:nvPr/>
        </p:nvSpPr>
        <p:spPr>
          <a:xfrm>
            <a:off x="1932614" y="4227172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Qualité des dossiers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Qualité et traçabilité des dossiers, point signalé comme important dans les TDR.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TextBox 49"/>
          <p:cNvSpPr txBox="1"/>
          <p:nvPr/>
        </p:nvSpPr>
        <p:spPr>
          <a:xfrm>
            <a:off x="7085829" y="4198030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Plan d'action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Recommandations hiérarchisées pour tenir les promesses faites aux policiers et aux retraités.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TextBox 49"/>
          <p:cNvSpPr txBox="1"/>
          <p:nvPr/>
        </p:nvSpPr>
        <p:spPr>
          <a:xfrm>
            <a:off x="1932614" y="1433631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Opinion d'audit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Régularité, sincérité et image fidèle des comptes sur les six exercices audités.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Objet de la mission</a:t>
            </a:r>
          </a:p>
        </p:txBody>
      </p:sp>
      <p:sp>
        <p:nvSpPr>
          <p:cNvPr id="47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TDR demandent une opinion d'audit, un diagnostic et un plan d'action</a:t>
            </a:r>
          </a:p>
        </p:txBody>
      </p:sp>
      <p:sp>
        <p:nvSpPr>
          <p:cNvPr id="48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Six exercices et demi couverts, du 1er janvier 2020 au 31 août 2026, autour de trois enjeux : transparence, pérennité et conformité</a:t>
            </a:r>
          </a:p>
        </p:txBody>
      </p:sp>
    </p:spTree>
    <p:extLst>
      <p:ext uri="{BB962C8B-B14F-4D97-AF65-F5344CB8AC3E}">
        <p14:creationId xmlns:p14="http://schemas.microsoft.com/office/powerpoint/2010/main" val="33558344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1696495"/>
            <a:ext cx="561464" cy="561464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79" y="1762812"/>
            <a:ext cx="542282" cy="542282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3093364"/>
            <a:ext cx="698701" cy="706825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30" y="3093364"/>
            <a:ext cx="611431" cy="624722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4454973"/>
            <a:ext cx="678177" cy="678177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615" y="4594783"/>
            <a:ext cx="598246" cy="598246"/>
          </a:xfrm>
          <a:prstGeom prst="rect">
            <a:avLst/>
          </a:prstGeom>
        </p:spPr>
      </p:pic>
      <p:sp>
        <p:nvSpPr>
          <p:cNvPr id="17" name="TextBox 49"/>
          <p:cNvSpPr txBox="1"/>
          <p:nvPr/>
        </p:nvSpPr>
        <p:spPr>
          <a:xfrm>
            <a:off x="7085829" y="1404489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Décision de l'AIRMS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Indicateurs et ratios prudentiels : base de l'analyse de l'équilibre financier.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TextBox 49"/>
          <p:cNvSpPr txBox="1"/>
          <p:nvPr/>
        </p:nvSpPr>
        <p:spPr>
          <a:xfrm>
            <a:off x="1932614" y="2848076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Règlement n°07/2009/CM/UEMOA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Règles de fonctionnement des mutuelles sociales et règlements d'exécution.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extBox 49"/>
          <p:cNvSpPr txBox="1"/>
          <p:nvPr/>
        </p:nvSpPr>
        <p:spPr>
          <a:xfrm>
            <a:off x="7085829" y="2818934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SYSCOHADA révisé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Retenu s'il a été appliqué sur tout ou partie de la période.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49"/>
          <p:cNvSpPr txBox="1"/>
          <p:nvPr/>
        </p:nvSpPr>
        <p:spPr>
          <a:xfrm>
            <a:off x="1932614" y="4227172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Règlement n°03/2012/CM/UEMOA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Plan comptable des mutuelles sociales : référentiel des états financiers.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TextBox 49"/>
          <p:cNvSpPr txBox="1"/>
          <p:nvPr/>
        </p:nvSpPr>
        <p:spPr>
          <a:xfrm>
            <a:off x="7085829" y="4198030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Statuts, conventions, fiscalité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Statuts, règlement intérieur, conventions (CGRAE, partenaires), Code général des impôts, législation sociale.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TextBox 49"/>
          <p:cNvSpPr txBox="1"/>
          <p:nvPr/>
        </p:nvSpPr>
        <p:spPr>
          <a:xfrm>
            <a:off x="1932614" y="1433631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Normes ISA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Notamment ISA 240, 315, 330, 500 et 530 : démarche par les risques, contrôle interne, échantillonnage.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Référentiels de la mission</a:t>
            </a:r>
          </a:p>
        </p:txBody>
      </p:sp>
      <p:sp>
        <p:nvSpPr>
          <p:cNvPr id="47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L'audit applique les règles propres aux mutuelles sociales, pas le seul SYSCOHADA</a:t>
            </a:r>
          </a:p>
        </p:txBody>
      </p:sp>
      <p:sp>
        <p:nvSpPr>
          <p:cNvPr id="48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référentiel comptable réellement appliqué par le FPPN est vérifié année par année, avant tout test sur les comptes</a:t>
            </a:r>
          </a:p>
        </p:txBody>
      </p:sp>
    </p:spTree>
    <p:extLst>
      <p:ext uri="{BB962C8B-B14F-4D97-AF65-F5344CB8AC3E}">
        <p14:creationId xmlns:p14="http://schemas.microsoft.com/office/powerpoint/2010/main" val="222570175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graphicFrame>
        <p:nvGraphicFramePr>
          <p:cNvPr id="2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52352"/>
              </p:ext>
            </p:extLst>
          </p:nvPr>
        </p:nvGraphicFramePr>
        <p:xfrm>
          <a:off x="601313" y="1484490"/>
          <a:ext cx="11237975" cy="3228916"/>
        </p:xfrm>
        <a:graphic>
          <a:graphicData uri="http://schemas.openxmlformats.org/drawingml/2006/table">
            <a:tbl>
              <a:tblPr/>
              <a:tblGrid>
                <a:gridCol w="305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16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1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Phase</a:t>
                      </a:r>
                      <a:endParaRPr kumimoji="0" lang="fr-CI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Contenu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Livrable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Semaines (offre)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 Lancement et cadrage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Réunion de lancement, point focal, liste des documents, calendrier, modèles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Note de cadrage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S1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 Connaissance, contrôle interne et risques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Entretiens, PV, procédures, tests de cheminement, extraction des données, cartographie des risques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Plan de mission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S1 à S2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 Audit comptable et financier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de contrôles et tests substantifs par cycle et par exercice, analyse de données, circularisations, revue actuarielle, examens analytiques, social et fiscal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Constats documentés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S3 à S8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 Synthèse et rapport provisoire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Analyse financière, recommandations, déclarations de la direction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Rapport provisoire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S9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 Restitution et rapport définitif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Contradictoire, restitution, finalisation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Rapport définitif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S10</a:t>
                      </a:r>
                      <a:endParaRPr kumimoji="0" lang="fr-CI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86564" y="1456893"/>
            <a:ext cx="11237975" cy="45719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sp>
        <p:nvSpPr>
          <p:cNvPr id="2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Démarche en cinq phases</a:t>
            </a:r>
          </a:p>
        </p:txBody>
      </p:sp>
      <p:sp>
        <p:nvSpPr>
          <p:cNvPr id="2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L'offre prévoit cinq phases sur dix semaines, du cadrage au rapport définitif</a:t>
            </a:r>
          </a:p>
        </p:txBody>
      </p:sp>
      <p:sp>
        <p:nvSpPr>
          <p:cNvPr id="2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 réunion, le calendrier a été resserré : rapport provisoire le 25 novembre, rapport définitif avant le 30 novembre</a:t>
            </a:r>
          </a:p>
        </p:txBody>
      </p:sp>
    </p:spTree>
    <p:extLst>
      <p:ext uri="{BB962C8B-B14F-4D97-AF65-F5344CB8AC3E}">
        <p14:creationId xmlns:p14="http://schemas.microsoft.com/office/powerpoint/2010/main" val="280706062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5" name="Google Shape;7418;p41"/>
          <p:cNvSpPr/>
          <p:nvPr/>
        </p:nvSpPr>
        <p:spPr>
          <a:xfrm rot="21013821">
            <a:off x="6297998" y="4033104"/>
            <a:ext cx="1054440" cy="80836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Google Shape;7421;p41"/>
          <p:cNvSpPr/>
          <p:nvPr/>
        </p:nvSpPr>
        <p:spPr>
          <a:xfrm rot="356255">
            <a:off x="6295963" y="1764647"/>
            <a:ext cx="1054365" cy="808304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Google Shape;7424;p41"/>
          <p:cNvSpPr/>
          <p:nvPr/>
        </p:nvSpPr>
        <p:spPr>
          <a:xfrm rot="282502">
            <a:off x="1008889" y="4032906"/>
            <a:ext cx="1054406" cy="808335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Google Shape;7427;p41"/>
          <p:cNvSpPr/>
          <p:nvPr/>
        </p:nvSpPr>
        <p:spPr>
          <a:xfrm rot="21275242">
            <a:off x="1044421" y="1769072"/>
            <a:ext cx="1054398" cy="808329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Google Shape;7431;p41"/>
          <p:cNvSpPr txBox="1">
            <a:spLocks/>
          </p:cNvSpPr>
          <p:nvPr/>
        </p:nvSpPr>
        <p:spPr>
          <a:xfrm rot="21238167">
            <a:off x="1055515" y="1925819"/>
            <a:ext cx="961801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01</a:t>
            </a:r>
          </a:p>
        </p:txBody>
      </p:sp>
      <p:sp>
        <p:nvSpPr>
          <p:cNvPr id="48" name="Google Shape;7432;p41"/>
          <p:cNvSpPr txBox="1">
            <a:spLocks/>
          </p:cNvSpPr>
          <p:nvPr/>
        </p:nvSpPr>
        <p:spPr>
          <a:xfrm rot="395864">
            <a:off x="1055515" y="4170923"/>
            <a:ext cx="961801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02</a:t>
            </a:r>
          </a:p>
        </p:txBody>
      </p:sp>
      <p:sp>
        <p:nvSpPr>
          <p:cNvPr id="53" name="Google Shape;7437;p41"/>
          <p:cNvSpPr txBox="1">
            <a:spLocks/>
          </p:cNvSpPr>
          <p:nvPr/>
        </p:nvSpPr>
        <p:spPr>
          <a:xfrm rot="354388">
            <a:off x="6338696" y="1925819"/>
            <a:ext cx="970153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03</a:t>
            </a:r>
          </a:p>
        </p:txBody>
      </p:sp>
      <p:sp>
        <p:nvSpPr>
          <p:cNvPr id="54" name="Google Shape;7438;p41"/>
          <p:cNvSpPr txBox="1">
            <a:spLocks/>
          </p:cNvSpPr>
          <p:nvPr/>
        </p:nvSpPr>
        <p:spPr>
          <a:xfrm rot="21176429">
            <a:off x="6338696" y="4170923"/>
            <a:ext cx="970153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2337" y="135000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Comprendre et identifier les risques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Activités, organisation, systèmes et évolutions 2020-2026. Risques par cycle et par assertion, y compris la fraude (ISA 240).</a:t>
            </a:r>
            <a:endParaRPr lang="fr-CI" sz="1600" noProof="0"/>
          </a:p>
        </p:txBody>
      </p:sp>
      <p:sp>
        <p:nvSpPr>
          <p:cNvPr id="20" name="Rectangle 19"/>
          <p:cNvSpPr/>
          <p:nvPr/>
        </p:nvSpPr>
        <p:spPr>
          <a:xfrm>
            <a:off x="2312337" y="376985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Évaluer le contrôle interne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Documenter, tester le cheminement, évaluer la conception (ISA 315), tester l'efficacité (ISA 330). Note : fiable, partiel ou défaillant.</a:t>
            </a:r>
            <a:endParaRPr lang="fr-CI" sz="1600" noProof="0"/>
          </a:p>
        </p:txBody>
      </p:sp>
      <p:sp>
        <p:nvSpPr>
          <p:cNvPr id="22" name="Rectangle 21"/>
          <p:cNvSpPr/>
          <p:nvPr/>
        </p:nvSpPr>
        <p:spPr>
          <a:xfrm>
            <a:off x="7611772" y="135430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Calibrer les tests substantifs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Nature, étendue et calendrier fixés selon le risque résiduel et la note du contrôle interne.</a:t>
            </a:r>
            <a:endParaRPr lang="fr-CI" sz="1600" noProof="0"/>
          </a:p>
        </p:txBody>
      </p:sp>
      <p:sp>
        <p:nvSpPr>
          <p:cNvPr id="23" name="Rectangle 22"/>
          <p:cNvSpPr/>
          <p:nvPr/>
        </p:nvSpPr>
        <p:spPr>
          <a:xfrm>
            <a:off x="7611772" y="377415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Conclure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Opinion ou conclusion par exercice, recommandations hiérarchisées, alerte immédiate en cas de défaillance grave.</a:t>
            </a:r>
            <a:endParaRPr lang="fr-CI" sz="1600" noProof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5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Approche par les risques</a:t>
            </a:r>
          </a:p>
        </p:txBody>
      </p:sp>
      <p:sp>
        <p:nvSpPr>
          <p:cNvPr id="5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qualité du contrôle interne fixe l'étendue des tests sur pièces</a:t>
            </a:r>
          </a:p>
        </p:txBody>
      </p:sp>
      <p:sp>
        <p:nvSpPr>
          <p:cNvPr id="5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 contrôle interne est noté par cycle et par sous-période, car procédures et équipes ont pu changer en six ans</a:t>
            </a:r>
          </a:p>
        </p:txBody>
      </p:sp>
    </p:spTree>
    <p:extLst>
      <p:ext uri="{BB962C8B-B14F-4D97-AF65-F5344CB8AC3E}">
        <p14:creationId xmlns:p14="http://schemas.microsoft.com/office/powerpoint/2010/main" val="21377186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graphicFrame>
        <p:nvGraphicFramePr>
          <p:cNvPr id="2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52352"/>
              </p:ext>
            </p:extLst>
          </p:nvPr>
        </p:nvGraphicFramePr>
        <p:xfrm>
          <a:off x="601313" y="1484490"/>
          <a:ext cx="11237975" cy="3246909"/>
        </p:xfrm>
        <a:graphic>
          <a:graphicData uri="http://schemas.openxmlformats.org/drawingml/2006/table">
            <a:tbl>
              <a:tblPr/>
              <a:tblGrid>
                <a:gridCol w="305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16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1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Critère</a:t>
                      </a:r>
                      <a:endParaRPr kumimoji="0" lang="fr-CI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Contrôle interne fiable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Contrôle interne partiel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Contrôle interne défaillant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Risque fort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standards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étendus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étendus +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Risque moyen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ciblés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standards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étendus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Risque faible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Procédures analytiques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ciblés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standards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Nature des tests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Procédures analytiques et tests de détail ciblés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de détail sur échantillon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de détail renforcés, confirmations externes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Étendue indicative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Environ 25 éléments par cycle et par exercice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Environ 40 éléments par cycle et par exercice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étendus, exhaustifs sur les montants significatifs</a:t>
                      </a:r>
                      <a:endParaRPr kumimoji="0" lang="fr-CI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Calendrier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possibles en cours de période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concentrés sur les clôtures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Clôtures et toute la période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Seuil de test exhaustif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Au-delà du seuil de signification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Au-delà de 50 % du seuil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Au-delà de 25 % du seuil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86564" y="1456893"/>
            <a:ext cx="11237975" cy="45719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sp>
        <p:nvSpPr>
          <p:cNvPr id="2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Étendue des tests</a:t>
            </a:r>
          </a:p>
        </p:txBody>
      </p:sp>
      <p:sp>
        <p:nvSpPr>
          <p:cNvPr id="2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Plus le risque est fort et le contrôle faible, plus les tests sont étendus</a:t>
            </a:r>
          </a:p>
        </p:txBody>
      </p:sp>
      <p:sp>
        <p:nvSpPr>
          <p:cNvPr id="2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Dans tous les cas, 100 % des écritures sont analysées et les risques significatifs font l'objet de tests de détail</a:t>
            </a:r>
          </a:p>
        </p:txBody>
      </p:sp>
    </p:spTree>
    <p:extLst>
      <p:ext uri="{BB962C8B-B14F-4D97-AF65-F5344CB8AC3E}">
        <p14:creationId xmlns:p14="http://schemas.microsoft.com/office/powerpoint/2010/main" val="26408235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graphicFrame>
        <p:nvGraphicFramePr>
          <p:cNvPr id="2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52352"/>
              </p:ext>
            </p:extLst>
          </p:nvPr>
        </p:nvGraphicFramePr>
        <p:xfrm>
          <a:off x="601313" y="1484490"/>
          <a:ext cx="11237975" cy="3372910"/>
        </p:xfrm>
        <a:graphic>
          <a:graphicData uri="http://schemas.openxmlformats.org/drawingml/2006/table">
            <a:tbl>
              <a:tblPr/>
              <a:tblGrid>
                <a:gridCol w="305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16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1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Cycle</a:t>
                      </a:r>
                      <a:endParaRPr kumimoji="0" lang="fr-CI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Contrôle clé attendu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 du contrôle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 le contrôle est défaillant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Cotisations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Rapprochement mensuel précompte, encaissements et comptabilité, revu et signé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Réexécution d'un échantillon de rapprochements par exercice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Rapprochement exhaustif des 12 mois de chaque exercice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Prestations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Dossier complet et validé par deux personnes avant paiement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Inspection de dossiers payés : pièces, visas, barème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Échantillon élargi, analyse des paiements, confirmations de bénéficiaires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Crédits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Décision du comité, plafonds respectés, remboursement par retenue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Revue des PV du comité, test des plafonds sur échantillon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Revue de tous les encours significatifs, confirmations d'emprunteurs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Trésorerie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Double signature, rapprochements bancaires mensuels revus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Inspection des rapprochements et des ordres de paiement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Rapprochements refaits, tests étendus des décaissements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Achats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Mise en concurrence, service fait avant tout paiement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Revue des dossiers d'achat sur échantillon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 exhaustif au-delà d'un seuil, circularisation élargie</a:t>
                      </a:r>
                      <a:endParaRPr kumimoji="0" lang="fr-CI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Clôture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Revue et approbation des écritures manuelles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Inspection des écritures de fin d'exercice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Tests des écritures de journal élargis à toute l'année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86564" y="1456893"/>
            <a:ext cx="11237975" cy="45719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sp>
        <p:nvSpPr>
          <p:cNvPr id="2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Contrôles clés par cycle</a:t>
            </a:r>
          </a:p>
        </p:txBody>
      </p:sp>
      <p:sp>
        <p:nvSpPr>
          <p:cNvPr id="2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Chaque contrôle défaillant déclenche des tests renforcés sur le cycle</a:t>
            </a:r>
          </a:p>
        </p:txBody>
      </p:sp>
      <p:sp>
        <p:nvSpPr>
          <p:cNvPr id="2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Six cycles testés : cotisations, prestations, crédits, trésorerie, achats et clôture des comptes</a:t>
            </a:r>
          </a:p>
        </p:txBody>
      </p:sp>
    </p:spTree>
    <p:extLst>
      <p:ext uri="{BB962C8B-B14F-4D97-AF65-F5344CB8AC3E}">
        <p14:creationId xmlns:p14="http://schemas.microsoft.com/office/powerpoint/2010/main" val="348008671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8" name="Google Shape;310;p43"/>
          <p:cNvSpPr txBox="1">
            <a:spLocks/>
          </p:cNvSpPr>
          <p:nvPr/>
        </p:nvSpPr>
        <p:spPr>
          <a:xfrm>
            <a:off x="3029407" y="1474720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Analyse de données</a:t>
            </a:r>
          </a:p>
        </p:txBody>
      </p:sp>
      <p:pic>
        <p:nvPicPr>
          <p:cNvPr id="59" name="Image 5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095" y="1350000"/>
            <a:ext cx="318216" cy="31821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5" y="1351707"/>
            <a:ext cx="342732" cy="342732"/>
          </a:xfrm>
          <a:prstGeom prst="rect">
            <a:avLst/>
          </a:prstGeom>
        </p:spPr>
      </p:pic>
      <p:sp>
        <p:nvSpPr>
          <p:cNvPr id="14" name="Google Shape;310;p43"/>
          <p:cNvSpPr txBox="1">
            <a:spLocks/>
          </p:cNvSpPr>
          <p:nvPr/>
        </p:nvSpPr>
        <p:spPr>
          <a:xfrm>
            <a:off x="7040981" y="1474720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Risques ISA 240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9942" y="2197866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Deux risques présumés : contournement des contrôles par la direction et fraude dans la comptabilisation des produits. Réponse : entretiens et revue des contrôles.</a:t>
            </a:r>
            <a:endParaRPr lang="fr-CI" sz="1200" noProof="0"/>
          </a:p>
        </p:txBody>
      </p:sp>
      <p:sp>
        <p:nvSpPr>
          <p:cNvPr id="23" name="Google Shape;310;p43"/>
          <p:cNvSpPr txBox="1">
            <a:spLocks/>
          </p:cNvSpPr>
          <p:nvPr/>
        </p:nvSpPr>
        <p:spPr>
          <a:xfrm>
            <a:off x="3029407" y="3965821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Informatique et ratios</a:t>
            </a:r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156" y="3813457"/>
            <a:ext cx="318092" cy="32179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571" y="3799713"/>
            <a:ext cx="335439" cy="342731"/>
          </a:xfrm>
          <a:prstGeom prst="rect">
            <a:avLst/>
          </a:prstGeom>
        </p:spPr>
      </p:pic>
      <p:sp>
        <p:nvSpPr>
          <p:cNvPr id="28" name="Google Shape;310;p43"/>
          <p:cNvSpPr txBox="1">
            <a:spLocks/>
          </p:cNvSpPr>
          <p:nvPr/>
        </p:nvSpPr>
        <p:spPr>
          <a:xfrm>
            <a:off x="7040981" y="3965821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Participants et équipe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2525" y="4622972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Audit des accès, des changements, de l'exploitation et des contrôles applicatifs. Analyse des ratios prudentiels exigés par l'AIRMS.</a:t>
            </a:r>
            <a:endParaRPr lang="fr-CI" sz="1200" noProof="0"/>
          </a:p>
        </p:txBody>
      </p:sp>
      <p:sp>
        <p:nvSpPr>
          <p:cNvPr id="30" name="Rectangle 29"/>
          <p:cNvSpPr/>
          <p:nvPr/>
        </p:nvSpPr>
        <p:spPr>
          <a:xfrm>
            <a:off x="6449942" y="4654491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FPPN : 11 participants, dont le PCA, le DG, le DAF et le chef comptable. Adenka : Marc Wabi (DG), Inès Kwekam (senior manager), P.-A. Dagry (revue qualité), Joël Kamin (juridique et fiscal), J.-N. Sialou (actuaire).</a:t>
            </a:r>
            <a:endParaRPr lang="fr-CI" sz="1200" noProof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56" y="1945889"/>
            <a:ext cx="3279277" cy="1695649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2" y="1945889"/>
            <a:ext cx="3279277" cy="1695649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1" y="4410448"/>
            <a:ext cx="3279277" cy="1695649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55" y="4424350"/>
            <a:ext cx="3279277" cy="169564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619203" y="2203649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Analyse de 100 % des écritures et tests des écritures de journal (ISA 240), quel que soit le contrôle interne, par l'expert data et systèmes d'information.</a:t>
            </a:r>
            <a:endParaRPr lang="fr-CI" sz="1200" noProof="0"/>
          </a:p>
        </p:txBody>
      </p:sp>
      <p:sp>
        <p:nvSpPr>
          <p:cNvPr id="60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Approche et équipe</a:t>
            </a:r>
          </a:p>
        </p:txBody>
      </p:sp>
      <p:sp>
        <p:nvSpPr>
          <p:cNvPr id="61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L'audit s'appuie sur l'analyse de données et des expertises techniques</a:t>
            </a:r>
          </a:p>
        </p:txBody>
      </p:sp>
      <p:sp>
        <p:nvSpPr>
          <p:cNvPr id="62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Environ 24 intervenants en quatre pôles, dont un actuaire, un expert des systèmes d'information et un expert financier</a:t>
            </a:r>
          </a:p>
        </p:txBody>
      </p:sp>
    </p:spTree>
    <p:extLst>
      <p:ext uri="{BB962C8B-B14F-4D97-AF65-F5344CB8AC3E}">
        <p14:creationId xmlns:p14="http://schemas.microsoft.com/office/powerpoint/2010/main" val="49501797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9" name="Google Shape;7386;p39"/>
          <p:cNvSpPr/>
          <p:nvPr/>
        </p:nvSpPr>
        <p:spPr>
          <a:xfrm rot="10800000">
            <a:off x="1686669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0" name="Google Shape;7367;p39"/>
          <p:cNvSpPr/>
          <p:nvPr/>
        </p:nvSpPr>
        <p:spPr>
          <a:xfrm rot="16200000">
            <a:off x="2328234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4" name="Rectangle 3"/>
          <p:cNvSpPr/>
          <p:nvPr/>
        </p:nvSpPr>
        <p:spPr>
          <a:xfrm>
            <a:off x="2929487" y="1853338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Travaux engagés</a:t>
            </a:r>
          </a:p>
        </p:txBody>
      </p:sp>
      <p:sp>
        <p:nvSpPr>
          <p:cNvPr id="13" name="Google Shape;7386;p39"/>
          <p:cNvSpPr/>
          <p:nvPr/>
        </p:nvSpPr>
        <p:spPr>
          <a:xfrm rot="10800000">
            <a:off x="6665593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EFAC62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4" name="Google Shape;7367;p39"/>
          <p:cNvSpPr/>
          <p:nvPr/>
        </p:nvSpPr>
        <p:spPr>
          <a:xfrm rot="16200000">
            <a:off x="7307158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7" name="Rectangle 16"/>
          <p:cNvSpPr/>
          <p:nvPr/>
        </p:nvSpPr>
        <p:spPr>
          <a:xfrm>
            <a:off x="7818980" y="1902791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Risques préliminaires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593DA389-08F4-31D9-6AB9-E96812D8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405" y="1867136"/>
            <a:ext cx="396525" cy="39652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60" y="1814991"/>
            <a:ext cx="486259" cy="49172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12412" y="2596068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Dès le démarrage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Provisions mathématiques, sinistres, ratios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Digitalisation : crédits et cotisations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Prestations et grands ratios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Ensuite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Frais généraux et investissements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Comparaison avec le Fonds militaire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Offre mutualiste au regard des statuts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Potentiel non exploité par le FPPN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1405" y="2576263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Cartographie à affiner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Cotisations et prestations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Engagements et crédits aux adhérents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Paiement des adhérents et trésorerie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Cycles des entretiens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Cotisations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Prestations et sinistres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Placements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Frais généraux</a:t>
            </a:r>
          </a:p>
        </p:txBody>
      </p:sp>
      <p:sp>
        <p:nvSpPr>
          <p:cNvPr id="32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Travaux prioritaires</a:t>
            </a:r>
          </a:p>
        </p:txBody>
      </p:sp>
      <p:sp>
        <p:nvSpPr>
          <p:cNvPr id="33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Provisions, sinistres et ratios sont traités dès le début de la mission</a:t>
            </a:r>
          </a:p>
        </p:txBody>
      </p:sp>
      <p:sp>
        <p:nvSpPr>
          <p:cNvPr id="34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premiers enseignements doivent remonter dès la semaine suivante, et la cartographie des risques sera affinée après les entretiens</a:t>
            </a:r>
          </a:p>
        </p:txBody>
      </p:sp>
    </p:spTree>
    <p:extLst>
      <p:ext uri="{BB962C8B-B14F-4D97-AF65-F5344CB8AC3E}">
        <p14:creationId xmlns:p14="http://schemas.microsoft.com/office/powerpoint/2010/main" val="97926729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graphicFrame>
        <p:nvGraphicFramePr>
          <p:cNvPr id="2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52352"/>
              </p:ext>
            </p:extLst>
          </p:nvPr>
        </p:nvGraphicFramePr>
        <p:xfrm>
          <a:off x="601313" y="1484490"/>
          <a:ext cx="11237975" cy="3660908"/>
        </p:xfrm>
        <a:graphic>
          <a:graphicData uri="http://schemas.openxmlformats.org/drawingml/2006/table">
            <a:tbl>
              <a:tblPr/>
              <a:tblGrid>
                <a:gridCol w="305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16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1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Sujet</a:t>
                      </a:r>
                      <a:endParaRPr kumimoji="0" lang="fr-CI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Action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Responsable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Échéance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 marL="9144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Organigramme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Transmettre l'organigramme pour cibler les entretiens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Dès que possible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Entretiens et documents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Envoyer la liste des personnes à rencontrer et des documents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Immédiat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Points focaux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Désigner les interlocuteurs de la mission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À confirmer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Entretiens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 à 60 minutes par responsable, par cycle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 et 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Jeudi et vendredi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Plateforme et accès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Plateforme documentaire, accès en lecture à la base des adhérents, Internet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 et 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À confirmer</a:t>
                      </a:r>
                      <a:endParaRPr kumimoji="0" lang="fr-CI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Salle de travail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Salle fermée à clé mise à disposition, documents en partie sur papier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Fait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Situation au 31/08/2026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Produire la situation comptable intermédiaire arrêtée au 31/08/2026, prérequis du calendrier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Semaine 3 (offre)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Données actuarielles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lvl="0" algn="l" defTabSz="684213" rtl="0" eaLnBrk="0" fontAlgn="base" latinLnBrk="0" hangingPunct="0" marL="0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Fichiers par adhérent : épargne, prestations, cotisations</a:t>
                      </a: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Fin octobre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 marL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86564" y="1456893"/>
            <a:ext cx="11237975" cy="45719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sp>
        <p:nvSpPr>
          <p:cNvPr id="2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Organisation et prochaines étapes</a:t>
            </a:r>
          </a:p>
        </p:txBody>
      </p:sp>
      <p:sp>
        <p:nvSpPr>
          <p:cNvPr id="2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démarrage dépend des points focaux, des accès et des données</a:t>
            </a:r>
          </a:p>
        </p:txBody>
      </p:sp>
      <p:sp>
        <p:nvSpPr>
          <p:cNvPr id="2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Entretiens dès jeudi et vendredi, et données à recevoir au plus tôt pour tenir l'échéance du 25 novembre</a:t>
            </a:r>
          </a:p>
        </p:txBody>
      </p:sp>
    </p:spTree>
    <p:extLst>
      <p:ext uri="{BB962C8B-B14F-4D97-AF65-F5344CB8AC3E}">
        <p14:creationId xmlns:p14="http://schemas.microsoft.com/office/powerpoint/2010/main" val="19795851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13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