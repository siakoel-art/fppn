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5" r:id="rId2"/>
  </p:sldMasterIdLst>
  <p:notesMasterIdLst>
    <p:notesMasterId r:id="rId117"/>
  </p:notesMasterIdLst>
  <p:sldIdLst>
    <p:sldId id="256" r:id="rId3"/>
    <p:sldId id="317" r:id="rId13"/>
    <p:sldId id="404" r:id="rId124"/>
    <p:sldId id="325" r:id="rId25"/>
    <p:sldId id="405" r:id="rId125"/>
    <p:sldId id="271" r:id="rId29"/>
    <p:sldId id="330" r:id="rId41"/>
    <p:sldId id="406" r:id="rId126"/>
    <p:sldId id="407" r:id="rId127"/>
    <p:sldId id="320" r:id="rId23"/>
    <p:sldId id="408" r:id="rId128"/>
    <p:sldId id="409" r:id="rId129"/>
    <p:sldId id="328" r:id="rId1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uverture" id="{9C8FC9B7-AD45-409C-8017-02DEBDF9C938}">
          <p14:sldIdLst>
            <p14:sldId id="256"/>
          </p14:sldIdLst>
        </p14:section>
        <p14:section name="Contenu" id="{41430ABC-712C-4A41-8691-5284113E2CD9}">
          <p14:sldIdLst>
            <p14:sldId id="260"/>
            <p14:sldId id="261"/>
            <p14:sldId id="310"/>
            <p14:sldId id="313"/>
            <p14:sldId id="403"/>
            <p14:sldId id="402"/>
            <p14:sldId id="291"/>
            <p14:sldId id="312"/>
            <p14:sldId id="314"/>
            <p14:sldId id="317"/>
            <p14:sldId id="315"/>
            <p14:sldId id="316"/>
            <p14:sldId id="323"/>
            <p14:sldId id="324"/>
            <p14:sldId id="321"/>
            <p14:sldId id="322"/>
            <p14:sldId id="264"/>
            <p14:sldId id="318"/>
            <p14:sldId id="319"/>
            <p14:sldId id="320"/>
            <p14:sldId id="326"/>
            <p14:sldId id="325"/>
            <p14:sldId id="266"/>
            <p14:sldId id="327"/>
            <p14:sldId id="268"/>
            <p14:sldId id="271"/>
            <p14:sldId id="287"/>
            <p14:sldId id="329"/>
            <p14:sldId id="398"/>
            <p14:sldId id="399"/>
            <p14:sldId id="391"/>
            <p14:sldId id="397"/>
            <p14:sldId id="395"/>
            <p14:sldId id="396"/>
            <p14:sldId id="393"/>
            <p14:sldId id="392"/>
            <p14:sldId id="270"/>
            <p14:sldId id="330"/>
            <p14:sldId id="331"/>
            <p14:sldId id="332"/>
            <p14:sldId id="272"/>
            <p14:sldId id="333"/>
            <p14:sldId id="289"/>
            <p14:sldId id="334"/>
            <p14:sldId id="277"/>
            <p14:sldId id="278"/>
            <p14:sldId id="274"/>
            <p14:sldId id="335"/>
            <p14:sldId id="336"/>
            <p14:sldId id="348"/>
            <p14:sldId id="341"/>
            <p14:sldId id="349"/>
            <p14:sldId id="342"/>
            <p14:sldId id="350"/>
            <p14:sldId id="343"/>
            <p14:sldId id="351"/>
            <p14:sldId id="344"/>
            <p14:sldId id="352"/>
            <p14:sldId id="345"/>
            <p14:sldId id="353"/>
            <p14:sldId id="346"/>
            <p14:sldId id="354"/>
            <p14:sldId id="347"/>
            <p14:sldId id="355"/>
            <p14:sldId id="338"/>
            <p14:sldId id="356"/>
            <p14:sldId id="337"/>
            <p14:sldId id="357"/>
            <p14:sldId id="276"/>
            <p14:sldId id="358"/>
            <p14:sldId id="339"/>
            <p14:sldId id="359"/>
            <p14:sldId id="381"/>
            <p14:sldId id="385"/>
            <p14:sldId id="382"/>
            <p14:sldId id="400"/>
            <p14:sldId id="294"/>
            <p14:sldId id="360"/>
            <p14:sldId id="285"/>
            <p14:sldId id="286"/>
            <p14:sldId id="299"/>
            <p14:sldId id="361"/>
            <p14:sldId id="362"/>
            <p14:sldId id="283"/>
            <p14:sldId id="297"/>
            <p14:sldId id="365"/>
            <p14:sldId id="364"/>
            <p14:sldId id="363"/>
            <p14:sldId id="366"/>
            <p14:sldId id="367"/>
            <p14:sldId id="368"/>
            <p14:sldId id="370"/>
            <p14:sldId id="374"/>
            <p14:sldId id="375"/>
          </p14:sldIdLst>
        </p14:section>
        <p14:section name="Graphs" id="{551B27DB-FB3B-4066-9154-1B46F0A65216}">
          <p14:sldIdLst>
            <p14:sldId id="301"/>
            <p14:sldId id="304"/>
            <p14:sldId id="303"/>
            <p14:sldId id="302"/>
            <p14:sldId id="305"/>
            <p14:sldId id="306"/>
            <p14:sldId id="378"/>
            <p14:sldId id="376"/>
            <p14:sldId id="379"/>
            <p14:sldId id="388"/>
            <p14:sldId id="307"/>
            <p14:sldId id="369"/>
            <p14:sldId id="389"/>
            <p14:sldId id="390"/>
          </p14:sldIdLst>
        </p14:section>
        <p14:section name="Merci" id="{DE1A67E5-D1FE-41AF-88BB-A85595BA690B}">
          <p14:sldIdLst>
            <p14:sldId id="328"/>
          </p14:sldIdLst>
        </p14:section>
        <p14:section name="Symboles" id="{49175908-295D-4406-8512-BB62EA88444D}">
          <p14:sldIdLst>
            <p14:sldId id="371"/>
            <p14:sldId id="373"/>
            <p14:sldId id="40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AC62"/>
    <a:srgbClr val="060606"/>
    <a:srgbClr val="112A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4BD68B-DEB5-4C72-B758-AA0E2A02C403}" v="4" dt="2026-09-23T09:25:47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3" Type="http://schemas.openxmlformats.org/officeDocument/2006/relationships/slide" Target="slides/slide2.xml"/><Relationship Id="rId23" Type="http://schemas.openxmlformats.org/officeDocument/2006/relationships/slide" Target="slides/slide10.xml"/><Relationship Id="rId25" Type="http://schemas.openxmlformats.org/officeDocument/2006/relationships/slide" Target="slides/slide4.xml"/><Relationship Id="rId29" Type="http://schemas.openxmlformats.org/officeDocument/2006/relationships/slide" Target="slides/slide6.xml"/><Relationship Id="rId41" Type="http://schemas.openxmlformats.org/officeDocument/2006/relationships/slide" Target="slides/slide7.xml"/><Relationship Id="rId112" Type="http://schemas.openxmlformats.org/officeDocument/2006/relationships/slide" Target="slides/slide13.xml"/><Relationship Id="rId117" Type="http://schemas.openxmlformats.org/officeDocument/2006/relationships/notesMaster" Target="notesMasters/notesMaster1.xml"/><Relationship Id="rId118" Type="http://schemas.openxmlformats.org/officeDocument/2006/relationships/presProps" Target="presProps.xml"/><Relationship Id="rId119" Type="http://schemas.openxmlformats.org/officeDocument/2006/relationships/viewProps" Target="viewProps.xml"/><Relationship Id="rId120" Type="http://schemas.openxmlformats.org/officeDocument/2006/relationships/theme" Target="theme/theme1.xml"/><Relationship Id="rId121" Type="http://schemas.openxmlformats.org/officeDocument/2006/relationships/tableStyles" Target="tableStyles.xml"/><Relationship Id="rId122" Type="http://schemas.microsoft.com/office/2016/11/relationships/changesInfo" Target="changesInfos/changesInfo1.xml"/><Relationship Id="rId123" Type="http://schemas.microsoft.com/office/2015/10/relationships/revisionInfo" Target="revisionInfo.xml"/><Relationship Id="rId124" Type="http://schemas.openxmlformats.org/officeDocument/2006/relationships/slide" Target="slides/slide3.xml"/><Relationship Id="rId125" Type="http://schemas.openxmlformats.org/officeDocument/2006/relationships/slide" Target="slides/slide5.xml"/><Relationship Id="rId126" Type="http://schemas.openxmlformats.org/officeDocument/2006/relationships/slide" Target="slides/slide8.xml"/><Relationship Id="rId127" Type="http://schemas.openxmlformats.org/officeDocument/2006/relationships/slide" Target="slides/slide9.xml"/><Relationship Id="rId128" Type="http://schemas.openxmlformats.org/officeDocument/2006/relationships/slide" Target="slides/slide11.xml"/><Relationship Id="rId129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Noel Sialou" userId="08acc5d2-3819-4be4-97e6-d593a92e8e16" providerId="ADAL" clId="{DC5A2AD4-2AC1-4F5C-A6BF-541681F7EFA2}"/>
    <pc:docChg chg="undo custSel modSld">
      <pc:chgData name="Jean-Noel Sialou" userId="08acc5d2-3819-4be4-97e6-d593a92e8e16" providerId="ADAL" clId="{DC5A2AD4-2AC1-4F5C-A6BF-541681F7EFA2}" dt="2026-09-07T10:18:25.187" v="38" actId="571"/>
      <pc:docMkLst>
        <pc:docMk/>
      </pc:docMkLst>
      <pc:sldChg chg="addSp delSp modSp mod">
        <pc:chgData name="Jean-Noel Sialou" userId="08acc5d2-3819-4be4-97e6-d593a92e8e16" providerId="ADAL" clId="{DC5A2AD4-2AC1-4F5C-A6BF-541681F7EFA2}" dt="2026-09-07T10:18:25.187" v="38" actId="571"/>
        <pc:sldMkLst>
          <pc:docMk/>
          <pc:sldMk cId="2102837376" sldId="358"/>
        </pc:sldMkLst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8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9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1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4" creationId="{00000000-0000-0000-0000-000000000000}"/>
          </ac:spMkLst>
        </pc:s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3" creationId="{C9290073-F4B9-4E89-EC47-0D4815D405F9}"/>
          </ac:grpSpMkLst>
        </pc:gr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7" creationId="{D520CB44-6CB8-26BA-C481-1E6C90DCE023}"/>
          </ac:grpSpMkLst>
        </pc:grpChg>
        <pc:picChg chg="add 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5" creationId="{A59C829E-ED12-0019-96D2-4C72AF995693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31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47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0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4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65" creationId="{00000000-0000-0000-0000-000000000000}"/>
          </ac:picMkLst>
        </pc:picChg>
      </pc:sldChg>
    </pc:docChg>
  </pc:docChgLst>
  <pc:docChgLst>
    <pc:chgData name="Jean-Noel Sialou" userId="08acc5d2-3819-4be4-97e6-d593a92e8e16" providerId="ADAL" clId="{3E2E487B-B21A-43C3-A4E4-C31B8823D31F}"/>
    <pc:docChg chg="modSld">
      <pc:chgData name="Jean-Noel Sialou" userId="08acc5d2-3819-4be4-97e6-d593a92e8e16" providerId="ADAL" clId="{3E2E487B-B21A-43C3-A4E4-C31B8823D31F}" dt="2026-09-23T09:25:47.775" v="6" actId="164"/>
      <pc:docMkLst>
        <pc:docMk/>
      </pc:docMkLst>
      <pc:sldChg chg="modSp mod modAnim">
        <pc:chgData name="Jean-Noel Sialou" userId="08acc5d2-3819-4be4-97e6-d593a92e8e16" providerId="ADAL" clId="{3E2E487B-B21A-43C3-A4E4-C31B8823D31F}" dt="2026-09-15T10:14:35.637" v="5" actId="208"/>
        <pc:sldMkLst>
          <pc:docMk/>
          <pc:sldMk cId="2102837376" sldId="358"/>
        </pc:sldMkLst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1" creationId="{00000000-0000-0000-0000-000000000000}"/>
          </ac:spMkLst>
        </pc:spChg>
        <pc:grpChg chg="mod">
          <ac:chgData name="Jean-Noel Sialou" userId="08acc5d2-3819-4be4-97e6-d593a92e8e16" providerId="ADAL" clId="{3E2E487B-B21A-43C3-A4E4-C31B8823D31F}" dt="2026-09-15T10:14:06.017" v="1" actId="1076"/>
          <ac:grpSpMkLst>
            <pc:docMk/>
            <pc:sldMk cId="2102837376" sldId="358"/>
            <ac:grpSpMk id="7" creationId="{D520CB44-6CB8-26BA-C481-1E6C90DCE023}"/>
          </ac:grpSpMkLst>
        </pc:grpChg>
        <pc:cxnChg chg="mod">
          <ac:chgData name="Jean-Noel Sialou" userId="08acc5d2-3819-4be4-97e6-d593a92e8e16" providerId="ADAL" clId="{3E2E487B-B21A-43C3-A4E4-C31B8823D31F}" dt="2026-09-15T10:14:35.637" v="5" actId="208"/>
          <ac:cxnSpMkLst>
            <pc:docMk/>
            <pc:sldMk cId="2102837376" sldId="358"/>
            <ac:cxnSpMk id="77" creationId="{00000000-0000-0000-0000-000000000000}"/>
          </ac:cxnSpMkLst>
        </pc:cxnChg>
      </pc:sldChg>
      <pc:sldChg chg="addSp modSp modAnim">
        <pc:chgData name="Jean-Noel Sialou" userId="08acc5d2-3819-4be4-97e6-d593a92e8e16" providerId="ADAL" clId="{3E2E487B-B21A-43C3-A4E4-C31B8823D31F}" dt="2026-09-23T09:25:47.775" v="6" actId="164"/>
        <pc:sldMkLst>
          <pc:docMk/>
          <pc:sldMk cId="135173498" sldId="359"/>
        </pc:sldMkLst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6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7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9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2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6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2DAE2-9FC7-48A6-84A5-82A6F426499B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B2686-849E-4084-A991-5071DA2BB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72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8630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2439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0939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779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137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739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2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6728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18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7573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1292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1349794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826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7001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41227808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29807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5068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424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4805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6391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7460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65436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93278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853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74899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38644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52400179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 preserve="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8263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 preserve="1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8283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38359873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0.xml"/><Relationship Id="rId16" Type="http://schemas.openxmlformats.org/officeDocument/2006/relationships/theme" Target="../theme/theme2.xml"/><Relationship Id="rId17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564" b="34369"/>
          <a:stretch/>
        </p:blipFill>
        <p:spPr>
          <a:xfrm>
            <a:off x="-147909" y="-58723"/>
            <a:ext cx="12339909" cy="691672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 userDrawn="1"/>
        </p:nvSpPr>
        <p:spPr>
          <a:xfrm>
            <a:off x="221940" y="6394008"/>
            <a:ext cx="109298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</p:spTree>
    <p:extLst>
      <p:ext uri="{BB962C8B-B14F-4D97-AF65-F5344CB8AC3E}">
        <p14:creationId xmlns:p14="http://schemas.microsoft.com/office/powerpoint/2010/main" val="206341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  <p:sldLayoutId id="2147483663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" y="283"/>
            <a:ext cx="12190992" cy="685743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5055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18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0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75" t="524" r="-2445" b="9082"/>
          <a:stretch/>
        </p:blipFill>
        <p:spPr>
          <a:xfrm>
            <a:off x="4883082" y="0"/>
            <a:ext cx="77856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092" y="0"/>
            <a:ext cx="5740400" cy="6858000"/>
          </a:xfrm>
          <a:prstGeom prst="rect">
            <a:avLst/>
          </a:prstGeom>
          <a:solidFill>
            <a:srgbClr val="0606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B17207E-7FD3-4B75-ADFE-CC565F8DB8A1}"/>
              </a:ext>
            </a:extLst>
          </p:cNvPr>
          <p:cNvSpPr txBox="1">
            <a:spLocks/>
          </p:cNvSpPr>
          <p:nvPr/>
        </p:nvSpPr>
        <p:spPr>
          <a:xfrm>
            <a:off x="10506325" y="6388244"/>
            <a:ext cx="1187835" cy="3376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I" sz="1000" noProof="0">
                <a:solidFill>
                  <a:srgbClr val="FFFFFF"/>
                </a:solidFill>
                <a:latin typeface=".Helvetica"/>
                <a:ea typeface=".Helvetica Neue Interface" panose="020B0604020202020204" pitchFamily="34" charset="0"/>
                <a:cs typeface="Open Sans"/>
              </a:rPr>
              <a:t>13 octobre 2026</a:t>
            </a:r>
          </a:p>
        </p:txBody>
      </p:sp>
      <p:sp>
        <p:nvSpPr>
          <p:cNvPr id="9" name="Google Shape;138;p25"/>
          <p:cNvSpPr txBox="1"/>
          <p:nvPr/>
        </p:nvSpPr>
        <p:spPr>
          <a:xfrm>
            <a:off x="908861" y="2534894"/>
            <a:ext cx="3078453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Audit FPPN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Réunion de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lancement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7408" y="229231"/>
            <a:ext cx="270459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SA au Capital de 100 millions FCFA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Immeuble le 24, 3e étage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Boulevard </a:t>
            </a:r>
            <a:r>
              <a:rPr lang="fr-CI" sz="1000" noProof="0" err="1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Clozel</a:t>
            </a: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, Plateau, Abidjan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06 BPM 459 Abidjan 06, Côte d’ivoire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NCC : 2404702K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RCCM : CI-ABJ-03-2024-B14-00114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Tel (225) 27 20 33 90 90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www.adenka.ci</a:t>
            </a:r>
          </a:p>
        </p:txBody>
      </p:sp>
    </p:spTree>
    <p:extLst>
      <p:ext uri="{BB962C8B-B14F-4D97-AF65-F5344CB8AC3E}">
        <p14:creationId xmlns:p14="http://schemas.microsoft.com/office/powerpoint/2010/main" val="1047328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Réunion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Participants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Date et horaires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Date : 13 octobre 2026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Début : 15h50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Fin : 16h24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Objet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Lancement de la mission d'audit 2020-2026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Présentation de l'équipe et de la démarche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Calendrier et organisation pratique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Recueil des attentes de la direction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FPPN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Inspecteur général de la police nationale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Membres de la direction générale du FPPN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Adenka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Marc Wabi, associé responsable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Inès Kwekam, senior manager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Joel Kamin, pôle juridique et fiscal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Jean-Noël Sialou, actuaire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Informations de la réunion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Réunion de lancement tenue le 13 octobre 2026 avec la direction du FPPN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Une réunion de 34 minutes, de 15h50 à 16h24, entre la direction du FPPN et l'équipe de mission Adenka</a:t>
            </a:r>
          </a:p>
        </p:txBody>
      </p:sp>
    </p:spTree>
    <p:extLst>
      <p:ext uri="{BB962C8B-B14F-4D97-AF65-F5344CB8AC3E}">
        <p14:creationId xmlns:p14="http://schemas.microsoft.com/office/powerpoint/2010/main" val="3982167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Message du Président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Attentes d'Adenka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Objectif de l'audit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Regard extérieur après six ans de gestion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Aucune recherche de coupable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Mieux servir les policiers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contexte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Pleine disponibilité des équipes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Appui du Président en cas de blocage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Cabinet choisi sans son intervention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Régulateur récent, règles en évolution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Délais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Forte sollicitation sur 30 jours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Remise rapide des documents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Points réguliers avec la direction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Méthode de travail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Remontée rapide des sujets sensibles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Informations justes, diagnostic juste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Rôle de conseil, travail commun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Relais du message aux équipes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Ouverture de la réunion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direction du FPPN soutient la mission et attend un regard extérieur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Après 26 ans d'existence, le FPPN veut savoir ce qui fonctionne, ce qui fonctionne moins et comment progresser</a:t>
            </a:r>
          </a:p>
        </p:txBody>
      </p:sp>
    </p:spTree>
    <p:extLst>
      <p:ext uri="{BB962C8B-B14F-4D97-AF65-F5344CB8AC3E}">
        <p14:creationId xmlns:p14="http://schemas.microsoft.com/office/powerpoint/2010/main" val="48584949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Contrôle interne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Évaluation des processus, matrice des constats hiérarchisés par impact et calendrier de correction.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Équilibre financier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Ratios financiers et sectoriels. Équilibre entre cotisations, prestations, frais de gestion et engagements.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Conformité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Respect de la réglementation de la mutualité sociale, des statuts, des obligations fiscales et des conventions.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Qualité des dossiers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Qualité et traçabilité des dossiers, point signalé comme important dans les TDR.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Plan d'action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Recommandations hiérarchisées pour tenir les promesses faites aux policiers et aux retraités.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Opinion d'audit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Régularité, sincérité et image fidèle des comptes sur les six exercices audités.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Objet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Les TDR demandent une opinion d'audit, un diagnostic et un plan d'action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exercices et demi couverts, du 1er janvier 2020 au 31 août 2026, autour de trois enjeux : transparence, pérennité et conformité</a:t>
            </a:r>
          </a:p>
        </p:txBody>
      </p:sp>
    </p:spTree>
    <p:extLst>
      <p:ext uri="{BB962C8B-B14F-4D97-AF65-F5344CB8AC3E}">
        <p14:creationId xmlns:p14="http://schemas.microsoft.com/office/powerpoint/2010/main" val="3355834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Décision de l'AIRMS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Indicateurs et ratios prudentiels : base de l'analyse de l'équilibre financier.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n°07/2009/CM/UEMOA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Règles de fonctionnement des mutuelles sociales et règlements d'exécution.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SYSCOHADA révisé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Retenu s'il a été appliqué sur tout ou partie de la période.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n°03/2012/CM/UEMOA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Plan comptable des mutuelles sociales : référentiel des états financiers.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Statuts, conventions, fiscalité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Statuts, règlement intérieur, conventions (CGRAE, partenaires), Code général des impôts, législation sociale.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Normes ISA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Notamment ISA 240, 315, 330, 500 et 530 : démarche par les risques, contrôle interne, échantillonnage.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Référentiels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applique les règles propres aux mutuelles sociales, pas le seul SYSCOHADA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référentiel comptable réellement appliqué par le FPPN est vérifié année par année, avant tout test sur les comptes</a:t>
            </a:r>
          </a:p>
        </p:txBody>
      </p:sp>
    </p:spTree>
    <p:extLst>
      <p:ext uri="{BB962C8B-B14F-4D97-AF65-F5344CB8AC3E}">
        <p14:creationId xmlns:p14="http://schemas.microsoft.com/office/powerpoint/2010/main" val="359190771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28916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Phase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Contenu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Livrable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Semaines (offre)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1. Lancement et cadrage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Réunion de lancement, point focal, liste des documents, calendrier, modèles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Note de cadrage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2. Connaissance, contrôle interne et risques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Entretiens, PV, procédures, tests de cheminement, extraction des données, cartographie des risques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Plan de mission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 à S2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3. Audit comptable et financier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contrôles et tests substantifs par cycle et par exercice, analyse de données, circularisations, revue actuarielle, examens analytiques, social et fiscal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Constats documentés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S3 à S8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4. Synthèse et rapport provisoire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Analyse financière, recommandations, déclarations de la direction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provisoire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S9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5. Restitution et rapport définitif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Contradictoire, restitution, finalisation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définitif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S10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Démarche en cinq phases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L'offre prévoit cinq phases sur dix semaines, du cadrage au rapport définitif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 réunion, le calendrier a été resserré : rapport provisoire le 25 novembre, rapport définitif avant le 30 novembre</a:t>
            </a:r>
          </a:p>
        </p:txBody>
      </p:sp>
    </p:spTree>
    <p:extLst>
      <p:ext uri="{BB962C8B-B14F-4D97-AF65-F5344CB8AC3E}">
        <p14:creationId xmlns:p14="http://schemas.microsoft.com/office/powerpoint/2010/main" val="280706062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5" name="Google Shape;7418;p41"/>
          <p:cNvSpPr/>
          <p:nvPr/>
        </p:nvSpPr>
        <p:spPr>
          <a:xfrm rot="21013821">
            <a:off x="6297998" y="4033104"/>
            <a:ext cx="1054440" cy="80836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8" name="Google Shape;7421;p41"/>
          <p:cNvSpPr/>
          <p:nvPr/>
        </p:nvSpPr>
        <p:spPr>
          <a:xfrm rot="356255">
            <a:off x="6295963" y="1764647"/>
            <a:ext cx="1054365" cy="808304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1" name="Google Shape;7424;p41"/>
          <p:cNvSpPr/>
          <p:nvPr/>
        </p:nvSpPr>
        <p:spPr>
          <a:xfrm rot="282502">
            <a:off x="1008889" y="4032906"/>
            <a:ext cx="1054406" cy="808335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4" name="Google Shape;7427;p41"/>
          <p:cNvSpPr/>
          <p:nvPr/>
        </p:nvSpPr>
        <p:spPr>
          <a:xfrm rot="21275242">
            <a:off x="1044421" y="1769072"/>
            <a:ext cx="1054398" cy="808329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7" name="Google Shape;7431;p41"/>
          <p:cNvSpPr txBox="1">
            <a:spLocks/>
          </p:cNvSpPr>
          <p:nvPr/>
        </p:nvSpPr>
        <p:spPr>
          <a:xfrm rot="21238167">
            <a:off x="1055515" y="1925819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01</a:t>
            </a:r>
          </a:p>
        </p:txBody>
      </p:sp>
      <p:sp>
        <p:nvSpPr>
          <p:cNvPr id="48" name="Google Shape;7432;p41"/>
          <p:cNvSpPr txBox="1">
            <a:spLocks/>
          </p:cNvSpPr>
          <p:nvPr/>
        </p:nvSpPr>
        <p:spPr>
          <a:xfrm rot="395864">
            <a:off x="1055515" y="4170923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02</a:t>
            </a:r>
          </a:p>
        </p:txBody>
      </p:sp>
      <p:sp>
        <p:nvSpPr>
          <p:cNvPr id="53" name="Google Shape;7437;p41"/>
          <p:cNvSpPr txBox="1">
            <a:spLocks/>
          </p:cNvSpPr>
          <p:nvPr/>
        </p:nvSpPr>
        <p:spPr>
          <a:xfrm rot="354388">
            <a:off x="6338696" y="1925819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03</a:t>
            </a:r>
          </a:p>
        </p:txBody>
      </p:sp>
      <p:sp>
        <p:nvSpPr>
          <p:cNvPr id="54" name="Google Shape;7438;p41"/>
          <p:cNvSpPr txBox="1">
            <a:spLocks/>
          </p:cNvSpPr>
          <p:nvPr/>
        </p:nvSpPr>
        <p:spPr>
          <a:xfrm rot="21176429">
            <a:off x="6338696" y="4170923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2337" y="13500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Comprendre et identifier les risques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Activités, organisation, systèmes et évolutions 2020-2026. Risques par cycle et par assertion, y compris la fraude (ISA 240).</a:t>
            </a:r>
            <a:endParaRPr lang="fr-CI" sz="1600" noProof="0"/>
          </a:p>
        </p:txBody>
      </p:sp>
      <p:sp>
        <p:nvSpPr>
          <p:cNvPr id="20" name="Rectangle 19"/>
          <p:cNvSpPr/>
          <p:nvPr/>
        </p:nvSpPr>
        <p:spPr>
          <a:xfrm>
            <a:off x="2312337" y="37698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Évaluer le contrôle interne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Documenter, tester le cheminement, évaluer la conception (ISA 315), tester l'efficacité (ISA 330). Note : fiable, partiel ou défaillant.</a:t>
            </a:r>
            <a:endParaRPr lang="fr-CI" sz="1600" noProof="0"/>
          </a:p>
        </p:txBody>
      </p:sp>
      <p:sp>
        <p:nvSpPr>
          <p:cNvPr id="22" name="Rectangle 21"/>
          <p:cNvSpPr/>
          <p:nvPr/>
        </p:nvSpPr>
        <p:spPr>
          <a:xfrm>
            <a:off x="7611772" y="13543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Calibrer les tests substantifs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Nature, étendue et calendrier fixés selon le risque résiduel et la note du contrôle interne.</a:t>
            </a:r>
            <a:endParaRPr lang="fr-CI" sz="1600" noProof="0"/>
          </a:p>
        </p:txBody>
      </p:sp>
      <p:sp>
        <p:nvSpPr>
          <p:cNvPr id="23" name="Rectangle 22"/>
          <p:cNvSpPr/>
          <p:nvPr/>
        </p:nvSpPr>
        <p:spPr>
          <a:xfrm>
            <a:off x="7611772" y="37741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Conclure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Opinion ou conclusion par exercice, recommandations hiérarchisées, alerte immédiate en cas de défaillance grave.</a:t>
            </a:r>
            <a:endParaRPr lang="fr-CI" sz="1600" noProof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5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par les risques</a:t>
            </a:r>
          </a:p>
        </p:txBody>
      </p:sp>
      <p:sp>
        <p:nvSpPr>
          <p:cNvPr id="5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qualité du contrôle interne fixe l'étendue des tests sur pièces</a:t>
            </a:r>
          </a:p>
        </p:txBody>
      </p:sp>
      <p:sp>
        <p:nvSpPr>
          <p:cNvPr id="5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contrôle interne est noté par cycle et par sous-période, car procédures et équipes ont pu changer en six ans</a:t>
            </a:r>
          </a:p>
        </p:txBody>
      </p:sp>
    </p:spTree>
    <p:extLst>
      <p:ext uri="{BB962C8B-B14F-4D97-AF65-F5344CB8AC3E}">
        <p14:creationId xmlns:p14="http://schemas.microsoft.com/office/powerpoint/2010/main" val="21377186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46909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Critère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fiable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partiel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fort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 +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moyen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faible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Nature des tests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 et tests de détail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renforcés, confirmations externes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Étendue indicative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25 éléments par cycle et par exercice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40 éléments par cycle et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étendus, exhaustifs sur les montants significatifs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Calendrier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possibles en cours de période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concentrés sur les clôtures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Clôtures et toute la période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Seuil de test exhaustif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du seuil de signification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50 %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25 %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Étendue des tests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Plus le risque est fort et le contrôle faible, plus les tests sont étendus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Dans tous les cas, 100 % des écritures sont analysées et les risques significatifs font l'objet de tests de détail</a:t>
            </a:r>
          </a:p>
        </p:txBody>
      </p:sp>
    </p:spTree>
    <p:extLst>
      <p:ext uri="{BB962C8B-B14F-4D97-AF65-F5344CB8AC3E}">
        <p14:creationId xmlns:p14="http://schemas.microsoft.com/office/powerpoint/2010/main" val="334069492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372910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Cycle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clé attendu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du contrôle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 le contrôle est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Cotisations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mensuel précompte, encaissements et comptabilité, revu et signé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Réexécution d'un échantillon de rapprochements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exhaustif des 12 mois de chaque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Prestations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Dossier complet et validé par deux personnes avant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 dossiers payés : pièces, visas, barème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Échantillon élargi, analyse des paiements, confirmations de bénéficiaires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Crédits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Décision du comité, plafonds respectés, remboursement par retenue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PV du comité, test des plafonds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 tous les encours significatifs, confirmations d'emprunteurs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Trésorerie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Double signature, rapprochements bancaires mensuels revus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rapprochements et des ordres de paiement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Rapprochements refaits, tests étendus des décaissements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Achats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Mise en concurrence, service fait avant tout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dossiers d'achat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exhaustif au-delà d'un seuil, circularisation élargie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et approbation des écritures manuelles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écritures de fin d'exercice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des écritures de journal élargis à toute l'année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Contrôles clés par cycle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Chaque contrôle défaillant déclenche des tests renforcés sur le cycle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cycles testés : cotisations, prestations, crédits, trésorerie, achats et clôture des comptes</a:t>
            </a:r>
          </a:p>
        </p:txBody>
      </p:sp>
    </p:spTree>
    <p:extLst>
      <p:ext uri="{BB962C8B-B14F-4D97-AF65-F5344CB8AC3E}">
        <p14:creationId xmlns:p14="http://schemas.microsoft.com/office/powerpoint/2010/main" val="337387540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8" name="Google Shape;310;p43"/>
          <p:cNvSpPr txBox="1">
            <a:spLocks/>
          </p:cNvSpPr>
          <p:nvPr/>
        </p:nvSpPr>
        <p:spPr>
          <a:xfrm>
            <a:off x="3029407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Analyse de données</a:t>
            </a:r>
          </a:p>
        </p:txBody>
      </p:sp>
      <p:pic>
        <p:nvPicPr>
          <p:cNvPr id="59" name="Image 5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095" y="1350000"/>
            <a:ext cx="318216" cy="318216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1925" y="1351707"/>
            <a:ext cx="342732" cy="342732"/>
          </a:xfrm>
          <a:prstGeom prst="rect">
            <a:avLst/>
          </a:prstGeom>
        </p:spPr>
      </p:pic>
      <p:sp>
        <p:nvSpPr>
          <p:cNvPr id="14" name="Google Shape;310;p43"/>
          <p:cNvSpPr txBox="1">
            <a:spLocks/>
          </p:cNvSpPr>
          <p:nvPr/>
        </p:nvSpPr>
        <p:spPr>
          <a:xfrm>
            <a:off x="7040981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ISA 240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9942" y="2197866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Deux risques présumés : contournement des contrôles par la direction et fraude dans la comptabilisation des produits. Réponse : entretiens et revue des contrôles.</a:t>
            </a:r>
            <a:endParaRPr lang="fr-CI" sz="1200" noProof="0"/>
          </a:p>
        </p:txBody>
      </p:sp>
      <p:sp>
        <p:nvSpPr>
          <p:cNvPr id="23" name="Google Shape;310;p43"/>
          <p:cNvSpPr txBox="1">
            <a:spLocks/>
          </p:cNvSpPr>
          <p:nvPr/>
        </p:nvSpPr>
        <p:spPr>
          <a:xfrm>
            <a:off x="3029407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Informatique et ratios</a:t>
            </a:r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156" y="3813457"/>
            <a:ext cx="318092" cy="321790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571" y="3799713"/>
            <a:ext cx="335439" cy="342731"/>
          </a:xfrm>
          <a:prstGeom prst="rect">
            <a:avLst/>
          </a:prstGeom>
        </p:spPr>
      </p:pic>
      <p:sp>
        <p:nvSpPr>
          <p:cNvPr id="28" name="Google Shape;310;p43"/>
          <p:cNvSpPr txBox="1">
            <a:spLocks/>
          </p:cNvSpPr>
          <p:nvPr/>
        </p:nvSpPr>
        <p:spPr>
          <a:xfrm>
            <a:off x="7040981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Participants et équipe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2525" y="4622972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Audit des accès, des changements, de l'exploitation et des contrôles applicatifs. Analyse des ratios prudentiels exigés par l'AIRMS.</a:t>
            </a:r>
            <a:endParaRPr lang="fr-CI" sz="1200" noProof="0"/>
          </a:p>
        </p:txBody>
      </p:sp>
      <p:sp>
        <p:nvSpPr>
          <p:cNvPr id="30" name="Rectangle 29"/>
          <p:cNvSpPr/>
          <p:nvPr/>
        </p:nvSpPr>
        <p:spPr>
          <a:xfrm>
            <a:off x="6449942" y="4654491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FPPN : Inspecteur général de la police nationale, membres de la direction générale. Adenka : Marc Wabi (associé), Inès Kwekam (senior manager), P.-A. Dagry (revue qualité), Joel Kamin (juridique et fiscal), J.-N. Sialou (actuaire).</a:t>
            </a:r>
            <a:endParaRPr lang="fr-CI" sz="1200" noProof="0"/>
          </a:p>
        </p:txBody>
      </p:sp>
      <p:pic>
        <p:nvPicPr>
          <p:cNvPr id="21" name="Imag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6" y="1945889"/>
            <a:ext cx="3279277" cy="1695649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2" y="1945889"/>
            <a:ext cx="3279277" cy="1695649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1" y="4410448"/>
            <a:ext cx="3279277" cy="1695649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5" y="4424350"/>
            <a:ext cx="3279277" cy="169564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619203" y="2203649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Analyse de 100 % des écritures et tests des écritures de journal (ISA 240), quel que soit le contrôle interne, par l'expert data et systèmes d'information.</a:t>
            </a:r>
            <a:endParaRPr lang="fr-CI" sz="1200" noProof="0"/>
          </a:p>
        </p:txBody>
      </p:sp>
      <p:sp>
        <p:nvSpPr>
          <p:cNvPr id="60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et équipe</a:t>
            </a:r>
          </a:p>
        </p:txBody>
      </p:sp>
      <p:sp>
        <p:nvSpPr>
          <p:cNvPr id="61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s'appuie sur l'analyse de données et des expertises techniques</a:t>
            </a:r>
          </a:p>
        </p:txBody>
      </p:sp>
      <p:sp>
        <p:nvSpPr>
          <p:cNvPr id="62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Environ 24 intervenants en quatre pôles, dont un actuaire, un expert des systèmes d'information et un expert financier</a:t>
            </a:r>
          </a:p>
        </p:txBody>
      </p:sp>
    </p:spTree>
    <p:extLst>
      <p:ext uri="{BB962C8B-B14F-4D97-AF65-F5344CB8AC3E}">
        <p14:creationId xmlns:p14="http://schemas.microsoft.com/office/powerpoint/2010/main" val="49501797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Travaux engagés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préliminaires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Dès le démarrage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Provisions mathématiques, sinistres, ratios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Digitalisation : crédits et 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grands ratios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Ensuite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 et investissements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Comparaison avec le Fonds militaire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Offre mutualiste au regard des statuts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Potentiel non exploité par le FPPN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Cartographie à affiner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 et prestations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crédits aux adhérents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Paiement des adhérents et trésorerie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Cycles des entretiens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sinistres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Placements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Travaux prioritaires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Provisions, sinistres et ratios sont traités dès le début de la mission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Les premiers enseignements doivent remonter dès la semaine suivante, et la cartographie des risques sera affinée après les entretiens</a:t>
            </a:r>
          </a:p>
        </p:txBody>
      </p:sp>
    </p:spTree>
    <p:extLst>
      <p:ext uri="{BB962C8B-B14F-4D97-AF65-F5344CB8AC3E}">
        <p14:creationId xmlns:p14="http://schemas.microsoft.com/office/powerpoint/2010/main" val="283015131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660908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Sujet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Action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Responsable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Échéance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Organigramme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Transmettre l'organigramme pour cibler les entretiens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Dès que possible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 et documents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Envoyer la liste des personnes à rencontrer et des documents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Immédiat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Points focaux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Désigner les interlocuteurs de la mission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30 à 60 minutes par responsable, par cycle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Jeudi et vendredi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et accès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documentaire, accès en lecture à la base des adhérents, Internet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de travail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fermée à clé mise à disposition, documents en partie sur papier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Fait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Situation au 31/08/2026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Produire la situation comptable intermédiaire arrêtée au 31/08/2026, prérequis du calendrier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 3 (offre)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Données actuarielles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Fichiers par adhérent : épargne, prestations, cotisations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Fin octobre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Organisation et prochaines étapes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 démarrage dépend des points focaux, des accès et des données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Entretiens dès jeudi et vendredi, et données à recevoir au plus tôt pour tenir l'échéance du 25 novembre</a:t>
            </a:r>
          </a:p>
        </p:txBody>
      </p:sp>
    </p:spTree>
    <p:extLst>
      <p:ext uri="{BB962C8B-B14F-4D97-AF65-F5344CB8AC3E}">
        <p14:creationId xmlns:p14="http://schemas.microsoft.com/office/powerpoint/2010/main" val="17671553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667" y="-1240"/>
            <a:ext cx="6858000" cy="685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0"/>
            <a:ext cx="6045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3" name="Google Shape;138;p25"/>
          <p:cNvSpPr txBox="1"/>
          <p:nvPr/>
        </p:nvSpPr>
        <p:spPr>
          <a:xfrm>
            <a:off x="920037" y="3088600"/>
            <a:ext cx="580097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Merci </a:t>
            </a:r>
          </a:p>
        </p:txBody>
      </p:sp>
    </p:spTree>
    <p:extLst>
      <p:ext uri="{BB962C8B-B14F-4D97-AF65-F5344CB8AC3E}">
        <p14:creationId xmlns:p14="http://schemas.microsoft.com/office/powerpoint/2010/main" val="21165902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2509</TotalTime>
  <Words>16641</Words>
  <Application>Microsoft Office PowerPoint</Application>
  <PresentationFormat>Grand écran</PresentationFormat>
  <Paragraphs>1935</Paragraphs>
  <Slides>13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Adenka Consulting</dc:creator>
  <cp:lastModifiedBy>Adenka Consulting</cp:lastModifiedBy>
  <cp:revision>1</cp:revision>
  <dcterms:created xsi:type="dcterms:W3CDTF">2025-10-22T15:02:15Z</dcterms:created>
  <dcterms:modified xsi:type="dcterms:W3CDTF">2026-09-23T09:25:57Z</dcterms:modified>
  <dc:subject/>
  <cp:keywords/>
  <dc:description/>
</cp:coreProperties>
</file>