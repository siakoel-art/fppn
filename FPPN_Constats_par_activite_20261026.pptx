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17"/>
  </p:notesMasterIdLst>
  <p:sldIdLst>
    <p:sldId id="256" r:id="rId3"/>
    <p:sldId id="313" r:id="rId7"/>
    <p:sldId id="260" r:id="rId4"/>
    <p:sldId id="404" r:id="rId124"/>
    <p:sldId id="405" r:id="rId125"/>
    <p:sldId id="406" r:id="rId126"/>
    <p:sldId id="407" r:id="rId127"/>
    <p:sldId id="408" r:id="rId128"/>
    <p:sldId id="409" r:id="rId129"/>
    <p:sldId id="410" r:id="rId130"/>
    <p:sldId id="411" r:id="rId131"/>
    <p:sldId id="412" r:id="rId132"/>
    <p:sldId id="413" r:id="rId133"/>
    <p:sldId id="414" r:id="rId134"/>
    <p:sldId id="415" r:id="rId135"/>
    <p:sldId id="416" r:id="rId136"/>
    <p:sldId id="417" r:id="rId137"/>
    <p:sldId id="418" r:id="rId138"/>
    <p:sldId id="328" r:id="rId1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9C8FC9B7-AD45-409C-8017-02DEBDF9C938}">
          <p14:sldIdLst>
            <p14:sldId id="256"/>
          </p14:sldIdLst>
        </p14:section>
        <p14:section name="Contenu" id="{41430ABC-712C-4A41-8691-5284113E2CD9}">
          <p14:sldIdLst>
            <p14:sldId id="260"/>
            <p14:sldId id="261"/>
            <p14:sldId id="310"/>
            <p14:sldId id="313"/>
            <p14:sldId id="403"/>
            <p14:sldId id="402"/>
            <p14:sldId id="291"/>
            <p14:sldId id="312"/>
            <p14:sldId id="314"/>
            <p14:sldId id="317"/>
            <p14:sldId id="315"/>
            <p14:sldId id="316"/>
            <p14:sldId id="323"/>
            <p14:sldId id="324"/>
            <p14:sldId id="321"/>
            <p14:sldId id="322"/>
            <p14:sldId id="264"/>
            <p14:sldId id="318"/>
            <p14:sldId id="319"/>
            <p14:sldId id="320"/>
            <p14:sldId id="326"/>
            <p14:sldId id="325"/>
            <p14:sldId id="266"/>
            <p14:sldId id="327"/>
            <p14:sldId id="268"/>
            <p14:sldId id="271"/>
            <p14:sldId id="287"/>
            <p14:sldId id="329"/>
            <p14:sldId id="398"/>
            <p14:sldId id="399"/>
            <p14:sldId id="391"/>
            <p14:sldId id="397"/>
            <p14:sldId id="395"/>
            <p14:sldId id="396"/>
            <p14:sldId id="393"/>
            <p14:sldId id="392"/>
            <p14:sldId id="270"/>
            <p14:sldId id="330"/>
            <p14:sldId id="331"/>
            <p14:sldId id="332"/>
            <p14:sldId id="272"/>
            <p14:sldId id="333"/>
            <p14:sldId id="289"/>
            <p14:sldId id="334"/>
            <p14:sldId id="277"/>
            <p14:sldId id="278"/>
            <p14:sldId id="274"/>
            <p14:sldId id="335"/>
            <p14:sldId id="336"/>
            <p14:sldId id="348"/>
            <p14:sldId id="341"/>
            <p14:sldId id="349"/>
            <p14:sldId id="342"/>
            <p14:sldId id="350"/>
            <p14:sldId id="343"/>
            <p14:sldId id="351"/>
            <p14:sldId id="344"/>
            <p14:sldId id="352"/>
            <p14:sldId id="345"/>
            <p14:sldId id="353"/>
            <p14:sldId id="346"/>
            <p14:sldId id="354"/>
            <p14:sldId id="347"/>
            <p14:sldId id="355"/>
            <p14:sldId id="338"/>
            <p14:sldId id="356"/>
            <p14:sldId id="337"/>
            <p14:sldId id="357"/>
            <p14:sldId id="276"/>
            <p14:sldId id="358"/>
            <p14:sldId id="339"/>
            <p14:sldId id="359"/>
            <p14:sldId id="381"/>
            <p14:sldId id="385"/>
            <p14:sldId id="382"/>
            <p14:sldId id="400"/>
            <p14:sldId id="294"/>
            <p14:sldId id="360"/>
            <p14:sldId id="285"/>
            <p14:sldId id="286"/>
            <p14:sldId id="299"/>
            <p14:sldId id="361"/>
            <p14:sldId id="362"/>
            <p14:sldId id="283"/>
            <p14:sldId id="297"/>
            <p14:sldId id="365"/>
            <p14:sldId id="364"/>
            <p14:sldId id="363"/>
            <p14:sldId id="366"/>
            <p14:sldId id="367"/>
            <p14:sldId id="368"/>
            <p14:sldId id="370"/>
            <p14:sldId id="374"/>
            <p14:sldId id="375"/>
          </p14:sldIdLst>
        </p14:section>
        <p14:section name="Graphs" id="{551B27DB-FB3B-4066-9154-1B46F0A65216}">
          <p14:sldIdLst>
            <p14:sldId id="301"/>
            <p14:sldId id="304"/>
            <p14:sldId id="303"/>
            <p14:sldId id="302"/>
            <p14:sldId id="305"/>
            <p14:sldId id="306"/>
            <p14:sldId id="378"/>
            <p14:sldId id="376"/>
            <p14:sldId id="379"/>
            <p14:sldId id="388"/>
            <p14:sldId id="307"/>
            <p14:sldId id="369"/>
            <p14:sldId id="389"/>
            <p14:sldId id="390"/>
          </p14:sldIdLst>
        </p14:section>
        <p14:section name="Merci" id="{DE1A67E5-D1FE-41AF-88BB-A85595BA690B}">
          <p14:sldIdLst>
            <p14:sldId id="328"/>
          </p14:sldIdLst>
        </p14:section>
        <p14:section name="Symboles" id="{49175908-295D-4406-8512-BB62EA88444D}">
          <p14:sldIdLst>
            <p14:sldId id="371"/>
            <p14:sldId id="373"/>
            <p14:sldId id="40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C62"/>
    <a:srgbClr val="060606"/>
    <a:srgbClr val="112A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BD68B-DEB5-4C72-B758-AA0E2A02C403}" v="4" dt="2026-09-23T09:25:47.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3.xml"/><Relationship Id="rId7" Type="http://schemas.openxmlformats.org/officeDocument/2006/relationships/slide" Target="slides/slide2.xml"/><Relationship Id="rId112" Type="http://schemas.openxmlformats.org/officeDocument/2006/relationships/slide" Target="slides/slide19.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openxmlformats.org/officeDocument/2006/relationships/slide" Target="slides/slide4.xml"/><Relationship Id="rId125" Type="http://schemas.openxmlformats.org/officeDocument/2006/relationships/slide" Target="slides/slide5.xml"/><Relationship Id="rId126" Type="http://schemas.openxmlformats.org/officeDocument/2006/relationships/slide" Target="slides/slide6.xml"/><Relationship Id="rId127" Type="http://schemas.openxmlformats.org/officeDocument/2006/relationships/slide" Target="slides/slide7.xml"/><Relationship Id="rId128" Type="http://schemas.openxmlformats.org/officeDocument/2006/relationships/slide" Target="slides/slide8.xml"/><Relationship Id="rId129" Type="http://schemas.openxmlformats.org/officeDocument/2006/relationships/slide" Target="slides/slide9.xml"/><Relationship Id="rId130" Type="http://schemas.openxmlformats.org/officeDocument/2006/relationships/slide" Target="slides/slide10.xml"/><Relationship Id="rId131" Type="http://schemas.openxmlformats.org/officeDocument/2006/relationships/slide" Target="slides/slide11.xml"/><Relationship Id="rId132" Type="http://schemas.openxmlformats.org/officeDocument/2006/relationships/slide" Target="slides/slide12.xml"/><Relationship Id="rId133" Type="http://schemas.openxmlformats.org/officeDocument/2006/relationships/slide" Target="slides/slide13.xml"/><Relationship Id="rId134" Type="http://schemas.openxmlformats.org/officeDocument/2006/relationships/slide" Target="slides/slide14.xml"/><Relationship Id="rId135" Type="http://schemas.openxmlformats.org/officeDocument/2006/relationships/slide" Target="slides/slide15.xml"/><Relationship Id="rId136" Type="http://schemas.openxmlformats.org/officeDocument/2006/relationships/slide" Target="slides/slide16.xml"/><Relationship Id="rId137" Type="http://schemas.openxmlformats.org/officeDocument/2006/relationships/slide" Target="slides/slide17.xml"/><Relationship Id="rId138"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el Sialou" userId="08acc5d2-3819-4be4-97e6-d593a92e8e16" providerId="ADAL" clId="{DC5A2AD4-2AC1-4F5C-A6BF-541681F7EFA2}"/>
    <pc:docChg chg="undo custSel modSld">
      <pc:chgData name="Jean-Noel Sialou" userId="08acc5d2-3819-4be4-97e6-d593a92e8e16" providerId="ADAL" clId="{DC5A2AD4-2AC1-4F5C-A6BF-541681F7EFA2}" dt="2026-09-07T10:18:25.187" v="38" actId="571"/>
      <pc:docMkLst>
        <pc:docMk/>
      </pc:docMkLst>
      <pc:sldChg chg="addSp delSp modSp mod">
        <pc:chgData name="Jean-Noel Sialou" userId="08acc5d2-3819-4be4-97e6-d593a92e8e16" providerId="ADAL" clId="{DC5A2AD4-2AC1-4F5C-A6BF-541681F7EFA2}" dt="2026-09-07T10:18:25.187" v="38" actId="571"/>
        <pc:sldMkLst>
          <pc:docMk/>
          <pc:sldMk cId="2102837376" sldId="358"/>
        </pc:sldMkLst>
        <pc:spChg chg="mod">
          <ac:chgData name="Jean-Noel Sialou" userId="08acc5d2-3819-4be4-97e6-d593a92e8e16" providerId="ADAL" clId="{DC5A2AD4-2AC1-4F5C-A6BF-541681F7EFA2}" dt="2026-09-07T10:18:15.089" v="35" actId="164"/>
          <ac:spMkLst>
            <pc:docMk/>
            <pc:sldMk cId="2102837376" sldId="358"/>
            <ac:spMk id="48"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49"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1"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4" creationId="{00000000-0000-0000-0000-000000000000}"/>
          </ac:spMkLst>
        </pc:spChg>
        <pc:grpChg chg="add mod">
          <ac:chgData name="Jean-Noel Sialou" userId="08acc5d2-3819-4be4-97e6-d593a92e8e16" providerId="ADAL" clId="{DC5A2AD4-2AC1-4F5C-A6BF-541681F7EFA2}" dt="2026-09-07T10:18:17.535" v="36" actId="164"/>
          <ac:grpSpMkLst>
            <pc:docMk/>
            <pc:sldMk cId="2102837376" sldId="358"/>
            <ac:grpSpMk id="3" creationId="{C9290073-F4B9-4E89-EC47-0D4815D405F9}"/>
          </ac:grpSpMkLst>
        </pc:grpChg>
        <pc:grpChg chg="add mod">
          <ac:chgData name="Jean-Noel Sialou" userId="08acc5d2-3819-4be4-97e6-d593a92e8e16" providerId="ADAL" clId="{DC5A2AD4-2AC1-4F5C-A6BF-541681F7EFA2}" dt="2026-09-07T10:18:17.535" v="36" actId="164"/>
          <ac:grpSpMkLst>
            <pc:docMk/>
            <pc:sldMk cId="2102837376" sldId="358"/>
            <ac:grpSpMk id="7" creationId="{D520CB44-6CB8-26BA-C481-1E6C90DCE023}"/>
          </ac:grpSpMkLst>
        </pc:grpChg>
        <pc:picChg chg="add mod">
          <ac:chgData name="Jean-Noel Sialou" userId="08acc5d2-3819-4be4-97e6-d593a92e8e16" providerId="ADAL" clId="{DC5A2AD4-2AC1-4F5C-A6BF-541681F7EFA2}" dt="2026-09-07T10:18:17.535" v="36" actId="164"/>
          <ac:picMkLst>
            <pc:docMk/>
            <pc:sldMk cId="2102837376" sldId="358"/>
            <ac:picMk id="5" creationId="{A59C829E-ED12-0019-96D2-4C72AF995693}"/>
          </ac:picMkLst>
        </pc:picChg>
        <pc:picChg chg="mod">
          <ac:chgData name="Jean-Noel Sialou" userId="08acc5d2-3819-4be4-97e6-d593a92e8e16" providerId="ADAL" clId="{DC5A2AD4-2AC1-4F5C-A6BF-541681F7EFA2}" dt="2026-09-07T10:18:15.089" v="35" actId="164"/>
          <ac:picMkLst>
            <pc:docMk/>
            <pc:sldMk cId="2102837376" sldId="358"/>
            <ac:picMk id="31" creationId="{00000000-0000-0000-0000-000000000000}"/>
          </ac:picMkLst>
        </pc:picChg>
        <pc:picChg chg="mod">
          <ac:chgData name="Jean-Noel Sialou" userId="08acc5d2-3819-4be4-97e6-d593a92e8e16" providerId="ADAL" clId="{DC5A2AD4-2AC1-4F5C-A6BF-541681F7EFA2}" dt="2026-09-07T10:18:17.535" v="36" actId="164"/>
          <ac:picMkLst>
            <pc:docMk/>
            <pc:sldMk cId="2102837376" sldId="358"/>
            <ac:picMk id="47"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0"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4"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65" creationId="{00000000-0000-0000-0000-000000000000}"/>
          </ac:picMkLst>
        </pc:picChg>
      </pc:sldChg>
    </pc:docChg>
  </pc:docChgLst>
  <pc:docChgLst>
    <pc:chgData name="Jean-Noel Sialou" userId="08acc5d2-3819-4be4-97e6-d593a92e8e16" providerId="ADAL" clId="{3E2E487B-B21A-43C3-A4E4-C31B8823D31F}"/>
    <pc:docChg chg="modSld">
      <pc:chgData name="Jean-Noel Sialou" userId="08acc5d2-3819-4be4-97e6-d593a92e8e16" providerId="ADAL" clId="{3E2E487B-B21A-43C3-A4E4-C31B8823D31F}" dt="2026-09-23T09:25:47.775" v="6" actId="164"/>
      <pc:docMkLst>
        <pc:docMk/>
      </pc:docMkLst>
      <pc:sldChg chg="modSp mod modAnim">
        <pc:chgData name="Jean-Noel Sialou" userId="08acc5d2-3819-4be4-97e6-d593a92e8e16" providerId="ADAL" clId="{3E2E487B-B21A-43C3-A4E4-C31B8823D31F}" dt="2026-09-15T10:14:35.637" v="5" actId="208"/>
        <pc:sldMkLst>
          <pc:docMk/>
          <pc:sldMk cId="2102837376" sldId="358"/>
        </pc:sldMkLst>
        <pc:spChg chg="mod">
          <ac:chgData name="Jean-Noel Sialou" userId="08acc5d2-3819-4be4-97e6-d593a92e8e16" providerId="ADAL" clId="{3E2E487B-B21A-43C3-A4E4-C31B8823D31F}" dt="2026-09-15T10:14:31.481" v="4" actId="207"/>
          <ac:spMkLst>
            <pc:docMk/>
            <pc:sldMk cId="2102837376" sldId="358"/>
            <ac:spMk id="40" creationId="{00000000-0000-0000-0000-000000000000}"/>
          </ac:spMkLst>
        </pc:spChg>
        <pc:spChg chg="mod">
          <ac:chgData name="Jean-Noel Sialou" userId="08acc5d2-3819-4be4-97e6-d593a92e8e16" providerId="ADAL" clId="{3E2E487B-B21A-43C3-A4E4-C31B8823D31F}" dt="2026-09-15T10:14:31.481" v="4" actId="207"/>
          <ac:spMkLst>
            <pc:docMk/>
            <pc:sldMk cId="2102837376" sldId="358"/>
            <ac:spMk id="41" creationId="{00000000-0000-0000-0000-000000000000}"/>
          </ac:spMkLst>
        </pc:spChg>
        <pc:grpChg chg="mod">
          <ac:chgData name="Jean-Noel Sialou" userId="08acc5d2-3819-4be4-97e6-d593a92e8e16" providerId="ADAL" clId="{3E2E487B-B21A-43C3-A4E4-C31B8823D31F}" dt="2026-09-15T10:14:06.017" v="1" actId="1076"/>
          <ac:grpSpMkLst>
            <pc:docMk/>
            <pc:sldMk cId="2102837376" sldId="358"/>
            <ac:grpSpMk id="7" creationId="{D520CB44-6CB8-26BA-C481-1E6C90DCE023}"/>
          </ac:grpSpMkLst>
        </pc:grpChg>
        <pc:cxnChg chg="mod">
          <ac:chgData name="Jean-Noel Sialou" userId="08acc5d2-3819-4be4-97e6-d593a92e8e16" providerId="ADAL" clId="{3E2E487B-B21A-43C3-A4E4-C31B8823D31F}" dt="2026-09-15T10:14:35.637" v="5" actId="208"/>
          <ac:cxnSpMkLst>
            <pc:docMk/>
            <pc:sldMk cId="2102837376" sldId="358"/>
            <ac:cxnSpMk id="77" creationId="{00000000-0000-0000-0000-000000000000}"/>
          </ac:cxnSpMkLst>
        </pc:cxnChg>
      </pc:sldChg>
      <pc:sldChg chg="addSp modSp modAnim">
        <pc:chgData name="Jean-Noel Sialou" userId="08acc5d2-3819-4be4-97e6-d593a92e8e16" providerId="ADAL" clId="{3E2E487B-B21A-43C3-A4E4-C31B8823D31F}" dt="2026-09-23T09:25:47.775" v="6" actId="164"/>
        <pc:sldMkLst>
          <pc:docMk/>
          <pc:sldMk cId="135173498" sldId="359"/>
        </pc:sldMkLst>
        <pc:spChg chg="mod">
          <ac:chgData name="Jean-Noel Sialou" userId="08acc5d2-3819-4be4-97e6-d593a92e8e16" providerId="ADAL" clId="{3E2E487B-B21A-43C3-A4E4-C31B8823D31F}" dt="2026-09-23T09:25:47.775" v="6" actId="164"/>
          <ac:spMkLst>
            <pc:docMk/>
            <pc:sldMk cId="135173498" sldId="359"/>
            <ac:spMk id="3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6"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7"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0"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9"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2"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6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2DAE2-9FC7-48A6-84A5-82A6F426499B}"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B2686-849E-4084-A991-5071DA2BBBBD}" type="slidenum">
              <a:rPr lang="fr-FR" smtClean="0"/>
              <a:t>‹N°›</a:t>
            </a:fld>
            <a:endParaRPr lang="fr-FR"/>
          </a:p>
        </p:txBody>
      </p:sp>
    </p:spTree>
    <p:extLst>
      <p:ext uri="{BB962C8B-B14F-4D97-AF65-F5344CB8AC3E}">
        <p14:creationId xmlns:p14="http://schemas.microsoft.com/office/powerpoint/2010/main" val="71072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constats du volet actuariel et statistique, présentés activité par activité. Numéros, complexité et priorité repris du résumé exécutif du 26/10/2026.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Présenter la carte de gauche à droite : d'où vient l'argent, ce que fait le FPPN, où va l'argent. Puis les fonctions transverses qui font tourner l'ensemble.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en ligne : une activité, ses types de constats. Lecture en colonne : un type de constat, les activités touchées.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sert de sommaire détaillé : chaque activité est développée dans les diapositives suivantes.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colonne de haut en bas : le constat, sa recommandation, sa complexité et sa priorité portent le même numéro. Les numéros sont ceux du résumé exécutif.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colonne de haut en bas : le constat, sa recommandation, sa complexité et sa priorité portent le même numéro. Les numéros sont ceux du résumé exécutif.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colonne de haut en bas : le constat, sa recommandation, sa complexité et sa priorité portent le même numéro. Les numéros sont ceux du résumé exécutif.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colonne de haut en bas : le constat, sa recommandation, sa complexité et sa priorité portent le même numéro. Les numéros sont ceux du résumé exécutif.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colonne de haut en bas : le constat, sa recommandation, sa complexité et sa priorité portent le même numéro. Les numéros sont ceux du résumé exécutif.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Couloirs repris du logigramme du FPPN. Cadre rouge : contrôle absent ou fichier manquant.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Couloirs repris du logigramme du FPPN. Cadre rouge : contrôle absent ou fichier manquant.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Couloirs repris du logigramme du FPPN. Cadre rouge : contrôle absent ou fichier manquant.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Couloirs repris du logigramme du FPPN. Cadre rouge : contrôle absent ou fichier manquant.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8863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3224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7093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2277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9213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7573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7467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37672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91818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757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564129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213497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6682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8170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12278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52980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9506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204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77480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69639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965746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29654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539327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64853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27489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33864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5524001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reserve="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73826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2" preserve="1">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05828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73835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Image 16"/>
          <p:cNvPicPr>
            <a:picLocks noChangeAspect="1"/>
          </p:cNvPicPr>
          <p:nvPr userDrawn="1"/>
        </p:nvPicPr>
        <p:blipFill rotWithShape="1">
          <a:blip r:embed="rId17" cstate="print">
            <a:extLst>
              <a:ext uri="{28A0092B-C50C-407E-A947-70E740481C1C}">
                <a14:useLocalDpi xmlns:a14="http://schemas.microsoft.com/office/drawing/2010/main" val="0"/>
              </a:ext>
            </a:extLst>
          </a:blip>
          <a:srcRect l="-1" r="1564" b="34369"/>
          <a:stretch/>
        </p:blipFill>
        <p:spPr>
          <a:xfrm>
            <a:off x="-147909" y="-58723"/>
            <a:ext cx="12339909" cy="691672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
        <p:nvSpPr>
          <p:cNvPr id="15" name="ZoneTexte 14">
            <a:extLst>
              <a:ext uri="{FF2B5EF4-FFF2-40B4-BE49-F238E27FC236}">
                <a16:creationId xmlns:a16="http://schemas.microsoft.com/office/drawing/2014/main" id="{C6E7D94B-8E49-C846-A392-87DFA5EF4A9D}"/>
              </a:ext>
            </a:extLst>
          </p:cNvPr>
          <p:cNvSpPr txBox="1"/>
          <p:nvPr userDrawn="1"/>
        </p:nvSpPr>
        <p:spPr>
          <a:xfrm>
            <a:off x="221940" y="6394008"/>
            <a:ext cx="10929842" cy="261610"/>
          </a:xfrm>
          <a:prstGeom prst="rect">
            <a:avLst/>
          </a:prstGeom>
          <a:noFill/>
        </p:spPr>
        <p:txBody>
          <a:bodyPr wrap="square">
            <a:spAutoFit/>
          </a:bodyPr>
          <a:lstStyle/>
          <a:p>
            <a:r>
              <a:rPr lang="fr-FR" sz="1100">
                <a:solidFill>
                  <a:schemeClr val="bg1"/>
                </a:solidFill>
                <a:latin typeface="Helvetica" panose="020B0604020202020204" pitchFamily="34" charset="0"/>
                <a:cs typeface="Helvetica" panose="020B0604020202020204" pitchFamily="34" charset="0"/>
              </a:rPr>
              <a:t>Empreinte Africaine, Expertise Internationale</a:t>
            </a:r>
          </a:p>
        </p:txBody>
      </p:sp>
    </p:spTree>
    <p:extLst>
      <p:ext uri="{BB962C8B-B14F-4D97-AF65-F5344CB8AC3E}">
        <p14:creationId xmlns:p14="http://schemas.microsoft.com/office/powerpoint/2010/main" val="20634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Tree>
    <p:extLst>
      <p:ext uri="{BB962C8B-B14F-4D97-AF65-F5344CB8AC3E}">
        <p14:creationId xmlns:p14="http://schemas.microsoft.com/office/powerpoint/2010/main" val="60505563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9.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print">
            <a:extLst>
              <a:ext uri="{28A0092B-C50C-407E-A947-70E740481C1C}">
                <a14:useLocalDpi xmlns:a14="http://schemas.microsoft.com/office/drawing/2010/main" val="0"/>
              </a:ext>
            </a:extLst>
          </a:blip>
          <a:srcRect l="-175" t="524" r="-2445" b="9082"/>
          <a:stretch/>
        </p:blipFill>
        <p:spPr>
          <a:xfrm>
            <a:off x="4883082" y="0"/>
            <a:ext cx="7785652" cy="6858000"/>
          </a:xfrm>
          <a:prstGeom prst="rect">
            <a:avLst/>
          </a:prstGeom>
        </p:spPr>
      </p:pic>
      <p:sp>
        <p:nvSpPr>
          <p:cNvPr id="5" name="Rectangle 4"/>
          <p:cNvSpPr/>
          <p:nvPr/>
        </p:nvSpPr>
        <p:spPr>
          <a:xfrm>
            <a:off x="13092" y="0"/>
            <a:ext cx="5740400" cy="6858000"/>
          </a:xfrm>
          <a:prstGeom prst="rect">
            <a:avLst/>
          </a:prstGeom>
          <a:solidFill>
            <a:srgbClr val="0606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8" name="Text Placeholder 4">
            <a:extLst>
              <a:ext uri="{FF2B5EF4-FFF2-40B4-BE49-F238E27FC236}">
                <a16:creationId xmlns:a16="http://schemas.microsoft.com/office/drawing/2014/main" id="{5B17207E-7FD3-4B75-ADFE-CC565F8DB8A1}"/>
              </a:ext>
            </a:extLst>
          </p:cNvPr>
          <p:cNvSpPr txBox="1">
            <a:spLocks/>
          </p:cNvSpPr>
          <p:nvPr/>
        </p:nvSpPr>
        <p:spPr>
          <a:xfrm>
            <a:off x="10506325" y="6388244"/>
            <a:ext cx="1187835" cy="337676"/>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I" sz="1000" noProof="0">
                <a:solidFill>
                  <a:srgbClr val="FFFFFF"/>
                </a:solidFill>
                <a:latin typeface=".Helvetica"/>
                <a:ea typeface=".Helvetica Neue Interface" panose="020B0604020202020204" pitchFamily="34" charset="0"/>
                <a:cs typeface="Open Sans"/>
              </a:rPr>
              <a:t>26 octobre 2026</a:t>
            </a:r>
          </a:p>
        </p:txBody>
      </p:sp>
      <p:sp>
        <p:nvSpPr>
          <p:cNvPr id="9" name="Google Shape;138;p25"/>
          <p:cNvSpPr txBox="1"/>
          <p:nvPr/>
        </p:nvSpPr>
        <p:spPr>
          <a:xfrm>
            <a:off x="908861" y="2534894"/>
            <a:ext cx="5918659" cy="1231106"/>
          </a:xfrm>
          <a:prstGeom prst="rect">
            <a:avLst/>
          </a:prstGeom>
          <a:noFill/>
          <a:ln>
            <a:noFill/>
          </a:ln>
        </p:spPr>
        <p:txBody>
          <a:bodyPr spcFirstLastPara="1" wrap="square" lIns="0" tIns="0" rIns="0" bIns="0" anchor="t" anchorCtr="0">
            <a:spAutoFit/>
          </a:bodyPr>
          <a:lstStyle/>
          <a:p>
            <a:r>
              <a:rPr lang="fr-CI" sz="4000" b="1" noProof="0">
                <a:solidFill>
                  <a:srgbClr val="FFFFFF"/>
                </a:solidFill>
                <a:latin typeface="Helvetica" panose="020B0604020202020204" pitchFamily="34" charset="0"/>
                <a:cs typeface="Helvetica" panose="020B0604020202020204" pitchFamily="34" charset="0"/>
              </a:rPr>
              <a:t>Audit Comptable et financier FPPN</a:t>
            </a:r>
          </a:p>
        </p:txBody>
      </p:sp>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2" name="Rectangle 11"/>
          <p:cNvSpPr/>
          <p:nvPr/>
        </p:nvSpPr>
        <p:spPr>
          <a:xfrm>
            <a:off x="9487408" y="229231"/>
            <a:ext cx="2704592" cy="1323439"/>
          </a:xfrm>
          <a:prstGeom prst="rect">
            <a:avLst/>
          </a:prstGeom>
        </p:spPr>
        <p:txBody>
          <a:bodyPr wrap="square">
            <a:spAutoFit/>
          </a:bodyPr>
          <a:lstStyle/>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SA au Capital de 100 millions FCFA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Immeuble le 24, 3e étage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Boulevard </a:t>
            </a:r>
            <a:r>
              <a:rPr lang="fr-CI" sz="1000" noProof="0" err="1">
                <a:solidFill>
                  <a:schemeClr val="bg1"/>
                </a:solidFill>
                <a:latin typeface="Helvetica" panose="020B0604020202020204" pitchFamily="34" charset="0"/>
                <a:ea typeface="Times New Roman" panose="02020603050405020304" pitchFamily="18" charset="0"/>
                <a:cs typeface="Helvetica" panose="020B0604020202020204" pitchFamily="34" charset="0"/>
              </a:rPr>
              <a:t>Clozel</a:t>
            </a: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 Plateau, Abidjan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06 BPM 459 Abidjan 06, Côte d’ivoire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NCC : 2404702K</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RCCM : CI-ABJ-03-2024-B14-00114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Tel (225) 27 20 33 90 90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www.adenka.ci</a:t>
            </a:r>
          </a:p>
        </p:txBody>
      </p:sp>
      <p:sp>
        <p:nvSpPr>
          <p:cNvPr id="17" name="ZoneTexte 2"/>
          <p:cNvSpPr txBox="1"/>
          <p:nvPr/>
        </p:nvSpPr>
        <p:spPr>
          <a:xfrm>
            <a:off x="817421" y="5135034"/>
            <a:ext cx="6497320" cy="461665"/>
          </a:xfrm>
          <a:prstGeom prst="rect">
            <a:avLst/>
          </a:prstGeom>
          <a:noFill/>
        </p:spPr>
        <p:txBody>
          <a:bodyPr wrap="none">
            <a:spAutoFit/>
          </a:bodyPr>
          <a:lstStyle/>
          <a:p>
            <a:r>
              <a:rPr sz="2400" b="1">
                <a:solidFill>
                  <a:srgbClr val="EFAC62"/>
                </a:solidFill>
                <a:latin typeface="Helvetica"/>
              </a:rPr>
              <a:t>Les constats par activité</a:t>
            </a:r>
          </a:p>
        </p:txBody>
      </p:sp>
      <p:pic>
        <p:nvPicPr>
          <p:cNvPr id="18" name="Logo FPPN" descr="logo_fppn.jpg"/>
          <p:cNvPicPr>
            <a:picLocks noChangeAspect="1"/>
          </p:cNvPicPr>
          <p:nvPr/>
        </p:nvPicPr>
        <p:blipFill>
          <a:blip r:embed="rId4"/>
          <a:srcRect t="23449" b="29631"/>
          <a:stretch>
            <a:fillRect/>
          </a:stretch>
        </p:blipFill>
        <p:spPr>
          <a:xfrm>
            <a:off x="938577" y="4017907"/>
            <a:ext cx="1844040" cy="865220"/>
          </a:xfrm>
          <a:prstGeom prst="rect">
            <a:avLst/>
          </a:prstGeom>
        </p:spPr>
      </p:pic>
    </p:spTree>
    <p:extLst>
      <p:ext uri="{BB962C8B-B14F-4D97-AF65-F5344CB8AC3E}">
        <p14:creationId xmlns:p14="http://schemas.microsoft.com/office/powerpoint/2010/main" val="104732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972000" y="306000"/>
            <a:ext cx="7200000" cy="396000"/>
          </a:xfrm>
          <a:prstGeom prst="rect">
            <a:avLst/>
          </a:prstGeom>
          <a:noFill/>
        </p:spPr>
        <p:txBody>
          <a:bodyPr wrap="square" anchor="t" lIns="54000" rIns="54000"/>
          <a:lstStyle/>
          <a:p>
            <a:pPr algn="l"/>
            <a:r>
              <a:rPr sz="2400" b="1">
                <a:solidFill>
                  <a:srgbClr val="112A40"/>
                </a:solidFill>
                <a:latin typeface="Helvetica"/>
              </a:rPr>
              <a:t>SOMMAIRE</a:t>
            </a:r>
          </a:p>
        </p:txBody>
      </p:sp>
      <p:cxnSp>
        <p:nvCxnSpPr>
          <p:cNvPr id="28" name="Connector 27"/>
          <p:cNvCxnSpPr/>
          <p:nvPr/>
        </p:nvCxnSpPr>
        <p:spPr>
          <a:xfrm>
            <a:off x="932400" y="1470600"/>
            <a:ext cx="0" cy="147960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2400" y="14706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745999" y="1254600"/>
            <a:ext cx="432000" cy="4320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6"/>
          <a:stretch>
            <a:fillRect/>
          </a:stretch>
        </p:blipFill>
        <p:spPr>
          <a:xfrm>
            <a:off x="1832399" y="1341000"/>
            <a:ext cx="259200" cy="259200"/>
          </a:xfrm>
          <a:prstGeom prst="rect">
            <a:avLst/>
          </a:prstGeom>
        </p:spPr>
      </p:pic>
      <p:sp>
        <p:nvSpPr>
          <p:cNvPr id="32" name="Rectangle 31"/>
          <p:cNvSpPr/>
          <p:nvPr/>
        </p:nvSpPr>
        <p:spPr>
          <a:xfrm>
            <a:off x="2444400" y="1288800"/>
            <a:ext cx="8272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600">
                <a:solidFill>
                  <a:srgbClr val="060606"/>
                </a:solidFill>
                <a:latin typeface="Helvetica"/>
              </a:rPr>
              <a:t>Vue d'ensemble</a:t>
            </a:r>
          </a:p>
        </p:txBody>
      </p:sp>
      <p:sp>
        <p:nvSpPr>
          <p:cNvPr id="33" name="Rectangle 32"/>
          <p:cNvSpPr/>
          <p:nvPr/>
        </p:nvSpPr>
        <p:spPr>
          <a:xfrm>
            <a:off x="10756800" y="1288800"/>
            <a:ext cx="550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600">
                <a:solidFill>
                  <a:srgbClr val="060606"/>
                </a:solidFill>
                <a:latin typeface="Helvetica"/>
              </a:rPr>
              <a:t>3</a:t>
            </a:r>
          </a:p>
        </p:txBody>
      </p:sp>
      <p:cxnSp>
        <p:nvCxnSpPr>
          <p:cNvPr id="34" name="Connector 33"/>
          <p:cNvCxnSpPr/>
          <p:nvPr/>
        </p:nvCxnSpPr>
        <p:spPr>
          <a:xfrm>
            <a:off x="932400" y="19638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745999" y="1747800"/>
            <a:ext cx="432000" cy="4320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7"/>
          <a:stretch>
            <a:fillRect/>
          </a:stretch>
        </p:blipFill>
        <p:spPr>
          <a:xfrm>
            <a:off x="1832399" y="1834200"/>
            <a:ext cx="259200" cy="259200"/>
          </a:xfrm>
          <a:prstGeom prst="rect">
            <a:avLst/>
          </a:prstGeom>
        </p:spPr>
      </p:pic>
      <p:sp>
        <p:nvSpPr>
          <p:cNvPr id="37" name="Rectangle 36"/>
          <p:cNvSpPr/>
          <p:nvPr/>
        </p:nvSpPr>
        <p:spPr>
          <a:xfrm>
            <a:off x="2444400" y="1782000"/>
            <a:ext cx="8272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600">
                <a:solidFill>
                  <a:srgbClr val="060606"/>
                </a:solidFill>
                <a:latin typeface="Helvetica"/>
              </a:rPr>
              <a:t>Produits</a:t>
            </a:r>
          </a:p>
        </p:txBody>
      </p:sp>
      <p:sp>
        <p:nvSpPr>
          <p:cNvPr id="38" name="Rectangle 37"/>
          <p:cNvSpPr/>
          <p:nvPr/>
        </p:nvSpPr>
        <p:spPr>
          <a:xfrm>
            <a:off x="10756800" y="1782000"/>
            <a:ext cx="550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600">
                <a:solidFill>
                  <a:srgbClr val="060606"/>
                </a:solidFill>
                <a:latin typeface="Helvetica"/>
              </a:rPr>
              <a:t>7</a:t>
            </a:r>
          </a:p>
        </p:txBody>
      </p:sp>
      <p:cxnSp>
        <p:nvCxnSpPr>
          <p:cNvPr id="39" name="Connector 38"/>
          <p:cNvCxnSpPr/>
          <p:nvPr/>
        </p:nvCxnSpPr>
        <p:spPr>
          <a:xfrm>
            <a:off x="932400" y="24570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745999" y="2241000"/>
            <a:ext cx="432000" cy="4320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1832399" y="2327400"/>
            <a:ext cx="259200" cy="259200"/>
          </a:xfrm>
          <a:prstGeom prst="rect">
            <a:avLst/>
          </a:prstGeom>
        </p:spPr>
      </p:pic>
      <p:sp>
        <p:nvSpPr>
          <p:cNvPr id="42" name="Rectangle 41"/>
          <p:cNvSpPr/>
          <p:nvPr/>
        </p:nvSpPr>
        <p:spPr>
          <a:xfrm>
            <a:off x="2444400" y="2275200"/>
            <a:ext cx="8272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600">
                <a:solidFill>
                  <a:srgbClr val="060606"/>
                </a:solidFill>
                <a:latin typeface="Helvetica"/>
              </a:rPr>
              <a:t>Fonctions transverses</a:t>
            </a:r>
          </a:p>
        </p:txBody>
      </p:sp>
      <p:sp>
        <p:nvSpPr>
          <p:cNvPr id="43" name="Rectangle 42"/>
          <p:cNvSpPr/>
          <p:nvPr/>
        </p:nvSpPr>
        <p:spPr>
          <a:xfrm>
            <a:off x="10756800" y="2275200"/>
            <a:ext cx="550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600">
                <a:solidFill>
                  <a:srgbClr val="060606"/>
                </a:solidFill>
                <a:latin typeface="Helvetica"/>
              </a:rPr>
              <a:t>11</a:t>
            </a:r>
          </a:p>
        </p:txBody>
      </p:sp>
      <p:cxnSp>
        <p:nvCxnSpPr>
          <p:cNvPr id="44" name="Connector 43"/>
          <p:cNvCxnSpPr/>
          <p:nvPr/>
        </p:nvCxnSpPr>
        <p:spPr>
          <a:xfrm>
            <a:off x="932400" y="295020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745999" y="2734200"/>
            <a:ext cx="432000" cy="4320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9"/>
          <a:stretch>
            <a:fillRect/>
          </a:stretch>
        </p:blipFill>
        <p:spPr>
          <a:xfrm>
            <a:off x="1832399" y="2820600"/>
            <a:ext cx="259200" cy="259200"/>
          </a:xfrm>
          <a:prstGeom prst="rect">
            <a:avLst/>
          </a:prstGeom>
        </p:spPr>
      </p:pic>
      <p:sp>
        <p:nvSpPr>
          <p:cNvPr id="47" name="Rectangle 46"/>
          <p:cNvSpPr/>
          <p:nvPr/>
        </p:nvSpPr>
        <p:spPr>
          <a:xfrm>
            <a:off x="2444400" y="2768400"/>
            <a:ext cx="8272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600">
                <a:solidFill>
                  <a:srgbClr val="060606"/>
                </a:solidFill>
                <a:latin typeface="Helvetica"/>
              </a:rPr>
              <a:t>Annexes</a:t>
            </a:r>
          </a:p>
        </p:txBody>
      </p:sp>
      <p:sp>
        <p:nvSpPr>
          <p:cNvPr id="48" name="Rectangle 47"/>
          <p:cNvSpPr/>
          <p:nvPr/>
        </p:nvSpPr>
        <p:spPr>
          <a:xfrm>
            <a:off x="10756800" y="2768400"/>
            <a:ext cx="550800" cy="3636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600">
                <a:solidFill>
                  <a:srgbClr val="060606"/>
                </a:solidFill>
                <a:latin typeface="Helvetica"/>
              </a:rPr>
              <a:t>14</a:t>
            </a:r>
          </a:p>
        </p:txBody>
      </p:sp>
    </p:spTree>
    <p:extLst>
      <p:ext uri="{BB962C8B-B14F-4D97-AF65-F5344CB8AC3E}">
        <p14:creationId xmlns:p14="http://schemas.microsoft.com/office/powerpoint/2010/main" val="77577176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Vue d'ensemble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Les activités du FPPN, les types de constats et leur gravité</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55161340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Carte des activités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L'argent des policiers entre par la solde et la pension, et sort en prestations, en épargne et en services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64 constats sur 14 activités. Les plus graves touchent l'épargne, la liquidité et les règles de solidité</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Résumé exécutif du 26/10/2026</a:t>
            </a:r>
          </a:p>
        </p:txBody>
      </p:sp>
      <p:sp>
        <p:nvSpPr>
          <p:cNvPr id="31" name="Rectangle 30"/>
          <p:cNvSpPr/>
          <p:nvPr/>
        </p:nvSpPr>
        <p:spPr>
          <a:xfrm>
            <a:off x="503999" y="1584000"/>
            <a:ext cx="2015999" cy="5400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FFFFFF"/>
                </a:solidFill>
                <a:latin typeface="Helvetica"/>
              </a:rPr>
              <a:t>Policiers en activité</a:t>
            </a:r>
          </a:p>
          <a:p>
            <a:pPr algn="ctr"/>
            <a:r>
              <a:rPr sz="800" b="0">
                <a:solidFill>
                  <a:srgbClr val="FFFFFF"/>
                </a:solidFill>
                <a:latin typeface="Helvetica"/>
              </a:rPr>
              <a:t>cotisations et épargne prélevées sur la solde (Solde)</a:t>
            </a:r>
          </a:p>
        </p:txBody>
      </p:sp>
      <p:sp>
        <p:nvSpPr>
          <p:cNvPr id="32" name="Rectangle 31"/>
          <p:cNvSpPr/>
          <p:nvPr/>
        </p:nvSpPr>
        <p:spPr>
          <a:xfrm>
            <a:off x="503999" y="2736000"/>
            <a:ext cx="2015999" cy="5400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FFFFFF"/>
                </a:solidFill>
                <a:latin typeface="Helvetica"/>
              </a:rPr>
              <a:t>Policiers retraités</a:t>
            </a:r>
          </a:p>
          <a:p>
            <a:pPr algn="ctr"/>
            <a:r>
              <a:rPr sz="800" b="0">
                <a:solidFill>
                  <a:srgbClr val="FFFFFF"/>
                </a:solidFill>
                <a:latin typeface="Helvetica"/>
              </a:rPr>
              <a:t>cotisation santé prélevée sur la pension (CGRAE)</a:t>
            </a:r>
          </a:p>
        </p:txBody>
      </p:sp>
      <p:sp>
        <p:nvSpPr>
          <p:cNvPr id="33" name="Rectangle 32"/>
          <p:cNvSpPr/>
          <p:nvPr/>
        </p:nvSpPr>
        <p:spPr>
          <a:xfrm>
            <a:off x="3708000" y="1908000"/>
            <a:ext cx="1655999" cy="10440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FFFFFF"/>
                </a:solidFill>
                <a:latin typeface="Helvetica"/>
              </a:rPr>
              <a:t>FPPN</a:t>
            </a:r>
          </a:p>
          <a:p>
            <a:pPr algn="ctr"/>
            <a:r>
              <a:rPr sz="800" b="0">
                <a:solidFill>
                  <a:srgbClr val="FFFFFF"/>
                </a:solidFill>
                <a:latin typeface="Helvetica"/>
              </a:rPr>
              <a:t>cotisations : 3 418 141 722 FCFA en 2025
épargne due : 15 743 516 391 FCFA</a:t>
            </a:r>
          </a:p>
        </p:txBody>
      </p:sp>
      <p:cxnSp>
        <p:nvCxnSpPr>
          <p:cNvPr id="34" name="Connector 33"/>
          <p:cNvCxnSpPr/>
          <p:nvPr/>
        </p:nvCxnSpPr>
        <p:spPr>
          <a:xfrm>
            <a:off x="2520000" y="1854000"/>
            <a:ext cx="1188000" cy="378000"/>
          </a:xfrm>
          <a:prstGeom prst="line">
            <a:avLst/>
          </a:prstGeom>
          <a:ln w="22225">
            <a:solidFill>
              <a:srgbClr val="53565A"/>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520000" y="2097000"/>
            <a:ext cx="1260000" cy="144000"/>
          </a:xfrm>
          <a:prstGeom prst="rect">
            <a:avLst/>
          </a:prstGeom>
          <a:noFill/>
        </p:spPr>
        <p:txBody>
          <a:bodyPr wrap="none">
            <a:spAutoFit/>
          </a:bodyPr>
          <a:lstStyle/>
          <a:p>
            <a:pPr algn="ctr"/>
            <a:r>
              <a:rPr sz="750" b="0">
                <a:solidFill>
                  <a:srgbClr val="53565A"/>
                </a:solidFill>
                <a:latin typeface="Helvetica"/>
              </a:rPr>
              <a:t>5 % du salaire, EFC, PEP</a:t>
            </a:r>
          </a:p>
        </p:txBody>
      </p:sp>
      <p:cxnSp>
        <p:nvCxnSpPr>
          <p:cNvPr id="36" name="Connector 35"/>
          <p:cNvCxnSpPr/>
          <p:nvPr/>
        </p:nvCxnSpPr>
        <p:spPr>
          <a:xfrm flipV="1">
            <a:off x="2520000" y="2664000"/>
            <a:ext cx="1188000" cy="342000"/>
          </a:xfrm>
          <a:prstGeom prst="line">
            <a:avLst/>
          </a:prstGeom>
          <a:ln w="22225">
            <a:solidFill>
              <a:srgbClr val="53565A"/>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520000" y="2853000"/>
            <a:ext cx="1260000" cy="144000"/>
          </a:xfrm>
          <a:prstGeom prst="rect">
            <a:avLst/>
          </a:prstGeom>
          <a:noFill/>
        </p:spPr>
        <p:txBody>
          <a:bodyPr wrap="none">
            <a:spAutoFit/>
          </a:bodyPr>
          <a:lstStyle/>
          <a:p>
            <a:pPr algn="ctr"/>
            <a:r>
              <a:rPr sz="750" b="0">
                <a:solidFill>
                  <a:srgbClr val="53565A"/>
                </a:solidFill>
                <a:latin typeface="Helvetica"/>
              </a:rPr>
              <a:t>barème CGRAE</a:t>
            </a:r>
          </a:p>
        </p:txBody>
      </p:sp>
      <p:sp>
        <p:nvSpPr>
          <p:cNvPr id="38" name="Rectangle 37"/>
          <p:cNvSpPr/>
          <p:nvPr/>
        </p:nvSpPr>
        <p:spPr>
          <a:xfrm>
            <a:off x="6696000" y="1422000"/>
            <a:ext cx="5040000" cy="1800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FFFFFF"/>
                </a:solidFill>
                <a:latin typeface="Helvetica"/>
              </a:rPr>
              <a:t>Garanties</a:t>
            </a:r>
          </a:p>
        </p:txBody>
      </p:sp>
      <p:sp>
        <p:nvSpPr>
          <p:cNvPr id="39" name="Rectangle 38"/>
          <p:cNvSpPr/>
          <p:nvPr/>
        </p:nvSpPr>
        <p:spPr>
          <a:xfrm>
            <a:off x="6696000" y="1620000"/>
            <a:ext cx="1632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C00000"/>
                </a:solidFill>
                <a:latin typeface="Helvetica"/>
              </a:rPr>
              <a:t>● </a:t>
            </a:r>
            <a:r>
              <a:rPr sz="950" b="1">
                <a:solidFill>
                  <a:srgbClr val="060606"/>
                </a:solidFill>
                <a:latin typeface="Helvetica"/>
              </a:rPr>
              <a:t>Maladie</a:t>
            </a:r>
            <a:r>
              <a:rPr sz="850" b="0">
                <a:solidFill>
                  <a:srgbClr val="53565A"/>
                </a:solidFill>
                <a:latin typeface="Helvetica"/>
              </a:rPr>
              <a:t>  (6)</a:t>
            </a:r>
          </a:p>
        </p:txBody>
      </p:sp>
      <p:sp>
        <p:nvSpPr>
          <p:cNvPr id="40" name="Rectangle 39"/>
          <p:cNvSpPr/>
          <p:nvPr/>
        </p:nvSpPr>
        <p:spPr>
          <a:xfrm>
            <a:off x="8400000" y="1620000"/>
            <a:ext cx="1632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D7D31"/>
                </a:solidFill>
                <a:latin typeface="Helvetica"/>
              </a:rPr>
              <a:t>● </a:t>
            </a:r>
            <a:r>
              <a:rPr sz="950" b="1">
                <a:solidFill>
                  <a:srgbClr val="060606"/>
                </a:solidFill>
                <a:latin typeface="Helvetica"/>
              </a:rPr>
              <a:t>Décès</a:t>
            </a:r>
            <a:r>
              <a:rPr sz="850" b="0">
                <a:solidFill>
                  <a:srgbClr val="53565A"/>
                </a:solidFill>
                <a:latin typeface="Helvetica"/>
              </a:rPr>
              <a:t>  (7)</a:t>
            </a:r>
          </a:p>
        </p:txBody>
      </p:sp>
      <p:sp>
        <p:nvSpPr>
          <p:cNvPr id="41" name="Rectangle 40"/>
          <p:cNvSpPr/>
          <p:nvPr/>
        </p:nvSpPr>
        <p:spPr>
          <a:xfrm>
            <a:off x="10104000" y="1620000"/>
            <a:ext cx="1632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D7D31"/>
                </a:solidFill>
                <a:latin typeface="Helvetica"/>
              </a:rPr>
              <a:t>● </a:t>
            </a:r>
            <a:r>
              <a:rPr sz="950" b="1">
                <a:solidFill>
                  <a:srgbClr val="060606"/>
                </a:solidFill>
                <a:latin typeface="Helvetica"/>
              </a:rPr>
              <a:t>Retraités (CGRAE)</a:t>
            </a:r>
            <a:r>
              <a:rPr sz="850" b="0">
                <a:solidFill>
                  <a:srgbClr val="53565A"/>
                </a:solidFill>
                <a:latin typeface="Helvetica"/>
              </a:rPr>
              <a:t>  (5)</a:t>
            </a:r>
          </a:p>
        </p:txBody>
      </p:sp>
      <p:sp>
        <p:nvSpPr>
          <p:cNvPr id="42" name="Rectangle 41"/>
          <p:cNvSpPr/>
          <p:nvPr/>
        </p:nvSpPr>
        <p:spPr>
          <a:xfrm>
            <a:off x="6696000" y="1980000"/>
            <a:ext cx="5040000" cy="1800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FFFFFF"/>
                </a:solidFill>
                <a:latin typeface="Helvetica"/>
              </a:rPr>
              <a:t>Épargne</a:t>
            </a:r>
          </a:p>
        </p:txBody>
      </p:sp>
      <p:sp>
        <p:nvSpPr>
          <p:cNvPr id="43" name="Rectangle 42"/>
          <p:cNvSpPr/>
          <p:nvPr/>
        </p:nvSpPr>
        <p:spPr>
          <a:xfrm>
            <a:off x="6696000" y="2178000"/>
            <a:ext cx="2484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C00000"/>
                </a:solidFill>
                <a:latin typeface="Helvetica"/>
              </a:rPr>
              <a:t>● </a:t>
            </a:r>
            <a:r>
              <a:rPr sz="950" b="1">
                <a:solidFill>
                  <a:srgbClr val="060606"/>
                </a:solidFill>
                <a:latin typeface="Helvetica"/>
              </a:rPr>
              <a:t>EFC</a:t>
            </a:r>
            <a:r>
              <a:rPr sz="850" b="0">
                <a:solidFill>
                  <a:srgbClr val="53565A"/>
                </a:solidFill>
                <a:latin typeface="Helvetica"/>
              </a:rPr>
              <a:t>  (6)</a:t>
            </a:r>
          </a:p>
        </p:txBody>
      </p:sp>
      <p:sp>
        <p:nvSpPr>
          <p:cNvPr id="44" name="Rectangle 43"/>
          <p:cNvSpPr/>
          <p:nvPr/>
        </p:nvSpPr>
        <p:spPr>
          <a:xfrm>
            <a:off x="9252000" y="2178000"/>
            <a:ext cx="2484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C00000"/>
                </a:solidFill>
                <a:latin typeface="Helvetica"/>
              </a:rPr>
              <a:t>● </a:t>
            </a:r>
            <a:r>
              <a:rPr sz="950" b="1">
                <a:solidFill>
                  <a:srgbClr val="060606"/>
                </a:solidFill>
                <a:latin typeface="Helvetica"/>
              </a:rPr>
              <a:t>PEP</a:t>
            </a:r>
            <a:r>
              <a:rPr sz="850" b="0">
                <a:solidFill>
                  <a:srgbClr val="53565A"/>
                </a:solidFill>
                <a:latin typeface="Helvetica"/>
              </a:rPr>
              <a:t>  (4)</a:t>
            </a:r>
          </a:p>
        </p:txBody>
      </p:sp>
      <p:sp>
        <p:nvSpPr>
          <p:cNvPr id="45" name="Rectangle 44"/>
          <p:cNvSpPr/>
          <p:nvPr/>
        </p:nvSpPr>
        <p:spPr>
          <a:xfrm>
            <a:off x="6696000" y="2538000"/>
            <a:ext cx="5040000" cy="1800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FFFFFF"/>
                </a:solidFill>
                <a:latin typeface="Helvetica"/>
              </a:rPr>
              <a:t>Services aux policiers</a:t>
            </a:r>
          </a:p>
        </p:txBody>
      </p:sp>
      <p:sp>
        <p:nvSpPr>
          <p:cNvPr id="46" name="Rectangle 45"/>
          <p:cNvSpPr/>
          <p:nvPr/>
        </p:nvSpPr>
        <p:spPr>
          <a:xfrm>
            <a:off x="6696000" y="2736000"/>
            <a:ext cx="2484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D7D31"/>
                </a:solidFill>
                <a:latin typeface="Helvetica"/>
              </a:rPr>
              <a:t>● </a:t>
            </a:r>
            <a:r>
              <a:rPr sz="950" b="1">
                <a:solidFill>
                  <a:srgbClr val="060606"/>
                </a:solidFill>
                <a:latin typeface="Helvetica"/>
              </a:rPr>
              <a:t>Grenier</a:t>
            </a:r>
            <a:r>
              <a:rPr sz="850" b="0">
                <a:solidFill>
                  <a:srgbClr val="53565A"/>
                </a:solidFill>
                <a:latin typeface="Helvetica"/>
              </a:rPr>
              <a:t>  (4)</a:t>
            </a:r>
          </a:p>
        </p:txBody>
      </p:sp>
      <p:sp>
        <p:nvSpPr>
          <p:cNvPr id="47" name="Rectangle 46"/>
          <p:cNvSpPr/>
          <p:nvPr/>
        </p:nvSpPr>
        <p:spPr>
          <a:xfrm>
            <a:off x="9252000" y="2736000"/>
            <a:ext cx="2484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FFC000"/>
                </a:solidFill>
                <a:latin typeface="Helvetica"/>
              </a:rPr>
              <a:t>● </a:t>
            </a:r>
            <a:r>
              <a:rPr sz="950" b="1">
                <a:solidFill>
                  <a:srgbClr val="060606"/>
                </a:solidFill>
                <a:latin typeface="Helvetica"/>
              </a:rPr>
              <a:t>Flotte automobile</a:t>
            </a:r>
            <a:r>
              <a:rPr sz="850" b="0">
                <a:solidFill>
                  <a:srgbClr val="53565A"/>
                </a:solidFill>
                <a:latin typeface="Helvetica"/>
              </a:rPr>
              <a:t>  (3)</a:t>
            </a:r>
          </a:p>
        </p:txBody>
      </p:sp>
      <p:sp>
        <p:nvSpPr>
          <p:cNvPr id="48" name="Rectangle 47"/>
          <p:cNvSpPr/>
          <p:nvPr/>
        </p:nvSpPr>
        <p:spPr>
          <a:xfrm>
            <a:off x="6696000" y="3024000"/>
            <a:ext cx="2484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D7D31"/>
                </a:solidFill>
                <a:latin typeface="Helvetica"/>
              </a:rPr>
              <a:t>● </a:t>
            </a:r>
            <a:r>
              <a:rPr sz="950" b="1">
                <a:solidFill>
                  <a:srgbClr val="060606"/>
                </a:solidFill>
                <a:latin typeface="Helvetica"/>
              </a:rPr>
              <a:t>MEDOC</a:t>
            </a:r>
            <a:r>
              <a:rPr sz="850" b="0">
                <a:solidFill>
                  <a:srgbClr val="53565A"/>
                </a:solidFill>
                <a:latin typeface="Helvetica"/>
              </a:rPr>
              <a:t>  (2)</a:t>
            </a:r>
          </a:p>
        </p:txBody>
      </p:sp>
      <p:sp>
        <p:nvSpPr>
          <p:cNvPr id="49" name="Rectangle 48"/>
          <p:cNvSpPr/>
          <p:nvPr/>
        </p:nvSpPr>
        <p:spPr>
          <a:xfrm>
            <a:off x="9252000" y="3024000"/>
            <a:ext cx="24840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D7D31"/>
                </a:solidFill>
                <a:latin typeface="Helvetica"/>
              </a:rPr>
              <a:t>● </a:t>
            </a:r>
            <a:r>
              <a:rPr sz="950" b="1">
                <a:solidFill>
                  <a:srgbClr val="060606"/>
                </a:solidFill>
                <a:latin typeface="Helvetica"/>
              </a:rPr>
              <a:t>Clinique (CMP)</a:t>
            </a:r>
            <a:r>
              <a:rPr sz="850" b="0">
                <a:solidFill>
                  <a:srgbClr val="53565A"/>
                </a:solidFill>
                <a:latin typeface="Helvetica"/>
              </a:rPr>
              <a:t>  (2)</a:t>
            </a:r>
          </a:p>
        </p:txBody>
      </p:sp>
      <p:cxnSp>
        <p:nvCxnSpPr>
          <p:cNvPr id="50" name="Connector 49"/>
          <p:cNvCxnSpPr/>
          <p:nvPr/>
        </p:nvCxnSpPr>
        <p:spPr>
          <a:xfrm flipV="1">
            <a:off x="5364000" y="1745999"/>
            <a:ext cx="1332000" cy="270000"/>
          </a:xfrm>
          <a:prstGeom prst="line">
            <a:avLst/>
          </a:prstGeom>
          <a:ln w="22225">
            <a:solidFill>
              <a:srgbClr val="53565A"/>
            </a:solidFill>
            <a:tailEnd type="triangl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364000" y="1683000"/>
            <a:ext cx="1404000" cy="144000"/>
          </a:xfrm>
          <a:prstGeom prst="rect">
            <a:avLst/>
          </a:prstGeom>
          <a:noFill/>
        </p:spPr>
        <p:txBody>
          <a:bodyPr wrap="none">
            <a:spAutoFit/>
          </a:bodyPr>
          <a:lstStyle/>
          <a:p>
            <a:pPr algn="ctr"/>
            <a:r>
              <a:rPr sz="750" b="0">
                <a:solidFill>
                  <a:srgbClr val="53565A"/>
                </a:solidFill>
                <a:latin typeface="Helvetica"/>
              </a:rPr>
              <a:t>soins, allocations</a:t>
            </a:r>
          </a:p>
        </p:txBody>
      </p:sp>
      <p:cxnSp>
        <p:nvCxnSpPr>
          <p:cNvPr id="52" name="Connector 51"/>
          <p:cNvCxnSpPr/>
          <p:nvPr/>
        </p:nvCxnSpPr>
        <p:spPr>
          <a:xfrm flipV="1">
            <a:off x="5364000" y="2304000"/>
            <a:ext cx="1332000" cy="126000"/>
          </a:xfrm>
          <a:prstGeom prst="line">
            <a:avLst/>
          </a:prstGeom>
          <a:ln w="22225">
            <a:solidFill>
              <a:srgbClr val="53565A"/>
            </a:solidFill>
            <a:tailEnd type="triangle"/>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364000" y="2187000"/>
            <a:ext cx="1404000" cy="144000"/>
          </a:xfrm>
          <a:prstGeom prst="rect">
            <a:avLst/>
          </a:prstGeom>
          <a:noFill/>
        </p:spPr>
        <p:txBody>
          <a:bodyPr wrap="none">
            <a:spAutoFit/>
          </a:bodyPr>
          <a:lstStyle/>
          <a:p>
            <a:pPr algn="ctr"/>
            <a:r>
              <a:rPr sz="750" b="0">
                <a:solidFill>
                  <a:srgbClr val="53565A"/>
                </a:solidFill>
                <a:latin typeface="Helvetica"/>
              </a:rPr>
              <a:t>remboursement de l'épargne</a:t>
            </a:r>
          </a:p>
        </p:txBody>
      </p:sp>
      <p:cxnSp>
        <p:nvCxnSpPr>
          <p:cNvPr id="54" name="Connector 53"/>
          <p:cNvCxnSpPr/>
          <p:nvPr/>
        </p:nvCxnSpPr>
        <p:spPr>
          <a:xfrm>
            <a:off x="5364000" y="2844000"/>
            <a:ext cx="1332000" cy="162000"/>
          </a:xfrm>
          <a:prstGeom prst="line">
            <a:avLst/>
          </a:prstGeom>
          <a:ln w="22225">
            <a:solidFill>
              <a:srgbClr val="53565A"/>
            </a:solidFill>
            <a:tailEnd type="triangle"/>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364000" y="2961000"/>
            <a:ext cx="1404000" cy="144000"/>
          </a:xfrm>
          <a:prstGeom prst="rect">
            <a:avLst/>
          </a:prstGeom>
          <a:noFill/>
        </p:spPr>
        <p:txBody>
          <a:bodyPr wrap="none">
            <a:spAutoFit/>
          </a:bodyPr>
          <a:lstStyle/>
          <a:p>
            <a:pPr algn="ctr"/>
            <a:r>
              <a:rPr sz="750" b="0">
                <a:solidFill>
                  <a:srgbClr val="53565A"/>
                </a:solidFill>
                <a:latin typeface="Helvetica"/>
              </a:rPr>
              <a:t>prêts, assurance, soins</a:t>
            </a:r>
          </a:p>
        </p:txBody>
      </p:sp>
      <p:sp>
        <p:nvSpPr>
          <p:cNvPr id="56" name="Rectangle 55"/>
          <p:cNvSpPr/>
          <p:nvPr/>
        </p:nvSpPr>
        <p:spPr>
          <a:xfrm>
            <a:off x="503999" y="3726000"/>
            <a:ext cx="11232000" cy="198000"/>
          </a:xfrm>
          <a:prstGeom prst="rect">
            <a:avLst/>
          </a:prstGeom>
          <a:solidFill>
            <a:srgbClr val="53565A"/>
          </a:solidFill>
          <a:ln w="952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50" b="1">
                <a:solidFill>
                  <a:srgbClr val="FFFFFF"/>
                </a:solidFill>
                <a:latin typeface="Helvetica"/>
              </a:rPr>
              <a:t>Fonctions transverses</a:t>
            </a:r>
          </a:p>
        </p:txBody>
      </p:sp>
      <p:sp>
        <p:nvSpPr>
          <p:cNvPr id="57" name="Rectangle 56"/>
          <p:cNvSpPr/>
          <p:nvPr/>
        </p:nvSpPr>
        <p:spPr>
          <a:xfrm>
            <a:off x="503999" y="3978000"/>
            <a:ext cx="21312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D7D31"/>
                </a:solidFill>
                <a:latin typeface="Helvetica"/>
              </a:rPr>
              <a:t>● </a:t>
            </a:r>
            <a:r>
              <a:rPr sz="950" b="1">
                <a:solidFill>
                  <a:srgbClr val="060606"/>
                </a:solidFill>
                <a:latin typeface="Helvetica"/>
              </a:rPr>
              <a:t>Cotisations et précomptes</a:t>
            </a:r>
            <a:r>
              <a:rPr sz="850" b="0">
                <a:solidFill>
                  <a:srgbClr val="53565A"/>
                </a:solidFill>
                <a:latin typeface="Helvetica"/>
              </a:rPr>
              <a:t>  (5)</a:t>
            </a:r>
          </a:p>
        </p:txBody>
      </p:sp>
      <p:sp>
        <p:nvSpPr>
          <p:cNvPr id="58" name="Rectangle 57"/>
          <p:cNvSpPr/>
          <p:nvPr/>
        </p:nvSpPr>
        <p:spPr>
          <a:xfrm>
            <a:off x="2779200" y="3978000"/>
            <a:ext cx="21312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C00000"/>
                </a:solidFill>
                <a:latin typeface="Helvetica"/>
              </a:rPr>
              <a:t>● </a:t>
            </a:r>
            <a:r>
              <a:rPr sz="950" b="1">
                <a:solidFill>
                  <a:srgbClr val="060606"/>
                </a:solidFill>
                <a:latin typeface="Helvetica"/>
              </a:rPr>
              <a:t>Comptabilité et provisions</a:t>
            </a:r>
            <a:r>
              <a:rPr sz="850" b="0">
                <a:solidFill>
                  <a:srgbClr val="53565A"/>
                </a:solidFill>
                <a:latin typeface="Helvetica"/>
              </a:rPr>
              <a:t>  (6)</a:t>
            </a:r>
          </a:p>
        </p:txBody>
      </p:sp>
      <p:sp>
        <p:nvSpPr>
          <p:cNvPr id="59" name="Rectangle 58"/>
          <p:cNvSpPr/>
          <p:nvPr/>
        </p:nvSpPr>
        <p:spPr>
          <a:xfrm>
            <a:off x="5054400" y="3978000"/>
            <a:ext cx="21312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C00000"/>
                </a:solidFill>
                <a:latin typeface="Helvetica"/>
              </a:rPr>
              <a:t>● </a:t>
            </a:r>
            <a:r>
              <a:rPr sz="950" b="1">
                <a:solidFill>
                  <a:srgbClr val="060606"/>
                </a:solidFill>
                <a:latin typeface="Helvetica"/>
              </a:rPr>
              <a:t>Trésorerie et placements</a:t>
            </a:r>
            <a:r>
              <a:rPr sz="850" b="0">
                <a:solidFill>
                  <a:srgbClr val="53565A"/>
                </a:solidFill>
                <a:latin typeface="Helvetica"/>
              </a:rPr>
              <a:t>  (6)</a:t>
            </a:r>
          </a:p>
        </p:txBody>
      </p:sp>
      <p:sp>
        <p:nvSpPr>
          <p:cNvPr id="60" name="Rectangle 59"/>
          <p:cNvSpPr/>
          <p:nvPr/>
        </p:nvSpPr>
        <p:spPr>
          <a:xfrm>
            <a:off x="7329600" y="3978000"/>
            <a:ext cx="21312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C00000"/>
                </a:solidFill>
                <a:latin typeface="Helvetica"/>
              </a:rPr>
              <a:t>● </a:t>
            </a:r>
            <a:r>
              <a:rPr sz="950" b="1">
                <a:solidFill>
                  <a:srgbClr val="060606"/>
                </a:solidFill>
                <a:latin typeface="Helvetica"/>
              </a:rPr>
              <a:t>Gouvernance</a:t>
            </a:r>
            <a:r>
              <a:rPr sz="850" b="0">
                <a:solidFill>
                  <a:srgbClr val="53565A"/>
                </a:solidFill>
                <a:latin typeface="Helvetica"/>
              </a:rPr>
              <a:t>  (4)</a:t>
            </a:r>
          </a:p>
        </p:txBody>
      </p:sp>
      <p:sp>
        <p:nvSpPr>
          <p:cNvPr id="61" name="Rectangle 60"/>
          <p:cNvSpPr/>
          <p:nvPr/>
        </p:nvSpPr>
        <p:spPr>
          <a:xfrm>
            <a:off x="9604800" y="3978000"/>
            <a:ext cx="2131200" cy="259200"/>
          </a:xfrm>
          <a:prstGeom prst="rect">
            <a:avLst/>
          </a:prstGeom>
          <a:solidFill>
            <a:srgbClr val="FFFFFF"/>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1100" b="1">
                <a:solidFill>
                  <a:srgbClr val="ED7D31"/>
                </a:solidFill>
                <a:latin typeface="Helvetica"/>
              </a:rPr>
              <a:t>● </a:t>
            </a:r>
            <a:r>
              <a:rPr sz="950" b="1">
                <a:solidFill>
                  <a:srgbClr val="060606"/>
                </a:solidFill>
                <a:latin typeface="Helvetica"/>
              </a:rPr>
              <a:t>Données et informatique</a:t>
            </a:r>
            <a:r>
              <a:rPr sz="850" b="0">
                <a:solidFill>
                  <a:srgbClr val="53565A"/>
                </a:solidFill>
                <a:latin typeface="Helvetica"/>
              </a:rPr>
              <a:t>  (4)</a:t>
            </a:r>
          </a:p>
        </p:txBody>
      </p:sp>
      <p:sp>
        <p:nvSpPr>
          <p:cNvPr id="62" name="TextBox 61"/>
          <p:cNvSpPr txBox="1"/>
          <p:nvPr/>
        </p:nvSpPr>
        <p:spPr>
          <a:xfrm>
            <a:off x="503999" y="4374000"/>
            <a:ext cx="11232000" cy="1224000"/>
          </a:xfrm>
          <a:prstGeom prst="rect">
            <a:avLst/>
          </a:prstGeom>
          <a:noFill/>
        </p:spPr>
        <p:txBody>
          <a:bodyPr wrap="square">
            <a:spAutoFit/>
          </a:bodyPr>
          <a:lstStyle/>
          <a:p>
            <a:pPr>
              <a:spcAft>
                <a:spcPts val="400"/>
              </a:spcAft>
            </a:pPr>
            <a:r>
              <a:rPr sz="1100" b="1">
                <a:solidFill>
                  <a:srgbClr val="060606"/>
                </a:solidFill>
                <a:latin typeface="Helvetica"/>
              </a:rPr>
              <a:t>Comment lire. </a:t>
            </a:r>
            <a:r>
              <a:rPr sz="1100" b="0">
                <a:solidFill>
                  <a:srgbClr val="060606"/>
                </a:solidFill>
                <a:latin typeface="Helvetica"/>
              </a:rPr>
              <a:t>Chaque activité porte une boule de la couleur de son constat le plus grave et, entre parenthèses, son nombre de constats. Les flèches suivent l'argent : il entre par les prélèvements sur la solde et sur la pension, il sort en prestations, en remboursements d'épargne et en services.</a:t>
            </a:r>
          </a:p>
          <a:p>
            <a:pPr>
              <a:spcAft>
                <a:spcPts val="400"/>
              </a:spcAft>
            </a:pPr>
            <a:r>
              <a:rPr sz="1100" b="1">
                <a:solidFill>
                  <a:srgbClr val="060606"/>
                </a:solidFill>
                <a:latin typeface="Helvetica"/>
              </a:rPr>
              <a:t>Ce que montre la carte. </a:t>
            </a:r>
            <a:r>
              <a:rPr sz="1100" b="0">
                <a:solidFill>
                  <a:srgbClr val="060606"/>
                </a:solidFill>
                <a:latin typeface="Helvetica"/>
              </a:rPr>
              <a:t>Les activités les plus exposées touchent à l'épargne (EFC, PEP, trésorerie et placements) et aux règles de solidité (gouvernance, comptabilité et provisions). Les services aux policiers posent surtout la question de l'épargne qu'ils immobilisent (Grenier, clinique) et de leurs documents.</a:t>
            </a:r>
          </a:p>
        </p:txBody>
      </p:sp>
      <p:sp>
        <p:nvSpPr>
          <p:cNvPr id="63" name="TextBox 62"/>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Clinique médicale du policier | MEDOC : produit santé complémentaire du poste 8Z7</a:t>
            </a:r>
          </a:p>
        </p:txBody>
      </p:sp>
    </p:spTree>
    <p:extLst>
      <p:ext uri="{BB962C8B-B14F-4D97-AF65-F5344CB8AC3E}">
        <p14:creationId xmlns:p14="http://schemas.microsoft.com/office/powerpoint/2010/main" val="39290273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Activités et types de constats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manques de données touchent 9 activités sur 14, les constats critiques portent sur l'épargne et la solidité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Matrice des 14 activités et des cinq types de constats : données, comptabilité, actuariel, conformité, gouvernance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Analyses Adenka</a:t>
            </a:r>
          </a:p>
        </p:txBody>
      </p:sp>
      <p:sp>
        <p:nvSpPr>
          <p:cNvPr id="31" name="Rectangle 30"/>
          <p:cNvSpPr/>
          <p:nvPr/>
        </p:nvSpPr>
        <p:spPr>
          <a:xfrm>
            <a:off x="503999" y="1422000"/>
            <a:ext cx="2304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FFFFFF"/>
                </a:solidFill>
                <a:latin typeface="Helvetica"/>
              </a:rPr>
              <a:t>Activité</a:t>
            </a:r>
          </a:p>
        </p:txBody>
      </p:sp>
      <p:sp>
        <p:nvSpPr>
          <p:cNvPr id="32" name="Rectangle 31"/>
          <p:cNvSpPr/>
          <p:nvPr/>
        </p:nvSpPr>
        <p:spPr>
          <a:xfrm>
            <a:off x="2808000" y="1422000"/>
            <a:ext cx="1404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FFFFFF"/>
                </a:solidFill>
                <a:latin typeface="Helvetica"/>
              </a:rPr>
              <a:t>Données</a:t>
            </a:r>
          </a:p>
        </p:txBody>
      </p:sp>
      <p:sp>
        <p:nvSpPr>
          <p:cNvPr id="33" name="Rectangle 32"/>
          <p:cNvSpPr/>
          <p:nvPr/>
        </p:nvSpPr>
        <p:spPr>
          <a:xfrm>
            <a:off x="4212000" y="1422000"/>
            <a:ext cx="1404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FFFFFF"/>
                </a:solidFill>
                <a:latin typeface="Helvetica"/>
              </a:rPr>
              <a:t>Comptabilité</a:t>
            </a:r>
          </a:p>
        </p:txBody>
      </p:sp>
      <p:sp>
        <p:nvSpPr>
          <p:cNvPr id="34" name="Rectangle 33"/>
          <p:cNvSpPr/>
          <p:nvPr/>
        </p:nvSpPr>
        <p:spPr>
          <a:xfrm>
            <a:off x="5616000" y="1422000"/>
            <a:ext cx="1404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FFFFFF"/>
                </a:solidFill>
                <a:latin typeface="Helvetica"/>
              </a:rPr>
              <a:t>Actuariel</a:t>
            </a:r>
          </a:p>
        </p:txBody>
      </p:sp>
      <p:sp>
        <p:nvSpPr>
          <p:cNvPr id="35" name="Rectangle 34"/>
          <p:cNvSpPr/>
          <p:nvPr/>
        </p:nvSpPr>
        <p:spPr>
          <a:xfrm>
            <a:off x="7020000" y="1422000"/>
            <a:ext cx="1404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FFFFFF"/>
                </a:solidFill>
                <a:latin typeface="Helvetica"/>
              </a:rPr>
              <a:t>Conformité</a:t>
            </a:r>
          </a:p>
        </p:txBody>
      </p:sp>
      <p:sp>
        <p:nvSpPr>
          <p:cNvPr id="36" name="Rectangle 35"/>
          <p:cNvSpPr/>
          <p:nvPr/>
        </p:nvSpPr>
        <p:spPr>
          <a:xfrm>
            <a:off x="8424000" y="1422000"/>
            <a:ext cx="1404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FFFFFF"/>
                </a:solidFill>
                <a:latin typeface="Helvetica"/>
              </a:rPr>
              <a:t>Gouvernance</a:t>
            </a:r>
          </a:p>
        </p:txBody>
      </p:sp>
      <p:sp>
        <p:nvSpPr>
          <p:cNvPr id="37" name="Rectangle 36"/>
          <p:cNvSpPr/>
          <p:nvPr/>
        </p:nvSpPr>
        <p:spPr>
          <a:xfrm>
            <a:off x="9827999" y="1422000"/>
            <a:ext cx="1908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50" b="1">
                <a:solidFill>
                  <a:srgbClr val="FFFFFF"/>
                </a:solidFill>
                <a:latin typeface="Helvetica"/>
              </a:rPr>
              <a:t>Total</a:t>
            </a:r>
          </a:p>
        </p:txBody>
      </p:sp>
      <p:sp>
        <p:nvSpPr>
          <p:cNvPr id="38" name="Rectangle 37"/>
          <p:cNvSpPr/>
          <p:nvPr/>
        </p:nvSpPr>
        <p:spPr>
          <a:xfrm>
            <a:off x="503999" y="16452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Maladie</a:t>
            </a:r>
          </a:p>
        </p:txBody>
      </p:sp>
      <p:sp>
        <p:nvSpPr>
          <p:cNvPr id="39" name="Rectangle 38"/>
          <p:cNvSpPr/>
          <p:nvPr/>
        </p:nvSpPr>
        <p:spPr>
          <a:xfrm>
            <a:off x="2808000" y="16452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2</a:t>
            </a:r>
          </a:p>
        </p:txBody>
      </p:sp>
      <p:sp>
        <p:nvSpPr>
          <p:cNvPr id="40" name="Rectangle 39"/>
          <p:cNvSpPr/>
          <p:nvPr/>
        </p:nvSpPr>
        <p:spPr>
          <a:xfrm>
            <a:off x="4212000" y="16452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2</a:t>
            </a:r>
          </a:p>
        </p:txBody>
      </p:sp>
      <p:sp>
        <p:nvSpPr>
          <p:cNvPr id="41" name="Rectangle 40"/>
          <p:cNvSpPr/>
          <p:nvPr/>
        </p:nvSpPr>
        <p:spPr>
          <a:xfrm>
            <a:off x="5616000" y="16452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2</a:t>
            </a:r>
          </a:p>
        </p:txBody>
      </p:sp>
      <p:sp>
        <p:nvSpPr>
          <p:cNvPr id="42" name="Rectangle 41"/>
          <p:cNvSpPr/>
          <p:nvPr/>
        </p:nvSpPr>
        <p:spPr>
          <a:xfrm>
            <a:off x="7020000" y="16452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1</a:t>
            </a:r>
          </a:p>
        </p:txBody>
      </p:sp>
      <p:sp>
        <p:nvSpPr>
          <p:cNvPr id="43" name="Rectangle 42"/>
          <p:cNvSpPr/>
          <p:nvPr/>
        </p:nvSpPr>
        <p:spPr>
          <a:xfrm>
            <a:off x="8424000" y="16452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44" name="Rectangle 43"/>
          <p:cNvSpPr/>
          <p:nvPr/>
        </p:nvSpPr>
        <p:spPr>
          <a:xfrm>
            <a:off x="9827999" y="16452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6 constats</a:t>
            </a:r>
          </a:p>
        </p:txBody>
      </p:sp>
      <p:sp>
        <p:nvSpPr>
          <p:cNvPr id="45" name="Rectangle 44"/>
          <p:cNvSpPr/>
          <p:nvPr/>
        </p:nvSpPr>
        <p:spPr>
          <a:xfrm>
            <a:off x="503999" y="19116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Décès</a:t>
            </a:r>
          </a:p>
        </p:txBody>
      </p:sp>
      <p:sp>
        <p:nvSpPr>
          <p:cNvPr id="46" name="Rectangle 45"/>
          <p:cNvSpPr/>
          <p:nvPr/>
        </p:nvSpPr>
        <p:spPr>
          <a:xfrm>
            <a:off x="2808000" y="19116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2</a:t>
            </a:r>
          </a:p>
        </p:txBody>
      </p:sp>
      <p:sp>
        <p:nvSpPr>
          <p:cNvPr id="47" name="Rectangle 46"/>
          <p:cNvSpPr/>
          <p:nvPr/>
        </p:nvSpPr>
        <p:spPr>
          <a:xfrm>
            <a:off x="4212000" y="19116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5</a:t>
            </a:r>
          </a:p>
        </p:txBody>
      </p:sp>
      <p:sp>
        <p:nvSpPr>
          <p:cNvPr id="48" name="Rectangle 47"/>
          <p:cNvSpPr/>
          <p:nvPr/>
        </p:nvSpPr>
        <p:spPr>
          <a:xfrm>
            <a:off x="5616000" y="19116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49" name="Rectangle 48"/>
          <p:cNvSpPr/>
          <p:nvPr/>
        </p:nvSpPr>
        <p:spPr>
          <a:xfrm>
            <a:off x="7020000" y="19116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50" name="Rectangle 49"/>
          <p:cNvSpPr/>
          <p:nvPr/>
        </p:nvSpPr>
        <p:spPr>
          <a:xfrm>
            <a:off x="8424000" y="19116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1" name="Rectangle 50"/>
          <p:cNvSpPr/>
          <p:nvPr/>
        </p:nvSpPr>
        <p:spPr>
          <a:xfrm>
            <a:off x="9827999" y="19116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7 constats</a:t>
            </a:r>
          </a:p>
        </p:txBody>
      </p:sp>
      <p:sp>
        <p:nvSpPr>
          <p:cNvPr id="52" name="Rectangle 51"/>
          <p:cNvSpPr/>
          <p:nvPr/>
        </p:nvSpPr>
        <p:spPr>
          <a:xfrm>
            <a:off x="503999" y="21780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Retraités (CGRAE)</a:t>
            </a:r>
          </a:p>
        </p:txBody>
      </p:sp>
      <p:sp>
        <p:nvSpPr>
          <p:cNvPr id="53" name="Rectangle 52"/>
          <p:cNvSpPr/>
          <p:nvPr/>
        </p:nvSpPr>
        <p:spPr>
          <a:xfrm>
            <a:off x="2808000" y="21780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2</a:t>
            </a:r>
          </a:p>
        </p:txBody>
      </p:sp>
      <p:sp>
        <p:nvSpPr>
          <p:cNvPr id="54" name="Rectangle 53"/>
          <p:cNvSpPr/>
          <p:nvPr/>
        </p:nvSpPr>
        <p:spPr>
          <a:xfrm>
            <a:off x="4212000" y="21780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1</a:t>
            </a:r>
          </a:p>
        </p:txBody>
      </p:sp>
      <p:sp>
        <p:nvSpPr>
          <p:cNvPr id="55" name="Rectangle 54"/>
          <p:cNvSpPr/>
          <p:nvPr/>
        </p:nvSpPr>
        <p:spPr>
          <a:xfrm>
            <a:off x="5616000" y="21780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2</a:t>
            </a:r>
          </a:p>
        </p:txBody>
      </p:sp>
      <p:sp>
        <p:nvSpPr>
          <p:cNvPr id="56" name="Rectangle 55"/>
          <p:cNvSpPr/>
          <p:nvPr/>
        </p:nvSpPr>
        <p:spPr>
          <a:xfrm>
            <a:off x="7020000" y="21780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57" name="Rectangle 56"/>
          <p:cNvSpPr/>
          <p:nvPr/>
        </p:nvSpPr>
        <p:spPr>
          <a:xfrm>
            <a:off x="8424000" y="21780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58" name="Rectangle 57"/>
          <p:cNvSpPr/>
          <p:nvPr/>
        </p:nvSpPr>
        <p:spPr>
          <a:xfrm>
            <a:off x="9827999" y="21780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5 constats</a:t>
            </a:r>
          </a:p>
        </p:txBody>
      </p:sp>
      <p:sp>
        <p:nvSpPr>
          <p:cNvPr id="59" name="Rectangle 58"/>
          <p:cNvSpPr/>
          <p:nvPr/>
        </p:nvSpPr>
        <p:spPr>
          <a:xfrm>
            <a:off x="503999" y="24444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EFC</a:t>
            </a:r>
          </a:p>
        </p:txBody>
      </p:sp>
      <p:sp>
        <p:nvSpPr>
          <p:cNvPr id="60" name="Rectangle 59"/>
          <p:cNvSpPr/>
          <p:nvPr/>
        </p:nvSpPr>
        <p:spPr>
          <a:xfrm>
            <a:off x="2808000" y="24444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2</a:t>
            </a:r>
          </a:p>
        </p:txBody>
      </p:sp>
      <p:sp>
        <p:nvSpPr>
          <p:cNvPr id="61" name="Rectangle 60"/>
          <p:cNvSpPr/>
          <p:nvPr/>
        </p:nvSpPr>
        <p:spPr>
          <a:xfrm>
            <a:off x="4212000" y="24444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1</a:t>
            </a:r>
          </a:p>
        </p:txBody>
      </p:sp>
      <p:sp>
        <p:nvSpPr>
          <p:cNvPr id="62" name="Rectangle 61"/>
          <p:cNvSpPr/>
          <p:nvPr/>
        </p:nvSpPr>
        <p:spPr>
          <a:xfrm>
            <a:off x="5616000" y="24444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3</a:t>
            </a:r>
          </a:p>
        </p:txBody>
      </p:sp>
      <p:sp>
        <p:nvSpPr>
          <p:cNvPr id="63" name="Rectangle 62"/>
          <p:cNvSpPr/>
          <p:nvPr/>
        </p:nvSpPr>
        <p:spPr>
          <a:xfrm>
            <a:off x="7020000" y="24444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1</a:t>
            </a:r>
          </a:p>
        </p:txBody>
      </p:sp>
      <p:sp>
        <p:nvSpPr>
          <p:cNvPr id="64" name="Rectangle 63"/>
          <p:cNvSpPr/>
          <p:nvPr/>
        </p:nvSpPr>
        <p:spPr>
          <a:xfrm>
            <a:off x="8424000" y="24444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1</a:t>
            </a:r>
          </a:p>
        </p:txBody>
      </p:sp>
      <p:sp>
        <p:nvSpPr>
          <p:cNvPr id="65" name="Rectangle 64"/>
          <p:cNvSpPr/>
          <p:nvPr/>
        </p:nvSpPr>
        <p:spPr>
          <a:xfrm>
            <a:off x="9827999" y="24444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6 constats</a:t>
            </a:r>
          </a:p>
        </p:txBody>
      </p:sp>
      <p:sp>
        <p:nvSpPr>
          <p:cNvPr id="66" name="Rectangle 65"/>
          <p:cNvSpPr/>
          <p:nvPr/>
        </p:nvSpPr>
        <p:spPr>
          <a:xfrm>
            <a:off x="503999" y="27108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PEP</a:t>
            </a:r>
          </a:p>
        </p:txBody>
      </p:sp>
      <p:sp>
        <p:nvSpPr>
          <p:cNvPr id="67" name="Rectangle 66"/>
          <p:cNvSpPr/>
          <p:nvPr/>
        </p:nvSpPr>
        <p:spPr>
          <a:xfrm>
            <a:off x="2808000" y="27108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1</a:t>
            </a:r>
          </a:p>
        </p:txBody>
      </p:sp>
      <p:sp>
        <p:nvSpPr>
          <p:cNvPr id="68" name="Rectangle 67"/>
          <p:cNvSpPr/>
          <p:nvPr/>
        </p:nvSpPr>
        <p:spPr>
          <a:xfrm>
            <a:off x="4212000" y="27108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2</a:t>
            </a:r>
          </a:p>
        </p:txBody>
      </p:sp>
      <p:sp>
        <p:nvSpPr>
          <p:cNvPr id="69" name="Rectangle 68"/>
          <p:cNvSpPr/>
          <p:nvPr/>
        </p:nvSpPr>
        <p:spPr>
          <a:xfrm>
            <a:off x="5616000" y="27108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70" name="Rectangle 69"/>
          <p:cNvSpPr/>
          <p:nvPr/>
        </p:nvSpPr>
        <p:spPr>
          <a:xfrm>
            <a:off x="7020000" y="27108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1" name="Rectangle 70"/>
          <p:cNvSpPr/>
          <p:nvPr/>
        </p:nvSpPr>
        <p:spPr>
          <a:xfrm>
            <a:off x="8424000" y="27108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2" name="Rectangle 71"/>
          <p:cNvSpPr/>
          <p:nvPr/>
        </p:nvSpPr>
        <p:spPr>
          <a:xfrm>
            <a:off x="9827999" y="27108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4 constats</a:t>
            </a:r>
          </a:p>
        </p:txBody>
      </p:sp>
      <p:sp>
        <p:nvSpPr>
          <p:cNvPr id="73" name="Rectangle 72"/>
          <p:cNvSpPr/>
          <p:nvPr/>
        </p:nvSpPr>
        <p:spPr>
          <a:xfrm>
            <a:off x="503999" y="29772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MEDOC</a:t>
            </a:r>
          </a:p>
        </p:txBody>
      </p:sp>
      <p:sp>
        <p:nvSpPr>
          <p:cNvPr id="74" name="Rectangle 73"/>
          <p:cNvSpPr/>
          <p:nvPr/>
        </p:nvSpPr>
        <p:spPr>
          <a:xfrm>
            <a:off x="2808000" y="29772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75" name="Rectangle 74"/>
          <p:cNvSpPr/>
          <p:nvPr/>
        </p:nvSpPr>
        <p:spPr>
          <a:xfrm>
            <a:off x="4212000" y="29772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1</a:t>
            </a:r>
          </a:p>
        </p:txBody>
      </p:sp>
      <p:sp>
        <p:nvSpPr>
          <p:cNvPr id="76" name="Rectangle 75"/>
          <p:cNvSpPr/>
          <p:nvPr/>
        </p:nvSpPr>
        <p:spPr>
          <a:xfrm>
            <a:off x="5616000" y="29772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7" name="Rectangle 76"/>
          <p:cNvSpPr/>
          <p:nvPr/>
        </p:nvSpPr>
        <p:spPr>
          <a:xfrm>
            <a:off x="7020000" y="29772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8" name="Rectangle 77"/>
          <p:cNvSpPr/>
          <p:nvPr/>
        </p:nvSpPr>
        <p:spPr>
          <a:xfrm>
            <a:off x="8424000" y="29772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79" name="Rectangle 78"/>
          <p:cNvSpPr/>
          <p:nvPr/>
        </p:nvSpPr>
        <p:spPr>
          <a:xfrm>
            <a:off x="9827999" y="29772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2 constats</a:t>
            </a:r>
          </a:p>
        </p:txBody>
      </p:sp>
      <p:sp>
        <p:nvSpPr>
          <p:cNvPr id="80" name="Rectangle 79"/>
          <p:cNvSpPr/>
          <p:nvPr/>
        </p:nvSpPr>
        <p:spPr>
          <a:xfrm>
            <a:off x="503999" y="32436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Grenier</a:t>
            </a:r>
          </a:p>
        </p:txBody>
      </p:sp>
      <p:sp>
        <p:nvSpPr>
          <p:cNvPr id="81" name="Rectangle 80"/>
          <p:cNvSpPr/>
          <p:nvPr/>
        </p:nvSpPr>
        <p:spPr>
          <a:xfrm>
            <a:off x="2808000" y="32436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2" name="Rectangle 81"/>
          <p:cNvSpPr/>
          <p:nvPr/>
        </p:nvSpPr>
        <p:spPr>
          <a:xfrm>
            <a:off x="4212000" y="32436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2</a:t>
            </a:r>
          </a:p>
        </p:txBody>
      </p:sp>
      <p:sp>
        <p:nvSpPr>
          <p:cNvPr id="83" name="Rectangle 82"/>
          <p:cNvSpPr/>
          <p:nvPr/>
        </p:nvSpPr>
        <p:spPr>
          <a:xfrm>
            <a:off x="5616000" y="32436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2</a:t>
            </a:r>
          </a:p>
        </p:txBody>
      </p:sp>
      <p:sp>
        <p:nvSpPr>
          <p:cNvPr id="84" name="Rectangle 83"/>
          <p:cNvSpPr/>
          <p:nvPr/>
        </p:nvSpPr>
        <p:spPr>
          <a:xfrm>
            <a:off x="7020000" y="32436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85" name="Rectangle 84"/>
          <p:cNvSpPr/>
          <p:nvPr/>
        </p:nvSpPr>
        <p:spPr>
          <a:xfrm>
            <a:off x="8424000" y="32436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86" name="Rectangle 85"/>
          <p:cNvSpPr/>
          <p:nvPr/>
        </p:nvSpPr>
        <p:spPr>
          <a:xfrm>
            <a:off x="9827999" y="32436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4 constats</a:t>
            </a:r>
          </a:p>
        </p:txBody>
      </p:sp>
      <p:sp>
        <p:nvSpPr>
          <p:cNvPr id="87" name="Rectangle 86"/>
          <p:cNvSpPr/>
          <p:nvPr/>
        </p:nvSpPr>
        <p:spPr>
          <a:xfrm>
            <a:off x="503999" y="35100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Flotte automobile</a:t>
            </a:r>
          </a:p>
        </p:txBody>
      </p:sp>
      <p:sp>
        <p:nvSpPr>
          <p:cNvPr id="88" name="Rectangle 87"/>
          <p:cNvSpPr/>
          <p:nvPr/>
        </p:nvSpPr>
        <p:spPr>
          <a:xfrm>
            <a:off x="2808000" y="35100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2</a:t>
            </a:r>
          </a:p>
        </p:txBody>
      </p:sp>
      <p:sp>
        <p:nvSpPr>
          <p:cNvPr id="89" name="Rectangle 88"/>
          <p:cNvSpPr/>
          <p:nvPr/>
        </p:nvSpPr>
        <p:spPr>
          <a:xfrm>
            <a:off x="4212000" y="35100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1</a:t>
            </a:r>
          </a:p>
        </p:txBody>
      </p:sp>
      <p:sp>
        <p:nvSpPr>
          <p:cNvPr id="90" name="Rectangle 89"/>
          <p:cNvSpPr/>
          <p:nvPr/>
        </p:nvSpPr>
        <p:spPr>
          <a:xfrm>
            <a:off x="5616000" y="35100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91" name="Rectangle 90"/>
          <p:cNvSpPr/>
          <p:nvPr/>
        </p:nvSpPr>
        <p:spPr>
          <a:xfrm>
            <a:off x="7020000" y="35100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92" name="Rectangle 91"/>
          <p:cNvSpPr/>
          <p:nvPr/>
        </p:nvSpPr>
        <p:spPr>
          <a:xfrm>
            <a:off x="8424000" y="35100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93" name="Rectangle 92"/>
          <p:cNvSpPr/>
          <p:nvPr/>
        </p:nvSpPr>
        <p:spPr>
          <a:xfrm>
            <a:off x="9827999" y="35100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3 constats</a:t>
            </a:r>
          </a:p>
        </p:txBody>
      </p:sp>
      <p:sp>
        <p:nvSpPr>
          <p:cNvPr id="94" name="Rectangle 93"/>
          <p:cNvSpPr/>
          <p:nvPr/>
        </p:nvSpPr>
        <p:spPr>
          <a:xfrm>
            <a:off x="503999" y="37764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Clinique (CMP)</a:t>
            </a:r>
          </a:p>
        </p:txBody>
      </p:sp>
      <p:sp>
        <p:nvSpPr>
          <p:cNvPr id="95" name="Rectangle 94"/>
          <p:cNvSpPr/>
          <p:nvPr/>
        </p:nvSpPr>
        <p:spPr>
          <a:xfrm>
            <a:off x="2808000" y="37764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96" name="Rectangle 95"/>
          <p:cNvSpPr/>
          <p:nvPr/>
        </p:nvSpPr>
        <p:spPr>
          <a:xfrm>
            <a:off x="4212000" y="37764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97" name="Rectangle 96"/>
          <p:cNvSpPr/>
          <p:nvPr/>
        </p:nvSpPr>
        <p:spPr>
          <a:xfrm>
            <a:off x="5616000" y="37764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98" name="Rectangle 97"/>
          <p:cNvSpPr/>
          <p:nvPr/>
        </p:nvSpPr>
        <p:spPr>
          <a:xfrm>
            <a:off x="7020000" y="37764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99" name="Rectangle 98"/>
          <p:cNvSpPr/>
          <p:nvPr/>
        </p:nvSpPr>
        <p:spPr>
          <a:xfrm>
            <a:off x="8424000" y="37764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00" name="Rectangle 99"/>
          <p:cNvSpPr/>
          <p:nvPr/>
        </p:nvSpPr>
        <p:spPr>
          <a:xfrm>
            <a:off x="9827999" y="37764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2 constats</a:t>
            </a:r>
          </a:p>
        </p:txBody>
      </p:sp>
      <p:sp>
        <p:nvSpPr>
          <p:cNvPr id="101" name="Rectangle 100"/>
          <p:cNvSpPr/>
          <p:nvPr/>
        </p:nvSpPr>
        <p:spPr>
          <a:xfrm>
            <a:off x="503999" y="40428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Cotisations et précomptes</a:t>
            </a:r>
          </a:p>
        </p:txBody>
      </p:sp>
      <p:sp>
        <p:nvSpPr>
          <p:cNvPr id="102" name="Rectangle 101"/>
          <p:cNvSpPr/>
          <p:nvPr/>
        </p:nvSpPr>
        <p:spPr>
          <a:xfrm>
            <a:off x="2808000" y="4042800"/>
            <a:ext cx="1404000" cy="266400"/>
          </a:xfrm>
          <a:prstGeom prst="rect">
            <a:avLst/>
          </a:prstGeom>
          <a:solidFill>
            <a:srgbClr val="FFF2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C000"/>
                </a:solidFill>
                <a:latin typeface="Helvetica"/>
              </a:rPr>
              <a:t>● </a:t>
            </a:r>
            <a:r>
              <a:rPr sz="950" b="1">
                <a:solidFill>
                  <a:srgbClr val="060606"/>
                </a:solidFill>
                <a:latin typeface="Helvetica"/>
              </a:rPr>
              <a:t>2</a:t>
            </a:r>
          </a:p>
        </p:txBody>
      </p:sp>
      <p:sp>
        <p:nvSpPr>
          <p:cNvPr id="103" name="Rectangle 102"/>
          <p:cNvSpPr/>
          <p:nvPr/>
        </p:nvSpPr>
        <p:spPr>
          <a:xfrm>
            <a:off x="4212000" y="40428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3</a:t>
            </a:r>
          </a:p>
        </p:txBody>
      </p:sp>
      <p:sp>
        <p:nvSpPr>
          <p:cNvPr id="104" name="Rectangle 103"/>
          <p:cNvSpPr/>
          <p:nvPr/>
        </p:nvSpPr>
        <p:spPr>
          <a:xfrm>
            <a:off x="5616000" y="40428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05" name="Rectangle 104"/>
          <p:cNvSpPr/>
          <p:nvPr/>
        </p:nvSpPr>
        <p:spPr>
          <a:xfrm>
            <a:off x="7020000" y="40428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06" name="Rectangle 105"/>
          <p:cNvSpPr/>
          <p:nvPr/>
        </p:nvSpPr>
        <p:spPr>
          <a:xfrm>
            <a:off x="8424000" y="40428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07" name="Rectangle 106"/>
          <p:cNvSpPr/>
          <p:nvPr/>
        </p:nvSpPr>
        <p:spPr>
          <a:xfrm>
            <a:off x="9827999" y="40428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5 constats</a:t>
            </a:r>
          </a:p>
        </p:txBody>
      </p:sp>
      <p:sp>
        <p:nvSpPr>
          <p:cNvPr id="108" name="Rectangle 107"/>
          <p:cNvSpPr/>
          <p:nvPr/>
        </p:nvSpPr>
        <p:spPr>
          <a:xfrm>
            <a:off x="503999" y="43092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Comptabilité et provisions</a:t>
            </a:r>
          </a:p>
        </p:txBody>
      </p:sp>
      <p:sp>
        <p:nvSpPr>
          <p:cNvPr id="109" name="Rectangle 108"/>
          <p:cNvSpPr/>
          <p:nvPr/>
        </p:nvSpPr>
        <p:spPr>
          <a:xfrm>
            <a:off x="2808000" y="43092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10" name="Rectangle 109"/>
          <p:cNvSpPr/>
          <p:nvPr/>
        </p:nvSpPr>
        <p:spPr>
          <a:xfrm>
            <a:off x="4212000" y="43092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5</a:t>
            </a:r>
          </a:p>
        </p:txBody>
      </p:sp>
      <p:sp>
        <p:nvSpPr>
          <p:cNvPr id="111" name="Rectangle 110"/>
          <p:cNvSpPr/>
          <p:nvPr/>
        </p:nvSpPr>
        <p:spPr>
          <a:xfrm>
            <a:off x="5616000" y="43092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12" name="Rectangle 111"/>
          <p:cNvSpPr/>
          <p:nvPr/>
        </p:nvSpPr>
        <p:spPr>
          <a:xfrm>
            <a:off x="7020000" y="43092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1</a:t>
            </a:r>
          </a:p>
        </p:txBody>
      </p:sp>
      <p:sp>
        <p:nvSpPr>
          <p:cNvPr id="113" name="Rectangle 112"/>
          <p:cNvSpPr/>
          <p:nvPr/>
        </p:nvSpPr>
        <p:spPr>
          <a:xfrm>
            <a:off x="8424000" y="43092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1</a:t>
            </a:r>
          </a:p>
        </p:txBody>
      </p:sp>
      <p:sp>
        <p:nvSpPr>
          <p:cNvPr id="114" name="Rectangle 113"/>
          <p:cNvSpPr/>
          <p:nvPr/>
        </p:nvSpPr>
        <p:spPr>
          <a:xfrm>
            <a:off x="9827999" y="43092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6 constats</a:t>
            </a:r>
          </a:p>
        </p:txBody>
      </p:sp>
      <p:sp>
        <p:nvSpPr>
          <p:cNvPr id="115" name="Rectangle 114"/>
          <p:cNvSpPr/>
          <p:nvPr/>
        </p:nvSpPr>
        <p:spPr>
          <a:xfrm>
            <a:off x="503999" y="45756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Trésorerie et placements</a:t>
            </a:r>
          </a:p>
        </p:txBody>
      </p:sp>
      <p:sp>
        <p:nvSpPr>
          <p:cNvPr id="116" name="Rectangle 115"/>
          <p:cNvSpPr/>
          <p:nvPr/>
        </p:nvSpPr>
        <p:spPr>
          <a:xfrm>
            <a:off x="2808000" y="45756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17" name="Rectangle 116"/>
          <p:cNvSpPr/>
          <p:nvPr/>
        </p:nvSpPr>
        <p:spPr>
          <a:xfrm>
            <a:off x="4212000" y="45756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18" name="Rectangle 117"/>
          <p:cNvSpPr/>
          <p:nvPr/>
        </p:nvSpPr>
        <p:spPr>
          <a:xfrm>
            <a:off x="5616000" y="45756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5</a:t>
            </a:r>
          </a:p>
        </p:txBody>
      </p:sp>
      <p:sp>
        <p:nvSpPr>
          <p:cNvPr id="119" name="Rectangle 118"/>
          <p:cNvSpPr/>
          <p:nvPr/>
        </p:nvSpPr>
        <p:spPr>
          <a:xfrm>
            <a:off x="7020000" y="45756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3</a:t>
            </a:r>
          </a:p>
        </p:txBody>
      </p:sp>
      <p:sp>
        <p:nvSpPr>
          <p:cNvPr id="120" name="Rectangle 119"/>
          <p:cNvSpPr/>
          <p:nvPr/>
        </p:nvSpPr>
        <p:spPr>
          <a:xfrm>
            <a:off x="8424000" y="45756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21" name="Rectangle 120"/>
          <p:cNvSpPr/>
          <p:nvPr/>
        </p:nvSpPr>
        <p:spPr>
          <a:xfrm>
            <a:off x="9827999" y="45756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6 constats</a:t>
            </a:r>
          </a:p>
        </p:txBody>
      </p:sp>
      <p:sp>
        <p:nvSpPr>
          <p:cNvPr id="122" name="Rectangle 121"/>
          <p:cNvSpPr/>
          <p:nvPr/>
        </p:nvSpPr>
        <p:spPr>
          <a:xfrm>
            <a:off x="503999" y="48420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Gouvernance</a:t>
            </a:r>
          </a:p>
        </p:txBody>
      </p:sp>
      <p:sp>
        <p:nvSpPr>
          <p:cNvPr id="123" name="Rectangle 122"/>
          <p:cNvSpPr/>
          <p:nvPr/>
        </p:nvSpPr>
        <p:spPr>
          <a:xfrm>
            <a:off x="2808000" y="48420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24" name="Rectangle 123"/>
          <p:cNvSpPr/>
          <p:nvPr/>
        </p:nvSpPr>
        <p:spPr>
          <a:xfrm>
            <a:off x="4212000" y="48420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25" name="Rectangle 124"/>
          <p:cNvSpPr/>
          <p:nvPr/>
        </p:nvSpPr>
        <p:spPr>
          <a:xfrm>
            <a:off x="5616000" y="48420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26" name="Rectangle 125"/>
          <p:cNvSpPr/>
          <p:nvPr/>
        </p:nvSpPr>
        <p:spPr>
          <a:xfrm>
            <a:off x="7020000" y="4842000"/>
            <a:ext cx="1404000" cy="266400"/>
          </a:xfrm>
          <a:prstGeom prst="rect">
            <a:avLst/>
          </a:prstGeom>
          <a:solidFill>
            <a:srgbClr val="F4CCCC"/>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C00000"/>
                </a:solidFill>
                <a:latin typeface="Helvetica"/>
              </a:rPr>
              <a:t>● </a:t>
            </a:r>
            <a:r>
              <a:rPr sz="950" b="1">
                <a:solidFill>
                  <a:srgbClr val="060606"/>
                </a:solidFill>
                <a:latin typeface="Helvetica"/>
              </a:rPr>
              <a:t>2</a:t>
            </a:r>
          </a:p>
        </p:txBody>
      </p:sp>
      <p:sp>
        <p:nvSpPr>
          <p:cNvPr id="127" name="Rectangle 126"/>
          <p:cNvSpPr/>
          <p:nvPr/>
        </p:nvSpPr>
        <p:spPr>
          <a:xfrm>
            <a:off x="8424000" y="48420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2</a:t>
            </a:r>
          </a:p>
        </p:txBody>
      </p:sp>
      <p:sp>
        <p:nvSpPr>
          <p:cNvPr id="128" name="Rectangle 127"/>
          <p:cNvSpPr/>
          <p:nvPr/>
        </p:nvSpPr>
        <p:spPr>
          <a:xfrm>
            <a:off x="9827999" y="48420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4 constats</a:t>
            </a:r>
          </a:p>
        </p:txBody>
      </p:sp>
      <p:sp>
        <p:nvSpPr>
          <p:cNvPr id="129" name="Rectangle 128"/>
          <p:cNvSpPr/>
          <p:nvPr/>
        </p:nvSpPr>
        <p:spPr>
          <a:xfrm>
            <a:off x="503999" y="5108400"/>
            <a:ext cx="2304000" cy="266400"/>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060606"/>
                </a:solidFill>
                <a:latin typeface="Helvetica"/>
              </a:rPr>
              <a:t>Données et informatique</a:t>
            </a:r>
          </a:p>
        </p:txBody>
      </p:sp>
      <p:sp>
        <p:nvSpPr>
          <p:cNvPr id="130" name="Rectangle 129"/>
          <p:cNvSpPr/>
          <p:nvPr/>
        </p:nvSpPr>
        <p:spPr>
          <a:xfrm>
            <a:off x="2808000" y="5108400"/>
            <a:ext cx="1404000" cy="266400"/>
          </a:xfrm>
          <a:prstGeom prst="rect">
            <a:avLst/>
          </a:prstGeom>
          <a:solidFill>
            <a:srgbClr val="FCE5CD"/>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ED7D31"/>
                </a:solidFill>
                <a:latin typeface="Helvetica"/>
              </a:rPr>
              <a:t>● </a:t>
            </a:r>
            <a:r>
              <a:rPr sz="950" b="1">
                <a:solidFill>
                  <a:srgbClr val="060606"/>
                </a:solidFill>
                <a:latin typeface="Helvetica"/>
              </a:rPr>
              <a:t>4</a:t>
            </a:r>
          </a:p>
        </p:txBody>
      </p:sp>
      <p:sp>
        <p:nvSpPr>
          <p:cNvPr id="131" name="Rectangle 130"/>
          <p:cNvSpPr/>
          <p:nvPr/>
        </p:nvSpPr>
        <p:spPr>
          <a:xfrm>
            <a:off x="4212000" y="51084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32" name="Rectangle 131"/>
          <p:cNvSpPr/>
          <p:nvPr/>
        </p:nvSpPr>
        <p:spPr>
          <a:xfrm>
            <a:off x="5616000" y="51084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33" name="Rectangle 132"/>
          <p:cNvSpPr/>
          <p:nvPr/>
        </p:nvSpPr>
        <p:spPr>
          <a:xfrm>
            <a:off x="7020000" y="51084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34" name="Rectangle 133"/>
          <p:cNvSpPr/>
          <p:nvPr/>
        </p:nvSpPr>
        <p:spPr>
          <a:xfrm>
            <a:off x="8424000" y="5108400"/>
            <a:ext cx="1404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p>
        </p:txBody>
      </p:sp>
      <p:sp>
        <p:nvSpPr>
          <p:cNvPr id="135" name="Rectangle 134"/>
          <p:cNvSpPr/>
          <p:nvPr/>
        </p:nvSpPr>
        <p:spPr>
          <a:xfrm>
            <a:off x="9827999" y="5108400"/>
            <a:ext cx="1908000" cy="2664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900" b="0">
                <a:solidFill>
                  <a:srgbClr val="060606"/>
                </a:solidFill>
                <a:latin typeface="Helvetica"/>
              </a:rPr>
              <a:t>4 constats</a:t>
            </a:r>
          </a:p>
        </p:txBody>
      </p:sp>
      <p:sp>
        <p:nvSpPr>
          <p:cNvPr id="136" name="TextBox 135"/>
          <p:cNvSpPr txBox="1"/>
          <p:nvPr/>
        </p:nvSpPr>
        <p:spPr>
          <a:xfrm>
            <a:off x="503999" y="5392800"/>
            <a:ext cx="11232000" cy="162000"/>
          </a:xfrm>
          <a:prstGeom prst="rect">
            <a:avLst/>
          </a:prstGeom>
          <a:noFill/>
        </p:spPr>
        <p:txBody>
          <a:bodyPr wrap="none">
            <a:spAutoFit/>
          </a:bodyPr>
          <a:lstStyle/>
          <a:p>
            <a:r>
              <a:rPr sz="750" b="1">
                <a:solidFill>
                  <a:srgbClr val="060606"/>
                </a:solidFill>
                <a:latin typeface="Helvetica"/>
              </a:rPr>
              <a:t>Dans chaque case : nombre de constats du type, et boule de la couleur du plus grave.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0">
                <a:solidFill>
                  <a:srgbClr val="060606"/>
                </a:solidFill>
                <a:latin typeface="Helvetica"/>
              </a:rPr>
              <a:t>Un constat peut relever de plusieurs types.</a:t>
            </a:r>
          </a:p>
        </p:txBody>
      </p:sp>
      <p:sp>
        <p:nvSpPr>
          <p:cNvPr id="137" name="TextBox 13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CGRAE : Caisse générale de retraite des agents de l'État | PEP : Plan Épargne Plus | EFC : entraide fin de carrière | CMP : Clinique médicale du policier | MEDOC : produit santé complémentaire du poste 8Z7</a:t>
            </a:r>
          </a:p>
        </p:txBody>
      </p:sp>
    </p:spTree>
    <p:extLst>
      <p:ext uri="{BB962C8B-B14F-4D97-AF65-F5344CB8AC3E}">
        <p14:creationId xmlns:p14="http://schemas.microsoft.com/office/powerpoint/2010/main" val="32099668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Synthèse chiffrée par activité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activités ont au moins un constat critique à traiter dans les trois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Nombre de constats, criticité la plus haute, constat le plus grave et priorité la plus haute de chaque activité</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Résumé exécutif du 26/10/2026</a:t>
            </a:r>
          </a:p>
        </p:txBody>
      </p:sp>
      <p:graphicFrame>
        <p:nvGraphicFramePr>
          <p:cNvPr id="31" name="Table 30"/>
          <p:cNvGraphicFramePr>
            <a:graphicFrameLocks noGrp="1"/>
          </p:cNvGraphicFramePr>
          <p:nvPr/>
        </p:nvGraphicFramePr>
        <p:xfrm>
          <a:off x="503999" y="1386000"/>
          <a:ext cx="11232000" cy="3058689"/>
        </p:xfrm>
        <a:graphic>
          <a:graphicData uri="http://schemas.openxmlformats.org/drawingml/2006/table">
            <a:tbl>
              <a:tblPr firstRow="0" bandRow="0">
                <a:tableStyleId>{5940675A-B579-460E-94D1-54222C63F5DA}</a:tableStyleId>
              </a:tblPr>
              <a:tblGrid>
                <a:gridCol w="2304000"/>
                <a:gridCol w="864000"/>
                <a:gridCol w="1512000"/>
                <a:gridCol w="4320000"/>
                <a:gridCol w="1296000"/>
                <a:gridCol w="936000"/>
              </a:tblGrid>
              <a:tr h="331937">
                <a:tc>
                  <a:txBody>
                    <a:bodyPr/>
                    <a:lstStyle/>
                    <a:p>
                      <a:pPr marL="0" indent="0" lvl="0">
                        <a:buNone/>
                      </a:pPr>
                      <a:r>
                        <a:rPr sz="900" b="1">
                          <a:solidFill>
                            <a:srgbClr val="FFFFFF"/>
                          </a:solidFill>
                          <a:latin typeface="Helvetica"/>
                        </a:rPr>
                        <a:t>Activité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Criticité la plus haute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 le plus grave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Priorité la plus haute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Constats en P1</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Critique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 : La garantie maladie perd de l'argent depuis 2025.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Élevé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1.b : La provision obsèques fait double emploi.</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Retraités (CGRAE)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Élevé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22.a : La durée de la garantie santé n'est pas fixée.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EFC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Critique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 Les intérêts promis ne sont pas comptabilisés.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Critique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 : Les intérêts promis ne sont pas comptabilisés.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Élevé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26.f : MEDOC n'est pas documenté.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Grenier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Élevé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25 : Le Grenier grandit vite avec l'épargne.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Moyen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18.a : Les trop-perçus ne sont pas suivis comme une dette.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Clinique (CMP)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Élevé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 : La clinique n'a pas de comptabilité séparée.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Cotisations et précomptes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Élevé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27 : Les fichiers ne sont pas rapprochés.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Comptabilité et provisions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Critique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 Les provisions ne sont pas calculées.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Trésorerie et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Critique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11 : L'argent disponible ne couvre pas l'année.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Gouvernance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Critique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 Plusieurs règles de solidité ne sont pas respectées.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Données et informatique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Élevé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 : Des données essentielles manquent.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a:t>
                      </a:r>
                    </a:p>
                  </a:txBody>
                  <a:tcPr marL="43200" marR="43200" marT="14400" marB="14400" anchor="ctr">
                    <a:solidFill>
                      <a:srgbClr val="F2F2F2"/>
                    </a:solidFill>
                  </a:tcPr>
                </a:tc>
              </a:tr>
            </a:tbl>
          </a:graphicData>
        </a:graphic>
      </p:graphicFrame>
      <p:sp>
        <p:nvSpPr>
          <p:cNvPr id="32" name="TextBox 3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CGRAE : Caisse générale de retraite des agents de l'État | PEP : Plan Épargne Plus | EFC : entraide fin de carrière | CMP : Clinique médicale du policier | MEDOC : produit santé complémentaire du poste 8Z7</a:t>
            </a:r>
          </a:p>
        </p:txBody>
      </p:sp>
    </p:spTree>
    <p:extLst>
      <p:ext uri="{BB962C8B-B14F-4D97-AF65-F5344CB8AC3E}">
        <p14:creationId xmlns:p14="http://schemas.microsoft.com/office/powerpoint/2010/main" val="296003821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Produits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Constats et commentaires, recommandations, complexité et priorité, activité par activité</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8358697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Maladie | Décès | Retraités (CGRAE)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maladie perd de l'argent depuis 2025, le décès la finance, et le coût des retraités n'est pas suivi</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18 constats, dont 3 à traiter dans les trois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4932000" y="1422000"/>
            <a:ext cx="3600000" cy="1800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FFFF"/>
                </a:solidFill>
                <a:latin typeface="Helvetica"/>
              </a:rPr>
              <a:t>ACTIVITÉS : PRODUITS</a:t>
            </a:r>
          </a:p>
        </p:txBody>
      </p:sp>
      <p:cxnSp>
        <p:nvCxnSpPr>
          <p:cNvPr id="32" name="Connector 31"/>
          <p:cNvCxnSpPr/>
          <p:nvPr/>
        </p:nvCxnSpPr>
        <p:spPr>
          <a:xfrm>
            <a:off x="6732000" y="1602000"/>
            <a:ext cx="0" cy="828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396000" y="1684800"/>
            <a:ext cx="6672000" cy="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396000" y="1684800"/>
            <a:ext cx="0" cy="792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782000" y="1764000"/>
            <a:ext cx="3228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C00000"/>
                </a:solidFill>
                <a:latin typeface="Helvetica"/>
              </a:rPr>
              <a:t>● </a:t>
            </a:r>
            <a:r>
              <a:rPr sz="1050" b="1">
                <a:solidFill>
                  <a:srgbClr val="FFFFFF"/>
                </a:solidFill>
                <a:latin typeface="Helvetica"/>
              </a:rPr>
              <a:t>MALADIE</a:t>
            </a:r>
            <a:r>
              <a:rPr sz="850" b="0">
                <a:solidFill>
                  <a:srgbClr val="FFFFFF"/>
                </a:solidFill>
                <a:latin typeface="Helvetica"/>
              </a:rPr>
              <a:t>   6 constats</a:t>
            </a:r>
          </a:p>
        </p:txBody>
      </p:sp>
      <p:cxnSp>
        <p:nvCxnSpPr>
          <p:cNvPr id="36" name="Connector 35"/>
          <p:cNvCxnSpPr/>
          <p:nvPr/>
        </p:nvCxnSpPr>
        <p:spPr>
          <a:xfrm>
            <a:off x="6732000" y="1684800"/>
            <a:ext cx="0" cy="792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118000" y="1764000"/>
            <a:ext cx="3228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ED7D31"/>
                </a:solidFill>
                <a:latin typeface="Helvetica"/>
              </a:rPr>
              <a:t>● </a:t>
            </a:r>
            <a:r>
              <a:rPr sz="1050" b="1">
                <a:solidFill>
                  <a:srgbClr val="FFFFFF"/>
                </a:solidFill>
                <a:latin typeface="Helvetica"/>
              </a:rPr>
              <a:t>DÉCÈS</a:t>
            </a:r>
            <a:r>
              <a:rPr sz="850" b="0">
                <a:solidFill>
                  <a:srgbClr val="FFFFFF"/>
                </a:solidFill>
                <a:latin typeface="Helvetica"/>
              </a:rPr>
              <a:t>   7 constats</a:t>
            </a:r>
          </a:p>
        </p:txBody>
      </p:sp>
      <p:cxnSp>
        <p:nvCxnSpPr>
          <p:cNvPr id="38" name="Connector 37"/>
          <p:cNvCxnSpPr/>
          <p:nvPr/>
        </p:nvCxnSpPr>
        <p:spPr>
          <a:xfrm>
            <a:off x="10068000" y="1684800"/>
            <a:ext cx="0" cy="792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454000" y="1764000"/>
            <a:ext cx="3228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ED7D31"/>
                </a:solidFill>
                <a:latin typeface="Helvetica"/>
              </a:rPr>
              <a:t>● </a:t>
            </a:r>
            <a:r>
              <a:rPr sz="1050" b="1">
                <a:solidFill>
                  <a:srgbClr val="FFFFFF"/>
                </a:solidFill>
                <a:latin typeface="Helvetica"/>
              </a:rPr>
              <a:t>RETRAITÉS (CGRAE)</a:t>
            </a:r>
            <a:r>
              <a:rPr sz="850" b="0">
                <a:solidFill>
                  <a:srgbClr val="FFFFFF"/>
                </a:solidFill>
                <a:latin typeface="Helvetica"/>
              </a:rPr>
              <a:t>   5 constats</a:t>
            </a:r>
          </a:p>
        </p:txBody>
      </p:sp>
      <p:sp>
        <p:nvSpPr>
          <p:cNvPr id="40" name="Rectangle 39"/>
          <p:cNvSpPr/>
          <p:nvPr/>
        </p:nvSpPr>
        <p:spPr>
          <a:xfrm>
            <a:off x="503999" y="2070000"/>
            <a:ext cx="1188000" cy="1893068"/>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Constats et commentaires</a:t>
            </a:r>
          </a:p>
        </p:txBody>
      </p:sp>
      <p:sp>
        <p:nvSpPr>
          <p:cNvPr id="41" name="Rectangle 40"/>
          <p:cNvSpPr/>
          <p:nvPr/>
        </p:nvSpPr>
        <p:spPr>
          <a:xfrm>
            <a:off x="1745999" y="2070000"/>
            <a:ext cx="3300000" cy="1893068"/>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200"/>
              </a:spcAft>
            </a:pPr>
            <a:r>
              <a:rPr sz="750" b="1">
                <a:solidFill>
                  <a:srgbClr val="C00000"/>
                </a:solidFill>
                <a:latin typeface="Helvetica"/>
              </a:rPr>
              <a:t>● </a:t>
            </a:r>
            <a:r>
              <a:rPr sz="650" b="1">
                <a:solidFill>
                  <a:srgbClr val="112A40"/>
                </a:solidFill>
                <a:latin typeface="Helvetica"/>
              </a:rPr>
              <a:t>19  </a:t>
            </a:r>
            <a:r>
              <a:rPr sz="650" b="1">
                <a:solidFill>
                  <a:srgbClr val="060606"/>
                </a:solidFill>
                <a:latin typeface="Helvetica"/>
              </a:rPr>
              <a:t>La garantie maladie perd de l'argent depuis 2025. </a:t>
            </a:r>
            <a:r>
              <a:rPr sz="650" b="0">
                <a:solidFill>
                  <a:srgbClr val="060606"/>
                </a:solidFill>
                <a:latin typeface="Helvetica"/>
              </a:rPr>
              <a:t>Les soins consomment 73,53 % des cotisations maladie en 2025 et 97,40 % sur huit mois de 2026 (109,87 % frais compris en 2025). Le niveau bas de 2020 à 2022 venait d'une couverture limitée à l'hospitalisation et de factures impayées, pas d'une bonne santé.</a:t>
            </a:r>
          </a:p>
          <a:p>
            <a:pPr algn="l">
              <a:spcAft>
                <a:spcPts val="200"/>
              </a:spcAft>
            </a:pPr>
            <a:r>
              <a:rPr sz="750" b="1">
                <a:solidFill>
                  <a:srgbClr val="ED7D31"/>
                </a:solidFill>
                <a:latin typeface="Helvetica"/>
              </a:rPr>
              <a:t>● </a:t>
            </a:r>
            <a:r>
              <a:rPr sz="650" b="1">
                <a:solidFill>
                  <a:srgbClr val="112A40"/>
                </a:solidFill>
                <a:latin typeface="Helvetica"/>
              </a:rPr>
              <a:t>1.a  </a:t>
            </a:r>
            <a:r>
              <a:rPr sz="650" b="1">
                <a:solidFill>
                  <a:srgbClr val="060606"/>
                </a:solidFill>
                <a:latin typeface="Helvetica"/>
              </a:rPr>
              <a:t>La provision maladie est figée depuis 2020. </a:t>
            </a:r>
            <a:r>
              <a:rPr sz="650" b="0">
                <a:solidFill>
                  <a:srgbClr val="060606"/>
                </a:solidFill>
                <a:latin typeface="Helvetica"/>
              </a:rPr>
              <a:t>2 867 602 878 FCFA au bilan pour un besoin mesuré de 12 481 392 FCFA.</a:t>
            </a:r>
          </a:p>
          <a:p>
            <a:pPr algn="l">
              <a:spcAft>
                <a:spcPts val="200"/>
              </a:spcAft>
            </a:pPr>
            <a:r>
              <a:rPr sz="750" b="1">
                <a:solidFill>
                  <a:srgbClr val="ED7D31"/>
                </a:solidFill>
                <a:latin typeface="Helvetica"/>
              </a:rPr>
              <a:t>● </a:t>
            </a:r>
            <a:r>
              <a:rPr sz="650" b="1">
                <a:solidFill>
                  <a:srgbClr val="112A40"/>
                </a:solidFill>
                <a:latin typeface="Helvetica"/>
              </a:rPr>
              <a:t>21  </a:t>
            </a:r>
            <a:r>
              <a:rPr sz="650" b="1">
                <a:solidFill>
                  <a:srgbClr val="060606"/>
                </a:solidFill>
                <a:latin typeface="Helvetica"/>
              </a:rPr>
              <a:t>Le paiement des cliniques ralentit. </a:t>
            </a:r>
            <a:r>
              <a:rPr sz="650" b="0">
                <a:solidFill>
                  <a:srgbClr val="060606"/>
                </a:solidFill>
                <a:latin typeface="Helvetica"/>
              </a:rPr>
              <a:t>2,62 mois en 2025, 5,00 mois au 31/08/2026, pour une règle de 3 mois. 690 234 451 FCFA de factures en attente.</a:t>
            </a:r>
          </a:p>
          <a:p>
            <a:pPr algn="l">
              <a:spcAft>
                <a:spcPts val="200"/>
              </a:spcAft>
            </a:pPr>
            <a:r>
              <a:rPr sz="750" b="1">
                <a:solidFill>
                  <a:srgbClr val="FFC000"/>
                </a:solidFill>
                <a:latin typeface="Helvetica"/>
              </a:rPr>
              <a:t>● </a:t>
            </a:r>
            <a:r>
              <a:rPr sz="650" b="1">
                <a:solidFill>
                  <a:srgbClr val="112A40"/>
                </a:solidFill>
                <a:latin typeface="Helvetica"/>
              </a:rPr>
              <a:t>26.a  </a:t>
            </a:r>
            <a:r>
              <a:rPr sz="650" b="1">
                <a:solidFill>
                  <a:srgbClr val="060606"/>
                </a:solidFill>
                <a:latin typeface="Helvetica"/>
              </a:rPr>
              <a:t>La date des soins n'est saisie nulle part. </a:t>
            </a:r>
            <a:r>
              <a:rPr sz="650" b="0">
                <a:solidFill>
                  <a:srgbClr val="060606"/>
                </a:solidFill>
                <a:latin typeface="Helvetica"/>
              </a:rPr>
              <a:t>Le délai réel de paiement et les soins non encore facturés ne peuvent pas être mesurés précisément.</a:t>
            </a:r>
          </a:p>
          <a:p>
            <a:pPr algn="l">
              <a:spcAft>
                <a:spcPts val="200"/>
              </a:spcAft>
            </a:pPr>
            <a:r>
              <a:rPr sz="750" b="1">
                <a:solidFill>
                  <a:srgbClr val="FFC000"/>
                </a:solidFill>
                <a:latin typeface="Helvetica"/>
              </a:rPr>
              <a:t>● </a:t>
            </a:r>
            <a:r>
              <a:rPr sz="650" b="1">
                <a:solidFill>
                  <a:srgbClr val="112A40"/>
                </a:solidFill>
                <a:latin typeface="Helvetica"/>
              </a:rPr>
              <a:t>19.a  </a:t>
            </a:r>
            <a:r>
              <a:rPr sz="650" b="1">
                <a:solidFill>
                  <a:srgbClr val="060606"/>
                </a:solidFill>
                <a:latin typeface="Helvetica"/>
              </a:rPr>
              <a:t>Le contrôle des factures après paiement n'est pas démontré. </a:t>
            </a:r>
            <a:r>
              <a:rPr sz="650" b="0">
                <a:solidFill>
                  <a:srgbClr val="060606"/>
                </a:solidFill>
                <a:latin typeface="Helvetica"/>
              </a:rPr>
              <a:t>Aucun registre des contrôles n'a été transmis, alors que la réglementation demande d'en contrôler au moins 5 %.</a:t>
            </a:r>
          </a:p>
          <a:p>
            <a:pPr algn="l">
              <a:spcAft>
                <a:spcPts val="200"/>
              </a:spcAft>
            </a:pPr>
            <a:r>
              <a:rPr sz="750" b="1">
                <a:solidFill>
                  <a:srgbClr val="FFC000"/>
                </a:solidFill>
                <a:latin typeface="Helvetica"/>
              </a:rPr>
              <a:t>● </a:t>
            </a:r>
            <a:r>
              <a:rPr sz="650" b="1">
                <a:solidFill>
                  <a:srgbClr val="112A40"/>
                </a:solidFill>
                <a:latin typeface="Helvetica"/>
              </a:rPr>
              <a:t>26.b  </a:t>
            </a:r>
            <a:r>
              <a:rPr sz="650" b="1">
                <a:solidFill>
                  <a:srgbClr val="060606"/>
                </a:solidFill>
                <a:latin typeface="Helvetica"/>
              </a:rPr>
              <a:t>Le fichier des cartes de santé actives manque. </a:t>
            </a:r>
            <a:r>
              <a:rPr sz="650" b="0">
                <a:solidFill>
                  <a:srgbClr val="060606"/>
                </a:solidFill>
                <a:latin typeface="Helvetica"/>
              </a:rPr>
              <a:t>Le nombre de personnes couvertes, ayants droit compris, n'est pas connu.</a:t>
            </a:r>
          </a:p>
        </p:txBody>
      </p:sp>
      <p:sp>
        <p:nvSpPr>
          <p:cNvPr id="42" name="Rectangle 41"/>
          <p:cNvSpPr/>
          <p:nvPr/>
        </p:nvSpPr>
        <p:spPr>
          <a:xfrm>
            <a:off x="5082000" y="2070000"/>
            <a:ext cx="3300000" cy="1893068"/>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200"/>
              </a:spcAft>
            </a:pPr>
            <a:r>
              <a:rPr sz="750" b="1">
                <a:solidFill>
                  <a:srgbClr val="ED7D31"/>
                </a:solidFill>
                <a:latin typeface="Helvetica"/>
              </a:rPr>
              <a:t>● </a:t>
            </a:r>
            <a:r>
              <a:rPr sz="650" b="1">
                <a:solidFill>
                  <a:srgbClr val="112A40"/>
                </a:solidFill>
                <a:latin typeface="Helvetica"/>
              </a:rPr>
              <a:t>1.b  </a:t>
            </a:r>
            <a:r>
              <a:rPr sz="650" b="1">
                <a:solidFill>
                  <a:srgbClr val="060606"/>
                </a:solidFill>
                <a:latin typeface="Helvetica"/>
              </a:rPr>
              <a:t>La provision obsèques fait double emploi. </a:t>
            </a:r>
            <a:r>
              <a:rPr sz="650" b="0">
                <a:solidFill>
                  <a:srgbClr val="060606"/>
                </a:solidFill>
                <a:latin typeface="Helvetica"/>
              </a:rPr>
              <a:t>1 961 695 412 FCFA figés depuis 2020, alors que la dette décès est déjà comptée au compte 41591000. Besoin mesuré : 7 100 000 FCFA de décès déclarés en retard.</a:t>
            </a:r>
          </a:p>
          <a:p>
            <a:pPr algn="l">
              <a:spcAft>
                <a:spcPts val="200"/>
              </a:spcAft>
            </a:pPr>
            <a:r>
              <a:rPr sz="750" b="1">
                <a:solidFill>
                  <a:srgbClr val="ED7D31"/>
                </a:solidFill>
                <a:latin typeface="Helvetica"/>
              </a:rPr>
              <a:t>● </a:t>
            </a:r>
            <a:r>
              <a:rPr sz="650" b="1">
                <a:solidFill>
                  <a:srgbClr val="112A40"/>
                </a:solidFill>
                <a:latin typeface="Helvetica"/>
              </a:rPr>
              <a:t>2  </a:t>
            </a:r>
            <a:r>
              <a:rPr sz="650" b="1">
                <a:solidFill>
                  <a:srgbClr val="060606"/>
                </a:solidFill>
                <a:latin typeface="Helvetica"/>
              </a:rPr>
              <a:t>La dette envers les familles grossit. </a:t>
            </a:r>
            <a:r>
              <a:rPr sz="650" b="0">
                <a:solidFill>
                  <a:srgbClr val="060606"/>
                </a:solidFill>
                <a:latin typeface="Helvetica"/>
              </a:rPr>
              <a:t>370 503 332 FCFA fin 2021, 489 419 669 FCFA au 31/08/2026. La date de dépôt des demandes n'est pas saisie.</a:t>
            </a:r>
          </a:p>
          <a:p>
            <a:pPr algn="l">
              <a:spcAft>
                <a:spcPts val="200"/>
              </a:spcAft>
            </a:pPr>
            <a:r>
              <a:rPr sz="750" b="1">
                <a:solidFill>
                  <a:srgbClr val="ED7D31"/>
                </a:solidFill>
                <a:latin typeface="Helvetica"/>
              </a:rPr>
              <a:t>● </a:t>
            </a:r>
            <a:r>
              <a:rPr sz="650" b="1">
                <a:solidFill>
                  <a:srgbClr val="112A40"/>
                </a:solidFill>
                <a:latin typeface="Helvetica"/>
              </a:rPr>
              <a:t>3  </a:t>
            </a:r>
            <a:r>
              <a:rPr sz="650" b="1">
                <a:solidFill>
                  <a:srgbClr val="060606"/>
                </a:solidFill>
                <a:latin typeface="Helvetica"/>
              </a:rPr>
              <a:t>Des allocations sont payées avec l'argent de l'épargne. </a:t>
            </a:r>
            <a:r>
              <a:rPr sz="650" b="0">
                <a:solidFill>
                  <a:srgbClr val="060606"/>
                </a:solidFill>
                <a:latin typeface="Helvetica"/>
              </a:rPr>
              <a:t>102 allocations payées en 2024 depuis les comptes de l'épargne, pour 53 288 000 FCFA.</a:t>
            </a:r>
          </a:p>
          <a:p>
            <a:pPr algn="l">
              <a:spcAft>
                <a:spcPts val="200"/>
              </a:spcAft>
            </a:pPr>
            <a:r>
              <a:rPr sz="750" b="1">
                <a:solidFill>
                  <a:srgbClr val="FFC000"/>
                </a:solidFill>
                <a:latin typeface="Helvetica"/>
              </a:rPr>
              <a:t>● </a:t>
            </a:r>
            <a:r>
              <a:rPr sz="650" b="1">
                <a:solidFill>
                  <a:srgbClr val="112A40"/>
                </a:solidFill>
                <a:latin typeface="Helvetica"/>
              </a:rPr>
              <a:t>20.a  </a:t>
            </a:r>
            <a:r>
              <a:rPr sz="650" b="1">
                <a:solidFill>
                  <a:srgbClr val="060606"/>
                </a:solidFill>
                <a:latin typeface="Helvetica"/>
              </a:rPr>
              <a:t>Le décès finance la maladie. </a:t>
            </a:r>
            <a:r>
              <a:rPr sz="650" b="0">
                <a:solidFill>
                  <a:srgbClr val="060606"/>
                </a:solidFill>
                <a:latin typeface="Helvetica"/>
              </a:rPr>
              <a:t>La Solde prélève 1,23 % au lieu de 1,50 %. Le décès reste excédentaire : 449 151 155 FCFA en 2025.</a:t>
            </a:r>
          </a:p>
          <a:p>
            <a:pPr algn="l">
              <a:spcAft>
                <a:spcPts val="200"/>
              </a:spcAft>
            </a:pPr>
            <a:r>
              <a:rPr sz="750" b="1">
                <a:solidFill>
                  <a:srgbClr val="FFC000"/>
                </a:solidFill>
                <a:latin typeface="Helvetica"/>
              </a:rPr>
              <a:t>● </a:t>
            </a:r>
            <a:r>
              <a:rPr sz="650" b="1">
                <a:solidFill>
                  <a:srgbClr val="112A40"/>
                </a:solidFill>
                <a:latin typeface="Helvetica"/>
              </a:rPr>
              <a:t>27.a  </a:t>
            </a:r>
            <a:r>
              <a:rPr sz="650" b="1">
                <a:solidFill>
                  <a:srgbClr val="060606"/>
                </a:solidFill>
                <a:latin typeface="Helvetica"/>
              </a:rPr>
              <a:t>Des fichiers décès sont vides ou à valider. </a:t>
            </a:r>
            <a:r>
              <a:rPr sz="650" b="0">
                <a:solidFill>
                  <a:srgbClr val="060606"/>
                </a:solidFill>
                <a:latin typeface="Helvetica"/>
              </a:rPr>
              <a:t>Fichiers de décembre 2024 vides (0 octet). Montants supérieurs à 1 000 000 FCFA à valider dans les fichiers retour.</a:t>
            </a:r>
          </a:p>
          <a:p>
            <a:pPr algn="l">
              <a:spcAft>
                <a:spcPts val="200"/>
              </a:spcAft>
            </a:pPr>
            <a:r>
              <a:rPr sz="750" b="1">
                <a:solidFill>
                  <a:srgbClr val="FFC000"/>
                </a:solidFill>
                <a:latin typeface="Helvetica"/>
              </a:rPr>
              <a:t>● </a:t>
            </a:r>
            <a:r>
              <a:rPr sz="650" b="1">
                <a:solidFill>
                  <a:srgbClr val="112A40"/>
                </a:solidFill>
                <a:latin typeface="Helvetica"/>
              </a:rPr>
              <a:t>28.a  </a:t>
            </a:r>
            <a:r>
              <a:rPr sz="650" b="1">
                <a:solidFill>
                  <a:srgbClr val="060606"/>
                </a:solidFill>
                <a:latin typeface="Helvetica"/>
              </a:rPr>
              <a:t>Les décès 2021 diffèrent selon la source. </a:t>
            </a:r>
            <a:r>
              <a:rPr sz="650" b="0">
                <a:solidFill>
                  <a:srgbClr val="060606"/>
                </a:solidFill>
                <a:latin typeface="Helvetica"/>
              </a:rPr>
              <a:t>156 020 000 FCFA dans l'étude du FPPN, 401 856 666 FCFA en comptabilité.</a:t>
            </a:r>
          </a:p>
          <a:p>
            <a:pPr algn="l">
              <a:spcAft>
                <a:spcPts val="200"/>
              </a:spcAft>
            </a:pPr>
            <a:r>
              <a:rPr sz="750" b="1">
                <a:solidFill>
                  <a:srgbClr val="FFC000"/>
                </a:solidFill>
                <a:latin typeface="Helvetica"/>
              </a:rPr>
              <a:t>● </a:t>
            </a:r>
            <a:r>
              <a:rPr sz="650" b="1">
                <a:solidFill>
                  <a:srgbClr val="112A40"/>
                </a:solidFill>
                <a:latin typeface="Helvetica"/>
              </a:rPr>
              <a:t>26.c  </a:t>
            </a:r>
            <a:r>
              <a:rPr sz="650" b="1">
                <a:solidFill>
                  <a:srgbClr val="060606"/>
                </a:solidFill>
                <a:latin typeface="Helvetica"/>
              </a:rPr>
              <a:t>Le barème officiel et la règle du suicide ne sont pas documentés. </a:t>
            </a:r>
            <a:r>
              <a:rPr sz="650" b="0">
                <a:solidFill>
                  <a:srgbClr val="060606"/>
                </a:solidFill>
                <a:latin typeface="Helvetica"/>
              </a:rPr>
              <a:t>Quatre décès valorisés à 0 FCFA en 2025 sans texte transmis.</a:t>
            </a:r>
          </a:p>
        </p:txBody>
      </p:sp>
      <p:sp>
        <p:nvSpPr>
          <p:cNvPr id="43" name="Rectangle 42"/>
          <p:cNvSpPr/>
          <p:nvPr/>
        </p:nvSpPr>
        <p:spPr>
          <a:xfrm>
            <a:off x="8418000" y="2070000"/>
            <a:ext cx="3300000" cy="1893068"/>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200"/>
              </a:spcAft>
            </a:pPr>
            <a:r>
              <a:rPr sz="750" b="1">
                <a:solidFill>
                  <a:srgbClr val="ED7D31"/>
                </a:solidFill>
                <a:latin typeface="Helvetica"/>
              </a:rPr>
              <a:t>● </a:t>
            </a:r>
            <a:r>
              <a:rPr sz="650" b="1">
                <a:solidFill>
                  <a:srgbClr val="112A40"/>
                </a:solidFill>
                <a:latin typeface="Helvetica"/>
              </a:rPr>
              <a:t>22  </a:t>
            </a:r>
            <a:r>
              <a:rPr sz="650" b="1">
                <a:solidFill>
                  <a:srgbClr val="060606"/>
                </a:solidFill>
                <a:latin typeface="Helvetica"/>
              </a:rPr>
              <a:t>Le coût des soins des retraités n'est pas suivi. </a:t>
            </a:r>
            <a:r>
              <a:rPr sz="650" b="0">
                <a:solidFill>
                  <a:srgbClr val="060606"/>
                </a:solidFill>
                <a:latin typeface="Helvetica"/>
              </a:rPr>
              <a:t>610 retraités cotisent en août 2026 (16 en février 2024), 11 954 FCFA par mois en moyenne. On ne sait pas si cela couvre leurs soins.</a:t>
            </a:r>
          </a:p>
          <a:p>
            <a:pPr algn="l">
              <a:spcAft>
                <a:spcPts val="200"/>
              </a:spcAft>
            </a:pPr>
            <a:r>
              <a:rPr sz="750" b="1">
                <a:solidFill>
                  <a:srgbClr val="ED7D31"/>
                </a:solidFill>
                <a:latin typeface="Helvetica"/>
              </a:rPr>
              <a:t>● </a:t>
            </a:r>
            <a:r>
              <a:rPr sz="650" b="1">
                <a:solidFill>
                  <a:srgbClr val="112A40"/>
                </a:solidFill>
                <a:latin typeface="Helvetica"/>
              </a:rPr>
              <a:t>22.a  </a:t>
            </a:r>
            <a:r>
              <a:rPr sz="650" b="1">
                <a:solidFill>
                  <a:srgbClr val="060606"/>
                </a:solidFill>
                <a:latin typeface="Helvetica"/>
              </a:rPr>
              <a:t>La durée de la garantie santé n'est pas fixée. </a:t>
            </a:r>
            <a:r>
              <a:rPr sz="650" b="0">
                <a:solidFill>
                  <a:srgbClr val="060606"/>
                </a:solidFill>
                <a:latin typeface="Helvetica"/>
              </a:rPr>
              <a:t>Aucun texte transmis ne dit si elle est à vie ou limitée.</a:t>
            </a:r>
          </a:p>
          <a:p>
            <a:pPr algn="l">
              <a:spcAft>
                <a:spcPts val="200"/>
              </a:spcAft>
            </a:pPr>
            <a:r>
              <a:rPr sz="750" b="1">
                <a:solidFill>
                  <a:srgbClr val="FFC000"/>
                </a:solidFill>
                <a:latin typeface="Helvetica"/>
              </a:rPr>
              <a:t>● </a:t>
            </a:r>
            <a:r>
              <a:rPr sz="650" b="1">
                <a:solidFill>
                  <a:srgbClr val="112A40"/>
                </a:solidFill>
                <a:latin typeface="Helvetica"/>
              </a:rPr>
              <a:t>22.b  </a:t>
            </a:r>
            <a:r>
              <a:rPr sz="650" b="1">
                <a:solidFill>
                  <a:srgbClr val="060606"/>
                </a:solidFill>
                <a:latin typeface="Helvetica"/>
              </a:rPr>
              <a:t>Les âges des retraités manquent. </a:t>
            </a:r>
            <a:r>
              <a:rPr sz="650" b="0">
                <a:solidFill>
                  <a:srgbClr val="060606"/>
                </a:solidFill>
                <a:latin typeface="Helvetica"/>
              </a:rPr>
              <a:t>Date de naissance connue pour 105 retraités seulement.</a:t>
            </a:r>
          </a:p>
          <a:p>
            <a:pPr algn="l">
              <a:spcAft>
                <a:spcPts val="200"/>
              </a:spcAft>
            </a:pPr>
            <a:r>
              <a:rPr sz="750" b="1">
                <a:solidFill>
                  <a:srgbClr val="FFC000"/>
                </a:solidFill>
                <a:latin typeface="Helvetica"/>
              </a:rPr>
              <a:t>● </a:t>
            </a:r>
            <a:r>
              <a:rPr sz="650" b="1">
                <a:solidFill>
                  <a:srgbClr val="112A40"/>
                </a:solidFill>
                <a:latin typeface="Helvetica"/>
              </a:rPr>
              <a:t>27.b  </a:t>
            </a:r>
            <a:r>
              <a:rPr sz="650" b="1">
                <a:solidFill>
                  <a:srgbClr val="060606"/>
                </a:solidFill>
                <a:latin typeface="Helvetica"/>
              </a:rPr>
              <a:t>Une partie des retraités n'est pas prélevée. </a:t>
            </a:r>
            <a:r>
              <a:rPr sz="650" b="0">
                <a:solidFill>
                  <a:srgbClr val="060606"/>
                </a:solidFill>
                <a:latin typeface="Helvetica"/>
              </a:rPr>
              <a:t>Sans quotité cessible suffisante, pas de prélèvement, et la liste n'a pas été transmise. Le virement de la CGRAE n'est pas rapproché du fichier retour.</a:t>
            </a:r>
          </a:p>
          <a:p>
            <a:pPr algn="l">
              <a:spcAft>
                <a:spcPts val="200"/>
              </a:spcAft>
            </a:pPr>
            <a:r>
              <a:rPr sz="750" b="1">
                <a:solidFill>
                  <a:srgbClr val="70AD47"/>
                </a:solidFill>
                <a:latin typeface="Helvetica"/>
              </a:rPr>
              <a:t>● </a:t>
            </a:r>
            <a:r>
              <a:rPr sz="650" b="1">
                <a:solidFill>
                  <a:srgbClr val="112A40"/>
                </a:solidFill>
                <a:latin typeface="Helvetica"/>
              </a:rPr>
              <a:t>26.d  </a:t>
            </a:r>
            <a:r>
              <a:rPr sz="650" b="1">
                <a:solidFill>
                  <a:srgbClr val="060606"/>
                </a:solidFill>
                <a:latin typeface="Helvetica"/>
              </a:rPr>
              <a:t>Deux fichiers retour manquent. </a:t>
            </a:r>
            <a:r>
              <a:rPr sz="650" b="0">
                <a:solidFill>
                  <a:srgbClr val="060606"/>
                </a:solidFill>
                <a:latin typeface="Helvetica"/>
              </a:rPr>
              <a:t>Janvier et juin 2024.</a:t>
            </a:r>
          </a:p>
        </p:txBody>
      </p:sp>
      <p:sp>
        <p:nvSpPr>
          <p:cNvPr id="44" name="Rectangle 43"/>
          <p:cNvSpPr/>
          <p:nvPr/>
        </p:nvSpPr>
        <p:spPr>
          <a:xfrm>
            <a:off x="503999" y="3963068"/>
            <a:ext cx="1188000" cy="1112441"/>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Recommandations</a:t>
            </a:r>
          </a:p>
        </p:txBody>
      </p:sp>
      <p:sp>
        <p:nvSpPr>
          <p:cNvPr id="45" name="Rectangle 44"/>
          <p:cNvSpPr/>
          <p:nvPr/>
        </p:nvSpPr>
        <p:spPr>
          <a:xfrm>
            <a:off x="1745999" y="3963068"/>
            <a:ext cx="3300000" cy="1112441"/>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150"/>
              </a:spcAft>
            </a:pPr>
            <a:r>
              <a:rPr sz="650" b="1">
                <a:solidFill>
                  <a:srgbClr val="112A40"/>
                </a:solidFill>
                <a:latin typeface="Helvetica"/>
              </a:rPr>
              <a:t>19  </a:t>
            </a:r>
            <a:r>
              <a:rPr sz="650" b="0">
                <a:solidFill>
                  <a:srgbClr val="060606"/>
                </a:solidFill>
                <a:latin typeface="Helvetica"/>
              </a:rPr>
              <a:t>Recalculer la cotisation maladie sur le coût complet et revoir le barème et les conventions avec les cliniques.</a:t>
            </a:r>
          </a:p>
          <a:p>
            <a:pPr algn="l">
              <a:spcAft>
                <a:spcPts val="150"/>
              </a:spcAft>
            </a:pPr>
            <a:r>
              <a:rPr sz="650" b="1">
                <a:solidFill>
                  <a:srgbClr val="112A40"/>
                </a:solidFill>
                <a:latin typeface="Helvetica"/>
              </a:rPr>
              <a:t>1.a  </a:t>
            </a:r>
            <a:r>
              <a:rPr sz="650" b="0">
                <a:solidFill>
                  <a:srgbClr val="060606"/>
                </a:solidFill>
                <a:latin typeface="Helvetica"/>
              </a:rPr>
              <a:t>Calculer la provision chaque année dans une note signée.</a:t>
            </a:r>
          </a:p>
          <a:p>
            <a:pPr algn="l">
              <a:spcAft>
                <a:spcPts val="150"/>
              </a:spcAft>
            </a:pPr>
            <a:r>
              <a:rPr sz="650" b="1">
                <a:solidFill>
                  <a:srgbClr val="112A40"/>
                </a:solidFill>
                <a:latin typeface="Helvetica"/>
              </a:rPr>
              <a:t>21  </a:t>
            </a:r>
            <a:r>
              <a:rPr sz="650" b="0">
                <a:solidFill>
                  <a:srgbClr val="060606"/>
                </a:solidFill>
                <a:latin typeface="Helvetica"/>
              </a:rPr>
              <a:t>Suivre chaque mois le délai de paiement et les factures en attente.</a:t>
            </a:r>
          </a:p>
          <a:p>
            <a:pPr algn="l">
              <a:spcAft>
                <a:spcPts val="150"/>
              </a:spcAft>
            </a:pPr>
            <a:r>
              <a:rPr sz="650" b="1">
                <a:solidFill>
                  <a:srgbClr val="112A40"/>
                </a:solidFill>
                <a:latin typeface="Helvetica"/>
              </a:rPr>
              <a:t>26.a  </a:t>
            </a:r>
            <a:r>
              <a:rPr sz="650" b="0">
                <a:solidFill>
                  <a:srgbClr val="060606"/>
                </a:solidFill>
                <a:latin typeface="Helvetica"/>
              </a:rPr>
              <a:t>Saisir la date des soins et la date de dépôt de chaque facture.</a:t>
            </a:r>
          </a:p>
          <a:p>
            <a:pPr algn="l">
              <a:spcAft>
                <a:spcPts val="150"/>
              </a:spcAft>
            </a:pPr>
            <a:r>
              <a:rPr sz="650" b="1">
                <a:solidFill>
                  <a:srgbClr val="112A40"/>
                </a:solidFill>
                <a:latin typeface="Helvetica"/>
              </a:rPr>
              <a:t>19.a  </a:t>
            </a:r>
            <a:r>
              <a:rPr sz="650" b="0">
                <a:solidFill>
                  <a:srgbClr val="060606"/>
                </a:solidFill>
                <a:latin typeface="Helvetica"/>
              </a:rPr>
              <a:t>Contrôler après paiement au moins 5 % des factures.</a:t>
            </a:r>
          </a:p>
          <a:p>
            <a:pPr algn="l">
              <a:spcAft>
                <a:spcPts val="150"/>
              </a:spcAft>
            </a:pPr>
            <a:r>
              <a:rPr sz="650" b="1">
                <a:solidFill>
                  <a:srgbClr val="112A40"/>
                </a:solidFill>
                <a:latin typeface="Helvetica"/>
              </a:rPr>
              <a:t>26.b  </a:t>
            </a:r>
            <a:r>
              <a:rPr sz="650" b="0">
                <a:solidFill>
                  <a:srgbClr val="060606"/>
                </a:solidFill>
                <a:latin typeface="Helvetica"/>
              </a:rPr>
              <a:t>Transmettre le fichier des cartes actives, ayants droit compris.</a:t>
            </a:r>
          </a:p>
        </p:txBody>
      </p:sp>
      <p:sp>
        <p:nvSpPr>
          <p:cNvPr id="46" name="Rectangle 45"/>
          <p:cNvSpPr/>
          <p:nvPr/>
        </p:nvSpPr>
        <p:spPr>
          <a:xfrm>
            <a:off x="5082000" y="3963068"/>
            <a:ext cx="3300000" cy="1112441"/>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150"/>
              </a:spcAft>
            </a:pPr>
            <a:r>
              <a:rPr sz="650" b="1">
                <a:solidFill>
                  <a:srgbClr val="112A40"/>
                </a:solidFill>
                <a:latin typeface="Helvetica"/>
              </a:rPr>
              <a:t>1.b  </a:t>
            </a:r>
            <a:r>
              <a:rPr sz="650" b="0">
                <a:solidFill>
                  <a:srgbClr val="060606"/>
                </a:solidFill>
                <a:latin typeface="Helvetica"/>
              </a:rPr>
              <a:t>Faire décider le reclassement par les organes, après information de l'AIRMS.</a:t>
            </a:r>
          </a:p>
          <a:p>
            <a:pPr algn="l">
              <a:spcAft>
                <a:spcPts val="150"/>
              </a:spcAft>
            </a:pPr>
            <a:r>
              <a:rPr sz="650" b="1">
                <a:solidFill>
                  <a:srgbClr val="112A40"/>
                </a:solidFill>
                <a:latin typeface="Helvetica"/>
              </a:rPr>
              <a:t>2  </a:t>
            </a:r>
            <a:r>
              <a:rPr sz="650" b="0">
                <a:solidFill>
                  <a:srgbClr val="060606"/>
                </a:solidFill>
                <a:latin typeface="Helvetica"/>
              </a:rPr>
              <a:t>Dresser la liste nominative des dossiers, payer les dus, clôturer les prescrits.</a:t>
            </a:r>
          </a:p>
          <a:p>
            <a:pPr algn="l">
              <a:spcAft>
                <a:spcPts val="150"/>
              </a:spcAft>
            </a:pPr>
            <a:r>
              <a:rPr sz="650" b="1">
                <a:solidFill>
                  <a:srgbClr val="112A40"/>
                </a:solidFill>
                <a:latin typeface="Helvetica"/>
              </a:rPr>
              <a:t>3  </a:t>
            </a:r>
            <a:r>
              <a:rPr sz="650" b="0">
                <a:solidFill>
                  <a:srgbClr val="060606"/>
                </a:solidFill>
                <a:latin typeface="Helvetica"/>
              </a:rPr>
              <a:t>Payer depuis les comptes des garanties et rembourser l'épargne.</a:t>
            </a:r>
          </a:p>
          <a:p>
            <a:pPr algn="l">
              <a:spcAft>
                <a:spcPts val="150"/>
              </a:spcAft>
            </a:pPr>
            <a:r>
              <a:rPr sz="650" b="1">
                <a:solidFill>
                  <a:srgbClr val="112A40"/>
                </a:solidFill>
                <a:latin typeface="Helvetica"/>
              </a:rPr>
              <a:t>20.a  </a:t>
            </a:r>
            <a:r>
              <a:rPr sz="650" b="0">
                <a:solidFill>
                  <a:srgbClr val="060606"/>
                </a:solidFill>
                <a:latin typeface="Helvetica"/>
              </a:rPr>
              <a:t>Appliquer la clé des statuts et suivre le résultat de chaque garantie.</a:t>
            </a:r>
          </a:p>
          <a:p>
            <a:pPr algn="l">
              <a:spcAft>
                <a:spcPts val="150"/>
              </a:spcAft>
            </a:pPr>
            <a:r>
              <a:rPr sz="650" b="1">
                <a:solidFill>
                  <a:srgbClr val="112A40"/>
                </a:solidFill>
                <a:latin typeface="Helvetica"/>
              </a:rPr>
              <a:t>27.a  </a:t>
            </a:r>
            <a:r>
              <a:rPr sz="650" b="0">
                <a:solidFill>
                  <a:srgbClr val="060606"/>
                </a:solidFill>
                <a:latin typeface="Helvetica"/>
              </a:rPr>
              <a:t>Transmettre les fichiers et valider ces montants.</a:t>
            </a:r>
          </a:p>
          <a:p>
            <a:pPr algn="l">
              <a:spcAft>
                <a:spcPts val="150"/>
              </a:spcAft>
            </a:pPr>
            <a:r>
              <a:rPr sz="650" b="1">
                <a:solidFill>
                  <a:srgbClr val="112A40"/>
                </a:solidFill>
                <a:latin typeface="Helvetica"/>
              </a:rPr>
              <a:t>28.a  </a:t>
            </a:r>
            <a:r>
              <a:rPr sz="650" b="0">
                <a:solidFill>
                  <a:srgbClr val="060606"/>
                </a:solidFill>
                <a:latin typeface="Helvetica"/>
              </a:rPr>
              <a:t>Expliquer l'écart.</a:t>
            </a:r>
          </a:p>
          <a:p>
            <a:pPr algn="l">
              <a:spcAft>
                <a:spcPts val="150"/>
              </a:spcAft>
            </a:pPr>
            <a:r>
              <a:rPr sz="650" b="1">
                <a:solidFill>
                  <a:srgbClr val="112A40"/>
                </a:solidFill>
                <a:latin typeface="Helvetica"/>
              </a:rPr>
              <a:t>26.c  </a:t>
            </a:r>
            <a:r>
              <a:rPr sz="650" b="0">
                <a:solidFill>
                  <a:srgbClr val="060606"/>
                </a:solidFill>
                <a:latin typeface="Helvetica"/>
              </a:rPr>
              <a:t>Transmettre le texte et le barème signé.</a:t>
            </a:r>
          </a:p>
        </p:txBody>
      </p:sp>
      <p:sp>
        <p:nvSpPr>
          <p:cNvPr id="47" name="Rectangle 46"/>
          <p:cNvSpPr/>
          <p:nvPr/>
        </p:nvSpPr>
        <p:spPr>
          <a:xfrm>
            <a:off x="8418000" y="3963068"/>
            <a:ext cx="3300000" cy="1112441"/>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150"/>
              </a:spcAft>
            </a:pPr>
            <a:r>
              <a:rPr sz="650" b="1">
                <a:solidFill>
                  <a:srgbClr val="112A40"/>
                </a:solidFill>
                <a:latin typeface="Helvetica"/>
              </a:rPr>
              <a:t>22  </a:t>
            </a:r>
            <a:r>
              <a:rPr sz="650" b="0">
                <a:solidFill>
                  <a:srgbClr val="060606"/>
                </a:solidFill>
                <a:latin typeface="Helvetica"/>
              </a:rPr>
              <a:t>Suivre séparément les soins des retraités.</a:t>
            </a:r>
          </a:p>
          <a:p>
            <a:pPr algn="l">
              <a:spcAft>
                <a:spcPts val="150"/>
              </a:spcAft>
            </a:pPr>
            <a:r>
              <a:rPr sz="650" b="1">
                <a:solidFill>
                  <a:srgbClr val="112A40"/>
                </a:solidFill>
                <a:latin typeface="Helvetica"/>
              </a:rPr>
              <a:t>22.a  </a:t>
            </a:r>
            <a:r>
              <a:rPr sz="650" b="0">
                <a:solidFill>
                  <a:srgbClr val="060606"/>
                </a:solidFill>
                <a:latin typeface="Helvetica"/>
              </a:rPr>
              <a:t>Fixer la durée de la garantie par décision écrite.</a:t>
            </a:r>
          </a:p>
          <a:p>
            <a:pPr algn="l">
              <a:spcAft>
                <a:spcPts val="150"/>
              </a:spcAft>
            </a:pPr>
            <a:r>
              <a:rPr sz="650" b="1">
                <a:solidFill>
                  <a:srgbClr val="112A40"/>
                </a:solidFill>
                <a:latin typeface="Helvetica"/>
              </a:rPr>
              <a:t>22.b  </a:t>
            </a:r>
            <a:r>
              <a:rPr sz="650" b="0">
                <a:solidFill>
                  <a:srgbClr val="060606"/>
                </a:solidFill>
                <a:latin typeface="Helvetica"/>
              </a:rPr>
              <a:t>Obtenir de la CGRAE les dates de naissance.</a:t>
            </a:r>
          </a:p>
          <a:p>
            <a:pPr algn="l">
              <a:spcAft>
                <a:spcPts val="150"/>
              </a:spcAft>
            </a:pPr>
            <a:r>
              <a:rPr sz="650" b="1">
                <a:solidFill>
                  <a:srgbClr val="112A40"/>
                </a:solidFill>
                <a:latin typeface="Helvetica"/>
              </a:rPr>
              <a:t>27.b  </a:t>
            </a:r>
            <a:r>
              <a:rPr sz="650" b="0">
                <a:solidFill>
                  <a:srgbClr val="060606"/>
                </a:solidFill>
                <a:latin typeface="Helvetica"/>
              </a:rPr>
              <a:t>Suivre les non-prélevés et rapprocher chaque virement.</a:t>
            </a:r>
          </a:p>
          <a:p>
            <a:pPr algn="l">
              <a:spcAft>
                <a:spcPts val="150"/>
              </a:spcAft>
            </a:pPr>
            <a:r>
              <a:rPr sz="650" b="1">
                <a:solidFill>
                  <a:srgbClr val="112A40"/>
                </a:solidFill>
                <a:latin typeface="Helvetica"/>
              </a:rPr>
              <a:t>26.d  </a:t>
            </a:r>
            <a:r>
              <a:rPr sz="650" b="0">
                <a:solidFill>
                  <a:srgbClr val="060606"/>
                </a:solidFill>
                <a:latin typeface="Helvetica"/>
              </a:rPr>
              <a:t>Transmettre les deux fichiers.</a:t>
            </a:r>
          </a:p>
        </p:txBody>
      </p:sp>
      <p:sp>
        <p:nvSpPr>
          <p:cNvPr id="48" name="Rectangle 47"/>
          <p:cNvSpPr/>
          <p:nvPr/>
        </p:nvSpPr>
        <p:spPr>
          <a:xfrm>
            <a:off x="503999" y="5075510"/>
            <a:ext cx="1188000" cy="288244"/>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Complexité</a:t>
            </a:r>
          </a:p>
        </p:txBody>
      </p:sp>
      <p:sp>
        <p:nvSpPr>
          <p:cNvPr id="49" name="Rectangle 48"/>
          <p:cNvSpPr/>
          <p:nvPr/>
        </p:nvSpPr>
        <p:spPr>
          <a:xfrm>
            <a:off x="1745999" y="5075510"/>
            <a:ext cx="3300000" cy="288244"/>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650" b="1">
                <a:solidFill>
                  <a:srgbClr val="112A40"/>
                </a:solidFill>
                <a:latin typeface="Helvetica"/>
              </a:rPr>
              <a:t>19 </a:t>
            </a:r>
            <a:r>
              <a:rPr sz="650" b="1">
                <a:solidFill>
                  <a:srgbClr val="060606"/>
                </a:solidFill>
                <a:latin typeface="Helvetica"/>
              </a:rPr>
              <a:t>Élevée</a:t>
            </a:r>
            <a:r>
              <a:rPr sz="650" b="1">
                <a:solidFill>
                  <a:srgbClr val="112A40"/>
                </a:solidFill>
                <a:latin typeface="Helvetica"/>
              </a:rPr>
              <a:t>     1.a </a:t>
            </a:r>
            <a:r>
              <a:rPr sz="650" b="0">
                <a:solidFill>
                  <a:srgbClr val="060606"/>
                </a:solidFill>
                <a:latin typeface="Helvetica"/>
              </a:rPr>
              <a:t>Moyenne</a:t>
            </a:r>
            <a:r>
              <a:rPr sz="650" b="1">
                <a:solidFill>
                  <a:srgbClr val="112A40"/>
                </a:solidFill>
                <a:latin typeface="Helvetica"/>
              </a:rPr>
              <a:t>     21 </a:t>
            </a:r>
            <a:r>
              <a:rPr sz="650" b="0">
                <a:solidFill>
                  <a:srgbClr val="060606"/>
                </a:solidFill>
                <a:latin typeface="Helvetica"/>
              </a:rPr>
              <a:t>Moyenne</a:t>
            </a:r>
            <a:r>
              <a:rPr sz="650" b="1">
                <a:solidFill>
                  <a:srgbClr val="112A40"/>
                </a:solidFill>
                <a:latin typeface="Helvetica"/>
              </a:rPr>
              <a:t>     26.a </a:t>
            </a:r>
            <a:r>
              <a:rPr sz="650" b="0">
                <a:solidFill>
                  <a:srgbClr val="060606"/>
                </a:solidFill>
                <a:latin typeface="Helvetica"/>
              </a:rPr>
              <a:t>Moyenne</a:t>
            </a:r>
            <a:r>
              <a:rPr sz="650" b="1">
                <a:solidFill>
                  <a:srgbClr val="112A40"/>
                </a:solidFill>
                <a:latin typeface="Helvetica"/>
              </a:rPr>
              <a:t>     19.a </a:t>
            </a:r>
            <a:r>
              <a:rPr sz="650" b="0">
                <a:solidFill>
                  <a:srgbClr val="060606"/>
                </a:solidFill>
                <a:latin typeface="Helvetica"/>
              </a:rPr>
              <a:t>Moyenne</a:t>
            </a:r>
            <a:r>
              <a:rPr sz="650" b="1">
                <a:solidFill>
                  <a:srgbClr val="112A40"/>
                </a:solidFill>
                <a:latin typeface="Helvetica"/>
              </a:rPr>
              <a:t>     26.b </a:t>
            </a:r>
            <a:r>
              <a:rPr sz="650" b="0">
                <a:solidFill>
                  <a:srgbClr val="060606"/>
                </a:solidFill>
                <a:latin typeface="Helvetica"/>
              </a:rPr>
              <a:t>Faible</a:t>
            </a:r>
          </a:p>
        </p:txBody>
      </p:sp>
      <p:sp>
        <p:nvSpPr>
          <p:cNvPr id="50" name="Rectangle 49"/>
          <p:cNvSpPr/>
          <p:nvPr/>
        </p:nvSpPr>
        <p:spPr>
          <a:xfrm>
            <a:off x="5082000" y="5075510"/>
            <a:ext cx="3300000" cy="288244"/>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650" b="1">
                <a:solidFill>
                  <a:srgbClr val="112A40"/>
                </a:solidFill>
                <a:latin typeface="Helvetica"/>
              </a:rPr>
              <a:t>1.b </a:t>
            </a:r>
            <a:r>
              <a:rPr sz="650" b="0">
                <a:solidFill>
                  <a:srgbClr val="060606"/>
                </a:solidFill>
                <a:latin typeface="Helvetica"/>
              </a:rPr>
              <a:t>Moyenne</a:t>
            </a:r>
            <a:r>
              <a:rPr sz="650" b="1">
                <a:solidFill>
                  <a:srgbClr val="112A40"/>
                </a:solidFill>
                <a:latin typeface="Helvetica"/>
              </a:rPr>
              <a:t>     2 </a:t>
            </a:r>
            <a:r>
              <a:rPr sz="650" b="0">
                <a:solidFill>
                  <a:srgbClr val="060606"/>
                </a:solidFill>
                <a:latin typeface="Helvetica"/>
              </a:rPr>
              <a:t>Moyenne</a:t>
            </a:r>
            <a:r>
              <a:rPr sz="650" b="1">
                <a:solidFill>
                  <a:srgbClr val="112A40"/>
                </a:solidFill>
                <a:latin typeface="Helvetica"/>
              </a:rPr>
              <a:t>     3 </a:t>
            </a:r>
            <a:r>
              <a:rPr sz="650" b="0">
                <a:solidFill>
                  <a:srgbClr val="060606"/>
                </a:solidFill>
                <a:latin typeface="Helvetica"/>
              </a:rPr>
              <a:t>Faible</a:t>
            </a:r>
            <a:r>
              <a:rPr sz="650" b="1">
                <a:solidFill>
                  <a:srgbClr val="112A40"/>
                </a:solidFill>
                <a:latin typeface="Helvetica"/>
              </a:rPr>
              <a:t>     20.a </a:t>
            </a:r>
            <a:r>
              <a:rPr sz="650" b="0">
                <a:solidFill>
                  <a:srgbClr val="060606"/>
                </a:solidFill>
                <a:latin typeface="Helvetica"/>
              </a:rPr>
              <a:t>Faible</a:t>
            </a:r>
            <a:r>
              <a:rPr sz="650" b="1">
                <a:solidFill>
                  <a:srgbClr val="112A40"/>
                </a:solidFill>
                <a:latin typeface="Helvetica"/>
              </a:rPr>
              <a:t>     27.a </a:t>
            </a:r>
            <a:r>
              <a:rPr sz="650" b="0">
                <a:solidFill>
                  <a:srgbClr val="060606"/>
                </a:solidFill>
                <a:latin typeface="Helvetica"/>
              </a:rPr>
              <a:t>Faible</a:t>
            </a:r>
            <a:r>
              <a:rPr sz="650" b="1">
                <a:solidFill>
                  <a:srgbClr val="112A40"/>
                </a:solidFill>
                <a:latin typeface="Helvetica"/>
              </a:rPr>
              <a:t>     28.a </a:t>
            </a:r>
            <a:r>
              <a:rPr sz="650" b="0">
                <a:solidFill>
                  <a:srgbClr val="060606"/>
                </a:solidFill>
                <a:latin typeface="Helvetica"/>
              </a:rPr>
              <a:t>Faible</a:t>
            </a:r>
            <a:r>
              <a:rPr sz="650" b="1">
                <a:solidFill>
                  <a:srgbClr val="112A40"/>
                </a:solidFill>
                <a:latin typeface="Helvetica"/>
              </a:rPr>
              <a:t>     26.c </a:t>
            </a:r>
            <a:r>
              <a:rPr sz="650" b="0">
                <a:solidFill>
                  <a:srgbClr val="060606"/>
                </a:solidFill>
                <a:latin typeface="Helvetica"/>
              </a:rPr>
              <a:t>Faible</a:t>
            </a:r>
          </a:p>
        </p:txBody>
      </p:sp>
      <p:sp>
        <p:nvSpPr>
          <p:cNvPr id="51" name="Rectangle 50"/>
          <p:cNvSpPr/>
          <p:nvPr/>
        </p:nvSpPr>
        <p:spPr>
          <a:xfrm>
            <a:off x="8418000" y="5075510"/>
            <a:ext cx="3300000" cy="288244"/>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650" b="1">
                <a:solidFill>
                  <a:srgbClr val="112A40"/>
                </a:solidFill>
                <a:latin typeface="Helvetica"/>
              </a:rPr>
              <a:t>22 </a:t>
            </a:r>
            <a:r>
              <a:rPr sz="650" b="0">
                <a:solidFill>
                  <a:srgbClr val="060606"/>
                </a:solidFill>
                <a:latin typeface="Helvetica"/>
              </a:rPr>
              <a:t>Moyenne</a:t>
            </a:r>
            <a:r>
              <a:rPr sz="650" b="1">
                <a:solidFill>
                  <a:srgbClr val="112A40"/>
                </a:solidFill>
                <a:latin typeface="Helvetica"/>
              </a:rPr>
              <a:t>     22.a </a:t>
            </a:r>
            <a:r>
              <a:rPr sz="650" b="0">
                <a:solidFill>
                  <a:srgbClr val="060606"/>
                </a:solidFill>
                <a:latin typeface="Helvetica"/>
              </a:rPr>
              <a:t>Faible</a:t>
            </a:r>
            <a:r>
              <a:rPr sz="650" b="1">
                <a:solidFill>
                  <a:srgbClr val="112A40"/>
                </a:solidFill>
                <a:latin typeface="Helvetica"/>
              </a:rPr>
              <a:t>     22.b </a:t>
            </a:r>
            <a:r>
              <a:rPr sz="650" b="0">
                <a:solidFill>
                  <a:srgbClr val="060606"/>
                </a:solidFill>
                <a:latin typeface="Helvetica"/>
              </a:rPr>
              <a:t>Moyenne</a:t>
            </a:r>
            <a:r>
              <a:rPr sz="650" b="1">
                <a:solidFill>
                  <a:srgbClr val="112A40"/>
                </a:solidFill>
                <a:latin typeface="Helvetica"/>
              </a:rPr>
              <a:t>     27.b </a:t>
            </a:r>
            <a:r>
              <a:rPr sz="650" b="0">
                <a:solidFill>
                  <a:srgbClr val="060606"/>
                </a:solidFill>
                <a:latin typeface="Helvetica"/>
              </a:rPr>
              <a:t>Moyenne</a:t>
            </a:r>
            <a:r>
              <a:rPr sz="650" b="1">
                <a:solidFill>
                  <a:srgbClr val="112A40"/>
                </a:solidFill>
                <a:latin typeface="Helvetica"/>
              </a:rPr>
              <a:t>     26.d </a:t>
            </a:r>
            <a:r>
              <a:rPr sz="650" b="0">
                <a:solidFill>
                  <a:srgbClr val="060606"/>
                </a:solidFill>
                <a:latin typeface="Helvetica"/>
              </a:rPr>
              <a:t>Faible</a:t>
            </a:r>
          </a:p>
        </p:txBody>
      </p:sp>
      <p:sp>
        <p:nvSpPr>
          <p:cNvPr id="52" name="Rectangle 51"/>
          <p:cNvSpPr/>
          <p:nvPr/>
        </p:nvSpPr>
        <p:spPr>
          <a:xfrm>
            <a:off x="503999" y="5363755"/>
            <a:ext cx="1188000" cy="288244"/>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Priorité</a:t>
            </a:r>
          </a:p>
        </p:txBody>
      </p:sp>
      <p:sp>
        <p:nvSpPr>
          <p:cNvPr id="53" name="Rectangle 52"/>
          <p:cNvSpPr/>
          <p:nvPr/>
        </p:nvSpPr>
        <p:spPr>
          <a:xfrm>
            <a:off x="1745999" y="5363755"/>
            <a:ext cx="3300000" cy="288244"/>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750" b="1">
                <a:solidFill>
                  <a:srgbClr val="ED7D31"/>
                </a:solidFill>
                <a:latin typeface="Helvetica"/>
              </a:rPr>
              <a:t>■ </a:t>
            </a:r>
            <a:r>
              <a:rPr sz="650" b="1">
                <a:solidFill>
                  <a:srgbClr val="112A40"/>
                </a:solidFill>
                <a:latin typeface="Helvetica"/>
              </a:rPr>
              <a:t>19 </a:t>
            </a:r>
            <a:r>
              <a:rPr sz="650" b="1">
                <a:solidFill>
                  <a:srgbClr val="ED7D31"/>
                </a:solidFill>
                <a:latin typeface="Helvetica"/>
              </a:rPr>
              <a:t>P2</a:t>
            </a:r>
            <a:r>
              <a:rPr sz="750" b="1">
                <a:solidFill>
                  <a:srgbClr val="C00000"/>
                </a:solidFill>
                <a:latin typeface="Helvetica"/>
              </a:rPr>
              <a:t>     ■ </a:t>
            </a:r>
            <a:r>
              <a:rPr sz="650" b="1">
                <a:solidFill>
                  <a:srgbClr val="112A40"/>
                </a:solidFill>
                <a:latin typeface="Helvetica"/>
              </a:rPr>
              <a:t>1.a </a:t>
            </a:r>
            <a:r>
              <a:rPr sz="650" b="1">
                <a:solidFill>
                  <a:srgbClr val="C00000"/>
                </a:solidFill>
                <a:latin typeface="Helvetica"/>
              </a:rPr>
              <a:t>P1</a:t>
            </a:r>
            <a:r>
              <a:rPr sz="750" b="1">
                <a:solidFill>
                  <a:srgbClr val="ED7D31"/>
                </a:solidFill>
                <a:latin typeface="Helvetica"/>
              </a:rPr>
              <a:t>     ■ </a:t>
            </a:r>
            <a:r>
              <a:rPr sz="650" b="1">
                <a:solidFill>
                  <a:srgbClr val="112A40"/>
                </a:solidFill>
                <a:latin typeface="Helvetica"/>
              </a:rPr>
              <a:t>21 </a:t>
            </a:r>
            <a:r>
              <a:rPr sz="650" b="1">
                <a:solidFill>
                  <a:srgbClr val="ED7D31"/>
                </a:solidFill>
                <a:latin typeface="Helvetica"/>
              </a:rPr>
              <a:t>P2</a:t>
            </a:r>
            <a:r>
              <a:rPr sz="750" b="1">
                <a:solidFill>
                  <a:srgbClr val="C00000"/>
                </a:solidFill>
                <a:latin typeface="Helvetica"/>
              </a:rPr>
              <a:t>     ■ </a:t>
            </a:r>
            <a:r>
              <a:rPr sz="650" b="1">
                <a:solidFill>
                  <a:srgbClr val="112A40"/>
                </a:solidFill>
                <a:latin typeface="Helvetica"/>
              </a:rPr>
              <a:t>26.a </a:t>
            </a:r>
            <a:r>
              <a:rPr sz="650" b="1">
                <a:solidFill>
                  <a:srgbClr val="C00000"/>
                </a:solidFill>
                <a:latin typeface="Helvetica"/>
              </a:rPr>
              <a:t>P1</a:t>
            </a:r>
            <a:r>
              <a:rPr sz="750" b="1">
                <a:solidFill>
                  <a:srgbClr val="ED7D31"/>
                </a:solidFill>
                <a:latin typeface="Helvetica"/>
              </a:rPr>
              <a:t>     ■ </a:t>
            </a:r>
            <a:r>
              <a:rPr sz="650" b="1">
                <a:solidFill>
                  <a:srgbClr val="112A40"/>
                </a:solidFill>
                <a:latin typeface="Helvetica"/>
              </a:rPr>
              <a:t>19.a </a:t>
            </a:r>
            <a:r>
              <a:rPr sz="650" b="1">
                <a:solidFill>
                  <a:srgbClr val="ED7D31"/>
                </a:solidFill>
                <a:latin typeface="Helvetica"/>
              </a:rPr>
              <a:t>P2</a:t>
            </a:r>
            <a:r>
              <a:rPr sz="750" b="1">
                <a:solidFill>
                  <a:srgbClr val="ED7D31"/>
                </a:solidFill>
                <a:latin typeface="Helvetica"/>
              </a:rPr>
              <a:t>     ■ </a:t>
            </a:r>
            <a:r>
              <a:rPr sz="650" b="1">
                <a:solidFill>
                  <a:srgbClr val="112A40"/>
                </a:solidFill>
                <a:latin typeface="Helvetica"/>
              </a:rPr>
              <a:t>26.b </a:t>
            </a:r>
            <a:r>
              <a:rPr sz="650" b="1">
                <a:solidFill>
                  <a:srgbClr val="ED7D31"/>
                </a:solidFill>
                <a:latin typeface="Helvetica"/>
              </a:rPr>
              <a:t>P2</a:t>
            </a:r>
          </a:p>
        </p:txBody>
      </p:sp>
      <p:sp>
        <p:nvSpPr>
          <p:cNvPr id="54" name="Rectangle 53"/>
          <p:cNvSpPr/>
          <p:nvPr/>
        </p:nvSpPr>
        <p:spPr>
          <a:xfrm>
            <a:off x="5082000" y="5363755"/>
            <a:ext cx="3300000" cy="288244"/>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750" b="1">
                <a:solidFill>
                  <a:srgbClr val="C00000"/>
                </a:solidFill>
                <a:latin typeface="Helvetica"/>
              </a:rPr>
              <a:t>■ </a:t>
            </a:r>
            <a:r>
              <a:rPr sz="650" b="1">
                <a:solidFill>
                  <a:srgbClr val="112A40"/>
                </a:solidFill>
                <a:latin typeface="Helvetica"/>
              </a:rPr>
              <a:t>1.b </a:t>
            </a:r>
            <a:r>
              <a:rPr sz="650" b="1">
                <a:solidFill>
                  <a:srgbClr val="C00000"/>
                </a:solidFill>
                <a:latin typeface="Helvetica"/>
              </a:rPr>
              <a:t>P1</a:t>
            </a:r>
            <a:r>
              <a:rPr sz="750" b="1">
                <a:solidFill>
                  <a:srgbClr val="ED7D31"/>
                </a:solidFill>
                <a:latin typeface="Helvetica"/>
              </a:rPr>
              <a:t>     ■ </a:t>
            </a:r>
            <a:r>
              <a:rPr sz="650" b="1">
                <a:solidFill>
                  <a:srgbClr val="112A40"/>
                </a:solidFill>
                <a:latin typeface="Helvetica"/>
              </a:rPr>
              <a:t>2 </a:t>
            </a:r>
            <a:r>
              <a:rPr sz="650" b="1">
                <a:solidFill>
                  <a:srgbClr val="ED7D31"/>
                </a:solidFill>
                <a:latin typeface="Helvetica"/>
              </a:rPr>
              <a:t>P2</a:t>
            </a:r>
            <a:r>
              <a:rPr sz="750" b="1">
                <a:solidFill>
                  <a:srgbClr val="ED7D31"/>
                </a:solidFill>
                <a:latin typeface="Helvetica"/>
              </a:rPr>
              <a:t>     ■ </a:t>
            </a:r>
            <a:r>
              <a:rPr sz="650" b="1">
                <a:solidFill>
                  <a:srgbClr val="112A40"/>
                </a:solidFill>
                <a:latin typeface="Helvetica"/>
              </a:rPr>
              <a:t>3 </a:t>
            </a:r>
            <a:r>
              <a:rPr sz="650" b="1">
                <a:solidFill>
                  <a:srgbClr val="ED7D31"/>
                </a:solidFill>
                <a:latin typeface="Helvetica"/>
              </a:rPr>
              <a:t>P2</a:t>
            </a:r>
            <a:r>
              <a:rPr sz="750" b="1">
                <a:solidFill>
                  <a:srgbClr val="ED7D31"/>
                </a:solidFill>
                <a:latin typeface="Helvetica"/>
              </a:rPr>
              <a:t>     ■ </a:t>
            </a:r>
            <a:r>
              <a:rPr sz="650" b="1">
                <a:solidFill>
                  <a:srgbClr val="112A40"/>
                </a:solidFill>
                <a:latin typeface="Helvetica"/>
              </a:rPr>
              <a:t>20.a </a:t>
            </a:r>
            <a:r>
              <a:rPr sz="650" b="1">
                <a:solidFill>
                  <a:srgbClr val="ED7D31"/>
                </a:solidFill>
                <a:latin typeface="Helvetica"/>
              </a:rPr>
              <a:t>P2</a:t>
            </a:r>
            <a:r>
              <a:rPr sz="750" b="1">
                <a:solidFill>
                  <a:srgbClr val="ED7D31"/>
                </a:solidFill>
                <a:latin typeface="Helvetica"/>
              </a:rPr>
              <a:t>     ■ </a:t>
            </a:r>
            <a:r>
              <a:rPr sz="650" b="1">
                <a:solidFill>
                  <a:srgbClr val="112A40"/>
                </a:solidFill>
                <a:latin typeface="Helvetica"/>
              </a:rPr>
              <a:t>27.a </a:t>
            </a:r>
            <a:r>
              <a:rPr sz="650" b="1">
                <a:solidFill>
                  <a:srgbClr val="ED7D31"/>
                </a:solidFill>
                <a:latin typeface="Helvetica"/>
              </a:rPr>
              <a:t>P2</a:t>
            </a:r>
            <a:r>
              <a:rPr sz="750" b="1">
                <a:solidFill>
                  <a:srgbClr val="FFC000"/>
                </a:solidFill>
                <a:latin typeface="Helvetica"/>
              </a:rPr>
              <a:t>     ■ </a:t>
            </a:r>
            <a:r>
              <a:rPr sz="650" b="1">
                <a:solidFill>
                  <a:srgbClr val="112A40"/>
                </a:solidFill>
                <a:latin typeface="Helvetica"/>
              </a:rPr>
              <a:t>28.a </a:t>
            </a:r>
            <a:r>
              <a:rPr sz="650" b="1">
                <a:solidFill>
                  <a:srgbClr val="FFC000"/>
                </a:solidFill>
                <a:latin typeface="Helvetica"/>
              </a:rPr>
              <a:t>P3</a:t>
            </a:r>
            <a:r>
              <a:rPr sz="750" b="1">
                <a:solidFill>
                  <a:srgbClr val="FFC000"/>
                </a:solidFill>
                <a:latin typeface="Helvetica"/>
              </a:rPr>
              <a:t>     ■ </a:t>
            </a:r>
            <a:r>
              <a:rPr sz="650" b="1">
                <a:solidFill>
                  <a:srgbClr val="112A40"/>
                </a:solidFill>
                <a:latin typeface="Helvetica"/>
              </a:rPr>
              <a:t>26.c </a:t>
            </a:r>
            <a:r>
              <a:rPr sz="650" b="1">
                <a:solidFill>
                  <a:srgbClr val="FFC000"/>
                </a:solidFill>
                <a:latin typeface="Helvetica"/>
              </a:rPr>
              <a:t>P3</a:t>
            </a:r>
          </a:p>
        </p:txBody>
      </p:sp>
      <p:sp>
        <p:nvSpPr>
          <p:cNvPr id="55" name="Rectangle 54"/>
          <p:cNvSpPr/>
          <p:nvPr/>
        </p:nvSpPr>
        <p:spPr>
          <a:xfrm>
            <a:off x="8418000" y="5363755"/>
            <a:ext cx="3300000" cy="288244"/>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750" b="1">
                <a:solidFill>
                  <a:srgbClr val="FFC000"/>
                </a:solidFill>
                <a:latin typeface="Helvetica"/>
              </a:rPr>
              <a:t>■ </a:t>
            </a:r>
            <a:r>
              <a:rPr sz="650" b="1">
                <a:solidFill>
                  <a:srgbClr val="112A40"/>
                </a:solidFill>
                <a:latin typeface="Helvetica"/>
              </a:rPr>
              <a:t>22 </a:t>
            </a:r>
            <a:r>
              <a:rPr sz="650" b="1">
                <a:solidFill>
                  <a:srgbClr val="FFC000"/>
                </a:solidFill>
                <a:latin typeface="Helvetica"/>
              </a:rPr>
              <a:t>P3</a:t>
            </a:r>
            <a:r>
              <a:rPr sz="750" b="1">
                <a:solidFill>
                  <a:srgbClr val="ED7D31"/>
                </a:solidFill>
                <a:latin typeface="Helvetica"/>
              </a:rPr>
              <a:t>     ■ </a:t>
            </a:r>
            <a:r>
              <a:rPr sz="650" b="1">
                <a:solidFill>
                  <a:srgbClr val="112A40"/>
                </a:solidFill>
                <a:latin typeface="Helvetica"/>
              </a:rPr>
              <a:t>22.a </a:t>
            </a:r>
            <a:r>
              <a:rPr sz="650" b="1">
                <a:solidFill>
                  <a:srgbClr val="ED7D31"/>
                </a:solidFill>
                <a:latin typeface="Helvetica"/>
              </a:rPr>
              <a:t>P2</a:t>
            </a:r>
            <a:r>
              <a:rPr sz="750" b="1">
                <a:solidFill>
                  <a:srgbClr val="ED7D31"/>
                </a:solidFill>
                <a:latin typeface="Helvetica"/>
              </a:rPr>
              <a:t>     ■ </a:t>
            </a:r>
            <a:r>
              <a:rPr sz="650" b="1">
                <a:solidFill>
                  <a:srgbClr val="112A40"/>
                </a:solidFill>
                <a:latin typeface="Helvetica"/>
              </a:rPr>
              <a:t>22.b </a:t>
            </a:r>
            <a:r>
              <a:rPr sz="650" b="1">
                <a:solidFill>
                  <a:srgbClr val="ED7D31"/>
                </a:solidFill>
                <a:latin typeface="Helvetica"/>
              </a:rPr>
              <a:t>P2</a:t>
            </a:r>
            <a:r>
              <a:rPr sz="750" b="1">
                <a:solidFill>
                  <a:srgbClr val="ED7D31"/>
                </a:solidFill>
                <a:latin typeface="Helvetica"/>
              </a:rPr>
              <a:t>     ■ </a:t>
            </a:r>
            <a:r>
              <a:rPr sz="650" b="1">
                <a:solidFill>
                  <a:srgbClr val="112A40"/>
                </a:solidFill>
                <a:latin typeface="Helvetica"/>
              </a:rPr>
              <a:t>27.b </a:t>
            </a:r>
            <a:r>
              <a:rPr sz="650" b="1">
                <a:solidFill>
                  <a:srgbClr val="ED7D31"/>
                </a:solidFill>
                <a:latin typeface="Helvetica"/>
              </a:rPr>
              <a:t>P2</a:t>
            </a:r>
            <a:r>
              <a:rPr sz="750" b="1">
                <a:solidFill>
                  <a:srgbClr val="FFC000"/>
                </a:solidFill>
                <a:latin typeface="Helvetica"/>
              </a:rPr>
              <a:t>     ■ </a:t>
            </a:r>
            <a:r>
              <a:rPr sz="650" b="1">
                <a:solidFill>
                  <a:srgbClr val="112A40"/>
                </a:solidFill>
                <a:latin typeface="Helvetica"/>
              </a:rPr>
              <a:t>26.d </a:t>
            </a:r>
            <a:r>
              <a:rPr sz="650" b="1">
                <a:solidFill>
                  <a:srgbClr val="FFC000"/>
                </a:solidFill>
                <a:latin typeface="Helvetica"/>
              </a:rPr>
              <a:t>P3</a:t>
            </a:r>
          </a:p>
        </p:txBody>
      </p:sp>
      <p:sp>
        <p:nvSpPr>
          <p:cNvPr id="56" name="TextBox 55"/>
          <p:cNvSpPr txBox="1"/>
          <p:nvPr/>
        </p:nvSpPr>
        <p:spPr>
          <a:xfrm>
            <a:off x="503999" y="5688000"/>
            <a:ext cx="11232000" cy="162000"/>
          </a:xfrm>
          <a:prstGeom prst="rect">
            <a:avLst/>
          </a:prstGeom>
          <a:noFill/>
        </p:spPr>
        <p:txBody>
          <a:bodyPr wrap="square">
            <a:spAutoFit/>
          </a:bodyPr>
          <a:lstStyle/>
          <a:p>
            <a:r>
              <a:rPr sz="750" b="1">
                <a:solidFill>
                  <a:srgbClr val="060606"/>
                </a:solidFill>
                <a:latin typeface="Helvetica"/>
              </a:rPr>
              <a:t>Criticité du constat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1">
                <a:solidFill>
                  <a:srgbClr val="060606"/>
                </a:solidFill>
                <a:latin typeface="Helvetica"/>
              </a:rPr>
              <a:t>Priorité : </a:t>
            </a:r>
            <a:r>
              <a:rPr sz="850" b="1">
                <a:solidFill>
                  <a:srgbClr val="C00000"/>
                </a:solidFill>
                <a:latin typeface="Helvetica"/>
              </a:rPr>
              <a:t>■ </a:t>
            </a:r>
            <a:r>
              <a:rPr sz="750" b="0">
                <a:solidFill>
                  <a:srgbClr val="060606"/>
                </a:solidFill>
                <a:latin typeface="Helvetica"/>
              </a:rPr>
              <a:t>P1 3 mois   </a:t>
            </a:r>
            <a:r>
              <a:rPr sz="850" b="1">
                <a:solidFill>
                  <a:srgbClr val="ED7D31"/>
                </a:solidFill>
                <a:latin typeface="Helvetica"/>
              </a:rPr>
              <a:t>■ </a:t>
            </a:r>
            <a:r>
              <a:rPr sz="750" b="0">
                <a:solidFill>
                  <a:srgbClr val="060606"/>
                </a:solidFill>
                <a:latin typeface="Helvetica"/>
              </a:rPr>
              <a:t>P2 6 mois   </a:t>
            </a:r>
            <a:r>
              <a:rPr sz="850" b="1">
                <a:solidFill>
                  <a:srgbClr val="FFC000"/>
                </a:solidFill>
                <a:latin typeface="Helvetica"/>
              </a:rPr>
              <a:t>■ </a:t>
            </a:r>
            <a:r>
              <a:rPr sz="750" b="0">
                <a:solidFill>
                  <a:srgbClr val="060606"/>
                </a:solidFill>
                <a:latin typeface="Helvetica"/>
              </a:rPr>
              <a:t>P3 6 à 18 mois   </a:t>
            </a:r>
            <a:r>
              <a:rPr sz="850" b="1">
                <a:solidFill>
                  <a:srgbClr val="70AD47"/>
                </a:solidFill>
                <a:latin typeface="Helvetica"/>
              </a:rPr>
              <a:t>■ </a:t>
            </a:r>
            <a:r>
              <a:rPr sz="750" b="0">
                <a:solidFill>
                  <a:srgbClr val="060606"/>
                </a:solidFill>
                <a:latin typeface="Helvetica"/>
              </a:rPr>
              <a:t>P4 au-delà   </a:t>
            </a:r>
            <a:r>
              <a:rPr sz="750" b="0">
                <a:solidFill>
                  <a:srgbClr val="060606"/>
                </a:solidFill>
                <a:latin typeface="Helvetica"/>
              </a:rPr>
              <a:t>Complexité : Faible (une décision suffit), Moyenne (travail interne), Élevée (tiers ou financement). Numéros : ceux du résumé exécutif.</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CGRAE : Caisse générale de retraite des agents de l'État</a:t>
            </a:r>
          </a:p>
        </p:txBody>
      </p:sp>
    </p:spTree>
    <p:extLst>
      <p:ext uri="{BB962C8B-B14F-4D97-AF65-F5344CB8AC3E}">
        <p14:creationId xmlns:p14="http://schemas.microsoft.com/office/powerpoint/2010/main" val="216218783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EFC | PEP | MEDOC</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intérêts de l'épargne ne sont ni fixés ni comptabilisés, et MEDOC n'est pas documenté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12 constats, dont 4 à traiter dans les trois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4932000" y="1422000"/>
            <a:ext cx="3600000" cy="1800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FFFF"/>
                </a:solidFill>
                <a:latin typeface="Helvetica"/>
              </a:rPr>
              <a:t>ACTIVITÉS : PRODUITS</a:t>
            </a:r>
          </a:p>
        </p:txBody>
      </p:sp>
      <p:cxnSp>
        <p:nvCxnSpPr>
          <p:cNvPr id="32" name="Connector 31"/>
          <p:cNvCxnSpPr/>
          <p:nvPr/>
        </p:nvCxnSpPr>
        <p:spPr>
          <a:xfrm>
            <a:off x="6732000" y="1602000"/>
            <a:ext cx="0" cy="828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396000" y="1684800"/>
            <a:ext cx="6672000" cy="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396000" y="1684800"/>
            <a:ext cx="0" cy="792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782000" y="1764000"/>
            <a:ext cx="3228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C00000"/>
                </a:solidFill>
                <a:latin typeface="Helvetica"/>
              </a:rPr>
              <a:t>● </a:t>
            </a:r>
            <a:r>
              <a:rPr sz="1050" b="1">
                <a:solidFill>
                  <a:srgbClr val="FFFFFF"/>
                </a:solidFill>
                <a:latin typeface="Helvetica"/>
              </a:rPr>
              <a:t>EFC</a:t>
            </a:r>
            <a:r>
              <a:rPr sz="850" b="0">
                <a:solidFill>
                  <a:srgbClr val="FFFFFF"/>
                </a:solidFill>
                <a:latin typeface="Helvetica"/>
              </a:rPr>
              <a:t>   6 constats</a:t>
            </a:r>
          </a:p>
        </p:txBody>
      </p:sp>
      <p:cxnSp>
        <p:nvCxnSpPr>
          <p:cNvPr id="36" name="Connector 35"/>
          <p:cNvCxnSpPr/>
          <p:nvPr/>
        </p:nvCxnSpPr>
        <p:spPr>
          <a:xfrm>
            <a:off x="6732000" y="1684800"/>
            <a:ext cx="0" cy="792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118000" y="1764000"/>
            <a:ext cx="3228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C00000"/>
                </a:solidFill>
                <a:latin typeface="Helvetica"/>
              </a:rPr>
              <a:t>● </a:t>
            </a:r>
            <a:r>
              <a:rPr sz="1050" b="1">
                <a:solidFill>
                  <a:srgbClr val="FFFFFF"/>
                </a:solidFill>
                <a:latin typeface="Helvetica"/>
              </a:rPr>
              <a:t>PEP</a:t>
            </a:r>
            <a:r>
              <a:rPr sz="850" b="0">
                <a:solidFill>
                  <a:srgbClr val="FFFFFF"/>
                </a:solidFill>
                <a:latin typeface="Helvetica"/>
              </a:rPr>
              <a:t>   4 constats</a:t>
            </a:r>
          </a:p>
        </p:txBody>
      </p:sp>
      <p:cxnSp>
        <p:nvCxnSpPr>
          <p:cNvPr id="38" name="Connector 37"/>
          <p:cNvCxnSpPr/>
          <p:nvPr/>
        </p:nvCxnSpPr>
        <p:spPr>
          <a:xfrm>
            <a:off x="10068000" y="1684800"/>
            <a:ext cx="0" cy="792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454000" y="1764000"/>
            <a:ext cx="3228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ED7D31"/>
                </a:solidFill>
                <a:latin typeface="Helvetica"/>
              </a:rPr>
              <a:t>● </a:t>
            </a:r>
            <a:r>
              <a:rPr sz="1050" b="1">
                <a:solidFill>
                  <a:srgbClr val="FFFFFF"/>
                </a:solidFill>
                <a:latin typeface="Helvetica"/>
              </a:rPr>
              <a:t>MEDOC</a:t>
            </a:r>
            <a:r>
              <a:rPr sz="850" b="0">
                <a:solidFill>
                  <a:srgbClr val="FFFFFF"/>
                </a:solidFill>
                <a:latin typeface="Helvetica"/>
              </a:rPr>
              <a:t>   2 constats</a:t>
            </a:r>
          </a:p>
        </p:txBody>
      </p:sp>
      <p:sp>
        <p:nvSpPr>
          <p:cNvPr id="40" name="Rectangle 39"/>
          <p:cNvSpPr/>
          <p:nvPr/>
        </p:nvSpPr>
        <p:spPr>
          <a:xfrm>
            <a:off x="503999" y="2070000"/>
            <a:ext cx="1188000" cy="2137867"/>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Constats et commentaires</a:t>
            </a:r>
          </a:p>
        </p:txBody>
      </p:sp>
      <p:sp>
        <p:nvSpPr>
          <p:cNvPr id="41" name="Rectangle 40"/>
          <p:cNvSpPr/>
          <p:nvPr/>
        </p:nvSpPr>
        <p:spPr>
          <a:xfrm>
            <a:off x="1745999" y="2070000"/>
            <a:ext cx="3300000" cy="2137867"/>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200"/>
              </a:spcAft>
            </a:pPr>
            <a:r>
              <a:rPr sz="800" b="1">
                <a:solidFill>
                  <a:srgbClr val="C00000"/>
                </a:solidFill>
                <a:latin typeface="Helvetica"/>
              </a:rPr>
              <a:t>● </a:t>
            </a:r>
            <a:r>
              <a:rPr sz="700" b="1">
                <a:solidFill>
                  <a:srgbClr val="112A40"/>
                </a:solidFill>
                <a:latin typeface="Helvetica"/>
              </a:rPr>
              <a:t>6  </a:t>
            </a:r>
            <a:r>
              <a:rPr sz="700" b="1">
                <a:solidFill>
                  <a:srgbClr val="060606"/>
                </a:solidFill>
                <a:latin typeface="Helvetica"/>
              </a:rPr>
              <a:t>Les intérêts promis ne sont pas comptabilisés. </a:t>
            </a:r>
            <a:r>
              <a:rPr sz="700" b="0">
                <a:solidFill>
                  <a:srgbClr val="060606"/>
                </a:solidFill>
                <a:latin typeface="Helvetica"/>
              </a:rPr>
              <a:t>Pour l'EFC : 2 027 062 663 FCFA à 5,50 % de 2020 au 31/08/2026, sur 3 278 913 238 FCFA au total.</a:t>
            </a:r>
          </a:p>
          <a:p>
            <a:pPr algn="l">
              <a:spcAft>
                <a:spcPts val="200"/>
              </a:spcAft>
            </a:pPr>
            <a:r>
              <a:rPr sz="800" b="1">
                <a:solidFill>
                  <a:srgbClr val="C00000"/>
                </a:solidFill>
                <a:latin typeface="Helvetica"/>
              </a:rPr>
              <a:t>● </a:t>
            </a:r>
            <a:r>
              <a:rPr sz="700" b="1">
                <a:solidFill>
                  <a:srgbClr val="112A40"/>
                </a:solidFill>
                <a:latin typeface="Helvetica"/>
              </a:rPr>
              <a:t>7  </a:t>
            </a:r>
            <a:r>
              <a:rPr sz="700" b="1">
                <a:solidFill>
                  <a:srgbClr val="060606"/>
                </a:solidFill>
                <a:latin typeface="Helvetica"/>
              </a:rPr>
              <a:t>Aucun taux n'est officiellement fixé. </a:t>
            </a:r>
            <a:r>
              <a:rPr sz="700" b="0">
                <a:solidFill>
                  <a:srgbClr val="060606"/>
                </a:solidFill>
                <a:latin typeface="Helvetica"/>
              </a:rPr>
              <a:t>3,50 %, 5,50 % ou 14 % selon le document. Même à 3,50 %, une année d'intérêts (309 709 577 FCFA en 2025) dépasse les produits de tous les placements.</a:t>
            </a:r>
          </a:p>
          <a:p>
            <a:pPr algn="l">
              <a:spcAft>
                <a:spcPts val="200"/>
              </a:spcAft>
            </a:pPr>
            <a:r>
              <a:rPr sz="800" b="1">
                <a:solidFill>
                  <a:srgbClr val="C00000"/>
                </a:solidFill>
                <a:latin typeface="Helvetica"/>
              </a:rPr>
              <a:t>● </a:t>
            </a:r>
            <a:r>
              <a:rPr sz="700" b="1">
                <a:solidFill>
                  <a:srgbClr val="112A40"/>
                </a:solidFill>
                <a:latin typeface="Helvetica"/>
              </a:rPr>
              <a:t>11.a  </a:t>
            </a:r>
            <a:r>
              <a:rPr sz="700" b="1">
                <a:solidFill>
                  <a:srgbClr val="060606"/>
                </a:solidFill>
                <a:latin typeface="Helvetica"/>
              </a:rPr>
              <a:t>Les sorties ne sont pas prévues. </a:t>
            </a:r>
            <a:r>
              <a:rPr sz="700" b="0">
                <a:solidFill>
                  <a:srgbClr val="060606"/>
                </a:solidFill>
                <a:latin typeface="Helvetica"/>
              </a:rPr>
              <a:t>L'EFC sort aux départs à la retraite, imprévisibles sans dates de naissance. Aucun échéancier n'existe.</a:t>
            </a:r>
          </a:p>
          <a:p>
            <a:pPr algn="l">
              <a:spcAft>
                <a:spcPts val="200"/>
              </a:spcAft>
            </a:pPr>
            <a:r>
              <a:rPr sz="800" b="1">
                <a:solidFill>
                  <a:srgbClr val="ED7D31"/>
                </a:solidFill>
                <a:latin typeface="Helvetica"/>
              </a:rPr>
              <a:t>● </a:t>
            </a:r>
            <a:r>
              <a:rPr sz="700" b="1">
                <a:solidFill>
                  <a:srgbClr val="112A40"/>
                </a:solidFill>
                <a:latin typeface="Helvetica"/>
              </a:rPr>
              <a:t>10.b  </a:t>
            </a:r>
            <a:r>
              <a:rPr sz="700" b="1">
                <a:solidFill>
                  <a:srgbClr val="060606"/>
                </a:solidFill>
                <a:latin typeface="Helvetica"/>
              </a:rPr>
              <a:t>L'EFC a triplé sans réserve dédiée. </a:t>
            </a:r>
            <a:r>
              <a:rPr sz="700" b="0">
                <a:solidFill>
                  <a:srgbClr val="060606"/>
                </a:solidFill>
                <a:latin typeface="Helvetica"/>
              </a:rPr>
              <a:t>3 461 975 893 FCFA en 2020, 10 514 270 966 FCFA au 31/08/2026. Le dépôt à terme EFC est vidé chaque décembre pour payer l'EFC.</a:t>
            </a:r>
          </a:p>
          <a:p>
            <a:pPr algn="l">
              <a:spcAft>
                <a:spcPts val="200"/>
              </a:spcAft>
            </a:pPr>
            <a:r>
              <a:rPr sz="800" b="1">
                <a:solidFill>
                  <a:srgbClr val="ED7D31"/>
                </a:solidFill>
                <a:latin typeface="Helvetica"/>
              </a:rPr>
              <a:t>● </a:t>
            </a:r>
            <a:r>
              <a:rPr sz="700" b="1">
                <a:solidFill>
                  <a:srgbClr val="112A40"/>
                </a:solidFill>
                <a:latin typeface="Helvetica"/>
              </a:rPr>
              <a:t>8  </a:t>
            </a:r>
            <a:r>
              <a:rPr sz="700" b="1">
                <a:solidFill>
                  <a:srgbClr val="060606"/>
                </a:solidFill>
                <a:latin typeface="Helvetica"/>
              </a:rPr>
              <a:t>Pas de compte individuel par épargnant. </a:t>
            </a:r>
            <a:r>
              <a:rPr sz="700" b="0">
                <a:solidFill>
                  <a:srgbClr val="060606"/>
                </a:solidFill>
                <a:latin typeface="Helvetica"/>
              </a:rPr>
              <a:t>Le solde de chaque policier n'est pas connu.</a:t>
            </a:r>
          </a:p>
          <a:p>
            <a:pPr algn="l">
              <a:spcAft>
                <a:spcPts val="200"/>
              </a:spcAft>
            </a:pPr>
            <a:r>
              <a:rPr sz="800" b="1">
                <a:solidFill>
                  <a:srgbClr val="FFC000"/>
                </a:solidFill>
                <a:latin typeface="Helvetica"/>
              </a:rPr>
              <a:t>● </a:t>
            </a:r>
            <a:r>
              <a:rPr sz="700" b="1">
                <a:solidFill>
                  <a:srgbClr val="112A40"/>
                </a:solidFill>
                <a:latin typeface="Helvetica"/>
              </a:rPr>
              <a:t>26.e  </a:t>
            </a:r>
            <a:r>
              <a:rPr sz="700" b="1">
                <a:solidFill>
                  <a:srgbClr val="060606"/>
                </a:solidFill>
                <a:latin typeface="Helvetica"/>
              </a:rPr>
              <a:t>La hausse de l'EFC à 10 000 FCFA n'est pas documentée. </a:t>
            </a:r>
            <a:r>
              <a:rPr sz="700" b="0">
                <a:solidFill>
                  <a:srgbClr val="060606"/>
                </a:solidFill>
                <a:latin typeface="Helvetica"/>
              </a:rPr>
              <a:t>Décision de 2021 non transmise. </a:t>
            </a:r>
            <a:r>
              <a:rPr sz="700" b="0">
                <a:solidFill>
                  <a:srgbClr val="060606"/>
                </a:solidFill>
                <a:highlight>
                  <a:srgbClr val="FFFF00"/>
                </a:highlight>
                <a:latin typeface="Helvetica"/>
              </a:rPr>
              <a:t>Le premier prélèvement des nouvelles recrues peut être décalé d'un mois.</a:t>
            </a:r>
          </a:p>
        </p:txBody>
      </p:sp>
      <p:sp>
        <p:nvSpPr>
          <p:cNvPr id="42" name="Rectangle 41"/>
          <p:cNvSpPr/>
          <p:nvPr/>
        </p:nvSpPr>
        <p:spPr>
          <a:xfrm>
            <a:off x="5082000" y="2070000"/>
            <a:ext cx="3300000" cy="2137867"/>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200"/>
              </a:spcAft>
            </a:pPr>
            <a:r>
              <a:rPr sz="800" b="1">
                <a:solidFill>
                  <a:srgbClr val="C00000"/>
                </a:solidFill>
                <a:latin typeface="Helvetica"/>
              </a:rPr>
              <a:t>● </a:t>
            </a:r>
            <a:r>
              <a:rPr sz="700" b="1">
                <a:solidFill>
                  <a:srgbClr val="112A40"/>
                </a:solidFill>
                <a:latin typeface="Helvetica"/>
              </a:rPr>
              <a:t>6.a  </a:t>
            </a:r>
            <a:r>
              <a:rPr sz="700" b="1">
                <a:solidFill>
                  <a:srgbClr val="060606"/>
                </a:solidFill>
                <a:latin typeface="Helvetica"/>
              </a:rPr>
              <a:t>Les intérêts promis ne sont pas comptabilisés. </a:t>
            </a:r>
            <a:r>
              <a:rPr sz="700" b="0">
                <a:solidFill>
                  <a:srgbClr val="060606"/>
                </a:solidFill>
                <a:latin typeface="Helvetica"/>
              </a:rPr>
              <a:t>Pour le PEP : 1 251 850 574 FCFA à 3,50 % de 2020 au 31/08/2026.</a:t>
            </a:r>
          </a:p>
          <a:p>
            <a:pPr algn="l">
              <a:spcAft>
                <a:spcPts val="200"/>
              </a:spcAft>
            </a:pPr>
            <a:r>
              <a:rPr sz="800" b="1">
                <a:solidFill>
                  <a:srgbClr val="ED7D31"/>
                </a:solidFill>
                <a:latin typeface="Helvetica"/>
              </a:rPr>
              <a:t>● </a:t>
            </a:r>
            <a:r>
              <a:rPr sz="700" b="1">
                <a:solidFill>
                  <a:srgbClr val="112A40"/>
                </a:solidFill>
                <a:latin typeface="Helvetica"/>
              </a:rPr>
              <a:t>10.a  </a:t>
            </a:r>
            <a:r>
              <a:rPr sz="700" b="1">
                <a:solidFill>
                  <a:srgbClr val="060606"/>
                </a:solidFill>
                <a:latin typeface="Helvetica"/>
              </a:rPr>
              <a:t>Le PEP sort vite. </a:t>
            </a:r>
            <a:r>
              <a:rPr sz="700" b="0">
                <a:solidFill>
                  <a:srgbClr val="060606"/>
                </a:solidFill>
                <a:latin typeface="Helvetica"/>
              </a:rPr>
              <a:t>46,17 % de l'épargne PEP est sortie en 2023, 23,60 % en 2025.</a:t>
            </a:r>
          </a:p>
          <a:p>
            <a:pPr algn="l">
              <a:spcAft>
                <a:spcPts val="200"/>
              </a:spcAft>
            </a:pPr>
            <a:r>
              <a:rPr sz="800" b="1">
                <a:solidFill>
                  <a:srgbClr val="FFC000"/>
                </a:solidFill>
                <a:latin typeface="Helvetica"/>
              </a:rPr>
              <a:t>● </a:t>
            </a:r>
            <a:r>
              <a:rPr sz="700" b="1">
                <a:solidFill>
                  <a:srgbClr val="112A40"/>
                </a:solidFill>
                <a:latin typeface="Helvetica"/>
              </a:rPr>
              <a:t>27.c  </a:t>
            </a:r>
            <a:r>
              <a:rPr sz="700" b="1">
                <a:solidFill>
                  <a:srgbClr val="060606"/>
                </a:solidFill>
                <a:latin typeface="Helvetica"/>
              </a:rPr>
              <a:t>Des prélèvements PEP sont de nature inconnue. </a:t>
            </a:r>
            <a:r>
              <a:rPr sz="700" b="0">
                <a:solidFill>
                  <a:srgbClr val="060606"/>
                </a:solidFill>
                <a:latin typeface="Helvetica"/>
              </a:rPr>
              <a:t>174 461 860 FCFA de références PTI, RPEP, EP, TI et PTQ de 2020 à 2026.</a:t>
            </a:r>
          </a:p>
          <a:p>
            <a:pPr algn="l">
              <a:spcAft>
                <a:spcPts val="200"/>
              </a:spcAft>
            </a:pPr>
            <a:r>
              <a:rPr sz="800" b="1">
                <a:solidFill>
                  <a:srgbClr val="FFC000"/>
                </a:solidFill>
                <a:latin typeface="Helvetica"/>
              </a:rPr>
              <a:t>● </a:t>
            </a:r>
            <a:r>
              <a:rPr sz="700" b="1">
                <a:solidFill>
                  <a:srgbClr val="112A40"/>
                </a:solidFill>
                <a:latin typeface="Helvetica"/>
              </a:rPr>
              <a:t>23.a  </a:t>
            </a:r>
            <a:r>
              <a:rPr sz="700" b="1">
                <a:solidFill>
                  <a:srgbClr val="060606"/>
                </a:solidFill>
                <a:latin typeface="Helvetica"/>
              </a:rPr>
              <a:t>Les intérêts du dépôt PEP sont enregistrés en une fois. </a:t>
            </a:r>
            <a:r>
              <a:rPr sz="700" b="0">
                <a:solidFill>
                  <a:srgbClr val="060606"/>
                </a:solidFill>
                <a:latin typeface="Helvetica"/>
              </a:rPr>
              <a:t>Dépôt de 505 383 858 FCFA placé de 2020 à 2025 : 132 663 262 FCFA d'intérêts enregistrés en 2025 seulement.</a:t>
            </a:r>
          </a:p>
        </p:txBody>
      </p:sp>
      <p:sp>
        <p:nvSpPr>
          <p:cNvPr id="43" name="Rectangle 42"/>
          <p:cNvSpPr/>
          <p:nvPr/>
        </p:nvSpPr>
        <p:spPr>
          <a:xfrm>
            <a:off x="8418000" y="2070000"/>
            <a:ext cx="3300000" cy="2137867"/>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200"/>
              </a:spcAft>
            </a:pPr>
            <a:r>
              <a:rPr sz="800" b="1">
                <a:solidFill>
                  <a:srgbClr val="ED7D31"/>
                </a:solidFill>
                <a:latin typeface="Helvetica"/>
              </a:rPr>
              <a:t>● </a:t>
            </a:r>
            <a:r>
              <a:rPr sz="700" b="1">
                <a:solidFill>
                  <a:srgbClr val="112A40"/>
                </a:solidFill>
                <a:latin typeface="Helvetica"/>
              </a:rPr>
              <a:t>26.f  </a:t>
            </a:r>
            <a:r>
              <a:rPr sz="700" b="1">
                <a:solidFill>
                  <a:srgbClr val="060606"/>
                </a:solidFill>
                <a:latin typeface="Helvetica"/>
              </a:rPr>
              <a:t>MEDOC n'est pas documenté. </a:t>
            </a:r>
            <a:r>
              <a:rPr sz="700" b="0">
                <a:solidFill>
                  <a:srgbClr val="060606"/>
                </a:solidFill>
                <a:latin typeface="Helvetica"/>
              </a:rPr>
              <a:t>Ni conventions avec les pharmacies, ni période de fonctionnement, ni décision de suspension.</a:t>
            </a:r>
          </a:p>
          <a:p>
            <a:pPr algn="l">
              <a:spcAft>
                <a:spcPts val="200"/>
              </a:spcAft>
            </a:pPr>
            <a:r>
              <a:rPr sz="800" b="1">
                <a:solidFill>
                  <a:srgbClr val="FFC000"/>
                </a:solidFill>
                <a:latin typeface="Helvetica"/>
              </a:rPr>
              <a:t>● </a:t>
            </a:r>
            <a:r>
              <a:rPr sz="700" b="1">
                <a:solidFill>
                  <a:srgbClr val="112A40"/>
                </a:solidFill>
                <a:latin typeface="Helvetica"/>
              </a:rPr>
              <a:t>27.d  </a:t>
            </a:r>
            <a:r>
              <a:rPr sz="700" b="1">
                <a:solidFill>
                  <a:srgbClr val="060606"/>
                </a:solidFill>
                <a:latin typeface="Helvetica"/>
              </a:rPr>
              <a:t>Les prélèvements MEDOC sont incomplets. </a:t>
            </a:r>
            <a:r>
              <a:rPr sz="700" b="0">
                <a:solidFill>
                  <a:srgbClr val="060606"/>
                </a:solidFill>
                <a:latin typeface="Helvetica"/>
              </a:rPr>
              <a:t>Fichiers reçus de novembre 2025 à août 2026 seulement. Produit ou garantie : nature à préciser.</a:t>
            </a:r>
          </a:p>
        </p:txBody>
      </p:sp>
      <p:sp>
        <p:nvSpPr>
          <p:cNvPr id="44" name="Rectangle 43"/>
          <p:cNvSpPr/>
          <p:nvPr/>
        </p:nvSpPr>
        <p:spPr>
          <a:xfrm>
            <a:off x="503999" y="4207867"/>
            <a:ext cx="1188000" cy="943891"/>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Recommandations</a:t>
            </a:r>
          </a:p>
        </p:txBody>
      </p:sp>
      <p:sp>
        <p:nvSpPr>
          <p:cNvPr id="45" name="Rectangle 44"/>
          <p:cNvSpPr/>
          <p:nvPr/>
        </p:nvSpPr>
        <p:spPr>
          <a:xfrm>
            <a:off x="1745999" y="4207867"/>
            <a:ext cx="3300000" cy="943891"/>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150"/>
              </a:spcAft>
            </a:pPr>
            <a:r>
              <a:rPr sz="700" b="1">
                <a:solidFill>
                  <a:srgbClr val="112A40"/>
                </a:solidFill>
                <a:latin typeface="Helvetica"/>
              </a:rPr>
              <a:t>6  </a:t>
            </a:r>
            <a:r>
              <a:rPr sz="700" b="0">
                <a:solidFill>
                  <a:srgbClr val="060606"/>
                </a:solidFill>
                <a:latin typeface="Helvetica"/>
              </a:rPr>
              <a:t>Comptabiliser chaque année les intérêts dus.</a:t>
            </a:r>
          </a:p>
          <a:p>
            <a:pPr algn="l">
              <a:spcAft>
                <a:spcPts val="150"/>
              </a:spcAft>
            </a:pPr>
            <a:r>
              <a:rPr sz="700" b="1">
                <a:solidFill>
                  <a:srgbClr val="112A40"/>
                </a:solidFill>
                <a:latin typeface="Helvetica"/>
              </a:rPr>
              <a:t>7  </a:t>
            </a:r>
            <a:r>
              <a:rPr sz="700" b="0">
                <a:solidFill>
                  <a:srgbClr val="060606"/>
                </a:solidFill>
                <a:latin typeface="Helvetica"/>
              </a:rPr>
              <a:t>Faire fixer le taux par le conseil d'administration.</a:t>
            </a:r>
          </a:p>
          <a:p>
            <a:pPr algn="l">
              <a:spcAft>
                <a:spcPts val="150"/>
              </a:spcAft>
            </a:pPr>
            <a:r>
              <a:rPr sz="700" b="1">
                <a:solidFill>
                  <a:srgbClr val="112A40"/>
                </a:solidFill>
                <a:latin typeface="Helvetica"/>
              </a:rPr>
              <a:t>11.a  </a:t>
            </a:r>
            <a:r>
              <a:rPr sz="700" b="0">
                <a:solidFill>
                  <a:srgbClr val="060606"/>
                </a:solidFill>
                <a:latin typeface="Helvetica"/>
              </a:rPr>
              <a:t>Établir l'échéancier des départs à la retraite.</a:t>
            </a:r>
          </a:p>
          <a:p>
            <a:pPr algn="l">
              <a:spcAft>
                <a:spcPts val="150"/>
              </a:spcAft>
            </a:pPr>
            <a:r>
              <a:rPr sz="700" b="1">
                <a:solidFill>
                  <a:srgbClr val="112A40"/>
                </a:solidFill>
                <a:latin typeface="Helvetica"/>
              </a:rPr>
              <a:t>10.b  </a:t>
            </a:r>
            <a:r>
              <a:rPr sz="700" b="0">
                <a:solidFill>
                  <a:srgbClr val="060606"/>
                </a:solidFill>
                <a:latin typeface="Helvetica"/>
              </a:rPr>
              <a:t>Constituer une réserve réservée à l'épargne.</a:t>
            </a:r>
          </a:p>
          <a:p>
            <a:pPr algn="l">
              <a:spcAft>
                <a:spcPts val="150"/>
              </a:spcAft>
            </a:pPr>
            <a:r>
              <a:rPr sz="700" b="1">
                <a:solidFill>
                  <a:srgbClr val="112A40"/>
                </a:solidFill>
                <a:latin typeface="Helvetica"/>
              </a:rPr>
              <a:t>8  </a:t>
            </a:r>
            <a:r>
              <a:rPr sz="700" b="0">
                <a:solidFill>
                  <a:srgbClr val="060606"/>
                </a:solidFill>
                <a:latin typeface="Helvetica"/>
              </a:rPr>
              <a:t>Tenir un compte par épargnant et envoyer un relevé annuel.</a:t>
            </a:r>
          </a:p>
          <a:p>
            <a:pPr algn="l">
              <a:spcAft>
                <a:spcPts val="150"/>
              </a:spcAft>
            </a:pPr>
            <a:r>
              <a:rPr sz="700" b="1">
                <a:solidFill>
                  <a:srgbClr val="112A40"/>
                </a:solidFill>
                <a:latin typeface="Helvetica"/>
              </a:rPr>
              <a:t>26.e  </a:t>
            </a:r>
            <a:r>
              <a:rPr sz="700" b="0">
                <a:solidFill>
                  <a:srgbClr val="060606"/>
                </a:solidFill>
                <a:latin typeface="Helvetica"/>
              </a:rPr>
              <a:t>Transmettre la décision et dater chaque souscription.</a:t>
            </a:r>
          </a:p>
        </p:txBody>
      </p:sp>
      <p:sp>
        <p:nvSpPr>
          <p:cNvPr id="46" name="Rectangle 45"/>
          <p:cNvSpPr/>
          <p:nvPr/>
        </p:nvSpPr>
        <p:spPr>
          <a:xfrm>
            <a:off x="5082000" y="4207867"/>
            <a:ext cx="3300000" cy="943891"/>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150"/>
              </a:spcAft>
            </a:pPr>
            <a:r>
              <a:rPr sz="700" b="1">
                <a:solidFill>
                  <a:srgbClr val="112A40"/>
                </a:solidFill>
                <a:latin typeface="Helvetica"/>
              </a:rPr>
              <a:t>6.a  </a:t>
            </a:r>
            <a:r>
              <a:rPr sz="700" b="0">
                <a:solidFill>
                  <a:srgbClr val="060606"/>
                </a:solidFill>
                <a:latin typeface="Helvetica"/>
              </a:rPr>
              <a:t>Comptabiliser chaque année les intérêts dus.</a:t>
            </a:r>
          </a:p>
          <a:p>
            <a:pPr algn="l">
              <a:spcAft>
                <a:spcPts val="150"/>
              </a:spcAft>
            </a:pPr>
            <a:r>
              <a:rPr sz="700" b="1">
                <a:solidFill>
                  <a:srgbClr val="112A40"/>
                </a:solidFill>
                <a:latin typeface="Helvetica"/>
              </a:rPr>
              <a:t>10.a  </a:t>
            </a:r>
            <a:r>
              <a:rPr sz="700" b="0">
                <a:solidFill>
                  <a:srgbClr val="060606"/>
                </a:solidFill>
                <a:latin typeface="Helvetica"/>
              </a:rPr>
              <a:t>Prévoir la liquidité selon les échéances des plans.</a:t>
            </a:r>
          </a:p>
          <a:p>
            <a:pPr algn="l">
              <a:spcAft>
                <a:spcPts val="150"/>
              </a:spcAft>
            </a:pPr>
            <a:r>
              <a:rPr sz="700" b="1">
                <a:solidFill>
                  <a:srgbClr val="112A40"/>
                </a:solidFill>
                <a:latin typeface="Helvetica"/>
              </a:rPr>
              <a:t>27.c  </a:t>
            </a:r>
            <a:r>
              <a:rPr sz="700" b="0">
                <a:solidFill>
                  <a:srgbClr val="060606"/>
                </a:solidFill>
                <a:latin typeface="Helvetica"/>
              </a:rPr>
              <a:t>Préciser la nature de ces prélèvements.</a:t>
            </a:r>
          </a:p>
          <a:p>
            <a:pPr algn="l">
              <a:spcAft>
                <a:spcPts val="150"/>
              </a:spcAft>
            </a:pPr>
            <a:r>
              <a:rPr sz="700" b="1">
                <a:solidFill>
                  <a:srgbClr val="112A40"/>
                </a:solidFill>
                <a:latin typeface="Helvetica"/>
              </a:rPr>
              <a:t>23.a  </a:t>
            </a:r>
            <a:r>
              <a:rPr sz="700" b="0">
                <a:solidFill>
                  <a:srgbClr val="060606"/>
                </a:solidFill>
                <a:latin typeface="Helvetica"/>
              </a:rPr>
              <a:t>Enregistrer les intérêts chaque année.</a:t>
            </a:r>
          </a:p>
        </p:txBody>
      </p:sp>
      <p:sp>
        <p:nvSpPr>
          <p:cNvPr id="47" name="Rectangle 46"/>
          <p:cNvSpPr/>
          <p:nvPr/>
        </p:nvSpPr>
        <p:spPr>
          <a:xfrm>
            <a:off x="8418000" y="4207867"/>
            <a:ext cx="3300000" cy="943891"/>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150"/>
              </a:spcAft>
            </a:pPr>
            <a:r>
              <a:rPr sz="700" b="1">
                <a:solidFill>
                  <a:srgbClr val="112A40"/>
                </a:solidFill>
                <a:latin typeface="Helvetica"/>
              </a:rPr>
              <a:t>26.f  </a:t>
            </a:r>
            <a:r>
              <a:rPr sz="700" b="0">
                <a:solidFill>
                  <a:srgbClr val="060606"/>
                </a:solidFill>
                <a:latin typeface="Helvetica"/>
              </a:rPr>
              <a:t>Transmettre la documentation de MEDOC.</a:t>
            </a:r>
          </a:p>
          <a:p>
            <a:pPr algn="l">
              <a:spcAft>
                <a:spcPts val="150"/>
              </a:spcAft>
            </a:pPr>
            <a:r>
              <a:rPr sz="700" b="1">
                <a:solidFill>
                  <a:srgbClr val="112A40"/>
                </a:solidFill>
                <a:latin typeface="Helvetica"/>
              </a:rPr>
              <a:t>27.d  </a:t>
            </a:r>
            <a:r>
              <a:rPr sz="700" b="0">
                <a:solidFill>
                  <a:srgbClr val="060606"/>
                </a:solidFill>
                <a:latin typeface="Helvetica"/>
              </a:rPr>
              <a:t>Transmettre les fichiers manquants et préciser la nature.</a:t>
            </a:r>
          </a:p>
        </p:txBody>
      </p:sp>
      <p:sp>
        <p:nvSpPr>
          <p:cNvPr id="48" name="Rectangle 47"/>
          <p:cNvSpPr/>
          <p:nvPr/>
        </p:nvSpPr>
        <p:spPr>
          <a:xfrm>
            <a:off x="503999" y="5151758"/>
            <a:ext cx="1188000" cy="303494"/>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Complexité</a:t>
            </a:r>
          </a:p>
        </p:txBody>
      </p:sp>
      <p:sp>
        <p:nvSpPr>
          <p:cNvPr id="49" name="Rectangle 48"/>
          <p:cNvSpPr/>
          <p:nvPr/>
        </p:nvSpPr>
        <p:spPr>
          <a:xfrm>
            <a:off x="1745999" y="5151758"/>
            <a:ext cx="3300000" cy="303494"/>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700" b="1">
                <a:solidFill>
                  <a:srgbClr val="112A40"/>
                </a:solidFill>
                <a:latin typeface="Helvetica"/>
              </a:rPr>
              <a:t>6 </a:t>
            </a:r>
            <a:r>
              <a:rPr sz="700" b="0">
                <a:solidFill>
                  <a:srgbClr val="060606"/>
                </a:solidFill>
                <a:latin typeface="Helvetica"/>
              </a:rPr>
              <a:t>Moyenne</a:t>
            </a:r>
            <a:r>
              <a:rPr sz="700" b="1">
                <a:solidFill>
                  <a:srgbClr val="112A40"/>
                </a:solidFill>
                <a:latin typeface="Helvetica"/>
              </a:rPr>
              <a:t>     7 </a:t>
            </a:r>
            <a:r>
              <a:rPr sz="700" b="0">
                <a:solidFill>
                  <a:srgbClr val="060606"/>
                </a:solidFill>
                <a:latin typeface="Helvetica"/>
              </a:rPr>
              <a:t>Faible</a:t>
            </a:r>
            <a:r>
              <a:rPr sz="700" b="1">
                <a:solidFill>
                  <a:srgbClr val="112A40"/>
                </a:solidFill>
                <a:latin typeface="Helvetica"/>
              </a:rPr>
              <a:t>     11.a </a:t>
            </a:r>
            <a:r>
              <a:rPr sz="700" b="1">
                <a:solidFill>
                  <a:srgbClr val="060606"/>
                </a:solidFill>
                <a:latin typeface="Helvetica"/>
              </a:rPr>
              <a:t>Élevée</a:t>
            </a:r>
            <a:r>
              <a:rPr sz="700" b="1">
                <a:solidFill>
                  <a:srgbClr val="112A40"/>
                </a:solidFill>
                <a:latin typeface="Helvetica"/>
              </a:rPr>
              <a:t>     10.b </a:t>
            </a:r>
            <a:r>
              <a:rPr sz="700" b="0">
                <a:solidFill>
                  <a:srgbClr val="060606"/>
                </a:solidFill>
                <a:latin typeface="Helvetica"/>
              </a:rPr>
              <a:t>Moyenne</a:t>
            </a:r>
            <a:r>
              <a:rPr sz="700" b="1">
                <a:solidFill>
                  <a:srgbClr val="112A40"/>
                </a:solidFill>
                <a:latin typeface="Helvetica"/>
              </a:rPr>
              <a:t>     8 </a:t>
            </a:r>
            <a:r>
              <a:rPr sz="700" b="1">
                <a:solidFill>
                  <a:srgbClr val="060606"/>
                </a:solidFill>
                <a:latin typeface="Helvetica"/>
              </a:rPr>
              <a:t>Élevée</a:t>
            </a:r>
            <a:r>
              <a:rPr sz="700" b="1">
                <a:solidFill>
                  <a:srgbClr val="112A40"/>
                </a:solidFill>
                <a:latin typeface="Helvetica"/>
              </a:rPr>
              <a:t>     26.e </a:t>
            </a:r>
            <a:r>
              <a:rPr sz="700" b="0">
                <a:solidFill>
                  <a:srgbClr val="060606"/>
                </a:solidFill>
                <a:latin typeface="Helvetica"/>
              </a:rPr>
              <a:t>Faible</a:t>
            </a:r>
          </a:p>
        </p:txBody>
      </p:sp>
      <p:sp>
        <p:nvSpPr>
          <p:cNvPr id="50" name="Rectangle 49"/>
          <p:cNvSpPr/>
          <p:nvPr/>
        </p:nvSpPr>
        <p:spPr>
          <a:xfrm>
            <a:off x="5082000" y="5151758"/>
            <a:ext cx="3300000" cy="303494"/>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700" b="1">
                <a:solidFill>
                  <a:srgbClr val="112A40"/>
                </a:solidFill>
                <a:latin typeface="Helvetica"/>
              </a:rPr>
              <a:t>6.a </a:t>
            </a:r>
            <a:r>
              <a:rPr sz="700" b="0">
                <a:solidFill>
                  <a:srgbClr val="060606"/>
                </a:solidFill>
                <a:latin typeface="Helvetica"/>
              </a:rPr>
              <a:t>Moyenne</a:t>
            </a:r>
            <a:r>
              <a:rPr sz="700" b="1">
                <a:solidFill>
                  <a:srgbClr val="112A40"/>
                </a:solidFill>
                <a:latin typeface="Helvetica"/>
              </a:rPr>
              <a:t>     10.a </a:t>
            </a:r>
            <a:r>
              <a:rPr sz="700" b="0">
                <a:solidFill>
                  <a:srgbClr val="060606"/>
                </a:solidFill>
                <a:latin typeface="Helvetica"/>
              </a:rPr>
              <a:t>Moyenne</a:t>
            </a:r>
            <a:r>
              <a:rPr sz="700" b="1">
                <a:solidFill>
                  <a:srgbClr val="112A40"/>
                </a:solidFill>
                <a:latin typeface="Helvetica"/>
              </a:rPr>
              <a:t>     27.c </a:t>
            </a:r>
            <a:r>
              <a:rPr sz="700" b="0">
                <a:solidFill>
                  <a:srgbClr val="060606"/>
                </a:solidFill>
                <a:latin typeface="Helvetica"/>
              </a:rPr>
              <a:t>Faible</a:t>
            </a:r>
            <a:r>
              <a:rPr sz="700" b="1">
                <a:solidFill>
                  <a:srgbClr val="112A40"/>
                </a:solidFill>
                <a:latin typeface="Helvetica"/>
              </a:rPr>
              <a:t>     23.a </a:t>
            </a:r>
            <a:r>
              <a:rPr sz="700" b="0">
                <a:solidFill>
                  <a:srgbClr val="060606"/>
                </a:solidFill>
                <a:latin typeface="Helvetica"/>
              </a:rPr>
              <a:t>Faible</a:t>
            </a:r>
          </a:p>
        </p:txBody>
      </p:sp>
      <p:sp>
        <p:nvSpPr>
          <p:cNvPr id="51" name="Rectangle 50"/>
          <p:cNvSpPr/>
          <p:nvPr/>
        </p:nvSpPr>
        <p:spPr>
          <a:xfrm>
            <a:off x="8418000" y="5151758"/>
            <a:ext cx="3300000" cy="303494"/>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700" b="1">
                <a:solidFill>
                  <a:srgbClr val="112A40"/>
                </a:solidFill>
                <a:latin typeface="Helvetica"/>
              </a:rPr>
              <a:t>26.f </a:t>
            </a:r>
            <a:r>
              <a:rPr sz="700" b="0">
                <a:solidFill>
                  <a:srgbClr val="060606"/>
                </a:solidFill>
                <a:latin typeface="Helvetica"/>
              </a:rPr>
              <a:t>Faible</a:t>
            </a:r>
            <a:r>
              <a:rPr sz="700" b="1">
                <a:solidFill>
                  <a:srgbClr val="112A40"/>
                </a:solidFill>
                <a:latin typeface="Helvetica"/>
              </a:rPr>
              <a:t>     27.d </a:t>
            </a:r>
            <a:r>
              <a:rPr sz="700" b="0">
                <a:solidFill>
                  <a:srgbClr val="060606"/>
                </a:solidFill>
                <a:latin typeface="Helvetica"/>
              </a:rPr>
              <a:t>Faible</a:t>
            </a:r>
          </a:p>
        </p:txBody>
      </p:sp>
      <p:sp>
        <p:nvSpPr>
          <p:cNvPr id="52" name="Rectangle 51"/>
          <p:cNvSpPr/>
          <p:nvPr/>
        </p:nvSpPr>
        <p:spPr>
          <a:xfrm>
            <a:off x="503999" y="5455252"/>
            <a:ext cx="1188000" cy="196747"/>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Priorité</a:t>
            </a:r>
          </a:p>
        </p:txBody>
      </p:sp>
      <p:sp>
        <p:nvSpPr>
          <p:cNvPr id="53" name="Rectangle 52"/>
          <p:cNvSpPr/>
          <p:nvPr/>
        </p:nvSpPr>
        <p:spPr>
          <a:xfrm>
            <a:off x="1745999" y="5455252"/>
            <a:ext cx="3300000" cy="196747"/>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800" b="1">
                <a:solidFill>
                  <a:srgbClr val="C00000"/>
                </a:solidFill>
                <a:latin typeface="Helvetica"/>
              </a:rPr>
              <a:t>■ </a:t>
            </a:r>
            <a:r>
              <a:rPr sz="700" b="1">
                <a:solidFill>
                  <a:srgbClr val="112A40"/>
                </a:solidFill>
                <a:latin typeface="Helvetica"/>
              </a:rPr>
              <a:t>6 </a:t>
            </a:r>
            <a:r>
              <a:rPr sz="700" b="1">
                <a:solidFill>
                  <a:srgbClr val="C00000"/>
                </a:solidFill>
                <a:latin typeface="Helvetica"/>
              </a:rPr>
              <a:t>P1</a:t>
            </a:r>
            <a:r>
              <a:rPr sz="800" b="1">
                <a:solidFill>
                  <a:srgbClr val="C00000"/>
                </a:solidFill>
                <a:latin typeface="Helvetica"/>
              </a:rPr>
              <a:t>     ■ </a:t>
            </a:r>
            <a:r>
              <a:rPr sz="700" b="1">
                <a:solidFill>
                  <a:srgbClr val="112A40"/>
                </a:solidFill>
                <a:latin typeface="Helvetica"/>
              </a:rPr>
              <a:t>7 </a:t>
            </a:r>
            <a:r>
              <a:rPr sz="700" b="1">
                <a:solidFill>
                  <a:srgbClr val="C00000"/>
                </a:solidFill>
                <a:latin typeface="Helvetica"/>
              </a:rPr>
              <a:t>P1</a:t>
            </a:r>
            <a:r>
              <a:rPr sz="800" b="1">
                <a:solidFill>
                  <a:srgbClr val="C00000"/>
                </a:solidFill>
                <a:latin typeface="Helvetica"/>
              </a:rPr>
              <a:t>     ■ </a:t>
            </a:r>
            <a:r>
              <a:rPr sz="700" b="1">
                <a:solidFill>
                  <a:srgbClr val="112A40"/>
                </a:solidFill>
                <a:latin typeface="Helvetica"/>
              </a:rPr>
              <a:t>11.a </a:t>
            </a:r>
            <a:r>
              <a:rPr sz="700" b="1">
                <a:solidFill>
                  <a:srgbClr val="C00000"/>
                </a:solidFill>
                <a:latin typeface="Helvetica"/>
              </a:rPr>
              <a:t>P1</a:t>
            </a:r>
            <a:r>
              <a:rPr sz="800" b="1">
                <a:solidFill>
                  <a:srgbClr val="ED7D31"/>
                </a:solidFill>
                <a:latin typeface="Helvetica"/>
              </a:rPr>
              <a:t>     ■ </a:t>
            </a:r>
            <a:r>
              <a:rPr sz="700" b="1">
                <a:solidFill>
                  <a:srgbClr val="112A40"/>
                </a:solidFill>
                <a:latin typeface="Helvetica"/>
              </a:rPr>
              <a:t>10.b </a:t>
            </a:r>
            <a:r>
              <a:rPr sz="700" b="1">
                <a:solidFill>
                  <a:srgbClr val="ED7D31"/>
                </a:solidFill>
                <a:latin typeface="Helvetica"/>
              </a:rPr>
              <a:t>P2</a:t>
            </a:r>
            <a:r>
              <a:rPr sz="800" b="1">
                <a:solidFill>
                  <a:srgbClr val="ED7D31"/>
                </a:solidFill>
                <a:latin typeface="Helvetica"/>
              </a:rPr>
              <a:t>     ■ </a:t>
            </a:r>
            <a:r>
              <a:rPr sz="700" b="1">
                <a:solidFill>
                  <a:srgbClr val="112A40"/>
                </a:solidFill>
                <a:latin typeface="Helvetica"/>
              </a:rPr>
              <a:t>8 </a:t>
            </a:r>
            <a:r>
              <a:rPr sz="700" b="1">
                <a:solidFill>
                  <a:srgbClr val="ED7D31"/>
                </a:solidFill>
                <a:latin typeface="Helvetica"/>
              </a:rPr>
              <a:t>P2</a:t>
            </a:r>
            <a:r>
              <a:rPr sz="800" b="1">
                <a:solidFill>
                  <a:srgbClr val="FFC000"/>
                </a:solidFill>
                <a:latin typeface="Helvetica"/>
              </a:rPr>
              <a:t>     ■ </a:t>
            </a:r>
            <a:r>
              <a:rPr sz="700" b="1">
                <a:solidFill>
                  <a:srgbClr val="112A40"/>
                </a:solidFill>
                <a:latin typeface="Helvetica"/>
              </a:rPr>
              <a:t>26.e </a:t>
            </a:r>
            <a:r>
              <a:rPr sz="700" b="1">
                <a:solidFill>
                  <a:srgbClr val="FFC000"/>
                </a:solidFill>
                <a:latin typeface="Helvetica"/>
              </a:rPr>
              <a:t>P3</a:t>
            </a:r>
          </a:p>
        </p:txBody>
      </p:sp>
      <p:sp>
        <p:nvSpPr>
          <p:cNvPr id="54" name="Rectangle 53"/>
          <p:cNvSpPr/>
          <p:nvPr/>
        </p:nvSpPr>
        <p:spPr>
          <a:xfrm>
            <a:off x="5082000" y="5455252"/>
            <a:ext cx="3300000" cy="196747"/>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800" b="1">
                <a:solidFill>
                  <a:srgbClr val="C00000"/>
                </a:solidFill>
                <a:latin typeface="Helvetica"/>
              </a:rPr>
              <a:t>■ </a:t>
            </a:r>
            <a:r>
              <a:rPr sz="700" b="1">
                <a:solidFill>
                  <a:srgbClr val="112A40"/>
                </a:solidFill>
                <a:latin typeface="Helvetica"/>
              </a:rPr>
              <a:t>6.a </a:t>
            </a:r>
            <a:r>
              <a:rPr sz="700" b="1">
                <a:solidFill>
                  <a:srgbClr val="C00000"/>
                </a:solidFill>
                <a:latin typeface="Helvetica"/>
              </a:rPr>
              <a:t>P1</a:t>
            </a:r>
            <a:r>
              <a:rPr sz="800" b="1">
                <a:solidFill>
                  <a:srgbClr val="ED7D31"/>
                </a:solidFill>
                <a:latin typeface="Helvetica"/>
              </a:rPr>
              <a:t>     ■ </a:t>
            </a:r>
            <a:r>
              <a:rPr sz="700" b="1">
                <a:solidFill>
                  <a:srgbClr val="112A40"/>
                </a:solidFill>
                <a:latin typeface="Helvetica"/>
              </a:rPr>
              <a:t>10.a </a:t>
            </a:r>
            <a:r>
              <a:rPr sz="700" b="1">
                <a:solidFill>
                  <a:srgbClr val="ED7D31"/>
                </a:solidFill>
                <a:latin typeface="Helvetica"/>
              </a:rPr>
              <a:t>P2</a:t>
            </a:r>
            <a:r>
              <a:rPr sz="800" b="1">
                <a:solidFill>
                  <a:srgbClr val="ED7D31"/>
                </a:solidFill>
                <a:latin typeface="Helvetica"/>
              </a:rPr>
              <a:t>     ■ </a:t>
            </a:r>
            <a:r>
              <a:rPr sz="700" b="1">
                <a:solidFill>
                  <a:srgbClr val="112A40"/>
                </a:solidFill>
                <a:latin typeface="Helvetica"/>
              </a:rPr>
              <a:t>27.c </a:t>
            </a:r>
            <a:r>
              <a:rPr sz="700" b="1">
                <a:solidFill>
                  <a:srgbClr val="ED7D31"/>
                </a:solidFill>
                <a:latin typeface="Helvetica"/>
              </a:rPr>
              <a:t>P2</a:t>
            </a:r>
            <a:r>
              <a:rPr sz="800" b="1">
                <a:solidFill>
                  <a:srgbClr val="FFC000"/>
                </a:solidFill>
                <a:latin typeface="Helvetica"/>
              </a:rPr>
              <a:t>     ■ </a:t>
            </a:r>
            <a:r>
              <a:rPr sz="700" b="1">
                <a:solidFill>
                  <a:srgbClr val="112A40"/>
                </a:solidFill>
                <a:latin typeface="Helvetica"/>
              </a:rPr>
              <a:t>23.a </a:t>
            </a:r>
            <a:r>
              <a:rPr sz="700" b="1">
                <a:solidFill>
                  <a:srgbClr val="FFC000"/>
                </a:solidFill>
                <a:latin typeface="Helvetica"/>
              </a:rPr>
              <a:t>P3</a:t>
            </a:r>
          </a:p>
        </p:txBody>
      </p:sp>
      <p:sp>
        <p:nvSpPr>
          <p:cNvPr id="55" name="Rectangle 54"/>
          <p:cNvSpPr/>
          <p:nvPr/>
        </p:nvSpPr>
        <p:spPr>
          <a:xfrm>
            <a:off x="8418000" y="5455252"/>
            <a:ext cx="3300000" cy="196747"/>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800" b="1">
                <a:solidFill>
                  <a:srgbClr val="FFC000"/>
                </a:solidFill>
                <a:latin typeface="Helvetica"/>
              </a:rPr>
              <a:t>■ </a:t>
            </a:r>
            <a:r>
              <a:rPr sz="700" b="1">
                <a:solidFill>
                  <a:srgbClr val="112A40"/>
                </a:solidFill>
                <a:latin typeface="Helvetica"/>
              </a:rPr>
              <a:t>26.f </a:t>
            </a:r>
            <a:r>
              <a:rPr sz="700" b="1">
                <a:solidFill>
                  <a:srgbClr val="FFC000"/>
                </a:solidFill>
                <a:latin typeface="Helvetica"/>
              </a:rPr>
              <a:t>P3</a:t>
            </a:r>
            <a:r>
              <a:rPr sz="800" b="1">
                <a:solidFill>
                  <a:srgbClr val="FFC000"/>
                </a:solidFill>
                <a:latin typeface="Helvetica"/>
              </a:rPr>
              <a:t>     ■ </a:t>
            </a:r>
            <a:r>
              <a:rPr sz="700" b="1">
                <a:solidFill>
                  <a:srgbClr val="112A40"/>
                </a:solidFill>
                <a:latin typeface="Helvetica"/>
              </a:rPr>
              <a:t>27.d </a:t>
            </a:r>
            <a:r>
              <a:rPr sz="700" b="1">
                <a:solidFill>
                  <a:srgbClr val="FFC000"/>
                </a:solidFill>
                <a:latin typeface="Helvetica"/>
              </a:rPr>
              <a:t>P3</a:t>
            </a:r>
          </a:p>
        </p:txBody>
      </p:sp>
      <p:sp>
        <p:nvSpPr>
          <p:cNvPr id="56" name="TextBox 55"/>
          <p:cNvSpPr txBox="1"/>
          <p:nvPr/>
        </p:nvSpPr>
        <p:spPr>
          <a:xfrm>
            <a:off x="503999" y="5688000"/>
            <a:ext cx="11232000" cy="162000"/>
          </a:xfrm>
          <a:prstGeom prst="rect">
            <a:avLst/>
          </a:prstGeom>
          <a:noFill/>
        </p:spPr>
        <p:txBody>
          <a:bodyPr wrap="square">
            <a:spAutoFit/>
          </a:bodyPr>
          <a:lstStyle/>
          <a:p>
            <a:r>
              <a:rPr sz="750" b="1">
                <a:solidFill>
                  <a:srgbClr val="060606"/>
                </a:solidFill>
                <a:latin typeface="Helvetica"/>
              </a:rPr>
              <a:t>Criticité du constat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1">
                <a:solidFill>
                  <a:srgbClr val="060606"/>
                </a:solidFill>
                <a:latin typeface="Helvetica"/>
              </a:rPr>
              <a:t>Priorité : </a:t>
            </a:r>
            <a:r>
              <a:rPr sz="850" b="1">
                <a:solidFill>
                  <a:srgbClr val="C00000"/>
                </a:solidFill>
                <a:latin typeface="Helvetica"/>
              </a:rPr>
              <a:t>■ </a:t>
            </a:r>
            <a:r>
              <a:rPr sz="750" b="0">
                <a:solidFill>
                  <a:srgbClr val="060606"/>
                </a:solidFill>
                <a:latin typeface="Helvetica"/>
              </a:rPr>
              <a:t>P1 3 mois   </a:t>
            </a:r>
            <a:r>
              <a:rPr sz="850" b="1">
                <a:solidFill>
                  <a:srgbClr val="ED7D31"/>
                </a:solidFill>
                <a:latin typeface="Helvetica"/>
              </a:rPr>
              <a:t>■ </a:t>
            </a:r>
            <a:r>
              <a:rPr sz="750" b="0">
                <a:solidFill>
                  <a:srgbClr val="060606"/>
                </a:solidFill>
                <a:latin typeface="Helvetica"/>
              </a:rPr>
              <a:t>P2 6 mois   </a:t>
            </a:r>
            <a:r>
              <a:rPr sz="850" b="1">
                <a:solidFill>
                  <a:srgbClr val="FFC000"/>
                </a:solidFill>
                <a:latin typeface="Helvetica"/>
              </a:rPr>
              <a:t>■ </a:t>
            </a:r>
            <a:r>
              <a:rPr sz="750" b="0">
                <a:solidFill>
                  <a:srgbClr val="060606"/>
                </a:solidFill>
                <a:latin typeface="Helvetica"/>
              </a:rPr>
              <a:t>P3 6 à 18 mois   </a:t>
            </a:r>
            <a:r>
              <a:rPr sz="850" b="1">
                <a:solidFill>
                  <a:srgbClr val="70AD47"/>
                </a:solidFill>
                <a:latin typeface="Helvetica"/>
              </a:rPr>
              <a:t>■ </a:t>
            </a:r>
            <a:r>
              <a:rPr sz="750" b="0">
                <a:solidFill>
                  <a:srgbClr val="060606"/>
                </a:solidFill>
                <a:latin typeface="Helvetica"/>
              </a:rPr>
              <a:t>P4 au-delà   </a:t>
            </a:r>
            <a:r>
              <a:rPr sz="750" b="0">
                <a:solidFill>
                  <a:srgbClr val="060606"/>
                </a:solidFill>
                <a:latin typeface="Helvetica"/>
              </a:rPr>
              <a:t>Complexité : Faible (une décision suffit), Moyenne (travail interne), Élevée (tiers ou financement). Numéros : ceux du résumé exécutif.</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Surligné en jaune : affirmation à confirmer par une pièce ou une réponse écrite du FPPN. Sigles : FPPN : Fonds de prévoyance de la Police nationale | PEP : Plan Épargne Plus | EFC : entraide fin de carrière | MEDOC : produit santé complémentaire du poste 8Z7</a:t>
            </a:r>
          </a:p>
        </p:txBody>
      </p:sp>
    </p:spTree>
    <p:extLst>
      <p:ext uri="{BB962C8B-B14F-4D97-AF65-F5344CB8AC3E}">
        <p14:creationId xmlns:p14="http://schemas.microsoft.com/office/powerpoint/2010/main" val="41592846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Grenier | Flotte automobile | Clinique (CMP)</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services aux policiers grandissent avec l'épargne, sans comptes séparés ni évaluation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9 constats, aucun à traiter dans les trois mois, mais plusieurs dans les six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4932000" y="1422000"/>
            <a:ext cx="3600000" cy="1800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FFFF"/>
                </a:solidFill>
                <a:latin typeface="Helvetica"/>
              </a:rPr>
              <a:t>ACTIVITÉS : PRODUITS</a:t>
            </a:r>
          </a:p>
        </p:txBody>
      </p:sp>
      <p:cxnSp>
        <p:nvCxnSpPr>
          <p:cNvPr id="32" name="Connector 31"/>
          <p:cNvCxnSpPr/>
          <p:nvPr/>
        </p:nvCxnSpPr>
        <p:spPr>
          <a:xfrm>
            <a:off x="6732000" y="1602000"/>
            <a:ext cx="0" cy="828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396000" y="1684800"/>
            <a:ext cx="6672000" cy="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396000" y="1684800"/>
            <a:ext cx="0" cy="792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782000" y="1764000"/>
            <a:ext cx="3228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ED7D31"/>
                </a:solidFill>
                <a:latin typeface="Helvetica"/>
              </a:rPr>
              <a:t>● </a:t>
            </a:r>
            <a:r>
              <a:rPr sz="1050" b="1">
                <a:solidFill>
                  <a:srgbClr val="FFFFFF"/>
                </a:solidFill>
                <a:latin typeface="Helvetica"/>
              </a:rPr>
              <a:t>GRENIER</a:t>
            </a:r>
            <a:r>
              <a:rPr sz="850" b="0">
                <a:solidFill>
                  <a:srgbClr val="FFFFFF"/>
                </a:solidFill>
                <a:latin typeface="Helvetica"/>
              </a:rPr>
              <a:t>   4 constats</a:t>
            </a:r>
          </a:p>
        </p:txBody>
      </p:sp>
      <p:cxnSp>
        <p:nvCxnSpPr>
          <p:cNvPr id="36" name="Connector 35"/>
          <p:cNvCxnSpPr/>
          <p:nvPr/>
        </p:nvCxnSpPr>
        <p:spPr>
          <a:xfrm>
            <a:off x="6732000" y="1684800"/>
            <a:ext cx="0" cy="792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118000" y="1764000"/>
            <a:ext cx="3228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FFC000"/>
                </a:solidFill>
                <a:latin typeface="Helvetica"/>
              </a:rPr>
              <a:t>● </a:t>
            </a:r>
            <a:r>
              <a:rPr sz="1050" b="1">
                <a:solidFill>
                  <a:srgbClr val="FFFFFF"/>
                </a:solidFill>
                <a:latin typeface="Helvetica"/>
              </a:rPr>
              <a:t>FLOTTE AUTOMOBILE</a:t>
            </a:r>
            <a:r>
              <a:rPr sz="850" b="0">
                <a:solidFill>
                  <a:srgbClr val="FFFFFF"/>
                </a:solidFill>
                <a:latin typeface="Helvetica"/>
              </a:rPr>
              <a:t>   3 constats</a:t>
            </a:r>
          </a:p>
        </p:txBody>
      </p:sp>
      <p:cxnSp>
        <p:nvCxnSpPr>
          <p:cNvPr id="38" name="Connector 37"/>
          <p:cNvCxnSpPr/>
          <p:nvPr/>
        </p:nvCxnSpPr>
        <p:spPr>
          <a:xfrm>
            <a:off x="10068000" y="1684800"/>
            <a:ext cx="0" cy="792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454000" y="1764000"/>
            <a:ext cx="3228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ED7D31"/>
                </a:solidFill>
                <a:latin typeface="Helvetica"/>
              </a:rPr>
              <a:t>● </a:t>
            </a:r>
            <a:r>
              <a:rPr sz="1050" b="1">
                <a:solidFill>
                  <a:srgbClr val="FFFFFF"/>
                </a:solidFill>
                <a:latin typeface="Helvetica"/>
              </a:rPr>
              <a:t>CLINIQUE (CMP)</a:t>
            </a:r>
            <a:r>
              <a:rPr sz="850" b="0">
                <a:solidFill>
                  <a:srgbClr val="FFFFFF"/>
                </a:solidFill>
                <a:latin typeface="Helvetica"/>
              </a:rPr>
              <a:t>   2 constats</a:t>
            </a:r>
          </a:p>
        </p:txBody>
      </p:sp>
      <p:sp>
        <p:nvSpPr>
          <p:cNvPr id="40" name="Rectangle 39"/>
          <p:cNvSpPr/>
          <p:nvPr/>
        </p:nvSpPr>
        <p:spPr>
          <a:xfrm>
            <a:off x="503999" y="2070000"/>
            <a:ext cx="1188000" cy="2102878"/>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Constats et commentaires</a:t>
            </a:r>
          </a:p>
        </p:txBody>
      </p:sp>
      <p:sp>
        <p:nvSpPr>
          <p:cNvPr id="41" name="Rectangle 40"/>
          <p:cNvSpPr/>
          <p:nvPr/>
        </p:nvSpPr>
        <p:spPr>
          <a:xfrm>
            <a:off x="1745999" y="2070000"/>
            <a:ext cx="3300000" cy="2102878"/>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200"/>
              </a:spcAft>
            </a:pPr>
            <a:r>
              <a:rPr sz="900" b="1">
                <a:solidFill>
                  <a:srgbClr val="ED7D31"/>
                </a:solidFill>
                <a:latin typeface="Helvetica"/>
              </a:rPr>
              <a:t>● </a:t>
            </a:r>
            <a:r>
              <a:rPr sz="800" b="1">
                <a:solidFill>
                  <a:srgbClr val="112A40"/>
                </a:solidFill>
                <a:latin typeface="Helvetica"/>
              </a:rPr>
              <a:t>25  </a:t>
            </a:r>
            <a:r>
              <a:rPr sz="800" b="1">
                <a:solidFill>
                  <a:srgbClr val="060606"/>
                </a:solidFill>
                <a:latin typeface="Helvetica"/>
              </a:rPr>
              <a:t>Le Grenier grandit vite avec l'épargne. </a:t>
            </a:r>
            <a:r>
              <a:rPr sz="800" b="0">
                <a:solidFill>
                  <a:srgbClr val="060606"/>
                </a:solidFill>
                <a:latin typeface="Helvetica"/>
              </a:rPr>
              <a:t>Encours de 7 900 000 FCFA fin 2021 à 1 044 302 107 FCFA au 31/08/2026, financé à 87,66 % par le FPPN.</a:t>
            </a:r>
          </a:p>
          <a:p>
            <a:pPr algn="l">
              <a:spcAft>
                <a:spcPts val="200"/>
              </a:spcAft>
            </a:pPr>
            <a:r>
              <a:rPr sz="900" b="1">
                <a:solidFill>
                  <a:srgbClr val="70AD47"/>
                </a:solidFill>
                <a:latin typeface="Helvetica"/>
              </a:rPr>
              <a:t>● </a:t>
            </a:r>
            <a:r>
              <a:rPr sz="800" b="1">
                <a:solidFill>
                  <a:srgbClr val="112A40"/>
                </a:solidFill>
                <a:latin typeface="Helvetica"/>
              </a:rPr>
              <a:t>4  </a:t>
            </a:r>
            <a:r>
              <a:rPr sz="800" b="1">
                <a:solidFill>
                  <a:srgbClr val="060606"/>
                </a:solidFill>
                <a:latin typeface="Helvetica"/>
              </a:rPr>
              <a:t>Les pertes probables ne sont pas comptées. </a:t>
            </a:r>
            <a:r>
              <a:rPr sz="800" b="0">
                <a:solidFill>
                  <a:srgbClr val="060606"/>
                </a:solidFill>
                <a:latin typeface="Helvetica"/>
              </a:rPr>
              <a:t>14 016 392 FCFA selon la politique de crédit (40 %, 80 % ou 100 % selon le retard).</a:t>
            </a:r>
          </a:p>
          <a:p>
            <a:pPr algn="l">
              <a:spcAft>
                <a:spcPts val="200"/>
              </a:spcAft>
            </a:pPr>
            <a:r>
              <a:rPr sz="900" b="1">
                <a:solidFill>
                  <a:srgbClr val="FFC000"/>
                </a:solidFill>
                <a:latin typeface="Helvetica"/>
              </a:rPr>
              <a:t>● </a:t>
            </a:r>
            <a:r>
              <a:rPr sz="800" b="1">
                <a:solidFill>
                  <a:srgbClr val="112A40"/>
                </a:solidFill>
                <a:latin typeface="Helvetica"/>
              </a:rPr>
              <a:t>4.a  </a:t>
            </a:r>
            <a:r>
              <a:rPr sz="800" b="1">
                <a:solidFill>
                  <a:srgbClr val="060606"/>
                </a:solidFill>
                <a:latin typeface="Helvetica"/>
              </a:rPr>
              <a:t>126 prêts ont plus de 180 jours de retard. </a:t>
            </a:r>
            <a:r>
              <a:rPr sz="800" b="0">
                <a:solidFill>
                  <a:srgbClr val="060606"/>
                </a:solidFill>
                <a:latin typeface="Helvetica"/>
              </a:rPr>
              <a:t>Les retards de fin janvier 2026 se sont résorbés, signe d'échéances non prélevées fin 2025.</a:t>
            </a:r>
          </a:p>
          <a:p>
            <a:pPr algn="l">
              <a:spcAft>
                <a:spcPts val="200"/>
              </a:spcAft>
            </a:pPr>
            <a:r>
              <a:rPr sz="900" b="1">
                <a:solidFill>
                  <a:srgbClr val="70AD47"/>
                </a:solidFill>
                <a:latin typeface="Helvetica"/>
              </a:rPr>
              <a:t>● </a:t>
            </a:r>
            <a:r>
              <a:rPr sz="800" b="1">
                <a:solidFill>
                  <a:srgbClr val="112A40"/>
                </a:solidFill>
                <a:latin typeface="Helvetica"/>
              </a:rPr>
              <a:t>25.a  </a:t>
            </a:r>
            <a:r>
              <a:rPr sz="800" b="1">
                <a:solidFill>
                  <a:srgbClr val="060606"/>
                </a:solidFill>
                <a:latin typeface="Helvetica"/>
              </a:rPr>
              <a:t>Les prêts sont courts mais l'habitat allonge le risque. </a:t>
            </a:r>
            <a:r>
              <a:rPr sz="800" b="0">
                <a:solidFill>
                  <a:srgbClr val="060606"/>
                </a:solidFill>
                <a:latin typeface="Helvetica"/>
              </a:rPr>
              <a:t>Durée médiane de 10 mois, taux médian de 18,00 %. Scolaire et habitat : 66,12 % des montants de 2025.</a:t>
            </a:r>
          </a:p>
        </p:txBody>
      </p:sp>
      <p:sp>
        <p:nvSpPr>
          <p:cNvPr id="42" name="Rectangle 41"/>
          <p:cNvSpPr/>
          <p:nvPr/>
        </p:nvSpPr>
        <p:spPr>
          <a:xfrm>
            <a:off x="5082000" y="2070000"/>
            <a:ext cx="3300000" cy="2102878"/>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200"/>
              </a:spcAft>
            </a:pPr>
            <a:r>
              <a:rPr sz="900" b="1">
                <a:solidFill>
                  <a:srgbClr val="FFC000"/>
                </a:solidFill>
                <a:latin typeface="Helvetica"/>
              </a:rPr>
              <a:t>● </a:t>
            </a:r>
            <a:r>
              <a:rPr sz="800" b="1">
                <a:solidFill>
                  <a:srgbClr val="112A40"/>
                </a:solidFill>
                <a:latin typeface="Helvetica"/>
              </a:rPr>
              <a:t>18.a  </a:t>
            </a:r>
            <a:r>
              <a:rPr sz="800" b="1">
                <a:solidFill>
                  <a:srgbClr val="060606"/>
                </a:solidFill>
                <a:latin typeface="Helvetica"/>
              </a:rPr>
              <a:t>Les trop-perçus ne sont pas suivis comme une dette. </a:t>
            </a:r>
            <a:r>
              <a:rPr sz="800" b="0">
                <a:solidFill>
                  <a:srgbClr val="060606"/>
                </a:solidFill>
                <a:latin typeface="Helvetica"/>
              </a:rPr>
              <a:t>Le risque est porté par GNA : pas de provision au FPPN. Mais le compte 47111106 n'est pas justifié de 2023 à 2026.</a:t>
            </a:r>
          </a:p>
          <a:p>
            <a:pPr algn="l">
              <a:spcAft>
                <a:spcPts val="200"/>
              </a:spcAft>
            </a:pPr>
            <a:r>
              <a:rPr sz="900" b="1">
                <a:solidFill>
                  <a:srgbClr val="FFC000"/>
                </a:solidFill>
                <a:latin typeface="Helvetica"/>
              </a:rPr>
              <a:t>● </a:t>
            </a:r>
            <a:r>
              <a:rPr sz="800" b="1">
                <a:solidFill>
                  <a:srgbClr val="112A40"/>
                </a:solidFill>
                <a:latin typeface="Helvetica"/>
              </a:rPr>
              <a:t>26.g  </a:t>
            </a:r>
            <a:r>
              <a:rPr sz="800" b="1">
                <a:solidFill>
                  <a:srgbClr val="060606"/>
                </a:solidFill>
                <a:latin typeface="Helvetica"/>
              </a:rPr>
              <a:t>La convention avec GNA manque. </a:t>
            </a:r>
            <a:r>
              <a:rPr sz="800" b="0">
                <a:solidFill>
                  <a:srgbClr val="060606"/>
                </a:solidFill>
                <a:latin typeface="Helvetica"/>
              </a:rPr>
              <a:t>Convention d'apporteur d'affaires et décomptes non transmis : l'assiette de la commission de 20 % n'est pas vérifiable.</a:t>
            </a:r>
          </a:p>
          <a:p>
            <a:pPr algn="l">
              <a:spcAft>
                <a:spcPts val="200"/>
              </a:spcAft>
            </a:pPr>
            <a:r>
              <a:rPr sz="900" b="1">
                <a:solidFill>
                  <a:srgbClr val="70AD47"/>
                </a:solidFill>
                <a:latin typeface="Helvetica"/>
              </a:rPr>
              <a:t>● </a:t>
            </a:r>
            <a:r>
              <a:rPr sz="800" b="1">
                <a:solidFill>
                  <a:srgbClr val="112A40"/>
                </a:solidFill>
                <a:latin typeface="Helvetica"/>
              </a:rPr>
              <a:t>27.e  </a:t>
            </a:r>
            <a:r>
              <a:rPr sz="800" b="1">
                <a:solidFill>
                  <a:srgbClr val="060606"/>
                </a:solidFill>
                <a:latin typeface="Helvetica"/>
              </a:rPr>
              <a:t>Un fichier retour manque. </a:t>
            </a:r>
            <a:r>
              <a:rPr sz="800" b="0">
                <a:solidFill>
                  <a:srgbClr val="060606"/>
                </a:solidFill>
                <a:latin typeface="Helvetica"/>
              </a:rPr>
              <a:t>Janvier 2026.</a:t>
            </a:r>
          </a:p>
        </p:txBody>
      </p:sp>
      <p:sp>
        <p:nvSpPr>
          <p:cNvPr id="43" name="Rectangle 42"/>
          <p:cNvSpPr/>
          <p:nvPr/>
        </p:nvSpPr>
        <p:spPr>
          <a:xfrm>
            <a:off x="8418000" y="2070000"/>
            <a:ext cx="3300000" cy="2102878"/>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200"/>
              </a:spcAft>
            </a:pPr>
            <a:r>
              <a:rPr sz="900" b="1">
                <a:solidFill>
                  <a:srgbClr val="ED7D31"/>
                </a:solidFill>
                <a:latin typeface="Helvetica"/>
              </a:rPr>
              <a:t>● </a:t>
            </a:r>
            <a:r>
              <a:rPr sz="800" b="1">
                <a:solidFill>
                  <a:srgbClr val="112A40"/>
                </a:solidFill>
                <a:latin typeface="Helvetica"/>
              </a:rPr>
              <a:t>17  </a:t>
            </a:r>
            <a:r>
              <a:rPr sz="800" b="1">
                <a:solidFill>
                  <a:srgbClr val="060606"/>
                </a:solidFill>
                <a:latin typeface="Helvetica"/>
              </a:rPr>
              <a:t>La clinique n'a pas de comptabilité séparée. </a:t>
            </a:r>
            <a:r>
              <a:rPr sz="800" b="0">
                <a:solidFill>
                  <a:srgbClr val="060606"/>
                </a:solidFill>
                <a:latin typeface="Helvetica"/>
              </a:rPr>
              <a:t>7 083 534 565 FCFA au bilan, dont 1 280 300 860 FCFA de charges de fonctionnement. On ne sait pas si elle gagne ou perd de l'argent.</a:t>
            </a:r>
          </a:p>
          <a:p>
            <a:pPr algn="l">
              <a:spcAft>
                <a:spcPts val="200"/>
              </a:spcAft>
            </a:pPr>
            <a:r>
              <a:rPr sz="900" b="1">
                <a:solidFill>
                  <a:srgbClr val="ED7D31"/>
                </a:solidFill>
                <a:latin typeface="Helvetica"/>
              </a:rPr>
              <a:t>● </a:t>
            </a:r>
            <a:r>
              <a:rPr sz="800" b="1">
                <a:solidFill>
                  <a:srgbClr val="112A40"/>
                </a:solidFill>
                <a:latin typeface="Helvetica"/>
              </a:rPr>
              <a:t>12.a  </a:t>
            </a:r>
            <a:r>
              <a:rPr sz="800" b="1">
                <a:solidFill>
                  <a:srgbClr val="060606"/>
                </a:solidFill>
                <a:latin typeface="Helvetica"/>
              </a:rPr>
              <a:t>Sa valeur n'est pas établie. </a:t>
            </a:r>
            <a:r>
              <a:rPr sz="800" b="0">
                <a:solidFill>
                  <a:srgbClr val="060606"/>
                </a:solidFill>
                <a:latin typeface="Helvetica"/>
              </a:rPr>
              <a:t>Aucune expertise. Elle est financée en grande partie par l'épargne.</a:t>
            </a:r>
          </a:p>
        </p:txBody>
      </p:sp>
      <p:sp>
        <p:nvSpPr>
          <p:cNvPr id="44" name="Rectangle 43"/>
          <p:cNvSpPr/>
          <p:nvPr/>
        </p:nvSpPr>
        <p:spPr>
          <a:xfrm>
            <a:off x="503999" y="4172878"/>
            <a:ext cx="1188000" cy="1055128"/>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Recommandations</a:t>
            </a:r>
          </a:p>
        </p:txBody>
      </p:sp>
      <p:sp>
        <p:nvSpPr>
          <p:cNvPr id="45" name="Rectangle 44"/>
          <p:cNvSpPr/>
          <p:nvPr/>
        </p:nvSpPr>
        <p:spPr>
          <a:xfrm>
            <a:off x="1745999" y="4172878"/>
            <a:ext cx="3300000" cy="1055128"/>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150"/>
              </a:spcAft>
            </a:pPr>
            <a:r>
              <a:rPr sz="800" b="1">
                <a:solidFill>
                  <a:srgbClr val="112A40"/>
                </a:solidFill>
                <a:latin typeface="Helvetica"/>
              </a:rPr>
              <a:t>25  </a:t>
            </a:r>
            <a:r>
              <a:rPr sz="800" b="0">
                <a:solidFill>
                  <a:srgbClr val="060606"/>
                </a:solidFill>
                <a:latin typeface="Helvetica"/>
              </a:rPr>
              <a:t>Fixer par décision un plafond de financement du Grenier.</a:t>
            </a:r>
          </a:p>
          <a:p>
            <a:pPr algn="l">
              <a:spcAft>
                <a:spcPts val="150"/>
              </a:spcAft>
            </a:pPr>
            <a:r>
              <a:rPr sz="800" b="1">
                <a:solidFill>
                  <a:srgbClr val="112A40"/>
                </a:solidFill>
                <a:latin typeface="Helvetica"/>
              </a:rPr>
              <a:t>4  </a:t>
            </a:r>
            <a:r>
              <a:rPr sz="800" b="0">
                <a:solidFill>
                  <a:srgbClr val="060606"/>
                </a:solidFill>
                <a:latin typeface="Helvetica"/>
              </a:rPr>
              <a:t>Déprécier chaque année les prêts en retard.</a:t>
            </a:r>
          </a:p>
          <a:p>
            <a:pPr algn="l">
              <a:spcAft>
                <a:spcPts val="150"/>
              </a:spcAft>
            </a:pPr>
            <a:r>
              <a:rPr sz="800" b="1">
                <a:solidFill>
                  <a:srgbClr val="112A40"/>
                </a:solidFill>
                <a:latin typeface="Helvetica"/>
              </a:rPr>
              <a:t>4.a  </a:t>
            </a:r>
            <a:r>
              <a:rPr sz="800" b="0">
                <a:solidFill>
                  <a:srgbClr val="060606"/>
                </a:solidFill>
                <a:latin typeface="Helvetica"/>
              </a:rPr>
              <a:t>Suivre chaque mois les retards et les échéances non prélevées.</a:t>
            </a:r>
          </a:p>
          <a:p>
            <a:pPr algn="l">
              <a:spcAft>
                <a:spcPts val="150"/>
              </a:spcAft>
            </a:pPr>
            <a:r>
              <a:rPr sz="800" b="1">
                <a:solidFill>
                  <a:srgbClr val="112A40"/>
                </a:solidFill>
                <a:latin typeface="Helvetica"/>
              </a:rPr>
              <a:t>25.a  </a:t>
            </a:r>
            <a:r>
              <a:rPr sz="800" b="0">
                <a:solidFill>
                  <a:srgbClr val="060606"/>
                </a:solidFill>
                <a:latin typeface="Helvetica"/>
              </a:rPr>
              <a:t>Encadrer la part des crédits longs.</a:t>
            </a:r>
          </a:p>
        </p:txBody>
      </p:sp>
      <p:sp>
        <p:nvSpPr>
          <p:cNvPr id="46" name="Rectangle 45"/>
          <p:cNvSpPr/>
          <p:nvPr/>
        </p:nvSpPr>
        <p:spPr>
          <a:xfrm>
            <a:off x="5082000" y="4172878"/>
            <a:ext cx="3300000" cy="1055128"/>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150"/>
              </a:spcAft>
            </a:pPr>
            <a:r>
              <a:rPr sz="800" b="1">
                <a:solidFill>
                  <a:srgbClr val="112A40"/>
                </a:solidFill>
                <a:latin typeface="Helvetica"/>
              </a:rPr>
              <a:t>18.a  </a:t>
            </a:r>
            <a:r>
              <a:rPr sz="800" b="0">
                <a:solidFill>
                  <a:srgbClr val="060606"/>
                </a:solidFill>
                <a:latin typeface="Helvetica"/>
              </a:rPr>
              <a:t>Justifier les mouvements et traiter les trop-perçus comme une dette envers les adhérents.</a:t>
            </a:r>
          </a:p>
          <a:p>
            <a:pPr algn="l">
              <a:spcAft>
                <a:spcPts val="150"/>
              </a:spcAft>
            </a:pPr>
            <a:r>
              <a:rPr sz="800" b="1">
                <a:solidFill>
                  <a:srgbClr val="112A40"/>
                </a:solidFill>
                <a:latin typeface="Helvetica"/>
              </a:rPr>
              <a:t>26.g  </a:t>
            </a:r>
            <a:r>
              <a:rPr sz="800" b="0">
                <a:solidFill>
                  <a:srgbClr val="060606"/>
                </a:solidFill>
                <a:latin typeface="Helvetica"/>
              </a:rPr>
              <a:t>Transmettre la convention et rapprocher chaque année la commission des primes.</a:t>
            </a:r>
          </a:p>
          <a:p>
            <a:pPr algn="l">
              <a:spcAft>
                <a:spcPts val="150"/>
              </a:spcAft>
            </a:pPr>
            <a:r>
              <a:rPr sz="800" b="1">
                <a:solidFill>
                  <a:srgbClr val="112A40"/>
                </a:solidFill>
                <a:latin typeface="Helvetica"/>
              </a:rPr>
              <a:t>27.e  </a:t>
            </a:r>
            <a:r>
              <a:rPr sz="800" b="0">
                <a:solidFill>
                  <a:srgbClr val="060606"/>
                </a:solidFill>
                <a:latin typeface="Helvetica"/>
              </a:rPr>
              <a:t>Transmettre le fichier.</a:t>
            </a:r>
          </a:p>
        </p:txBody>
      </p:sp>
      <p:sp>
        <p:nvSpPr>
          <p:cNvPr id="47" name="Rectangle 46"/>
          <p:cNvSpPr/>
          <p:nvPr/>
        </p:nvSpPr>
        <p:spPr>
          <a:xfrm>
            <a:off x="8418000" y="4172878"/>
            <a:ext cx="3300000" cy="1055128"/>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150"/>
              </a:spcAft>
            </a:pPr>
            <a:r>
              <a:rPr sz="800" b="1">
                <a:solidFill>
                  <a:srgbClr val="112A40"/>
                </a:solidFill>
                <a:latin typeface="Helvetica"/>
              </a:rPr>
              <a:t>17  </a:t>
            </a:r>
            <a:r>
              <a:rPr sz="800" b="0">
                <a:solidFill>
                  <a:srgbClr val="060606"/>
                </a:solidFill>
                <a:latin typeface="Helvetica"/>
              </a:rPr>
              <a:t>Tenir une comptabilité séparée et présenter son résultat chaque année.</a:t>
            </a:r>
          </a:p>
          <a:p>
            <a:pPr algn="l">
              <a:spcAft>
                <a:spcPts val="150"/>
              </a:spcAft>
            </a:pPr>
            <a:r>
              <a:rPr sz="800" b="1">
                <a:solidFill>
                  <a:srgbClr val="112A40"/>
                </a:solidFill>
                <a:latin typeface="Helvetica"/>
              </a:rPr>
              <a:t>12.a  </a:t>
            </a:r>
            <a:r>
              <a:rPr sz="800" b="0">
                <a:solidFill>
                  <a:srgbClr val="060606"/>
                </a:solidFill>
                <a:latin typeface="Helvetica"/>
              </a:rPr>
              <a:t>Faire évaluer la clinique par un expert.</a:t>
            </a:r>
          </a:p>
        </p:txBody>
      </p:sp>
      <p:sp>
        <p:nvSpPr>
          <p:cNvPr id="48" name="Rectangle 47"/>
          <p:cNvSpPr/>
          <p:nvPr/>
        </p:nvSpPr>
        <p:spPr>
          <a:xfrm>
            <a:off x="503999" y="5228006"/>
            <a:ext cx="1188000" cy="211996"/>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Complexité</a:t>
            </a:r>
          </a:p>
        </p:txBody>
      </p:sp>
      <p:sp>
        <p:nvSpPr>
          <p:cNvPr id="49" name="Rectangle 48"/>
          <p:cNvSpPr/>
          <p:nvPr/>
        </p:nvSpPr>
        <p:spPr>
          <a:xfrm>
            <a:off x="1745999" y="5228006"/>
            <a:ext cx="3300000" cy="211996"/>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800" b="1">
                <a:solidFill>
                  <a:srgbClr val="112A40"/>
                </a:solidFill>
                <a:latin typeface="Helvetica"/>
              </a:rPr>
              <a:t>25 </a:t>
            </a:r>
            <a:r>
              <a:rPr sz="800" b="0">
                <a:solidFill>
                  <a:srgbClr val="060606"/>
                </a:solidFill>
                <a:latin typeface="Helvetica"/>
              </a:rPr>
              <a:t>Moyenne</a:t>
            </a:r>
            <a:r>
              <a:rPr sz="800" b="1">
                <a:solidFill>
                  <a:srgbClr val="112A40"/>
                </a:solidFill>
                <a:latin typeface="Helvetica"/>
              </a:rPr>
              <a:t>     4 </a:t>
            </a:r>
            <a:r>
              <a:rPr sz="800" b="0">
                <a:solidFill>
                  <a:srgbClr val="060606"/>
                </a:solidFill>
                <a:latin typeface="Helvetica"/>
              </a:rPr>
              <a:t>Faible</a:t>
            </a:r>
            <a:r>
              <a:rPr sz="800" b="1">
                <a:solidFill>
                  <a:srgbClr val="112A40"/>
                </a:solidFill>
                <a:latin typeface="Helvetica"/>
              </a:rPr>
              <a:t>     4.a </a:t>
            </a:r>
            <a:r>
              <a:rPr sz="800" b="0">
                <a:solidFill>
                  <a:srgbClr val="060606"/>
                </a:solidFill>
                <a:latin typeface="Helvetica"/>
              </a:rPr>
              <a:t>Faible</a:t>
            </a:r>
            <a:r>
              <a:rPr sz="800" b="1">
                <a:solidFill>
                  <a:srgbClr val="112A40"/>
                </a:solidFill>
                <a:latin typeface="Helvetica"/>
              </a:rPr>
              <a:t>     25.a </a:t>
            </a:r>
            <a:r>
              <a:rPr sz="800" b="0">
                <a:solidFill>
                  <a:srgbClr val="060606"/>
                </a:solidFill>
                <a:latin typeface="Helvetica"/>
              </a:rPr>
              <a:t>Faible</a:t>
            </a:r>
          </a:p>
        </p:txBody>
      </p:sp>
      <p:sp>
        <p:nvSpPr>
          <p:cNvPr id="50" name="Rectangle 49"/>
          <p:cNvSpPr/>
          <p:nvPr/>
        </p:nvSpPr>
        <p:spPr>
          <a:xfrm>
            <a:off x="5082000" y="5228006"/>
            <a:ext cx="3300000" cy="211996"/>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800" b="1">
                <a:solidFill>
                  <a:srgbClr val="112A40"/>
                </a:solidFill>
                <a:latin typeface="Helvetica"/>
              </a:rPr>
              <a:t>18.a </a:t>
            </a:r>
            <a:r>
              <a:rPr sz="800" b="0">
                <a:solidFill>
                  <a:srgbClr val="060606"/>
                </a:solidFill>
                <a:latin typeface="Helvetica"/>
              </a:rPr>
              <a:t>Faible</a:t>
            </a:r>
            <a:r>
              <a:rPr sz="800" b="1">
                <a:solidFill>
                  <a:srgbClr val="112A40"/>
                </a:solidFill>
                <a:latin typeface="Helvetica"/>
              </a:rPr>
              <a:t>     26.g </a:t>
            </a:r>
            <a:r>
              <a:rPr sz="800" b="0">
                <a:solidFill>
                  <a:srgbClr val="060606"/>
                </a:solidFill>
                <a:latin typeface="Helvetica"/>
              </a:rPr>
              <a:t>Faible</a:t>
            </a:r>
            <a:r>
              <a:rPr sz="800" b="1">
                <a:solidFill>
                  <a:srgbClr val="112A40"/>
                </a:solidFill>
                <a:latin typeface="Helvetica"/>
              </a:rPr>
              <a:t>     27.e </a:t>
            </a:r>
            <a:r>
              <a:rPr sz="800" b="0">
                <a:solidFill>
                  <a:srgbClr val="060606"/>
                </a:solidFill>
                <a:latin typeface="Helvetica"/>
              </a:rPr>
              <a:t>Faible</a:t>
            </a:r>
          </a:p>
        </p:txBody>
      </p:sp>
      <p:sp>
        <p:nvSpPr>
          <p:cNvPr id="51" name="Rectangle 50"/>
          <p:cNvSpPr/>
          <p:nvPr/>
        </p:nvSpPr>
        <p:spPr>
          <a:xfrm>
            <a:off x="8418000" y="5228006"/>
            <a:ext cx="3300000" cy="211996"/>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800" b="1">
                <a:solidFill>
                  <a:srgbClr val="112A40"/>
                </a:solidFill>
                <a:latin typeface="Helvetica"/>
              </a:rPr>
              <a:t>17 </a:t>
            </a:r>
            <a:r>
              <a:rPr sz="800" b="0">
                <a:solidFill>
                  <a:srgbClr val="060606"/>
                </a:solidFill>
                <a:latin typeface="Helvetica"/>
              </a:rPr>
              <a:t>Moyenne</a:t>
            </a:r>
            <a:r>
              <a:rPr sz="800" b="1">
                <a:solidFill>
                  <a:srgbClr val="112A40"/>
                </a:solidFill>
                <a:latin typeface="Helvetica"/>
              </a:rPr>
              <a:t>     12.a </a:t>
            </a:r>
            <a:r>
              <a:rPr sz="800" b="1">
                <a:solidFill>
                  <a:srgbClr val="060606"/>
                </a:solidFill>
                <a:latin typeface="Helvetica"/>
              </a:rPr>
              <a:t>Élevée</a:t>
            </a:r>
          </a:p>
        </p:txBody>
      </p:sp>
      <p:sp>
        <p:nvSpPr>
          <p:cNvPr id="52" name="Rectangle 51"/>
          <p:cNvSpPr/>
          <p:nvPr/>
        </p:nvSpPr>
        <p:spPr>
          <a:xfrm>
            <a:off x="503999" y="5440003"/>
            <a:ext cx="1188000" cy="211996"/>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Priorité</a:t>
            </a:r>
          </a:p>
        </p:txBody>
      </p:sp>
      <p:sp>
        <p:nvSpPr>
          <p:cNvPr id="53" name="Rectangle 52"/>
          <p:cNvSpPr/>
          <p:nvPr/>
        </p:nvSpPr>
        <p:spPr>
          <a:xfrm>
            <a:off x="1745999" y="5440003"/>
            <a:ext cx="3300000" cy="211996"/>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FFC000"/>
                </a:solidFill>
                <a:latin typeface="Helvetica"/>
              </a:rPr>
              <a:t>■ </a:t>
            </a:r>
            <a:r>
              <a:rPr sz="800" b="1">
                <a:solidFill>
                  <a:srgbClr val="112A40"/>
                </a:solidFill>
                <a:latin typeface="Helvetica"/>
              </a:rPr>
              <a:t>25 </a:t>
            </a:r>
            <a:r>
              <a:rPr sz="800" b="1">
                <a:solidFill>
                  <a:srgbClr val="FFC000"/>
                </a:solidFill>
                <a:latin typeface="Helvetica"/>
              </a:rPr>
              <a:t>P3</a:t>
            </a:r>
            <a:r>
              <a:rPr sz="900" b="1">
                <a:solidFill>
                  <a:srgbClr val="FFC000"/>
                </a:solidFill>
                <a:latin typeface="Helvetica"/>
              </a:rPr>
              <a:t>     ■ </a:t>
            </a:r>
            <a:r>
              <a:rPr sz="800" b="1">
                <a:solidFill>
                  <a:srgbClr val="112A40"/>
                </a:solidFill>
                <a:latin typeface="Helvetica"/>
              </a:rPr>
              <a:t>4 </a:t>
            </a:r>
            <a:r>
              <a:rPr sz="800" b="1">
                <a:solidFill>
                  <a:srgbClr val="FFC000"/>
                </a:solidFill>
                <a:latin typeface="Helvetica"/>
              </a:rPr>
              <a:t>P3</a:t>
            </a:r>
            <a:r>
              <a:rPr sz="900" b="1">
                <a:solidFill>
                  <a:srgbClr val="ED7D31"/>
                </a:solidFill>
                <a:latin typeface="Helvetica"/>
              </a:rPr>
              <a:t>     ■ </a:t>
            </a:r>
            <a:r>
              <a:rPr sz="800" b="1">
                <a:solidFill>
                  <a:srgbClr val="112A40"/>
                </a:solidFill>
                <a:latin typeface="Helvetica"/>
              </a:rPr>
              <a:t>4.a </a:t>
            </a:r>
            <a:r>
              <a:rPr sz="800" b="1">
                <a:solidFill>
                  <a:srgbClr val="ED7D31"/>
                </a:solidFill>
                <a:latin typeface="Helvetica"/>
              </a:rPr>
              <a:t>P2</a:t>
            </a:r>
            <a:r>
              <a:rPr sz="900" b="1">
                <a:solidFill>
                  <a:srgbClr val="FFC000"/>
                </a:solidFill>
                <a:latin typeface="Helvetica"/>
              </a:rPr>
              <a:t>     ■ </a:t>
            </a:r>
            <a:r>
              <a:rPr sz="800" b="1">
                <a:solidFill>
                  <a:srgbClr val="112A40"/>
                </a:solidFill>
                <a:latin typeface="Helvetica"/>
              </a:rPr>
              <a:t>25.a </a:t>
            </a:r>
            <a:r>
              <a:rPr sz="800" b="1">
                <a:solidFill>
                  <a:srgbClr val="FFC000"/>
                </a:solidFill>
                <a:latin typeface="Helvetica"/>
              </a:rPr>
              <a:t>P3</a:t>
            </a:r>
          </a:p>
        </p:txBody>
      </p:sp>
      <p:sp>
        <p:nvSpPr>
          <p:cNvPr id="54" name="Rectangle 53"/>
          <p:cNvSpPr/>
          <p:nvPr/>
        </p:nvSpPr>
        <p:spPr>
          <a:xfrm>
            <a:off x="5082000" y="5440003"/>
            <a:ext cx="3300000" cy="211996"/>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FFC000"/>
                </a:solidFill>
                <a:latin typeface="Helvetica"/>
              </a:rPr>
              <a:t>■ </a:t>
            </a:r>
            <a:r>
              <a:rPr sz="800" b="1">
                <a:solidFill>
                  <a:srgbClr val="112A40"/>
                </a:solidFill>
                <a:latin typeface="Helvetica"/>
              </a:rPr>
              <a:t>18.a </a:t>
            </a:r>
            <a:r>
              <a:rPr sz="800" b="1">
                <a:solidFill>
                  <a:srgbClr val="FFC000"/>
                </a:solidFill>
                <a:latin typeface="Helvetica"/>
              </a:rPr>
              <a:t>P3</a:t>
            </a:r>
            <a:r>
              <a:rPr sz="900" b="1">
                <a:solidFill>
                  <a:srgbClr val="FFC000"/>
                </a:solidFill>
                <a:latin typeface="Helvetica"/>
              </a:rPr>
              <a:t>     ■ </a:t>
            </a:r>
            <a:r>
              <a:rPr sz="800" b="1">
                <a:solidFill>
                  <a:srgbClr val="112A40"/>
                </a:solidFill>
                <a:latin typeface="Helvetica"/>
              </a:rPr>
              <a:t>26.g </a:t>
            </a:r>
            <a:r>
              <a:rPr sz="800" b="1">
                <a:solidFill>
                  <a:srgbClr val="FFC000"/>
                </a:solidFill>
                <a:latin typeface="Helvetica"/>
              </a:rPr>
              <a:t>P3</a:t>
            </a:r>
            <a:r>
              <a:rPr sz="900" b="1">
                <a:solidFill>
                  <a:srgbClr val="FFC000"/>
                </a:solidFill>
                <a:latin typeface="Helvetica"/>
              </a:rPr>
              <a:t>     ■ </a:t>
            </a:r>
            <a:r>
              <a:rPr sz="800" b="1">
                <a:solidFill>
                  <a:srgbClr val="112A40"/>
                </a:solidFill>
                <a:latin typeface="Helvetica"/>
              </a:rPr>
              <a:t>27.e </a:t>
            </a:r>
            <a:r>
              <a:rPr sz="800" b="1">
                <a:solidFill>
                  <a:srgbClr val="FFC000"/>
                </a:solidFill>
                <a:latin typeface="Helvetica"/>
              </a:rPr>
              <a:t>P3</a:t>
            </a:r>
          </a:p>
        </p:txBody>
      </p:sp>
      <p:sp>
        <p:nvSpPr>
          <p:cNvPr id="55" name="Rectangle 54"/>
          <p:cNvSpPr/>
          <p:nvPr/>
        </p:nvSpPr>
        <p:spPr>
          <a:xfrm>
            <a:off x="8418000" y="5440003"/>
            <a:ext cx="3300000" cy="211996"/>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ED7D31"/>
                </a:solidFill>
                <a:latin typeface="Helvetica"/>
              </a:rPr>
              <a:t>■ </a:t>
            </a:r>
            <a:r>
              <a:rPr sz="800" b="1">
                <a:solidFill>
                  <a:srgbClr val="112A40"/>
                </a:solidFill>
                <a:latin typeface="Helvetica"/>
              </a:rPr>
              <a:t>17 </a:t>
            </a:r>
            <a:r>
              <a:rPr sz="800" b="1">
                <a:solidFill>
                  <a:srgbClr val="ED7D31"/>
                </a:solidFill>
                <a:latin typeface="Helvetica"/>
              </a:rPr>
              <a:t>P2</a:t>
            </a:r>
            <a:r>
              <a:rPr sz="900" b="1">
                <a:solidFill>
                  <a:srgbClr val="ED7D31"/>
                </a:solidFill>
                <a:latin typeface="Helvetica"/>
              </a:rPr>
              <a:t>     ■ </a:t>
            </a:r>
            <a:r>
              <a:rPr sz="800" b="1">
                <a:solidFill>
                  <a:srgbClr val="112A40"/>
                </a:solidFill>
                <a:latin typeface="Helvetica"/>
              </a:rPr>
              <a:t>12.a </a:t>
            </a:r>
            <a:r>
              <a:rPr sz="800" b="1">
                <a:solidFill>
                  <a:srgbClr val="ED7D31"/>
                </a:solidFill>
                <a:latin typeface="Helvetica"/>
              </a:rPr>
              <a:t>P2</a:t>
            </a:r>
          </a:p>
        </p:txBody>
      </p:sp>
      <p:sp>
        <p:nvSpPr>
          <p:cNvPr id="56" name="TextBox 55"/>
          <p:cNvSpPr txBox="1"/>
          <p:nvPr/>
        </p:nvSpPr>
        <p:spPr>
          <a:xfrm>
            <a:off x="503999" y="5688000"/>
            <a:ext cx="11232000" cy="162000"/>
          </a:xfrm>
          <a:prstGeom prst="rect">
            <a:avLst/>
          </a:prstGeom>
          <a:noFill/>
        </p:spPr>
        <p:txBody>
          <a:bodyPr wrap="square">
            <a:spAutoFit/>
          </a:bodyPr>
          <a:lstStyle/>
          <a:p>
            <a:r>
              <a:rPr sz="750" b="1">
                <a:solidFill>
                  <a:srgbClr val="060606"/>
                </a:solidFill>
                <a:latin typeface="Helvetica"/>
              </a:rPr>
              <a:t>Criticité du constat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1">
                <a:solidFill>
                  <a:srgbClr val="060606"/>
                </a:solidFill>
                <a:latin typeface="Helvetica"/>
              </a:rPr>
              <a:t>Priorité : </a:t>
            </a:r>
            <a:r>
              <a:rPr sz="850" b="1">
                <a:solidFill>
                  <a:srgbClr val="C00000"/>
                </a:solidFill>
                <a:latin typeface="Helvetica"/>
              </a:rPr>
              <a:t>■ </a:t>
            </a:r>
            <a:r>
              <a:rPr sz="750" b="0">
                <a:solidFill>
                  <a:srgbClr val="060606"/>
                </a:solidFill>
                <a:latin typeface="Helvetica"/>
              </a:rPr>
              <a:t>P1 3 mois   </a:t>
            </a:r>
            <a:r>
              <a:rPr sz="850" b="1">
                <a:solidFill>
                  <a:srgbClr val="ED7D31"/>
                </a:solidFill>
                <a:latin typeface="Helvetica"/>
              </a:rPr>
              <a:t>■ </a:t>
            </a:r>
            <a:r>
              <a:rPr sz="750" b="0">
                <a:solidFill>
                  <a:srgbClr val="060606"/>
                </a:solidFill>
                <a:latin typeface="Helvetica"/>
              </a:rPr>
              <a:t>P2 6 mois   </a:t>
            </a:r>
            <a:r>
              <a:rPr sz="850" b="1">
                <a:solidFill>
                  <a:srgbClr val="FFC000"/>
                </a:solidFill>
                <a:latin typeface="Helvetica"/>
              </a:rPr>
              <a:t>■ </a:t>
            </a:r>
            <a:r>
              <a:rPr sz="750" b="0">
                <a:solidFill>
                  <a:srgbClr val="060606"/>
                </a:solidFill>
                <a:latin typeface="Helvetica"/>
              </a:rPr>
              <a:t>P3 6 à 18 mois   </a:t>
            </a:r>
            <a:r>
              <a:rPr sz="850" b="1">
                <a:solidFill>
                  <a:srgbClr val="70AD47"/>
                </a:solidFill>
                <a:latin typeface="Helvetica"/>
              </a:rPr>
              <a:t>■ </a:t>
            </a:r>
            <a:r>
              <a:rPr sz="750" b="0">
                <a:solidFill>
                  <a:srgbClr val="060606"/>
                </a:solidFill>
                <a:latin typeface="Helvetica"/>
              </a:rPr>
              <a:t>P4 au-delà   </a:t>
            </a:r>
            <a:r>
              <a:rPr sz="750" b="0">
                <a:solidFill>
                  <a:srgbClr val="060606"/>
                </a:solidFill>
                <a:latin typeface="Helvetica"/>
              </a:rPr>
              <a:t>Complexité : Faible (une décision suffit), Moyenne (travail interne), Élevée (tiers ou financement). Numéros : ceux du résumé exécutif.</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Clinique médicale du policier | GNA : assureur de la flotte automobile (compte 47111106)</a:t>
            </a:r>
          </a:p>
        </p:txBody>
      </p:sp>
    </p:spTree>
    <p:extLst>
      <p:ext uri="{BB962C8B-B14F-4D97-AF65-F5344CB8AC3E}">
        <p14:creationId xmlns:p14="http://schemas.microsoft.com/office/powerpoint/2010/main" val="270792738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Fonctions transverses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Constats et commentaires, recommandations, complexité et priorité, activité par activité</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45166385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et précomptes | Comptabilité et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ne sont pas rapprochées, et les comptes ne mesurent pas les vraies dettes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11 constats, dont 1 à traiter dans les trois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4932000" y="1422000"/>
            <a:ext cx="3600000" cy="1800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FFFF"/>
                </a:solidFill>
                <a:latin typeface="Helvetica"/>
              </a:rPr>
              <a:t>ACTIVITÉS : FONCTIONS TRANSVERSES</a:t>
            </a:r>
          </a:p>
        </p:txBody>
      </p:sp>
      <p:cxnSp>
        <p:nvCxnSpPr>
          <p:cNvPr id="32" name="Connector 31"/>
          <p:cNvCxnSpPr/>
          <p:nvPr/>
        </p:nvCxnSpPr>
        <p:spPr>
          <a:xfrm>
            <a:off x="6732000" y="1602000"/>
            <a:ext cx="0" cy="828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230000" y="1684800"/>
            <a:ext cx="5004000" cy="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230000" y="1684800"/>
            <a:ext cx="0" cy="792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782000" y="1764000"/>
            <a:ext cx="4896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ED7D31"/>
                </a:solidFill>
                <a:latin typeface="Helvetica"/>
              </a:rPr>
              <a:t>● </a:t>
            </a:r>
            <a:r>
              <a:rPr sz="1050" b="1">
                <a:solidFill>
                  <a:srgbClr val="FFFFFF"/>
                </a:solidFill>
                <a:latin typeface="Helvetica"/>
              </a:rPr>
              <a:t>COTISATIONS ET PRÉCOMPTES</a:t>
            </a:r>
            <a:r>
              <a:rPr sz="850" b="0">
                <a:solidFill>
                  <a:srgbClr val="FFFFFF"/>
                </a:solidFill>
                <a:latin typeface="Helvetica"/>
              </a:rPr>
              <a:t>   5 constats</a:t>
            </a:r>
          </a:p>
        </p:txBody>
      </p:sp>
      <p:cxnSp>
        <p:nvCxnSpPr>
          <p:cNvPr id="36" name="Connector 35"/>
          <p:cNvCxnSpPr/>
          <p:nvPr/>
        </p:nvCxnSpPr>
        <p:spPr>
          <a:xfrm>
            <a:off x="9234000" y="1684800"/>
            <a:ext cx="0" cy="792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6785999" y="1764000"/>
            <a:ext cx="4896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C00000"/>
                </a:solidFill>
                <a:latin typeface="Helvetica"/>
              </a:rPr>
              <a:t>● </a:t>
            </a:r>
            <a:r>
              <a:rPr sz="1050" b="1">
                <a:solidFill>
                  <a:srgbClr val="FFFFFF"/>
                </a:solidFill>
                <a:latin typeface="Helvetica"/>
              </a:rPr>
              <a:t>COMPTABILITÉ ET PROVISIONS</a:t>
            </a:r>
            <a:r>
              <a:rPr sz="850" b="0">
                <a:solidFill>
                  <a:srgbClr val="FFFFFF"/>
                </a:solidFill>
                <a:latin typeface="Helvetica"/>
              </a:rPr>
              <a:t>   6 constats</a:t>
            </a:r>
          </a:p>
        </p:txBody>
      </p:sp>
      <p:sp>
        <p:nvSpPr>
          <p:cNvPr id="38" name="Rectangle 37"/>
          <p:cNvSpPr/>
          <p:nvPr/>
        </p:nvSpPr>
        <p:spPr>
          <a:xfrm>
            <a:off x="503999" y="2070000"/>
            <a:ext cx="1188000" cy="2031119"/>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Constats et commentaires</a:t>
            </a:r>
          </a:p>
        </p:txBody>
      </p:sp>
      <p:sp>
        <p:nvSpPr>
          <p:cNvPr id="39" name="Rectangle 38"/>
          <p:cNvSpPr/>
          <p:nvPr/>
        </p:nvSpPr>
        <p:spPr>
          <a:xfrm>
            <a:off x="1745999" y="2070000"/>
            <a:ext cx="4968000" cy="2031119"/>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200"/>
              </a:spcAft>
            </a:pPr>
            <a:r>
              <a:rPr sz="900" b="1">
                <a:solidFill>
                  <a:srgbClr val="FFC000"/>
                </a:solidFill>
                <a:latin typeface="Helvetica"/>
              </a:rPr>
              <a:t>● </a:t>
            </a:r>
            <a:r>
              <a:rPr sz="800" b="1">
                <a:solidFill>
                  <a:srgbClr val="112A40"/>
                </a:solidFill>
                <a:latin typeface="Helvetica"/>
              </a:rPr>
              <a:t>20  </a:t>
            </a:r>
            <a:r>
              <a:rPr sz="800" b="1">
                <a:solidFill>
                  <a:srgbClr val="060606"/>
                </a:solidFill>
                <a:latin typeface="Helvetica"/>
              </a:rPr>
              <a:t>La répartition maladie et décès diffère selon la source. </a:t>
            </a:r>
            <a:r>
              <a:rPr sz="800" b="0">
                <a:solidFill>
                  <a:srgbClr val="060606"/>
                </a:solidFill>
                <a:latin typeface="Helvetica"/>
              </a:rPr>
              <a:t>Total de 5 % respecté, mais la Solde prélève 3,77 % et 1,23 % au lieu des 3,50 % et 1,50 % des statuts. La comptabilité retient 3,52 % et 1,48 %.</a:t>
            </a:r>
          </a:p>
          <a:p>
            <a:pPr algn="l">
              <a:spcAft>
                <a:spcPts val="200"/>
              </a:spcAft>
            </a:pPr>
            <a:r>
              <a:rPr sz="900" b="1">
                <a:solidFill>
                  <a:srgbClr val="ED7D31"/>
                </a:solidFill>
                <a:latin typeface="Helvetica"/>
              </a:rPr>
              <a:t>● </a:t>
            </a:r>
            <a:r>
              <a:rPr sz="800" b="1">
                <a:solidFill>
                  <a:srgbClr val="112A40"/>
                </a:solidFill>
                <a:latin typeface="Helvetica"/>
              </a:rPr>
              <a:t>27  </a:t>
            </a:r>
            <a:r>
              <a:rPr sz="800" b="1">
                <a:solidFill>
                  <a:srgbClr val="060606"/>
                </a:solidFill>
                <a:latin typeface="Helvetica"/>
              </a:rPr>
              <a:t>Les fichiers ne sont pas rapprochés. </a:t>
            </a:r>
            <a:r>
              <a:rPr sz="800" b="0">
                <a:solidFill>
                  <a:srgbClr val="060606"/>
                </a:solidFill>
                <a:latin typeface="Helvetica"/>
              </a:rPr>
              <a:t>Le fichier envoyé n'est jamais comparé au fichier retour. Aucun fichier envoyé transmis sur 80 mois.</a:t>
            </a:r>
          </a:p>
          <a:p>
            <a:pPr algn="l">
              <a:spcAft>
                <a:spcPts val="200"/>
              </a:spcAft>
            </a:pPr>
            <a:r>
              <a:rPr sz="900" b="1">
                <a:solidFill>
                  <a:srgbClr val="FFC000"/>
                </a:solidFill>
                <a:latin typeface="Helvetica"/>
              </a:rPr>
              <a:t>● </a:t>
            </a:r>
            <a:r>
              <a:rPr sz="800" b="1">
                <a:solidFill>
                  <a:srgbClr val="112A40"/>
                </a:solidFill>
                <a:latin typeface="Helvetica"/>
              </a:rPr>
              <a:t>26.h  </a:t>
            </a:r>
            <a:r>
              <a:rPr sz="800" b="1">
                <a:solidFill>
                  <a:srgbClr val="060606"/>
                </a:solidFill>
                <a:latin typeface="Helvetica"/>
              </a:rPr>
              <a:t>2020 à 2022 ne sont pas vérifiables. </a:t>
            </a:r>
            <a:r>
              <a:rPr sz="800" b="0">
                <a:solidFill>
                  <a:srgbClr val="060606"/>
                </a:solidFill>
                <a:latin typeface="Helvetica"/>
              </a:rPr>
              <a:t>Prélèvements mensuels disponibles seulement depuis 2023 ou 2024 selon le poste.</a:t>
            </a:r>
          </a:p>
          <a:p>
            <a:pPr algn="l">
              <a:spcAft>
                <a:spcPts val="200"/>
              </a:spcAft>
            </a:pPr>
            <a:r>
              <a:rPr sz="900" b="1">
                <a:solidFill>
                  <a:srgbClr val="FFC000"/>
                </a:solidFill>
                <a:latin typeface="Helvetica"/>
              </a:rPr>
              <a:t>● </a:t>
            </a:r>
            <a:r>
              <a:rPr sz="800" b="1">
                <a:solidFill>
                  <a:srgbClr val="112A40"/>
                </a:solidFill>
                <a:latin typeface="Helvetica"/>
              </a:rPr>
              <a:t>27.f  </a:t>
            </a:r>
            <a:r>
              <a:rPr sz="800" b="1">
                <a:solidFill>
                  <a:srgbClr val="060606"/>
                </a:solidFill>
                <a:latin typeface="Helvetica"/>
              </a:rPr>
              <a:t>Rejets et paiements manuels non suivis. </a:t>
            </a:r>
            <a:r>
              <a:rPr sz="800" b="0">
                <a:solidFill>
                  <a:srgbClr val="060606"/>
                </a:solidFill>
                <a:latin typeface="Helvetica"/>
              </a:rPr>
              <a:t>États des rejets de la Solde et liste des paiements manuels non transmis.</a:t>
            </a:r>
          </a:p>
          <a:p>
            <a:pPr algn="l">
              <a:spcAft>
                <a:spcPts val="200"/>
              </a:spcAft>
            </a:pPr>
            <a:r>
              <a:rPr sz="900" b="1">
                <a:solidFill>
                  <a:srgbClr val="70AD47"/>
                </a:solidFill>
                <a:latin typeface="Helvetica"/>
              </a:rPr>
              <a:t>● </a:t>
            </a:r>
            <a:r>
              <a:rPr sz="800" b="1">
                <a:solidFill>
                  <a:srgbClr val="112A40"/>
                </a:solidFill>
                <a:latin typeface="Helvetica"/>
              </a:rPr>
              <a:t>27.g  </a:t>
            </a:r>
            <a:r>
              <a:rPr sz="800" b="1">
                <a:solidFill>
                  <a:srgbClr val="060606"/>
                </a:solidFill>
                <a:latin typeface="Helvetica"/>
              </a:rPr>
              <a:t>La dette de l'État est soldée. </a:t>
            </a:r>
            <a:r>
              <a:rPr sz="800" b="0">
                <a:solidFill>
                  <a:srgbClr val="060606"/>
                </a:solidFill>
                <a:latin typeface="Helvetica"/>
              </a:rPr>
              <a:t>704 189 157 FCFA dus fin 2025, compte soldé au 31/08/2026.</a:t>
            </a:r>
          </a:p>
        </p:txBody>
      </p:sp>
      <p:sp>
        <p:nvSpPr>
          <p:cNvPr id="40" name="Rectangle 39"/>
          <p:cNvSpPr/>
          <p:nvPr/>
        </p:nvSpPr>
        <p:spPr>
          <a:xfrm>
            <a:off x="6750000" y="2070000"/>
            <a:ext cx="4968000" cy="2031119"/>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200"/>
              </a:spcAft>
            </a:pPr>
            <a:r>
              <a:rPr sz="900" b="1">
                <a:solidFill>
                  <a:srgbClr val="C00000"/>
                </a:solidFill>
                <a:latin typeface="Helvetica"/>
              </a:rPr>
              <a:t>● </a:t>
            </a:r>
            <a:r>
              <a:rPr sz="800" b="1">
                <a:solidFill>
                  <a:srgbClr val="112A40"/>
                </a:solidFill>
                <a:latin typeface="Helvetica"/>
              </a:rPr>
              <a:t>1  </a:t>
            </a:r>
            <a:r>
              <a:rPr sz="800" b="1">
                <a:solidFill>
                  <a:srgbClr val="060606"/>
                </a:solidFill>
                <a:latin typeface="Helvetica"/>
              </a:rPr>
              <a:t>Les provisions ne sont pas calculées. </a:t>
            </a:r>
            <a:r>
              <a:rPr sz="800" b="0">
                <a:solidFill>
                  <a:srgbClr val="060606"/>
                </a:solidFill>
                <a:latin typeface="Helvetica"/>
              </a:rPr>
              <a:t>4 829 298 290 FCFA identiques depuis 2020, soit 4 809 716 898 FCFA au-dessus du besoin mesuré. Rien pour les intérêts de l'épargne.</a:t>
            </a:r>
          </a:p>
          <a:p>
            <a:pPr algn="l">
              <a:spcAft>
                <a:spcPts val="200"/>
              </a:spcAft>
            </a:pPr>
            <a:r>
              <a:rPr sz="900" b="1">
                <a:solidFill>
                  <a:srgbClr val="ED7D31"/>
                </a:solidFill>
                <a:latin typeface="Helvetica"/>
              </a:rPr>
              <a:t>● </a:t>
            </a:r>
            <a:r>
              <a:rPr sz="800" b="1">
                <a:solidFill>
                  <a:srgbClr val="112A40"/>
                </a:solidFill>
                <a:latin typeface="Helvetica"/>
              </a:rPr>
              <a:t>15  </a:t>
            </a:r>
            <a:r>
              <a:rPr sz="800" b="1">
                <a:solidFill>
                  <a:srgbClr val="060606"/>
                </a:solidFill>
                <a:latin typeface="Helvetica"/>
              </a:rPr>
              <a:t>Les fonds propres sont négatifs. </a:t>
            </a:r>
            <a:r>
              <a:rPr sz="800" b="0">
                <a:solidFill>
                  <a:srgbClr val="060606"/>
                </a:solidFill>
                <a:latin typeface="Helvetica"/>
              </a:rPr>
              <a:t>-879 498 700 FCFA au 31/08/2026. Comptes remis en ordre (constats 1, 4 et 6), ils seraient positifs d'environ 637 millions de FCFA.</a:t>
            </a:r>
          </a:p>
          <a:p>
            <a:pPr algn="l">
              <a:spcAft>
                <a:spcPts val="200"/>
              </a:spcAft>
            </a:pPr>
            <a:r>
              <a:rPr sz="900" b="1">
                <a:solidFill>
                  <a:srgbClr val="ED7D31"/>
                </a:solidFill>
                <a:latin typeface="Helvetica"/>
              </a:rPr>
              <a:t>● </a:t>
            </a:r>
            <a:r>
              <a:rPr sz="800" b="1">
                <a:solidFill>
                  <a:srgbClr val="112A40"/>
                </a:solidFill>
                <a:latin typeface="Helvetica"/>
              </a:rPr>
              <a:t>9  </a:t>
            </a:r>
            <a:r>
              <a:rPr sz="800" b="1">
                <a:solidFill>
                  <a:srgbClr val="060606"/>
                </a:solidFill>
                <a:latin typeface="Helvetica"/>
              </a:rPr>
              <a:t>L'épargne due est minorée en Assemblée générale. </a:t>
            </a:r>
            <a:r>
              <a:rPr sz="800" b="0">
                <a:solidFill>
                  <a:srgbClr val="060606"/>
                </a:solidFill>
                <a:latin typeface="Helvetica"/>
              </a:rPr>
              <a:t>Rapport de gestion 2025 : 4 387 823 635 FCFA présentés, pour 13 814 066 964 FCFA dus.</a:t>
            </a:r>
          </a:p>
          <a:p>
            <a:pPr algn="l">
              <a:spcAft>
                <a:spcPts val="200"/>
              </a:spcAft>
            </a:pPr>
            <a:r>
              <a:rPr sz="900" b="1">
                <a:solidFill>
                  <a:srgbClr val="FFC000"/>
                </a:solidFill>
                <a:latin typeface="Helvetica"/>
              </a:rPr>
              <a:t>● </a:t>
            </a:r>
            <a:r>
              <a:rPr sz="800" b="1">
                <a:solidFill>
                  <a:srgbClr val="112A40"/>
                </a:solidFill>
                <a:latin typeface="Helvetica"/>
              </a:rPr>
              <a:t>18  </a:t>
            </a:r>
            <a:r>
              <a:rPr sz="800" b="1">
                <a:solidFill>
                  <a:srgbClr val="060606"/>
                </a:solidFill>
                <a:latin typeface="Helvetica"/>
              </a:rPr>
              <a:t>Des sommes durables sont en comptes d'attente. </a:t>
            </a:r>
            <a:r>
              <a:rPr sz="800" b="0">
                <a:solidFill>
                  <a:srgbClr val="060606"/>
                </a:solidFill>
                <a:latin typeface="Helvetica"/>
              </a:rPr>
              <a:t>11 603 989 675 FCFA d'avances et de créances suivis comme du court terme.</a:t>
            </a:r>
          </a:p>
          <a:p>
            <a:pPr algn="l">
              <a:spcAft>
                <a:spcPts val="200"/>
              </a:spcAft>
            </a:pPr>
            <a:r>
              <a:rPr sz="900" b="1">
                <a:solidFill>
                  <a:srgbClr val="70AD47"/>
                </a:solidFill>
                <a:latin typeface="Helvetica"/>
              </a:rPr>
              <a:t>● </a:t>
            </a:r>
            <a:r>
              <a:rPr sz="800" b="1">
                <a:solidFill>
                  <a:srgbClr val="112A40"/>
                </a:solidFill>
                <a:latin typeface="Helvetica"/>
              </a:rPr>
              <a:t>28  </a:t>
            </a:r>
            <a:r>
              <a:rPr sz="800" b="1">
                <a:solidFill>
                  <a:srgbClr val="060606"/>
                </a:solidFill>
                <a:latin typeface="Helvetica"/>
              </a:rPr>
              <a:t>Deux versions des comptes 2023 existent. </a:t>
            </a:r>
            <a:r>
              <a:rPr sz="800" b="0">
                <a:solidFill>
                  <a:srgbClr val="060606"/>
                </a:solidFill>
                <a:latin typeface="Helvetica"/>
              </a:rPr>
              <a:t>Excédent de 928 699 102 FCFA ou de 930 629 102 FCFA.</a:t>
            </a:r>
          </a:p>
          <a:p>
            <a:pPr algn="l">
              <a:spcAft>
                <a:spcPts val="200"/>
              </a:spcAft>
            </a:pPr>
            <a:r>
              <a:rPr sz="900" b="1">
                <a:solidFill>
                  <a:srgbClr val="70AD47"/>
                </a:solidFill>
                <a:latin typeface="Helvetica"/>
              </a:rPr>
              <a:t>● </a:t>
            </a:r>
            <a:r>
              <a:rPr sz="800" b="1">
                <a:solidFill>
                  <a:srgbClr val="112A40"/>
                </a:solidFill>
                <a:latin typeface="Helvetica"/>
              </a:rPr>
              <a:t>5  </a:t>
            </a:r>
            <a:r>
              <a:rPr sz="800" b="1">
                <a:solidFill>
                  <a:srgbClr val="060606"/>
                </a:solidFill>
                <a:latin typeface="Helvetica"/>
              </a:rPr>
              <a:t>La provision du personnel est suffisante. </a:t>
            </a:r>
            <a:r>
              <a:rPr sz="800" b="0">
                <a:solidFill>
                  <a:srgbClr val="060606"/>
                </a:solidFill>
                <a:latin typeface="Helvetica"/>
              </a:rPr>
              <a:t>43 666 678 FCFA pour 24 446 566 FCFA recalculés. Méthode non écrite.</a:t>
            </a:r>
          </a:p>
        </p:txBody>
      </p:sp>
      <p:sp>
        <p:nvSpPr>
          <p:cNvPr id="41" name="Rectangle 40"/>
          <p:cNvSpPr/>
          <p:nvPr/>
        </p:nvSpPr>
        <p:spPr>
          <a:xfrm>
            <a:off x="503999" y="4101120"/>
            <a:ext cx="1188000" cy="1126886"/>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Recommandations</a:t>
            </a:r>
          </a:p>
        </p:txBody>
      </p:sp>
      <p:sp>
        <p:nvSpPr>
          <p:cNvPr id="42" name="Rectangle 41"/>
          <p:cNvSpPr/>
          <p:nvPr/>
        </p:nvSpPr>
        <p:spPr>
          <a:xfrm>
            <a:off x="1745999" y="4101120"/>
            <a:ext cx="4968000" cy="1126886"/>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150"/>
              </a:spcAft>
            </a:pPr>
            <a:r>
              <a:rPr sz="800" b="1">
                <a:solidFill>
                  <a:srgbClr val="112A40"/>
                </a:solidFill>
                <a:latin typeface="Helvetica"/>
              </a:rPr>
              <a:t>20  </a:t>
            </a:r>
            <a:r>
              <a:rPr sz="800" b="0">
                <a:solidFill>
                  <a:srgbClr val="060606"/>
                </a:solidFill>
                <a:latin typeface="Helvetica"/>
              </a:rPr>
              <a:t>Notifier à la Solde la clé des statuts et l'appliquer en comptabilité.</a:t>
            </a:r>
          </a:p>
          <a:p>
            <a:pPr algn="l">
              <a:spcAft>
                <a:spcPts val="150"/>
              </a:spcAft>
            </a:pPr>
            <a:r>
              <a:rPr sz="800" b="1">
                <a:solidFill>
                  <a:srgbClr val="112A40"/>
                </a:solidFill>
                <a:latin typeface="Helvetica"/>
              </a:rPr>
              <a:t>27  </a:t>
            </a:r>
            <a:r>
              <a:rPr sz="800" b="0">
                <a:solidFill>
                  <a:srgbClr val="060606"/>
                </a:solidFill>
                <a:latin typeface="Helvetica"/>
              </a:rPr>
              <a:t>Rapprocher chaque mois l'aller et le retour, avec un état des rejets signé.</a:t>
            </a:r>
          </a:p>
          <a:p>
            <a:pPr algn="l">
              <a:spcAft>
                <a:spcPts val="150"/>
              </a:spcAft>
            </a:pPr>
            <a:r>
              <a:rPr sz="800" b="1">
                <a:solidFill>
                  <a:srgbClr val="112A40"/>
                </a:solidFill>
                <a:latin typeface="Helvetica"/>
              </a:rPr>
              <a:t>26.h  </a:t>
            </a:r>
            <a:r>
              <a:rPr sz="800" b="0">
                <a:solidFill>
                  <a:srgbClr val="060606"/>
                </a:solidFill>
                <a:latin typeface="Helvetica"/>
              </a:rPr>
              <a:t>Transmettre les fichiers de 2020 à 2022.</a:t>
            </a:r>
          </a:p>
          <a:p>
            <a:pPr algn="l">
              <a:spcAft>
                <a:spcPts val="150"/>
              </a:spcAft>
            </a:pPr>
            <a:r>
              <a:rPr sz="800" b="1">
                <a:solidFill>
                  <a:srgbClr val="112A40"/>
                </a:solidFill>
                <a:latin typeface="Helvetica"/>
              </a:rPr>
              <a:t>27.f  </a:t>
            </a:r>
            <a:r>
              <a:rPr sz="800" b="0">
                <a:solidFill>
                  <a:srgbClr val="060606"/>
                </a:solidFill>
                <a:latin typeface="Helvetica"/>
              </a:rPr>
              <a:t>Transmettre ces états chaque mois.</a:t>
            </a:r>
          </a:p>
          <a:p>
            <a:pPr algn="l">
              <a:spcAft>
                <a:spcPts val="150"/>
              </a:spcAft>
            </a:pPr>
            <a:r>
              <a:rPr sz="800" b="1">
                <a:solidFill>
                  <a:srgbClr val="112A40"/>
                </a:solidFill>
                <a:latin typeface="Helvetica"/>
              </a:rPr>
              <a:t>27.g  </a:t>
            </a:r>
            <a:r>
              <a:rPr sz="800" b="0">
                <a:solidFill>
                  <a:srgbClr val="060606"/>
                </a:solidFill>
                <a:latin typeface="Helvetica"/>
              </a:rPr>
              <a:t>Suivre chaque mois les reversements de l'État.</a:t>
            </a:r>
          </a:p>
        </p:txBody>
      </p:sp>
      <p:sp>
        <p:nvSpPr>
          <p:cNvPr id="43" name="Rectangle 42"/>
          <p:cNvSpPr/>
          <p:nvPr/>
        </p:nvSpPr>
        <p:spPr>
          <a:xfrm>
            <a:off x="6750000" y="4101120"/>
            <a:ext cx="4968000" cy="1126886"/>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150"/>
              </a:spcAft>
            </a:pPr>
            <a:r>
              <a:rPr sz="800" b="1">
                <a:solidFill>
                  <a:srgbClr val="112A40"/>
                </a:solidFill>
                <a:latin typeface="Helvetica"/>
              </a:rPr>
              <a:t>1  </a:t>
            </a:r>
            <a:r>
              <a:rPr sz="800" b="0">
                <a:solidFill>
                  <a:srgbClr val="060606"/>
                </a:solidFill>
                <a:latin typeface="Helvetica"/>
              </a:rPr>
              <a:t>Note de calcul annuelle signée et reclassement décidé par les organes.</a:t>
            </a:r>
          </a:p>
          <a:p>
            <a:pPr algn="l">
              <a:spcAft>
                <a:spcPts val="150"/>
              </a:spcAft>
            </a:pPr>
            <a:r>
              <a:rPr sz="800" b="1">
                <a:solidFill>
                  <a:srgbClr val="112A40"/>
                </a:solidFill>
                <a:latin typeface="Helvetica"/>
              </a:rPr>
              <a:t>15  </a:t>
            </a:r>
            <a:r>
              <a:rPr sz="800" b="0">
                <a:solidFill>
                  <a:srgbClr val="060606"/>
                </a:solidFill>
                <a:latin typeface="Helvetica"/>
              </a:rPr>
              <a:t>Affecter les excédents aux réserves et faire les reclassements.</a:t>
            </a:r>
          </a:p>
          <a:p>
            <a:pPr algn="l">
              <a:spcAft>
                <a:spcPts val="150"/>
              </a:spcAft>
            </a:pPr>
            <a:r>
              <a:rPr sz="800" b="1">
                <a:solidFill>
                  <a:srgbClr val="112A40"/>
                </a:solidFill>
                <a:latin typeface="Helvetica"/>
              </a:rPr>
              <a:t>9  </a:t>
            </a:r>
            <a:r>
              <a:rPr sz="800" b="0">
                <a:solidFill>
                  <a:srgbClr val="060606"/>
                </a:solidFill>
                <a:latin typeface="Helvetica"/>
              </a:rPr>
              <a:t>Présenter le solde dû, distinct de la collecte.</a:t>
            </a:r>
          </a:p>
          <a:p>
            <a:pPr algn="l">
              <a:spcAft>
                <a:spcPts val="150"/>
              </a:spcAft>
            </a:pPr>
            <a:r>
              <a:rPr sz="800" b="1">
                <a:solidFill>
                  <a:srgbClr val="112A40"/>
                </a:solidFill>
                <a:latin typeface="Helvetica"/>
              </a:rPr>
              <a:t>18  </a:t>
            </a:r>
            <a:r>
              <a:rPr sz="800" b="0">
                <a:solidFill>
                  <a:srgbClr val="060606"/>
                </a:solidFill>
                <a:latin typeface="Helvetica"/>
              </a:rPr>
              <a:t>Reclasser dans les comptes prévus par le plan comptable.</a:t>
            </a:r>
          </a:p>
          <a:p>
            <a:pPr algn="l">
              <a:spcAft>
                <a:spcPts val="150"/>
              </a:spcAft>
            </a:pPr>
            <a:r>
              <a:rPr sz="800" b="1">
                <a:solidFill>
                  <a:srgbClr val="112A40"/>
                </a:solidFill>
                <a:latin typeface="Helvetica"/>
              </a:rPr>
              <a:t>28  </a:t>
            </a:r>
            <a:r>
              <a:rPr sz="800" b="0">
                <a:solidFill>
                  <a:srgbClr val="060606"/>
                </a:solidFill>
                <a:latin typeface="Helvetica"/>
              </a:rPr>
              <a:t>Transmettre la version approuvée.</a:t>
            </a:r>
          </a:p>
          <a:p>
            <a:pPr algn="l">
              <a:spcAft>
                <a:spcPts val="150"/>
              </a:spcAft>
            </a:pPr>
            <a:r>
              <a:rPr sz="800" b="1">
                <a:solidFill>
                  <a:srgbClr val="112A40"/>
                </a:solidFill>
                <a:latin typeface="Helvetica"/>
              </a:rPr>
              <a:t>5  </a:t>
            </a:r>
            <a:r>
              <a:rPr sz="800" b="0">
                <a:solidFill>
                  <a:srgbClr val="060606"/>
                </a:solidFill>
                <a:latin typeface="Helvetica"/>
              </a:rPr>
              <a:t>Rédiger la note de calcul annuelle.</a:t>
            </a:r>
          </a:p>
        </p:txBody>
      </p:sp>
      <p:sp>
        <p:nvSpPr>
          <p:cNvPr id="44" name="Rectangle 43"/>
          <p:cNvSpPr/>
          <p:nvPr/>
        </p:nvSpPr>
        <p:spPr>
          <a:xfrm>
            <a:off x="503999" y="5228006"/>
            <a:ext cx="1188000" cy="211996"/>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Complexité</a:t>
            </a:r>
          </a:p>
        </p:txBody>
      </p:sp>
      <p:sp>
        <p:nvSpPr>
          <p:cNvPr id="45" name="Rectangle 44"/>
          <p:cNvSpPr/>
          <p:nvPr/>
        </p:nvSpPr>
        <p:spPr>
          <a:xfrm>
            <a:off x="1745999" y="5228006"/>
            <a:ext cx="4968000" cy="211996"/>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800" b="1">
                <a:solidFill>
                  <a:srgbClr val="112A40"/>
                </a:solidFill>
                <a:latin typeface="Helvetica"/>
              </a:rPr>
              <a:t>20 </a:t>
            </a:r>
            <a:r>
              <a:rPr sz="800" b="0">
                <a:solidFill>
                  <a:srgbClr val="060606"/>
                </a:solidFill>
                <a:latin typeface="Helvetica"/>
              </a:rPr>
              <a:t>Faible</a:t>
            </a:r>
            <a:r>
              <a:rPr sz="800" b="1">
                <a:solidFill>
                  <a:srgbClr val="112A40"/>
                </a:solidFill>
                <a:latin typeface="Helvetica"/>
              </a:rPr>
              <a:t>     27 </a:t>
            </a:r>
            <a:r>
              <a:rPr sz="800" b="0">
                <a:solidFill>
                  <a:srgbClr val="060606"/>
                </a:solidFill>
                <a:latin typeface="Helvetica"/>
              </a:rPr>
              <a:t>Moyenne</a:t>
            </a:r>
            <a:r>
              <a:rPr sz="800" b="1">
                <a:solidFill>
                  <a:srgbClr val="112A40"/>
                </a:solidFill>
                <a:latin typeface="Helvetica"/>
              </a:rPr>
              <a:t>     26.h </a:t>
            </a:r>
            <a:r>
              <a:rPr sz="800" b="0">
                <a:solidFill>
                  <a:srgbClr val="060606"/>
                </a:solidFill>
                <a:latin typeface="Helvetica"/>
              </a:rPr>
              <a:t>Moyenne</a:t>
            </a:r>
            <a:r>
              <a:rPr sz="800" b="1">
                <a:solidFill>
                  <a:srgbClr val="112A40"/>
                </a:solidFill>
                <a:latin typeface="Helvetica"/>
              </a:rPr>
              <a:t>     27.f </a:t>
            </a:r>
            <a:r>
              <a:rPr sz="800" b="0">
                <a:solidFill>
                  <a:srgbClr val="060606"/>
                </a:solidFill>
                <a:latin typeface="Helvetica"/>
              </a:rPr>
              <a:t>Faible</a:t>
            </a:r>
            <a:r>
              <a:rPr sz="800" b="1">
                <a:solidFill>
                  <a:srgbClr val="112A40"/>
                </a:solidFill>
                <a:latin typeface="Helvetica"/>
              </a:rPr>
              <a:t>     27.g </a:t>
            </a:r>
            <a:r>
              <a:rPr sz="800" b="0">
                <a:solidFill>
                  <a:srgbClr val="060606"/>
                </a:solidFill>
                <a:latin typeface="Helvetica"/>
              </a:rPr>
              <a:t>Faible</a:t>
            </a:r>
          </a:p>
        </p:txBody>
      </p:sp>
      <p:sp>
        <p:nvSpPr>
          <p:cNvPr id="46" name="Rectangle 45"/>
          <p:cNvSpPr/>
          <p:nvPr/>
        </p:nvSpPr>
        <p:spPr>
          <a:xfrm>
            <a:off x="6750000" y="5228006"/>
            <a:ext cx="4968000" cy="211996"/>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800" b="1">
                <a:solidFill>
                  <a:srgbClr val="112A40"/>
                </a:solidFill>
                <a:latin typeface="Helvetica"/>
              </a:rPr>
              <a:t>1 </a:t>
            </a:r>
            <a:r>
              <a:rPr sz="800" b="0">
                <a:solidFill>
                  <a:srgbClr val="060606"/>
                </a:solidFill>
                <a:latin typeface="Helvetica"/>
              </a:rPr>
              <a:t>Moyenne</a:t>
            </a:r>
            <a:r>
              <a:rPr sz="800" b="1">
                <a:solidFill>
                  <a:srgbClr val="112A40"/>
                </a:solidFill>
                <a:latin typeface="Helvetica"/>
              </a:rPr>
              <a:t>     15 </a:t>
            </a:r>
            <a:r>
              <a:rPr sz="800" b="0">
                <a:solidFill>
                  <a:srgbClr val="060606"/>
                </a:solidFill>
                <a:latin typeface="Helvetica"/>
              </a:rPr>
              <a:t>Moyenne</a:t>
            </a:r>
            <a:r>
              <a:rPr sz="800" b="1">
                <a:solidFill>
                  <a:srgbClr val="112A40"/>
                </a:solidFill>
                <a:latin typeface="Helvetica"/>
              </a:rPr>
              <a:t>     9 </a:t>
            </a:r>
            <a:r>
              <a:rPr sz="800" b="0">
                <a:solidFill>
                  <a:srgbClr val="060606"/>
                </a:solidFill>
                <a:latin typeface="Helvetica"/>
              </a:rPr>
              <a:t>Faible</a:t>
            </a:r>
            <a:r>
              <a:rPr sz="800" b="1">
                <a:solidFill>
                  <a:srgbClr val="112A40"/>
                </a:solidFill>
                <a:latin typeface="Helvetica"/>
              </a:rPr>
              <a:t>     18 </a:t>
            </a:r>
            <a:r>
              <a:rPr sz="800" b="0">
                <a:solidFill>
                  <a:srgbClr val="060606"/>
                </a:solidFill>
                <a:latin typeface="Helvetica"/>
              </a:rPr>
              <a:t>Faible</a:t>
            </a:r>
            <a:r>
              <a:rPr sz="800" b="1">
                <a:solidFill>
                  <a:srgbClr val="112A40"/>
                </a:solidFill>
                <a:latin typeface="Helvetica"/>
              </a:rPr>
              <a:t>     28 </a:t>
            </a:r>
            <a:r>
              <a:rPr sz="800" b="0">
                <a:solidFill>
                  <a:srgbClr val="060606"/>
                </a:solidFill>
                <a:latin typeface="Helvetica"/>
              </a:rPr>
              <a:t>Faible</a:t>
            </a:r>
            <a:r>
              <a:rPr sz="800" b="1">
                <a:solidFill>
                  <a:srgbClr val="112A40"/>
                </a:solidFill>
                <a:latin typeface="Helvetica"/>
              </a:rPr>
              <a:t>     5 </a:t>
            </a:r>
            <a:r>
              <a:rPr sz="800" b="0">
                <a:solidFill>
                  <a:srgbClr val="060606"/>
                </a:solidFill>
                <a:latin typeface="Helvetica"/>
              </a:rPr>
              <a:t>Faible</a:t>
            </a:r>
          </a:p>
        </p:txBody>
      </p:sp>
      <p:sp>
        <p:nvSpPr>
          <p:cNvPr id="47" name="Rectangle 46"/>
          <p:cNvSpPr/>
          <p:nvPr/>
        </p:nvSpPr>
        <p:spPr>
          <a:xfrm>
            <a:off x="503999" y="5440003"/>
            <a:ext cx="1188000" cy="211996"/>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Priorité</a:t>
            </a:r>
          </a:p>
        </p:txBody>
      </p:sp>
      <p:sp>
        <p:nvSpPr>
          <p:cNvPr id="48" name="Rectangle 47"/>
          <p:cNvSpPr/>
          <p:nvPr/>
        </p:nvSpPr>
        <p:spPr>
          <a:xfrm>
            <a:off x="1745999" y="5440003"/>
            <a:ext cx="4968000" cy="211996"/>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ED7D31"/>
                </a:solidFill>
                <a:latin typeface="Helvetica"/>
              </a:rPr>
              <a:t>■ </a:t>
            </a:r>
            <a:r>
              <a:rPr sz="800" b="1">
                <a:solidFill>
                  <a:srgbClr val="112A40"/>
                </a:solidFill>
                <a:latin typeface="Helvetica"/>
              </a:rPr>
              <a:t>20 </a:t>
            </a:r>
            <a:r>
              <a:rPr sz="800" b="1">
                <a:solidFill>
                  <a:srgbClr val="ED7D31"/>
                </a:solidFill>
                <a:latin typeface="Helvetica"/>
              </a:rPr>
              <a:t>P2</a:t>
            </a:r>
            <a:r>
              <a:rPr sz="900" b="1">
                <a:solidFill>
                  <a:srgbClr val="ED7D31"/>
                </a:solidFill>
                <a:latin typeface="Helvetica"/>
              </a:rPr>
              <a:t>     ■ </a:t>
            </a:r>
            <a:r>
              <a:rPr sz="800" b="1">
                <a:solidFill>
                  <a:srgbClr val="112A40"/>
                </a:solidFill>
                <a:latin typeface="Helvetica"/>
              </a:rPr>
              <a:t>27 </a:t>
            </a:r>
            <a:r>
              <a:rPr sz="800" b="1">
                <a:solidFill>
                  <a:srgbClr val="ED7D31"/>
                </a:solidFill>
                <a:latin typeface="Helvetica"/>
              </a:rPr>
              <a:t>P2</a:t>
            </a:r>
            <a:r>
              <a:rPr sz="900" b="1">
                <a:solidFill>
                  <a:srgbClr val="FFC000"/>
                </a:solidFill>
                <a:latin typeface="Helvetica"/>
              </a:rPr>
              <a:t>     ■ </a:t>
            </a:r>
            <a:r>
              <a:rPr sz="800" b="1">
                <a:solidFill>
                  <a:srgbClr val="112A40"/>
                </a:solidFill>
                <a:latin typeface="Helvetica"/>
              </a:rPr>
              <a:t>26.h </a:t>
            </a:r>
            <a:r>
              <a:rPr sz="800" b="1">
                <a:solidFill>
                  <a:srgbClr val="FFC000"/>
                </a:solidFill>
                <a:latin typeface="Helvetica"/>
              </a:rPr>
              <a:t>P3</a:t>
            </a:r>
            <a:r>
              <a:rPr sz="900" b="1">
                <a:solidFill>
                  <a:srgbClr val="FFC000"/>
                </a:solidFill>
                <a:latin typeface="Helvetica"/>
              </a:rPr>
              <a:t>     ■ </a:t>
            </a:r>
            <a:r>
              <a:rPr sz="800" b="1">
                <a:solidFill>
                  <a:srgbClr val="112A40"/>
                </a:solidFill>
                <a:latin typeface="Helvetica"/>
              </a:rPr>
              <a:t>27.f </a:t>
            </a:r>
            <a:r>
              <a:rPr sz="800" b="1">
                <a:solidFill>
                  <a:srgbClr val="FFC000"/>
                </a:solidFill>
                <a:latin typeface="Helvetica"/>
              </a:rPr>
              <a:t>P3</a:t>
            </a:r>
            <a:r>
              <a:rPr sz="900" b="1">
                <a:solidFill>
                  <a:srgbClr val="70AD47"/>
                </a:solidFill>
                <a:latin typeface="Helvetica"/>
              </a:rPr>
              <a:t>     ■ </a:t>
            </a:r>
            <a:r>
              <a:rPr sz="800" b="1">
                <a:solidFill>
                  <a:srgbClr val="112A40"/>
                </a:solidFill>
                <a:latin typeface="Helvetica"/>
              </a:rPr>
              <a:t>27.g </a:t>
            </a:r>
            <a:r>
              <a:rPr sz="800" b="1">
                <a:solidFill>
                  <a:srgbClr val="70AD47"/>
                </a:solidFill>
                <a:latin typeface="Helvetica"/>
              </a:rPr>
              <a:t>P4</a:t>
            </a:r>
          </a:p>
        </p:txBody>
      </p:sp>
      <p:sp>
        <p:nvSpPr>
          <p:cNvPr id="49" name="Rectangle 48"/>
          <p:cNvSpPr/>
          <p:nvPr/>
        </p:nvSpPr>
        <p:spPr>
          <a:xfrm>
            <a:off x="6750000" y="5440003"/>
            <a:ext cx="4968000" cy="211996"/>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00" b="1">
                <a:solidFill>
                  <a:srgbClr val="C00000"/>
                </a:solidFill>
                <a:latin typeface="Helvetica"/>
              </a:rPr>
              <a:t>■ </a:t>
            </a:r>
            <a:r>
              <a:rPr sz="800" b="1">
                <a:solidFill>
                  <a:srgbClr val="112A40"/>
                </a:solidFill>
                <a:latin typeface="Helvetica"/>
              </a:rPr>
              <a:t>1 </a:t>
            </a:r>
            <a:r>
              <a:rPr sz="800" b="1">
                <a:solidFill>
                  <a:srgbClr val="C00000"/>
                </a:solidFill>
                <a:latin typeface="Helvetica"/>
              </a:rPr>
              <a:t>P1</a:t>
            </a:r>
            <a:r>
              <a:rPr sz="900" b="1">
                <a:solidFill>
                  <a:srgbClr val="ED7D31"/>
                </a:solidFill>
                <a:latin typeface="Helvetica"/>
              </a:rPr>
              <a:t>     ■ </a:t>
            </a:r>
            <a:r>
              <a:rPr sz="800" b="1">
                <a:solidFill>
                  <a:srgbClr val="112A40"/>
                </a:solidFill>
                <a:latin typeface="Helvetica"/>
              </a:rPr>
              <a:t>15 </a:t>
            </a:r>
            <a:r>
              <a:rPr sz="800" b="1">
                <a:solidFill>
                  <a:srgbClr val="ED7D31"/>
                </a:solidFill>
                <a:latin typeface="Helvetica"/>
              </a:rPr>
              <a:t>P2</a:t>
            </a:r>
            <a:r>
              <a:rPr sz="900" b="1">
                <a:solidFill>
                  <a:srgbClr val="ED7D31"/>
                </a:solidFill>
                <a:latin typeface="Helvetica"/>
              </a:rPr>
              <a:t>     ■ </a:t>
            </a:r>
            <a:r>
              <a:rPr sz="800" b="1">
                <a:solidFill>
                  <a:srgbClr val="112A40"/>
                </a:solidFill>
                <a:latin typeface="Helvetica"/>
              </a:rPr>
              <a:t>9 </a:t>
            </a:r>
            <a:r>
              <a:rPr sz="800" b="1">
                <a:solidFill>
                  <a:srgbClr val="ED7D31"/>
                </a:solidFill>
                <a:latin typeface="Helvetica"/>
              </a:rPr>
              <a:t>P2</a:t>
            </a:r>
            <a:r>
              <a:rPr sz="900" b="1">
                <a:solidFill>
                  <a:srgbClr val="FFC000"/>
                </a:solidFill>
                <a:latin typeface="Helvetica"/>
              </a:rPr>
              <a:t>     ■ </a:t>
            </a:r>
            <a:r>
              <a:rPr sz="800" b="1">
                <a:solidFill>
                  <a:srgbClr val="112A40"/>
                </a:solidFill>
                <a:latin typeface="Helvetica"/>
              </a:rPr>
              <a:t>18 </a:t>
            </a:r>
            <a:r>
              <a:rPr sz="800" b="1">
                <a:solidFill>
                  <a:srgbClr val="FFC000"/>
                </a:solidFill>
                <a:latin typeface="Helvetica"/>
              </a:rPr>
              <a:t>P3</a:t>
            </a:r>
            <a:r>
              <a:rPr sz="900" b="1">
                <a:solidFill>
                  <a:srgbClr val="FFC000"/>
                </a:solidFill>
                <a:latin typeface="Helvetica"/>
              </a:rPr>
              <a:t>     ■ </a:t>
            </a:r>
            <a:r>
              <a:rPr sz="800" b="1">
                <a:solidFill>
                  <a:srgbClr val="112A40"/>
                </a:solidFill>
                <a:latin typeface="Helvetica"/>
              </a:rPr>
              <a:t>28 </a:t>
            </a:r>
            <a:r>
              <a:rPr sz="800" b="1">
                <a:solidFill>
                  <a:srgbClr val="FFC000"/>
                </a:solidFill>
                <a:latin typeface="Helvetica"/>
              </a:rPr>
              <a:t>P3</a:t>
            </a:r>
            <a:r>
              <a:rPr sz="900" b="1">
                <a:solidFill>
                  <a:srgbClr val="70AD47"/>
                </a:solidFill>
                <a:latin typeface="Helvetica"/>
              </a:rPr>
              <a:t>     ■ </a:t>
            </a:r>
            <a:r>
              <a:rPr sz="800" b="1">
                <a:solidFill>
                  <a:srgbClr val="112A40"/>
                </a:solidFill>
                <a:latin typeface="Helvetica"/>
              </a:rPr>
              <a:t>5 </a:t>
            </a:r>
            <a:r>
              <a:rPr sz="800" b="1">
                <a:solidFill>
                  <a:srgbClr val="70AD47"/>
                </a:solidFill>
                <a:latin typeface="Helvetica"/>
              </a:rPr>
              <a:t>P4</a:t>
            </a:r>
          </a:p>
        </p:txBody>
      </p:sp>
      <p:sp>
        <p:nvSpPr>
          <p:cNvPr id="50" name="TextBox 49"/>
          <p:cNvSpPr txBox="1"/>
          <p:nvPr/>
        </p:nvSpPr>
        <p:spPr>
          <a:xfrm>
            <a:off x="503999" y="5688000"/>
            <a:ext cx="11232000" cy="162000"/>
          </a:xfrm>
          <a:prstGeom prst="rect">
            <a:avLst/>
          </a:prstGeom>
          <a:noFill/>
        </p:spPr>
        <p:txBody>
          <a:bodyPr wrap="square">
            <a:spAutoFit/>
          </a:bodyPr>
          <a:lstStyle/>
          <a:p>
            <a:r>
              <a:rPr sz="750" b="1">
                <a:solidFill>
                  <a:srgbClr val="060606"/>
                </a:solidFill>
                <a:latin typeface="Helvetica"/>
              </a:rPr>
              <a:t>Criticité du constat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1">
                <a:solidFill>
                  <a:srgbClr val="060606"/>
                </a:solidFill>
                <a:latin typeface="Helvetica"/>
              </a:rPr>
              <a:t>Priorité : </a:t>
            </a:r>
            <a:r>
              <a:rPr sz="850" b="1">
                <a:solidFill>
                  <a:srgbClr val="C00000"/>
                </a:solidFill>
                <a:latin typeface="Helvetica"/>
              </a:rPr>
              <a:t>■ </a:t>
            </a:r>
            <a:r>
              <a:rPr sz="750" b="0">
                <a:solidFill>
                  <a:srgbClr val="060606"/>
                </a:solidFill>
                <a:latin typeface="Helvetica"/>
              </a:rPr>
              <a:t>P1 3 mois   </a:t>
            </a:r>
            <a:r>
              <a:rPr sz="850" b="1">
                <a:solidFill>
                  <a:srgbClr val="ED7D31"/>
                </a:solidFill>
                <a:latin typeface="Helvetica"/>
              </a:rPr>
              <a:t>■ </a:t>
            </a:r>
            <a:r>
              <a:rPr sz="750" b="0">
                <a:solidFill>
                  <a:srgbClr val="060606"/>
                </a:solidFill>
                <a:latin typeface="Helvetica"/>
              </a:rPr>
              <a:t>P2 6 mois   </a:t>
            </a:r>
            <a:r>
              <a:rPr sz="850" b="1">
                <a:solidFill>
                  <a:srgbClr val="FFC000"/>
                </a:solidFill>
                <a:latin typeface="Helvetica"/>
              </a:rPr>
              <a:t>■ </a:t>
            </a:r>
            <a:r>
              <a:rPr sz="750" b="0">
                <a:solidFill>
                  <a:srgbClr val="060606"/>
                </a:solidFill>
                <a:latin typeface="Helvetica"/>
              </a:rPr>
              <a:t>P3 6 à 18 mois   </a:t>
            </a:r>
            <a:r>
              <a:rPr sz="850" b="1">
                <a:solidFill>
                  <a:srgbClr val="70AD47"/>
                </a:solidFill>
                <a:latin typeface="Helvetica"/>
              </a:rPr>
              <a:t>■ </a:t>
            </a:r>
            <a:r>
              <a:rPr sz="750" b="0">
                <a:solidFill>
                  <a:srgbClr val="060606"/>
                </a:solidFill>
                <a:latin typeface="Helvetica"/>
              </a:rPr>
              <a:t>P4 au-delà   </a:t>
            </a:r>
            <a:r>
              <a:rPr sz="750" b="0">
                <a:solidFill>
                  <a:srgbClr val="060606"/>
                </a:solidFill>
                <a:latin typeface="Helvetica"/>
              </a:rPr>
              <a:t>Complexité : Faible (une décision suffit), Moyenne (travail interne), Élevée (tiers ou financement). Numéros : ceux du résumé exécutif.</a:t>
            </a:r>
          </a:p>
        </p:txBody>
      </p:sp>
      <p:sp>
        <p:nvSpPr>
          <p:cNvPr id="51" name="TextBox 5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1621424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Trésorerie et placements | Gouvernance | Données et informatique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L'argent disponible ne couvre pas l'année, et les décisions ne sont pas encadrées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14 constats, dont 4 à traiter dans les trois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rapport actuariel et statistique du 23/10/2026. Logigrammes du FPPN (« FLOW_CHART_COTISATION_ET_PRODUITS_DEPARGNE_1.pptx »). Résumé exécutif du 26/10/2026</a:t>
            </a:r>
          </a:p>
        </p:txBody>
      </p:sp>
      <p:sp>
        <p:nvSpPr>
          <p:cNvPr id="31" name="Rectangle 30"/>
          <p:cNvSpPr/>
          <p:nvPr/>
        </p:nvSpPr>
        <p:spPr>
          <a:xfrm>
            <a:off x="4932000" y="1422000"/>
            <a:ext cx="3600000" cy="180000"/>
          </a:xfrm>
          <a:prstGeom prst="rect">
            <a:avLst/>
          </a:prstGeom>
          <a:solidFill>
            <a:srgbClr val="112A40"/>
          </a:solidFill>
          <a:ln w="952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000" b="1">
                <a:solidFill>
                  <a:srgbClr val="FFFFFF"/>
                </a:solidFill>
                <a:latin typeface="Helvetica"/>
              </a:rPr>
              <a:t>ACTIVITÉS : FONCTIONS TRANSVERSES</a:t>
            </a:r>
          </a:p>
        </p:txBody>
      </p:sp>
      <p:cxnSp>
        <p:nvCxnSpPr>
          <p:cNvPr id="32" name="Connector 31"/>
          <p:cNvCxnSpPr/>
          <p:nvPr/>
        </p:nvCxnSpPr>
        <p:spPr>
          <a:xfrm>
            <a:off x="6732000" y="1602000"/>
            <a:ext cx="0" cy="828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396000" y="1684800"/>
            <a:ext cx="6672000" cy="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396000" y="1684800"/>
            <a:ext cx="0" cy="792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782000" y="1764000"/>
            <a:ext cx="3228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C00000"/>
                </a:solidFill>
                <a:latin typeface="Helvetica"/>
              </a:rPr>
              <a:t>● </a:t>
            </a:r>
            <a:r>
              <a:rPr sz="1050" b="1">
                <a:solidFill>
                  <a:srgbClr val="FFFFFF"/>
                </a:solidFill>
                <a:latin typeface="Helvetica"/>
              </a:rPr>
              <a:t>TRÉSORERIE ET PLACEMENTS</a:t>
            </a:r>
            <a:r>
              <a:rPr sz="850" b="0">
                <a:solidFill>
                  <a:srgbClr val="FFFFFF"/>
                </a:solidFill>
                <a:latin typeface="Helvetica"/>
              </a:rPr>
              <a:t>   6 constats</a:t>
            </a:r>
          </a:p>
        </p:txBody>
      </p:sp>
      <p:cxnSp>
        <p:nvCxnSpPr>
          <p:cNvPr id="36" name="Connector 35"/>
          <p:cNvCxnSpPr/>
          <p:nvPr/>
        </p:nvCxnSpPr>
        <p:spPr>
          <a:xfrm>
            <a:off x="6732000" y="1684800"/>
            <a:ext cx="0" cy="792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118000" y="1764000"/>
            <a:ext cx="3228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C00000"/>
                </a:solidFill>
                <a:latin typeface="Helvetica"/>
              </a:rPr>
              <a:t>● </a:t>
            </a:r>
            <a:r>
              <a:rPr sz="1050" b="1">
                <a:solidFill>
                  <a:srgbClr val="FFFFFF"/>
                </a:solidFill>
                <a:latin typeface="Helvetica"/>
              </a:rPr>
              <a:t>GOUVERNANCE</a:t>
            </a:r>
            <a:r>
              <a:rPr sz="850" b="0">
                <a:solidFill>
                  <a:srgbClr val="FFFFFF"/>
                </a:solidFill>
                <a:latin typeface="Helvetica"/>
              </a:rPr>
              <a:t>   4 constats</a:t>
            </a:r>
          </a:p>
        </p:txBody>
      </p:sp>
      <p:cxnSp>
        <p:nvCxnSpPr>
          <p:cNvPr id="38" name="Connector 37"/>
          <p:cNvCxnSpPr/>
          <p:nvPr/>
        </p:nvCxnSpPr>
        <p:spPr>
          <a:xfrm>
            <a:off x="10068000" y="1684800"/>
            <a:ext cx="0" cy="79200"/>
          </a:xfrm>
          <a:prstGeom prst="line">
            <a:avLst/>
          </a:prstGeom>
          <a:ln w="15875">
            <a:solidFill>
              <a:srgbClr val="112A40"/>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454000" y="1764000"/>
            <a:ext cx="3228000" cy="223200"/>
          </a:xfrm>
          <a:prstGeom prst="rect">
            <a:avLst/>
          </a:prstGeom>
          <a:solidFill>
            <a:srgbClr val="060606"/>
          </a:solidFill>
          <a:ln w="9525">
            <a:solidFill>
              <a:srgbClr val="06060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ctr"/>
            <a:r>
              <a:rPr sz="1100" b="1">
                <a:solidFill>
                  <a:srgbClr val="ED7D31"/>
                </a:solidFill>
                <a:latin typeface="Helvetica"/>
              </a:rPr>
              <a:t>● </a:t>
            </a:r>
            <a:r>
              <a:rPr sz="1050" b="1">
                <a:solidFill>
                  <a:srgbClr val="FFFFFF"/>
                </a:solidFill>
                <a:latin typeface="Helvetica"/>
              </a:rPr>
              <a:t>DONNÉES ET INFORMATIQUE</a:t>
            </a:r>
            <a:r>
              <a:rPr sz="850" b="0">
                <a:solidFill>
                  <a:srgbClr val="FFFFFF"/>
                </a:solidFill>
                <a:latin typeface="Helvetica"/>
              </a:rPr>
              <a:t>   4 constats</a:t>
            </a:r>
          </a:p>
        </p:txBody>
      </p:sp>
      <p:sp>
        <p:nvSpPr>
          <p:cNvPr id="40" name="Rectangle 39"/>
          <p:cNvSpPr/>
          <p:nvPr/>
        </p:nvSpPr>
        <p:spPr>
          <a:xfrm>
            <a:off x="503999" y="2070000"/>
            <a:ext cx="1188000" cy="2137867"/>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Constats et commentaires</a:t>
            </a:r>
          </a:p>
        </p:txBody>
      </p:sp>
      <p:sp>
        <p:nvSpPr>
          <p:cNvPr id="41" name="Rectangle 40"/>
          <p:cNvSpPr/>
          <p:nvPr/>
        </p:nvSpPr>
        <p:spPr>
          <a:xfrm>
            <a:off x="1745999" y="2070000"/>
            <a:ext cx="3300000" cy="2137867"/>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200"/>
              </a:spcAft>
            </a:pPr>
            <a:r>
              <a:rPr sz="800" b="1">
                <a:solidFill>
                  <a:srgbClr val="C00000"/>
                </a:solidFill>
                <a:latin typeface="Helvetica"/>
              </a:rPr>
              <a:t>● </a:t>
            </a:r>
            <a:r>
              <a:rPr sz="700" b="1">
                <a:solidFill>
                  <a:srgbClr val="112A40"/>
                </a:solidFill>
                <a:latin typeface="Helvetica"/>
              </a:rPr>
              <a:t>11  </a:t>
            </a:r>
            <a:r>
              <a:rPr sz="700" b="1">
                <a:solidFill>
                  <a:srgbClr val="060606"/>
                </a:solidFill>
                <a:latin typeface="Helvetica"/>
              </a:rPr>
              <a:t>L'argent disponible ne couvre pas l'année. </a:t>
            </a:r>
            <a:r>
              <a:rPr sz="700" b="0">
                <a:solidFill>
                  <a:srgbClr val="060606"/>
                </a:solidFill>
                <a:latin typeface="Helvetica"/>
              </a:rPr>
              <a:t>34,42 % des paiements de l'année couverts au 31/08/2026. Manque cumulé de 12 596 052 822 FCFA à cinq ans.</a:t>
            </a:r>
          </a:p>
          <a:p>
            <a:pPr algn="l">
              <a:spcAft>
                <a:spcPts val="200"/>
              </a:spcAft>
            </a:pPr>
            <a:r>
              <a:rPr sz="800" b="1">
                <a:solidFill>
                  <a:srgbClr val="ED7D31"/>
                </a:solidFill>
                <a:latin typeface="Helvetica"/>
              </a:rPr>
              <a:t>● </a:t>
            </a:r>
            <a:r>
              <a:rPr sz="700" b="1">
                <a:solidFill>
                  <a:srgbClr val="112A40"/>
                </a:solidFill>
                <a:latin typeface="Helvetica"/>
              </a:rPr>
              <a:t>10  </a:t>
            </a:r>
            <a:r>
              <a:rPr sz="700" b="1">
                <a:solidFill>
                  <a:srgbClr val="060606"/>
                </a:solidFill>
                <a:latin typeface="Helvetica"/>
              </a:rPr>
              <a:t>L'épargne n'est pas séparée. </a:t>
            </a:r>
            <a:r>
              <a:rPr sz="700" b="0">
                <a:solidFill>
                  <a:srgbClr val="060606"/>
                </a:solidFill>
                <a:latin typeface="Helvetica"/>
              </a:rPr>
              <a:t>16,28 % de l'épargne couverte par des actifs qui lui sont réservés.</a:t>
            </a:r>
          </a:p>
          <a:p>
            <a:pPr algn="l">
              <a:spcAft>
                <a:spcPts val="200"/>
              </a:spcAft>
            </a:pPr>
            <a:r>
              <a:rPr sz="800" b="1">
                <a:solidFill>
                  <a:srgbClr val="ED7D31"/>
                </a:solidFill>
                <a:latin typeface="Helvetica"/>
              </a:rPr>
              <a:t>● </a:t>
            </a:r>
            <a:r>
              <a:rPr sz="700" b="1">
                <a:solidFill>
                  <a:srgbClr val="112A40"/>
                </a:solidFill>
                <a:latin typeface="Helvetica"/>
              </a:rPr>
              <a:t>12  </a:t>
            </a:r>
            <a:r>
              <a:rPr sz="700" b="1">
                <a:solidFill>
                  <a:srgbClr val="060606"/>
                </a:solidFill>
                <a:latin typeface="Helvetica"/>
              </a:rPr>
              <a:t>Les biens ne se vendent pas vite. </a:t>
            </a:r>
            <a:r>
              <a:rPr sz="700" b="0">
                <a:solidFill>
                  <a:srgbClr val="060606"/>
                </a:solidFill>
                <a:latin typeface="Helvetica"/>
              </a:rPr>
              <a:t>Plus des trois quarts de l'actif à plus de cinq ans. Couverture des dettes : 96,33 % sur le papier, 27,19 % sans les biens non évalués. Créance sur l'hôpital de 3 407 519 850 FCFA inchangée depuis 2020.</a:t>
            </a:r>
          </a:p>
          <a:p>
            <a:pPr algn="l">
              <a:spcAft>
                <a:spcPts val="200"/>
              </a:spcAft>
            </a:pPr>
            <a:r>
              <a:rPr sz="800" b="1">
                <a:solidFill>
                  <a:srgbClr val="ED7D31"/>
                </a:solidFill>
                <a:latin typeface="Helvetica"/>
              </a:rPr>
              <a:t>● </a:t>
            </a:r>
            <a:r>
              <a:rPr sz="700" b="1">
                <a:solidFill>
                  <a:srgbClr val="112A40"/>
                </a:solidFill>
                <a:latin typeface="Helvetica"/>
              </a:rPr>
              <a:t>23  </a:t>
            </a:r>
            <a:r>
              <a:rPr sz="700" b="1">
                <a:solidFill>
                  <a:srgbClr val="060606"/>
                </a:solidFill>
                <a:latin typeface="Helvetica"/>
              </a:rPr>
              <a:t>Les placements sont trop faibles. </a:t>
            </a:r>
            <a:r>
              <a:rPr sz="700" b="0">
                <a:solidFill>
                  <a:srgbClr val="060606"/>
                </a:solidFill>
                <a:latin typeface="Helvetica"/>
              </a:rPr>
              <a:t>5,53 % de l'épargne réellement placée en 2025. Rendement de 4,90 % par an, mais les intérêts dus dépassent les produits de 470 608 168 FCFA en 2025.</a:t>
            </a:r>
          </a:p>
          <a:p>
            <a:pPr algn="l">
              <a:spcAft>
                <a:spcPts val="200"/>
              </a:spcAft>
            </a:pPr>
            <a:r>
              <a:rPr sz="800" b="1">
                <a:solidFill>
                  <a:srgbClr val="FFC000"/>
                </a:solidFill>
                <a:latin typeface="Helvetica"/>
              </a:rPr>
              <a:t>● </a:t>
            </a:r>
            <a:r>
              <a:rPr sz="700" b="1">
                <a:solidFill>
                  <a:srgbClr val="112A40"/>
                </a:solidFill>
                <a:latin typeface="Helvetica"/>
              </a:rPr>
              <a:t>13  </a:t>
            </a:r>
            <a:r>
              <a:rPr sz="700" b="1">
                <a:solidFill>
                  <a:srgbClr val="060606"/>
                </a:solidFill>
                <a:latin typeface="Helvetica"/>
              </a:rPr>
              <a:t>Une partie de la trésorerie dort. </a:t>
            </a:r>
            <a:r>
              <a:rPr sz="700" b="0">
                <a:solidFill>
                  <a:srgbClr val="060606"/>
                </a:solidFill>
                <a:latin typeface="Helvetica"/>
              </a:rPr>
              <a:t>2 356 399 123 FCFA sur des comptes non rémunérés.</a:t>
            </a:r>
          </a:p>
          <a:p>
            <a:pPr algn="l">
              <a:spcAft>
                <a:spcPts val="200"/>
              </a:spcAft>
            </a:pPr>
            <a:r>
              <a:rPr sz="800" b="1">
                <a:solidFill>
                  <a:srgbClr val="FFC000"/>
                </a:solidFill>
                <a:latin typeface="Helvetica"/>
              </a:rPr>
              <a:t>● </a:t>
            </a:r>
            <a:r>
              <a:rPr sz="700" b="1">
                <a:solidFill>
                  <a:srgbClr val="112A40"/>
                </a:solidFill>
                <a:latin typeface="Helvetica"/>
              </a:rPr>
              <a:t>23.b  </a:t>
            </a:r>
            <a:r>
              <a:rPr sz="700" b="1">
                <a:solidFill>
                  <a:srgbClr val="060606"/>
                </a:solidFill>
                <a:latin typeface="Helvetica"/>
              </a:rPr>
              <a:t>Le fonds commun de placement n'est pas suivi. </a:t>
            </a:r>
            <a:r>
              <a:rPr sz="700" b="0">
                <a:solidFill>
                  <a:srgbClr val="060606"/>
                </a:solidFill>
                <a:latin typeface="Helvetica"/>
              </a:rPr>
              <a:t>500 000 000 FCFA placés en 2025, non garantis et non revalorisés dans les comptes.</a:t>
            </a:r>
          </a:p>
        </p:txBody>
      </p:sp>
      <p:sp>
        <p:nvSpPr>
          <p:cNvPr id="42" name="Rectangle 41"/>
          <p:cNvSpPr/>
          <p:nvPr/>
        </p:nvSpPr>
        <p:spPr>
          <a:xfrm>
            <a:off x="5082000" y="2070000"/>
            <a:ext cx="3300000" cy="2137867"/>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200"/>
              </a:spcAft>
            </a:pPr>
            <a:r>
              <a:rPr sz="800" b="1">
                <a:solidFill>
                  <a:srgbClr val="C00000"/>
                </a:solidFill>
                <a:latin typeface="Helvetica"/>
              </a:rPr>
              <a:t>● </a:t>
            </a:r>
            <a:r>
              <a:rPr sz="700" b="1">
                <a:solidFill>
                  <a:srgbClr val="112A40"/>
                </a:solidFill>
                <a:latin typeface="Helvetica"/>
              </a:rPr>
              <a:t>14  </a:t>
            </a:r>
            <a:r>
              <a:rPr sz="700" b="1">
                <a:solidFill>
                  <a:srgbClr val="060606"/>
                </a:solidFill>
                <a:latin typeface="Helvetica"/>
              </a:rPr>
              <a:t>Plusieurs règles de solidité ne sont pas respectées. </a:t>
            </a:r>
            <a:r>
              <a:rPr sz="700" b="0">
                <a:solidFill>
                  <a:srgbClr val="060606"/>
                </a:solidFill>
                <a:latin typeface="Helvetica"/>
              </a:rPr>
              <a:t>14 indicateurs sur 36 non conformes de 2022 à 2025, dont la réserve obligatoire, la liquidité et les fonds propres. Retrait d'agrément possible.</a:t>
            </a:r>
          </a:p>
          <a:p>
            <a:pPr algn="l">
              <a:spcAft>
                <a:spcPts val="200"/>
              </a:spcAft>
            </a:pPr>
            <a:r>
              <a:rPr sz="800" b="1">
                <a:solidFill>
                  <a:srgbClr val="ED7D31"/>
                </a:solidFill>
                <a:latin typeface="Helvetica"/>
              </a:rPr>
              <a:t>● </a:t>
            </a:r>
            <a:r>
              <a:rPr sz="700" b="1">
                <a:solidFill>
                  <a:srgbClr val="112A40"/>
                </a:solidFill>
                <a:latin typeface="Helvetica"/>
              </a:rPr>
              <a:t>24  </a:t>
            </a:r>
            <a:r>
              <a:rPr sz="700" b="1">
                <a:solidFill>
                  <a:srgbClr val="060606"/>
                </a:solidFill>
                <a:latin typeface="Helvetica"/>
              </a:rPr>
              <a:t>Les placements ne passent pas par le conseil. </a:t>
            </a:r>
            <a:r>
              <a:rPr sz="700" b="0">
                <a:solidFill>
                  <a:srgbClr val="060606"/>
                </a:solidFill>
                <a:highlight>
                  <a:srgbClr val="FFFF00"/>
                </a:highlight>
                <a:latin typeface="Helvetica"/>
              </a:rPr>
              <a:t>Selon le chef comptable, le directeur général décide seul.</a:t>
            </a:r>
            <a:r>
              <a:rPr sz="700" b="0">
                <a:solidFill>
                  <a:srgbClr val="060606"/>
                </a:solidFill>
                <a:latin typeface="Helvetica"/>
              </a:rPr>
              <a:t> Projet de Cocody sans budget. Mandat du directeur général documenté pour 2020 à 2023.</a:t>
            </a:r>
          </a:p>
          <a:p>
            <a:pPr algn="l">
              <a:spcAft>
                <a:spcPts val="200"/>
              </a:spcAft>
            </a:pPr>
            <a:r>
              <a:rPr sz="800" b="1">
                <a:solidFill>
                  <a:srgbClr val="ED7D31"/>
                </a:solidFill>
                <a:latin typeface="Helvetica"/>
              </a:rPr>
              <a:t>● </a:t>
            </a:r>
            <a:r>
              <a:rPr sz="700" b="1">
                <a:solidFill>
                  <a:srgbClr val="112A40"/>
                </a:solidFill>
                <a:latin typeface="Helvetica"/>
              </a:rPr>
              <a:t>24.a  </a:t>
            </a:r>
            <a:r>
              <a:rPr sz="700" b="1">
                <a:solidFill>
                  <a:srgbClr val="060606"/>
                </a:solidFill>
                <a:latin typeface="Helvetica"/>
              </a:rPr>
              <a:t>Aucun pilotage actif-passif. </a:t>
            </a:r>
            <a:r>
              <a:rPr sz="700" b="0">
                <a:solidFill>
                  <a:srgbClr val="060606"/>
                </a:solidFill>
                <a:latin typeface="Helvetica"/>
              </a:rPr>
              <a:t>Ni politique votée, ni comité, ni limites.</a:t>
            </a:r>
          </a:p>
          <a:p>
            <a:pPr algn="l">
              <a:spcAft>
                <a:spcPts val="200"/>
              </a:spcAft>
            </a:pPr>
            <a:r>
              <a:rPr sz="800" b="1">
                <a:solidFill>
                  <a:srgbClr val="FFC000"/>
                </a:solidFill>
                <a:latin typeface="Helvetica"/>
              </a:rPr>
              <a:t>● </a:t>
            </a:r>
            <a:r>
              <a:rPr sz="700" b="1">
                <a:solidFill>
                  <a:srgbClr val="112A40"/>
                </a:solidFill>
                <a:latin typeface="Helvetica"/>
              </a:rPr>
              <a:t>16  </a:t>
            </a:r>
            <a:r>
              <a:rPr sz="700" b="1">
                <a:solidFill>
                  <a:srgbClr val="060606"/>
                </a:solidFill>
                <a:latin typeface="Helvetica"/>
              </a:rPr>
              <a:t>Les frais dépassent la norme. </a:t>
            </a:r>
            <a:r>
              <a:rPr sz="700" b="0">
                <a:solidFill>
                  <a:srgbClr val="060606"/>
                </a:solidFill>
                <a:latin typeface="Helvetica"/>
              </a:rPr>
              <a:t>36,34 % des cotisations en 2025, 44,12 % sur huit mois de 2026, pour un maximum de 20 %.</a:t>
            </a:r>
          </a:p>
        </p:txBody>
      </p:sp>
      <p:sp>
        <p:nvSpPr>
          <p:cNvPr id="43" name="Rectangle 42"/>
          <p:cNvSpPr/>
          <p:nvPr/>
        </p:nvSpPr>
        <p:spPr>
          <a:xfrm>
            <a:off x="8418000" y="2070000"/>
            <a:ext cx="3300000" cy="2137867"/>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200"/>
              </a:spcAft>
            </a:pPr>
            <a:r>
              <a:rPr sz="800" b="1">
                <a:solidFill>
                  <a:srgbClr val="ED7D31"/>
                </a:solidFill>
                <a:latin typeface="Helvetica"/>
              </a:rPr>
              <a:t>● </a:t>
            </a:r>
            <a:r>
              <a:rPr sz="700" b="1">
                <a:solidFill>
                  <a:srgbClr val="112A40"/>
                </a:solidFill>
                <a:latin typeface="Helvetica"/>
              </a:rPr>
              <a:t>26  </a:t>
            </a:r>
            <a:r>
              <a:rPr sz="700" b="1">
                <a:solidFill>
                  <a:srgbClr val="060606"/>
                </a:solidFill>
                <a:latin typeface="Helvetica"/>
              </a:rPr>
              <a:t>Des données essentielles manquent. </a:t>
            </a:r>
            <a:r>
              <a:rPr sz="700" b="0">
                <a:solidFill>
                  <a:srgbClr val="060606"/>
                </a:solidFill>
                <a:latin typeface="Helvetica"/>
              </a:rPr>
              <a:t>Pas de base des prestations datée, ni de dates de naissance, ni de fichier des ayants droit.</a:t>
            </a:r>
          </a:p>
          <a:p>
            <a:pPr algn="l">
              <a:spcAft>
                <a:spcPts val="200"/>
              </a:spcAft>
            </a:pPr>
            <a:r>
              <a:rPr sz="800" b="1">
                <a:solidFill>
                  <a:srgbClr val="FFC000"/>
                </a:solidFill>
                <a:latin typeface="Helvetica"/>
              </a:rPr>
              <a:t>● </a:t>
            </a:r>
            <a:r>
              <a:rPr sz="700" b="1">
                <a:solidFill>
                  <a:srgbClr val="112A40"/>
                </a:solidFill>
                <a:latin typeface="Helvetica"/>
              </a:rPr>
              <a:t>26.i  </a:t>
            </a:r>
            <a:r>
              <a:rPr sz="700" b="1">
                <a:solidFill>
                  <a:srgbClr val="060606"/>
                </a:solidFill>
                <a:latin typeface="Helvetica"/>
              </a:rPr>
              <a:t>Le fichier des mutualistes est incomplet. </a:t>
            </a:r>
            <a:r>
              <a:rPr sz="700" b="0">
                <a:solidFill>
                  <a:srgbClr val="060606"/>
                </a:solidFill>
                <a:latin typeface="Helvetica"/>
              </a:rPr>
              <a:t>Ni date de naissance ni sexe des actifs, ni date d'adhésion, ni statut, ni motif de sortie.</a:t>
            </a:r>
          </a:p>
          <a:p>
            <a:pPr algn="l">
              <a:spcAft>
                <a:spcPts val="200"/>
              </a:spcAft>
            </a:pPr>
            <a:r>
              <a:rPr sz="800" b="1">
                <a:solidFill>
                  <a:srgbClr val="FFC000"/>
                </a:solidFill>
                <a:latin typeface="Helvetica"/>
              </a:rPr>
              <a:t>● </a:t>
            </a:r>
            <a:r>
              <a:rPr sz="700" b="1">
                <a:solidFill>
                  <a:srgbClr val="112A40"/>
                </a:solidFill>
                <a:latin typeface="Helvetica"/>
              </a:rPr>
              <a:t>26.k  </a:t>
            </a:r>
            <a:r>
              <a:rPr sz="700" b="1">
                <a:solidFill>
                  <a:srgbClr val="060606"/>
                </a:solidFill>
                <a:latin typeface="Helvetica"/>
              </a:rPr>
              <a:t>Le lien entre matricule et mécano manque. </a:t>
            </a:r>
            <a:r>
              <a:rPr sz="700" b="0">
                <a:solidFill>
                  <a:srgbClr val="060606"/>
                </a:solidFill>
                <a:latin typeface="Helvetica"/>
              </a:rPr>
              <a:t>La table de correspondance n'a pas été transmise.</a:t>
            </a:r>
          </a:p>
          <a:p>
            <a:pPr algn="l">
              <a:spcAft>
                <a:spcPts val="200"/>
              </a:spcAft>
            </a:pPr>
            <a:r>
              <a:rPr sz="800" b="1">
                <a:solidFill>
                  <a:srgbClr val="70AD47"/>
                </a:solidFill>
                <a:latin typeface="Helvetica"/>
              </a:rPr>
              <a:t>● </a:t>
            </a:r>
            <a:r>
              <a:rPr sz="700" b="1">
                <a:solidFill>
                  <a:srgbClr val="112A40"/>
                </a:solidFill>
                <a:latin typeface="Helvetica"/>
              </a:rPr>
              <a:t>26.j  </a:t>
            </a:r>
            <a:r>
              <a:rPr sz="700" b="1">
                <a:solidFill>
                  <a:srgbClr val="060606"/>
                </a:solidFill>
                <a:latin typeface="Helvetica"/>
              </a:rPr>
              <a:t>Certains exports sont difficiles à lire. </a:t>
            </a:r>
            <a:r>
              <a:rPr sz="700" b="0">
                <a:solidFill>
                  <a:srgbClr val="060606"/>
                </a:solidFill>
                <a:latin typeface="Helvetica"/>
              </a:rPr>
              <a:t>Fichiers PEP de 2020 à 2022 au format texte. Exports du Grenier sans la lettre-clé du mécano.</a:t>
            </a:r>
          </a:p>
        </p:txBody>
      </p:sp>
      <p:sp>
        <p:nvSpPr>
          <p:cNvPr id="44" name="Rectangle 43"/>
          <p:cNvSpPr/>
          <p:nvPr/>
        </p:nvSpPr>
        <p:spPr>
          <a:xfrm>
            <a:off x="503999" y="4207867"/>
            <a:ext cx="1188000" cy="943891"/>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Recommandations</a:t>
            </a:r>
          </a:p>
        </p:txBody>
      </p:sp>
      <p:sp>
        <p:nvSpPr>
          <p:cNvPr id="45" name="Rectangle 44"/>
          <p:cNvSpPr/>
          <p:nvPr/>
        </p:nvSpPr>
        <p:spPr>
          <a:xfrm>
            <a:off x="1745999" y="4207867"/>
            <a:ext cx="3300000" cy="943891"/>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150"/>
              </a:spcAft>
            </a:pPr>
            <a:r>
              <a:rPr sz="700" b="1">
                <a:solidFill>
                  <a:srgbClr val="112A40"/>
                </a:solidFill>
                <a:latin typeface="Helvetica"/>
              </a:rPr>
              <a:t>11  </a:t>
            </a:r>
            <a:r>
              <a:rPr sz="700" b="0">
                <a:solidFill>
                  <a:srgbClr val="060606"/>
                </a:solidFill>
                <a:latin typeface="Helvetica"/>
              </a:rPr>
              <a:t>Réserve de trésorerie et échéancier des sorties d'épargne.</a:t>
            </a:r>
          </a:p>
          <a:p>
            <a:pPr algn="l">
              <a:spcAft>
                <a:spcPts val="150"/>
              </a:spcAft>
            </a:pPr>
            <a:r>
              <a:rPr sz="700" b="1">
                <a:solidFill>
                  <a:srgbClr val="112A40"/>
                </a:solidFill>
                <a:latin typeface="Helvetica"/>
              </a:rPr>
              <a:t>10  </a:t>
            </a:r>
            <a:r>
              <a:rPr sz="700" b="0">
                <a:solidFill>
                  <a:srgbClr val="060606"/>
                </a:solidFill>
                <a:latin typeface="Helvetica"/>
              </a:rPr>
              <a:t>Comptes réservés à l'épargne et objectif de couverture.</a:t>
            </a:r>
          </a:p>
          <a:p>
            <a:pPr algn="l">
              <a:spcAft>
                <a:spcPts val="150"/>
              </a:spcAft>
            </a:pPr>
            <a:r>
              <a:rPr sz="700" b="1">
                <a:solidFill>
                  <a:srgbClr val="112A40"/>
                </a:solidFill>
                <a:latin typeface="Helvetica"/>
              </a:rPr>
              <a:t>12  </a:t>
            </a:r>
            <a:r>
              <a:rPr sz="700" b="0">
                <a:solidFill>
                  <a:srgbClr val="060606"/>
                </a:solidFill>
                <a:latin typeface="Helvetica"/>
              </a:rPr>
              <a:t>Évaluer les biens et obtenir un accord de l'État sur la créance.</a:t>
            </a:r>
          </a:p>
          <a:p>
            <a:pPr algn="l">
              <a:spcAft>
                <a:spcPts val="150"/>
              </a:spcAft>
            </a:pPr>
            <a:r>
              <a:rPr sz="700" b="1">
                <a:solidFill>
                  <a:srgbClr val="112A40"/>
                </a:solidFill>
                <a:latin typeface="Helvetica"/>
              </a:rPr>
              <a:t>23  </a:t>
            </a:r>
            <a:r>
              <a:rPr sz="700" b="0">
                <a:solidFill>
                  <a:srgbClr val="060606"/>
                </a:solidFill>
                <a:latin typeface="Helvetica"/>
              </a:rPr>
              <a:t>Faire voter une politique de placement.</a:t>
            </a:r>
          </a:p>
          <a:p>
            <a:pPr algn="l">
              <a:spcAft>
                <a:spcPts val="150"/>
              </a:spcAft>
            </a:pPr>
            <a:r>
              <a:rPr sz="700" b="1">
                <a:solidFill>
                  <a:srgbClr val="112A40"/>
                </a:solidFill>
                <a:latin typeface="Helvetica"/>
              </a:rPr>
              <a:t>13  </a:t>
            </a:r>
            <a:r>
              <a:rPr sz="700" b="0">
                <a:solidFill>
                  <a:srgbClr val="060606"/>
                </a:solidFill>
                <a:latin typeface="Helvetica"/>
              </a:rPr>
              <a:t>Placer à court terme la trésorerie non utilisée.</a:t>
            </a:r>
          </a:p>
          <a:p>
            <a:pPr algn="l">
              <a:spcAft>
                <a:spcPts val="150"/>
              </a:spcAft>
            </a:pPr>
            <a:r>
              <a:rPr sz="700" b="1">
                <a:solidFill>
                  <a:srgbClr val="112A40"/>
                </a:solidFill>
                <a:latin typeface="Helvetica"/>
              </a:rPr>
              <a:t>23.b  </a:t>
            </a:r>
            <a:r>
              <a:rPr sz="700" b="0">
                <a:solidFill>
                  <a:srgbClr val="060606"/>
                </a:solidFill>
                <a:latin typeface="Helvetica"/>
              </a:rPr>
              <a:t>Suivre la valeur liquidative.</a:t>
            </a:r>
          </a:p>
        </p:txBody>
      </p:sp>
      <p:sp>
        <p:nvSpPr>
          <p:cNvPr id="46" name="Rectangle 45"/>
          <p:cNvSpPr/>
          <p:nvPr/>
        </p:nvSpPr>
        <p:spPr>
          <a:xfrm>
            <a:off x="5082000" y="4207867"/>
            <a:ext cx="3300000" cy="943891"/>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150"/>
              </a:spcAft>
            </a:pPr>
            <a:r>
              <a:rPr sz="700" b="1">
                <a:solidFill>
                  <a:srgbClr val="112A40"/>
                </a:solidFill>
                <a:latin typeface="Helvetica"/>
              </a:rPr>
              <a:t>14  </a:t>
            </a:r>
            <a:r>
              <a:rPr sz="700" b="0">
                <a:solidFill>
                  <a:srgbClr val="060606"/>
                </a:solidFill>
                <a:latin typeface="Helvetica"/>
              </a:rPr>
              <a:t>Plan de mise en conformité chiffré présenté à l'AIRMS.</a:t>
            </a:r>
          </a:p>
          <a:p>
            <a:pPr algn="l">
              <a:spcAft>
                <a:spcPts val="150"/>
              </a:spcAft>
            </a:pPr>
            <a:r>
              <a:rPr sz="700" b="1">
                <a:solidFill>
                  <a:srgbClr val="112A40"/>
                </a:solidFill>
                <a:latin typeface="Helvetica"/>
              </a:rPr>
              <a:t>24  </a:t>
            </a:r>
            <a:r>
              <a:rPr sz="700" b="0">
                <a:solidFill>
                  <a:srgbClr val="060606"/>
                </a:solidFill>
                <a:latin typeface="Helvetica"/>
              </a:rPr>
              <a:t>Délibération du conseil d'administration pour chaque placement.</a:t>
            </a:r>
          </a:p>
          <a:p>
            <a:pPr algn="l">
              <a:spcAft>
                <a:spcPts val="150"/>
              </a:spcAft>
            </a:pPr>
            <a:r>
              <a:rPr sz="700" b="1">
                <a:solidFill>
                  <a:srgbClr val="112A40"/>
                </a:solidFill>
                <a:latin typeface="Helvetica"/>
              </a:rPr>
              <a:t>24.a  </a:t>
            </a:r>
            <a:r>
              <a:rPr sz="700" b="0">
                <a:solidFill>
                  <a:srgbClr val="060606"/>
                </a:solidFill>
                <a:latin typeface="Helvetica"/>
              </a:rPr>
              <a:t>Politique actif-passif votée et comité actif-passif.</a:t>
            </a:r>
          </a:p>
          <a:p>
            <a:pPr algn="l">
              <a:spcAft>
                <a:spcPts val="150"/>
              </a:spcAft>
            </a:pPr>
            <a:r>
              <a:rPr sz="700" b="1">
                <a:solidFill>
                  <a:srgbClr val="112A40"/>
                </a:solidFill>
                <a:latin typeface="Helvetica"/>
              </a:rPr>
              <a:t>16  </a:t>
            </a:r>
            <a:r>
              <a:rPr sz="700" b="0">
                <a:solidFill>
                  <a:srgbClr val="060606"/>
                </a:solidFill>
                <a:latin typeface="Helvetica"/>
              </a:rPr>
              <a:t>Budget de fonctionnement avec un objectif de 20 %.</a:t>
            </a:r>
          </a:p>
        </p:txBody>
      </p:sp>
      <p:sp>
        <p:nvSpPr>
          <p:cNvPr id="47" name="Rectangle 46"/>
          <p:cNvSpPr/>
          <p:nvPr/>
        </p:nvSpPr>
        <p:spPr>
          <a:xfrm>
            <a:off x="8418000" y="4207867"/>
            <a:ext cx="3300000" cy="943891"/>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t" wrap="square" lIns="54000" rIns="54000" tIns="28800" bIns="28800"/>
          <a:lstStyle/>
          <a:p>
            <a:pPr algn="l">
              <a:spcAft>
                <a:spcPts val="150"/>
              </a:spcAft>
            </a:pPr>
            <a:r>
              <a:rPr sz="700" b="1">
                <a:solidFill>
                  <a:srgbClr val="112A40"/>
                </a:solidFill>
                <a:latin typeface="Helvetica"/>
              </a:rPr>
              <a:t>26  </a:t>
            </a:r>
            <a:r>
              <a:rPr sz="700" b="0">
                <a:solidFill>
                  <a:srgbClr val="060606"/>
                </a:solidFill>
                <a:latin typeface="Helvetica"/>
              </a:rPr>
              <a:t>Transmettre les données demandées.</a:t>
            </a:r>
          </a:p>
          <a:p>
            <a:pPr algn="l">
              <a:spcAft>
                <a:spcPts val="150"/>
              </a:spcAft>
            </a:pPr>
            <a:r>
              <a:rPr sz="700" b="1">
                <a:solidFill>
                  <a:srgbClr val="112A40"/>
                </a:solidFill>
                <a:latin typeface="Helvetica"/>
              </a:rPr>
              <a:t>26.i  </a:t>
            </a:r>
            <a:r>
              <a:rPr sz="700" b="0">
                <a:solidFill>
                  <a:srgbClr val="060606"/>
                </a:solidFill>
                <a:latin typeface="Helvetica"/>
              </a:rPr>
              <a:t>Extraire du logiciel le fichier complet des mutualistes.</a:t>
            </a:r>
          </a:p>
          <a:p>
            <a:pPr algn="l">
              <a:spcAft>
                <a:spcPts val="150"/>
              </a:spcAft>
            </a:pPr>
            <a:r>
              <a:rPr sz="700" b="1">
                <a:solidFill>
                  <a:srgbClr val="112A40"/>
                </a:solidFill>
                <a:latin typeface="Helvetica"/>
              </a:rPr>
              <a:t>26.k  </a:t>
            </a:r>
            <a:r>
              <a:rPr sz="700" b="0">
                <a:solidFill>
                  <a:srgbClr val="060606"/>
                </a:solidFill>
                <a:latin typeface="Helvetica"/>
              </a:rPr>
              <a:t>Transmettre la table de correspondance.</a:t>
            </a:r>
          </a:p>
          <a:p>
            <a:pPr algn="l">
              <a:spcAft>
                <a:spcPts val="150"/>
              </a:spcAft>
            </a:pPr>
            <a:r>
              <a:rPr sz="700" b="1">
                <a:solidFill>
                  <a:srgbClr val="112A40"/>
                </a:solidFill>
                <a:latin typeface="Helvetica"/>
              </a:rPr>
              <a:t>26.j  </a:t>
            </a:r>
            <a:r>
              <a:rPr sz="700" b="0">
                <a:solidFill>
                  <a:srgbClr val="060606"/>
                </a:solidFill>
                <a:latin typeface="Helvetica"/>
              </a:rPr>
              <a:t>Fournir des exports Excel complets.</a:t>
            </a:r>
          </a:p>
        </p:txBody>
      </p:sp>
      <p:sp>
        <p:nvSpPr>
          <p:cNvPr id="48" name="Rectangle 47"/>
          <p:cNvSpPr/>
          <p:nvPr/>
        </p:nvSpPr>
        <p:spPr>
          <a:xfrm>
            <a:off x="503999" y="5151758"/>
            <a:ext cx="1188000" cy="303494"/>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Complexité</a:t>
            </a:r>
          </a:p>
        </p:txBody>
      </p:sp>
      <p:sp>
        <p:nvSpPr>
          <p:cNvPr id="49" name="Rectangle 48"/>
          <p:cNvSpPr/>
          <p:nvPr/>
        </p:nvSpPr>
        <p:spPr>
          <a:xfrm>
            <a:off x="1745999" y="5151758"/>
            <a:ext cx="3300000" cy="303494"/>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700" b="1">
                <a:solidFill>
                  <a:srgbClr val="112A40"/>
                </a:solidFill>
                <a:latin typeface="Helvetica"/>
              </a:rPr>
              <a:t>11 </a:t>
            </a:r>
            <a:r>
              <a:rPr sz="700" b="1">
                <a:solidFill>
                  <a:srgbClr val="060606"/>
                </a:solidFill>
                <a:latin typeface="Helvetica"/>
              </a:rPr>
              <a:t>Élevée</a:t>
            </a:r>
            <a:r>
              <a:rPr sz="700" b="1">
                <a:solidFill>
                  <a:srgbClr val="112A40"/>
                </a:solidFill>
                <a:latin typeface="Helvetica"/>
              </a:rPr>
              <a:t>     10 </a:t>
            </a:r>
            <a:r>
              <a:rPr sz="700" b="0">
                <a:solidFill>
                  <a:srgbClr val="060606"/>
                </a:solidFill>
                <a:latin typeface="Helvetica"/>
              </a:rPr>
              <a:t>Moyenne</a:t>
            </a:r>
            <a:r>
              <a:rPr sz="700" b="1">
                <a:solidFill>
                  <a:srgbClr val="112A40"/>
                </a:solidFill>
                <a:latin typeface="Helvetica"/>
              </a:rPr>
              <a:t>     12 </a:t>
            </a:r>
            <a:r>
              <a:rPr sz="700" b="1">
                <a:solidFill>
                  <a:srgbClr val="060606"/>
                </a:solidFill>
                <a:latin typeface="Helvetica"/>
              </a:rPr>
              <a:t>Élevée</a:t>
            </a:r>
            <a:r>
              <a:rPr sz="700" b="1">
                <a:solidFill>
                  <a:srgbClr val="112A40"/>
                </a:solidFill>
                <a:latin typeface="Helvetica"/>
              </a:rPr>
              <a:t>     23 </a:t>
            </a:r>
            <a:r>
              <a:rPr sz="700" b="0">
                <a:solidFill>
                  <a:srgbClr val="060606"/>
                </a:solidFill>
                <a:latin typeface="Helvetica"/>
              </a:rPr>
              <a:t>Moyenne</a:t>
            </a:r>
            <a:r>
              <a:rPr sz="700" b="1">
                <a:solidFill>
                  <a:srgbClr val="112A40"/>
                </a:solidFill>
                <a:latin typeface="Helvetica"/>
              </a:rPr>
              <a:t>     13 </a:t>
            </a:r>
            <a:r>
              <a:rPr sz="700" b="0">
                <a:solidFill>
                  <a:srgbClr val="060606"/>
                </a:solidFill>
                <a:latin typeface="Helvetica"/>
              </a:rPr>
              <a:t>Faible</a:t>
            </a:r>
            <a:r>
              <a:rPr sz="700" b="1">
                <a:solidFill>
                  <a:srgbClr val="112A40"/>
                </a:solidFill>
                <a:latin typeface="Helvetica"/>
              </a:rPr>
              <a:t>     23.b </a:t>
            </a:r>
            <a:r>
              <a:rPr sz="700" b="0">
                <a:solidFill>
                  <a:srgbClr val="060606"/>
                </a:solidFill>
                <a:latin typeface="Helvetica"/>
              </a:rPr>
              <a:t>Faible</a:t>
            </a:r>
          </a:p>
        </p:txBody>
      </p:sp>
      <p:sp>
        <p:nvSpPr>
          <p:cNvPr id="50" name="Rectangle 49"/>
          <p:cNvSpPr/>
          <p:nvPr/>
        </p:nvSpPr>
        <p:spPr>
          <a:xfrm>
            <a:off x="5082000" y="5151758"/>
            <a:ext cx="3300000" cy="303494"/>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700" b="1">
                <a:solidFill>
                  <a:srgbClr val="112A40"/>
                </a:solidFill>
                <a:latin typeface="Helvetica"/>
              </a:rPr>
              <a:t>14 </a:t>
            </a:r>
            <a:r>
              <a:rPr sz="700" b="1">
                <a:solidFill>
                  <a:srgbClr val="060606"/>
                </a:solidFill>
                <a:latin typeface="Helvetica"/>
              </a:rPr>
              <a:t>Élevée</a:t>
            </a:r>
            <a:r>
              <a:rPr sz="700" b="1">
                <a:solidFill>
                  <a:srgbClr val="112A40"/>
                </a:solidFill>
                <a:latin typeface="Helvetica"/>
              </a:rPr>
              <a:t>     24 </a:t>
            </a:r>
            <a:r>
              <a:rPr sz="700" b="0">
                <a:solidFill>
                  <a:srgbClr val="060606"/>
                </a:solidFill>
                <a:latin typeface="Helvetica"/>
              </a:rPr>
              <a:t>Faible</a:t>
            </a:r>
            <a:r>
              <a:rPr sz="700" b="1">
                <a:solidFill>
                  <a:srgbClr val="112A40"/>
                </a:solidFill>
                <a:latin typeface="Helvetica"/>
              </a:rPr>
              <a:t>     24.a </a:t>
            </a:r>
            <a:r>
              <a:rPr sz="700" b="0">
                <a:solidFill>
                  <a:srgbClr val="060606"/>
                </a:solidFill>
                <a:latin typeface="Helvetica"/>
              </a:rPr>
              <a:t>Moyenne</a:t>
            </a:r>
            <a:r>
              <a:rPr sz="700" b="1">
                <a:solidFill>
                  <a:srgbClr val="112A40"/>
                </a:solidFill>
                <a:latin typeface="Helvetica"/>
              </a:rPr>
              <a:t>     16 </a:t>
            </a:r>
            <a:r>
              <a:rPr sz="700" b="0">
                <a:solidFill>
                  <a:srgbClr val="060606"/>
                </a:solidFill>
                <a:latin typeface="Helvetica"/>
              </a:rPr>
              <a:t>Moyenne</a:t>
            </a:r>
          </a:p>
        </p:txBody>
      </p:sp>
      <p:sp>
        <p:nvSpPr>
          <p:cNvPr id="51" name="Rectangle 50"/>
          <p:cNvSpPr/>
          <p:nvPr/>
        </p:nvSpPr>
        <p:spPr>
          <a:xfrm>
            <a:off x="8418000" y="5151758"/>
            <a:ext cx="3300000" cy="303494"/>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700" b="1">
                <a:solidFill>
                  <a:srgbClr val="112A40"/>
                </a:solidFill>
                <a:latin typeface="Helvetica"/>
              </a:rPr>
              <a:t>26 </a:t>
            </a:r>
            <a:r>
              <a:rPr sz="700" b="0">
                <a:solidFill>
                  <a:srgbClr val="060606"/>
                </a:solidFill>
                <a:latin typeface="Helvetica"/>
              </a:rPr>
              <a:t>Moyenne</a:t>
            </a:r>
            <a:r>
              <a:rPr sz="700" b="1">
                <a:solidFill>
                  <a:srgbClr val="112A40"/>
                </a:solidFill>
                <a:latin typeface="Helvetica"/>
              </a:rPr>
              <a:t>     26.i </a:t>
            </a:r>
            <a:r>
              <a:rPr sz="700" b="0">
                <a:solidFill>
                  <a:srgbClr val="060606"/>
                </a:solidFill>
                <a:latin typeface="Helvetica"/>
              </a:rPr>
              <a:t>Moyenne</a:t>
            </a:r>
            <a:r>
              <a:rPr sz="700" b="1">
                <a:solidFill>
                  <a:srgbClr val="112A40"/>
                </a:solidFill>
                <a:latin typeface="Helvetica"/>
              </a:rPr>
              <a:t>     26.k </a:t>
            </a:r>
            <a:r>
              <a:rPr sz="700" b="0">
                <a:solidFill>
                  <a:srgbClr val="060606"/>
                </a:solidFill>
                <a:latin typeface="Helvetica"/>
              </a:rPr>
              <a:t>Faible</a:t>
            </a:r>
            <a:r>
              <a:rPr sz="700" b="1">
                <a:solidFill>
                  <a:srgbClr val="112A40"/>
                </a:solidFill>
                <a:latin typeface="Helvetica"/>
              </a:rPr>
              <a:t>     26.j </a:t>
            </a:r>
            <a:r>
              <a:rPr sz="700" b="0">
                <a:solidFill>
                  <a:srgbClr val="060606"/>
                </a:solidFill>
                <a:latin typeface="Helvetica"/>
              </a:rPr>
              <a:t>Faible</a:t>
            </a:r>
          </a:p>
        </p:txBody>
      </p:sp>
      <p:sp>
        <p:nvSpPr>
          <p:cNvPr id="52" name="Rectangle 51"/>
          <p:cNvSpPr/>
          <p:nvPr/>
        </p:nvSpPr>
        <p:spPr>
          <a:xfrm>
            <a:off x="503999" y="5455252"/>
            <a:ext cx="1188000" cy="196747"/>
          </a:xfrm>
          <a:prstGeom prst="rect">
            <a:avLst/>
          </a:prstGeom>
          <a:solidFill>
            <a:srgbClr val="F2F2F2"/>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950" b="1">
                <a:solidFill>
                  <a:srgbClr val="060606"/>
                </a:solidFill>
                <a:latin typeface="Helvetica"/>
              </a:rPr>
              <a:t>Priorité</a:t>
            </a:r>
          </a:p>
        </p:txBody>
      </p:sp>
      <p:sp>
        <p:nvSpPr>
          <p:cNvPr id="53" name="Rectangle 52"/>
          <p:cNvSpPr/>
          <p:nvPr/>
        </p:nvSpPr>
        <p:spPr>
          <a:xfrm>
            <a:off x="1745999" y="5455252"/>
            <a:ext cx="3300000" cy="196747"/>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800" b="1">
                <a:solidFill>
                  <a:srgbClr val="C00000"/>
                </a:solidFill>
                <a:latin typeface="Helvetica"/>
              </a:rPr>
              <a:t>■ </a:t>
            </a:r>
            <a:r>
              <a:rPr sz="700" b="1">
                <a:solidFill>
                  <a:srgbClr val="112A40"/>
                </a:solidFill>
                <a:latin typeface="Helvetica"/>
              </a:rPr>
              <a:t>11 </a:t>
            </a:r>
            <a:r>
              <a:rPr sz="700" b="1">
                <a:solidFill>
                  <a:srgbClr val="C00000"/>
                </a:solidFill>
                <a:latin typeface="Helvetica"/>
              </a:rPr>
              <a:t>P1</a:t>
            </a:r>
            <a:r>
              <a:rPr sz="800" b="1">
                <a:solidFill>
                  <a:srgbClr val="ED7D31"/>
                </a:solidFill>
                <a:latin typeface="Helvetica"/>
              </a:rPr>
              <a:t>     ■ </a:t>
            </a:r>
            <a:r>
              <a:rPr sz="700" b="1">
                <a:solidFill>
                  <a:srgbClr val="112A40"/>
                </a:solidFill>
                <a:latin typeface="Helvetica"/>
              </a:rPr>
              <a:t>10 </a:t>
            </a:r>
            <a:r>
              <a:rPr sz="700" b="1">
                <a:solidFill>
                  <a:srgbClr val="ED7D31"/>
                </a:solidFill>
                <a:latin typeface="Helvetica"/>
              </a:rPr>
              <a:t>P2</a:t>
            </a:r>
            <a:r>
              <a:rPr sz="800" b="1">
                <a:solidFill>
                  <a:srgbClr val="ED7D31"/>
                </a:solidFill>
                <a:latin typeface="Helvetica"/>
              </a:rPr>
              <a:t>     ■ </a:t>
            </a:r>
            <a:r>
              <a:rPr sz="700" b="1">
                <a:solidFill>
                  <a:srgbClr val="112A40"/>
                </a:solidFill>
                <a:latin typeface="Helvetica"/>
              </a:rPr>
              <a:t>12 </a:t>
            </a:r>
            <a:r>
              <a:rPr sz="700" b="1">
                <a:solidFill>
                  <a:srgbClr val="ED7D31"/>
                </a:solidFill>
                <a:latin typeface="Helvetica"/>
              </a:rPr>
              <a:t>P2</a:t>
            </a:r>
            <a:r>
              <a:rPr sz="800" b="1">
                <a:solidFill>
                  <a:srgbClr val="ED7D31"/>
                </a:solidFill>
                <a:latin typeface="Helvetica"/>
              </a:rPr>
              <a:t>     ■ </a:t>
            </a:r>
            <a:r>
              <a:rPr sz="700" b="1">
                <a:solidFill>
                  <a:srgbClr val="112A40"/>
                </a:solidFill>
                <a:latin typeface="Helvetica"/>
              </a:rPr>
              <a:t>23 </a:t>
            </a:r>
            <a:r>
              <a:rPr sz="700" b="1">
                <a:solidFill>
                  <a:srgbClr val="ED7D31"/>
                </a:solidFill>
                <a:latin typeface="Helvetica"/>
              </a:rPr>
              <a:t>P2</a:t>
            </a:r>
            <a:r>
              <a:rPr sz="800" b="1">
                <a:solidFill>
                  <a:srgbClr val="FFC000"/>
                </a:solidFill>
                <a:latin typeface="Helvetica"/>
              </a:rPr>
              <a:t>     ■ </a:t>
            </a:r>
            <a:r>
              <a:rPr sz="700" b="1">
                <a:solidFill>
                  <a:srgbClr val="112A40"/>
                </a:solidFill>
                <a:latin typeface="Helvetica"/>
              </a:rPr>
              <a:t>13 </a:t>
            </a:r>
            <a:r>
              <a:rPr sz="700" b="1">
                <a:solidFill>
                  <a:srgbClr val="FFC000"/>
                </a:solidFill>
                <a:latin typeface="Helvetica"/>
              </a:rPr>
              <a:t>P3</a:t>
            </a:r>
            <a:r>
              <a:rPr sz="800" b="1">
                <a:solidFill>
                  <a:srgbClr val="FFC000"/>
                </a:solidFill>
                <a:latin typeface="Helvetica"/>
              </a:rPr>
              <a:t>     ■ </a:t>
            </a:r>
            <a:r>
              <a:rPr sz="700" b="1">
                <a:solidFill>
                  <a:srgbClr val="112A40"/>
                </a:solidFill>
                <a:latin typeface="Helvetica"/>
              </a:rPr>
              <a:t>23.b </a:t>
            </a:r>
            <a:r>
              <a:rPr sz="700" b="1">
                <a:solidFill>
                  <a:srgbClr val="FFC000"/>
                </a:solidFill>
                <a:latin typeface="Helvetica"/>
              </a:rPr>
              <a:t>P3</a:t>
            </a:r>
          </a:p>
        </p:txBody>
      </p:sp>
      <p:sp>
        <p:nvSpPr>
          <p:cNvPr id="54" name="Rectangle 53"/>
          <p:cNvSpPr/>
          <p:nvPr/>
        </p:nvSpPr>
        <p:spPr>
          <a:xfrm>
            <a:off x="5082000" y="5455252"/>
            <a:ext cx="3300000" cy="196747"/>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800" b="1">
                <a:solidFill>
                  <a:srgbClr val="C00000"/>
                </a:solidFill>
                <a:latin typeface="Helvetica"/>
              </a:rPr>
              <a:t>■ </a:t>
            </a:r>
            <a:r>
              <a:rPr sz="700" b="1">
                <a:solidFill>
                  <a:srgbClr val="112A40"/>
                </a:solidFill>
                <a:latin typeface="Helvetica"/>
              </a:rPr>
              <a:t>14 </a:t>
            </a:r>
            <a:r>
              <a:rPr sz="700" b="1">
                <a:solidFill>
                  <a:srgbClr val="C00000"/>
                </a:solidFill>
                <a:latin typeface="Helvetica"/>
              </a:rPr>
              <a:t>P1</a:t>
            </a:r>
            <a:r>
              <a:rPr sz="800" b="1">
                <a:solidFill>
                  <a:srgbClr val="ED7D31"/>
                </a:solidFill>
                <a:latin typeface="Helvetica"/>
              </a:rPr>
              <a:t>     ■ </a:t>
            </a:r>
            <a:r>
              <a:rPr sz="700" b="1">
                <a:solidFill>
                  <a:srgbClr val="112A40"/>
                </a:solidFill>
                <a:latin typeface="Helvetica"/>
              </a:rPr>
              <a:t>24 </a:t>
            </a:r>
            <a:r>
              <a:rPr sz="700" b="1">
                <a:solidFill>
                  <a:srgbClr val="ED7D31"/>
                </a:solidFill>
                <a:latin typeface="Helvetica"/>
              </a:rPr>
              <a:t>P2</a:t>
            </a:r>
            <a:r>
              <a:rPr sz="800" b="1">
                <a:solidFill>
                  <a:srgbClr val="ED7D31"/>
                </a:solidFill>
                <a:latin typeface="Helvetica"/>
              </a:rPr>
              <a:t>     ■ </a:t>
            </a:r>
            <a:r>
              <a:rPr sz="700" b="1">
                <a:solidFill>
                  <a:srgbClr val="112A40"/>
                </a:solidFill>
                <a:latin typeface="Helvetica"/>
              </a:rPr>
              <a:t>24.a </a:t>
            </a:r>
            <a:r>
              <a:rPr sz="700" b="1">
                <a:solidFill>
                  <a:srgbClr val="ED7D31"/>
                </a:solidFill>
                <a:latin typeface="Helvetica"/>
              </a:rPr>
              <a:t>P2</a:t>
            </a:r>
            <a:r>
              <a:rPr sz="800" b="1">
                <a:solidFill>
                  <a:srgbClr val="FFC000"/>
                </a:solidFill>
                <a:latin typeface="Helvetica"/>
              </a:rPr>
              <a:t>     ■ </a:t>
            </a:r>
            <a:r>
              <a:rPr sz="700" b="1">
                <a:solidFill>
                  <a:srgbClr val="112A40"/>
                </a:solidFill>
                <a:latin typeface="Helvetica"/>
              </a:rPr>
              <a:t>16 </a:t>
            </a:r>
            <a:r>
              <a:rPr sz="700" b="1">
                <a:solidFill>
                  <a:srgbClr val="FFC000"/>
                </a:solidFill>
                <a:latin typeface="Helvetica"/>
              </a:rPr>
              <a:t>P3</a:t>
            </a:r>
          </a:p>
        </p:txBody>
      </p:sp>
      <p:sp>
        <p:nvSpPr>
          <p:cNvPr id="55" name="Rectangle 54"/>
          <p:cNvSpPr/>
          <p:nvPr/>
        </p:nvSpPr>
        <p:spPr>
          <a:xfrm>
            <a:off x="8418000" y="5455252"/>
            <a:ext cx="3300000" cy="196747"/>
          </a:xfrm>
          <a:prstGeom prst="rect">
            <a:avLst/>
          </a:prstGeom>
          <a:no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28800" bIns="28800"/>
          <a:lstStyle/>
          <a:p>
            <a:pPr algn="l"/>
            <a:r>
              <a:rPr sz="800" b="1">
                <a:solidFill>
                  <a:srgbClr val="C00000"/>
                </a:solidFill>
                <a:latin typeface="Helvetica"/>
              </a:rPr>
              <a:t>■ </a:t>
            </a:r>
            <a:r>
              <a:rPr sz="700" b="1">
                <a:solidFill>
                  <a:srgbClr val="112A40"/>
                </a:solidFill>
                <a:latin typeface="Helvetica"/>
              </a:rPr>
              <a:t>26 </a:t>
            </a:r>
            <a:r>
              <a:rPr sz="700" b="1">
                <a:solidFill>
                  <a:srgbClr val="C00000"/>
                </a:solidFill>
                <a:latin typeface="Helvetica"/>
              </a:rPr>
              <a:t>P1</a:t>
            </a:r>
            <a:r>
              <a:rPr sz="800" b="1">
                <a:solidFill>
                  <a:srgbClr val="C00000"/>
                </a:solidFill>
                <a:latin typeface="Helvetica"/>
              </a:rPr>
              <a:t>     ■ </a:t>
            </a:r>
            <a:r>
              <a:rPr sz="700" b="1">
                <a:solidFill>
                  <a:srgbClr val="112A40"/>
                </a:solidFill>
                <a:latin typeface="Helvetica"/>
              </a:rPr>
              <a:t>26.i </a:t>
            </a:r>
            <a:r>
              <a:rPr sz="700" b="1">
                <a:solidFill>
                  <a:srgbClr val="C00000"/>
                </a:solidFill>
                <a:latin typeface="Helvetica"/>
              </a:rPr>
              <a:t>P1</a:t>
            </a:r>
            <a:r>
              <a:rPr sz="800" b="1">
                <a:solidFill>
                  <a:srgbClr val="FFC000"/>
                </a:solidFill>
                <a:latin typeface="Helvetica"/>
              </a:rPr>
              <a:t>     ■ </a:t>
            </a:r>
            <a:r>
              <a:rPr sz="700" b="1">
                <a:solidFill>
                  <a:srgbClr val="112A40"/>
                </a:solidFill>
                <a:latin typeface="Helvetica"/>
              </a:rPr>
              <a:t>26.k </a:t>
            </a:r>
            <a:r>
              <a:rPr sz="700" b="1">
                <a:solidFill>
                  <a:srgbClr val="FFC000"/>
                </a:solidFill>
                <a:latin typeface="Helvetica"/>
              </a:rPr>
              <a:t>P3</a:t>
            </a:r>
            <a:r>
              <a:rPr sz="800" b="1">
                <a:solidFill>
                  <a:srgbClr val="FFC000"/>
                </a:solidFill>
                <a:latin typeface="Helvetica"/>
              </a:rPr>
              <a:t>     ■ </a:t>
            </a:r>
            <a:r>
              <a:rPr sz="700" b="1">
                <a:solidFill>
                  <a:srgbClr val="112A40"/>
                </a:solidFill>
                <a:latin typeface="Helvetica"/>
              </a:rPr>
              <a:t>26.j </a:t>
            </a:r>
            <a:r>
              <a:rPr sz="700" b="1">
                <a:solidFill>
                  <a:srgbClr val="FFC000"/>
                </a:solidFill>
                <a:latin typeface="Helvetica"/>
              </a:rPr>
              <a:t>P3</a:t>
            </a:r>
          </a:p>
        </p:txBody>
      </p:sp>
      <p:sp>
        <p:nvSpPr>
          <p:cNvPr id="56" name="TextBox 55"/>
          <p:cNvSpPr txBox="1"/>
          <p:nvPr/>
        </p:nvSpPr>
        <p:spPr>
          <a:xfrm>
            <a:off x="503999" y="5688000"/>
            <a:ext cx="11232000" cy="162000"/>
          </a:xfrm>
          <a:prstGeom prst="rect">
            <a:avLst/>
          </a:prstGeom>
          <a:noFill/>
        </p:spPr>
        <p:txBody>
          <a:bodyPr wrap="square">
            <a:spAutoFit/>
          </a:bodyPr>
          <a:lstStyle/>
          <a:p>
            <a:r>
              <a:rPr sz="750" b="1">
                <a:solidFill>
                  <a:srgbClr val="060606"/>
                </a:solidFill>
                <a:latin typeface="Helvetica"/>
              </a:rPr>
              <a:t>Criticité du constat : </a:t>
            </a:r>
            <a:r>
              <a:rPr sz="850" b="1">
                <a:solidFill>
                  <a:srgbClr val="C00000"/>
                </a:solidFill>
                <a:latin typeface="Helvetica"/>
              </a:rPr>
              <a:t>● </a:t>
            </a:r>
            <a:r>
              <a:rPr sz="750" b="0">
                <a:solidFill>
                  <a:srgbClr val="060606"/>
                </a:solidFill>
                <a:latin typeface="Helvetica"/>
              </a:rPr>
              <a:t>Critique   </a:t>
            </a:r>
            <a:r>
              <a:rPr sz="850" b="1">
                <a:solidFill>
                  <a:srgbClr val="ED7D31"/>
                </a:solidFill>
                <a:latin typeface="Helvetica"/>
              </a:rPr>
              <a:t>● </a:t>
            </a:r>
            <a:r>
              <a:rPr sz="750" b="0">
                <a:solidFill>
                  <a:srgbClr val="060606"/>
                </a:solidFill>
                <a:latin typeface="Helvetica"/>
              </a:rPr>
              <a:t>Élevé   </a:t>
            </a:r>
            <a:r>
              <a:rPr sz="850" b="1">
                <a:solidFill>
                  <a:srgbClr val="FFC000"/>
                </a:solidFill>
                <a:latin typeface="Helvetica"/>
              </a:rPr>
              <a:t>● </a:t>
            </a:r>
            <a:r>
              <a:rPr sz="750" b="0">
                <a:solidFill>
                  <a:srgbClr val="060606"/>
                </a:solidFill>
                <a:latin typeface="Helvetica"/>
              </a:rPr>
              <a:t>Moyen   </a:t>
            </a:r>
            <a:r>
              <a:rPr sz="850" b="1">
                <a:solidFill>
                  <a:srgbClr val="70AD47"/>
                </a:solidFill>
                <a:latin typeface="Helvetica"/>
              </a:rPr>
              <a:t>● </a:t>
            </a:r>
            <a:r>
              <a:rPr sz="750" b="0">
                <a:solidFill>
                  <a:srgbClr val="060606"/>
                </a:solidFill>
                <a:latin typeface="Helvetica"/>
              </a:rPr>
              <a:t>Faible   </a:t>
            </a:r>
            <a:r>
              <a:rPr sz="750" b="1">
                <a:solidFill>
                  <a:srgbClr val="060606"/>
                </a:solidFill>
                <a:latin typeface="Helvetica"/>
              </a:rPr>
              <a:t>Priorité : </a:t>
            </a:r>
            <a:r>
              <a:rPr sz="850" b="1">
                <a:solidFill>
                  <a:srgbClr val="C00000"/>
                </a:solidFill>
                <a:latin typeface="Helvetica"/>
              </a:rPr>
              <a:t>■ </a:t>
            </a:r>
            <a:r>
              <a:rPr sz="750" b="0">
                <a:solidFill>
                  <a:srgbClr val="060606"/>
                </a:solidFill>
                <a:latin typeface="Helvetica"/>
              </a:rPr>
              <a:t>P1 3 mois   </a:t>
            </a:r>
            <a:r>
              <a:rPr sz="850" b="1">
                <a:solidFill>
                  <a:srgbClr val="ED7D31"/>
                </a:solidFill>
                <a:latin typeface="Helvetica"/>
              </a:rPr>
              <a:t>■ </a:t>
            </a:r>
            <a:r>
              <a:rPr sz="750" b="0">
                <a:solidFill>
                  <a:srgbClr val="060606"/>
                </a:solidFill>
                <a:latin typeface="Helvetica"/>
              </a:rPr>
              <a:t>P2 6 mois   </a:t>
            </a:r>
            <a:r>
              <a:rPr sz="850" b="1">
                <a:solidFill>
                  <a:srgbClr val="FFC000"/>
                </a:solidFill>
                <a:latin typeface="Helvetica"/>
              </a:rPr>
              <a:t>■ </a:t>
            </a:r>
            <a:r>
              <a:rPr sz="750" b="0">
                <a:solidFill>
                  <a:srgbClr val="060606"/>
                </a:solidFill>
                <a:latin typeface="Helvetica"/>
              </a:rPr>
              <a:t>P3 6 à 18 mois   </a:t>
            </a:r>
            <a:r>
              <a:rPr sz="850" b="1">
                <a:solidFill>
                  <a:srgbClr val="70AD47"/>
                </a:solidFill>
                <a:latin typeface="Helvetica"/>
              </a:rPr>
              <a:t>■ </a:t>
            </a:r>
            <a:r>
              <a:rPr sz="750" b="0">
                <a:solidFill>
                  <a:srgbClr val="060606"/>
                </a:solidFill>
                <a:latin typeface="Helvetica"/>
              </a:rPr>
              <a:t>P4 au-delà   </a:t>
            </a:r>
            <a:r>
              <a:rPr sz="750" b="0">
                <a:solidFill>
                  <a:srgbClr val="060606"/>
                </a:solidFill>
                <a:latin typeface="Helvetica"/>
              </a:rPr>
              <a:t>Complexité : Faible (une décision suffit), Moyenne (travail interne), Élevée (tiers ou financement). Numéros : ceux du résumé exécutif.</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Surligné en jaune : affirmation à confirmer par une pièce ou une réponse écrite du FPPN. Sigles : FPPN : Fonds de prévoyance de la Police nationale | AIRMS : Agence ivoirienne de régulation de la mutualité sociale | PEP : Plan Épargne Plus</a:t>
            </a:r>
          </a:p>
        </p:txBody>
      </p:sp>
    </p:spTree>
    <p:extLst>
      <p:ext uri="{BB962C8B-B14F-4D97-AF65-F5344CB8AC3E}">
        <p14:creationId xmlns:p14="http://schemas.microsoft.com/office/powerpoint/2010/main" val="125769404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Circuits des cotisations par produit, avec les contrôles absents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14743593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 la maladie et du décès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fichier envoyé à la Solde est produit hors du FPPN : le recouvrement ne peut pas être mesuré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Logigramme du FPPN redessiné : les cadres rouges signalent les contrôles absents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FLOW_CHART_COTISATION_ET_PRODUITS_DEPARGNE_1.pptx » (FPPN, reçu le 23/10/2026). Contrôles absents : analyses Adenka</a:t>
            </a:r>
          </a:p>
        </p:txBody>
      </p:sp>
      <p:sp>
        <p:nvSpPr>
          <p:cNvPr id="31" name="Rectangle 30"/>
          <p:cNvSpPr/>
          <p:nvPr/>
        </p:nvSpPr>
        <p:spPr>
          <a:xfrm>
            <a:off x="503999" y="1404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Policier</a:t>
            </a:r>
          </a:p>
        </p:txBody>
      </p:sp>
      <p:sp>
        <p:nvSpPr>
          <p:cNvPr id="33" name="Rectangle 32"/>
          <p:cNvSpPr/>
          <p:nvPr/>
        </p:nvSpPr>
        <p:spPr>
          <a:xfrm>
            <a:off x="503999" y="2141999"/>
            <a:ext cx="11232000" cy="73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141999"/>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informatique</a:t>
            </a:r>
          </a:p>
        </p:txBody>
      </p:sp>
      <p:sp>
        <p:nvSpPr>
          <p:cNvPr id="35" name="Rectangle 34"/>
          <p:cNvSpPr/>
          <p:nvPr/>
        </p:nvSpPr>
        <p:spPr>
          <a:xfrm>
            <a:off x="503999" y="2880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2880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Service du personnel</a:t>
            </a:r>
          </a:p>
        </p:txBody>
      </p:sp>
      <p:sp>
        <p:nvSpPr>
          <p:cNvPr id="37" name="Rectangle 36"/>
          <p:cNvSpPr/>
          <p:nvPr/>
        </p:nvSpPr>
        <p:spPr>
          <a:xfrm>
            <a:off x="503999" y="3617999"/>
            <a:ext cx="11232000" cy="73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617999"/>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Trésor (Solde)</a:t>
            </a:r>
          </a:p>
        </p:txBody>
      </p:sp>
      <p:sp>
        <p:nvSpPr>
          <p:cNvPr id="39" name="Rectangle 38"/>
          <p:cNvSpPr/>
          <p:nvPr/>
        </p:nvSpPr>
        <p:spPr>
          <a:xfrm>
            <a:off x="503999" y="4356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3999" y="4356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comptable</a:t>
            </a:r>
          </a:p>
        </p:txBody>
      </p:sp>
      <p:sp>
        <p:nvSpPr>
          <p:cNvPr id="41" name="Logigramme m1"/>
          <p:cNvSpPr/>
          <p:nvPr/>
        </p:nvSpPr>
        <p:spPr>
          <a:xfrm>
            <a:off x="2015999" y="1512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Adhésion</a:t>
            </a:r>
          </a:p>
          <a:p>
            <a:pPr algn="ctr"/>
            <a:r>
              <a:rPr sz="800" b="1">
                <a:solidFill>
                  <a:srgbClr val="FFFFFF"/>
                </a:solidFill>
                <a:latin typeface="Helvetica"/>
              </a:rPr>
              <a:t>fiche d'adhésion</a:t>
            </a:r>
          </a:p>
        </p:txBody>
      </p:sp>
      <p:sp>
        <p:nvSpPr>
          <p:cNvPr id="42" name="Logigramme m2"/>
          <p:cNvSpPr/>
          <p:nvPr/>
        </p:nvSpPr>
        <p:spPr>
          <a:xfrm>
            <a:off x="2015999" y="2169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750" b="1">
                <a:solidFill>
                  <a:srgbClr val="060606"/>
                </a:solidFill>
                <a:latin typeface="Helvetica"/>
              </a:rPr>
              <a:t>Carte de santé</a:t>
            </a:r>
          </a:p>
          <a:p>
            <a:pPr algn="ctr"/>
            <a:r>
              <a:rPr sz="750" b="0">
                <a:solidFill>
                  <a:srgbClr val="060606"/>
                </a:solidFill>
                <a:latin typeface="Helvetica"/>
              </a:rPr>
              <a:t>FPPN ?</a:t>
            </a:r>
          </a:p>
        </p:txBody>
      </p:sp>
      <p:sp>
        <p:nvSpPr>
          <p:cNvPr id="43" name="Logigramme m3"/>
          <p:cNvSpPr/>
          <p:nvPr/>
        </p:nvSpPr>
        <p:spPr>
          <a:xfrm>
            <a:off x="3401999" y="1512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Pas de</a:t>
            </a:r>
          </a:p>
          <a:p>
            <a:pPr algn="ctr"/>
            <a:r>
              <a:rPr sz="800" b="0">
                <a:solidFill>
                  <a:srgbClr val="060606"/>
                </a:solidFill>
                <a:latin typeface="Helvetica"/>
              </a:rPr>
              <a:t>prestation</a:t>
            </a:r>
          </a:p>
        </p:txBody>
      </p:sp>
      <p:sp>
        <p:nvSpPr>
          <p:cNvPr id="44" name="Logigramme m4"/>
          <p:cNvSpPr/>
          <p:nvPr/>
        </p:nvSpPr>
        <p:spPr>
          <a:xfrm>
            <a:off x="4788000" y="224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Intégration</a:t>
            </a:r>
          </a:p>
          <a:p>
            <a:pPr algn="ctr"/>
            <a:r>
              <a:rPr sz="800" b="0">
                <a:solidFill>
                  <a:srgbClr val="060606"/>
                </a:solidFill>
                <a:latin typeface="Helvetica"/>
              </a:rPr>
              <a:t>aux adhérents</a:t>
            </a:r>
          </a:p>
        </p:txBody>
      </p:sp>
      <p:sp>
        <p:nvSpPr>
          <p:cNvPr id="45" name="Logigramme m5"/>
          <p:cNvSpPr/>
          <p:nvPr/>
        </p:nvSpPr>
        <p:spPr>
          <a:xfrm>
            <a:off x="6173999" y="2249999"/>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recensant</a:t>
            </a:r>
          </a:p>
          <a:p>
            <a:pPr algn="ctr"/>
            <a:r>
              <a:rPr sz="800" b="0">
                <a:solidFill>
                  <a:srgbClr val="060606"/>
                </a:solidFill>
                <a:latin typeface="Helvetica"/>
              </a:rPr>
              <a:t>les adhérents</a:t>
            </a:r>
          </a:p>
        </p:txBody>
      </p:sp>
      <p:sp>
        <p:nvSpPr>
          <p:cNvPr id="46" name="Logigramme m6"/>
          <p:cNvSpPr/>
          <p:nvPr/>
        </p:nvSpPr>
        <p:spPr>
          <a:xfrm>
            <a:off x="6173999" y="2988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de précompte</a:t>
            </a:r>
          </a:p>
          <a:p>
            <a:pPr algn="ctr"/>
            <a:r>
              <a:rPr sz="800" b="0">
                <a:solidFill>
                  <a:srgbClr val="060606"/>
                </a:solidFill>
                <a:latin typeface="Helvetica"/>
              </a:rPr>
              <a:t>et calcul des cotisations</a:t>
            </a:r>
          </a:p>
        </p:txBody>
      </p:sp>
      <p:sp>
        <p:nvSpPr>
          <p:cNvPr id="47" name="Logigramme m7"/>
          <p:cNvSpPr/>
          <p:nvPr/>
        </p:nvSpPr>
        <p:spPr>
          <a:xfrm>
            <a:off x="7560000" y="2988000"/>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aller</a:t>
            </a:r>
          </a:p>
          <a:p>
            <a:pPr algn="ctr"/>
            <a:r>
              <a:rPr sz="800" b="0">
                <a:solidFill>
                  <a:srgbClr val="060606"/>
                </a:solidFill>
                <a:latin typeface="Helvetica"/>
              </a:rPr>
              <a:t>936 et 8Z6</a:t>
            </a:r>
          </a:p>
        </p:txBody>
      </p:sp>
      <p:sp>
        <p:nvSpPr>
          <p:cNvPr id="48" name="Logigramme m8"/>
          <p:cNvSpPr/>
          <p:nvPr/>
        </p:nvSpPr>
        <p:spPr>
          <a:xfrm>
            <a:off x="7560000" y="3726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Prélèvement</a:t>
            </a:r>
          </a:p>
          <a:p>
            <a:pPr algn="ctr"/>
            <a:r>
              <a:rPr sz="800" b="0">
                <a:solidFill>
                  <a:srgbClr val="060606"/>
                </a:solidFill>
                <a:latin typeface="Helvetica"/>
              </a:rPr>
              <a:t>sur la solde</a:t>
            </a:r>
          </a:p>
        </p:txBody>
      </p:sp>
      <p:sp>
        <p:nvSpPr>
          <p:cNvPr id="49" name="Logigramme m9"/>
          <p:cNvSpPr/>
          <p:nvPr/>
        </p:nvSpPr>
        <p:spPr>
          <a:xfrm>
            <a:off x="8946000" y="3726000"/>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retour</a:t>
            </a:r>
          </a:p>
          <a:p>
            <a:pPr algn="ctr"/>
            <a:r>
              <a:rPr sz="800" b="0">
                <a:solidFill>
                  <a:srgbClr val="060606"/>
                </a:solidFill>
                <a:latin typeface="Helvetica"/>
              </a:rPr>
              <a:t>papier et numérique</a:t>
            </a:r>
          </a:p>
        </p:txBody>
      </p:sp>
      <p:sp>
        <p:nvSpPr>
          <p:cNvPr id="50" name="Logigramme m10"/>
          <p:cNvSpPr/>
          <p:nvPr/>
        </p:nvSpPr>
        <p:spPr>
          <a:xfrm>
            <a:off x="8946000" y="224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Réception du fichier</a:t>
            </a:r>
          </a:p>
          <a:p>
            <a:pPr algn="ctr"/>
            <a:r>
              <a:rPr sz="800" b="0">
                <a:solidFill>
                  <a:srgbClr val="060606"/>
                </a:solidFill>
                <a:latin typeface="Helvetica"/>
              </a:rPr>
              <a:t>retour numérique</a:t>
            </a:r>
          </a:p>
        </p:txBody>
      </p:sp>
      <p:sp>
        <p:nvSpPr>
          <p:cNvPr id="51" name="Logigramme m11"/>
          <p:cNvSpPr/>
          <p:nvPr/>
        </p:nvSpPr>
        <p:spPr>
          <a:xfrm>
            <a:off x="8946000" y="4464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Affectation des sommes</a:t>
            </a:r>
          </a:p>
          <a:p>
            <a:pPr algn="ctr"/>
            <a:r>
              <a:rPr sz="800" b="0">
                <a:solidFill>
                  <a:srgbClr val="060606"/>
                </a:solidFill>
                <a:latin typeface="Helvetica"/>
              </a:rPr>
              <a:t>aux produits (DFC)</a:t>
            </a:r>
          </a:p>
        </p:txBody>
      </p:sp>
      <p:sp>
        <p:nvSpPr>
          <p:cNvPr id="52" name="Logigramme m12"/>
          <p:cNvSpPr/>
          <p:nvPr/>
        </p:nvSpPr>
        <p:spPr>
          <a:xfrm>
            <a:off x="10332000" y="4464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Comptabilisation</a:t>
            </a:r>
          </a:p>
          <a:p>
            <a:pPr algn="ctr"/>
            <a:r>
              <a:rPr sz="800" b="1">
                <a:solidFill>
                  <a:srgbClr val="FFFFFF"/>
                </a:solidFill>
                <a:latin typeface="Helvetica"/>
              </a:rPr>
              <a:t>des précomptes</a:t>
            </a:r>
          </a:p>
        </p:txBody>
      </p:sp>
      <p:sp>
        <p:nvSpPr>
          <p:cNvPr id="53" name="Logigramme a1"/>
          <p:cNvSpPr/>
          <p:nvPr/>
        </p:nvSpPr>
        <p:spPr>
          <a:xfrm>
            <a:off x="7560000" y="2249999"/>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Fichier aller non</a:t>
            </a:r>
          </a:p>
          <a:p>
            <a:pPr algn="ctr"/>
            <a:r>
              <a:rPr sz="800" b="1">
                <a:solidFill>
                  <a:srgbClr val="C00000"/>
                </a:solidFill>
                <a:latin typeface="Helvetica"/>
              </a:rPr>
              <a:t>transmis au FPPN</a:t>
            </a:r>
          </a:p>
        </p:txBody>
      </p:sp>
      <p:sp>
        <p:nvSpPr>
          <p:cNvPr id="54" name="Logigramme a2"/>
          <p:cNvSpPr/>
          <p:nvPr/>
        </p:nvSpPr>
        <p:spPr>
          <a:xfrm>
            <a:off x="4788000" y="2988000"/>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3,77 % et 1,23 % retenus,</a:t>
            </a:r>
          </a:p>
          <a:p>
            <a:pPr algn="ctr"/>
            <a:r>
              <a:rPr sz="800" b="1">
                <a:solidFill>
                  <a:srgbClr val="C00000"/>
                </a:solidFill>
                <a:latin typeface="Helvetica"/>
              </a:rPr>
              <a:t>statuts : 3,5 % et 1,5 %</a:t>
            </a:r>
          </a:p>
        </p:txBody>
      </p:sp>
      <p:sp>
        <p:nvSpPr>
          <p:cNvPr id="55" name="Logigramme a3"/>
          <p:cNvSpPr/>
          <p:nvPr/>
        </p:nvSpPr>
        <p:spPr>
          <a:xfrm>
            <a:off x="10332000" y="3726000"/>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Décembre 2024 :</a:t>
            </a:r>
          </a:p>
          <a:p>
            <a:pPr algn="ctr"/>
            <a:r>
              <a:rPr sz="800" b="1">
                <a:solidFill>
                  <a:srgbClr val="C00000"/>
                </a:solidFill>
                <a:latin typeface="Helvetica"/>
              </a:rPr>
              <a:t>fichiers vides</a:t>
            </a:r>
          </a:p>
        </p:txBody>
      </p:sp>
      <p:cxnSp>
        <p:nvCxnSpPr>
          <p:cNvPr id="56" name="Flèche m1 vers m2"/>
          <p:cNvCxnSpPr>
            <a:stCxn id="41" idx="2"/>
            <a:endCxn id="42" idx="0"/>
          </p:cNvCxnSpPr>
          <p:nvPr/>
        </p:nvCxnSpPr>
        <p:spPr>
          <a:xfrm flipH="1">
            <a:off x="2627999" y="2034000"/>
            <a:ext cx="0" cy="135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Flèche m2 vers m3"/>
          <p:cNvCxnSpPr>
            <a:stCxn id="42" idx="3"/>
            <a:endCxn id="43" idx="2"/>
          </p:cNvCxnSpPr>
          <p:nvPr/>
        </p:nvCxnSpPr>
        <p:spPr>
          <a:xfrm flipV="1">
            <a:off x="3239999" y="2034000"/>
            <a:ext cx="774000" cy="477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283198" y="2331000"/>
            <a:ext cx="864000" cy="162000"/>
          </a:xfrm>
          <a:prstGeom prst="rect">
            <a:avLst/>
          </a:prstGeom>
          <a:noFill/>
        </p:spPr>
        <p:txBody>
          <a:bodyPr wrap="square" anchor="t" lIns="28800" rIns="28800" tIns="10800" bIns="10800">
            <a:spAutoFit/>
          </a:bodyPr>
          <a:lstStyle/>
          <a:p>
            <a:pPr algn="l"/>
            <a:r>
              <a:rPr sz="650" b="1">
                <a:solidFill>
                  <a:srgbClr val="53565A"/>
                </a:solidFill>
                <a:latin typeface="Helvetica"/>
              </a:rPr>
              <a:t>non</a:t>
            </a:r>
          </a:p>
        </p:txBody>
      </p:sp>
      <p:cxnSp>
        <p:nvCxnSpPr>
          <p:cNvPr id="59" name="Flèche m2 vers m4"/>
          <p:cNvCxnSpPr>
            <a:stCxn id="42" idx="3"/>
            <a:endCxn id="44" idx="1"/>
          </p:cNvCxnSpPr>
          <p:nvPr/>
        </p:nvCxnSpPr>
        <p:spPr>
          <a:xfrm flipV="1">
            <a:off x="3239999" y="2510999"/>
            <a:ext cx="1548001" cy="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283198" y="2331000"/>
            <a:ext cx="864000" cy="162000"/>
          </a:xfrm>
          <a:prstGeom prst="rect">
            <a:avLst/>
          </a:prstGeom>
          <a:noFill/>
        </p:spPr>
        <p:txBody>
          <a:bodyPr wrap="square" anchor="t" lIns="28800" rIns="28800" tIns="10800" bIns="10800">
            <a:spAutoFit/>
          </a:bodyPr>
          <a:lstStyle/>
          <a:p>
            <a:pPr algn="l"/>
            <a:r>
              <a:rPr sz="650" b="1">
                <a:solidFill>
                  <a:srgbClr val="53565A"/>
                </a:solidFill>
                <a:latin typeface="Helvetica"/>
              </a:rPr>
              <a:t>oui</a:t>
            </a:r>
          </a:p>
        </p:txBody>
      </p:sp>
      <p:cxnSp>
        <p:nvCxnSpPr>
          <p:cNvPr id="61" name="Flèche m4 vers m5"/>
          <p:cNvCxnSpPr>
            <a:stCxn id="44" idx="3"/>
            <a:endCxn id="45" idx="1"/>
          </p:cNvCxnSpPr>
          <p:nvPr/>
        </p:nvCxnSpPr>
        <p:spPr>
          <a:xfrm flipV="1">
            <a:off x="6012000" y="2510999"/>
            <a:ext cx="161999"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Flèche m5 vers m6"/>
          <p:cNvCxnSpPr>
            <a:stCxn id="45" idx="2"/>
            <a:endCxn id="46" idx="0"/>
          </p:cNvCxnSpPr>
          <p:nvPr/>
        </p:nvCxnSpPr>
        <p:spPr>
          <a:xfrm flipH="1">
            <a:off x="6785999" y="2771999"/>
            <a:ext cx="0" cy="216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m6 vers m7"/>
          <p:cNvCxnSpPr>
            <a:stCxn id="46" idx="3"/>
            <a:endCxn id="47" idx="1"/>
          </p:cNvCxnSpPr>
          <p:nvPr/>
        </p:nvCxnSpPr>
        <p:spPr>
          <a:xfrm flipV="1">
            <a:off x="7397999" y="3249000"/>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m7 vers m8"/>
          <p:cNvCxnSpPr>
            <a:stCxn id="47" idx="2"/>
            <a:endCxn id="48" idx="0"/>
          </p:cNvCxnSpPr>
          <p:nvPr/>
        </p:nvCxnSpPr>
        <p:spPr>
          <a:xfrm flipH="1">
            <a:off x="8172000" y="3510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m8 vers m9"/>
          <p:cNvCxnSpPr>
            <a:stCxn id="48" idx="3"/>
            <a:endCxn id="49" idx="1"/>
          </p:cNvCxnSpPr>
          <p:nvPr/>
        </p:nvCxnSpPr>
        <p:spPr>
          <a:xfrm flipV="1">
            <a:off x="8784000" y="3987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m9 vers m10"/>
          <p:cNvCxnSpPr>
            <a:stCxn id="49" idx="0"/>
            <a:endCxn id="50" idx="2"/>
          </p:cNvCxnSpPr>
          <p:nvPr/>
        </p:nvCxnSpPr>
        <p:spPr>
          <a:xfrm flipH="1" flipV="1">
            <a:off x="9558000" y="2771999"/>
            <a:ext cx="0" cy="95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Flèche m9 vers m11"/>
          <p:cNvCxnSpPr>
            <a:stCxn id="49" idx="2"/>
            <a:endCxn id="51" idx="0"/>
          </p:cNvCxnSpPr>
          <p:nvPr/>
        </p:nvCxnSpPr>
        <p:spPr>
          <a:xfrm flipH="1">
            <a:off x="9558000" y="4248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Flèche m11 vers m12"/>
          <p:cNvCxnSpPr>
            <a:stCxn id="51" idx="3"/>
            <a:endCxn id="52" idx="1"/>
          </p:cNvCxnSpPr>
          <p:nvPr/>
        </p:nvCxnSpPr>
        <p:spPr>
          <a:xfrm flipV="1">
            <a:off x="10170000" y="472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Flèche m7 vers a1"/>
          <p:cNvCxnSpPr>
            <a:stCxn id="47" idx="0"/>
            <a:endCxn id="53" idx="2"/>
          </p:cNvCxnSpPr>
          <p:nvPr/>
        </p:nvCxnSpPr>
        <p:spPr>
          <a:xfrm flipH="1" flipV="1">
            <a:off x="8172000" y="2771999"/>
            <a:ext cx="0" cy="216001"/>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Flèche m6 vers a2"/>
          <p:cNvCxnSpPr>
            <a:stCxn id="46" idx="1"/>
            <a:endCxn id="54" idx="3"/>
          </p:cNvCxnSpPr>
          <p:nvPr/>
        </p:nvCxnSpPr>
        <p:spPr>
          <a:xfrm flipH="1" flipV="1">
            <a:off x="6012000" y="3249000"/>
            <a:ext cx="161999"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1" name="Flèche m9 vers a3"/>
          <p:cNvCxnSpPr>
            <a:stCxn id="49" idx="3"/>
            <a:endCxn id="55" idx="1"/>
          </p:cNvCxnSpPr>
          <p:nvPr/>
        </p:nvCxnSpPr>
        <p:spPr>
          <a:xfrm flipV="1">
            <a:off x="10170000" y="3987000"/>
            <a:ext cx="162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03999" y="5184000"/>
            <a:ext cx="11232000" cy="684000"/>
          </a:xfrm>
          <a:prstGeom prst="rect">
            <a:avLst/>
          </a:prstGeom>
          <a:noFill/>
        </p:spPr>
        <p:txBody>
          <a:bodyPr wrap="square" lIns="54000" rIns="54000"/>
          <a:lstStyle/>
          <a:p>
            <a:pPr algn="just">
              <a:spcAft>
                <a:spcPts val="600"/>
              </a:spcAft>
            </a:pPr>
            <a:r>
              <a:rPr sz="1200" b="1">
                <a:solidFill>
                  <a:srgbClr val="060606"/>
                </a:solidFill>
                <a:latin typeface="Helvetica"/>
              </a:rPr>
              <a:t>Le service du personnel calcule et transmet le fichier sans le communiquer au FPPN.</a:t>
            </a:r>
            <a:r>
              <a:rPr sz="1200" b="0">
                <a:solidFill>
                  <a:srgbClr val="060606"/>
                </a:solidFill>
                <a:latin typeface="Helvetica"/>
              </a:rPr>
              <a:t> Le FPPN ne peut ni vérifier les taux retenus (3,77 % et 1,23 % au lieu de 3,50 % et 1,50 %), ni mesurer le taux de recouvrement (constats 20 et 27).</a:t>
            </a:r>
          </a:p>
        </p:txBody>
      </p:sp>
      <p:sp>
        <p:nvSpPr>
          <p:cNvPr id="73" name="TextBox 72"/>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936 : poste maladie | 8Z6 : poste décès</a:t>
            </a:r>
          </a:p>
        </p:txBody>
      </p:sp>
    </p:spTree>
    <p:extLst>
      <p:ext uri="{BB962C8B-B14F-4D97-AF65-F5344CB8AC3E}">
        <p14:creationId xmlns:p14="http://schemas.microsoft.com/office/powerpoint/2010/main" val="60167213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 l'EFC et du PEP</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produit le fichier de l'épargne, mais ne compare pas l'envoi et le retour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Logigramme du FPPN redessiné : les cadres rouges signalent les contrôles absents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FLOW_CHART_COTISATION_ET_PRODUITS_DEPARGNE_1.pptx » (FPPN, reçu le 23/10/2026). Contrôles absents : analyses Adenka</a:t>
            </a:r>
          </a:p>
        </p:txBody>
      </p:sp>
      <p:sp>
        <p:nvSpPr>
          <p:cNvPr id="31" name="Rectangle 30"/>
          <p:cNvSpPr/>
          <p:nvPr/>
        </p:nvSpPr>
        <p:spPr>
          <a:xfrm>
            <a:off x="503999" y="1404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Policier</a:t>
            </a:r>
          </a:p>
        </p:txBody>
      </p:sp>
      <p:sp>
        <p:nvSpPr>
          <p:cNvPr id="33" name="Rectangle 32"/>
          <p:cNvSpPr/>
          <p:nvPr/>
        </p:nvSpPr>
        <p:spPr>
          <a:xfrm>
            <a:off x="503999" y="2141999"/>
            <a:ext cx="11232000" cy="73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141999"/>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informatique</a:t>
            </a:r>
          </a:p>
        </p:txBody>
      </p:sp>
      <p:sp>
        <p:nvSpPr>
          <p:cNvPr id="35" name="Rectangle 34"/>
          <p:cNvSpPr/>
          <p:nvPr/>
        </p:nvSpPr>
        <p:spPr>
          <a:xfrm>
            <a:off x="503999" y="2880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2880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Service du personnel</a:t>
            </a:r>
          </a:p>
        </p:txBody>
      </p:sp>
      <p:sp>
        <p:nvSpPr>
          <p:cNvPr id="37" name="Rectangle 36"/>
          <p:cNvSpPr/>
          <p:nvPr/>
        </p:nvSpPr>
        <p:spPr>
          <a:xfrm>
            <a:off x="503999" y="3617999"/>
            <a:ext cx="11232000" cy="73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617999"/>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Trésor (Solde)</a:t>
            </a:r>
          </a:p>
        </p:txBody>
      </p:sp>
      <p:sp>
        <p:nvSpPr>
          <p:cNvPr id="39" name="Rectangle 38"/>
          <p:cNvSpPr/>
          <p:nvPr/>
        </p:nvSpPr>
        <p:spPr>
          <a:xfrm>
            <a:off x="503999" y="4356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3999" y="4356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comptable</a:t>
            </a:r>
          </a:p>
        </p:txBody>
      </p:sp>
      <p:sp>
        <p:nvSpPr>
          <p:cNvPr id="41" name="Logigramme e1"/>
          <p:cNvSpPr/>
          <p:nvPr/>
        </p:nvSpPr>
        <p:spPr>
          <a:xfrm>
            <a:off x="2015999" y="1512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Adhésion</a:t>
            </a:r>
          </a:p>
          <a:p>
            <a:pPr algn="ctr"/>
            <a:r>
              <a:rPr sz="800" b="1">
                <a:solidFill>
                  <a:srgbClr val="FFFFFF"/>
                </a:solidFill>
                <a:latin typeface="Helvetica"/>
              </a:rPr>
              <a:t>fiche d'adhésion</a:t>
            </a:r>
          </a:p>
        </p:txBody>
      </p:sp>
      <p:sp>
        <p:nvSpPr>
          <p:cNvPr id="42" name="Logigramme e2"/>
          <p:cNvSpPr/>
          <p:nvPr/>
        </p:nvSpPr>
        <p:spPr>
          <a:xfrm>
            <a:off x="2015999" y="2169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750" b="0">
                <a:solidFill>
                  <a:srgbClr val="060606"/>
                </a:solidFill>
                <a:latin typeface="Helvetica"/>
              </a:rPr>
              <a:t>Mécano ?</a:t>
            </a:r>
          </a:p>
        </p:txBody>
      </p:sp>
      <p:sp>
        <p:nvSpPr>
          <p:cNvPr id="43" name="Logigramme e3"/>
          <p:cNvSpPr/>
          <p:nvPr/>
        </p:nvSpPr>
        <p:spPr>
          <a:xfrm>
            <a:off x="3401999" y="2988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Création du mécano</a:t>
            </a:r>
          </a:p>
          <a:p>
            <a:pPr algn="ctr"/>
            <a:r>
              <a:rPr sz="800" b="0">
                <a:solidFill>
                  <a:srgbClr val="060606"/>
                </a:solidFill>
                <a:latin typeface="Helvetica"/>
              </a:rPr>
              <a:t>et ajout à la fiche</a:t>
            </a:r>
          </a:p>
        </p:txBody>
      </p:sp>
      <p:sp>
        <p:nvSpPr>
          <p:cNvPr id="44" name="Logigramme e4"/>
          <p:cNvSpPr/>
          <p:nvPr/>
        </p:nvSpPr>
        <p:spPr>
          <a:xfrm>
            <a:off x="4788000" y="224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Intégration dans</a:t>
            </a:r>
          </a:p>
          <a:p>
            <a:pPr algn="ctr"/>
            <a:r>
              <a:rPr sz="800" b="0">
                <a:solidFill>
                  <a:srgbClr val="060606"/>
                </a:solidFill>
                <a:latin typeface="Helvetica"/>
              </a:rPr>
              <a:t>Easy money</a:t>
            </a:r>
          </a:p>
        </p:txBody>
      </p:sp>
      <p:sp>
        <p:nvSpPr>
          <p:cNvPr id="45" name="Logigramme e5"/>
          <p:cNvSpPr/>
          <p:nvPr/>
        </p:nvSpPr>
        <p:spPr>
          <a:xfrm>
            <a:off x="6173999" y="2249999"/>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recensant</a:t>
            </a:r>
          </a:p>
          <a:p>
            <a:pPr algn="ctr"/>
            <a:r>
              <a:rPr sz="800" b="0">
                <a:solidFill>
                  <a:srgbClr val="060606"/>
                </a:solidFill>
                <a:latin typeface="Helvetica"/>
              </a:rPr>
              <a:t>les adhérents</a:t>
            </a:r>
          </a:p>
        </p:txBody>
      </p:sp>
      <p:sp>
        <p:nvSpPr>
          <p:cNvPr id="46" name="Logigramme e6"/>
          <p:cNvSpPr/>
          <p:nvPr/>
        </p:nvSpPr>
        <p:spPr>
          <a:xfrm>
            <a:off x="6173999" y="2988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de précompte</a:t>
            </a:r>
          </a:p>
          <a:p>
            <a:pPr algn="ctr"/>
            <a:r>
              <a:rPr sz="800" b="0">
                <a:solidFill>
                  <a:srgbClr val="060606"/>
                </a:solidFill>
                <a:latin typeface="Helvetica"/>
              </a:rPr>
              <a:t>et calcul des cotisations</a:t>
            </a:r>
          </a:p>
        </p:txBody>
      </p:sp>
      <p:sp>
        <p:nvSpPr>
          <p:cNvPr id="47" name="Logigramme e7"/>
          <p:cNvSpPr/>
          <p:nvPr/>
        </p:nvSpPr>
        <p:spPr>
          <a:xfrm>
            <a:off x="7560000" y="2988000"/>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0">
                <a:solidFill>
                  <a:srgbClr val="060606"/>
                </a:solidFill>
                <a:latin typeface="Helvetica"/>
              </a:rPr>
              <a:t>Fichier aller</a:t>
            </a:r>
          </a:p>
        </p:txBody>
      </p:sp>
      <p:sp>
        <p:nvSpPr>
          <p:cNvPr id="48" name="Logigramme e8"/>
          <p:cNvSpPr/>
          <p:nvPr/>
        </p:nvSpPr>
        <p:spPr>
          <a:xfrm>
            <a:off x="7560000" y="3726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Prélèvement</a:t>
            </a:r>
          </a:p>
          <a:p>
            <a:pPr algn="ctr"/>
            <a:r>
              <a:rPr sz="800" b="0">
                <a:solidFill>
                  <a:srgbClr val="060606"/>
                </a:solidFill>
                <a:latin typeface="Helvetica"/>
              </a:rPr>
              <a:t>sur salaire</a:t>
            </a:r>
          </a:p>
        </p:txBody>
      </p:sp>
      <p:sp>
        <p:nvSpPr>
          <p:cNvPr id="49" name="Logigramme e9"/>
          <p:cNvSpPr/>
          <p:nvPr/>
        </p:nvSpPr>
        <p:spPr>
          <a:xfrm>
            <a:off x="8946000" y="3726000"/>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retour</a:t>
            </a:r>
          </a:p>
          <a:p>
            <a:pPr algn="ctr"/>
            <a:r>
              <a:rPr sz="800" b="0">
                <a:solidFill>
                  <a:srgbClr val="060606"/>
                </a:solidFill>
                <a:latin typeface="Helvetica"/>
              </a:rPr>
              <a:t>papier et numérique</a:t>
            </a:r>
          </a:p>
        </p:txBody>
      </p:sp>
      <p:sp>
        <p:nvSpPr>
          <p:cNvPr id="50" name="Logigramme e10"/>
          <p:cNvSpPr/>
          <p:nvPr/>
        </p:nvSpPr>
        <p:spPr>
          <a:xfrm>
            <a:off x="8946000" y="224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Réception du fichier</a:t>
            </a:r>
          </a:p>
          <a:p>
            <a:pPr algn="ctr"/>
            <a:r>
              <a:rPr sz="800" b="0">
                <a:solidFill>
                  <a:srgbClr val="060606"/>
                </a:solidFill>
                <a:latin typeface="Helvetica"/>
              </a:rPr>
              <a:t>retour numérique</a:t>
            </a:r>
          </a:p>
        </p:txBody>
      </p:sp>
      <p:sp>
        <p:nvSpPr>
          <p:cNvPr id="51" name="Logigramme e11"/>
          <p:cNvSpPr/>
          <p:nvPr/>
        </p:nvSpPr>
        <p:spPr>
          <a:xfrm>
            <a:off x="8946000" y="4464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Affectation des sommes</a:t>
            </a:r>
          </a:p>
          <a:p>
            <a:pPr algn="ctr"/>
            <a:r>
              <a:rPr sz="800" b="0">
                <a:solidFill>
                  <a:srgbClr val="060606"/>
                </a:solidFill>
                <a:latin typeface="Helvetica"/>
              </a:rPr>
              <a:t>aux produits (DFC)</a:t>
            </a:r>
          </a:p>
        </p:txBody>
      </p:sp>
      <p:sp>
        <p:nvSpPr>
          <p:cNvPr id="52" name="Logigramme e12"/>
          <p:cNvSpPr/>
          <p:nvPr/>
        </p:nvSpPr>
        <p:spPr>
          <a:xfrm>
            <a:off x="10332000" y="4464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Comptabilisation</a:t>
            </a:r>
          </a:p>
          <a:p>
            <a:pPr algn="ctr"/>
            <a:r>
              <a:rPr sz="800" b="1">
                <a:solidFill>
                  <a:srgbClr val="FFFFFF"/>
                </a:solidFill>
                <a:latin typeface="Helvetica"/>
              </a:rPr>
              <a:t>des précomptes</a:t>
            </a:r>
          </a:p>
        </p:txBody>
      </p:sp>
      <p:sp>
        <p:nvSpPr>
          <p:cNvPr id="53" name="Logigramme a1"/>
          <p:cNvSpPr/>
          <p:nvPr/>
        </p:nvSpPr>
        <p:spPr>
          <a:xfrm>
            <a:off x="10332000" y="2249999"/>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Aucun rapprochement</a:t>
            </a:r>
          </a:p>
          <a:p>
            <a:pPr algn="ctr"/>
            <a:r>
              <a:rPr sz="800" b="1">
                <a:solidFill>
                  <a:srgbClr val="C00000"/>
                </a:solidFill>
                <a:latin typeface="Helvetica"/>
              </a:rPr>
              <a:t>des fichiers aller et retour</a:t>
            </a:r>
          </a:p>
        </p:txBody>
      </p:sp>
      <p:sp>
        <p:nvSpPr>
          <p:cNvPr id="54" name="Logigramme a2"/>
          <p:cNvSpPr/>
          <p:nvPr/>
        </p:nvSpPr>
        <p:spPr>
          <a:xfrm>
            <a:off x="10332000" y="3726000"/>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Aucun intérêt calculé,</a:t>
            </a:r>
          </a:p>
          <a:p>
            <a:pPr algn="ctr"/>
            <a:r>
              <a:rPr sz="800" b="1">
                <a:solidFill>
                  <a:srgbClr val="C00000"/>
                </a:solidFill>
                <a:latin typeface="Helvetica"/>
              </a:rPr>
              <a:t>aucun relevé individuel</a:t>
            </a:r>
          </a:p>
        </p:txBody>
      </p:sp>
      <p:cxnSp>
        <p:nvCxnSpPr>
          <p:cNvPr id="55" name="Flèche e1 vers e2"/>
          <p:cNvCxnSpPr>
            <a:stCxn id="41" idx="2"/>
            <a:endCxn id="42" idx="0"/>
          </p:cNvCxnSpPr>
          <p:nvPr/>
        </p:nvCxnSpPr>
        <p:spPr>
          <a:xfrm flipH="1">
            <a:off x="2627999" y="2034000"/>
            <a:ext cx="0" cy="135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Flèche e2 vers e3"/>
          <p:cNvCxnSpPr>
            <a:stCxn id="42" idx="2"/>
            <a:endCxn id="43" idx="1"/>
          </p:cNvCxnSpPr>
          <p:nvPr/>
        </p:nvCxnSpPr>
        <p:spPr>
          <a:xfrm>
            <a:off x="2627999" y="2853000"/>
            <a:ext cx="774000" cy="396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681999" y="2871000"/>
            <a:ext cx="864000" cy="162000"/>
          </a:xfrm>
          <a:prstGeom prst="rect">
            <a:avLst/>
          </a:prstGeom>
          <a:noFill/>
        </p:spPr>
        <p:txBody>
          <a:bodyPr wrap="square" anchor="t" lIns="28800" rIns="28800" tIns="10800" bIns="10800">
            <a:spAutoFit/>
          </a:bodyPr>
          <a:lstStyle/>
          <a:p>
            <a:pPr algn="l"/>
            <a:r>
              <a:rPr sz="650" b="1">
                <a:solidFill>
                  <a:srgbClr val="53565A"/>
                </a:solidFill>
                <a:latin typeface="Helvetica"/>
              </a:rPr>
              <a:t>non</a:t>
            </a:r>
          </a:p>
        </p:txBody>
      </p:sp>
      <p:cxnSp>
        <p:nvCxnSpPr>
          <p:cNvPr id="58" name="Flèche e2 vers e4"/>
          <p:cNvCxnSpPr>
            <a:stCxn id="42" idx="3"/>
            <a:endCxn id="44" idx="1"/>
          </p:cNvCxnSpPr>
          <p:nvPr/>
        </p:nvCxnSpPr>
        <p:spPr>
          <a:xfrm flipV="1">
            <a:off x="3239999" y="2510999"/>
            <a:ext cx="1548001" cy="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283198" y="2331000"/>
            <a:ext cx="864000" cy="162000"/>
          </a:xfrm>
          <a:prstGeom prst="rect">
            <a:avLst/>
          </a:prstGeom>
          <a:noFill/>
        </p:spPr>
        <p:txBody>
          <a:bodyPr wrap="square" anchor="t" lIns="28800" rIns="28800" tIns="10800" bIns="10800">
            <a:spAutoFit/>
          </a:bodyPr>
          <a:lstStyle/>
          <a:p>
            <a:pPr algn="l"/>
            <a:r>
              <a:rPr sz="650" b="1">
                <a:solidFill>
                  <a:srgbClr val="53565A"/>
                </a:solidFill>
                <a:latin typeface="Helvetica"/>
              </a:rPr>
              <a:t>oui</a:t>
            </a:r>
          </a:p>
        </p:txBody>
      </p:sp>
      <p:cxnSp>
        <p:nvCxnSpPr>
          <p:cNvPr id="60" name="Flèche e3 vers e4"/>
          <p:cNvCxnSpPr>
            <a:stCxn id="43" idx="3"/>
            <a:endCxn id="44" idx="2"/>
          </p:cNvCxnSpPr>
          <p:nvPr/>
        </p:nvCxnSpPr>
        <p:spPr>
          <a:xfrm flipV="1">
            <a:off x="4625999" y="2771999"/>
            <a:ext cx="774001" cy="4770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e4 vers e5"/>
          <p:cNvCxnSpPr>
            <a:stCxn id="44" idx="3"/>
            <a:endCxn id="45" idx="1"/>
          </p:cNvCxnSpPr>
          <p:nvPr/>
        </p:nvCxnSpPr>
        <p:spPr>
          <a:xfrm flipV="1">
            <a:off x="6012000" y="2510999"/>
            <a:ext cx="161999"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Flèche e5 vers e6"/>
          <p:cNvCxnSpPr>
            <a:stCxn id="45" idx="2"/>
            <a:endCxn id="46" idx="0"/>
          </p:cNvCxnSpPr>
          <p:nvPr/>
        </p:nvCxnSpPr>
        <p:spPr>
          <a:xfrm flipH="1">
            <a:off x="6785999" y="2771999"/>
            <a:ext cx="0" cy="216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e6 vers e7"/>
          <p:cNvCxnSpPr>
            <a:stCxn id="46" idx="3"/>
            <a:endCxn id="47" idx="1"/>
          </p:cNvCxnSpPr>
          <p:nvPr/>
        </p:nvCxnSpPr>
        <p:spPr>
          <a:xfrm flipV="1">
            <a:off x="7397999" y="3249000"/>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e7 vers e8"/>
          <p:cNvCxnSpPr>
            <a:stCxn id="47" idx="2"/>
            <a:endCxn id="48" idx="0"/>
          </p:cNvCxnSpPr>
          <p:nvPr/>
        </p:nvCxnSpPr>
        <p:spPr>
          <a:xfrm flipH="1">
            <a:off x="8172000" y="3510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e8 vers e9"/>
          <p:cNvCxnSpPr>
            <a:stCxn id="48" idx="3"/>
            <a:endCxn id="49" idx="1"/>
          </p:cNvCxnSpPr>
          <p:nvPr/>
        </p:nvCxnSpPr>
        <p:spPr>
          <a:xfrm flipV="1">
            <a:off x="8784000" y="3987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e9 vers e10"/>
          <p:cNvCxnSpPr>
            <a:stCxn id="49" idx="0"/>
            <a:endCxn id="50" idx="2"/>
          </p:cNvCxnSpPr>
          <p:nvPr/>
        </p:nvCxnSpPr>
        <p:spPr>
          <a:xfrm flipH="1" flipV="1">
            <a:off x="9558000" y="2771999"/>
            <a:ext cx="0" cy="95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Flèche e9 vers e11"/>
          <p:cNvCxnSpPr>
            <a:stCxn id="49" idx="2"/>
            <a:endCxn id="51" idx="0"/>
          </p:cNvCxnSpPr>
          <p:nvPr/>
        </p:nvCxnSpPr>
        <p:spPr>
          <a:xfrm flipH="1">
            <a:off x="9558000" y="4248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Flèche e11 vers e12"/>
          <p:cNvCxnSpPr>
            <a:stCxn id="51" idx="3"/>
            <a:endCxn id="52" idx="1"/>
          </p:cNvCxnSpPr>
          <p:nvPr/>
        </p:nvCxnSpPr>
        <p:spPr>
          <a:xfrm flipV="1">
            <a:off x="10170000" y="472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Flèche e10 vers a1"/>
          <p:cNvCxnSpPr>
            <a:stCxn id="50" idx="3"/>
            <a:endCxn id="53" idx="1"/>
          </p:cNvCxnSpPr>
          <p:nvPr/>
        </p:nvCxnSpPr>
        <p:spPr>
          <a:xfrm flipV="1">
            <a:off x="10170000" y="2510999"/>
            <a:ext cx="162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Flèche e12 vers a2"/>
          <p:cNvCxnSpPr>
            <a:stCxn id="52" idx="0"/>
            <a:endCxn id="54" idx="2"/>
          </p:cNvCxnSpPr>
          <p:nvPr/>
        </p:nvCxnSpPr>
        <p:spPr>
          <a:xfrm flipH="1" flipV="1">
            <a:off x="10944000" y="4248000"/>
            <a:ext cx="0" cy="21600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03999" y="5184000"/>
            <a:ext cx="11232000" cy="684000"/>
          </a:xfrm>
          <a:prstGeom prst="rect">
            <a:avLst/>
          </a:prstGeom>
          <a:noFill/>
        </p:spPr>
        <p:txBody>
          <a:bodyPr wrap="square" lIns="54000" rIns="54000"/>
          <a:lstStyle/>
          <a:p>
            <a:pPr algn="just">
              <a:spcAft>
                <a:spcPts val="600"/>
              </a:spcAft>
            </a:pPr>
            <a:r>
              <a:rPr sz="1200" b="1">
                <a:solidFill>
                  <a:srgbClr val="060606"/>
                </a:solidFill>
                <a:latin typeface="Helvetica"/>
              </a:rPr>
              <a:t>Le circuit s'arrête à l'enregistrement des prélèvements.</a:t>
            </a:r>
            <a:r>
              <a:rPr sz="1200" b="0">
                <a:solidFill>
                  <a:srgbClr val="060606"/>
                </a:solidFill>
                <a:latin typeface="Helvetica"/>
              </a:rPr>
              <a:t> Aucune étape ne compare les fichiers, ne calcule les intérêts dus ni ne produit de relevé par épargnant (constats 6, 8 et 27).</a:t>
            </a:r>
          </a:p>
        </p:txBody>
      </p:sp>
      <p:sp>
        <p:nvSpPr>
          <p:cNvPr id="72" name="TextBox 7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339815137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 la flotte automobile (GNA)</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encaisse une commission de 20 % dont la base n'est pas documentée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Logigramme du FPPN redessiné : les cadres rouges signalent les contrôles absents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FLOW_CHART_COTISATION_ET_PRODUITS_DEPARGNE_1.pptx » (FPPN, reçu le 23/10/2026). Contrôles absents : analyses Adenka</a:t>
            </a:r>
          </a:p>
        </p:txBody>
      </p:sp>
      <p:sp>
        <p:nvSpPr>
          <p:cNvPr id="31" name="Rectangle 30"/>
          <p:cNvSpPr/>
          <p:nvPr/>
        </p:nvSpPr>
        <p:spPr>
          <a:xfrm>
            <a:off x="503999" y="1404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Policier</a:t>
            </a:r>
          </a:p>
        </p:txBody>
      </p:sp>
      <p:sp>
        <p:nvSpPr>
          <p:cNvPr id="33" name="Rectangle 32"/>
          <p:cNvSpPr/>
          <p:nvPr/>
        </p:nvSpPr>
        <p:spPr>
          <a:xfrm>
            <a:off x="503999" y="2141999"/>
            <a:ext cx="11232000" cy="73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141999"/>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informatique</a:t>
            </a:r>
          </a:p>
        </p:txBody>
      </p:sp>
      <p:sp>
        <p:nvSpPr>
          <p:cNvPr id="35" name="Rectangle 34"/>
          <p:cNvSpPr/>
          <p:nvPr/>
        </p:nvSpPr>
        <p:spPr>
          <a:xfrm>
            <a:off x="503999" y="2880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2880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Trésor (Solde)</a:t>
            </a:r>
          </a:p>
        </p:txBody>
      </p:sp>
      <p:sp>
        <p:nvSpPr>
          <p:cNvPr id="37" name="Rectangle 36"/>
          <p:cNvSpPr/>
          <p:nvPr/>
        </p:nvSpPr>
        <p:spPr>
          <a:xfrm>
            <a:off x="503999" y="3617999"/>
            <a:ext cx="11232000" cy="73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617999"/>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GNA</a:t>
            </a:r>
          </a:p>
        </p:txBody>
      </p:sp>
      <p:sp>
        <p:nvSpPr>
          <p:cNvPr id="39" name="Rectangle 38"/>
          <p:cNvSpPr/>
          <p:nvPr/>
        </p:nvSpPr>
        <p:spPr>
          <a:xfrm>
            <a:off x="503999" y="4356000"/>
            <a:ext cx="11232000" cy="73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3999" y="4356000"/>
            <a:ext cx="1404000" cy="73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comptable</a:t>
            </a:r>
          </a:p>
        </p:txBody>
      </p:sp>
      <p:sp>
        <p:nvSpPr>
          <p:cNvPr id="41" name="Logigramme g1"/>
          <p:cNvSpPr/>
          <p:nvPr/>
        </p:nvSpPr>
        <p:spPr>
          <a:xfrm>
            <a:off x="2015999" y="1512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Souscription,</a:t>
            </a:r>
          </a:p>
          <a:p>
            <a:pPr algn="ctr"/>
            <a:r>
              <a:rPr sz="800" b="1">
                <a:solidFill>
                  <a:srgbClr val="FFFFFF"/>
                </a:solidFill>
                <a:latin typeface="Helvetica"/>
              </a:rPr>
              <a:t>envoi des documents</a:t>
            </a:r>
          </a:p>
        </p:txBody>
      </p:sp>
      <p:sp>
        <p:nvSpPr>
          <p:cNvPr id="42" name="Logigramme g2"/>
          <p:cNvSpPr/>
          <p:nvPr/>
        </p:nvSpPr>
        <p:spPr>
          <a:xfrm>
            <a:off x="2015999" y="224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Calcul des cotations,</a:t>
            </a:r>
          </a:p>
          <a:p>
            <a:pPr algn="ctr"/>
            <a:r>
              <a:rPr sz="800" b="0">
                <a:solidFill>
                  <a:srgbClr val="060606"/>
                </a:solidFill>
                <a:latin typeface="Helvetica"/>
              </a:rPr>
              <a:t>présentation au policier</a:t>
            </a:r>
          </a:p>
        </p:txBody>
      </p:sp>
      <p:sp>
        <p:nvSpPr>
          <p:cNvPr id="43" name="Logigramme g3"/>
          <p:cNvSpPr/>
          <p:nvPr/>
        </p:nvSpPr>
        <p:spPr>
          <a:xfrm>
            <a:off x="3401999" y="2169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750" b="0">
                <a:solidFill>
                  <a:srgbClr val="060606"/>
                </a:solidFill>
                <a:latin typeface="Helvetica"/>
              </a:rPr>
              <a:t>Accord ?</a:t>
            </a:r>
          </a:p>
        </p:txBody>
      </p:sp>
      <p:sp>
        <p:nvSpPr>
          <p:cNvPr id="44" name="Logigramme g4"/>
          <p:cNvSpPr/>
          <p:nvPr/>
        </p:nvSpPr>
        <p:spPr>
          <a:xfrm>
            <a:off x="4788000" y="224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Enregistrement sur la</a:t>
            </a:r>
          </a:p>
          <a:p>
            <a:pPr algn="ctr"/>
            <a:r>
              <a:rPr sz="800" b="0">
                <a:solidFill>
                  <a:srgbClr val="060606"/>
                </a:solidFill>
                <a:latin typeface="Helvetica"/>
              </a:rPr>
              <a:t>plateforme du GNA</a:t>
            </a:r>
          </a:p>
        </p:txBody>
      </p:sp>
      <p:sp>
        <p:nvSpPr>
          <p:cNvPr id="45" name="Logigramme g5"/>
          <p:cNvSpPr/>
          <p:nvPr/>
        </p:nvSpPr>
        <p:spPr>
          <a:xfrm>
            <a:off x="6173999" y="2249999"/>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aller</a:t>
            </a:r>
          </a:p>
          <a:p>
            <a:pPr algn="ctr"/>
            <a:r>
              <a:rPr sz="800" b="0">
                <a:solidFill>
                  <a:srgbClr val="060606"/>
                </a:solidFill>
                <a:latin typeface="Helvetica"/>
              </a:rPr>
              <a:t>(liste des bénéficiaires)</a:t>
            </a:r>
          </a:p>
        </p:txBody>
      </p:sp>
      <p:sp>
        <p:nvSpPr>
          <p:cNvPr id="46" name="Logigramme g6"/>
          <p:cNvSpPr/>
          <p:nvPr/>
        </p:nvSpPr>
        <p:spPr>
          <a:xfrm>
            <a:off x="6173999" y="2988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Collecte des fonds :</a:t>
            </a:r>
          </a:p>
          <a:p>
            <a:pPr algn="ctr"/>
            <a:r>
              <a:rPr sz="800" b="0">
                <a:solidFill>
                  <a:srgbClr val="060606"/>
                </a:solidFill>
                <a:latin typeface="Helvetica"/>
              </a:rPr>
              <a:t>direct, précompte, FPPN</a:t>
            </a:r>
          </a:p>
        </p:txBody>
      </p:sp>
      <p:sp>
        <p:nvSpPr>
          <p:cNvPr id="47" name="Logigramme g7"/>
          <p:cNvSpPr/>
          <p:nvPr/>
        </p:nvSpPr>
        <p:spPr>
          <a:xfrm>
            <a:off x="7560000" y="2988000"/>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0">
                <a:solidFill>
                  <a:srgbClr val="060606"/>
                </a:solidFill>
                <a:latin typeface="Helvetica"/>
              </a:rPr>
              <a:t>Fichier retour</a:t>
            </a:r>
          </a:p>
        </p:txBody>
      </p:sp>
      <p:sp>
        <p:nvSpPr>
          <p:cNvPr id="48" name="Logigramme g8"/>
          <p:cNvSpPr/>
          <p:nvPr/>
        </p:nvSpPr>
        <p:spPr>
          <a:xfrm>
            <a:off x="7560000" y="224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Dépôt du retour sur</a:t>
            </a:r>
          </a:p>
          <a:p>
            <a:pPr algn="ctr"/>
            <a:r>
              <a:rPr sz="800" b="0">
                <a:solidFill>
                  <a:srgbClr val="060606"/>
                </a:solidFill>
                <a:latin typeface="Helvetica"/>
              </a:rPr>
              <a:t>la plateforme du GNA</a:t>
            </a:r>
          </a:p>
        </p:txBody>
      </p:sp>
      <p:sp>
        <p:nvSpPr>
          <p:cNvPr id="49" name="Logigramme g9"/>
          <p:cNvSpPr/>
          <p:nvPr/>
        </p:nvSpPr>
        <p:spPr>
          <a:xfrm>
            <a:off x="8946000" y="1512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Demande de</a:t>
            </a:r>
          </a:p>
          <a:p>
            <a:pPr algn="ctr"/>
            <a:r>
              <a:rPr sz="800" b="0">
                <a:solidFill>
                  <a:srgbClr val="060606"/>
                </a:solidFill>
                <a:latin typeface="Helvetica"/>
              </a:rPr>
              <a:t>trop-perçu</a:t>
            </a:r>
          </a:p>
        </p:txBody>
      </p:sp>
      <p:sp>
        <p:nvSpPr>
          <p:cNvPr id="50" name="Logigramme g10"/>
          <p:cNvSpPr/>
          <p:nvPr/>
        </p:nvSpPr>
        <p:spPr>
          <a:xfrm>
            <a:off x="8946000" y="3726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Remboursement</a:t>
            </a:r>
          </a:p>
          <a:p>
            <a:pPr algn="ctr"/>
            <a:r>
              <a:rPr sz="800" b="0">
                <a:solidFill>
                  <a:srgbClr val="060606"/>
                </a:solidFill>
                <a:latin typeface="Helvetica"/>
              </a:rPr>
              <a:t>du trop-perçu</a:t>
            </a:r>
          </a:p>
        </p:txBody>
      </p:sp>
      <p:sp>
        <p:nvSpPr>
          <p:cNvPr id="51" name="Logigramme g11"/>
          <p:cNvSpPr/>
          <p:nvPr/>
        </p:nvSpPr>
        <p:spPr>
          <a:xfrm>
            <a:off x="10332000" y="3726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Virement de la</a:t>
            </a:r>
          </a:p>
          <a:p>
            <a:pPr algn="ctr"/>
            <a:r>
              <a:rPr sz="800" b="0">
                <a:solidFill>
                  <a:srgbClr val="060606"/>
                </a:solidFill>
                <a:latin typeface="Helvetica"/>
              </a:rPr>
              <a:t>commission (20 %)</a:t>
            </a:r>
          </a:p>
        </p:txBody>
      </p:sp>
      <p:sp>
        <p:nvSpPr>
          <p:cNvPr id="52" name="Logigramme g12"/>
          <p:cNvSpPr/>
          <p:nvPr/>
        </p:nvSpPr>
        <p:spPr>
          <a:xfrm>
            <a:off x="10332000" y="4464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Comptabilisation</a:t>
            </a:r>
          </a:p>
          <a:p>
            <a:pPr algn="ctr"/>
            <a:r>
              <a:rPr sz="800" b="1">
                <a:solidFill>
                  <a:srgbClr val="FFFFFF"/>
                </a:solidFill>
                <a:latin typeface="Helvetica"/>
              </a:rPr>
              <a:t>de la commission</a:t>
            </a:r>
          </a:p>
        </p:txBody>
      </p:sp>
      <p:sp>
        <p:nvSpPr>
          <p:cNvPr id="53" name="Logigramme a1"/>
          <p:cNvSpPr/>
          <p:nvPr/>
        </p:nvSpPr>
        <p:spPr>
          <a:xfrm>
            <a:off x="8946000" y="4464000"/>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Assiette des 20 %</a:t>
            </a:r>
          </a:p>
          <a:p>
            <a:pPr algn="ctr"/>
            <a:r>
              <a:rPr sz="800" b="1">
                <a:solidFill>
                  <a:srgbClr val="C00000"/>
                </a:solidFill>
                <a:latin typeface="Helvetica"/>
              </a:rPr>
              <a:t>non documentée</a:t>
            </a:r>
          </a:p>
        </p:txBody>
      </p:sp>
      <p:sp>
        <p:nvSpPr>
          <p:cNvPr id="54" name="Logigramme a2"/>
          <p:cNvSpPr/>
          <p:nvPr/>
        </p:nvSpPr>
        <p:spPr>
          <a:xfrm>
            <a:off x="7560000" y="3726000"/>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Retour de janvier</a:t>
            </a:r>
          </a:p>
          <a:p>
            <a:pPr algn="ctr"/>
            <a:r>
              <a:rPr sz="800" b="1">
                <a:solidFill>
                  <a:srgbClr val="C00000"/>
                </a:solidFill>
                <a:latin typeface="Helvetica"/>
              </a:rPr>
              <a:t>2026 manquant</a:t>
            </a:r>
          </a:p>
        </p:txBody>
      </p:sp>
      <p:cxnSp>
        <p:nvCxnSpPr>
          <p:cNvPr id="55" name="Flèche g1 vers g2"/>
          <p:cNvCxnSpPr>
            <a:stCxn id="41" idx="2"/>
            <a:endCxn id="42" idx="0"/>
          </p:cNvCxnSpPr>
          <p:nvPr/>
        </p:nvCxnSpPr>
        <p:spPr>
          <a:xfrm flipH="1">
            <a:off x="2627999" y="2034000"/>
            <a:ext cx="0" cy="215999"/>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Flèche g2 vers g3"/>
          <p:cNvCxnSpPr>
            <a:stCxn id="42" idx="3"/>
            <a:endCxn id="43" idx="1"/>
          </p:cNvCxnSpPr>
          <p:nvPr/>
        </p:nvCxnSpPr>
        <p:spPr>
          <a:xfrm>
            <a:off x="3239999" y="2510999"/>
            <a:ext cx="162000" cy="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Flèche g3 vers g4"/>
          <p:cNvCxnSpPr>
            <a:stCxn id="43" idx="3"/>
            <a:endCxn id="44" idx="1"/>
          </p:cNvCxnSpPr>
          <p:nvPr/>
        </p:nvCxnSpPr>
        <p:spPr>
          <a:xfrm flipV="1">
            <a:off x="4625999" y="2510999"/>
            <a:ext cx="162001" cy="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669199" y="2331000"/>
            <a:ext cx="864000" cy="162000"/>
          </a:xfrm>
          <a:prstGeom prst="rect">
            <a:avLst/>
          </a:prstGeom>
          <a:noFill/>
        </p:spPr>
        <p:txBody>
          <a:bodyPr wrap="square" anchor="t" lIns="28800" rIns="28800" tIns="10800" bIns="10800">
            <a:spAutoFit/>
          </a:bodyPr>
          <a:lstStyle/>
          <a:p>
            <a:pPr algn="l"/>
            <a:r>
              <a:rPr sz="650" b="1">
                <a:solidFill>
                  <a:srgbClr val="53565A"/>
                </a:solidFill>
                <a:latin typeface="Helvetica"/>
              </a:rPr>
              <a:t>oui</a:t>
            </a:r>
          </a:p>
        </p:txBody>
      </p:sp>
      <p:cxnSp>
        <p:nvCxnSpPr>
          <p:cNvPr id="59" name="Flèche g4 vers g5"/>
          <p:cNvCxnSpPr>
            <a:stCxn id="44" idx="3"/>
            <a:endCxn id="45" idx="1"/>
          </p:cNvCxnSpPr>
          <p:nvPr/>
        </p:nvCxnSpPr>
        <p:spPr>
          <a:xfrm flipV="1">
            <a:off x="6012000" y="2510999"/>
            <a:ext cx="161999"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g5 vers g6"/>
          <p:cNvCxnSpPr>
            <a:stCxn id="45" idx="2"/>
            <a:endCxn id="46" idx="0"/>
          </p:cNvCxnSpPr>
          <p:nvPr/>
        </p:nvCxnSpPr>
        <p:spPr>
          <a:xfrm flipH="1">
            <a:off x="6785999" y="2771999"/>
            <a:ext cx="0" cy="216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g6 vers g7"/>
          <p:cNvCxnSpPr>
            <a:stCxn id="46" idx="3"/>
            <a:endCxn id="47" idx="1"/>
          </p:cNvCxnSpPr>
          <p:nvPr/>
        </p:nvCxnSpPr>
        <p:spPr>
          <a:xfrm flipV="1">
            <a:off x="7397999" y="3249000"/>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Flèche g7 vers g8"/>
          <p:cNvCxnSpPr>
            <a:stCxn id="47" idx="0"/>
            <a:endCxn id="48" idx="2"/>
          </p:cNvCxnSpPr>
          <p:nvPr/>
        </p:nvCxnSpPr>
        <p:spPr>
          <a:xfrm flipH="1" flipV="1">
            <a:off x="8172000" y="2771999"/>
            <a:ext cx="0" cy="216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g9 vers g10"/>
          <p:cNvCxnSpPr>
            <a:stCxn id="49" idx="2"/>
            <a:endCxn id="50" idx="0"/>
          </p:cNvCxnSpPr>
          <p:nvPr/>
        </p:nvCxnSpPr>
        <p:spPr>
          <a:xfrm flipH="1">
            <a:off x="9558000" y="2034000"/>
            <a:ext cx="0" cy="1692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g10 vers g11"/>
          <p:cNvCxnSpPr>
            <a:stCxn id="50" idx="3"/>
            <a:endCxn id="51" idx="1"/>
          </p:cNvCxnSpPr>
          <p:nvPr/>
        </p:nvCxnSpPr>
        <p:spPr>
          <a:xfrm flipV="1">
            <a:off x="10170000" y="3987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g11 vers g12"/>
          <p:cNvCxnSpPr>
            <a:stCxn id="51" idx="2"/>
            <a:endCxn id="52" idx="0"/>
          </p:cNvCxnSpPr>
          <p:nvPr/>
        </p:nvCxnSpPr>
        <p:spPr>
          <a:xfrm flipH="1">
            <a:off x="10944000" y="4248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g12 vers a1"/>
          <p:cNvCxnSpPr>
            <a:stCxn id="52" idx="1"/>
            <a:endCxn id="53" idx="3"/>
          </p:cNvCxnSpPr>
          <p:nvPr/>
        </p:nvCxnSpPr>
        <p:spPr>
          <a:xfrm flipH="1" flipV="1">
            <a:off x="10170000" y="4725000"/>
            <a:ext cx="162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Flèche g7 vers a2"/>
          <p:cNvCxnSpPr>
            <a:stCxn id="47" idx="2"/>
            <a:endCxn id="54" idx="0"/>
          </p:cNvCxnSpPr>
          <p:nvPr/>
        </p:nvCxnSpPr>
        <p:spPr>
          <a:xfrm flipH="1">
            <a:off x="8172000" y="3510000"/>
            <a:ext cx="0" cy="21600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03999" y="5184000"/>
            <a:ext cx="11232000" cy="684000"/>
          </a:xfrm>
          <a:prstGeom prst="rect">
            <a:avLst/>
          </a:prstGeom>
          <a:noFill/>
        </p:spPr>
        <p:txBody>
          <a:bodyPr wrap="square" lIns="54000" rIns="54000"/>
          <a:lstStyle/>
          <a:p>
            <a:pPr algn="just">
              <a:spcAft>
                <a:spcPts val="600"/>
              </a:spcAft>
            </a:pPr>
            <a:r>
              <a:rPr sz="1200" b="1">
                <a:solidFill>
                  <a:srgbClr val="060606"/>
                </a:solidFill>
                <a:latin typeface="Helvetica"/>
              </a:rPr>
              <a:t>La convention avec GNA n'a pas été transmise.</a:t>
            </a:r>
            <a:r>
              <a:rPr sz="1200" b="0">
                <a:solidFill>
                  <a:srgbClr val="060606"/>
                </a:solidFill>
                <a:latin typeface="Helvetica"/>
              </a:rPr>
              <a:t> La commission ne peut pas être vérifiée, et le fichier retour de janvier 2026 manque (constats 18.a, 26.g et 27.e).</a:t>
            </a:r>
          </a:p>
        </p:txBody>
      </p:sp>
      <p:sp>
        <p:nvSpPr>
          <p:cNvPr id="69" name="TextBox 6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GNA : assureur de la flotte automobile (compte 47111106)</a:t>
            </a:r>
          </a:p>
        </p:txBody>
      </p:sp>
    </p:spTree>
    <p:extLst>
      <p:ext uri="{BB962C8B-B14F-4D97-AF65-F5344CB8AC3E}">
        <p14:creationId xmlns:p14="http://schemas.microsoft.com/office/powerpoint/2010/main" val="261623729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retraités (CGRAE)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cotisation suit le barème de la CGRAE, dans la limite de la quotité cessible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Logigramme du FPPN redessiné : les cadres rouges signalent les contrôles absents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 FLOW_CHART_COTISATION_ET_PRODUITS_DEPARGNE_1.pptx » (FPPN, reçu le 23/10/2026). Contrôles absents : analyses Adenka</a:t>
            </a:r>
          </a:p>
        </p:txBody>
      </p:sp>
      <p:sp>
        <p:nvSpPr>
          <p:cNvPr id="31" name="Rectangle 30"/>
          <p:cNvSpPr/>
          <p:nvPr/>
        </p:nvSpPr>
        <p:spPr>
          <a:xfrm>
            <a:off x="503999" y="1404000"/>
            <a:ext cx="11232000" cy="91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91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Policier retraité</a:t>
            </a:r>
          </a:p>
        </p:txBody>
      </p:sp>
      <p:sp>
        <p:nvSpPr>
          <p:cNvPr id="33" name="Rectangle 32"/>
          <p:cNvSpPr/>
          <p:nvPr/>
        </p:nvSpPr>
        <p:spPr>
          <a:xfrm>
            <a:off x="503999" y="2321999"/>
            <a:ext cx="11232000" cy="91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321999"/>
            <a:ext cx="1404000" cy="91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informatique</a:t>
            </a:r>
          </a:p>
        </p:txBody>
      </p:sp>
      <p:sp>
        <p:nvSpPr>
          <p:cNvPr id="35" name="Rectangle 34"/>
          <p:cNvSpPr/>
          <p:nvPr/>
        </p:nvSpPr>
        <p:spPr>
          <a:xfrm>
            <a:off x="503999" y="3240000"/>
            <a:ext cx="11232000" cy="917999"/>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240000"/>
            <a:ext cx="1404000" cy="91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CGRAE</a:t>
            </a:r>
          </a:p>
        </p:txBody>
      </p:sp>
      <p:sp>
        <p:nvSpPr>
          <p:cNvPr id="37" name="Rectangle 36"/>
          <p:cNvSpPr/>
          <p:nvPr/>
        </p:nvSpPr>
        <p:spPr>
          <a:xfrm>
            <a:off x="503999" y="4157999"/>
            <a:ext cx="11232000" cy="917999"/>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4157999"/>
            <a:ext cx="1404000" cy="917999"/>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service comptable</a:t>
            </a:r>
          </a:p>
        </p:txBody>
      </p:sp>
      <p:sp>
        <p:nvSpPr>
          <p:cNvPr id="39" name="Logigramme c1"/>
          <p:cNvSpPr/>
          <p:nvPr/>
        </p:nvSpPr>
        <p:spPr>
          <a:xfrm>
            <a:off x="2015999" y="1602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Adhésion sur</a:t>
            </a:r>
          </a:p>
          <a:p>
            <a:pPr algn="ctr"/>
            <a:r>
              <a:rPr sz="800" b="1">
                <a:solidFill>
                  <a:srgbClr val="FFFFFF"/>
                </a:solidFill>
                <a:latin typeface="Helvetica"/>
              </a:rPr>
              <a:t>fiche d'adhésion</a:t>
            </a:r>
          </a:p>
        </p:txBody>
      </p:sp>
      <p:sp>
        <p:nvSpPr>
          <p:cNvPr id="40" name="Logigramme c2"/>
          <p:cNvSpPr/>
          <p:nvPr/>
        </p:nvSpPr>
        <p:spPr>
          <a:xfrm>
            <a:off x="2015999" y="2439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750" b="0">
                <a:solidFill>
                  <a:srgbClr val="060606"/>
                </a:solidFill>
                <a:latin typeface="Helvetica"/>
              </a:rPr>
              <a:t>Mécano ?</a:t>
            </a:r>
          </a:p>
        </p:txBody>
      </p:sp>
      <p:sp>
        <p:nvSpPr>
          <p:cNvPr id="41" name="Logigramme c3"/>
          <p:cNvSpPr/>
          <p:nvPr/>
        </p:nvSpPr>
        <p:spPr>
          <a:xfrm>
            <a:off x="3401999" y="1602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Création du mécano</a:t>
            </a:r>
          </a:p>
          <a:p>
            <a:pPr algn="ctr"/>
            <a:r>
              <a:rPr sz="800" b="0">
                <a:solidFill>
                  <a:srgbClr val="060606"/>
                </a:solidFill>
                <a:latin typeface="Helvetica"/>
              </a:rPr>
              <a:t>et ajout à la fiche</a:t>
            </a:r>
          </a:p>
        </p:txBody>
      </p:sp>
      <p:sp>
        <p:nvSpPr>
          <p:cNvPr id="42" name="Logigramme c4"/>
          <p:cNvSpPr/>
          <p:nvPr/>
        </p:nvSpPr>
        <p:spPr>
          <a:xfrm>
            <a:off x="4788000" y="251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Intégration au</a:t>
            </a:r>
          </a:p>
          <a:p>
            <a:pPr algn="ctr"/>
            <a:r>
              <a:rPr sz="800" b="0">
                <a:solidFill>
                  <a:srgbClr val="060606"/>
                </a:solidFill>
                <a:latin typeface="Helvetica"/>
              </a:rPr>
              <a:t>fichier en ligne</a:t>
            </a:r>
          </a:p>
        </p:txBody>
      </p:sp>
      <p:sp>
        <p:nvSpPr>
          <p:cNvPr id="43" name="Logigramme c5"/>
          <p:cNvSpPr/>
          <p:nvPr/>
        </p:nvSpPr>
        <p:spPr>
          <a:xfrm>
            <a:off x="6173999" y="2456999"/>
            <a:ext cx="1224000" cy="648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de précompte :</a:t>
            </a:r>
          </a:p>
          <a:p>
            <a:pPr algn="ctr"/>
            <a:r>
              <a:rPr sz="800" b="0">
                <a:solidFill>
                  <a:srgbClr val="060606"/>
                </a:solidFill>
                <a:latin typeface="Helvetica"/>
              </a:rPr>
              <a:t>2,5 % de la pension</a:t>
            </a:r>
          </a:p>
          <a:p>
            <a:pPr algn="ctr"/>
            <a:r>
              <a:rPr sz="800" b="0">
                <a:solidFill>
                  <a:srgbClr val="060606"/>
                </a:solidFill>
                <a:latin typeface="Helvetica"/>
              </a:rPr>
              <a:t>nette MUGEFCI + forfait</a:t>
            </a:r>
          </a:p>
        </p:txBody>
      </p:sp>
      <p:sp>
        <p:nvSpPr>
          <p:cNvPr id="44" name="Logigramme c6"/>
          <p:cNvSpPr/>
          <p:nvPr/>
        </p:nvSpPr>
        <p:spPr>
          <a:xfrm>
            <a:off x="7560000" y="2519999"/>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0">
                <a:solidFill>
                  <a:srgbClr val="060606"/>
                </a:solidFill>
                <a:latin typeface="Helvetica"/>
              </a:rPr>
              <a:t>Fichier aller</a:t>
            </a:r>
          </a:p>
        </p:txBody>
      </p:sp>
      <p:sp>
        <p:nvSpPr>
          <p:cNvPr id="45" name="Logigramme c7"/>
          <p:cNvSpPr/>
          <p:nvPr/>
        </p:nvSpPr>
        <p:spPr>
          <a:xfrm>
            <a:off x="7560000" y="3438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Prélèvement sur la</a:t>
            </a:r>
          </a:p>
          <a:p>
            <a:pPr algn="ctr"/>
            <a:r>
              <a:rPr sz="800" b="0">
                <a:solidFill>
                  <a:srgbClr val="060606"/>
                </a:solidFill>
                <a:latin typeface="Helvetica"/>
              </a:rPr>
              <a:t>pension (quotité cessible)</a:t>
            </a:r>
          </a:p>
        </p:txBody>
      </p:sp>
      <p:sp>
        <p:nvSpPr>
          <p:cNvPr id="46" name="Logigramme c8"/>
          <p:cNvSpPr/>
          <p:nvPr/>
        </p:nvSpPr>
        <p:spPr>
          <a:xfrm>
            <a:off x="8946000" y="3438000"/>
            <a:ext cx="1224000" cy="52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retour</a:t>
            </a:r>
          </a:p>
          <a:p>
            <a:pPr algn="ctr"/>
            <a:r>
              <a:rPr sz="800" b="0">
                <a:solidFill>
                  <a:srgbClr val="060606"/>
                </a:solidFill>
                <a:latin typeface="Helvetica"/>
              </a:rPr>
              <a:t>numérique</a:t>
            </a:r>
          </a:p>
        </p:txBody>
      </p:sp>
      <p:sp>
        <p:nvSpPr>
          <p:cNvPr id="47" name="Logigramme c9"/>
          <p:cNvSpPr/>
          <p:nvPr/>
        </p:nvSpPr>
        <p:spPr>
          <a:xfrm>
            <a:off x="8946000" y="2519999"/>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Réception du</a:t>
            </a:r>
          </a:p>
          <a:p>
            <a:pPr algn="ctr"/>
            <a:r>
              <a:rPr sz="800" b="0">
                <a:solidFill>
                  <a:srgbClr val="060606"/>
                </a:solidFill>
                <a:latin typeface="Helvetica"/>
              </a:rPr>
              <a:t>fichier retour</a:t>
            </a:r>
          </a:p>
        </p:txBody>
      </p:sp>
      <p:sp>
        <p:nvSpPr>
          <p:cNvPr id="48" name="Logigramme c10"/>
          <p:cNvSpPr/>
          <p:nvPr/>
        </p:nvSpPr>
        <p:spPr>
          <a:xfrm>
            <a:off x="10332000" y="3438000"/>
            <a:ext cx="1224000" cy="52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Virement des fonds</a:t>
            </a:r>
          </a:p>
          <a:p>
            <a:pPr algn="ctr"/>
            <a:r>
              <a:rPr sz="800" b="0">
                <a:solidFill>
                  <a:srgbClr val="060606"/>
                </a:solidFill>
                <a:latin typeface="Helvetica"/>
              </a:rPr>
              <a:t>selon le barème</a:t>
            </a:r>
          </a:p>
        </p:txBody>
      </p:sp>
      <p:sp>
        <p:nvSpPr>
          <p:cNvPr id="49" name="Logigramme c11"/>
          <p:cNvSpPr/>
          <p:nvPr/>
        </p:nvSpPr>
        <p:spPr>
          <a:xfrm>
            <a:off x="10332000" y="4356000"/>
            <a:ext cx="1224000" cy="52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FFFFFF"/>
                </a:solidFill>
                <a:latin typeface="Helvetica"/>
              </a:rPr>
              <a:t>Comptabilisation</a:t>
            </a:r>
          </a:p>
          <a:p>
            <a:pPr algn="ctr"/>
            <a:r>
              <a:rPr sz="800" b="1">
                <a:solidFill>
                  <a:srgbClr val="FFFFFF"/>
                </a:solidFill>
                <a:latin typeface="Helvetica"/>
              </a:rPr>
              <a:t>du virement</a:t>
            </a:r>
          </a:p>
        </p:txBody>
      </p:sp>
      <p:sp>
        <p:nvSpPr>
          <p:cNvPr id="50" name="Logigramme a1"/>
          <p:cNvSpPr/>
          <p:nvPr/>
        </p:nvSpPr>
        <p:spPr>
          <a:xfrm>
            <a:off x="6173999" y="3438000"/>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Retraités sans quotité</a:t>
            </a:r>
          </a:p>
          <a:p>
            <a:pPr algn="ctr"/>
            <a:r>
              <a:rPr sz="800" b="1">
                <a:solidFill>
                  <a:srgbClr val="C00000"/>
                </a:solidFill>
                <a:latin typeface="Helvetica"/>
              </a:rPr>
              <a:t>cessible non précomptés</a:t>
            </a:r>
          </a:p>
        </p:txBody>
      </p:sp>
      <p:sp>
        <p:nvSpPr>
          <p:cNvPr id="51" name="Logigramme a2"/>
          <p:cNvSpPr/>
          <p:nvPr/>
        </p:nvSpPr>
        <p:spPr>
          <a:xfrm>
            <a:off x="8946000" y="4356000"/>
            <a:ext cx="1224000" cy="52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C00000"/>
                </a:solidFill>
                <a:latin typeface="Helvetica"/>
              </a:rPr>
              <a:t>Retours de janvier et</a:t>
            </a:r>
          </a:p>
          <a:p>
            <a:pPr algn="ctr"/>
            <a:r>
              <a:rPr sz="800" b="1">
                <a:solidFill>
                  <a:srgbClr val="C00000"/>
                </a:solidFill>
                <a:latin typeface="Helvetica"/>
              </a:rPr>
              <a:t>juin 2024 manquants</a:t>
            </a:r>
          </a:p>
        </p:txBody>
      </p:sp>
      <p:cxnSp>
        <p:nvCxnSpPr>
          <p:cNvPr id="52" name="Flèche c1 vers c2"/>
          <p:cNvCxnSpPr>
            <a:stCxn id="39" idx="2"/>
            <a:endCxn id="40" idx="0"/>
          </p:cNvCxnSpPr>
          <p:nvPr/>
        </p:nvCxnSpPr>
        <p:spPr>
          <a:xfrm flipH="1">
            <a:off x="2627999" y="2124000"/>
            <a:ext cx="0" cy="315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c2 vers c3"/>
          <p:cNvCxnSpPr>
            <a:stCxn id="40" idx="3"/>
            <a:endCxn id="41" idx="2"/>
          </p:cNvCxnSpPr>
          <p:nvPr/>
        </p:nvCxnSpPr>
        <p:spPr>
          <a:xfrm flipV="1">
            <a:off x="3239999" y="2124000"/>
            <a:ext cx="774000" cy="657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3283198" y="2601000"/>
            <a:ext cx="864000" cy="162000"/>
          </a:xfrm>
          <a:prstGeom prst="rect">
            <a:avLst/>
          </a:prstGeom>
          <a:noFill/>
        </p:spPr>
        <p:txBody>
          <a:bodyPr wrap="square" anchor="t" lIns="28800" rIns="28800" tIns="10800" bIns="10800">
            <a:spAutoFit/>
          </a:bodyPr>
          <a:lstStyle/>
          <a:p>
            <a:pPr algn="l"/>
            <a:r>
              <a:rPr sz="650" b="1">
                <a:solidFill>
                  <a:srgbClr val="53565A"/>
                </a:solidFill>
                <a:latin typeface="Helvetica"/>
              </a:rPr>
              <a:t>non</a:t>
            </a:r>
          </a:p>
        </p:txBody>
      </p:sp>
      <p:cxnSp>
        <p:nvCxnSpPr>
          <p:cNvPr id="55" name="Flèche c2 vers c4"/>
          <p:cNvCxnSpPr>
            <a:stCxn id="40" idx="3"/>
            <a:endCxn id="42" idx="1"/>
          </p:cNvCxnSpPr>
          <p:nvPr/>
        </p:nvCxnSpPr>
        <p:spPr>
          <a:xfrm flipV="1">
            <a:off x="3239999" y="2780999"/>
            <a:ext cx="1548001" cy="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283198" y="2601000"/>
            <a:ext cx="864000" cy="162000"/>
          </a:xfrm>
          <a:prstGeom prst="rect">
            <a:avLst/>
          </a:prstGeom>
          <a:noFill/>
        </p:spPr>
        <p:txBody>
          <a:bodyPr wrap="square" anchor="t" lIns="28800" rIns="28800" tIns="10800" bIns="10800">
            <a:spAutoFit/>
          </a:bodyPr>
          <a:lstStyle/>
          <a:p>
            <a:pPr algn="l"/>
            <a:r>
              <a:rPr sz="650" b="1">
                <a:solidFill>
                  <a:srgbClr val="53565A"/>
                </a:solidFill>
                <a:latin typeface="Helvetica"/>
              </a:rPr>
              <a:t>oui</a:t>
            </a:r>
          </a:p>
        </p:txBody>
      </p:sp>
      <p:cxnSp>
        <p:nvCxnSpPr>
          <p:cNvPr id="57" name="Flèche c3 vers c4"/>
          <p:cNvCxnSpPr>
            <a:stCxn id="41" idx="3"/>
            <a:endCxn id="42" idx="0"/>
          </p:cNvCxnSpPr>
          <p:nvPr/>
        </p:nvCxnSpPr>
        <p:spPr>
          <a:xfrm>
            <a:off x="4625999" y="1863000"/>
            <a:ext cx="774001" cy="656999"/>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c4 vers c5"/>
          <p:cNvCxnSpPr>
            <a:stCxn id="42" idx="3"/>
            <a:endCxn id="43" idx="1"/>
          </p:cNvCxnSpPr>
          <p:nvPr/>
        </p:nvCxnSpPr>
        <p:spPr>
          <a:xfrm flipV="1">
            <a:off x="6012000" y="2780999"/>
            <a:ext cx="161999"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Flèche c5 vers c6"/>
          <p:cNvCxnSpPr>
            <a:stCxn id="43" idx="3"/>
            <a:endCxn id="44" idx="1"/>
          </p:cNvCxnSpPr>
          <p:nvPr/>
        </p:nvCxnSpPr>
        <p:spPr>
          <a:xfrm flipV="1">
            <a:off x="7397999" y="2780999"/>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c6 vers c7"/>
          <p:cNvCxnSpPr>
            <a:stCxn id="44" idx="2"/>
            <a:endCxn id="45" idx="0"/>
          </p:cNvCxnSpPr>
          <p:nvPr/>
        </p:nvCxnSpPr>
        <p:spPr>
          <a:xfrm flipH="1">
            <a:off x="8172000" y="3041999"/>
            <a:ext cx="0" cy="396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c7 vers c8"/>
          <p:cNvCxnSpPr>
            <a:stCxn id="45" idx="3"/>
            <a:endCxn id="46" idx="1"/>
          </p:cNvCxnSpPr>
          <p:nvPr/>
        </p:nvCxnSpPr>
        <p:spPr>
          <a:xfrm flipV="1">
            <a:off x="8784000" y="3699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Flèche c8 vers c9"/>
          <p:cNvCxnSpPr>
            <a:stCxn id="46" idx="0"/>
            <a:endCxn id="47" idx="2"/>
          </p:cNvCxnSpPr>
          <p:nvPr/>
        </p:nvCxnSpPr>
        <p:spPr>
          <a:xfrm flipH="1" flipV="1">
            <a:off x="9558000" y="3041999"/>
            <a:ext cx="0" cy="396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c8 vers c10"/>
          <p:cNvCxnSpPr>
            <a:stCxn id="46" idx="3"/>
            <a:endCxn id="48" idx="1"/>
          </p:cNvCxnSpPr>
          <p:nvPr/>
        </p:nvCxnSpPr>
        <p:spPr>
          <a:xfrm flipV="1">
            <a:off x="10170000" y="3699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c10 vers c11"/>
          <p:cNvCxnSpPr>
            <a:stCxn id="48" idx="2"/>
            <a:endCxn id="49" idx="0"/>
          </p:cNvCxnSpPr>
          <p:nvPr/>
        </p:nvCxnSpPr>
        <p:spPr>
          <a:xfrm flipH="1">
            <a:off x="10944000" y="3960000"/>
            <a:ext cx="0" cy="39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c7 vers a1"/>
          <p:cNvCxnSpPr>
            <a:stCxn id="45" idx="1"/>
            <a:endCxn id="50" idx="3"/>
          </p:cNvCxnSpPr>
          <p:nvPr/>
        </p:nvCxnSpPr>
        <p:spPr>
          <a:xfrm flipH="1" flipV="1">
            <a:off x="7397999" y="3699000"/>
            <a:ext cx="162001"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c8 vers a2"/>
          <p:cNvCxnSpPr>
            <a:stCxn id="46" idx="2"/>
            <a:endCxn id="51" idx="0"/>
          </p:cNvCxnSpPr>
          <p:nvPr/>
        </p:nvCxnSpPr>
        <p:spPr>
          <a:xfrm flipH="1">
            <a:off x="9558000" y="3960000"/>
            <a:ext cx="0" cy="39600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503999" y="5148000"/>
            <a:ext cx="11232000" cy="720000"/>
          </a:xfrm>
          <a:prstGeom prst="rect">
            <a:avLst/>
          </a:prstGeom>
          <a:noFill/>
        </p:spPr>
        <p:txBody>
          <a:bodyPr wrap="square" lIns="54000" rIns="54000"/>
          <a:lstStyle/>
          <a:p>
            <a:pPr algn="just">
              <a:spcAft>
                <a:spcPts val="600"/>
              </a:spcAft>
            </a:pPr>
            <a:r>
              <a:rPr sz="1200" b="1">
                <a:solidFill>
                  <a:srgbClr val="060606"/>
                </a:solidFill>
                <a:latin typeface="Helvetica"/>
              </a:rPr>
              <a:t>Seuls les retraités qui ont une quotité cessible suffisante sont prélevés, et la liste des autres n'a pas été transmise</a:t>
            </a:r>
            <a:r>
              <a:rPr sz="1200" b="0">
                <a:solidFill>
                  <a:srgbClr val="060606"/>
                </a:solidFill>
                <a:latin typeface="Helvetica"/>
              </a:rPr>
              <a:t> (constats 22.a, 27.b et 26.d).</a:t>
            </a:r>
          </a:p>
        </p:txBody>
      </p:sp>
      <p:sp>
        <p:nvSpPr>
          <p:cNvPr id="68" name="TextBox 6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399912469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0667" y="-1240"/>
            <a:ext cx="6858000" cy="6858000"/>
          </a:xfrm>
          <a:prstGeom prst="rect">
            <a:avLst/>
          </a:prstGeom>
        </p:spPr>
      </p:pic>
      <p:sp>
        <p:nvSpPr>
          <p:cNvPr id="15" name="Rectangle 14"/>
          <p:cNvSpPr/>
          <p:nvPr/>
        </p:nvSpPr>
        <p:spPr>
          <a:xfrm>
            <a:off x="0" y="0"/>
            <a:ext cx="6045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3" name="Google Shape;138;p25"/>
          <p:cNvSpPr txBox="1"/>
          <p:nvPr/>
        </p:nvSpPr>
        <p:spPr>
          <a:xfrm>
            <a:off x="920037" y="3088600"/>
            <a:ext cx="5800971" cy="615553"/>
          </a:xfrm>
          <a:prstGeom prst="rect">
            <a:avLst/>
          </a:prstGeom>
          <a:noFill/>
          <a:ln>
            <a:noFill/>
          </a:ln>
        </p:spPr>
        <p:txBody>
          <a:bodyPr spcFirstLastPara="1" wrap="square" lIns="0" tIns="0" rIns="0" bIns="0" anchor="t" anchorCtr="0">
            <a:spAutoFit/>
          </a:bodyPr>
          <a:lstStyle/>
          <a:p>
            <a:r>
              <a:rPr lang="fr-CI" sz="4000" noProof="0">
                <a:solidFill>
                  <a:schemeClr val="bg1"/>
                </a:solidFill>
                <a:latin typeface="Helvetica" panose="020B0604020202020204" pitchFamily="34" charset="0"/>
                <a:cs typeface="Helvetica" panose="020B0604020202020204" pitchFamily="34" charset="0"/>
              </a:rPr>
              <a:t>Merci </a:t>
            </a:r>
          </a:p>
        </p:txBody>
      </p:sp>
    </p:spTree>
    <p:extLst>
      <p:ext uri="{BB962C8B-B14F-4D97-AF65-F5344CB8AC3E}">
        <p14:creationId xmlns:p14="http://schemas.microsoft.com/office/powerpoint/2010/main" val="2116590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2509</TotalTime>
  <Words>16641</Words>
  <Application>Microsoft Office PowerPoint</Application>
  <PresentationFormat>Grand écran</PresentationFormat>
  <Paragraphs>1935</Paragraphs>
  <Slides>19</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Adenka Consulting</dc:creator>
  <cp:lastModifiedBy>Adenka Consulting</cp:lastModifiedBy>
  <cp:revision>1</cp:revision>
  <dcterms:created xsi:type="dcterms:W3CDTF">2025-10-22T15:02:15Z</dcterms:created>
  <dcterms:modified xsi:type="dcterms:W3CDTF">2026-09-23T09:25:57Z</dcterms:modified>
  <dc:subject/>
  <cp:keywords/>
  <dc:description/>
</cp:coreProperties>
</file>