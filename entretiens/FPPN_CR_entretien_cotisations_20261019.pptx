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117"/>
  </p:notesMasterIdLst>
  <p:sldIdLst>
    <p:sldId id="256" r:id="rId3"/>
    <p:sldId id="313" r:id="rId7"/>
    <p:sldId id="404" r:id="rId124"/>
    <p:sldId id="405" r:id="rId125"/>
    <p:sldId id="406" r:id="rId126"/>
    <p:sldId id="407" r:id="rId127"/>
    <p:sldId id="408" r:id="rId128"/>
    <p:sldId id="409" r:id="rId129"/>
    <p:sldId id="410" r:id="rId130"/>
    <p:sldId id="411" r:id="rId131"/>
    <p:sldId id="412" r:id="rId132"/>
    <p:sldId id="328" r:id="rId1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uverture" id="{9C8FC9B7-AD45-409C-8017-02DEBDF9C938}">
          <p14:sldIdLst>
            <p14:sldId id="256"/>
          </p14:sldIdLst>
        </p14:section>
        <p14:section name="Contenu" id="{41430ABC-712C-4A41-8691-5284113E2CD9}">
          <p14:sldIdLst>
            <p14:sldId id="260"/>
            <p14:sldId id="261"/>
            <p14:sldId id="310"/>
            <p14:sldId id="313"/>
            <p14:sldId id="403"/>
            <p14:sldId id="402"/>
            <p14:sldId id="291"/>
            <p14:sldId id="312"/>
            <p14:sldId id="314"/>
            <p14:sldId id="317"/>
            <p14:sldId id="315"/>
            <p14:sldId id="316"/>
            <p14:sldId id="323"/>
            <p14:sldId id="324"/>
            <p14:sldId id="321"/>
            <p14:sldId id="322"/>
            <p14:sldId id="264"/>
            <p14:sldId id="318"/>
            <p14:sldId id="319"/>
            <p14:sldId id="320"/>
            <p14:sldId id="326"/>
            <p14:sldId id="325"/>
            <p14:sldId id="266"/>
            <p14:sldId id="327"/>
            <p14:sldId id="268"/>
            <p14:sldId id="271"/>
            <p14:sldId id="287"/>
            <p14:sldId id="329"/>
            <p14:sldId id="398"/>
            <p14:sldId id="399"/>
            <p14:sldId id="391"/>
            <p14:sldId id="397"/>
            <p14:sldId id="395"/>
            <p14:sldId id="396"/>
            <p14:sldId id="393"/>
            <p14:sldId id="392"/>
            <p14:sldId id="270"/>
            <p14:sldId id="330"/>
            <p14:sldId id="331"/>
            <p14:sldId id="332"/>
            <p14:sldId id="272"/>
            <p14:sldId id="333"/>
            <p14:sldId id="289"/>
            <p14:sldId id="334"/>
            <p14:sldId id="277"/>
            <p14:sldId id="278"/>
            <p14:sldId id="274"/>
            <p14:sldId id="335"/>
            <p14:sldId id="336"/>
            <p14:sldId id="348"/>
            <p14:sldId id="341"/>
            <p14:sldId id="349"/>
            <p14:sldId id="342"/>
            <p14:sldId id="350"/>
            <p14:sldId id="343"/>
            <p14:sldId id="351"/>
            <p14:sldId id="344"/>
            <p14:sldId id="352"/>
            <p14:sldId id="345"/>
            <p14:sldId id="353"/>
            <p14:sldId id="346"/>
            <p14:sldId id="354"/>
            <p14:sldId id="347"/>
            <p14:sldId id="355"/>
            <p14:sldId id="338"/>
            <p14:sldId id="356"/>
            <p14:sldId id="337"/>
            <p14:sldId id="357"/>
            <p14:sldId id="276"/>
            <p14:sldId id="358"/>
            <p14:sldId id="339"/>
            <p14:sldId id="359"/>
            <p14:sldId id="381"/>
            <p14:sldId id="385"/>
            <p14:sldId id="382"/>
            <p14:sldId id="400"/>
            <p14:sldId id="294"/>
            <p14:sldId id="360"/>
            <p14:sldId id="285"/>
            <p14:sldId id="286"/>
            <p14:sldId id="299"/>
            <p14:sldId id="361"/>
            <p14:sldId id="362"/>
            <p14:sldId id="283"/>
            <p14:sldId id="297"/>
            <p14:sldId id="365"/>
            <p14:sldId id="364"/>
            <p14:sldId id="363"/>
            <p14:sldId id="366"/>
            <p14:sldId id="367"/>
            <p14:sldId id="368"/>
            <p14:sldId id="370"/>
            <p14:sldId id="374"/>
            <p14:sldId id="375"/>
          </p14:sldIdLst>
        </p14:section>
        <p14:section name="Graphs" id="{551B27DB-FB3B-4066-9154-1B46F0A65216}">
          <p14:sldIdLst>
            <p14:sldId id="301"/>
            <p14:sldId id="304"/>
            <p14:sldId id="303"/>
            <p14:sldId id="302"/>
            <p14:sldId id="305"/>
            <p14:sldId id="306"/>
            <p14:sldId id="378"/>
            <p14:sldId id="376"/>
            <p14:sldId id="379"/>
            <p14:sldId id="388"/>
            <p14:sldId id="307"/>
            <p14:sldId id="369"/>
            <p14:sldId id="389"/>
            <p14:sldId id="390"/>
          </p14:sldIdLst>
        </p14:section>
        <p14:section name="Merci" id="{DE1A67E5-D1FE-41AF-88BB-A85595BA690B}">
          <p14:sldIdLst>
            <p14:sldId id="328"/>
          </p14:sldIdLst>
        </p14:section>
        <p14:section name="Symboles" id="{49175908-295D-4406-8512-BB62EA88444D}">
          <p14:sldIdLst>
            <p14:sldId id="371"/>
            <p14:sldId id="373"/>
            <p14:sldId id="40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AC62"/>
    <a:srgbClr val="060606"/>
    <a:srgbClr val="112A4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4BD68B-DEB5-4C72-B758-AA0E2A02C403}" v="4" dt="2026-09-23T09:25:47.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7" Type="http://schemas.openxmlformats.org/officeDocument/2006/relationships/slide" Target="slides/slide2.xml"/><Relationship Id="rId112" Type="http://schemas.openxmlformats.org/officeDocument/2006/relationships/slide" Target="slides/slide12.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 Id="rId122" Type="http://schemas.microsoft.com/office/2016/11/relationships/changesInfo" Target="changesInfos/changesInfo1.xml"/><Relationship Id="rId123" Type="http://schemas.microsoft.com/office/2015/10/relationships/revisionInfo" Target="revisionInfo.xml"/><Relationship Id="rId124" Type="http://schemas.openxmlformats.org/officeDocument/2006/relationships/slide" Target="slides/slide3.xml"/><Relationship Id="rId125" Type="http://schemas.openxmlformats.org/officeDocument/2006/relationships/slide" Target="slides/slide4.xml"/><Relationship Id="rId126" Type="http://schemas.openxmlformats.org/officeDocument/2006/relationships/slide" Target="slides/slide5.xml"/><Relationship Id="rId127" Type="http://schemas.openxmlformats.org/officeDocument/2006/relationships/slide" Target="slides/slide6.xml"/><Relationship Id="rId128" Type="http://schemas.openxmlformats.org/officeDocument/2006/relationships/slide" Target="slides/slide7.xml"/><Relationship Id="rId129" Type="http://schemas.openxmlformats.org/officeDocument/2006/relationships/slide" Target="slides/slide8.xml"/><Relationship Id="rId130" Type="http://schemas.openxmlformats.org/officeDocument/2006/relationships/slide" Target="slides/slide9.xml"/><Relationship Id="rId131" Type="http://schemas.openxmlformats.org/officeDocument/2006/relationships/slide" Target="slides/slide10.xml"/><Relationship Id="rId132"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Noel Sialou" userId="08acc5d2-3819-4be4-97e6-d593a92e8e16" providerId="ADAL" clId="{DC5A2AD4-2AC1-4F5C-A6BF-541681F7EFA2}"/>
    <pc:docChg chg="undo custSel modSld">
      <pc:chgData name="Jean-Noel Sialou" userId="08acc5d2-3819-4be4-97e6-d593a92e8e16" providerId="ADAL" clId="{DC5A2AD4-2AC1-4F5C-A6BF-541681F7EFA2}" dt="2026-09-07T10:18:25.187" v="38" actId="571"/>
      <pc:docMkLst>
        <pc:docMk/>
      </pc:docMkLst>
      <pc:sldChg chg="addSp delSp modSp mod">
        <pc:chgData name="Jean-Noel Sialou" userId="08acc5d2-3819-4be4-97e6-d593a92e8e16" providerId="ADAL" clId="{DC5A2AD4-2AC1-4F5C-A6BF-541681F7EFA2}" dt="2026-09-07T10:18:25.187" v="38" actId="571"/>
        <pc:sldMkLst>
          <pc:docMk/>
          <pc:sldMk cId="2102837376" sldId="358"/>
        </pc:sldMkLst>
        <pc:spChg chg="mod">
          <ac:chgData name="Jean-Noel Sialou" userId="08acc5d2-3819-4be4-97e6-d593a92e8e16" providerId="ADAL" clId="{DC5A2AD4-2AC1-4F5C-A6BF-541681F7EFA2}" dt="2026-09-07T10:18:15.089" v="35" actId="164"/>
          <ac:spMkLst>
            <pc:docMk/>
            <pc:sldMk cId="2102837376" sldId="358"/>
            <ac:spMk id="48"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49"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1"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4" creationId="{00000000-0000-0000-0000-000000000000}"/>
          </ac:spMkLst>
        </pc:spChg>
        <pc:grpChg chg="add mod">
          <ac:chgData name="Jean-Noel Sialou" userId="08acc5d2-3819-4be4-97e6-d593a92e8e16" providerId="ADAL" clId="{DC5A2AD4-2AC1-4F5C-A6BF-541681F7EFA2}" dt="2026-09-07T10:18:17.535" v="36" actId="164"/>
          <ac:grpSpMkLst>
            <pc:docMk/>
            <pc:sldMk cId="2102837376" sldId="358"/>
            <ac:grpSpMk id="3" creationId="{C9290073-F4B9-4E89-EC47-0D4815D405F9}"/>
          </ac:grpSpMkLst>
        </pc:grpChg>
        <pc:grpChg chg="add mod">
          <ac:chgData name="Jean-Noel Sialou" userId="08acc5d2-3819-4be4-97e6-d593a92e8e16" providerId="ADAL" clId="{DC5A2AD4-2AC1-4F5C-A6BF-541681F7EFA2}" dt="2026-09-07T10:18:17.535" v="36" actId="164"/>
          <ac:grpSpMkLst>
            <pc:docMk/>
            <pc:sldMk cId="2102837376" sldId="358"/>
            <ac:grpSpMk id="7" creationId="{D520CB44-6CB8-26BA-C481-1E6C90DCE023}"/>
          </ac:grpSpMkLst>
        </pc:grpChg>
        <pc:picChg chg="add mod">
          <ac:chgData name="Jean-Noel Sialou" userId="08acc5d2-3819-4be4-97e6-d593a92e8e16" providerId="ADAL" clId="{DC5A2AD4-2AC1-4F5C-A6BF-541681F7EFA2}" dt="2026-09-07T10:18:17.535" v="36" actId="164"/>
          <ac:picMkLst>
            <pc:docMk/>
            <pc:sldMk cId="2102837376" sldId="358"/>
            <ac:picMk id="5" creationId="{A59C829E-ED12-0019-96D2-4C72AF995693}"/>
          </ac:picMkLst>
        </pc:picChg>
        <pc:picChg chg="mod">
          <ac:chgData name="Jean-Noel Sialou" userId="08acc5d2-3819-4be4-97e6-d593a92e8e16" providerId="ADAL" clId="{DC5A2AD4-2AC1-4F5C-A6BF-541681F7EFA2}" dt="2026-09-07T10:18:15.089" v="35" actId="164"/>
          <ac:picMkLst>
            <pc:docMk/>
            <pc:sldMk cId="2102837376" sldId="358"/>
            <ac:picMk id="31" creationId="{00000000-0000-0000-0000-000000000000}"/>
          </ac:picMkLst>
        </pc:picChg>
        <pc:picChg chg="mod">
          <ac:chgData name="Jean-Noel Sialou" userId="08acc5d2-3819-4be4-97e6-d593a92e8e16" providerId="ADAL" clId="{DC5A2AD4-2AC1-4F5C-A6BF-541681F7EFA2}" dt="2026-09-07T10:18:17.535" v="36" actId="164"/>
          <ac:picMkLst>
            <pc:docMk/>
            <pc:sldMk cId="2102837376" sldId="358"/>
            <ac:picMk id="47"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0"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4"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65" creationId="{00000000-0000-0000-0000-000000000000}"/>
          </ac:picMkLst>
        </pc:picChg>
      </pc:sldChg>
    </pc:docChg>
  </pc:docChgLst>
  <pc:docChgLst>
    <pc:chgData name="Jean-Noel Sialou" userId="08acc5d2-3819-4be4-97e6-d593a92e8e16" providerId="ADAL" clId="{3E2E487B-B21A-43C3-A4E4-C31B8823D31F}"/>
    <pc:docChg chg="modSld">
      <pc:chgData name="Jean-Noel Sialou" userId="08acc5d2-3819-4be4-97e6-d593a92e8e16" providerId="ADAL" clId="{3E2E487B-B21A-43C3-A4E4-C31B8823D31F}" dt="2026-09-23T09:25:47.775" v="6" actId="164"/>
      <pc:docMkLst>
        <pc:docMk/>
      </pc:docMkLst>
      <pc:sldChg chg="modSp mod modAnim">
        <pc:chgData name="Jean-Noel Sialou" userId="08acc5d2-3819-4be4-97e6-d593a92e8e16" providerId="ADAL" clId="{3E2E487B-B21A-43C3-A4E4-C31B8823D31F}" dt="2026-09-15T10:14:35.637" v="5" actId="208"/>
        <pc:sldMkLst>
          <pc:docMk/>
          <pc:sldMk cId="2102837376" sldId="358"/>
        </pc:sldMkLst>
        <pc:spChg chg="mod">
          <ac:chgData name="Jean-Noel Sialou" userId="08acc5d2-3819-4be4-97e6-d593a92e8e16" providerId="ADAL" clId="{3E2E487B-B21A-43C3-A4E4-C31B8823D31F}" dt="2026-09-15T10:14:31.481" v="4" actId="207"/>
          <ac:spMkLst>
            <pc:docMk/>
            <pc:sldMk cId="2102837376" sldId="358"/>
            <ac:spMk id="40" creationId="{00000000-0000-0000-0000-000000000000}"/>
          </ac:spMkLst>
        </pc:spChg>
        <pc:spChg chg="mod">
          <ac:chgData name="Jean-Noel Sialou" userId="08acc5d2-3819-4be4-97e6-d593a92e8e16" providerId="ADAL" clId="{3E2E487B-B21A-43C3-A4E4-C31B8823D31F}" dt="2026-09-15T10:14:31.481" v="4" actId="207"/>
          <ac:spMkLst>
            <pc:docMk/>
            <pc:sldMk cId="2102837376" sldId="358"/>
            <ac:spMk id="41" creationId="{00000000-0000-0000-0000-000000000000}"/>
          </ac:spMkLst>
        </pc:spChg>
        <pc:grpChg chg="mod">
          <ac:chgData name="Jean-Noel Sialou" userId="08acc5d2-3819-4be4-97e6-d593a92e8e16" providerId="ADAL" clId="{3E2E487B-B21A-43C3-A4E4-C31B8823D31F}" dt="2026-09-15T10:14:06.017" v="1" actId="1076"/>
          <ac:grpSpMkLst>
            <pc:docMk/>
            <pc:sldMk cId="2102837376" sldId="358"/>
            <ac:grpSpMk id="7" creationId="{D520CB44-6CB8-26BA-C481-1E6C90DCE023}"/>
          </ac:grpSpMkLst>
        </pc:grpChg>
        <pc:cxnChg chg="mod">
          <ac:chgData name="Jean-Noel Sialou" userId="08acc5d2-3819-4be4-97e6-d593a92e8e16" providerId="ADAL" clId="{3E2E487B-B21A-43C3-A4E4-C31B8823D31F}" dt="2026-09-15T10:14:35.637" v="5" actId="208"/>
          <ac:cxnSpMkLst>
            <pc:docMk/>
            <pc:sldMk cId="2102837376" sldId="358"/>
            <ac:cxnSpMk id="77" creationId="{00000000-0000-0000-0000-000000000000}"/>
          </ac:cxnSpMkLst>
        </pc:cxnChg>
      </pc:sldChg>
      <pc:sldChg chg="addSp modSp modAnim">
        <pc:chgData name="Jean-Noel Sialou" userId="08acc5d2-3819-4be4-97e6-d593a92e8e16" providerId="ADAL" clId="{3E2E487B-B21A-43C3-A4E4-C31B8823D31F}" dt="2026-09-23T09:25:47.775" v="6" actId="164"/>
        <pc:sldMkLst>
          <pc:docMk/>
          <pc:sldMk cId="135173498" sldId="359"/>
        </pc:sldMkLst>
        <pc:spChg chg="mod">
          <ac:chgData name="Jean-Noel Sialou" userId="08acc5d2-3819-4be4-97e6-d593a92e8e16" providerId="ADAL" clId="{3E2E487B-B21A-43C3-A4E4-C31B8823D31F}" dt="2026-09-23T09:25:47.775" v="6" actId="164"/>
          <ac:spMkLst>
            <pc:docMk/>
            <pc:sldMk cId="135173498" sldId="359"/>
            <ac:spMk id="3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6"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7"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0"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9"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2"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6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E2DAE2-9FC7-48A6-84A5-82A6F426499B}" type="datetimeFigureOut">
              <a:rPr lang="fr-FR" smtClean="0"/>
              <a:t>22/09/2026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AB2686-849E-4084-A991-5071DA2BBBBD}" type="slidenum">
              <a:rPr lang="fr-FR" smtClean="0"/>
              <a:t>‹N°›</a:t>
            </a:fld>
            <a:endParaRPr lang="fr-FR"/>
          </a:p>
        </p:txBody>
      </p:sp>
    </p:spTree>
    <p:extLst>
      <p:ext uri="{BB962C8B-B14F-4D97-AF65-F5344CB8AC3E}">
        <p14:creationId xmlns:p14="http://schemas.microsoft.com/office/powerpoint/2010/main" val="710728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participants côté FPPN sont indiqués par leur fonction ; le nom de l'interlocuteur est à compléter.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 chaque forme et chaque flèche peuvent être déplacées dans PowerPoint. Les formes à contour rouge signalent une étape où un contrôle manque.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Les volumes cités en exemple pendant l'entretien ne sont pas repris.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 sur l'inventaire des fichiers lisibles reçus le 15/10/2026. Les fichiers vides sont comptés comme manquants.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2.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2.xml"/><Relationship Id="rId3" Type="http://schemas.openxmlformats.org/officeDocument/2006/relationships/oleObject" Target="../embeddings/oleObject2.bin"/><Relationship Id="rId4" Type="http://schemas.openxmlformats.org/officeDocument/2006/relationships/image" Target="../media/image2.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88630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322439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70939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22779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921375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75739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746722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376728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918188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7573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5641292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121349794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2668261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2">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817001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041227808"/>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52980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9506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20424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774805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696391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9657460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296543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5393278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648537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274899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3386442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55240017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reserve="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738263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2" preserve="1">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0582835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27383598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7" name="Image 16"/>
          <p:cNvPicPr>
            <a:picLocks noChangeAspect="1"/>
          </p:cNvPicPr>
          <p:nvPr userDrawn="1"/>
        </p:nvPicPr>
        <p:blipFill rotWithShape="1">
          <a:blip r:embed="rId17" cstate="print">
            <a:extLst>
              <a:ext uri="{28A0092B-C50C-407E-A947-70E740481C1C}">
                <a14:useLocalDpi xmlns:a14="http://schemas.microsoft.com/office/drawing/2010/main" val="0"/>
              </a:ext>
            </a:extLst>
          </a:blip>
          <a:srcRect l="-1" r="1564" b="34369"/>
          <a:stretch/>
        </p:blipFill>
        <p:spPr>
          <a:xfrm>
            <a:off x="-147909" y="-58723"/>
            <a:ext cx="12339909" cy="691672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
        <p:nvSpPr>
          <p:cNvPr id="15" name="ZoneTexte 14">
            <a:extLst>
              <a:ext uri="{FF2B5EF4-FFF2-40B4-BE49-F238E27FC236}">
                <a16:creationId xmlns:a16="http://schemas.microsoft.com/office/drawing/2014/main" id="{C6E7D94B-8E49-C846-A392-87DFA5EF4A9D}"/>
              </a:ext>
            </a:extLst>
          </p:cNvPr>
          <p:cNvSpPr txBox="1"/>
          <p:nvPr userDrawn="1"/>
        </p:nvSpPr>
        <p:spPr>
          <a:xfrm>
            <a:off x="221940" y="6394008"/>
            <a:ext cx="10929842" cy="261610"/>
          </a:xfrm>
          <a:prstGeom prst="rect">
            <a:avLst/>
          </a:prstGeom>
          <a:noFill/>
        </p:spPr>
        <p:txBody>
          <a:bodyPr wrap="square">
            <a:spAutoFit/>
          </a:bodyPr>
          <a:lstStyle/>
          <a:p>
            <a:r>
              <a:rPr lang="fr-FR" sz="1100">
                <a:solidFill>
                  <a:schemeClr val="bg1"/>
                </a:solidFill>
                <a:latin typeface="Helvetica" panose="020B0604020202020204" pitchFamily="34" charset="0"/>
                <a:cs typeface="Helvetica" panose="020B0604020202020204" pitchFamily="34" charset="0"/>
              </a:rPr>
              <a:t>Empreinte Africaine, Expertise Internationale</a:t>
            </a:r>
          </a:p>
        </p:txBody>
      </p:sp>
    </p:spTree>
    <p:extLst>
      <p:ext uri="{BB962C8B-B14F-4D97-AF65-F5344CB8AC3E}">
        <p14:creationId xmlns:p14="http://schemas.microsoft.com/office/powerpoint/2010/main" val="20634137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3" r:id="rId14"/>
    <p:sldLayoutId id="2147483664"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Image 7"/>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504" y="283"/>
            <a:ext cx="12190992" cy="685743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Tree>
    <p:extLst>
      <p:ext uri="{BB962C8B-B14F-4D97-AF65-F5344CB8AC3E}">
        <p14:creationId xmlns:p14="http://schemas.microsoft.com/office/powerpoint/2010/main" val="605055638"/>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cstate="print">
            <a:extLst>
              <a:ext uri="{28A0092B-C50C-407E-A947-70E740481C1C}">
                <a14:useLocalDpi xmlns:a14="http://schemas.microsoft.com/office/drawing/2010/main" val="0"/>
              </a:ext>
            </a:extLst>
          </a:blip>
          <a:srcRect l="-175" t="524" r="-2445" b="9082"/>
          <a:stretch/>
        </p:blipFill>
        <p:spPr>
          <a:xfrm>
            <a:off x="4883082" y="0"/>
            <a:ext cx="7785652" cy="6858000"/>
          </a:xfrm>
          <a:prstGeom prst="rect">
            <a:avLst/>
          </a:prstGeom>
        </p:spPr>
      </p:pic>
      <p:sp>
        <p:nvSpPr>
          <p:cNvPr id="5" name="Rectangle 4"/>
          <p:cNvSpPr/>
          <p:nvPr/>
        </p:nvSpPr>
        <p:spPr>
          <a:xfrm>
            <a:off x="13092" y="0"/>
            <a:ext cx="5740400" cy="6858000"/>
          </a:xfrm>
          <a:prstGeom prst="rect">
            <a:avLst/>
          </a:prstGeom>
          <a:solidFill>
            <a:srgbClr val="0606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8" name="Text Placeholder 4">
            <a:extLst>
              <a:ext uri="{FF2B5EF4-FFF2-40B4-BE49-F238E27FC236}">
                <a16:creationId xmlns:a16="http://schemas.microsoft.com/office/drawing/2014/main" id="{5B17207E-7FD3-4B75-ADFE-CC565F8DB8A1}"/>
              </a:ext>
            </a:extLst>
          </p:cNvPr>
          <p:cNvSpPr txBox="1">
            <a:spLocks/>
          </p:cNvSpPr>
          <p:nvPr/>
        </p:nvSpPr>
        <p:spPr>
          <a:xfrm>
            <a:off x="10506325" y="6388244"/>
            <a:ext cx="1187835" cy="337676"/>
          </a:xfrm>
          <a:prstGeom prst="rect">
            <a:avLst/>
          </a:prstGeom>
        </p:spPr>
        <p:txBody>
          <a:bodyPr vert="horz" lIns="91440" tIns="45720" rIns="91440" bIns="45720" rtlCol="0" anchor="ctr">
            <a:noAutofit/>
          </a:bodyPr>
          <a:lstStyle>
            <a:defPPr>
              <a:defRPr lang="fr-FR"/>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CI" sz="1000" noProof="0">
                <a:solidFill>
                  <a:srgbClr val="FFFFFF"/>
                </a:solidFill>
                <a:latin typeface=".Helvetica"/>
                <a:ea typeface=".Helvetica Neue Interface" panose="020B0604020202020204" pitchFamily="34" charset="0"/>
                <a:cs typeface="Open Sans"/>
              </a:rPr>
              <a:t>19 octobre 2026</a:t>
            </a:r>
          </a:p>
        </p:txBody>
      </p:sp>
      <p:sp>
        <p:nvSpPr>
          <p:cNvPr id="9" name="Google Shape;138;p25"/>
          <p:cNvSpPr txBox="1"/>
          <p:nvPr/>
        </p:nvSpPr>
        <p:spPr>
          <a:xfrm>
            <a:off x="908861" y="2534894"/>
            <a:ext cx="4608000" cy="1231106"/>
          </a:xfrm>
          <a:prstGeom prst="rect">
            <a:avLst/>
          </a:prstGeom>
          <a:noFill/>
          <a:ln>
            <a:noFill/>
          </a:ln>
        </p:spPr>
        <p:txBody>
          <a:bodyPr spcFirstLastPara="1" wrap="square" lIns="0" tIns="0" rIns="0" bIns="0" anchor="t" anchorCtr="0">
            <a:spAutoFit/>
          </a:bodyPr>
          <a:lstStyle/>
          <a:p>
            <a:r>
              <a:rPr lang="fr-CI" sz="4000" b="1" noProof="0">
                <a:solidFill>
                  <a:schemeClr val="bg1"/>
                </a:solidFill>
                <a:latin typeface="Helvetica" panose="020B0604020202020204" pitchFamily="34" charset="0"/>
                <a:cs typeface="Helvetica" panose="020B0604020202020204" pitchFamily="34" charset="0"/>
              </a:rPr>
              <a:t>Entretien</a:t>
            </a:r>
          </a:p>
          <a:p>
            <a:r>
              <a:rPr lang="fr-CI" sz="4000" b="1" noProof="0">
                <a:solidFill>
                  <a:schemeClr val="bg1"/>
                </a:solidFill>
                <a:latin typeface="Helvetica" panose="020B0604020202020204" pitchFamily="34" charset="0"/>
                <a:cs typeface="Helvetica" panose="020B0604020202020204" pitchFamily="34" charset="0"/>
              </a:rPr>
              <a:t>Cotisations et</a:t>
            </a:r>
          </a:p>
          <a:p>
            <a:r>
              <a:rPr lang="fr-CI" sz="4000" b="1" noProof="0">
                <a:solidFill>
                  <a:schemeClr val="bg1"/>
                </a:solidFill>
                <a:latin typeface="Helvetica" panose="020B0604020202020204" pitchFamily="34" charset="0"/>
                <a:cs typeface="Helvetica" panose="020B0604020202020204" pitchFamily="34" charset="0"/>
              </a:rPr>
              <a:t>précomptes</a:t>
            </a:r>
          </a:p>
        </p:txBody>
      </p:sp>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2" name="Rectangle 11"/>
          <p:cNvSpPr/>
          <p:nvPr/>
        </p:nvSpPr>
        <p:spPr>
          <a:xfrm>
            <a:off x="9487408" y="229231"/>
            <a:ext cx="2704592" cy="1323439"/>
          </a:xfrm>
          <a:prstGeom prst="rect">
            <a:avLst/>
          </a:prstGeom>
        </p:spPr>
        <p:txBody>
          <a:bodyPr wrap="square">
            <a:spAutoFit/>
          </a:bodyPr>
          <a:lstStyle/>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SA au Capital de 100 millions FCFA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Immeuble le 24, 3e étage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Boulevard </a:t>
            </a:r>
            <a:r>
              <a:rPr lang="fr-CI" sz="1000" noProof="0" err="1">
                <a:solidFill>
                  <a:schemeClr val="bg1"/>
                </a:solidFill>
                <a:latin typeface="Helvetica" panose="020B0604020202020204" pitchFamily="34" charset="0"/>
                <a:ea typeface="Times New Roman" panose="02020603050405020304" pitchFamily="18" charset="0"/>
                <a:cs typeface="Helvetica" panose="020B0604020202020204" pitchFamily="34" charset="0"/>
              </a:rPr>
              <a:t>Clozel</a:t>
            </a: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 Plateau, Abidjan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06 BPM 459 Abidjan 06, Côte d’ivoire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NCC : 2404702K</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RCCM : CI-ABJ-03-2024-B14-00114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Tel (225) 27 20 33 90 90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www.adenka.ci</a:t>
            </a:r>
          </a:p>
        </p:txBody>
      </p:sp>
    </p:spTree>
    <p:extLst>
      <p:ext uri="{BB962C8B-B14F-4D97-AF65-F5344CB8AC3E}">
        <p14:creationId xmlns:p14="http://schemas.microsoft.com/office/powerpoint/2010/main" val="1047328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Informations de l'entretien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Entretien avec le responsable des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entretien consacré au circuit des précomptes, aux règles des produits et aux données des mutualistes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a:t>
            </a:r>
          </a:p>
        </p:txBody>
      </p:sp>
      <p:sp>
        <p:nvSpPr>
          <p:cNvPr id="31" name="Rectangle 30"/>
          <p:cNvSpPr/>
          <p:nvPr/>
        </p:nvSpPr>
        <p:spPr>
          <a:xfrm>
            <a:off x="503999" y="1386000"/>
            <a:ext cx="2700000" cy="64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000" y="1422000"/>
            <a:ext cx="2484000" cy="288000"/>
          </a:xfrm>
          <a:prstGeom prst="rect">
            <a:avLst/>
          </a:prstGeom>
          <a:noFill/>
        </p:spPr>
        <p:txBody>
          <a:bodyPr wrap="square" anchor="t" lIns="54000" rIns="54000"/>
          <a:lstStyle/>
          <a:p>
            <a:pPr algn="l"/>
            <a:r>
              <a:rPr sz="1500" b="1">
                <a:solidFill>
                  <a:srgbClr val="EFAC62"/>
                </a:solidFill>
                <a:latin typeface="Helvetica"/>
              </a:rPr>
              <a:t>19 octobre 2026</a:t>
            </a:r>
          </a:p>
        </p:txBody>
      </p:sp>
      <p:sp>
        <p:nvSpPr>
          <p:cNvPr id="33" name="TextBox 32"/>
          <p:cNvSpPr txBox="1"/>
          <p:nvPr/>
        </p:nvSpPr>
        <p:spPr>
          <a:xfrm>
            <a:off x="612000" y="1745999"/>
            <a:ext cx="2484000" cy="216000"/>
          </a:xfrm>
          <a:prstGeom prst="rect">
            <a:avLst/>
          </a:prstGeom>
          <a:noFill/>
        </p:spPr>
        <p:txBody>
          <a:bodyPr wrap="square" anchor="t" lIns="54000" rIns="54000"/>
          <a:lstStyle/>
          <a:p>
            <a:pPr algn="l"/>
            <a:r>
              <a:rPr sz="900" b="0">
                <a:solidFill>
                  <a:srgbClr val="53565A"/>
                </a:solidFill>
                <a:latin typeface="Helvetica"/>
              </a:rPr>
              <a:t>Date de l'entretien</a:t>
            </a:r>
          </a:p>
        </p:txBody>
      </p:sp>
      <p:sp>
        <p:nvSpPr>
          <p:cNvPr id="34" name="Rectangle 33"/>
          <p:cNvSpPr/>
          <p:nvPr/>
        </p:nvSpPr>
        <p:spPr>
          <a:xfrm>
            <a:off x="3348000" y="1386000"/>
            <a:ext cx="2700000" cy="64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56000" y="1422000"/>
            <a:ext cx="2484000" cy="288000"/>
          </a:xfrm>
          <a:prstGeom prst="rect">
            <a:avLst/>
          </a:prstGeom>
          <a:noFill/>
        </p:spPr>
        <p:txBody>
          <a:bodyPr wrap="square" anchor="t" lIns="54000" rIns="54000"/>
          <a:lstStyle/>
          <a:p>
            <a:pPr algn="l"/>
            <a:r>
              <a:rPr sz="1500" b="1">
                <a:solidFill>
                  <a:srgbClr val="EFAC62"/>
                </a:solidFill>
                <a:latin typeface="Helvetica"/>
              </a:rPr>
              <a:t>Cotisations</a:t>
            </a:r>
          </a:p>
        </p:txBody>
      </p:sp>
      <p:sp>
        <p:nvSpPr>
          <p:cNvPr id="36" name="TextBox 35"/>
          <p:cNvSpPr txBox="1"/>
          <p:nvPr/>
        </p:nvSpPr>
        <p:spPr>
          <a:xfrm>
            <a:off x="3456000" y="1745999"/>
            <a:ext cx="2484000" cy="216000"/>
          </a:xfrm>
          <a:prstGeom prst="rect">
            <a:avLst/>
          </a:prstGeom>
          <a:noFill/>
        </p:spPr>
        <p:txBody>
          <a:bodyPr wrap="square" anchor="t" lIns="54000" rIns="54000"/>
          <a:lstStyle/>
          <a:p>
            <a:pPr algn="l"/>
            <a:r>
              <a:rPr sz="900" b="0">
                <a:solidFill>
                  <a:srgbClr val="53565A"/>
                </a:solidFill>
                <a:latin typeface="Helvetica"/>
              </a:rPr>
              <a:t>Circuit des précomptes et produits</a:t>
            </a:r>
          </a:p>
        </p:txBody>
      </p:sp>
      <p:sp>
        <p:nvSpPr>
          <p:cNvPr id="37" name="Rectangle 36"/>
          <p:cNvSpPr/>
          <p:nvPr/>
        </p:nvSpPr>
        <p:spPr>
          <a:xfrm>
            <a:off x="6192000" y="1386000"/>
            <a:ext cx="2700000" cy="64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22000"/>
            <a:ext cx="2484000" cy="288000"/>
          </a:xfrm>
          <a:prstGeom prst="rect">
            <a:avLst/>
          </a:prstGeom>
          <a:noFill/>
        </p:spPr>
        <p:txBody>
          <a:bodyPr wrap="square" anchor="t" lIns="54000" rIns="54000"/>
          <a:lstStyle/>
          <a:p>
            <a:pPr algn="l"/>
            <a:r>
              <a:rPr sz="1500" b="1">
                <a:solidFill>
                  <a:srgbClr val="EFAC62"/>
                </a:solidFill>
                <a:latin typeface="Helvetica"/>
              </a:rPr>
              <a:t>Interlocuteur</a:t>
            </a:r>
          </a:p>
        </p:txBody>
      </p:sp>
      <p:sp>
        <p:nvSpPr>
          <p:cNvPr id="39" name="TextBox 38"/>
          <p:cNvSpPr txBox="1"/>
          <p:nvPr/>
        </p:nvSpPr>
        <p:spPr>
          <a:xfrm>
            <a:off x="6300000" y="1745999"/>
            <a:ext cx="2484000" cy="216000"/>
          </a:xfrm>
          <a:prstGeom prst="rect">
            <a:avLst/>
          </a:prstGeom>
          <a:noFill/>
        </p:spPr>
        <p:txBody>
          <a:bodyPr wrap="square" anchor="t" lIns="54000" rIns="54000"/>
          <a:lstStyle/>
          <a:p>
            <a:pPr algn="l"/>
            <a:r>
              <a:rPr sz="900" b="0">
                <a:solidFill>
                  <a:srgbClr val="53565A"/>
                </a:solidFill>
                <a:latin typeface="Helvetica"/>
              </a:rPr>
              <a:t>responsable des cotisations et informatique</a:t>
            </a:r>
          </a:p>
        </p:txBody>
      </p:sp>
      <p:sp>
        <p:nvSpPr>
          <p:cNvPr id="40" name="Rectangle 39"/>
          <p:cNvSpPr/>
          <p:nvPr/>
        </p:nvSpPr>
        <p:spPr>
          <a:xfrm>
            <a:off x="9036000" y="1386000"/>
            <a:ext cx="2700000" cy="648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44000" y="1422000"/>
            <a:ext cx="2484000" cy="288000"/>
          </a:xfrm>
          <a:prstGeom prst="rect">
            <a:avLst/>
          </a:prstGeom>
          <a:noFill/>
        </p:spPr>
        <p:txBody>
          <a:bodyPr wrap="square" anchor="t" lIns="54000" rIns="54000"/>
          <a:lstStyle/>
          <a:p>
            <a:pPr algn="l"/>
            <a:r>
              <a:rPr sz="1500" b="1">
                <a:solidFill>
                  <a:srgbClr val="EFAC62"/>
                </a:solidFill>
                <a:latin typeface="Helvetica"/>
              </a:rPr>
              <a:t>Documentation</a:t>
            </a:r>
          </a:p>
        </p:txBody>
      </p:sp>
      <p:sp>
        <p:nvSpPr>
          <p:cNvPr id="42" name="TextBox 41"/>
          <p:cNvSpPr txBox="1"/>
          <p:nvPr/>
        </p:nvSpPr>
        <p:spPr>
          <a:xfrm>
            <a:off x="9144000" y="1745999"/>
            <a:ext cx="2484000" cy="216000"/>
          </a:xfrm>
          <a:prstGeom prst="rect">
            <a:avLst/>
          </a:prstGeom>
          <a:noFill/>
        </p:spPr>
        <p:txBody>
          <a:bodyPr wrap="square" anchor="t" lIns="54000" rIns="54000"/>
          <a:lstStyle/>
          <a:p>
            <a:pPr algn="l"/>
            <a:r>
              <a:rPr sz="900" b="0">
                <a:solidFill>
                  <a:srgbClr val="53565A"/>
                </a:solidFill>
                <a:latin typeface="Helvetica"/>
              </a:rPr>
              <a:t>retour annoncé le jour même</a:t>
            </a:r>
          </a:p>
        </p:txBody>
      </p:sp>
      <p:graphicFrame>
        <p:nvGraphicFramePr>
          <p:cNvPr id="43" name="Table 42"/>
          <p:cNvGraphicFramePr>
            <a:graphicFrameLocks noGrp="1"/>
          </p:cNvGraphicFramePr>
          <p:nvPr/>
        </p:nvGraphicFramePr>
        <p:xfrm>
          <a:off x="503999" y="2232000"/>
          <a:ext cx="11231999" cy="1236302"/>
        </p:xfrm>
        <a:graphic>
          <a:graphicData uri="http://schemas.openxmlformats.org/drawingml/2006/table">
            <a:tbl>
              <a:tblPr firstRow="0" bandRow="0">
                <a:tableStyleId>{5940675A-B579-460E-94D1-54222C63F5DA}</a:tableStyleId>
              </a:tblPr>
              <a:tblGrid>
                <a:gridCol w="1655999"/>
                <a:gridCol w="2520000"/>
                <a:gridCol w="3816000"/>
                <a:gridCol w="3240000"/>
              </a:tblGrid>
              <a:tr h="225250">
                <a:tc>
                  <a:txBody>
                    <a:bodyPr/>
                    <a:lstStyle/>
                    <a:p>
                      <a:pPr marL="0" indent="0" lvl="0">
                        <a:buNone/>
                      </a:pPr>
                      <a:r>
                        <a:rPr sz="1100" b="1">
                          <a:solidFill>
                            <a:srgbClr val="FFFFFF"/>
                          </a:solidFill>
                          <a:latin typeface="Helvetica"/>
                        </a:rPr>
                        <a:t>Structure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Fonction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Rôle dans l'entretien</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FPPN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Nom à compléter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Responsable des cotisations et responsable informatique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Interlocuteur</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FPPN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Eliam Affolaby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Fonction à préciser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Contactée par téléphone pendant l'entretien, sur la hausse de l'EFC</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Adenka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Jean-Noël Sialou</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Consultant actuaire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Conduite de l'entretien</a:t>
                      </a:r>
                    </a:p>
                  </a:txBody>
                  <a:tcPr marL="43200" marR="43200" marT="14400" marB="14400" anchor="ctr">
                    <a:solidFill>
                      <a:srgbClr val="FFFFFF"/>
                    </a:solidFill>
                  </a:tcPr>
                </a:tc>
              </a:tr>
            </a:tbl>
          </a:graphicData>
        </a:graphic>
      </p:graphicFrame>
      <p:sp>
        <p:nvSpPr>
          <p:cNvPr id="44" name="TextBox 43"/>
          <p:cNvSpPr txBox="1"/>
          <p:nvPr/>
        </p:nvSpPr>
        <p:spPr>
          <a:xfrm>
            <a:off x="503999" y="3648303"/>
            <a:ext cx="11232000" cy="2219696"/>
          </a:xfrm>
          <a:prstGeom prst="rect">
            <a:avLst/>
          </a:prstGeom>
          <a:noFill/>
        </p:spPr>
        <p:txBody>
          <a:bodyPr wrap="square" lIns="54000" rIns="54000"/>
          <a:lstStyle/>
          <a:p>
            <a:pPr algn="just">
              <a:spcAft>
                <a:spcPts val="600"/>
              </a:spcAft>
            </a:pPr>
            <a:r>
              <a:rPr sz="1200" b="1">
                <a:solidFill>
                  <a:srgbClr val="060606"/>
                </a:solidFill>
                <a:latin typeface="Helvetica"/>
              </a:rPr>
              <a:t>Objet de l'entretien.</a:t>
            </a:r>
            <a:r>
              <a:rPr sz="1200" b="0">
                <a:solidFill>
                  <a:srgbClr val="060606"/>
                </a:solidFill>
                <a:latin typeface="Helvetica"/>
              </a:rPr>
              <a:t> Comprendre comment les cotisations sont précomptées et suivies, comment le barème est fixé et quelles règles s'appliquent à chaque produit.</a:t>
            </a:r>
          </a:p>
          <a:p>
            <a:pPr algn="just">
              <a:spcAft>
                <a:spcPts val="600"/>
              </a:spcAft>
            </a:pPr>
            <a:r>
              <a:rPr sz="1200" b="1">
                <a:solidFill>
                  <a:srgbClr val="060606"/>
                </a:solidFill>
                <a:latin typeface="Helvetica"/>
              </a:rPr>
              <a:t>Méthode.</a:t>
            </a:r>
            <a:r>
              <a:rPr sz="1200" b="0">
                <a:solidFill>
                  <a:srgbClr val="060606"/>
                </a:solidFill>
                <a:latin typeface="Helvetica"/>
              </a:rPr>
              <a:t> Chaque déclaration est présentée comme telle et confrontée aux fichiers de précomptes reçus le 15/10/2026. Les points non documentés sont repris dans la demande complémentaire de documents (PBC, items 56 à 70).</a:t>
            </a:r>
          </a:p>
        </p:txBody>
      </p:sp>
      <p:sp>
        <p:nvSpPr>
          <p:cNvPr id="45" name="TextBox 4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 | PBC : liste des documents demandés au client</a:t>
            </a:r>
          </a:p>
        </p:txBody>
      </p:sp>
    </p:spTree>
    <p:extLst>
      <p:ext uri="{BB962C8B-B14F-4D97-AF65-F5344CB8AC3E}">
        <p14:creationId xmlns:p14="http://schemas.microsoft.com/office/powerpoint/2010/main" val="77577176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Organisation du suivi des cotisations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sont suivies par le responsable informatique, sans contrôle des retours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responsable des cotisations produit les fichiers aller, mais aucun état des cotisations n'est tenu</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a:t>
            </a:r>
          </a:p>
        </p:txBody>
      </p:sp>
      <p:sp>
        <p:nvSpPr>
          <p:cNvPr id="31" name="Rounded Rectangle 30"/>
          <p:cNvSpPr/>
          <p:nvPr/>
        </p:nvSpPr>
        <p:spPr>
          <a:xfrm>
            <a:off x="503999" y="1404000"/>
            <a:ext cx="5508000" cy="1404000"/>
          </a:xfrm>
          <a:prstGeom prst="roundRect">
            <a:avLst/>
          </a:prstGeom>
          <a:noFill/>
          <a:ln w="19050">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5508000" cy="324000"/>
          </a:xfrm>
          <a:prstGeom prst="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000" y="1440000"/>
            <a:ext cx="5292000" cy="251999"/>
          </a:xfrm>
          <a:prstGeom prst="rect">
            <a:avLst/>
          </a:prstGeom>
          <a:noFill/>
        </p:spPr>
        <p:txBody>
          <a:bodyPr wrap="square" anchor="t" lIns="54000" rIns="54000"/>
          <a:lstStyle/>
          <a:p>
            <a:pPr algn="l"/>
            <a:r>
              <a:rPr sz="1300" b="1">
                <a:solidFill>
                  <a:srgbClr val="FFFFFF"/>
                </a:solidFill>
                <a:latin typeface="Helvetica"/>
              </a:rPr>
              <a:t>Fonction</a:t>
            </a:r>
          </a:p>
        </p:txBody>
      </p:sp>
      <p:sp>
        <p:nvSpPr>
          <p:cNvPr id="34" name="TextBox 33"/>
          <p:cNvSpPr txBox="1"/>
          <p:nvPr/>
        </p:nvSpPr>
        <p:spPr>
          <a:xfrm>
            <a:off x="647999" y="1800000"/>
            <a:ext cx="5220000" cy="972000"/>
          </a:xfrm>
          <a:prstGeom prst="rect">
            <a:avLst/>
          </a:prstGeom>
          <a:noFill/>
        </p:spPr>
        <p:txBody>
          <a:bodyPr wrap="square" anchor="t" lIns="54000" rIns="54000"/>
          <a:lstStyle/>
          <a:p>
            <a:pPr algn="l"/>
            <a:r>
              <a:rPr sz="1200" b="0">
                <a:solidFill>
                  <a:srgbClr val="060606"/>
                </a:solidFill>
                <a:latin typeface="Helvetica"/>
              </a:rPr>
              <a:t>Le responsable des cotisations est aussi le responsable informatique. Il gère les cotisations parce qu'il maîtrise le logiciel qui produit les fichiers.</a:t>
            </a:r>
          </a:p>
        </p:txBody>
      </p:sp>
      <p:sp>
        <p:nvSpPr>
          <p:cNvPr id="35" name="Rounded Rectangle 34"/>
          <p:cNvSpPr/>
          <p:nvPr/>
        </p:nvSpPr>
        <p:spPr>
          <a:xfrm>
            <a:off x="6228000" y="1404000"/>
            <a:ext cx="5508000" cy="1404000"/>
          </a:xfrm>
          <a:prstGeom prst="roundRect">
            <a:avLst/>
          </a:prstGeom>
          <a:noFill/>
          <a:ln w="19050">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28000" y="1404000"/>
            <a:ext cx="5508000" cy="324000"/>
          </a:xfrm>
          <a:prstGeom prst="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36000" y="1440000"/>
            <a:ext cx="5292000" cy="251999"/>
          </a:xfrm>
          <a:prstGeom prst="rect">
            <a:avLst/>
          </a:prstGeom>
          <a:noFill/>
        </p:spPr>
        <p:txBody>
          <a:bodyPr wrap="square" anchor="t" lIns="54000" rIns="54000"/>
          <a:lstStyle/>
          <a:p>
            <a:pPr algn="l"/>
            <a:r>
              <a:rPr sz="1300" b="1">
                <a:solidFill>
                  <a:srgbClr val="FFFFFF"/>
                </a:solidFill>
                <a:latin typeface="Helvetica"/>
              </a:rPr>
              <a:t>Équipe</a:t>
            </a:r>
          </a:p>
        </p:txBody>
      </p:sp>
      <p:sp>
        <p:nvSpPr>
          <p:cNvPr id="38" name="TextBox 37"/>
          <p:cNvSpPr txBox="1"/>
          <p:nvPr/>
        </p:nvSpPr>
        <p:spPr>
          <a:xfrm>
            <a:off x="6372000" y="1800000"/>
            <a:ext cx="5220000" cy="972000"/>
          </a:xfrm>
          <a:prstGeom prst="rect">
            <a:avLst/>
          </a:prstGeom>
          <a:noFill/>
        </p:spPr>
        <p:txBody>
          <a:bodyPr wrap="square" anchor="t" lIns="54000" rIns="54000"/>
          <a:lstStyle/>
          <a:p>
            <a:pPr algn="l"/>
            <a:r>
              <a:rPr sz="1200" b="0">
                <a:solidFill>
                  <a:srgbClr val="060606"/>
                </a:solidFill>
                <a:latin typeface="Helvetica"/>
              </a:rPr>
              <a:t>Des collaborateurs traitent chaque jour les souscriptions, les rachats et les demandes des mutualistes. L'interlocuteur les décrit comme très chargés.</a:t>
            </a:r>
          </a:p>
        </p:txBody>
      </p:sp>
      <p:sp>
        <p:nvSpPr>
          <p:cNvPr id="39" name="Rounded Rectangle 38"/>
          <p:cNvSpPr/>
          <p:nvPr/>
        </p:nvSpPr>
        <p:spPr>
          <a:xfrm>
            <a:off x="503999" y="2951999"/>
            <a:ext cx="5508000" cy="1404000"/>
          </a:xfrm>
          <a:prstGeom prst="roundRect">
            <a:avLst/>
          </a:prstGeom>
          <a:noFill/>
          <a:ln w="19050">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2951999"/>
            <a:ext cx="5508000" cy="324000"/>
          </a:xfrm>
          <a:prstGeom prst="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000" y="2987999"/>
            <a:ext cx="5292000" cy="251999"/>
          </a:xfrm>
          <a:prstGeom prst="rect">
            <a:avLst/>
          </a:prstGeom>
          <a:noFill/>
        </p:spPr>
        <p:txBody>
          <a:bodyPr wrap="square" anchor="t" lIns="54000" rIns="54000"/>
          <a:lstStyle/>
          <a:p>
            <a:pPr algn="l"/>
            <a:r>
              <a:rPr sz="1300" b="1">
                <a:solidFill>
                  <a:srgbClr val="FFFFFF"/>
                </a:solidFill>
                <a:latin typeface="Helvetica"/>
              </a:rPr>
              <a:t>Barème</a:t>
            </a:r>
          </a:p>
        </p:txBody>
      </p:sp>
      <p:sp>
        <p:nvSpPr>
          <p:cNvPr id="42" name="TextBox 41"/>
          <p:cNvSpPr txBox="1"/>
          <p:nvPr/>
        </p:nvSpPr>
        <p:spPr>
          <a:xfrm>
            <a:off x="647999" y="3347999"/>
            <a:ext cx="5220000" cy="972000"/>
          </a:xfrm>
          <a:prstGeom prst="rect">
            <a:avLst/>
          </a:prstGeom>
          <a:noFill/>
        </p:spPr>
        <p:txBody>
          <a:bodyPr wrap="square" anchor="t" lIns="54000" rIns="54000"/>
          <a:lstStyle/>
          <a:p>
            <a:pPr algn="l"/>
            <a:r>
              <a:rPr sz="1200" b="0">
                <a:solidFill>
                  <a:srgbClr val="060606"/>
                </a:solidFill>
                <a:latin typeface="Helvetica"/>
              </a:rPr>
              <a:t>L'interlocuteur renvoie à la comptabilité pour la répartition du taux entre maladie et décès. Le barème doit être déposé sur la plateforme de partage.</a:t>
            </a:r>
          </a:p>
        </p:txBody>
      </p:sp>
      <p:sp>
        <p:nvSpPr>
          <p:cNvPr id="43" name="Rounded Rectangle 42"/>
          <p:cNvSpPr/>
          <p:nvPr/>
        </p:nvSpPr>
        <p:spPr>
          <a:xfrm>
            <a:off x="6228000" y="2951999"/>
            <a:ext cx="5508000" cy="1404000"/>
          </a:xfrm>
          <a:prstGeom prst="roundRect">
            <a:avLst/>
          </a:prstGeom>
          <a:noFill/>
          <a:ln w="19050">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28000" y="2951999"/>
            <a:ext cx="5508000" cy="324000"/>
          </a:xfrm>
          <a:prstGeom prst="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36000" y="2987999"/>
            <a:ext cx="5292000" cy="251999"/>
          </a:xfrm>
          <a:prstGeom prst="rect">
            <a:avLst/>
          </a:prstGeom>
          <a:noFill/>
        </p:spPr>
        <p:txBody>
          <a:bodyPr wrap="square" anchor="t" lIns="54000" rIns="54000"/>
          <a:lstStyle/>
          <a:p>
            <a:pPr algn="l"/>
            <a:r>
              <a:rPr sz="1300" b="1">
                <a:solidFill>
                  <a:srgbClr val="FFFFFF"/>
                </a:solidFill>
                <a:latin typeface="Helvetica"/>
              </a:rPr>
              <a:t>Suivi</a:t>
            </a:r>
          </a:p>
        </p:txBody>
      </p:sp>
      <p:sp>
        <p:nvSpPr>
          <p:cNvPr id="46" name="TextBox 45"/>
          <p:cNvSpPr txBox="1"/>
          <p:nvPr/>
        </p:nvSpPr>
        <p:spPr>
          <a:xfrm>
            <a:off x="6372000" y="3347999"/>
            <a:ext cx="5220000" cy="972000"/>
          </a:xfrm>
          <a:prstGeom prst="rect">
            <a:avLst/>
          </a:prstGeom>
          <a:noFill/>
        </p:spPr>
        <p:txBody>
          <a:bodyPr wrap="square" anchor="t" lIns="54000" rIns="54000"/>
          <a:lstStyle/>
          <a:p>
            <a:pPr algn="l"/>
            <a:r>
              <a:rPr sz="1200" b="0">
                <a:solidFill>
                  <a:srgbClr val="060606"/>
                </a:solidFill>
                <a:latin typeface="Helvetica"/>
              </a:rPr>
              <a:t>Il n'existe ni état des cotisations, ni rapprochement des fichiers aller et retour, ni suivi des précomptes mutualiste par mutualiste.</a:t>
            </a:r>
          </a:p>
        </p:txBody>
      </p:sp>
      <p:sp>
        <p:nvSpPr>
          <p:cNvPr id="47" name="TextBox 46"/>
          <p:cNvSpPr txBox="1"/>
          <p:nvPr/>
        </p:nvSpPr>
        <p:spPr>
          <a:xfrm>
            <a:off x="503999" y="4536000"/>
            <a:ext cx="11232000" cy="1332000"/>
          </a:xfrm>
          <a:prstGeom prst="rect">
            <a:avLst/>
          </a:prstGeom>
          <a:noFill/>
        </p:spPr>
        <p:txBody>
          <a:bodyPr wrap="square" lIns="54000" rIns="54000"/>
          <a:lstStyle/>
          <a:p>
            <a:pPr algn="just">
              <a:spcAft>
                <a:spcPts val="600"/>
              </a:spcAft>
            </a:pPr>
            <a:r>
              <a:rPr sz="1200" b="1">
                <a:solidFill>
                  <a:srgbClr val="060606"/>
                </a:solidFill>
                <a:latin typeface="Helvetica"/>
              </a:rPr>
              <a:t>Le suivi des cotisations repose sur une seule personne, dont ce n'est pas le métier principal.</a:t>
            </a:r>
            <a:r>
              <a:rPr sz="1200" b="0">
                <a:solidFill>
                  <a:srgbClr val="060606"/>
                </a:solidFill>
                <a:latin typeface="Helvetica"/>
              </a:rPr>
              <a:t> Les fichiers sont produits et déposés chaque mois, mais leur retour n'est ni contrôlé ni rapproché.</a:t>
            </a:r>
          </a:p>
          <a:p>
            <a:pPr algn="just">
              <a:spcAft>
                <a:spcPts val="600"/>
              </a:spcAft>
            </a:pPr>
            <a:r>
              <a:rPr sz="1200" b="1">
                <a:solidFill>
                  <a:srgbClr val="060606"/>
                </a:solidFill>
                <a:latin typeface="Helvetica"/>
              </a:rPr>
              <a:t>Implication pour la mission.</a:t>
            </a:r>
            <a:r>
              <a:rPr sz="1200" b="0">
                <a:solidFill>
                  <a:srgbClr val="060606"/>
                </a:solidFill>
                <a:latin typeface="Helvetica"/>
              </a:rPr>
              <a:t> Les écarts entre ce qui est demandé et ce qui est précompté ne sont pas expliqués par le FPPN : Adenka les mesure à partir des fichiers (rapport, partie 3), mais leur justification doit venir du FPPN.</a:t>
            </a:r>
          </a:p>
        </p:txBody>
      </p:sp>
      <p:sp>
        <p:nvSpPr>
          <p:cNvPr id="48" name="TextBox 4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82713114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maladie et le décès suivent un circuit direct que le FPPN ne maîtrise pas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produits complémentaires passent par la plateforme de partage, la maladie et le décès sont transmis en direct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a:t>
            </a:r>
          </a:p>
        </p:txBody>
      </p:sp>
      <p:sp>
        <p:nvSpPr>
          <p:cNvPr id="31" name="Rectangle 30"/>
          <p:cNvSpPr/>
          <p:nvPr/>
        </p:nvSpPr>
        <p:spPr>
          <a:xfrm>
            <a:off x="503999" y="1404000"/>
            <a:ext cx="11232000" cy="864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864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Direction du personnel de la Police</a:t>
            </a:r>
          </a:p>
        </p:txBody>
      </p:sp>
      <p:sp>
        <p:nvSpPr>
          <p:cNvPr id="33" name="Rectangle 32"/>
          <p:cNvSpPr/>
          <p:nvPr/>
        </p:nvSpPr>
        <p:spPr>
          <a:xfrm>
            <a:off x="503999" y="2268000"/>
            <a:ext cx="11232000" cy="864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268000"/>
            <a:ext cx="1404000" cy="864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Solde, CGRAE, GNA</a:t>
            </a:r>
          </a:p>
        </p:txBody>
      </p:sp>
      <p:sp>
        <p:nvSpPr>
          <p:cNvPr id="35" name="Rectangle 34"/>
          <p:cNvSpPr/>
          <p:nvPr/>
        </p:nvSpPr>
        <p:spPr>
          <a:xfrm>
            <a:off x="503999" y="3131999"/>
            <a:ext cx="11232000" cy="864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131999"/>
            <a:ext cx="1404000" cy="864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Plateforme de partage</a:t>
            </a:r>
          </a:p>
        </p:txBody>
      </p:sp>
      <p:sp>
        <p:nvSpPr>
          <p:cNvPr id="37" name="Rectangle 36"/>
          <p:cNvSpPr/>
          <p:nvPr/>
        </p:nvSpPr>
        <p:spPr>
          <a:xfrm>
            <a:off x="503999" y="3996000"/>
            <a:ext cx="11232000" cy="864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996000"/>
            <a:ext cx="1404000" cy="864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responsable des cotisations</a:t>
            </a:r>
          </a:p>
        </p:txBody>
      </p:sp>
      <p:sp>
        <p:nvSpPr>
          <p:cNvPr id="39" name="Logigramme a1"/>
          <p:cNvSpPr/>
          <p:nvPr/>
        </p:nvSpPr>
        <p:spPr>
          <a:xfrm>
            <a:off x="2015999" y="1530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a:t>
            </a:r>
          </a:p>
          <a:p>
            <a:pPr algn="ctr"/>
            <a:r>
              <a:rPr sz="850" b="0">
                <a:solidFill>
                  <a:srgbClr val="060606"/>
                </a:solidFill>
                <a:latin typeface="Helvetica"/>
              </a:rPr>
              <a:t>936 et 8Z6</a:t>
            </a:r>
          </a:p>
        </p:txBody>
      </p:sp>
      <p:sp>
        <p:nvSpPr>
          <p:cNvPr id="40" name="Logigramme a2"/>
          <p:cNvSpPr/>
          <p:nvPr/>
        </p:nvSpPr>
        <p:spPr>
          <a:xfrm>
            <a:off x="2015999" y="2394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(Solde)</a:t>
            </a:r>
          </a:p>
        </p:txBody>
      </p:sp>
      <p:sp>
        <p:nvSpPr>
          <p:cNvPr id="41" name="Logigramme a3"/>
          <p:cNvSpPr/>
          <p:nvPr/>
        </p:nvSpPr>
        <p:spPr>
          <a:xfrm>
            <a:off x="3401999" y="4121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 reçu</a:t>
            </a:r>
          </a:p>
          <a:p>
            <a:pPr algn="ctr"/>
            <a:r>
              <a:rPr sz="850" b="0">
                <a:solidFill>
                  <a:srgbClr val="060606"/>
                </a:solidFill>
                <a:latin typeface="Helvetica"/>
              </a:rPr>
              <a:t>en direct, canal à préciser</a:t>
            </a:r>
          </a:p>
        </p:txBody>
      </p:sp>
      <p:sp>
        <p:nvSpPr>
          <p:cNvPr id="42" name="Logigramme a4"/>
          <p:cNvSpPr/>
          <p:nvPr/>
        </p:nvSpPr>
        <p:spPr>
          <a:xfrm>
            <a:off x="4788000" y="4086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au FPPN ?</a:t>
            </a:r>
          </a:p>
        </p:txBody>
      </p:sp>
      <p:sp>
        <p:nvSpPr>
          <p:cNvPr id="43" name="Logigramme a5"/>
          <p:cNvSpPr/>
          <p:nvPr/>
        </p:nvSpPr>
        <p:spPr>
          <a:xfrm>
            <a:off x="6173999" y="4114800"/>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Rapprochement</a:t>
            </a:r>
          </a:p>
          <a:p>
            <a:pPr algn="ctr"/>
            <a:r>
              <a:rPr sz="850" b="1">
                <a:solidFill>
                  <a:srgbClr val="C00000"/>
                </a:solidFill>
                <a:latin typeface="Helvetica"/>
              </a:rPr>
              <a:t>impossible</a:t>
            </a:r>
          </a:p>
        </p:txBody>
      </p:sp>
      <p:cxnSp>
        <p:nvCxnSpPr>
          <p:cNvPr id="44" name="Flèche a1 vers a2"/>
          <p:cNvCxnSpPr>
            <a:stCxn id="39" idx="2"/>
            <a:endCxn id="40" idx="0"/>
          </p:cNvCxnSpPr>
          <p:nvPr/>
        </p:nvCxnSpPr>
        <p:spPr>
          <a:xfrm flipH="1">
            <a:off x="2627999" y="2142000"/>
            <a:ext cx="0" cy="25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681999" y="2160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transmission directe</a:t>
            </a:r>
          </a:p>
        </p:txBody>
      </p:sp>
      <p:cxnSp>
        <p:nvCxnSpPr>
          <p:cNvPr id="46" name="Flèche a2 vers a3"/>
          <p:cNvCxnSpPr>
            <a:stCxn id="40" idx="3"/>
            <a:endCxn id="41" idx="0"/>
          </p:cNvCxnSpPr>
          <p:nvPr/>
        </p:nvCxnSpPr>
        <p:spPr>
          <a:xfrm>
            <a:off x="3239999" y="2700000"/>
            <a:ext cx="774000" cy="1421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3283198" y="2520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sans partage</a:t>
            </a:r>
          </a:p>
        </p:txBody>
      </p:sp>
      <p:cxnSp>
        <p:nvCxnSpPr>
          <p:cNvPr id="48" name="Flèche a3 vers a4"/>
          <p:cNvCxnSpPr>
            <a:stCxn id="41" idx="3"/>
            <a:endCxn id="42" idx="1"/>
          </p:cNvCxnSpPr>
          <p:nvPr/>
        </p:nvCxnSpPr>
        <p:spPr>
          <a:xfrm>
            <a:off x="4625999" y="4427999"/>
            <a:ext cx="162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a4 vers a5"/>
          <p:cNvCxnSpPr>
            <a:stCxn id="42" idx="3"/>
            <a:endCxn id="43" idx="1"/>
          </p:cNvCxnSpPr>
          <p:nvPr/>
        </p:nvCxnSpPr>
        <p:spPr>
          <a:xfrm flipV="1">
            <a:off x="6012000" y="4420800"/>
            <a:ext cx="161999" cy="7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055200" y="4248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sp>
        <p:nvSpPr>
          <p:cNvPr id="51" name="Logigramme b1"/>
          <p:cNvSpPr/>
          <p:nvPr/>
        </p:nvSpPr>
        <p:spPr>
          <a:xfrm>
            <a:off x="7560000" y="4121999"/>
            <a:ext cx="1224000" cy="61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Souscriptions</a:t>
            </a:r>
          </a:p>
          <a:p>
            <a:pPr algn="ctr"/>
            <a:r>
              <a:rPr sz="850" b="1">
                <a:solidFill>
                  <a:srgbClr val="FFFFFF"/>
                </a:solidFill>
                <a:latin typeface="Helvetica"/>
              </a:rPr>
              <a:t>EFC, PEP, prêts, GNA, MEDOC</a:t>
            </a:r>
          </a:p>
        </p:txBody>
      </p:sp>
      <p:sp>
        <p:nvSpPr>
          <p:cNvPr id="52" name="Logigramme b2"/>
          <p:cNvSpPr/>
          <p:nvPr/>
        </p:nvSpPr>
        <p:spPr>
          <a:xfrm>
            <a:off x="8946000" y="4121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 mensuel</a:t>
            </a:r>
          </a:p>
          <a:p>
            <a:pPr algn="ctr"/>
            <a:r>
              <a:rPr sz="850" b="0">
                <a:solidFill>
                  <a:srgbClr val="060606"/>
                </a:solidFill>
                <a:latin typeface="Helvetica"/>
              </a:rPr>
              <a:t>mécano, code, montant</a:t>
            </a:r>
          </a:p>
        </p:txBody>
      </p:sp>
      <p:sp>
        <p:nvSpPr>
          <p:cNvPr id="53" name="Logigramme b3"/>
          <p:cNvSpPr/>
          <p:nvPr/>
        </p:nvSpPr>
        <p:spPr>
          <a:xfrm>
            <a:off x="8946000" y="3257999"/>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Dépôt du</a:t>
            </a:r>
          </a:p>
          <a:p>
            <a:pPr algn="ctr"/>
            <a:r>
              <a:rPr sz="850" b="0">
                <a:solidFill>
                  <a:srgbClr val="060606"/>
                </a:solidFill>
                <a:latin typeface="Helvetica"/>
              </a:rPr>
              <a:t>fichier aller</a:t>
            </a:r>
          </a:p>
        </p:txBody>
      </p:sp>
      <p:sp>
        <p:nvSpPr>
          <p:cNvPr id="54" name="Logigramme b4"/>
          <p:cNvSpPr/>
          <p:nvPr/>
        </p:nvSpPr>
        <p:spPr>
          <a:xfrm>
            <a:off x="8946000" y="2394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ou pension</a:t>
            </a:r>
          </a:p>
        </p:txBody>
      </p:sp>
      <p:sp>
        <p:nvSpPr>
          <p:cNvPr id="55" name="Logigramme b5"/>
          <p:cNvSpPr/>
          <p:nvPr/>
        </p:nvSpPr>
        <p:spPr>
          <a:xfrm>
            <a:off x="10332000" y="3257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a:t>
            </a:r>
          </a:p>
          <a:p>
            <a:pPr algn="ctr"/>
            <a:r>
              <a:rPr sz="850" b="0">
                <a:solidFill>
                  <a:srgbClr val="060606"/>
                </a:solidFill>
                <a:latin typeface="Helvetica"/>
              </a:rPr>
              <a:t>et état des rejets récent</a:t>
            </a:r>
          </a:p>
        </p:txBody>
      </p:sp>
      <p:sp>
        <p:nvSpPr>
          <p:cNvPr id="56" name="Logigramme b6"/>
          <p:cNvSpPr/>
          <p:nvPr/>
        </p:nvSpPr>
        <p:spPr>
          <a:xfrm>
            <a:off x="10332000" y="4121999"/>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Retour conservé,</a:t>
            </a:r>
          </a:p>
          <a:p>
            <a:pPr algn="ctr"/>
            <a:r>
              <a:rPr sz="850" b="1">
                <a:solidFill>
                  <a:srgbClr val="C00000"/>
                </a:solidFill>
                <a:latin typeface="Helvetica"/>
              </a:rPr>
              <a:t>sans rapprochement</a:t>
            </a:r>
          </a:p>
        </p:txBody>
      </p:sp>
      <p:cxnSp>
        <p:nvCxnSpPr>
          <p:cNvPr id="57" name="Flèche b1 vers b2"/>
          <p:cNvCxnSpPr>
            <a:stCxn id="51" idx="3"/>
            <a:endCxn id="52" idx="1"/>
          </p:cNvCxnSpPr>
          <p:nvPr/>
        </p:nvCxnSpPr>
        <p:spPr>
          <a:xfrm flipV="1">
            <a:off x="8784000" y="4427999"/>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b2 vers b3"/>
          <p:cNvCxnSpPr>
            <a:stCxn id="52" idx="0"/>
            <a:endCxn id="53" idx="2"/>
          </p:cNvCxnSpPr>
          <p:nvPr/>
        </p:nvCxnSpPr>
        <p:spPr>
          <a:xfrm flipH="1" flipV="1">
            <a:off x="9558000" y="3869999"/>
            <a:ext cx="0" cy="25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Flèche b3 vers b4"/>
          <p:cNvCxnSpPr>
            <a:stCxn id="53" idx="0"/>
            <a:endCxn id="54" idx="2"/>
          </p:cNvCxnSpPr>
          <p:nvPr/>
        </p:nvCxnSpPr>
        <p:spPr>
          <a:xfrm flipH="1" flipV="1">
            <a:off x="9558000" y="3006000"/>
            <a:ext cx="0" cy="251999"/>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b4 vers b5"/>
          <p:cNvCxnSpPr>
            <a:stCxn id="54" idx="3"/>
            <a:endCxn id="55" idx="0"/>
          </p:cNvCxnSpPr>
          <p:nvPr/>
        </p:nvCxnSpPr>
        <p:spPr>
          <a:xfrm>
            <a:off x="10170000" y="2700000"/>
            <a:ext cx="774000" cy="557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b5 vers b6"/>
          <p:cNvCxnSpPr>
            <a:stCxn id="55" idx="2"/>
            <a:endCxn id="56" idx="0"/>
          </p:cNvCxnSpPr>
          <p:nvPr/>
        </p:nvCxnSpPr>
        <p:spPr>
          <a:xfrm flipH="1">
            <a:off x="10944000" y="3869999"/>
            <a:ext cx="0" cy="25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015999" y="1396800"/>
            <a:ext cx="2736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obligatoires</a:t>
            </a:r>
          </a:p>
        </p:txBody>
      </p:sp>
      <p:sp>
        <p:nvSpPr>
          <p:cNvPr id="63" name="TextBox 62"/>
          <p:cNvSpPr txBox="1"/>
          <p:nvPr/>
        </p:nvSpPr>
        <p:spPr>
          <a:xfrm>
            <a:off x="7560000" y="1396800"/>
            <a:ext cx="4104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complémentaires, retraités et flotte automobile</a:t>
            </a:r>
          </a:p>
        </p:txBody>
      </p:sp>
      <p:sp>
        <p:nvSpPr>
          <p:cNvPr id="64" name="TextBox 63"/>
          <p:cNvSpPr txBox="1"/>
          <p:nvPr/>
        </p:nvSpPr>
        <p:spPr>
          <a:xfrm>
            <a:off x="503999" y="4950000"/>
            <a:ext cx="11232000" cy="918000"/>
          </a:xfrm>
          <a:prstGeom prst="rect">
            <a:avLst/>
          </a:prstGeom>
          <a:noFill/>
        </p:spPr>
        <p:txBody>
          <a:bodyPr wrap="square" lIns="54000" rIns="54000"/>
          <a:lstStyle/>
          <a:p>
            <a:pPr algn="just">
              <a:spcAft>
                <a:spcPts val="600"/>
              </a:spcAft>
            </a:pPr>
            <a:r>
              <a:rPr sz="950" b="1">
                <a:solidFill>
                  <a:srgbClr val="060606"/>
                </a:solidFill>
                <a:latin typeface="Helvetica"/>
              </a:rPr>
              <a:t>Deux circuits coexistent.</a:t>
            </a:r>
            <a:r>
              <a:rPr sz="950" b="0">
                <a:solidFill>
                  <a:srgbClr val="060606"/>
                </a:solidFill>
                <a:latin typeface="Helvetica"/>
              </a:rPr>
              <a:t> Pour la maladie et le décès, la direction du personnel de la Police transmet directement le fichier aller à la Solde, sans plateforme de partage, et le FPPN ne reçoit que le retour. Pour les produits complémentaires, les retraités et la flotte automobile, le responsable des cotisations dépose le fichier aller sur la plateforme et l'entité concernée y dépose le retour.</a:t>
            </a:r>
          </a:p>
          <a:p>
            <a:pPr algn="just">
              <a:spcAft>
                <a:spcPts val="600"/>
              </a:spcAft>
            </a:pPr>
            <a:r>
              <a:rPr sz="950" b="1">
                <a:solidFill>
                  <a:srgbClr val="060606"/>
                </a:solidFill>
                <a:latin typeface="Helvetica"/>
              </a:rPr>
              <a:t>Implication pour le FPPN.</a:t>
            </a:r>
            <a:r>
              <a:rPr sz="950" b="0">
                <a:solidFill>
                  <a:srgbClr val="060606"/>
                </a:solidFill>
                <a:latin typeface="Helvetica"/>
              </a:rPr>
              <a:t> Pour la maladie et le décès, le FPPN ne dispose pas de ce qui aurait dû être précompté : il ne peut pas mesurer ses pertes de cotisations. Pour les autres produits, il dispose des deux fichiers mais ne les rapproche pas.</a:t>
            </a:r>
          </a:p>
        </p:txBody>
      </p:sp>
      <p:sp>
        <p:nvSpPr>
          <p:cNvPr id="65" name="TextBox 6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a:t>
            </a:r>
          </a:p>
        </p:txBody>
      </p:sp>
    </p:spTree>
    <p:extLst>
      <p:ext uri="{BB962C8B-B14F-4D97-AF65-F5344CB8AC3E}">
        <p14:creationId xmlns:p14="http://schemas.microsoft.com/office/powerpoint/2010/main" val="42546823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fichiers par produit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ne produit pas les fichiers aller de la maladie et du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circuits, dont trois passent par la plateforme de partage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 ; fichiers de précomptes reçus le 15/10/2026,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Circuit des fichiers par produit, selon l'interlocuteur</a:t>
            </a:r>
          </a:p>
        </p:txBody>
      </p:sp>
      <p:graphicFrame>
        <p:nvGraphicFramePr>
          <p:cNvPr id="32" name="Table 31"/>
          <p:cNvGraphicFramePr>
            <a:graphicFrameLocks noGrp="1"/>
          </p:cNvGraphicFramePr>
          <p:nvPr/>
        </p:nvGraphicFramePr>
        <p:xfrm>
          <a:off x="503999" y="1655999"/>
          <a:ext cx="11232000" cy="1964505"/>
        </p:xfrm>
        <a:graphic>
          <a:graphicData uri="http://schemas.openxmlformats.org/drawingml/2006/table">
            <a:tbl>
              <a:tblPr firstRow="0" bandRow="0">
                <a:tableStyleId>{5940675A-B579-460E-94D1-54222C63F5DA}</a:tableStyleId>
              </a:tblPr>
              <a:tblGrid>
                <a:gridCol w="2448000"/>
                <a:gridCol w="3024000"/>
                <a:gridCol w="1296000"/>
                <a:gridCol w="2880000"/>
                <a:gridCol w="1584000"/>
              </a:tblGrid>
              <a:tr h="392901">
                <a:tc>
                  <a:txBody>
                    <a:bodyPr/>
                    <a:lstStyle/>
                    <a:p>
                      <a:pPr marL="0" indent="0" lvl="0">
                        <a:buNone/>
                      </a:pPr>
                      <a:r>
                        <a:rPr sz="1100" b="1">
                          <a:solidFill>
                            <a:srgbClr val="FFFFFF"/>
                          </a:solidFill>
                          <a:latin typeface="Helvetica"/>
                        </a:rPr>
                        <a:t>Produits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aller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Destinataire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retour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Plateforme de partage</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Maladie (936) et décès (8Z6)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Transmis directement par la direction du personnel de la Police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Transmis directement au FPPN, canal à préciser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Non</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EFC (870), PEP (998), Grenier (9X4), MEDOC (8Z7)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la 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Retraités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Déposé par la 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Flotte automobile (9W3)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bl>
          </a:graphicData>
        </a:graphic>
      </p:graphicFrame>
      <p:sp>
        <p:nvSpPr>
          <p:cNvPr id="33" name="TextBox 32"/>
          <p:cNvSpPr txBox="1"/>
          <p:nvPr/>
        </p:nvSpPr>
        <p:spPr>
          <a:xfrm>
            <a:off x="503999" y="3764505"/>
            <a:ext cx="11232000" cy="2103494"/>
          </a:xfrm>
          <a:prstGeom prst="rect">
            <a:avLst/>
          </a:prstGeom>
          <a:noFill/>
        </p:spPr>
        <p:txBody>
          <a:bodyPr wrap="square" lIns="54000" rIns="54000"/>
          <a:lstStyle/>
          <a:p>
            <a:pPr algn="just">
              <a:spcAft>
                <a:spcPts val="600"/>
              </a:spcAft>
            </a:pPr>
            <a:r>
              <a:rPr sz="1200" b="1">
                <a:solidFill>
                  <a:srgbClr val="060606"/>
                </a:solidFill>
                <a:latin typeface="Helvetica"/>
              </a:rPr>
              <a:t>Ce circuit explique l'absence totale des fichiers aller maladie et décès dans l'envoi du 15/10/2026</a:t>
            </a:r>
            <a:r>
              <a:rPr sz="1200" b="0">
                <a:solidFill>
                  <a:srgbClr val="060606"/>
                </a:solidFill>
                <a:latin typeface="Helvetica"/>
              </a:rPr>
              <a:t> : 0 mois reçus sur 80 pour la maladie et 0 pour le décès. Le FPPN ne les produit pas.</a:t>
            </a:r>
          </a:p>
          <a:p>
            <a:pPr algn="just">
              <a:spcAft>
                <a:spcPts val="600"/>
              </a:spcAft>
            </a:pPr>
            <a:r>
              <a:rPr sz="1200" b="1">
                <a:solidFill>
                  <a:srgbClr val="060606"/>
                </a:solidFill>
                <a:latin typeface="Helvetica"/>
              </a:rPr>
              <a:t>Le fichier aller contient le mécano, le nom, le code du poste, une référence et le montant.</a:t>
            </a:r>
            <a:r>
              <a:rPr sz="1200" b="0">
                <a:solidFill>
                  <a:srgbClr val="060606"/>
                </a:solidFill>
                <a:latin typeface="Helvetica"/>
              </a:rPr>
              <a:t> La Solde retrouve le mutualiste par son mécano et précompte le montant indiqué.</a:t>
            </a:r>
          </a:p>
          <a:p>
            <a:pPr algn="just">
              <a:spcAft>
                <a:spcPts val="600"/>
              </a:spcAft>
            </a:pPr>
            <a:r>
              <a:rPr sz="1200" b="1">
                <a:solidFill>
                  <a:srgbClr val="060606"/>
                </a:solidFill>
                <a:latin typeface="Helvetica"/>
              </a:rPr>
              <a:t>Implication pour la mission.</a:t>
            </a:r>
            <a:r>
              <a:rPr sz="1200" b="0">
                <a:solidFill>
                  <a:srgbClr val="060606"/>
                </a:solidFill>
                <a:latin typeface="Helvetica"/>
              </a:rPr>
              <a:t> Les fichiers aller maladie et décès doivent être demandés à la direction du personnel de la Police ou à la Solde (PBC, item 61). Sans eux, le taux de recouvrement des cotisations exigé par la Décision n° 05/2022 (au moins 90 %) ne peut pas être calculé pour ces postes.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PBC : liste des documents demandés au client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58747699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Règles des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fichiers confirment les montants de l'EFC et du PEP, sans texte qui les fonde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et décès en pourcentage du salaire de base, EFC et PEP en montants fixes, sans règle écrite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 ; fichiers de précomptes reçus le 15/10/2026,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Règles des produits déclarées et confrontées aux fichiers de précomptes</a:t>
            </a:r>
          </a:p>
        </p:txBody>
      </p:sp>
      <p:graphicFrame>
        <p:nvGraphicFramePr>
          <p:cNvPr id="32" name="Table 31"/>
          <p:cNvGraphicFramePr>
            <a:graphicFrameLocks noGrp="1"/>
          </p:cNvGraphicFramePr>
          <p:nvPr/>
        </p:nvGraphicFramePr>
        <p:xfrm>
          <a:off x="503999" y="1655999"/>
          <a:ext cx="11232000" cy="2994160"/>
        </p:xfrm>
        <a:graphic>
          <a:graphicData uri="http://schemas.openxmlformats.org/drawingml/2006/table">
            <a:tbl>
              <a:tblPr firstRow="0" bandRow="0">
                <a:tableStyleId>{5940675A-B579-460E-94D1-54222C63F5DA}</a:tableStyleId>
              </a:tblPr>
              <a:tblGrid>
                <a:gridCol w="1296000"/>
                <a:gridCol w="3600000"/>
                <a:gridCol w="3816000"/>
                <a:gridCol w="2520000"/>
              </a:tblGrid>
              <a:tr h="210009">
                <a:tc>
                  <a:txBody>
                    <a:bodyPr/>
                    <a:lstStyle/>
                    <a:p>
                      <a:pPr marL="0" indent="0" lvl="0">
                        <a:buNone/>
                      </a:pPr>
                      <a:r>
                        <a:rPr sz="10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Règle déclarée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Ce que montrent les fichiers (2020 à août 2026)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À confirmer</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Maladie (936)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Pourcentage du salaire de base. La répartition avec le décès relève de la comptabilité.</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La Solde retient 3,77 % du salaire de base, pour tous les agents.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Barème officiel et document qui le notifie.</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Décès (8Z6)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Pourcentage du salaire de base.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La Solde retient 1,23 % du salaire de base. Le total avec la maladie fait 5,00 %.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Barème officiel (3,5 % et 1,5 % indiqués le 16/10/2026).</a:t>
                      </a:r>
                    </a:p>
                  </a:txBody>
                  <a:tcPr marL="43200" marR="43200" marT="14400" marB="14400" anchor="ctr">
                    <a:solidFill>
                      <a:srgbClr val="F2F2F2"/>
                    </a:solidFill>
                  </a:tcPr>
                </a:tc>
              </a:tr>
              <a:tr h="514828">
                <a:tc>
                  <a:txBody>
                    <a:bodyPr/>
                    <a:lstStyle/>
                    <a:p>
                      <a:pPr marL="0" indent="0" lvl="0">
                        <a:buNone/>
                      </a:pPr>
                      <a:r>
                        <a:rPr sz="1000" b="1">
                          <a:solidFill>
                            <a:srgbClr val="060606"/>
                          </a:solidFill>
                          <a:latin typeface="Helvetica"/>
                        </a:rPr>
                        <a:t>EFC (870)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6 000 FCFA par mois avant 2021, 10 000 FCFA pour les souscriptions depuis 2021. Les anciens restent à 6 000 FCFA et peuvent passer à 10 000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Les deux montants coexistent : 10 000 FCFA dans 62,52 % des lignes en 2023 et 84,98 % en 2026, 6 000 FCFA dans 37,38 % puis 14,99 %.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Aucun document formel selon l'interlocuteur.</a:t>
                      </a:r>
                    </a:p>
                  </a:txBody>
                  <a:tcPr marL="43200" marR="43200" marT="14400" marB="14400" anchor="ctr">
                    <a:solidFill>
                      <a:srgbClr val="FFFFFF"/>
                    </a:solidFill>
                  </a:tcPr>
                </a:tc>
              </a:tr>
              <a:tr h="514828">
                <a:tc>
                  <a:txBody>
                    <a:bodyPr/>
                    <a:lstStyle/>
                    <a:p>
                      <a:pPr marL="0" indent="0" lvl="0">
                        <a:buNone/>
                      </a:pPr>
                      <a:r>
                        <a:rPr sz="1000" b="1">
                          <a:solidFill>
                            <a:srgbClr val="060606"/>
                          </a:solidFill>
                          <a:latin typeface="Helvetica"/>
                        </a:rPr>
                        <a:t>PEP (998)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À partir de 10 000 FCFA, par paliers de 5 000 FCFA. Durée à vérifier.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99,80 % des montants sont des multiples de 5 000 FCFA et 0,11 % sont inférieurs à 10 000 FCFA. Montant maximal : 300 000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Durée des plans et conditions de retrait (règlement du PEP).</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EFC et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Présentés aux élèves policiers comme obligatoires dès l'école, sans texte.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Non mesurable dans les fichiers.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Aucun texte selon l'interlocuteur.</a:t>
                      </a:r>
                    </a:p>
                  </a:txBody>
                  <a:tcPr marL="43200" marR="43200" marT="14400" marB="14400" anchor="ctr">
                    <a:solidFill>
                      <a:srgbClr val="FFFFFF"/>
                    </a:solidFill>
                  </a:tcPr>
                </a:tc>
              </a:tr>
              <a:tr h="667238">
                <a:tc>
                  <a:txBody>
                    <a:bodyPr/>
                    <a:lstStyle/>
                    <a:p>
                      <a:pPr marL="0" indent="0" lvl="0">
                        <a:buNone/>
                      </a:pPr>
                      <a:r>
                        <a:rPr sz="1000" b="1">
                          <a:solidFill>
                            <a:srgbClr val="060606"/>
                          </a:solidFill>
                          <a:latin typeface="Helvetica"/>
                        </a:rPr>
                        <a:t>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Au moins 3 mois de cotisation avant de pouvoir bénéficier des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Non mesurable sans base de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Produits concernés et texte. L'entretien du 16/10/2026 indiquait l'absence de délai de carence pour le régime obligatoire.</a:t>
                      </a:r>
                    </a:p>
                  </a:txBody>
                  <a:tcPr marL="43200" marR="43200" marT="14400" marB="14400" anchor="ctr">
                    <a:solidFill>
                      <a:srgbClr val="F2F2F2"/>
                    </a:solidFill>
                  </a:tcPr>
                </a:tc>
              </a:tr>
            </a:tbl>
          </a:graphicData>
        </a:graphic>
      </p:graphicFrame>
      <p:sp>
        <p:nvSpPr>
          <p:cNvPr id="33" name="TextBox 32"/>
          <p:cNvSpPr txBox="1"/>
          <p:nvPr/>
        </p:nvSpPr>
        <p:spPr>
          <a:xfrm>
            <a:off x="503999" y="4776163"/>
            <a:ext cx="11232000" cy="1091836"/>
          </a:xfrm>
          <a:prstGeom prst="rect">
            <a:avLst/>
          </a:prstGeom>
          <a:noFill/>
        </p:spPr>
        <p:txBody>
          <a:bodyPr wrap="square" lIns="54000" rIns="54000"/>
          <a:lstStyle/>
          <a:p>
            <a:pPr algn="just">
              <a:spcAft>
                <a:spcPts val="600"/>
              </a:spcAft>
            </a:pPr>
            <a:r>
              <a:rPr sz="1100" b="1">
                <a:solidFill>
                  <a:srgbClr val="060606"/>
                </a:solidFill>
                <a:latin typeface="Helvetica"/>
              </a:rPr>
              <a:t>Les fichiers confirment les déclarations sur l'EFC et le PEP, mais aucune règle n'est appuyée par un texte transmis.</a:t>
            </a:r>
            <a:r>
              <a:rPr sz="1100" b="0">
                <a:solidFill>
                  <a:srgbClr val="060606"/>
                </a:solidFill>
                <a:latin typeface="Helvetica"/>
              </a:rPr>
              <a:t> La part de l'EFC à 10 000 FCFA augmente chaque année, ce qui correspond à l'arrivée de nouveaux souscripteurs depuis 2021.</a:t>
            </a:r>
          </a:p>
          <a:p>
            <a:pPr algn="just">
              <a:spcAft>
                <a:spcPts val="600"/>
              </a:spcAft>
            </a:pPr>
            <a:r>
              <a:rPr sz="1100" b="1">
                <a:solidFill>
                  <a:srgbClr val="060606"/>
                </a:solidFill>
                <a:latin typeface="Helvetica"/>
              </a:rPr>
              <a:t>Implication pour la mission.</a:t>
            </a:r>
            <a:r>
              <a:rPr sz="1100" b="0">
                <a:solidFill>
                  <a:srgbClr val="060606"/>
                </a:solidFill>
                <a:latin typeface="Helvetica"/>
              </a:rPr>
              <a:t> Les engagements d'épargne se calculeront sur les montants réellement précomptés. Le règlement de chaque produit reste indispensable pour connaître les échéances et les conditions de retrait.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PEP : Plan Épargne Plus | EFC : entraide fin de carrière | 936 : poste maladie | 8Z6 : poste décès | 870 : poste EFC | 998 : poste PEP</a:t>
            </a:r>
          </a:p>
        </p:txBody>
      </p:sp>
    </p:spTree>
    <p:extLst>
      <p:ext uri="{BB962C8B-B14F-4D97-AF65-F5344CB8AC3E}">
        <p14:creationId xmlns:p14="http://schemas.microsoft.com/office/powerpoint/2010/main" val="119659005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Rejets et contrôles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rejets n'étaient pas expliqués, et les retours ne sont pas rapprochés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motifs de rejet ne sont transmis que depuis environ deux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 ; fichiers de précomptes reçus le 15/10/2026,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Rejets, contrôles et paiements hors précompte</a:t>
            </a:r>
          </a:p>
        </p:txBody>
      </p:sp>
      <p:graphicFrame>
        <p:nvGraphicFramePr>
          <p:cNvPr id="32" name="Table 31"/>
          <p:cNvGraphicFramePr>
            <a:graphicFrameLocks noGrp="1"/>
          </p:cNvGraphicFramePr>
          <p:nvPr/>
        </p:nvGraphicFramePr>
        <p:xfrm>
          <a:off x="503999" y="1655999"/>
          <a:ext cx="11231999" cy="2689341"/>
        </p:xfrm>
        <a:graphic>
          <a:graphicData uri="http://schemas.openxmlformats.org/drawingml/2006/table">
            <a:tbl>
              <a:tblPr firstRow="0" bandRow="0">
                <a:tableStyleId>{5940675A-B579-460E-94D1-54222C63F5DA}</a:tableStyleId>
              </a:tblPr>
              <a:tblGrid>
                <a:gridCol w="1512000"/>
                <a:gridCol w="4248000"/>
                <a:gridCol w="3671999"/>
                <a:gridCol w="1800000"/>
              </a:tblGrid>
              <a:tr h="210009">
                <a:tc>
                  <a:txBody>
                    <a:bodyPr/>
                    <a:lstStyle/>
                    <a:p>
                      <a:pPr marL="0" indent="0" lvl="0">
                        <a:buNone/>
                      </a:pPr>
                      <a:r>
                        <a:rPr sz="1000" b="1">
                          <a:solidFill>
                            <a:srgbClr val="FFFFFF"/>
                          </a:solidFill>
                          <a:latin typeface="Helvetica"/>
                        </a:rPr>
                        <a:t>Sujet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Ce qu'indique l'interlocuteur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Conséquence pour la mission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Suite</a:t>
                      </a:r>
                    </a:p>
                  </a:txBody>
                  <a:tcPr marL="43200" marR="43200" marT="14400" marB="14400" anchor="ctr">
                    <a:solidFill>
                      <a:srgbClr val="060606"/>
                    </a:solidFill>
                  </a:tcPr>
                </a:tc>
              </a:tr>
              <a:tr h="514828">
                <a:tc>
                  <a:txBody>
                    <a:bodyPr/>
                    <a:lstStyle/>
                    <a:p>
                      <a:pPr marL="0" indent="0" lvl="0">
                        <a:buNone/>
                      </a:pPr>
                      <a:r>
                        <a:rPr sz="1000" b="1">
                          <a:solidFill>
                            <a:srgbClr val="060606"/>
                          </a:solidFill>
                          <a:latin typeface="Helvetica"/>
                        </a:rPr>
                        <a:t>Rejets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 fichier retour compte moins de personnes que le fichier aller (radiations, suspensions, autres motifs). Les motifs n'étaient pas connus jusqu'à récemment.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Les écarts mesurés par Adenka ne peuvent pas être justifiés pour les mois antérieurs.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PBC, item 64</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États des motifs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La Solde transmet depuis environ deux mois un état séparé des motifs de rejet.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Une explication des rejets devient possible pour les mois récents.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PBC, item 64</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Rapprochement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Aucun rapprochement des fichiers aller et retour n'est fait par le service, faute de temps.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 taux de précompte n'est suivi par personne au FPPN.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Recommandation</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Premier précompte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 premier précompte d'un nouveau souscripteur intervient souvent le mois suivant la souscription.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Les versements d'une année peuvent porter sur le mois précédent.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Analyse des fichiers</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Paiements manuels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Un mutualiste non précompté peut payer manuellement. Le paiement est enregistré avec sa date et son heure.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Une partie des cotisations échappe aux fichiers de précomptes.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Chef comptable, PBC, item 65</a:t>
                      </a:r>
                    </a:p>
                  </a:txBody>
                  <a:tcPr marL="43200" marR="43200" marT="14400" marB="14400" anchor="ctr">
                    <a:solidFill>
                      <a:srgbClr val="FFFFFF"/>
                    </a:solidFill>
                  </a:tcPr>
                </a:tc>
              </a:tr>
              <a:tr h="514828">
                <a:tc>
                  <a:txBody>
                    <a:bodyPr/>
                    <a:lstStyle/>
                    <a:p>
                      <a:pPr marL="0" indent="0" lvl="0">
                        <a:buNone/>
                      </a:pPr>
                      <a:r>
                        <a:rPr sz="1000" b="1">
                          <a:solidFill>
                            <a:srgbClr val="060606"/>
                          </a:solidFill>
                          <a:latin typeface="Helvetica"/>
                        </a:rPr>
                        <a:t>Flotte GNA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Les primes vont directement à GNA. GNA met mal à jour les soldes. Le FPPN arrête le précompte à la date de fin, parfois avec un mois de plus, et rembourse les trop-perçus sur demande.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Risque de trop-perçus et de réclamations des adhérents.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PBC, item 68</a:t>
                      </a:r>
                    </a:p>
                  </a:txBody>
                  <a:tcPr marL="43200" marR="43200" marT="14400" marB="14400" anchor="ctr">
                    <a:solidFill>
                      <a:srgbClr val="F2F2F2"/>
                    </a:solidFill>
                  </a:tcPr>
                </a:tc>
              </a:tr>
            </a:tbl>
          </a:graphicData>
        </a:graphic>
      </p:graphicFrame>
      <p:sp>
        <p:nvSpPr>
          <p:cNvPr id="33" name="TextBox 32"/>
          <p:cNvSpPr txBox="1"/>
          <p:nvPr/>
        </p:nvSpPr>
        <p:spPr>
          <a:xfrm>
            <a:off x="503999" y="4471344"/>
            <a:ext cx="11232000" cy="1396656"/>
          </a:xfrm>
          <a:prstGeom prst="rect">
            <a:avLst/>
          </a:prstGeom>
          <a:noFill/>
        </p:spPr>
        <p:txBody>
          <a:bodyPr wrap="square" lIns="54000" rIns="54000"/>
          <a:lstStyle/>
          <a:p>
            <a:pPr algn="just">
              <a:spcAft>
                <a:spcPts val="600"/>
              </a:spcAft>
            </a:pPr>
            <a:r>
              <a:rPr sz="1100" b="1">
                <a:solidFill>
                  <a:srgbClr val="060606"/>
                </a:solidFill>
                <a:latin typeface="Helvetica"/>
              </a:rPr>
              <a:t>Le FPPN ne contrôle pas ce qu'il reçoit.</a:t>
            </a:r>
            <a:r>
              <a:rPr sz="1100" b="0">
                <a:solidFill>
                  <a:srgbClr val="060606"/>
                </a:solidFill>
                <a:latin typeface="Helvetica"/>
              </a:rPr>
              <a:t> Les fichiers retour sont conservés sans vérification, alors que les écarts mensuels mesurés par Adenka atteignent parfois plus de 20 % du montant demandé (rapport, partie 3).</a:t>
            </a:r>
          </a:p>
          <a:p>
            <a:pPr algn="just">
              <a:spcAft>
                <a:spcPts val="600"/>
              </a:spcAft>
            </a:pPr>
            <a:r>
              <a:rPr sz="1100" b="1">
                <a:solidFill>
                  <a:srgbClr val="060606"/>
                </a:solidFill>
                <a:latin typeface="Helvetica"/>
              </a:rPr>
              <a:t>Implication pour le FPPN.</a:t>
            </a:r>
            <a:r>
              <a:rPr sz="1100" b="0">
                <a:solidFill>
                  <a:srgbClr val="060606"/>
                </a:solidFill>
                <a:latin typeface="Helvetica"/>
              </a:rPr>
              <a:t> Un rapprochement mensuel simple (aller, retour, motifs) permettrait de relancer les précomptes manqués et de justifier chaque écart.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 | GNA : assureur de la flotte automobile (compte 47111106)</a:t>
            </a:r>
          </a:p>
        </p:txBody>
      </p:sp>
    </p:spTree>
    <p:extLst>
      <p:ext uri="{BB962C8B-B14F-4D97-AF65-F5344CB8AC3E}">
        <p14:creationId xmlns:p14="http://schemas.microsoft.com/office/powerpoint/2010/main" val="181938234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Nouvelles recrues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recrues souscrivent avant d'avoir un mécano, ce qui retarde le premier précompte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report des mécanos sur les fiches de souscription se fait en masse, après leur attribution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a:t>
            </a:r>
          </a:p>
        </p:txBody>
      </p:sp>
      <p:sp>
        <p:nvSpPr>
          <p:cNvPr id="31" name="Logigramme r1"/>
          <p:cNvSpPr/>
          <p:nvPr/>
        </p:nvSpPr>
        <p:spPr>
          <a:xfrm>
            <a:off x="576000" y="1620000"/>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Élève policier</a:t>
            </a:r>
          </a:p>
          <a:p>
            <a:pPr algn="ctr"/>
            <a:r>
              <a:rPr sz="900" b="1">
                <a:solidFill>
                  <a:srgbClr val="FFFFFF"/>
                </a:solidFill>
                <a:latin typeface="Helvetica"/>
              </a:rPr>
              <a:t>matricule sans mécano</a:t>
            </a:r>
          </a:p>
        </p:txBody>
      </p:sp>
      <p:sp>
        <p:nvSpPr>
          <p:cNvPr id="32" name="Logigramme r2"/>
          <p:cNvSpPr/>
          <p:nvPr/>
        </p:nvSpPr>
        <p:spPr>
          <a:xfrm>
            <a:off x="2178000" y="1620000"/>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Fiches de souscription</a:t>
            </a:r>
          </a:p>
          <a:p>
            <a:pPr algn="ctr"/>
            <a:r>
              <a:rPr sz="900" b="0">
                <a:solidFill>
                  <a:srgbClr val="060606"/>
                </a:solidFill>
                <a:latin typeface="Helvetica"/>
              </a:rPr>
              <a:t>EFC et PEP</a:t>
            </a:r>
          </a:p>
        </p:txBody>
      </p:sp>
      <p:sp>
        <p:nvSpPr>
          <p:cNvPr id="33" name="Logigramme r3"/>
          <p:cNvSpPr/>
          <p:nvPr/>
        </p:nvSpPr>
        <p:spPr>
          <a:xfrm>
            <a:off x="3780000" y="1620000"/>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Attente</a:t>
            </a:r>
          </a:p>
          <a:p>
            <a:pPr algn="ctr"/>
            <a:r>
              <a:rPr sz="900" b="0">
                <a:solidFill>
                  <a:srgbClr val="060606"/>
                </a:solidFill>
                <a:latin typeface="Helvetica"/>
              </a:rPr>
              <a:t>du mécano</a:t>
            </a:r>
          </a:p>
        </p:txBody>
      </p:sp>
      <p:sp>
        <p:nvSpPr>
          <p:cNvPr id="34" name="Logigramme r4"/>
          <p:cNvSpPr/>
          <p:nvPr/>
        </p:nvSpPr>
        <p:spPr>
          <a:xfrm>
            <a:off x="5382000" y="1591200"/>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Mécano</a:t>
            </a:r>
          </a:p>
          <a:p>
            <a:pPr algn="ctr"/>
            <a:r>
              <a:rPr sz="850" b="0">
                <a:solidFill>
                  <a:srgbClr val="060606"/>
                </a:solidFill>
                <a:latin typeface="Helvetica"/>
              </a:rPr>
              <a:t>attribué ?</a:t>
            </a:r>
          </a:p>
        </p:txBody>
      </p:sp>
      <p:sp>
        <p:nvSpPr>
          <p:cNvPr id="35" name="Logigramme r5"/>
          <p:cNvSpPr/>
          <p:nvPr/>
        </p:nvSpPr>
        <p:spPr>
          <a:xfrm>
            <a:off x="6984000" y="1620000"/>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Report du mécano</a:t>
            </a:r>
          </a:p>
          <a:p>
            <a:pPr algn="ctr"/>
            <a:r>
              <a:rPr sz="900" b="1">
                <a:solidFill>
                  <a:srgbClr val="C00000"/>
                </a:solidFill>
                <a:latin typeface="Helvetica"/>
              </a:rPr>
              <a:t>sur chaque fiche, en masse</a:t>
            </a:r>
          </a:p>
        </p:txBody>
      </p:sp>
      <p:sp>
        <p:nvSpPr>
          <p:cNvPr id="36" name="Logigramme r6"/>
          <p:cNvSpPr/>
          <p:nvPr/>
        </p:nvSpPr>
        <p:spPr>
          <a:xfrm>
            <a:off x="8586000" y="1620000"/>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Ajout au fichier</a:t>
            </a:r>
          </a:p>
          <a:p>
            <a:pPr algn="ctr"/>
            <a:r>
              <a:rPr sz="900" b="0">
                <a:solidFill>
                  <a:srgbClr val="060606"/>
                </a:solidFill>
                <a:latin typeface="Helvetica"/>
              </a:rPr>
              <a:t>aller du mois</a:t>
            </a:r>
          </a:p>
        </p:txBody>
      </p:sp>
      <p:sp>
        <p:nvSpPr>
          <p:cNvPr id="37" name="Logigramme r7"/>
          <p:cNvSpPr/>
          <p:nvPr/>
        </p:nvSpPr>
        <p:spPr>
          <a:xfrm>
            <a:off x="10188000" y="1591200"/>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au 1er mois ?</a:t>
            </a:r>
          </a:p>
        </p:txBody>
      </p:sp>
      <p:sp>
        <p:nvSpPr>
          <p:cNvPr id="38" name="Logigramme r10"/>
          <p:cNvSpPr/>
          <p:nvPr/>
        </p:nvSpPr>
        <p:spPr>
          <a:xfrm>
            <a:off x="10188000" y="2988000"/>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Précompte effectif</a:t>
            </a:r>
          </a:p>
          <a:p>
            <a:pPr algn="ctr"/>
            <a:r>
              <a:rPr sz="900" b="1">
                <a:solidFill>
                  <a:srgbClr val="FFFFFF"/>
                </a:solidFill>
                <a:latin typeface="Helvetica"/>
              </a:rPr>
              <a:t>épargne en cours</a:t>
            </a:r>
          </a:p>
        </p:txBody>
      </p:sp>
      <p:sp>
        <p:nvSpPr>
          <p:cNvPr id="39" name="Logigramme r8"/>
          <p:cNvSpPr/>
          <p:nvPr/>
        </p:nvSpPr>
        <p:spPr>
          <a:xfrm>
            <a:off x="8586000" y="2988000"/>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Précompte décalé</a:t>
            </a:r>
          </a:p>
          <a:p>
            <a:pPr algn="ctr"/>
            <a:r>
              <a:rPr sz="900" b="1">
                <a:solidFill>
                  <a:srgbClr val="C00000"/>
                </a:solidFill>
                <a:latin typeface="Helvetica"/>
              </a:rPr>
              <a:t>au mois suivant</a:t>
            </a:r>
          </a:p>
        </p:txBody>
      </p:sp>
      <p:sp>
        <p:nvSpPr>
          <p:cNvPr id="40" name="Logigramme r9"/>
          <p:cNvSpPr/>
          <p:nvPr/>
        </p:nvSpPr>
        <p:spPr>
          <a:xfrm>
            <a:off x="6984000" y="2988000"/>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Paiement manuel</a:t>
            </a:r>
          </a:p>
          <a:p>
            <a:pPr algn="ctr"/>
            <a:r>
              <a:rPr sz="900" b="0">
                <a:solidFill>
                  <a:srgbClr val="060606"/>
                </a:solidFill>
                <a:latin typeface="Helvetica"/>
              </a:rPr>
              <a:t>possible, avec date</a:t>
            </a:r>
          </a:p>
        </p:txBody>
      </p:sp>
      <p:cxnSp>
        <p:nvCxnSpPr>
          <p:cNvPr id="41" name="Flèche r1 vers r2"/>
          <p:cNvCxnSpPr>
            <a:stCxn id="31" idx="3"/>
            <a:endCxn id="32" idx="1"/>
          </p:cNvCxnSpPr>
          <p:nvPr/>
        </p:nvCxnSpPr>
        <p:spPr>
          <a:xfrm flipV="1">
            <a:off x="1872000" y="1908000"/>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Flèche r2 vers r3"/>
          <p:cNvCxnSpPr>
            <a:stCxn id="32" idx="3"/>
            <a:endCxn id="33" idx="1"/>
          </p:cNvCxnSpPr>
          <p:nvPr/>
        </p:nvCxnSpPr>
        <p:spPr>
          <a:xfrm flipV="1">
            <a:off x="3474000" y="1908000"/>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Flèche r3 vers r4"/>
          <p:cNvCxnSpPr>
            <a:stCxn id="33" idx="3"/>
            <a:endCxn id="34" idx="1"/>
          </p:cNvCxnSpPr>
          <p:nvPr/>
        </p:nvCxnSpPr>
        <p:spPr>
          <a:xfrm>
            <a:off x="5076000" y="1908000"/>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Flèche r4 vers r5"/>
          <p:cNvCxnSpPr>
            <a:stCxn id="34" idx="3"/>
            <a:endCxn id="35" idx="1"/>
          </p:cNvCxnSpPr>
          <p:nvPr/>
        </p:nvCxnSpPr>
        <p:spPr>
          <a:xfrm flipV="1">
            <a:off x="6678000" y="1908000"/>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721200" y="1753200"/>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46" name="Flèche r4 vers r3"/>
          <p:cNvCxnSpPr>
            <a:stCxn id="34" idx="0"/>
            <a:endCxn id="33" idx="0"/>
          </p:cNvCxnSpPr>
          <p:nvPr/>
        </p:nvCxnSpPr>
        <p:spPr>
          <a:xfrm flipH="1">
            <a:off x="4428000" y="1591200"/>
            <a:ext cx="1602000" cy="288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083999" y="1411200"/>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48" name="Flèche r5 vers r6"/>
          <p:cNvCxnSpPr>
            <a:stCxn id="35" idx="3"/>
            <a:endCxn id="36" idx="1"/>
          </p:cNvCxnSpPr>
          <p:nvPr/>
        </p:nvCxnSpPr>
        <p:spPr>
          <a:xfrm flipV="1">
            <a:off x="8280000" y="1908000"/>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r6 vers r7"/>
          <p:cNvCxnSpPr>
            <a:stCxn id="36" idx="3"/>
            <a:endCxn id="37" idx="1"/>
          </p:cNvCxnSpPr>
          <p:nvPr/>
        </p:nvCxnSpPr>
        <p:spPr>
          <a:xfrm>
            <a:off x="9882000" y="1908000"/>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Flèche r7 vers r8"/>
          <p:cNvCxnSpPr>
            <a:stCxn id="37" idx="2"/>
            <a:endCxn id="39" idx="0"/>
          </p:cNvCxnSpPr>
          <p:nvPr/>
        </p:nvCxnSpPr>
        <p:spPr>
          <a:xfrm flipH="1">
            <a:off x="9234000" y="2275200"/>
            <a:ext cx="1602000" cy="7128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890000" y="2293200"/>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2" name="Flèche r8 vers r9"/>
          <p:cNvCxnSpPr>
            <a:stCxn id="39" idx="1"/>
            <a:endCxn id="40" idx="3"/>
          </p:cNvCxnSpPr>
          <p:nvPr/>
        </p:nvCxnSpPr>
        <p:spPr>
          <a:xfrm flipH="1" flipV="1">
            <a:off x="8280000" y="3276000"/>
            <a:ext cx="306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678800" y="3096000"/>
            <a:ext cx="864000" cy="162000"/>
          </a:xfrm>
          <a:prstGeom prst="rect">
            <a:avLst/>
          </a:prstGeom>
          <a:noFill/>
        </p:spPr>
        <p:txBody>
          <a:bodyPr wrap="square" anchor="t" lIns="28800" rIns="28800" tIns="10800" bIns="10800">
            <a:spAutoFit/>
          </a:bodyPr>
          <a:lstStyle/>
          <a:p>
            <a:pPr algn="r"/>
            <a:r>
              <a:rPr sz="750" b="1">
                <a:solidFill>
                  <a:srgbClr val="53565A"/>
                </a:solidFill>
                <a:latin typeface="Helvetica"/>
              </a:rPr>
              <a:t>ou</a:t>
            </a:r>
          </a:p>
        </p:txBody>
      </p:sp>
      <p:cxnSp>
        <p:nvCxnSpPr>
          <p:cNvPr id="54" name="Flèche r7 vers r10"/>
          <p:cNvCxnSpPr>
            <a:stCxn id="37" idx="3"/>
            <a:endCxn id="38" idx="3"/>
          </p:cNvCxnSpPr>
          <p:nvPr/>
        </p:nvCxnSpPr>
        <p:spPr>
          <a:xfrm flipH="1">
            <a:off x="11484000" y="1933200"/>
            <a:ext cx="0" cy="13428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11527199" y="1753200"/>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sp>
        <p:nvSpPr>
          <p:cNvPr id="56" name="TextBox 55"/>
          <p:cNvSpPr txBox="1"/>
          <p:nvPr/>
        </p:nvSpPr>
        <p:spPr>
          <a:xfrm>
            <a:off x="503999" y="4140000"/>
            <a:ext cx="11232000" cy="1728000"/>
          </a:xfrm>
          <a:prstGeom prst="rect">
            <a:avLst/>
          </a:prstGeom>
          <a:noFill/>
        </p:spPr>
        <p:txBody>
          <a:bodyPr wrap="square" lIns="54000" rIns="54000"/>
          <a:lstStyle/>
          <a:p>
            <a:pPr algn="just">
              <a:spcAft>
                <a:spcPts val="600"/>
              </a:spcAft>
            </a:pPr>
            <a:r>
              <a:rPr sz="1100" b="1">
                <a:solidFill>
                  <a:srgbClr val="060606"/>
                </a:solidFill>
                <a:latin typeface="Helvetica"/>
              </a:rPr>
              <a:t>Les nouvelles recrues souscrivent avant d'avoir un mécano.</a:t>
            </a:r>
            <a:r>
              <a:rPr sz="1100" b="0">
                <a:solidFill>
                  <a:srgbClr val="060606"/>
                </a:solidFill>
                <a:latin typeface="Helvetica"/>
              </a:rPr>
              <a:t> Les élèves policiers n'ont qu'un matricule. Le FPPN attend l'attribution des mécanos, puis reporte chaque mécano sur les fiches de souscription avant de les inscrire au fichier aller. Le premier précompte peut être décalé d'un mois.</a:t>
            </a:r>
          </a:p>
          <a:p>
            <a:pPr algn="just">
              <a:spcAft>
                <a:spcPts val="600"/>
              </a:spcAft>
            </a:pPr>
            <a:r>
              <a:rPr sz="1100" b="1">
                <a:solidFill>
                  <a:srgbClr val="060606"/>
                </a:solidFill>
                <a:latin typeface="Helvetica"/>
              </a:rPr>
              <a:t>Risques relevés.</a:t>
            </a:r>
            <a:r>
              <a:rPr sz="1100" b="0">
                <a:solidFill>
                  <a:srgbClr val="060606"/>
                </a:solidFill>
                <a:latin typeface="Helvetica"/>
              </a:rPr>
              <a:t> Le report en masse des mécanos peut produire des erreurs d'appariement, et donc des précomptes sur la mauvaise personne. Il crée un retard entre la souscription et le premier versement, et il manipule des données personnelles en grand volume.</a:t>
            </a:r>
          </a:p>
          <a:p>
            <a:pPr algn="just">
              <a:spcAft>
                <a:spcPts val="600"/>
              </a:spcAft>
            </a:pPr>
            <a:r>
              <a:rPr sz="1100" b="1">
                <a:solidFill>
                  <a:srgbClr val="060606"/>
                </a:solidFill>
                <a:latin typeface="Helvetica"/>
              </a:rPr>
              <a:t>Implication pour le FPPN.</a:t>
            </a:r>
            <a:r>
              <a:rPr sz="1100" b="0">
                <a:solidFill>
                  <a:srgbClr val="060606"/>
                </a:solidFill>
                <a:latin typeface="Helvetica"/>
              </a:rPr>
              <a:t> Une table de correspondance matricule et mécano, fournie par la direction du personnel, éviterait le report manuel et sécuriserait le premier précompte.</a:t>
            </a:r>
          </a:p>
        </p:txBody>
      </p:sp>
      <p:sp>
        <p:nvSpPr>
          <p:cNvPr id="57" name="TextBox 5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266506054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Autres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flotte, MEDOC et le Grenier fonctionnent avec des règles peu documentées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MEDOC est en pause, et le Grenier compte plus de types de prêts que ceux cités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 ; fichiers de précomptes reçus le 15/10/2026,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Autres produits évoqués</a:t>
            </a:r>
          </a:p>
        </p:txBody>
      </p:sp>
      <p:graphicFrame>
        <p:nvGraphicFramePr>
          <p:cNvPr id="32" name="Table 31"/>
          <p:cNvGraphicFramePr>
            <a:graphicFrameLocks noGrp="1"/>
          </p:cNvGraphicFramePr>
          <p:nvPr/>
        </p:nvGraphicFramePr>
        <p:xfrm>
          <a:off x="503999" y="1655999"/>
          <a:ext cx="11232000" cy="1906904"/>
        </p:xfrm>
        <a:graphic>
          <a:graphicData uri="http://schemas.openxmlformats.org/drawingml/2006/table">
            <a:tbl>
              <a:tblPr firstRow="0" bandRow="0">
                <a:tableStyleId>{5940675A-B579-460E-94D1-54222C63F5DA}</a:tableStyleId>
              </a:tblPr>
              <a:tblGrid>
                <a:gridCol w="1440000"/>
                <a:gridCol w="3960000"/>
                <a:gridCol w="3384000"/>
                <a:gridCol w="2448000"/>
              </a:tblGrid>
              <a:tr h="210009">
                <a:tc>
                  <a:txBody>
                    <a:bodyPr/>
                    <a:lstStyle/>
                    <a:p>
                      <a:pPr marL="0" indent="0" lvl="0">
                        <a:buNone/>
                      </a:pPr>
                      <a:r>
                        <a:rPr sz="10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Ce qu'indique l'interlocuteur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Ce que montrent les fichiers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Point à clarifier</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Flotte automobile GNA (9W3)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La prime annuelle est précomptée par mois et versée directement à GNA.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Les montants mensuels les plus fréquents sont 10 716 FCFA et 8 088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Convention, primes reversées, soldes par adhérent.</a:t>
                      </a:r>
                    </a:p>
                  </a:txBody>
                  <a:tcPr marL="43200" marR="43200" marT="14400" marB="14400" anchor="ctr">
                    <a:solidFill>
                      <a:srgbClr val="FFFFFF"/>
                    </a:solidFill>
                  </a:tcPr>
                </a:tc>
              </a:tr>
              <a:tr h="667238">
                <a:tc>
                  <a:txBody>
                    <a:bodyPr/>
                    <a:lstStyle/>
                    <a:p>
                      <a:pPr marL="0" indent="0" lvl="0">
                        <a:buNone/>
                      </a:pPr>
                      <a:r>
                        <a:rPr sz="1000" b="1">
                          <a:solidFill>
                            <a:srgbClr val="060606"/>
                          </a:solidFill>
                          <a:latin typeface="Helvetica"/>
                        </a:rPr>
                        <a:t>MEDOC (8Z7)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Complémentaire pour les médicaments : le policier paie 20 % en pharmacie. Produit en pause depuis environ deux mois, à cause de difficultés d'utilisation par les pharmacies.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Précomptes de 5 000 FCFA retournés de décembre 2025 à juillet 2026, sauf février et avril 2026 (retours vides).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Période de fonctionnement, conventions avec les pharmacies, décision de suspension.</a:t>
                      </a:r>
                    </a:p>
                  </a:txBody>
                  <a:tcPr marL="43200" marR="43200" marT="14400" marB="14400" anchor="ctr">
                    <a:solidFill>
                      <a:srgbClr val="F2F2F2"/>
                    </a:solidFill>
                  </a:tcPr>
                </a:tc>
              </a:tr>
              <a:tr h="667238">
                <a:tc>
                  <a:txBody>
                    <a:bodyPr/>
                    <a:lstStyle/>
                    <a:p>
                      <a:pPr marL="0" indent="0" lvl="0">
                        <a:buNone/>
                      </a:pPr>
                      <a:r>
                        <a:rPr sz="1000" b="1">
                          <a:solidFill>
                            <a:srgbClr val="060606"/>
                          </a:solidFill>
                          <a:latin typeface="Helvetica"/>
                        </a:rPr>
                        <a:t>Prêts du Grenier (9X4)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Trois types : prêt ordinaire à partir de 100 000 FCFA selon le salaire, prêt flash de 10 000 FCFA par téléphone, achat d'équipements via un partenaire. Une nouvelle application est terminée et attend son lancement.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Les fichiers de production comptent huit types de crédit : activités génératrices de revenus, crédit de santé, Grenier shop, habitat, mariage, flash, scolaire, équipement domestique.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Liste et conditions de chaque type de prêt.</a:t>
                      </a:r>
                    </a:p>
                  </a:txBody>
                  <a:tcPr marL="43200" marR="43200" marT="14400" marB="14400" anchor="ctr">
                    <a:solidFill>
                      <a:srgbClr val="FFFFFF"/>
                    </a:solidFill>
                  </a:tcPr>
                </a:tc>
              </a:tr>
            </a:tbl>
          </a:graphicData>
        </a:graphic>
      </p:graphicFrame>
      <p:sp>
        <p:nvSpPr>
          <p:cNvPr id="33" name="TextBox 32"/>
          <p:cNvSpPr txBox="1"/>
          <p:nvPr/>
        </p:nvSpPr>
        <p:spPr>
          <a:xfrm>
            <a:off x="503999" y="3688905"/>
            <a:ext cx="11232000" cy="2179094"/>
          </a:xfrm>
          <a:prstGeom prst="rect">
            <a:avLst/>
          </a:prstGeom>
          <a:noFill/>
        </p:spPr>
        <p:txBody>
          <a:bodyPr wrap="square" lIns="54000" rIns="54000"/>
          <a:lstStyle/>
          <a:p>
            <a:pPr algn="just">
              <a:spcAft>
                <a:spcPts val="600"/>
              </a:spcAft>
            </a:pPr>
            <a:r>
              <a:rPr sz="1100" b="1">
                <a:solidFill>
                  <a:srgbClr val="060606"/>
                </a:solidFill>
                <a:latin typeface="Helvetica"/>
              </a:rPr>
              <a:t>La description orale des prêts est plus simple que ce que montrent les fichiers.</a:t>
            </a:r>
            <a:r>
              <a:rPr sz="1100" b="0">
                <a:solidFill>
                  <a:srgbClr val="060606"/>
                </a:solidFill>
                <a:latin typeface="Helvetica"/>
              </a:rPr>
              <a:t> Huit types de crédit apparaissent dans la production du Grenier, contre trois cités.</a:t>
            </a:r>
          </a:p>
          <a:p>
            <a:pPr algn="just">
              <a:spcAft>
                <a:spcPts val="600"/>
              </a:spcAft>
            </a:pPr>
            <a:r>
              <a:rPr sz="1100" b="1">
                <a:solidFill>
                  <a:srgbClr val="060606"/>
                </a:solidFill>
                <a:latin typeface="Helvetica"/>
              </a:rPr>
              <a:t>Implication pour la mission.</a:t>
            </a:r>
            <a:r>
              <a:rPr sz="1100" b="0">
                <a:solidFill>
                  <a:srgbClr val="060606"/>
                </a:solidFill>
                <a:latin typeface="Helvetica"/>
              </a:rPr>
              <a:t> La politique de crédit lisible et la documentation de MEDOC et de la flotte sont nécessaires pour apprécier les engagements que ces produits font porter au FPPN.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GNA : assureur de la flotte automobile (compte 47111106) | MEDOC : produit santé complémentaire du poste 8Z7 | 9X4 : poste Grenier | 9W3 : poste flotte automobile | 8Z7 : poste MEDOC</a:t>
            </a:r>
          </a:p>
        </p:txBody>
      </p:sp>
    </p:spTree>
    <p:extLst>
      <p:ext uri="{BB962C8B-B14F-4D97-AF65-F5344CB8AC3E}">
        <p14:creationId xmlns:p14="http://schemas.microsoft.com/office/powerpoint/2010/main" val="2658079660"/>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manquants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fichiers aller maladie et décès manquent sur toute la période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Mois sans fichier aller ou retour, par poste, sur les 80 mois de la période d'analyse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reçus le 15/10/2026 ; inventaire et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Fichiers de précomptes reçus et mois manquants, janvier 2020 à août 2026 (80 mois)</a:t>
            </a:r>
          </a:p>
        </p:txBody>
      </p:sp>
      <p:graphicFrame>
        <p:nvGraphicFramePr>
          <p:cNvPr id="32" name="Table 31"/>
          <p:cNvGraphicFramePr>
            <a:graphicFrameLocks noGrp="1"/>
          </p:cNvGraphicFramePr>
          <p:nvPr/>
        </p:nvGraphicFramePr>
        <p:xfrm>
          <a:off x="503999" y="1655999"/>
          <a:ext cx="11232000" cy="2438757"/>
        </p:xfrm>
        <a:graphic>
          <a:graphicData uri="http://schemas.openxmlformats.org/drawingml/2006/table">
            <a:tbl>
              <a:tblPr firstRow="0" bandRow="0">
                <a:tableStyleId>{5940675A-B579-460E-94D1-54222C63F5DA}</a:tableStyleId>
              </a:tblPr>
              <a:tblGrid>
                <a:gridCol w="1440000"/>
                <a:gridCol w="792000"/>
                <a:gridCol w="4104000"/>
                <a:gridCol w="792000"/>
                <a:gridCol w="4104000"/>
              </a:tblGrid>
              <a:tr h="331937">
                <a:tc>
                  <a:txBody>
                    <a:bodyPr/>
                    <a:lstStyle/>
                    <a:p>
                      <a:pPr marL="0" indent="0" lvl="0">
                        <a:buNone/>
                      </a:pPr>
                      <a:r>
                        <a:rPr sz="90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Aller reçus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Mois sans fichier aller</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Retour reçus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Mois sans fichier retour</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Maladie (936)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août 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déc. 2023, déc. 2024</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Décès (8Z6)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janv. 2020 à août 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janv. 2020 à déc. 2023, mai 2024 à oct. 2024, déc. 2024, avr. 2025</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EFC (870)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déc. 2022, mars 2024 à avr. 2024, oct. 2025 à nov. 2025, août 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déc. 2022, mars 2025</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PEP (998)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janv. 2020 à déc. 2022, mars 2024 à avr. 2024, oct. 2025 à nov. 2025, août 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Grenier (9X4)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déc. 2021, nov. 2022 à déc. 2022, sept. 2023, janv. 2025, août 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déc. 2022, déc. 2024</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Flotte GNA (9W3)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janv. 2020 à mars 2023, mars 2025, mai 2025 à juin 2025, août 2025, mars 2026, août 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janv. 2020 à févr. 2023, sept. 2023, avr. 2025, juin 2025, août 2025, janv. 2026</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MEDOC (8Z7)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oct. 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janv. 2020 à nov. 2025, févr. 2026, avr. 2026, août 2026</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Retraités CGRAE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janv. 2020 à janv. 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janv. 2020 à janv. 2024, juin 2024</a:t>
                      </a:r>
                    </a:p>
                  </a:txBody>
                  <a:tcPr marL="43200" marR="43200" marT="14400" marB="14400" anchor="ctr">
                    <a:solidFill>
                      <a:srgbClr val="F2F2F2"/>
                    </a:solidFill>
                  </a:tcPr>
                </a:tc>
              </a:tr>
            </a:tbl>
          </a:graphicData>
        </a:graphic>
      </p:graphicFrame>
      <p:sp>
        <p:nvSpPr>
          <p:cNvPr id="33" name="TextBox 32"/>
          <p:cNvSpPr txBox="1"/>
          <p:nvPr/>
        </p:nvSpPr>
        <p:spPr>
          <a:xfrm>
            <a:off x="503999" y="4202760"/>
            <a:ext cx="11232000" cy="1665239"/>
          </a:xfrm>
          <a:prstGeom prst="rect">
            <a:avLst/>
          </a:prstGeom>
          <a:noFill/>
        </p:spPr>
        <p:txBody>
          <a:bodyPr wrap="square" lIns="54000" rIns="54000"/>
          <a:lstStyle/>
          <a:p>
            <a:pPr algn="just">
              <a:spcAft>
                <a:spcPts val="600"/>
              </a:spcAft>
            </a:pPr>
            <a:r>
              <a:rPr sz="1100" b="1">
                <a:solidFill>
                  <a:srgbClr val="060606"/>
                </a:solidFill>
                <a:latin typeface="Helvetica"/>
              </a:rPr>
              <a:t>Une partie des mois manquants peut correspondre à des périodes où le produit n'existait pas encore</a:t>
            </a:r>
            <a:r>
              <a:rPr sz="1100" b="0">
                <a:solidFill>
                  <a:srgbClr val="060606"/>
                </a:solidFill>
                <a:latin typeface="Helvetica"/>
              </a:rPr>
              <a:t>, notamment MEDOC avant novembre 2025, la flotte avant 2023 et les retraités avant 2024. La date de démarrage de chaque produit est demandée (PBC, item 60).</a:t>
            </a:r>
          </a:p>
          <a:p>
            <a:pPr algn="just">
              <a:spcAft>
                <a:spcPts val="600"/>
              </a:spcAft>
            </a:pPr>
            <a:r>
              <a:rPr sz="1100" b="1">
                <a:solidFill>
                  <a:srgbClr val="060606"/>
                </a:solidFill>
                <a:latin typeface="Helvetica"/>
              </a:rPr>
              <a:t>Implication pour la mission.</a:t>
            </a:r>
            <a:r>
              <a:rPr sz="1100" b="0">
                <a:solidFill>
                  <a:srgbClr val="060606"/>
                </a:solidFill>
                <a:latin typeface="Helvetica"/>
              </a:rPr>
              <a:t> Les fichiers aller maladie et décès sont à demander à la direction du personnel de la Police ou à la Solde. Les autres fichiers manquants sont à demander au responsable des cotisations, qui les dépose sur la plateforme.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CGRAE : Caisse générale de retraite des agents de l'État | PEP : Plan Épargne Plus | EFC : entraide fin de carrière | PBC : liste des documents demandés au client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653024633"/>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Documents et points d'attention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documentation des produits conditionne la suite des travaux</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documents promis et les points relevés sont repris dans la demande complémentaire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 déclarations à confirmer par document</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Documents et points d'attention</a:t>
            </a:r>
          </a:p>
        </p:txBody>
      </p:sp>
      <p:graphicFrame>
        <p:nvGraphicFramePr>
          <p:cNvPr id="32" name="Table 31"/>
          <p:cNvGraphicFramePr>
            <a:graphicFrameLocks noGrp="1"/>
          </p:cNvGraphicFramePr>
          <p:nvPr/>
        </p:nvGraphicFramePr>
        <p:xfrm>
          <a:off x="503999" y="1655999"/>
          <a:ext cx="11232000" cy="2137302"/>
        </p:xfrm>
        <a:graphic>
          <a:graphicData uri="http://schemas.openxmlformats.org/drawingml/2006/table">
            <a:tbl>
              <a:tblPr firstRow="0" bandRow="0">
                <a:tableStyleId>{5940675A-B579-460E-94D1-54222C63F5DA}</a:tableStyleId>
              </a:tblPr>
              <a:tblGrid>
                <a:gridCol w="1800000"/>
                <a:gridCol w="3744000"/>
                <a:gridCol w="3600000"/>
                <a:gridCol w="2088000"/>
              </a:tblGrid>
              <a:tr h="210009">
                <a:tc>
                  <a:txBody>
                    <a:bodyPr/>
                    <a:lstStyle/>
                    <a:p>
                      <a:pPr marL="0" indent="0" lvl="0">
                        <a:buNone/>
                      </a:pPr>
                      <a:r>
                        <a:rPr sz="1000" b="1">
                          <a:solidFill>
                            <a:srgbClr val="FFFFFF"/>
                          </a:solidFill>
                          <a:latin typeface="Helvetica"/>
                        </a:rPr>
                        <a:t>Sujet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Constat ou engagement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Conséquence pour la mission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Suite</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Barème maladie et décès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À déposer sur la plateforme de partage. Non reçu au 19/10/2026.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La répartition 3,77 % et 1,23 % reste à valider.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PBC, item 56</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Documentation des produits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Retour annoncé le jour même de l'entretien.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Règles de l'EFC, du PEP, de MEDOC, de GNA et du Grenier.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PBC, items 57 à 60</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Fichiers aller maladie et décès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Transmis directement par la direction du personnel à la Solde.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Recouvrement des cotisations non mesurable.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PBC, item 61</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Fichiers manquants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Mois sans fichier aller ou retour, par poste.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Couverture incomplète de la période.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PBC, items 62 et 63</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Motifs de rejet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États reçus depuis environ deux mois.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Justification des écarts récents.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PBC, item 64</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Ayants droit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Fichier attendu, sans âges.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Évaluation des engagements santé.</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PBC, item 66</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Paiements manuels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Encaissement à préciser avec le chef comptable.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Cotisations hors fichiers.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Guide, entretien placements</a:t>
                      </a:r>
                    </a:p>
                  </a:txBody>
                  <a:tcPr marL="43200" marR="43200" marT="14400" marB="14400" anchor="ctr">
                    <a:solidFill>
                      <a:srgbClr val="FFFFFF"/>
                    </a:solidFill>
                  </a:tcPr>
                </a:tc>
              </a:tr>
            </a:tbl>
          </a:graphicData>
        </a:graphic>
      </p:graphicFrame>
      <p:sp>
        <p:nvSpPr>
          <p:cNvPr id="33" name="TextBox 32"/>
          <p:cNvSpPr txBox="1"/>
          <p:nvPr/>
        </p:nvSpPr>
        <p:spPr>
          <a:xfrm>
            <a:off x="503999" y="3919305"/>
            <a:ext cx="11232000" cy="1948694"/>
          </a:xfrm>
          <a:prstGeom prst="rect">
            <a:avLst/>
          </a:prstGeom>
          <a:noFill/>
        </p:spPr>
        <p:txBody>
          <a:bodyPr wrap="square" lIns="54000" rIns="54000"/>
          <a:lstStyle/>
          <a:p>
            <a:pPr algn="just">
              <a:spcAft>
                <a:spcPts val="600"/>
              </a:spcAft>
            </a:pPr>
            <a:r>
              <a:rPr sz="1200" b="1">
                <a:solidFill>
                  <a:srgbClr val="060606"/>
                </a:solidFill>
                <a:latin typeface="Helvetica"/>
              </a:rPr>
              <a:t>L'entretien éclaire le circuit des cotisations, mais ne remplace pas les documents.</a:t>
            </a:r>
            <a:r>
              <a:rPr sz="1200" b="0">
                <a:solidFill>
                  <a:srgbClr val="060606"/>
                </a:solidFill>
                <a:latin typeface="Helvetica"/>
              </a:rPr>
              <a:t> Les déclarations seront intégrées au rapport avec la mention « à confirmer par document » jusqu'à réception des pièces.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PEP : Plan Épargne Plus | EFC : entraide fin de carrière | PBC : liste des documents demandés au client | GNA : assureur de la flotte automobile (compte 47111106) | MEDOC : produit santé complémentaire du poste 8Z7</a:t>
            </a:r>
          </a:p>
        </p:txBody>
      </p:sp>
    </p:spTree>
    <p:extLst>
      <p:ext uri="{BB962C8B-B14F-4D97-AF65-F5344CB8AC3E}">
        <p14:creationId xmlns:p14="http://schemas.microsoft.com/office/powerpoint/2010/main" val="3000438499"/>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0667" y="-1240"/>
            <a:ext cx="6858000" cy="6858000"/>
          </a:xfrm>
          <a:prstGeom prst="rect">
            <a:avLst/>
          </a:prstGeom>
        </p:spPr>
      </p:pic>
      <p:sp>
        <p:nvSpPr>
          <p:cNvPr id="15" name="Rectangle 14"/>
          <p:cNvSpPr/>
          <p:nvPr/>
        </p:nvSpPr>
        <p:spPr>
          <a:xfrm>
            <a:off x="0" y="0"/>
            <a:ext cx="60452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3" name="Google Shape;138;p25"/>
          <p:cNvSpPr txBox="1"/>
          <p:nvPr/>
        </p:nvSpPr>
        <p:spPr>
          <a:xfrm>
            <a:off x="920037" y="3088600"/>
            <a:ext cx="5800971" cy="615553"/>
          </a:xfrm>
          <a:prstGeom prst="rect">
            <a:avLst/>
          </a:prstGeom>
          <a:noFill/>
          <a:ln>
            <a:noFill/>
          </a:ln>
        </p:spPr>
        <p:txBody>
          <a:bodyPr spcFirstLastPara="1" wrap="square" lIns="0" tIns="0" rIns="0" bIns="0" anchor="t" anchorCtr="0">
            <a:spAutoFit/>
          </a:bodyPr>
          <a:lstStyle/>
          <a:p>
            <a:r>
              <a:rPr lang="fr-CI" sz="4000" noProof="0">
                <a:solidFill>
                  <a:schemeClr val="bg1"/>
                </a:solidFill>
                <a:latin typeface="Helvetica" panose="020B0604020202020204" pitchFamily="34" charset="0"/>
                <a:cs typeface="Helvetica" panose="020B0604020202020204" pitchFamily="34" charset="0"/>
              </a:rPr>
              <a:t>Merci </a:t>
            </a:r>
          </a:p>
        </p:txBody>
      </p:sp>
    </p:spTree>
    <p:extLst>
      <p:ext uri="{BB962C8B-B14F-4D97-AF65-F5344CB8AC3E}">
        <p14:creationId xmlns:p14="http://schemas.microsoft.com/office/powerpoint/2010/main" val="211659023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16641</Words>
  <Application>Microsoft Office PowerPoint</Application>
  <PresentationFormat>Grand écran</PresentationFormat>
  <Paragraphs>1935</Paragraphs>
  <Slides>12</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Adenka Consulting</dc:creator>
  <cp:lastModifiedBy>Adenka Consulting</cp:lastModifiedBy>
  <cp:revision>1</cp:revision>
  <dcterms:created xsi:type="dcterms:W3CDTF">2025-10-22T15:02:15Z</dcterms:created>
  <dcterms:modified xsi:type="dcterms:W3CDTF">2026-09-23T09:25:57Z</dcterms:modified>
  <dc:subject/>
  <cp:keywords/>
  <dc:description/>
</cp:coreProperties>
</file>