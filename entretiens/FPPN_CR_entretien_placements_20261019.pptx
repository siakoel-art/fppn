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5" r:id="rId2"/>
  </p:sldMasterIdLst>
  <p:notesMasterIdLst>
    <p:notesMasterId r:id="rId117"/>
  </p:notesMasterIdLst>
  <p:sldIdLst>
    <p:sldId id="256" r:id="rId3"/>
    <p:sldId id="313" r:id="rId7"/>
    <p:sldId id="404" r:id="rId124"/>
    <p:sldId id="405" r:id="rId125"/>
    <p:sldId id="406" r:id="rId126"/>
    <p:sldId id="407" r:id="rId127"/>
    <p:sldId id="408" r:id="rId128"/>
    <p:sldId id="409" r:id="rId129"/>
    <p:sldId id="410" r:id="rId130"/>
    <p:sldId id="328" r:id="rId1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uverture" id="{9C8FC9B7-AD45-409C-8017-02DEBDF9C938}">
          <p14:sldIdLst>
            <p14:sldId id="256"/>
          </p14:sldIdLst>
        </p14:section>
        <p14:section name="Contenu" id="{41430ABC-712C-4A41-8691-5284113E2CD9}">
          <p14:sldIdLst>
            <p14:sldId id="260"/>
            <p14:sldId id="261"/>
            <p14:sldId id="310"/>
            <p14:sldId id="313"/>
            <p14:sldId id="403"/>
            <p14:sldId id="402"/>
            <p14:sldId id="291"/>
            <p14:sldId id="312"/>
            <p14:sldId id="314"/>
            <p14:sldId id="317"/>
            <p14:sldId id="315"/>
            <p14:sldId id="316"/>
            <p14:sldId id="323"/>
            <p14:sldId id="324"/>
            <p14:sldId id="321"/>
            <p14:sldId id="322"/>
            <p14:sldId id="264"/>
            <p14:sldId id="318"/>
            <p14:sldId id="319"/>
            <p14:sldId id="320"/>
            <p14:sldId id="326"/>
            <p14:sldId id="325"/>
            <p14:sldId id="266"/>
            <p14:sldId id="327"/>
            <p14:sldId id="268"/>
            <p14:sldId id="271"/>
            <p14:sldId id="287"/>
            <p14:sldId id="329"/>
            <p14:sldId id="398"/>
            <p14:sldId id="399"/>
            <p14:sldId id="391"/>
            <p14:sldId id="397"/>
            <p14:sldId id="395"/>
            <p14:sldId id="396"/>
            <p14:sldId id="393"/>
            <p14:sldId id="392"/>
            <p14:sldId id="270"/>
            <p14:sldId id="330"/>
            <p14:sldId id="331"/>
            <p14:sldId id="332"/>
            <p14:sldId id="272"/>
            <p14:sldId id="333"/>
            <p14:sldId id="289"/>
            <p14:sldId id="334"/>
            <p14:sldId id="277"/>
            <p14:sldId id="278"/>
            <p14:sldId id="274"/>
            <p14:sldId id="335"/>
            <p14:sldId id="336"/>
            <p14:sldId id="348"/>
            <p14:sldId id="341"/>
            <p14:sldId id="349"/>
            <p14:sldId id="342"/>
            <p14:sldId id="350"/>
            <p14:sldId id="343"/>
            <p14:sldId id="351"/>
            <p14:sldId id="344"/>
            <p14:sldId id="352"/>
            <p14:sldId id="345"/>
            <p14:sldId id="353"/>
            <p14:sldId id="346"/>
            <p14:sldId id="354"/>
            <p14:sldId id="347"/>
            <p14:sldId id="355"/>
            <p14:sldId id="338"/>
            <p14:sldId id="356"/>
            <p14:sldId id="337"/>
            <p14:sldId id="357"/>
            <p14:sldId id="276"/>
            <p14:sldId id="358"/>
            <p14:sldId id="339"/>
            <p14:sldId id="359"/>
            <p14:sldId id="381"/>
            <p14:sldId id="385"/>
            <p14:sldId id="382"/>
            <p14:sldId id="400"/>
            <p14:sldId id="294"/>
            <p14:sldId id="360"/>
            <p14:sldId id="285"/>
            <p14:sldId id="286"/>
            <p14:sldId id="299"/>
            <p14:sldId id="361"/>
            <p14:sldId id="362"/>
            <p14:sldId id="283"/>
            <p14:sldId id="297"/>
            <p14:sldId id="365"/>
            <p14:sldId id="364"/>
            <p14:sldId id="363"/>
            <p14:sldId id="366"/>
            <p14:sldId id="367"/>
            <p14:sldId id="368"/>
            <p14:sldId id="370"/>
            <p14:sldId id="374"/>
            <p14:sldId id="375"/>
          </p14:sldIdLst>
        </p14:section>
        <p14:section name="Graphs" id="{551B27DB-FB3B-4066-9154-1B46F0A65216}">
          <p14:sldIdLst>
            <p14:sldId id="301"/>
            <p14:sldId id="304"/>
            <p14:sldId id="303"/>
            <p14:sldId id="302"/>
            <p14:sldId id="305"/>
            <p14:sldId id="306"/>
            <p14:sldId id="378"/>
            <p14:sldId id="376"/>
            <p14:sldId id="379"/>
            <p14:sldId id="388"/>
            <p14:sldId id="307"/>
            <p14:sldId id="369"/>
            <p14:sldId id="389"/>
            <p14:sldId id="390"/>
          </p14:sldIdLst>
        </p14:section>
        <p14:section name="Merci" id="{DE1A67E5-D1FE-41AF-88BB-A85595BA690B}">
          <p14:sldIdLst>
            <p14:sldId id="328"/>
          </p14:sldIdLst>
        </p14:section>
        <p14:section name="Symboles" id="{49175908-295D-4406-8512-BB62EA88444D}">
          <p14:sldIdLst>
            <p14:sldId id="371"/>
            <p14:sldId id="373"/>
            <p14:sldId id="401"/>
            <p14:sldId id="3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AC62"/>
    <a:srgbClr val="060606"/>
    <a:srgbClr val="112A4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4BD68B-DEB5-4C72-B758-AA0E2A02C403}" v="4" dt="2026-09-23T09:25:47.7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7" Type="http://schemas.openxmlformats.org/officeDocument/2006/relationships/slide" Target="slides/slide2.xml"/><Relationship Id="rId112" Type="http://schemas.openxmlformats.org/officeDocument/2006/relationships/slide" Target="slides/slide10.xml"/><Relationship Id="rId117" Type="http://schemas.openxmlformats.org/officeDocument/2006/relationships/notesMaster" Target="notesMasters/notesMaster1.xml"/><Relationship Id="rId118" Type="http://schemas.openxmlformats.org/officeDocument/2006/relationships/presProps" Target="presProps.xml"/><Relationship Id="rId119" Type="http://schemas.openxmlformats.org/officeDocument/2006/relationships/viewProps" Target="viewProps.xml"/><Relationship Id="rId120" Type="http://schemas.openxmlformats.org/officeDocument/2006/relationships/theme" Target="theme/theme1.xml"/><Relationship Id="rId121" Type="http://schemas.openxmlformats.org/officeDocument/2006/relationships/tableStyles" Target="tableStyles.xml"/><Relationship Id="rId122" Type="http://schemas.microsoft.com/office/2016/11/relationships/changesInfo" Target="changesInfos/changesInfo1.xml"/><Relationship Id="rId123" Type="http://schemas.microsoft.com/office/2015/10/relationships/revisionInfo" Target="revisionInfo.xml"/><Relationship Id="rId124" Type="http://schemas.openxmlformats.org/officeDocument/2006/relationships/slide" Target="slides/slide3.xml"/><Relationship Id="rId125" Type="http://schemas.openxmlformats.org/officeDocument/2006/relationships/slide" Target="slides/slide4.xml"/><Relationship Id="rId126" Type="http://schemas.openxmlformats.org/officeDocument/2006/relationships/slide" Target="slides/slide5.xml"/><Relationship Id="rId127" Type="http://schemas.openxmlformats.org/officeDocument/2006/relationships/slide" Target="slides/slide6.xml"/><Relationship Id="rId128" Type="http://schemas.openxmlformats.org/officeDocument/2006/relationships/slide" Target="slides/slide7.xml"/><Relationship Id="rId129" Type="http://schemas.openxmlformats.org/officeDocument/2006/relationships/slide" Target="slides/slide8.xml"/><Relationship Id="rId130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n-Noel Sialou" userId="08acc5d2-3819-4be4-97e6-d593a92e8e16" providerId="ADAL" clId="{DC5A2AD4-2AC1-4F5C-A6BF-541681F7EFA2}"/>
    <pc:docChg chg="undo custSel modSld">
      <pc:chgData name="Jean-Noel Sialou" userId="08acc5d2-3819-4be4-97e6-d593a92e8e16" providerId="ADAL" clId="{DC5A2AD4-2AC1-4F5C-A6BF-541681F7EFA2}" dt="2026-09-07T10:18:25.187" v="38" actId="571"/>
      <pc:docMkLst>
        <pc:docMk/>
      </pc:docMkLst>
      <pc:sldChg chg="addSp delSp modSp mod">
        <pc:chgData name="Jean-Noel Sialou" userId="08acc5d2-3819-4be4-97e6-d593a92e8e16" providerId="ADAL" clId="{DC5A2AD4-2AC1-4F5C-A6BF-541681F7EFA2}" dt="2026-09-07T10:18:25.187" v="38" actId="571"/>
        <pc:sldMkLst>
          <pc:docMk/>
          <pc:sldMk cId="2102837376" sldId="358"/>
        </pc:sldMkLst>
        <pc:spChg chg="mod">
          <ac:chgData name="Jean-Noel Sialou" userId="08acc5d2-3819-4be4-97e6-d593a92e8e16" providerId="ADAL" clId="{DC5A2AD4-2AC1-4F5C-A6BF-541681F7EFA2}" dt="2026-09-07T10:18:15.089" v="35" actId="164"/>
          <ac:spMkLst>
            <pc:docMk/>
            <pc:sldMk cId="2102837376" sldId="358"/>
            <ac:spMk id="48" creationId="{00000000-0000-0000-0000-000000000000}"/>
          </ac:spMkLst>
        </pc:spChg>
        <pc:spChg chg="mod">
          <ac:chgData name="Jean-Noel Sialou" userId="08acc5d2-3819-4be4-97e6-d593a92e8e16" providerId="ADAL" clId="{DC5A2AD4-2AC1-4F5C-A6BF-541681F7EFA2}" dt="2026-09-07T10:18:15.089" v="35" actId="164"/>
          <ac:spMkLst>
            <pc:docMk/>
            <pc:sldMk cId="2102837376" sldId="358"/>
            <ac:spMk id="49" creationId="{00000000-0000-0000-0000-000000000000}"/>
          </ac:spMkLst>
        </pc:spChg>
        <pc:spChg chg="mod">
          <ac:chgData name="Jean-Noel Sialou" userId="08acc5d2-3819-4be4-97e6-d593a92e8e16" providerId="ADAL" clId="{DC5A2AD4-2AC1-4F5C-A6BF-541681F7EFA2}" dt="2026-09-07T10:18:15.089" v="35" actId="164"/>
          <ac:spMkLst>
            <pc:docMk/>
            <pc:sldMk cId="2102837376" sldId="358"/>
            <ac:spMk id="61" creationId="{00000000-0000-0000-0000-000000000000}"/>
          </ac:spMkLst>
        </pc:spChg>
        <pc:spChg chg="mod">
          <ac:chgData name="Jean-Noel Sialou" userId="08acc5d2-3819-4be4-97e6-d593a92e8e16" providerId="ADAL" clId="{DC5A2AD4-2AC1-4F5C-A6BF-541681F7EFA2}" dt="2026-09-07T10:18:15.089" v="35" actId="164"/>
          <ac:spMkLst>
            <pc:docMk/>
            <pc:sldMk cId="2102837376" sldId="358"/>
            <ac:spMk id="64" creationId="{00000000-0000-0000-0000-000000000000}"/>
          </ac:spMkLst>
        </pc:spChg>
        <pc:grpChg chg="add mod">
          <ac:chgData name="Jean-Noel Sialou" userId="08acc5d2-3819-4be4-97e6-d593a92e8e16" providerId="ADAL" clId="{DC5A2AD4-2AC1-4F5C-A6BF-541681F7EFA2}" dt="2026-09-07T10:18:17.535" v="36" actId="164"/>
          <ac:grpSpMkLst>
            <pc:docMk/>
            <pc:sldMk cId="2102837376" sldId="358"/>
            <ac:grpSpMk id="3" creationId="{C9290073-F4B9-4E89-EC47-0D4815D405F9}"/>
          </ac:grpSpMkLst>
        </pc:grpChg>
        <pc:grpChg chg="add mod">
          <ac:chgData name="Jean-Noel Sialou" userId="08acc5d2-3819-4be4-97e6-d593a92e8e16" providerId="ADAL" clId="{DC5A2AD4-2AC1-4F5C-A6BF-541681F7EFA2}" dt="2026-09-07T10:18:17.535" v="36" actId="164"/>
          <ac:grpSpMkLst>
            <pc:docMk/>
            <pc:sldMk cId="2102837376" sldId="358"/>
            <ac:grpSpMk id="7" creationId="{D520CB44-6CB8-26BA-C481-1E6C90DCE023}"/>
          </ac:grpSpMkLst>
        </pc:grpChg>
        <pc:picChg chg="add mod">
          <ac:chgData name="Jean-Noel Sialou" userId="08acc5d2-3819-4be4-97e6-d593a92e8e16" providerId="ADAL" clId="{DC5A2AD4-2AC1-4F5C-A6BF-541681F7EFA2}" dt="2026-09-07T10:18:17.535" v="36" actId="164"/>
          <ac:picMkLst>
            <pc:docMk/>
            <pc:sldMk cId="2102837376" sldId="358"/>
            <ac:picMk id="5" creationId="{A59C829E-ED12-0019-96D2-4C72AF995693}"/>
          </ac:picMkLst>
        </pc:picChg>
        <pc:picChg chg="mod">
          <ac:chgData name="Jean-Noel Sialou" userId="08acc5d2-3819-4be4-97e6-d593a92e8e16" providerId="ADAL" clId="{DC5A2AD4-2AC1-4F5C-A6BF-541681F7EFA2}" dt="2026-09-07T10:18:15.089" v="35" actId="164"/>
          <ac:picMkLst>
            <pc:docMk/>
            <pc:sldMk cId="2102837376" sldId="358"/>
            <ac:picMk id="31" creationId="{00000000-0000-0000-0000-000000000000}"/>
          </ac:picMkLst>
        </pc:picChg>
        <pc:picChg chg="mod">
          <ac:chgData name="Jean-Noel Sialou" userId="08acc5d2-3819-4be4-97e6-d593a92e8e16" providerId="ADAL" clId="{DC5A2AD4-2AC1-4F5C-A6BF-541681F7EFA2}" dt="2026-09-07T10:18:17.535" v="36" actId="164"/>
          <ac:picMkLst>
            <pc:docMk/>
            <pc:sldMk cId="2102837376" sldId="358"/>
            <ac:picMk id="47" creationId="{00000000-0000-0000-0000-000000000000}"/>
          </ac:picMkLst>
        </pc:picChg>
        <pc:picChg chg="mod">
          <ac:chgData name="Jean-Noel Sialou" userId="08acc5d2-3819-4be4-97e6-d593a92e8e16" providerId="ADAL" clId="{DC5A2AD4-2AC1-4F5C-A6BF-541681F7EFA2}" dt="2026-09-07T10:18:15.089" v="35" actId="164"/>
          <ac:picMkLst>
            <pc:docMk/>
            <pc:sldMk cId="2102837376" sldId="358"/>
            <ac:picMk id="50" creationId="{00000000-0000-0000-0000-000000000000}"/>
          </ac:picMkLst>
        </pc:picChg>
        <pc:picChg chg="mod">
          <ac:chgData name="Jean-Noel Sialou" userId="08acc5d2-3819-4be4-97e6-d593a92e8e16" providerId="ADAL" clId="{DC5A2AD4-2AC1-4F5C-A6BF-541681F7EFA2}" dt="2026-09-07T10:18:15.089" v="35" actId="164"/>
          <ac:picMkLst>
            <pc:docMk/>
            <pc:sldMk cId="2102837376" sldId="358"/>
            <ac:picMk id="54" creationId="{00000000-0000-0000-0000-000000000000}"/>
          </ac:picMkLst>
        </pc:picChg>
        <pc:picChg chg="mod">
          <ac:chgData name="Jean-Noel Sialou" userId="08acc5d2-3819-4be4-97e6-d593a92e8e16" providerId="ADAL" clId="{DC5A2AD4-2AC1-4F5C-A6BF-541681F7EFA2}" dt="2026-09-07T10:18:15.089" v="35" actId="164"/>
          <ac:picMkLst>
            <pc:docMk/>
            <pc:sldMk cId="2102837376" sldId="358"/>
            <ac:picMk id="65" creationId="{00000000-0000-0000-0000-000000000000}"/>
          </ac:picMkLst>
        </pc:picChg>
      </pc:sldChg>
    </pc:docChg>
  </pc:docChgLst>
  <pc:docChgLst>
    <pc:chgData name="Jean-Noel Sialou" userId="08acc5d2-3819-4be4-97e6-d593a92e8e16" providerId="ADAL" clId="{3E2E487B-B21A-43C3-A4E4-C31B8823D31F}"/>
    <pc:docChg chg="modSld">
      <pc:chgData name="Jean-Noel Sialou" userId="08acc5d2-3819-4be4-97e6-d593a92e8e16" providerId="ADAL" clId="{3E2E487B-B21A-43C3-A4E4-C31B8823D31F}" dt="2026-09-23T09:25:47.775" v="6" actId="164"/>
      <pc:docMkLst>
        <pc:docMk/>
      </pc:docMkLst>
      <pc:sldChg chg="modSp mod modAnim">
        <pc:chgData name="Jean-Noel Sialou" userId="08acc5d2-3819-4be4-97e6-d593a92e8e16" providerId="ADAL" clId="{3E2E487B-B21A-43C3-A4E4-C31B8823D31F}" dt="2026-09-15T10:14:35.637" v="5" actId="208"/>
        <pc:sldMkLst>
          <pc:docMk/>
          <pc:sldMk cId="2102837376" sldId="358"/>
        </pc:sldMkLst>
        <pc:spChg chg="mod">
          <ac:chgData name="Jean-Noel Sialou" userId="08acc5d2-3819-4be4-97e6-d593a92e8e16" providerId="ADAL" clId="{3E2E487B-B21A-43C3-A4E4-C31B8823D31F}" dt="2026-09-15T10:14:31.481" v="4" actId="207"/>
          <ac:spMkLst>
            <pc:docMk/>
            <pc:sldMk cId="2102837376" sldId="358"/>
            <ac:spMk id="40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15T10:14:31.481" v="4" actId="207"/>
          <ac:spMkLst>
            <pc:docMk/>
            <pc:sldMk cId="2102837376" sldId="358"/>
            <ac:spMk id="41" creationId="{00000000-0000-0000-0000-000000000000}"/>
          </ac:spMkLst>
        </pc:spChg>
        <pc:grpChg chg="mod">
          <ac:chgData name="Jean-Noel Sialou" userId="08acc5d2-3819-4be4-97e6-d593a92e8e16" providerId="ADAL" clId="{3E2E487B-B21A-43C3-A4E4-C31B8823D31F}" dt="2026-09-15T10:14:06.017" v="1" actId="1076"/>
          <ac:grpSpMkLst>
            <pc:docMk/>
            <pc:sldMk cId="2102837376" sldId="358"/>
            <ac:grpSpMk id="7" creationId="{D520CB44-6CB8-26BA-C481-1E6C90DCE023}"/>
          </ac:grpSpMkLst>
        </pc:grpChg>
        <pc:cxnChg chg="mod">
          <ac:chgData name="Jean-Noel Sialou" userId="08acc5d2-3819-4be4-97e6-d593a92e8e16" providerId="ADAL" clId="{3E2E487B-B21A-43C3-A4E4-C31B8823D31F}" dt="2026-09-15T10:14:35.637" v="5" actId="208"/>
          <ac:cxnSpMkLst>
            <pc:docMk/>
            <pc:sldMk cId="2102837376" sldId="358"/>
            <ac:cxnSpMk id="77" creationId="{00000000-0000-0000-0000-000000000000}"/>
          </ac:cxnSpMkLst>
        </pc:cxnChg>
      </pc:sldChg>
      <pc:sldChg chg="addSp modSp modAnim">
        <pc:chgData name="Jean-Noel Sialou" userId="08acc5d2-3819-4be4-97e6-d593a92e8e16" providerId="ADAL" clId="{3E2E487B-B21A-43C3-A4E4-C31B8823D31F}" dt="2026-09-23T09:25:47.775" v="6" actId="164"/>
        <pc:sldMkLst>
          <pc:docMk/>
          <pc:sldMk cId="135173498" sldId="359"/>
        </pc:sldMkLst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34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36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37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40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41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44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49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51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52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66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E2DAE2-9FC7-48A6-84A5-82A6F426499B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AB2686-849E-4084-A991-5071DA2BB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0728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Logigramme modifiable : chaque forme et chaque flèche peuvent être déplacées dans PowerPoint. Les formes à contour rouge signalent un contrôle manquant.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2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8630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2439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0939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2779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137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5739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6722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6728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8188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7573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4129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5049338-7875-4927-82E0-03C95D8320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5049338-7875-4927-82E0-03C95D8320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AA52354-AD0C-4278-A20C-E161AEB4D1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7201" y="304800"/>
            <a:ext cx="11201400" cy="342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13497947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5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4" name="Google Shape;5624;p2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flipH="1">
            <a:off x="-4949" y="1"/>
            <a:ext cx="1219200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625" name="Google Shape;5625;p2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826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>
  <p:cSld name="Title only 12">
    <p:spTree>
      <p:nvGrpSpPr>
        <p:cNvPr id="1" name="Shape 6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8" name="Google Shape;6978;p57"/>
          <p:cNvSpPr txBox="1">
            <a:spLocks noGrp="1"/>
          </p:cNvSpPr>
          <p:nvPr>
            <p:ph type="title"/>
          </p:nvPr>
        </p:nvSpPr>
        <p:spPr>
          <a:xfrm>
            <a:off x="960000" y="7200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170010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, 1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966A5C41-60AA-4C25-8080-4F0DFF19B9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966A5C41-60AA-4C25-8080-4F0DFF19B9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5544814-ED77-5424-AA44-FCF607EC72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344" y="649224"/>
            <a:ext cx="11277599" cy="101091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92C75D35-8730-843D-1A9B-7A3EF8BDC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83" y="1684020"/>
            <a:ext cx="11277600" cy="42697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2764C76-8970-695F-1D5D-E85887CA62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1983" y="6070213"/>
            <a:ext cx="11274552" cy="265176"/>
          </a:xfrm>
        </p:spPr>
        <p:txBody>
          <a:bodyPr wrap="none">
            <a:noAutofit/>
          </a:bodyPr>
          <a:lstStyle>
            <a:lvl1pPr>
              <a:spcAft>
                <a:spcPts val="0"/>
              </a:spcAft>
              <a:defRPr sz="800"/>
            </a:lvl1pPr>
          </a:lstStyle>
          <a:p>
            <a:pPr lvl="0"/>
            <a:r>
              <a:rPr lang="en-US"/>
              <a:t>Click to add notes and sources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B6D0D5CA-F83B-4C19-758D-C3C6659EBE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7201" y="304800"/>
            <a:ext cx="11201400" cy="342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41227808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29807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95068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0424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74805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96391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57460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65436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93278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48537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74899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38644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5049338-7875-4927-82E0-03C95D8320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5049338-7875-4927-82E0-03C95D8320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AA52354-AD0C-4278-A20C-E161AEB4D1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7201" y="304800"/>
            <a:ext cx="11201400" cy="342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52400179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 preserve="1">
  <p:cSld name="Title only 1">
    <p:spTree>
      <p:nvGrpSpPr>
        <p:cNvPr id="1" name="Shape 5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4" name="Google Shape;5624;p2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flipH="1">
            <a:off x="-4949" y="1"/>
            <a:ext cx="1219200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625" name="Google Shape;5625;p2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8263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 preserve="1">
  <p:cSld name="Title only 12">
    <p:spTree>
      <p:nvGrpSpPr>
        <p:cNvPr id="1" name="Shape 6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8" name="Google Shape;6978;p57"/>
          <p:cNvSpPr txBox="1">
            <a:spLocks noGrp="1"/>
          </p:cNvSpPr>
          <p:nvPr>
            <p:ph type="title"/>
          </p:nvPr>
        </p:nvSpPr>
        <p:spPr>
          <a:xfrm>
            <a:off x="960000" y="7200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82835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1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966A5C41-60AA-4C25-8080-4F0DFF19B9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966A5C41-60AA-4C25-8080-4F0DFF19B9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5544814-ED77-5424-AA44-FCF607EC72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344" y="649224"/>
            <a:ext cx="11277599" cy="101091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92C75D35-8730-843D-1A9B-7A3EF8BDC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83" y="1684020"/>
            <a:ext cx="11277600" cy="42697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2764C76-8970-695F-1D5D-E85887CA62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1983" y="6070213"/>
            <a:ext cx="11274552" cy="265176"/>
          </a:xfrm>
        </p:spPr>
        <p:txBody>
          <a:bodyPr wrap="none">
            <a:noAutofit/>
          </a:bodyPr>
          <a:lstStyle>
            <a:lvl1pPr>
              <a:spcAft>
                <a:spcPts val="0"/>
              </a:spcAft>
              <a:defRPr sz="800"/>
            </a:lvl1pPr>
          </a:lstStyle>
          <a:p>
            <a:pPr lvl="0"/>
            <a:r>
              <a:rPr lang="en-US"/>
              <a:t>Click to add notes and sources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B6D0D5CA-F83B-4C19-758D-C3C6659EBE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7201" y="304800"/>
            <a:ext cx="11201400" cy="342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738359873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0.xml"/><Relationship Id="rId16" Type="http://schemas.openxmlformats.org/officeDocument/2006/relationships/theme" Target="../theme/theme2.xml"/><Relationship Id="rId17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/>
          <p:cNvPicPr>
            <a:picLocks noChangeAspect="1"/>
          </p:cNvPicPr>
          <p:nvPr userDrawn="1"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1564" b="34369"/>
          <a:stretch/>
        </p:blipFill>
        <p:spPr>
          <a:xfrm>
            <a:off x="-147909" y="-58723"/>
            <a:ext cx="12339909" cy="6916723"/>
          </a:xfrm>
          <a:prstGeom prst="rect">
            <a:avLst/>
          </a:prstGeom>
        </p:spPr>
      </p:pic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 userDrawn="1"/>
        </p:nvSpPr>
        <p:spPr>
          <a:xfrm>
            <a:off x="221940" y="6394008"/>
            <a:ext cx="109298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</p:spTree>
    <p:extLst>
      <p:ext uri="{BB962C8B-B14F-4D97-AF65-F5344CB8AC3E}">
        <p14:creationId xmlns:p14="http://schemas.microsoft.com/office/powerpoint/2010/main" val="2063413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5055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0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5" t="524" r="-2445" b="9082"/>
          <a:stretch/>
        </p:blipFill>
        <p:spPr>
          <a:xfrm>
            <a:off x="4883082" y="0"/>
            <a:ext cx="7785652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3092" y="0"/>
            <a:ext cx="5740400" cy="6858000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I" noProof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C356854-0685-DCEF-E2F6-65D5E9653A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5248" y="-135577"/>
            <a:ext cx="3261353" cy="1301437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5B17207E-7FD3-4B75-ADFE-CC565F8DB8A1}"/>
              </a:ext>
            </a:extLst>
          </p:cNvPr>
          <p:cNvSpPr txBox="1">
            <a:spLocks/>
          </p:cNvSpPr>
          <p:nvPr/>
        </p:nvSpPr>
        <p:spPr>
          <a:xfrm>
            <a:off x="10506325" y="6388244"/>
            <a:ext cx="1187835" cy="3376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I" sz="1000" noProof="0">
                <a:solidFill>
                  <a:srgbClr val="FFFFFF"/>
                </a:solidFill>
                <a:latin typeface=".Helvetica"/>
                <a:ea typeface=".Helvetica Neue Interface" panose="020B0604020202020204" pitchFamily="34" charset="0"/>
                <a:cs typeface="Open Sans"/>
              </a:rPr>
              <a:t>19 octobre 2026</a:t>
            </a:r>
          </a:p>
        </p:txBody>
      </p:sp>
      <p:sp>
        <p:nvSpPr>
          <p:cNvPr id="9" name="Google Shape;138;p25"/>
          <p:cNvSpPr txBox="1"/>
          <p:nvPr/>
        </p:nvSpPr>
        <p:spPr>
          <a:xfrm>
            <a:off x="908861" y="2534894"/>
            <a:ext cx="460800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fr-CI" sz="4000" b="1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Entretien</a:t>
            </a:r>
          </a:p>
          <a:p>
            <a:r>
              <a:rPr lang="fr-CI" sz="4000" b="1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Placements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456025" y="6300894"/>
            <a:ext cx="46531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600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87408" y="229231"/>
            <a:ext cx="270459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SA au Capital de 100 millions FCFA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Immeuble le 24, 3e étage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Boulevard </a:t>
            </a:r>
            <a:r>
              <a:rPr lang="fr-CI" sz="1000" noProof="0" err="1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Clozel</a:t>
            </a: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, Plateau, Abidjan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06 BPM 459 Abidjan 06, Côte d’ivoire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NCC : 2404702K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RCCM : CI-ABJ-03-2024-B14-00114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Tel (225) 27 20 33 90 90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www.adenka.ci</a:t>
            </a:r>
          </a:p>
        </p:txBody>
      </p:sp>
    </p:spTree>
    <p:extLst>
      <p:ext uri="{BB962C8B-B14F-4D97-AF65-F5344CB8AC3E}">
        <p14:creationId xmlns:p14="http://schemas.microsoft.com/office/powerpoint/2010/main" val="1047328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Informations de l'entretien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Entretien avec le chef comptable sur les placements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Un entretien consacré aux placements, aux autres actifs, aux ressources et aux contrôles comptables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entretien du 19/10/2026 (14h)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3999" y="1386000"/>
            <a:ext cx="2700000" cy="64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000" y="1422000"/>
            <a:ext cx="2484000" cy="288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1500" b="1">
                <a:solidFill>
                  <a:srgbClr val="EFAC62"/>
                </a:solidFill>
                <a:latin typeface="Helvetica"/>
              </a:rPr>
              <a:t>19 octobre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000" y="1745999"/>
            <a:ext cx="2484000" cy="21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900" b="0">
                <a:solidFill>
                  <a:srgbClr val="53565A"/>
                </a:solidFill>
                <a:latin typeface="Helvetica"/>
              </a:rPr>
              <a:t>Entretien de 14h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48000" y="1386000"/>
            <a:ext cx="2700000" cy="64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56000" y="1422000"/>
            <a:ext cx="2484000" cy="288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1500" b="1">
                <a:solidFill>
                  <a:srgbClr val="EFAC62"/>
                </a:solidFill>
                <a:latin typeface="Helvetica"/>
              </a:rPr>
              <a:t>Placements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56000" y="1745999"/>
            <a:ext cx="2484000" cy="21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900" b="0">
                <a:solidFill>
                  <a:srgbClr val="53565A"/>
                </a:solidFill>
                <a:latin typeface="Helvetica"/>
              </a:rPr>
              <a:t>Décision, suivi, actifs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2000" y="1386000"/>
            <a:ext cx="2700000" cy="64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0000" y="1422000"/>
            <a:ext cx="2484000" cy="288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1500" b="1">
                <a:solidFill>
                  <a:srgbClr val="EFAC62"/>
                </a:solidFill>
                <a:latin typeface="Helvetica"/>
              </a:rPr>
              <a:t>M. Koffi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0000" y="1745999"/>
            <a:ext cx="2484000" cy="21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900" b="0">
                <a:solidFill>
                  <a:srgbClr val="53565A"/>
                </a:solidFill>
                <a:latin typeface="Helvetica"/>
              </a:rPr>
              <a:t>Chef comptable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36000" y="1386000"/>
            <a:ext cx="2700000" cy="64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1422000"/>
            <a:ext cx="2484000" cy="288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1500" b="1">
                <a:solidFill>
                  <a:srgbClr val="EFAC62"/>
                </a:solidFill>
                <a:latin typeface="Helvetica"/>
              </a:rPr>
              <a:t>Documents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1745999"/>
            <a:ext cx="2484000" cy="21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l"/>
            <a:r>
              <a:rPr sz="900" b="0">
                <a:solidFill>
                  <a:srgbClr val="53565A"/>
                </a:solidFill>
                <a:latin typeface="Helvetica"/>
              </a:rPr>
              <a:t>Demande complémentaire, items 80 et suivants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503999" y="2232000"/>
          <a:ext cx="11231999" cy="1351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55999"/>
                <a:gridCol w="2520000"/>
                <a:gridCol w="3816000"/>
                <a:gridCol w="3240000"/>
              </a:tblGrid>
              <a:tr h="225250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Structure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Nom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Fonction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Rôle dans l'entretien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225250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FPPN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M. Koffi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Chef comptable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Interlocuteur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225250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Adenka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Emmanuel Dacoury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Équipe Adenka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Participant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25250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Adenka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Marlène Mody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Équipe Adenka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Participante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225250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Adenka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Cédric Kouamé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Équipe Adenka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Participant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25250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1">
                          <a:solidFill>
                            <a:srgbClr val="060606"/>
                          </a:solidFill>
                          <a:latin typeface="Helvetica"/>
                        </a:rPr>
                        <a:t>Adenka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Jean-Noël Sialou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Consultant actuaire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100" b="0">
                          <a:solidFill>
                            <a:srgbClr val="060606"/>
                          </a:solidFill>
                          <a:latin typeface="Helvetica"/>
                        </a:rPr>
                        <a:t>Placements, engagements et provisions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503999" y="3763503"/>
            <a:ext cx="11232000" cy="2104496"/>
          </a:xfrm>
          <a:prstGeom prst="rect">
            <a:avLst/>
          </a:prstGeom>
          <a:noFill/>
        </p:spPr>
        <p:txBody>
          <a:bodyPr wrap="square" lIns="54000" rIns="54000"/>
          <a:lstStyle/>
          <a:p>
            <a:pPr algn="just">
              <a:spcAft>
                <a:spcPts val="600"/>
              </a:spcAft>
            </a:pPr>
            <a:r>
              <a:rPr sz="1200" b="1">
                <a:solidFill>
                  <a:srgbClr val="060606"/>
                </a:solidFill>
                <a:latin typeface="Helvetica"/>
              </a:rPr>
              <a:t>Objet de l'entretien.</a:t>
            </a:r>
            <a:r>
              <a:rPr sz="1200" b="0">
                <a:solidFill>
                  <a:srgbClr val="060606"/>
                </a:solidFill>
                <a:latin typeface="Helvetica"/>
              </a:rPr>
              <a:t> Comprendre comment les placements sont décidés, suivis et comptabilisés, et quels autres actifs et ressources porte le FPPN.</a:t>
            </a:r>
          </a:p>
          <a:p>
            <a:pPr algn="just">
              <a:spcAft>
                <a:spcPts val="600"/>
              </a:spcAft>
            </a:pPr>
            <a:r>
              <a:rPr sz="1200" b="1">
                <a:solidFill>
                  <a:srgbClr val="060606"/>
                </a:solidFill>
                <a:latin typeface="Helvetica"/>
              </a:rPr>
              <a:t>Méthode.</a:t>
            </a:r>
            <a:r>
              <a:rPr sz="1200" b="0">
                <a:solidFill>
                  <a:srgbClr val="060606"/>
                </a:solidFill>
                <a:latin typeface="Helvetica"/>
              </a:rPr>
              <a:t> Chaque déclaration est présentée comme telle et confrontée aux balances des comptes reçues le 15/10/2026. Les documents manquants sont repris dans la demande complémentaire.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FPPN : Fonds de prévoyance de la Police nationale</a:t>
            </a:r>
          </a:p>
        </p:txBody>
      </p:sp>
    </p:spTree>
    <p:extLst>
      <p:ext uri="{BB962C8B-B14F-4D97-AF65-F5344CB8AC3E}">
        <p14:creationId xmlns:p14="http://schemas.microsoft.com/office/powerpoint/2010/main" val="77577176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Décision de placement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 directeur général décide seul, sur la base d'un point de trésorerie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Aucun comité, aucun avis du conseil d'administration, aucune procédure écrite selon le chef comptable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entretien du 19/10/2026 (14h) avec M. Koffi, chef comptable ; déclarations à confirmer par document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3999" y="1404000"/>
            <a:ext cx="11232000" cy="846000"/>
          </a:xfrm>
          <a:prstGeom prst="rect">
            <a:avLst/>
          </a:prstGeom>
          <a:solidFill>
            <a:srgbClr val="F7F7F7"/>
          </a:solidFill>
          <a:ln w="9525">
            <a:solidFill>
              <a:srgbClr val="BBB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3999" y="1404000"/>
            <a:ext cx="1404000" cy="846000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"/>
              </a:rPr>
              <a:t>Banque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3999" y="2250000"/>
            <a:ext cx="11232000" cy="846000"/>
          </a:xfrm>
          <a:prstGeom prst="rect">
            <a:avLst/>
          </a:prstGeom>
          <a:solidFill>
            <a:srgbClr val="FFFFFF"/>
          </a:solidFill>
          <a:ln w="9525">
            <a:solidFill>
              <a:srgbClr val="BBB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3999" y="2250000"/>
            <a:ext cx="1404000" cy="846000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"/>
              </a:rPr>
              <a:t>Direction générale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3999" y="3096000"/>
            <a:ext cx="11232000" cy="846000"/>
          </a:xfrm>
          <a:prstGeom prst="rect">
            <a:avLst/>
          </a:prstGeom>
          <a:solidFill>
            <a:srgbClr val="F7F7F7"/>
          </a:solidFill>
          <a:ln w="9525">
            <a:solidFill>
              <a:srgbClr val="BBB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3999" y="3096000"/>
            <a:ext cx="1404000" cy="846000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"/>
              </a:rPr>
              <a:t>DAF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3999" y="3942000"/>
            <a:ext cx="11232000" cy="846000"/>
          </a:xfrm>
          <a:prstGeom prst="rect">
            <a:avLst/>
          </a:prstGeom>
          <a:solidFill>
            <a:srgbClr val="FFFFFF"/>
          </a:solidFill>
          <a:ln w="9525">
            <a:solidFill>
              <a:srgbClr val="BBB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3999" y="3942000"/>
            <a:ext cx="1404000" cy="846000"/>
          </a:xfrm>
          <a:prstGeom prst="rect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"/>
              </a:rPr>
              <a:t>Comptabilité (chef comptable)</a:t>
            </a:r>
          </a:p>
        </p:txBody>
      </p:sp>
      <p:sp>
        <p:nvSpPr>
          <p:cNvPr id="39" name="Logigramme p1"/>
          <p:cNvSpPr/>
          <p:nvPr/>
        </p:nvSpPr>
        <p:spPr>
          <a:xfrm>
            <a:off x="2015999" y="1539000"/>
            <a:ext cx="1224000" cy="576000"/>
          </a:xfrm>
          <a:prstGeom prst="flowChartTerminator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/>
            <a:r>
              <a:rPr sz="850" b="1">
                <a:solidFill>
                  <a:srgbClr val="FFFFFF"/>
                </a:solidFill>
                <a:latin typeface="Helvetica"/>
              </a:rPr>
              <a:t>Proposition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Helvetica"/>
              </a:rPr>
              <a:t>de placement</a:t>
            </a:r>
          </a:p>
        </p:txBody>
      </p:sp>
      <p:sp>
        <p:nvSpPr>
          <p:cNvPr id="40" name="Logigramme p2"/>
          <p:cNvSpPr/>
          <p:nvPr/>
        </p:nvSpPr>
        <p:spPr>
          <a:xfrm>
            <a:off x="3401999" y="2385000"/>
            <a:ext cx="1224000" cy="576000"/>
          </a:xfrm>
          <a:prstGeom prst="flowChartProcess">
            <a:avLst/>
          </a:prstGeom>
          <a:solidFill>
            <a:srgbClr val="FFFFFF"/>
          </a:solidFill>
          <a:ln w="15875">
            <a:solidFill>
              <a:srgbClr val="112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/>
            <a:r>
              <a:rPr sz="850" b="1">
                <a:solidFill>
                  <a:srgbClr val="060606"/>
                </a:solidFill>
                <a:latin typeface="Helvetica"/>
              </a:rPr>
              <a:t>Analyse de</a:t>
            </a:r>
          </a:p>
          <a:p>
            <a:pPr algn="ctr"/>
            <a:r>
              <a:rPr sz="850" b="0">
                <a:solidFill>
                  <a:srgbClr val="060606"/>
                </a:solidFill>
                <a:latin typeface="Helvetica"/>
              </a:rPr>
              <a:t>la proposition</a:t>
            </a:r>
          </a:p>
        </p:txBody>
      </p:sp>
      <p:sp>
        <p:nvSpPr>
          <p:cNvPr id="41" name="Logigramme p3"/>
          <p:cNvSpPr/>
          <p:nvPr/>
        </p:nvSpPr>
        <p:spPr>
          <a:xfrm>
            <a:off x="4788000" y="3231000"/>
            <a:ext cx="1224000" cy="576000"/>
          </a:xfrm>
          <a:prstGeom prst="flowChartProcess">
            <a:avLst/>
          </a:prstGeom>
          <a:solidFill>
            <a:srgbClr val="FFFFFF"/>
          </a:solidFill>
          <a:ln w="15875">
            <a:solidFill>
              <a:srgbClr val="112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/>
            <a:r>
              <a:rPr sz="850" b="1">
                <a:solidFill>
                  <a:srgbClr val="060606"/>
                </a:solidFill>
                <a:latin typeface="Helvetica"/>
              </a:rPr>
              <a:t>Demande du point</a:t>
            </a:r>
          </a:p>
          <a:p>
            <a:pPr algn="ctr"/>
            <a:r>
              <a:rPr sz="850" b="0">
                <a:solidFill>
                  <a:srgbClr val="060606"/>
                </a:solidFill>
                <a:latin typeface="Helvetica"/>
              </a:rPr>
              <a:t>de trésorerie</a:t>
            </a:r>
          </a:p>
        </p:txBody>
      </p:sp>
      <p:sp>
        <p:nvSpPr>
          <p:cNvPr id="42" name="Logigramme p4"/>
          <p:cNvSpPr/>
          <p:nvPr/>
        </p:nvSpPr>
        <p:spPr>
          <a:xfrm>
            <a:off x="4788000" y="4077000"/>
            <a:ext cx="1224000" cy="576000"/>
          </a:xfrm>
          <a:prstGeom prst="flowChartProcess">
            <a:avLst/>
          </a:prstGeom>
          <a:solidFill>
            <a:srgbClr val="FFFFFF"/>
          </a:solidFill>
          <a:ln w="15875">
            <a:solidFill>
              <a:srgbClr val="112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/>
            <a:r>
              <a:rPr sz="850" b="1">
                <a:solidFill>
                  <a:srgbClr val="060606"/>
                </a:solidFill>
                <a:latin typeface="Helvetica"/>
              </a:rPr>
              <a:t>Point de</a:t>
            </a:r>
          </a:p>
          <a:p>
            <a:pPr algn="ctr"/>
            <a:r>
              <a:rPr sz="850" b="0">
                <a:solidFill>
                  <a:srgbClr val="060606"/>
                </a:solidFill>
                <a:latin typeface="Helvetica"/>
              </a:rPr>
              <a:t>trésorerie</a:t>
            </a:r>
          </a:p>
        </p:txBody>
      </p:sp>
      <p:sp>
        <p:nvSpPr>
          <p:cNvPr id="43" name="Logigramme p5"/>
          <p:cNvSpPr/>
          <p:nvPr/>
        </p:nvSpPr>
        <p:spPr>
          <a:xfrm>
            <a:off x="6173999" y="2331000"/>
            <a:ext cx="1224000" cy="684000"/>
          </a:xfrm>
          <a:prstGeom prst="flowChartDecision">
            <a:avLst/>
          </a:prstGeom>
          <a:solidFill>
            <a:srgbClr val="EFA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/>
            <a:r>
              <a:rPr sz="800" b="0">
                <a:solidFill>
                  <a:srgbClr val="060606"/>
                </a:solidFill>
                <a:latin typeface="Helvetica"/>
              </a:rPr>
              <a:t>Investir ?</a:t>
            </a:r>
          </a:p>
        </p:txBody>
      </p:sp>
      <p:sp>
        <p:nvSpPr>
          <p:cNvPr id="44" name="Logigramme p6"/>
          <p:cNvSpPr/>
          <p:nvPr/>
        </p:nvSpPr>
        <p:spPr>
          <a:xfrm>
            <a:off x="6173999" y="1539000"/>
            <a:ext cx="1224000" cy="576000"/>
          </a:xfrm>
          <a:prstGeom prst="flowChartTerminator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/>
            <a:r>
              <a:rPr sz="850" b="1">
                <a:solidFill>
                  <a:srgbClr val="FFFFFF"/>
                </a:solidFill>
                <a:latin typeface="Helvetica"/>
              </a:rPr>
              <a:t>Pas de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Helvetica"/>
              </a:rPr>
              <a:t>placement</a:t>
            </a:r>
          </a:p>
        </p:txBody>
      </p:sp>
      <p:sp>
        <p:nvSpPr>
          <p:cNvPr id="45" name="Logigramme p7"/>
          <p:cNvSpPr/>
          <p:nvPr/>
        </p:nvSpPr>
        <p:spPr>
          <a:xfrm>
            <a:off x="7560000" y="3231000"/>
            <a:ext cx="1224000" cy="576000"/>
          </a:xfrm>
          <a:prstGeom prst="flowChartDocument">
            <a:avLst/>
          </a:prstGeom>
          <a:solidFill>
            <a:srgbClr val="F2F2F2"/>
          </a:solidFill>
          <a:ln w="15875">
            <a:solidFill>
              <a:srgbClr val="535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/>
            <a:r>
              <a:rPr sz="850" b="1">
                <a:solidFill>
                  <a:srgbClr val="060606"/>
                </a:solidFill>
                <a:latin typeface="Helvetica"/>
              </a:rPr>
              <a:t>Lettre d'ouverture</a:t>
            </a:r>
          </a:p>
          <a:p>
            <a:pPr algn="ctr"/>
            <a:r>
              <a:rPr sz="850" b="0">
                <a:solidFill>
                  <a:srgbClr val="060606"/>
                </a:solidFill>
                <a:latin typeface="Helvetica"/>
              </a:rPr>
              <a:t>à la banque</a:t>
            </a:r>
          </a:p>
        </p:txBody>
      </p:sp>
      <p:sp>
        <p:nvSpPr>
          <p:cNvPr id="46" name="Logigramme p8"/>
          <p:cNvSpPr/>
          <p:nvPr/>
        </p:nvSpPr>
        <p:spPr>
          <a:xfrm>
            <a:off x="8946000" y="1539000"/>
            <a:ext cx="1224000" cy="576000"/>
          </a:xfrm>
          <a:prstGeom prst="flowChartProcess">
            <a:avLst/>
          </a:prstGeom>
          <a:solidFill>
            <a:srgbClr val="FFFFFF"/>
          </a:solidFill>
          <a:ln w="15875">
            <a:solidFill>
              <a:srgbClr val="112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/>
            <a:r>
              <a:rPr sz="850" b="1">
                <a:solidFill>
                  <a:srgbClr val="060606"/>
                </a:solidFill>
                <a:latin typeface="Helvetica"/>
              </a:rPr>
              <a:t>Prélèvements</a:t>
            </a:r>
          </a:p>
          <a:p>
            <a:pPr algn="ctr"/>
            <a:r>
              <a:rPr sz="850" b="0">
                <a:solidFill>
                  <a:srgbClr val="060606"/>
                </a:solidFill>
                <a:latin typeface="Helvetica"/>
              </a:rPr>
              <a:t>mensuels</a:t>
            </a:r>
          </a:p>
        </p:txBody>
      </p:sp>
      <p:sp>
        <p:nvSpPr>
          <p:cNvPr id="47" name="Logigramme p9"/>
          <p:cNvSpPr/>
          <p:nvPr/>
        </p:nvSpPr>
        <p:spPr>
          <a:xfrm>
            <a:off x="10332000" y="1539000"/>
            <a:ext cx="1224000" cy="576000"/>
          </a:xfrm>
          <a:prstGeom prst="flowChartDocument">
            <a:avLst/>
          </a:prstGeom>
          <a:solidFill>
            <a:srgbClr val="F2F2F2"/>
          </a:solidFill>
          <a:ln w="15875">
            <a:solidFill>
              <a:srgbClr val="535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/>
            <a:r>
              <a:rPr sz="850" b="1">
                <a:solidFill>
                  <a:srgbClr val="060606"/>
                </a:solidFill>
                <a:latin typeface="Helvetica"/>
              </a:rPr>
              <a:t>Relevés</a:t>
            </a:r>
          </a:p>
          <a:p>
            <a:pPr algn="ctr"/>
            <a:r>
              <a:rPr sz="850" b="0">
                <a:solidFill>
                  <a:srgbClr val="060606"/>
                </a:solidFill>
                <a:latin typeface="Helvetica"/>
              </a:rPr>
              <a:t>bancaires</a:t>
            </a:r>
          </a:p>
        </p:txBody>
      </p:sp>
      <p:sp>
        <p:nvSpPr>
          <p:cNvPr id="48" name="Logigramme p10"/>
          <p:cNvSpPr/>
          <p:nvPr/>
        </p:nvSpPr>
        <p:spPr>
          <a:xfrm>
            <a:off x="10332000" y="4077000"/>
            <a:ext cx="1224000" cy="576000"/>
          </a:xfrm>
          <a:prstGeom prst="flowChartProcess">
            <a:avLst/>
          </a:prstGeom>
          <a:solidFill>
            <a:srgbClr val="FFFFFF"/>
          </a:solidFill>
          <a:ln w="15875">
            <a:solidFill>
              <a:srgbClr val="112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/>
            <a:r>
              <a:rPr sz="850" b="1">
                <a:solidFill>
                  <a:srgbClr val="060606"/>
                </a:solidFill>
                <a:latin typeface="Helvetica"/>
              </a:rPr>
              <a:t>Comptabilisation</a:t>
            </a:r>
          </a:p>
          <a:p>
            <a:pPr algn="ctr"/>
            <a:r>
              <a:rPr sz="850" b="0">
                <a:solidFill>
                  <a:srgbClr val="060606"/>
                </a:solidFill>
                <a:latin typeface="Helvetica"/>
              </a:rPr>
              <a:t>sur relevés</a:t>
            </a:r>
          </a:p>
        </p:txBody>
      </p:sp>
      <p:sp>
        <p:nvSpPr>
          <p:cNvPr id="49" name="Logigramme p11"/>
          <p:cNvSpPr/>
          <p:nvPr/>
        </p:nvSpPr>
        <p:spPr>
          <a:xfrm>
            <a:off x="8946000" y="4077000"/>
            <a:ext cx="1224000" cy="576000"/>
          </a:xfrm>
          <a:prstGeom prst="flowChartTerminator">
            <a:avLst/>
          </a:prstGeom>
          <a:solidFill>
            <a:srgbClr val="11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/>
            <a:r>
              <a:rPr sz="850" b="1">
                <a:solidFill>
                  <a:srgbClr val="FFFFFF"/>
                </a:solidFill>
                <a:latin typeface="Helvetica"/>
              </a:rPr>
              <a:t>Débouclage, dont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Helvetica"/>
              </a:rPr>
              <a:t>paiement de l'EFC</a:t>
            </a:r>
          </a:p>
        </p:txBody>
      </p:sp>
      <p:sp>
        <p:nvSpPr>
          <p:cNvPr id="50" name="Logigramme p12"/>
          <p:cNvSpPr/>
          <p:nvPr/>
        </p:nvSpPr>
        <p:spPr>
          <a:xfrm>
            <a:off x="7560000" y="4077000"/>
            <a:ext cx="1224000" cy="576000"/>
          </a:xfrm>
          <a:prstGeom prst="flowChartProcess">
            <a:avLst/>
          </a:prstGeom>
          <a:solidFill>
            <a:srgbClr val="FFFFFF"/>
          </a:solidFill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10800" bIns="10800"/>
          <a:lstStyle/>
          <a:p>
            <a:pPr algn="ctr"/>
            <a:r>
              <a:rPr sz="850" b="1">
                <a:solidFill>
                  <a:srgbClr val="C00000"/>
                </a:solidFill>
                <a:latin typeface="Helvetica"/>
              </a:rPr>
              <a:t>Ni comité, ni</a:t>
            </a:r>
          </a:p>
          <a:p>
            <a:pPr algn="ctr"/>
            <a:r>
              <a:rPr sz="850" b="1">
                <a:solidFill>
                  <a:srgbClr val="C00000"/>
                </a:solidFill>
                <a:latin typeface="Helvetica"/>
              </a:rPr>
              <a:t>procédure écrite</a:t>
            </a:r>
          </a:p>
        </p:txBody>
      </p:sp>
      <p:cxnSp>
        <p:nvCxnSpPr>
          <p:cNvPr id="51" name="Flèche p1 vers p2"/>
          <p:cNvCxnSpPr>
            <a:stCxn id="39" idx="3"/>
            <a:endCxn id="40" idx="0"/>
          </p:cNvCxnSpPr>
          <p:nvPr/>
        </p:nvCxnSpPr>
        <p:spPr>
          <a:xfrm>
            <a:off x="3239999" y="1827000"/>
            <a:ext cx="774000" cy="558000"/>
          </a:xfrm>
          <a:prstGeom prst="bentConnector3">
            <a:avLst/>
          </a:prstGeom>
          <a:ln w="22225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Flèche p2 vers p3"/>
          <p:cNvCxnSpPr>
            <a:stCxn id="40" idx="3"/>
            <a:endCxn id="41" idx="0"/>
          </p:cNvCxnSpPr>
          <p:nvPr/>
        </p:nvCxnSpPr>
        <p:spPr>
          <a:xfrm>
            <a:off x="4625999" y="2673000"/>
            <a:ext cx="774001" cy="558000"/>
          </a:xfrm>
          <a:prstGeom prst="bentConnector3">
            <a:avLst/>
          </a:prstGeom>
          <a:ln w="22225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Flèche p3 vers p4"/>
          <p:cNvCxnSpPr>
            <a:stCxn id="41" idx="2"/>
            <a:endCxn id="42" idx="0"/>
          </p:cNvCxnSpPr>
          <p:nvPr/>
        </p:nvCxnSpPr>
        <p:spPr>
          <a:xfrm flipH="1">
            <a:off x="5400000" y="3807000"/>
            <a:ext cx="0" cy="270000"/>
          </a:xfrm>
          <a:prstGeom prst="line">
            <a:avLst/>
          </a:prstGeom>
          <a:ln w="22225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Flèche p4 vers p5"/>
          <p:cNvCxnSpPr>
            <a:stCxn id="42" idx="3"/>
            <a:endCxn id="43" idx="2"/>
          </p:cNvCxnSpPr>
          <p:nvPr/>
        </p:nvCxnSpPr>
        <p:spPr>
          <a:xfrm flipV="1">
            <a:off x="6012000" y="3015000"/>
            <a:ext cx="773999" cy="1350000"/>
          </a:xfrm>
          <a:prstGeom prst="bentConnector3">
            <a:avLst/>
          </a:prstGeom>
          <a:ln w="22225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Flèche p5 vers p6"/>
          <p:cNvCxnSpPr>
            <a:stCxn id="43" idx="0"/>
            <a:endCxn id="44" idx="2"/>
          </p:cNvCxnSpPr>
          <p:nvPr/>
        </p:nvCxnSpPr>
        <p:spPr>
          <a:xfrm flipH="1" flipV="1">
            <a:off x="6785999" y="2115000"/>
            <a:ext cx="0" cy="216000"/>
          </a:xfrm>
          <a:prstGeom prst="line">
            <a:avLst/>
          </a:prstGeom>
          <a:ln w="22225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839998" y="2151000"/>
            <a:ext cx="864000" cy="162000"/>
          </a:xfrm>
          <a:prstGeom prst="rect">
            <a:avLst/>
          </a:prstGeom>
          <a:noFill/>
        </p:spPr>
        <p:txBody>
          <a:bodyPr wrap="square" anchor="t" lIns="28800" rIns="28800" tIns="10800" bIns="10800">
            <a:spAutoFit/>
          </a:bodyPr>
          <a:lstStyle/>
          <a:p>
            <a:pPr algn="l"/>
            <a:r>
              <a:rPr sz="700" b="1">
                <a:solidFill>
                  <a:srgbClr val="53565A"/>
                </a:solidFill>
                <a:latin typeface="Helvetica"/>
              </a:rPr>
              <a:t>non</a:t>
            </a:r>
          </a:p>
        </p:txBody>
      </p:sp>
      <p:cxnSp>
        <p:nvCxnSpPr>
          <p:cNvPr id="57" name="Flèche p5 vers p7"/>
          <p:cNvCxnSpPr>
            <a:stCxn id="43" idx="3"/>
            <a:endCxn id="45" idx="0"/>
          </p:cNvCxnSpPr>
          <p:nvPr/>
        </p:nvCxnSpPr>
        <p:spPr>
          <a:xfrm>
            <a:off x="7397999" y="2673000"/>
            <a:ext cx="774001" cy="558000"/>
          </a:xfrm>
          <a:prstGeom prst="bentConnector3">
            <a:avLst/>
          </a:prstGeom>
          <a:ln w="22225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441199" y="2493000"/>
            <a:ext cx="864000" cy="162000"/>
          </a:xfrm>
          <a:prstGeom prst="rect">
            <a:avLst/>
          </a:prstGeom>
          <a:noFill/>
        </p:spPr>
        <p:txBody>
          <a:bodyPr wrap="square" anchor="t" lIns="28800" rIns="28800" tIns="10800" bIns="10800">
            <a:spAutoFit/>
          </a:bodyPr>
          <a:lstStyle/>
          <a:p>
            <a:pPr algn="l"/>
            <a:r>
              <a:rPr sz="700" b="1">
                <a:solidFill>
                  <a:srgbClr val="53565A"/>
                </a:solidFill>
                <a:latin typeface="Helvetica"/>
              </a:rPr>
              <a:t>oui</a:t>
            </a:r>
          </a:p>
        </p:txBody>
      </p:sp>
      <p:cxnSp>
        <p:nvCxnSpPr>
          <p:cNvPr id="59" name="Flèche p7 vers p8"/>
          <p:cNvCxnSpPr>
            <a:stCxn id="45" idx="3"/>
            <a:endCxn id="46" idx="2"/>
          </p:cNvCxnSpPr>
          <p:nvPr/>
        </p:nvCxnSpPr>
        <p:spPr>
          <a:xfrm flipV="1">
            <a:off x="8784000" y="2115000"/>
            <a:ext cx="774000" cy="1404000"/>
          </a:xfrm>
          <a:prstGeom prst="bentConnector3">
            <a:avLst/>
          </a:prstGeom>
          <a:ln w="22225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Flèche p8 vers p9"/>
          <p:cNvCxnSpPr>
            <a:stCxn id="46" idx="3"/>
            <a:endCxn id="47" idx="1"/>
          </p:cNvCxnSpPr>
          <p:nvPr/>
        </p:nvCxnSpPr>
        <p:spPr>
          <a:xfrm flipV="1">
            <a:off x="10170000" y="1827000"/>
            <a:ext cx="162000" cy="0"/>
          </a:xfrm>
          <a:prstGeom prst="line">
            <a:avLst/>
          </a:prstGeom>
          <a:ln w="22225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Flèche p9 vers p10"/>
          <p:cNvCxnSpPr>
            <a:stCxn id="47" idx="2"/>
            <a:endCxn id="48" idx="0"/>
          </p:cNvCxnSpPr>
          <p:nvPr/>
        </p:nvCxnSpPr>
        <p:spPr>
          <a:xfrm flipH="1">
            <a:off x="10944000" y="2115000"/>
            <a:ext cx="0" cy="1962000"/>
          </a:xfrm>
          <a:prstGeom prst="line">
            <a:avLst/>
          </a:prstGeom>
          <a:ln w="22225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Flèche p10 vers p11"/>
          <p:cNvCxnSpPr>
            <a:stCxn id="48" idx="1"/>
            <a:endCxn id="49" idx="3"/>
          </p:cNvCxnSpPr>
          <p:nvPr/>
        </p:nvCxnSpPr>
        <p:spPr>
          <a:xfrm flipH="1" flipV="1">
            <a:off x="10170000" y="4365000"/>
            <a:ext cx="162000" cy="0"/>
          </a:xfrm>
          <a:prstGeom prst="line">
            <a:avLst/>
          </a:prstGeom>
          <a:ln w="22225">
            <a:solidFill>
              <a:srgbClr val="535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03999" y="4878000"/>
            <a:ext cx="11232000" cy="990000"/>
          </a:xfrm>
          <a:prstGeom prst="rect">
            <a:avLst/>
          </a:prstGeom>
          <a:noFill/>
        </p:spPr>
        <p:txBody>
          <a:bodyPr wrap="square" lIns="54000" rIns="54000"/>
          <a:lstStyle/>
          <a:p>
            <a:pPr algn="just">
              <a:spcAft>
                <a:spcPts val="600"/>
              </a:spcAft>
            </a:pPr>
            <a:r>
              <a:rPr sz="1050" b="1">
                <a:solidFill>
                  <a:srgbClr val="060606"/>
                </a:solidFill>
                <a:latin typeface="Helvetica"/>
              </a:rPr>
              <a:t>Le circuit de décision tient en une personne.</a:t>
            </a:r>
            <a:r>
              <a:rPr sz="1050" b="0">
                <a:solidFill>
                  <a:srgbClr val="060606"/>
                </a:solidFill>
                <a:latin typeface="Helvetica"/>
              </a:rPr>
              <a:t> La banque propose un placement au directeur général, qui l'analyse et demande au DAF un point de trésorerie, préparé par la comptabilité. Le directeur général décide. Une lettre d'ouverture est adressée à la banque, qui prélève les versements. La comptabilité enregistre les opérations sur la base des relevés bancaires.</a:t>
            </a:r>
          </a:p>
          <a:p>
            <a:pPr algn="just">
              <a:spcAft>
                <a:spcPts val="600"/>
              </a:spcAft>
            </a:pPr>
            <a:r>
              <a:rPr sz="1050" b="0">
                <a:solidFill>
                  <a:srgbClr val="060606"/>
                </a:solidFill>
                <a:latin typeface="Helvetica"/>
              </a:rPr>
              <a:t>Sans politique de placement écrite, ni comité, le choix des placements, de leur durée et de leur liquidité ne peut pas être rapproché des échéances de l'épargne et des prestations.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EFC : entraide fin de carrière | DAF : directeur administratif et financier</a:t>
            </a:r>
          </a:p>
        </p:txBody>
      </p:sp>
    </p:spTree>
    <p:extLst>
      <p:ext uri="{BB962C8B-B14F-4D97-AF65-F5344CB8AC3E}">
        <p14:creationId xmlns:p14="http://schemas.microsoft.com/office/powerpoint/2010/main" val="254013445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Placements identifiés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Les balances confirment le DAT annuel, le FCP et l'ancien DAT Orabank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DAT BOA : 485 541 804 FCFA au 31/08/2026. FCP United Capital : 500 000 000 FCFA depuis 2025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entretien du 19/10/2026 (14h) avec M. Koffi, chef comptable ; déclarations à confirmer par document ; balances des comptes du FPPN (Sage 100), 2020 au 31/08/2026, reçues le 15/10/2026 ; traitements Adenka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386000"/>
            <a:ext cx="11232000" cy="21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ctr"/>
            <a:r>
              <a:rPr sz="1200" b="0">
                <a:solidFill>
                  <a:srgbClr val="EFAC62"/>
                </a:solidFill>
                <a:latin typeface="Helvetica"/>
              </a:rPr>
              <a:t>Placements déclarés et confrontés aux balances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03999" y="1655999"/>
          <a:ext cx="11232000" cy="2265957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84000"/>
                <a:gridCol w="3384000"/>
                <a:gridCol w="3816000"/>
                <a:gridCol w="2448000"/>
              </a:tblGrid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Placement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Déclaration du chef comptable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Ce que montrent les balances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À confirmer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606274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DAT BOA (compte 52210200)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Placement du FPPN, alimenté chaque mois (60 millions par mois en 2026) jusqu'à fin décembre, qui sert aussi à payer l'EFC en fin d'année.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Versements de 2 363 639 657 FCFA en 2022, 3 335 116 874 FCFA en 2025 et 2 176 471 267 FCFA au 31/08/2026. Solde de 485 541 804 FCFA, dont 5 541 804 FCFA d'intérêts en 2026. Le compte s'intitule « DAT BOA Entraide fin de carrière ».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Convention, taux, relevés.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469105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FCP (compte 53300001)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Fonds commun de placement de 500 millions, géré par United Capital (SGI), rendement annoncé de 8 à 10 %, non garanti.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500 000 000 FCFA en 2025 et au 31/08/2026, sans revalorisation enregistrée.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Souscription, valeur liquidative, relevés.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DAT BOA PEP (52210300)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Non cité.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505 383 858 FCFA de 2020 à 2024, soldé en 2025.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Convention et motif du débouclage.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469105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DAT Orabank (52210400)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Versements mensuels arrêtés par la banque après deux prélèvements. Capital et intérêts reversés au terme, DAT non reconduit.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Ouvert en 2022 pour 58 400 000 FCFA, soldé en 2023 pour 60 084 840 FCFA. Le chef comptable situait l'incident en 2021.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Année et correspondance avec la banque.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Ancienneté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Placements depuis 2005 environ.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Les balances reçues commencent en 2020. Des DAT existent déjà à l'ouverture de 2020.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Historique des placements 2016 à 2026.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03999" y="4047960"/>
            <a:ext cx="11232000" cy="1820039"/>
          </a:xfrm>
          <a:prstGeom prst="rect">
            <a:avLst/>
          </a:prstGeom>
          <a:noFill/>
        </p:spPr>
        <p:txBody>
          <a:bodyPr wrap="square" lIns="54000" rIns="54000"/>
          <a:lstStyle/>
          <a:p>
            <a:pPr algn="just">
              <a:spcAft>
                <a:spcPts val="600"/>
              </a:spcAft>
            </a:pPr>
            <a:r>
              <a:rPr sz="1100" b="1">
                <a:solidFill>
                  <a:srgbClr val="060606"/>
                </a:solidFill>
                <a:latin typeface="Helvetica"/>
              </a:rPr>
              <a:t>Le DAT annuel est le principal placement du FPPN : il est soldé à chaque clôture de 2021 à 2025.</a:t>
            </a:r>
            <a:r>
              <a:rPr sz="1100" b="0">
                <a:solidFill>
                  <a:srgbClr val="060606"/>
                </a:solidFill>
                <a:latin typeface="Helvetica"/>
              </a:rPr>
              <a:t> Les versements vont de 1 965 985 975 FCFA à 3 335 116 874 FCFA par an.</a:t>
            </a:r>
          </a:p>
          <a:p>
            <a:pPr algn="just">
              <a:spcAft>
                <a:spcPts val="600"/>
              </a:spcAft>
            </a:pPr>
            <a:r>
              <a:rPr sz="1100" b="0">
                <a:solidFill>
                  <a:srgbClr val="060606"/>
                </a:solidFill>
                <a:latin typeface="Helvetica"/>
              </a:rPr>
              <a:t>Le FCP n'a pas été revalorisé dans les comptes : sa valeur au 31/08/2026 et son rendement réel restent à documenter.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FPPN : Fonds de prévoyance de la Police nationale | PEP : Plan Épargne Plus | EFC : entraide fin de carrière | FCP : fonds commun de placement | DAT : dépôt à terme | SGI : société de gestion et d'intermédiation</a:t>
            </a:r>
          </a:p>
        </p:txBody>
      </p:sp>
    </p:spTree>
    <p:extLst>
      <p:ext uri="{BB962C8B-B14F-4D97-AF65-F5344CB8AC3E}">
        <p14:creationId xmlns:p14="http://schemas.microsoft.com/office/powerpoint/2010/main" val="335414599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Immobilier et autres actifs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Terrains, hôpital et clinique pèsent plus lourd que les placements financiers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Plusieurs actifs ne produisent pas de revenu ou ne sont plus sous le contrôle du FPPN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entretien du 19/10/2026 (14h) avec M. Koffi, chef comptable ; déclarations à confirmer par document ; balances des comptes du FPPN (Sage 100), 2020 au 31/08/2026, reçues le 15/10/2026 ; traitements Adenka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386000"/>
            <a:ext cx="11232000" cy="21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ctr"/>
            <a:r>
              <a:rPr sz="1200" b="0">
                <a:solidFill>
                  <a:srgbClr val="EFAC62"/>
                </a:solidFill>
                <a:latin typeface="Helvetica"/>
              </a:rPr>
              <a:t>Autres actifs déclarés et confrontés aux balances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03999" y="1655999"/>
          <a:ext cx="11232000" cy="2460725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00000"/>
                <a:gridCol w="4680000"/>
                <a:gridCol w="4752000"/>
              </a:tblGrid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Actif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Déclaration du chef comptable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Ce que montrent les balances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Terrains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Deux grands terrains, dont un avec un projet. Quelques terrains achetés, sans programme immobilier engagé.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Terrains nus (22200000) : 3 443 682 500 FCFA en 2024, 5 245 896 750 FCFA en 2025.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Immeubles d'Aboisso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Deux villas et un autre bâtiment, loués à usage d'habitation.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Revenus des immeubles de rapport (71810000) : 10 614 764 FCFA en 2025.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469105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Siège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Le terrain du siège a été réévalué par un expert immobilier.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Compte 10620000 : 2 899 400 000 FCFA, intitulé « Réévaluation matériels » de 2020 à 2025, puis « Réserve disponible » en 2026. Montant inchangé depuis 2020.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Hôpital de la Police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Équipé et financé par le FPPN, puis repris par la direction des services de santé de la Police. Démarches en cours auprès de l'État.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Créance 47111100 : 3 407 519 850 FCFA, inchangée depuis 2020.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469105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Clinique du FPPN (CMP)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Dépenses suivies en comptes 47 en attendant une comptabilité propre. Un cabinet prépare le bilan d'ouverture.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Compte « Polyclinique du FPPN » (3 521 598 249 FCFA en 2021) reclassé en 2022. Au 31/08/2026 : investissements 5 803 025 455 FCFA, charges de fonctionnement 1 280 300 860 FCFA.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469105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Grenier du Policier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Sans personnalité morale, créé en novembre 2021. Le FPPN a emprunté à la banque pour le financer et a remboursé l'emprunt. Le Grenier n'a encore rien remboursé.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Emprunt (16200000) : 168 941 649 FCFA fin 2021, soldé en 2023. Financement du Grenier (47111102) : 915 477 260 FCFA au 31/08/2026.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03999" y="4242729"/>
            <a:ext cx="11232000" cy="1625270"/>
          </a:xfrm>
          <a:prstGeom prst="rect">
            <a:avLst/>
          </a:prstGeom>
          <a:noFill/>
        </p:spPr>
        <p:txBody>
          <a:bodyPr wrap="square" lIns="54000" rIns="54000"/>
          <a:lstStyle/>
          <a:p>
            <a:pPr algn="just">
              <a:spcAft>
                <a:spcPts val="600"/>
              </a:spcAft>
            </a:pPr>
            <a:r>
              <a:rPr sz="1100" b="1">
                <a:solidFill>
                  <a:srgbClr val="060606"/>
                </a:solidFill>
                <a:latin typeface="Helvetica"/>
              </a:rPr>
              <a:t>Les déclarations sont cohérentes avec les balances, à une réserve près : l'intitulé du compte 10620000 parle de matériels de 2020 à 2025, et non du terrain du siège.</a:t>
            </a:r>
            <a:r>
              <a:rPr sz="1100" b="0">
                <a:solidFill>
                  <a:srgbClr val="060606"/>
                </a:solidFill>
                <a:latin typeface="Helvetica"/>
              </a:rPr>
              <a:t> Le rapport de réévaluation est demandé.</a:t>
            </a:r>
          </a:p>
          <a:p>
            <a:pPr algn="just">
              <a:spcAft>
                <a:spcPts val="600"/>
              </a:spcAft>
            </a:pPr>
            <a:r>
              <a:rPr sz="1100" b="0">
                <a:solidFill>
                  <a:srgbClr val="060606"/>
                </a:solidFill>
                <a:latin typeface="Helvetica"/>
              </a:rPr>
              <a:t>Les créances sur l'hôpital et les avances à la clinique et au Grenier sont des actifs peu liquides, dont le recouvrement n'est pas assuré : elles comptent pourtant dans les fonds propres.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FPPN : Fonds de prévoyance de la Police nationale | CMP : sigle des comptes du FPPN, signification à confirmer</a:t>
            </a:r>
          </a:p>
        </p:txBody>
      </p:sp>
    </p:spTree>
    <p:extLst>
      <p:ext uri="{BB962C8B-B14F-4D97-AF65-F5344CB8AC3E}">
        <p14:creationId xmlns:p14="http://schemas.microsoft.com/office/powerpoint/2010/main" val="390427062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Ressources et produits annexes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Hors cotisations, le FPPN tire des revenus faibles de ses activités annexes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Commissions de GNA, loyers, cartes d'accès aux soins et intérêts des placements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entretien du 19/10/2026 (14h) avec M. Koffi, chef comptable ; déclarations à confirmer par document ; balances des comptes du FPPN (Sage 100), 2020 au 31/08/2026, reçues le 15/10/2026 ; traitements Adenka ; fichiers de précomptes reçus le 15/10/2026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386000"/>
            <a:ext cx="11232000" cy="21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ctr"/>
            <a:r>
              <a:rPr sz="1200" b="0">
                <a:solidFill>
                  <a:srgbClr val="EFAC62"/>
                </a:solidFill>
                <a:latin typeface="Helvetica"/>
              </a:rPr>
              <a:t>Ressources déclarées et confrontées aux balances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03999" y="1655999"/>
          <a:ext cx="11232000" cy="1717283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00000"/>
                <a:gridCol w="4464000"/>
                <a:gridCol w="4968000"/>
              </a:tblGrid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Ressource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Déclaration du chef comptable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Ce que montrent les balances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Cotisations obligatoires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5 % du salaire de base, 3,5 % pour la maladie et 1,5 % pour le décès, précomptés chaque mois.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La Solde retient 3,77 % et 1,23 % (rapport, partie 4).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31937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Épargne PEP et EFC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Produits facultatifs, enregistrés en dettes envers les mutualistes, restitués en fin de contrat ou à la retraite.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Comptes 41195100 et 41195200 (rapport, partie 6).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469105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Flotte automobile (GNA)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Le FPPN est apporteur d'affaires : il perçoit 20 % des primes collectées, en fin d'année.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Produits des activités annexes (71800000) : 3 676 481 FCFA en 2024, égal au débit du compte GNA. Précomptes 9W3 de 2024 : 7 913 002 FCFA. Le rapport des deux n'est pas de 20 %.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Cartes d'accès aux soins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Les cartes sont payantes.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11 685 000 FCFA en 2025 (71800001).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194768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1">
                          <a:solidFill>
                            <a:srgbClr val="060606"/>
                          </a:solidFill>
                          <a:latin typeface="Helvetica"/>
                        </a:rPr>
                        <a:t>Subventions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Aucune subvention.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900" b="0">
                          <a:solidFill>
                            <a:srgbClr val="060606"/>
                          </a:solidFill>
                          <a:latin typeface="Helvetica"/>
                        </a:rPr>
                        <a:t>Aucun compte de subvention mouvementé.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03999" y="3499286"/>
            <a:ext cx="11232000" cy="2368713"/>
          </a:xfrm>
          <a:prstGeom prst="rect">
            <a:avLst/>
          </a:prstGeom>
          <a:noFill/>
        </p:spPr>
        <p:txBody>
          <a:bodyPr wrap="square" lIns="54000" rIns="54000"/>
          <a:lstStyle/>
          <a:p>
            <a:pPr algn="just">
              <a:spcAft>
                <a:spcPts val="600"/>
              </a:spcAft>
            </a:pPr>
            <a:r>
              <a:rPr sz="1100" b="1">
                <a:solidFill>
                  <a:srgbClr val="060606"/>
                </a:solidFill>
                <a:latin typeface="Helvetica"/>
              </a:rPr>
              <a:t>Les commissions de GNA ne correspondent pas à 20 % des précomptes du poste 9W3.</a:t>
            </a:r>
            <a:r>
              <a:rPr sz="1100" b="0">
                <a:solidFill>
                  <a:srgbClr val="060606"/>
                </a:solidFill>
                <a:latin typeface="Helvetica"/>
              </a:rPr>
              <a:t> L'assiette réelle (primes collectées par précompte et hors précompte) et la convention avec GNA doivent l'expliquer.</a:t>
            </a:r>
          </a:p>
          <a:p>
            <a:pPr algn="just">
              <a:spcAft>
                <a:spcPts val="600"/>
              </a:spcAft>
            </a:pPr>
            <a:r>
              <a:rPr sz="1100" b="0">
                <a:solidFill>
                  <a:srgbClr val="060606"/>
                </a:solidFill>
                <a:latin typeface="Helvetica"/>
              </a:rPr>
              <a:t>Ces ressources annexes restent marginales : l'équilibre du FPPN dépend des cotisations et du rendement de ses placements.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FPPN : Fonds de prévoyance de la Police nationale | PEP : Plan Épargne Plus | EFC : entraide fin de carrière | GNA : assureur de la flotte automobile (compte 47111106) | 9W3 : poste flotte automobile</a:t>
            </a:r>
          </a:p>
        </p:txBody>
      </p:sp>
    </p:spTree>
    <p:extLst>
      <p:ext uri="{BB962C8B-B14F-4D97-AF65-F5344CB8AC3E}">
        <p14:creationId xmlns:p14="http://schemas.microsoft.com/office/powerpoint/2010/main" val="346426701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Cotisations : réception et contrôle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Les cotisations sont saisies en montant global, sans rapprochement formalisé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Le FPPN ne rapproche pas la comptabilité de la plateforme des adhérents (Easy Money)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entretien du 19/10/2026 (14h) avec M. Koffi, chef comptable ; déclarations à confirmer par document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386000"/>
            <a:ext cx="11232000" cy="21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ctr"/>
            <a:r>
              <a:rPr sz="1200" b="0">
                <a:solidFill>
                  <a:srgbClr val="EFAC62"/>
                </a:solidFill>
                <a:latin typeface="Helvetica"/>
              </a:rPr>
              <a:t>Circuit comptable des cotisations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03999" y="1655999"/>
          <a:ext cx="11232000" cy="141246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60000"/>
                <a:gridCol w="9072000"/>
              </a:tblGrid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Étape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Déclaration du chef comptable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Réception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La Solde transmet l'état de retour sur papier, vers le 28 du mois.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36241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Encaissement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Le Trésor vire les fonds entre le 5 et le 10 du mois suivant, parfois en partie quand il a d'autres priorités. Le reste est versé plus tard, sans avertissement.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Saisie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Le comptable saisit le montant global à la main, à partir de l'état de retour.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Contrôle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Le montant viré est comparé au relevé bancaire, sans formalisation. Un écart est signalé au DAF, qui relance le Trésor.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Rapprochement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Aucun rapprochement entre la comptabilité et Easy Money, ni avec le fichier envoyé à la Solde.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03999" y="3194467"/>
            <a:ext cx="11232000" cy="2673532"/>
          </a:xfrm>
          <a:prstGeom prst="rect">
            <a:avLst/>
          </a:prstGeom>
          <a:noFill/>
        </p:spPr>
        <p:txBody>
          <a:bodyPr wrap="square" lIns="54000" rIns="54000"/>
          <a:lstStyle/>
          <a:p>
            <a:pPr algn="just">
              <a:spcAft>
                <a:spcPts val="600"/>
              </a:spcAft>
            </a:pPr>
            <a:r>
              <a:rPr sz="1100" b="1">
                <a:solidFill>
                  <a:srgbClr val="060606"/>
                </a:solidFill>
                <a:latin typeface="Helvetica"/>
              </a:rPr>
              <a:t>Le contrôle des cotisations se limite à vérifier que l'argent annoncé est arrivé.</a:t>
            </a:r>
            <a:r>
              <a:rPr sz="1100" b="0">
                <a:solidFill>
                  <a:srgbClr val="060606"/>
                </a:solidFill>
                <a:latin typeface="Helvetica"/>
              </a:rPr>
              <a:t> Personne ne vérifie que chaque mutualiste a été précompté du bon montant.</a:t>
            </a:r>
          </a:p>
          <a:p>
            <a:pPr algn="just">
              <a:spcAft>
                <a:spcPts val="600"/>
              </a:spcAft>
            </a:pPr>
            <a:r>
              <a:rPr sz="1100" b="0">
                <a:solidFill>
                  <a:srgbClr val="060606"/>
                </a:solidFill>
                <a:latin typeface="Helvetica"/>
              </a:rPr>
              <a:t>Les retards de virement du Trésor créent une créance (compte 41111000) dont le suivi relève de la comptabilité.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FPPN : Fonds de prévoyance de la Police nationale | DAF : directeur administratif et financier</a:t>
            </a:r>
          </a:p>
        </p:txBody>
      </p:sp>
    </p:spTree>
    <p:extLst>
      <p:ext uri="{BB962C8B-B14F-4D97-AF65-F5344CB8AC3E}">
        <p14:creationId xmlns:p14="http://schemas.microsoft.com/office/powerpoint/2010/main" val="328222786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Contrôle interne comptable et bancaire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 logiciel comptable et la banque présentent des faiblesses de contrôle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Points relevés pendant l'entretien, sans effet direct sur les calculs actuariels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entretien du 19/10/2026 (14h) avec M. Koffi, chef comptable ; déclarations à confirmer par document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386000"/>
            <a:ext cx="11232000" cy="21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ctr"/>
            <a:r>
              <a:rPr sz="1200" b="0">
                <a:solidFill>
                  <a:srgbClr val="EFAC62"/>
                </a:solidFill>
                <a:latin typeface="Helvetica"/>
              </a:rPr>
              <a:t>Points de contrôle interne relevés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03999" y="1655999"/>
          <a:ext cx="11231999" cy="183248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00000"/>
                <a:gridCol w="5400000"/>
                <a:gridCol w="4031999"/>
              </a:tblGrid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Domaine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Déclaration du chef comptable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Risque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36241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Saisie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Toutes les écritures sont saisies à la main. Aucune validation par une seconde personne.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Erreurs de saisie non détectées.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Modification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Une écriture validée peut être modifiée ou supprimée.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Piste d'audit non garantie.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Accès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Tous les utilisateurs ont les mêmes droits dans le logiciel.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Absence de séparation des tâches.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Archives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Une nouvelle base de données est créée tous les cinq à six ans.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Historique dispersé entre plusieurs bases.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Rapprochements bancaires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Réalisés, mais plus supervisés.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Écarts non revus.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Chèques en suspens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Annulés après trois ans, lors du changement de signataires.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Dettes éteintes sans analyse.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Comptes bancaires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Des comptes inactifs ne sont pas fermés.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Fonds ou mouvements non suivis.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03999" y="3614486"/>
            <a:ext cx="11232000" cy="2253513"/>
          </a:xfrm>
          <a:prstGeom prst="rect">
            <a:avLst/>
          </a:prstGeom>
          <a:noFill/>
        </p:spPr>
        <p:txBody>
          <a:bodyPr wrap="square" lIns="54000" rIns="54000"/>
          <a:lstStyle/>
          <a:p>
            <a:pPr algn="just">
              <a:spcAft>
                <a:spcPts val="600"/>
              </a:spcAft>
            </a:pPr>
            <a:r>
              <a:rPr sz="1100" b="1">
                <a:solidFill>
                  <a:srgbClr val="060606"/>
                </a:solidFill>
                <a:latin typeface="Helvetica"/>
              </a:rPr>
              <a:t>Ces faiblesses réduisent la fiabilité des balances utilisées par Adenka.</a:t>
            </a:r>
            <a:r>
              <a:rPr sz="1100" b="0">
                <a:solidFill>
                  <a:srgbClr val="060606"/>
                </a:solidFill>
                <a:latin typeface="Helvetica"/>
              </a:rPr>
              <a:t> Elles justifient les contrôles de cohérence appliqués aux données (rapport, partie 3) et une revue par sondage des écritures.</a:t>
            </a:r>
          </a:p>
        </p:txBody>
      </p:sp>
    </p:spTree>
    <p:extLst>
      <p:ext uri="{BB962C8B-B14F-4D97-AF65-F5344CB8AC3E}">
        <p14:creationId xmlns:p14="http://schemas.microsoft.com/office/powerpoint/2010/main" val="293416358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Documents et points d'attention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Les placements et les autres actifs doivent être documentés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Les documents demandés sont repris dans la demande complémentaire (items 80 et suivants)</a:t>
            </a:r>
          </a:p>
        </p:txBody>
      </p:sp>
      <p:sp>
        <p:nvSpPr>
          <p:cNvPr id="30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entretien du 19/10/2026 (14h) avec M. Koffi, chef comptable ; déclarations à confirmer par document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999" y="1386000"/>
            <a:ext cx="11232000" cy="216000"/>
          </a:xfrm>
          <a:prstGeom prst="rect">
            <a:avLst/>
          </a:prstGeom>
          <a:noFill/>
        </p:spPr>
        <p:txBody>
          <a:bodyPr wrap="square" anchor="t" lIns="54000" rIns="54000"/>
          <a:lstStyle/>
          <a:p>
            <a:pPr algn="ctr"/>
            <a:r>
              <a:rPr sz="1200" b="0">
                <a:solidFill>
                  <a:srgbClr val="EFAC62"/>
                </a:solidFill>
                <a:latin typeface="Helvetica"/>
              </a:rPr>
              <a:t>Documents demandés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03999" y="1655999"/>
          <a:ext cx="11232000" cy="1622473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60000"/>
                <a:gridCol w="6552000"/>
                <a:gridCol w="2520000"/>
              </a:tblGrid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Sujet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Document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Suite</a:t>
                      </a:r>
                    </a:p>
                  </a:txBody>
                  <a:tcPr marL="43200" marR="43200" marT="14400" marB="14400" anchor="ctr">
                    <a:solidFill>
                      <a:srgbClr val="060606"/>
                    </a:solidFill>
                  </a:tcPr>
                </a:tc>
              </a:tr>
              <a:tr h="36241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Placements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Conventions et relevés du DAT BOA et du FCP United Capital. Inventaire et tableau de variation des placements de 2016 à 2026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PBC, items 80 à 82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Orabank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Correspondance sur l'arrêt des versements et le remboursement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PBC, item 83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Immobilier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Titres et actes des terrains, baux des immeubles d'Aboisso, rapport de réévaluation du siège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PBC, items 84 à 86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Hôpital et clinique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Dossier de la créance sur l'hôpital, bilan d'ouverture de la clinique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PBC, items 87 et 88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GNA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Convention d'apporteur d'affaires et décomptes de commissions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PBC, item 89</a:t>
                      </a:r>
                    </a:p>
                  </a:txBody>
                  <a:tcPr marL="43200" marR="43200" marT="14400" marB="14400" anchor="ctr">
                    <a:solidFill>
                      <a:srgbClr val="FFFFFF"/>
                    </a:solidFill>
                  </a:tcPr>
                </a:tc>
              </a:tr>
              <a:tr h="210009"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1">
                          <a:solidFill>
                            <a:srgbClr val="060606"/>
                          </a:solidFill>
                          <a:latin typeface="Helvetica"/>
                        </a:rPr>
                        <a:t>Banque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Liste des comptes bancaires et des signataires, état des chèques en suspens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buNone/>
                      </a:pPr>
                      <a:r>
                        <a:rPr sz="1000" b="0">
                          <a:solidFill>
                            <a:srgbClr val="060606"/>
                          </a:solidFill>
                          <a:latin typeface="Helvetica"/>
                        </a:rPr>
                        <a:t>PBC, items 90 et 91</a:t>
                      </a:r>
                    </a:p>
                  </a:txBody>
                  <a:tcPr marL="43200" marR="43200" marT="14400" marB="14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03999" y="3404476"/>
            <a:ext cx="11232000" cy="2463523"/>
          </a:xfrm>
          <a:prstGeom prst="rect">
            <a:avLst/>
          </a:prstGeom>
          <a:noFill/>
        </p:spPr>
        <p:txBody>
          <a:bodyPr wrap="square" lIns="54000" rIns="54000"/>
          <a:lstStyle/>
          <a:p>
            <a:pPr algn="just">
              <a:spcAft>
                <a:spcPts val="600"/>
              </a:spcAft>
            </a:pPr>
            <a:r>
              <a:rPr sz="1200" b="1">
                <a:solidFill>
                  <a:srgbClr val="060606"/>
                </a:solidFill>
                <a:latin typeface="Helvetica"/>
              </a:rPr>
              <a:t>L'entretien éclaire le fonctionnement, mais ne remplace pas les documents.</a:t>
            </a:r>
            <a:r>
              <a:rPr sz="1200" b="0">
                <a:solidFill>
                  <a:srgbClr val="060606"/>
                </a:solidFill>
                <a:latin typeface="Helvetica"/>
              </a:rPr>
              <a:t> Les déclarations seront intégrées au rapport avec la mention « à confirmer par document ».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7200" y="5932800"/>
            <a:ext cx="11430000" cy="237600"/>
          </a:xfrm>
          <a:prstGeom prst="rect">
            <a:avLst/>
          </a:prstGeom>
          <a:noFill/>
        </p:spPr>
        <p:txBody>
          <a:bodyPr wrap="square" anchor="b" lIns="54000" rIns="54000"/>
          <a:lstStyle/>
          <a:p>
            <a:pPr algn="l"/>
            <a:r>
              <a:rPr sz="700" b="0">
                <a:solidFill>
                  <a:srgbClr val="595959"/>
                </a:solidFill>
                <a:latin typeface="Helvetica"/>
              </a:rPr>
              <a:t>Sigles : FCP : fonds commun de placement | DAT : dépôt à terme | PBC : liste des documents demandés au client | GNA : assureur de la flotte automobile (compte 47111106)</a:t>
            </a:r>
          </a:p>
        </p:txBody>
      </p:sp>
    </p:spTree>
    <p:extLst>
      <p:ext uri="{BB962C8B-B14F-4D97-AF65-F5344CB8AC3E}">
        <p14:creationId xmlns:p14="http://schemas.microsoft.com/office/powerpoint/2010/main" val="274999078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667" y="-1240"/>
            <a:ext cx="6858000" cy="6858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0"/>
            <a:ext cx="6045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I" noProof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C356854-0685-DCEF-E2F6-65D5E9653A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5248" y="-135577"/>
            <a:ext cx="3261353" cy="1301437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456025" y="6300894"/>
            <a:ext cx="46531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600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13" name="Google Shape;138;p25"/>
          <p:cNvSpPr txBox="1"/>
          <p:nvPr/>
        </p:nvSpPr>
        <p:spPr>
          <a:xfrm>
            <a:off x="920037" y="3088600"/>
            <a:ext cx="5800971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fr-CI" sz="4000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Merci </a:t>
            </a:r>
          </a:p>
        </p:txBody>
      </p:sp>
    </p:spTree>
    <p:extLst>
      <p:ext uri="{BB962C8B-B14F-4D97-AF65-F5344CB8AC3E}">
        <p14:creationId xmlns:p14="http://schemas.microsoft.com/office/powerpoint/2010/main" val="21165902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2509</TotalTime>
  <Words>16641</Words>
  <Application>Microsoft Office PowerPoint</Application>
  <PresentationFormat>Grand écran</PresentationFormat>
  <Paragraphs>1935</Paragraphs>
  <Slides>10</Slides>
  <Notes>0</Notes>
  <HiddenSlides>0</HiddenSlides>
  <MMClips>0</MMClip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Adenka Consulting</dc:creator>
  <cp:lastModifiedBy>Adenka Consulting</cp:lastModifiedBy>
  <cp:revision>1</cp:revision>
  <dcterms:created xsi:type="dcterms:W3CDTF">2025-10-22T15:02:15Z</dcterms:created>
  <dcterms:modified xsi:type="dcterms:W3CDTF">2026-09-23T09:25:57Z</dcterms:modified>
  <dc:subject/>
  <cp:keywords/>
  <dc:description/>
</cp:coreProperties>
</file>