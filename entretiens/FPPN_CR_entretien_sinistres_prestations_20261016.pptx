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embeddings/oleObject1.bin" ContentType="application/vnd.openxmlformats-officedocument.oleObject"/>
  <Override PartName="/ppt/embeddings/oleObject2.bin" ContentType="application/vnd.openxmlformats-officedocument.oleObject"/>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5" r:id="rId2"/>
  </p:sldMasterIdLst>
  <p:notesMasterIdLst>
    <p:notesMasterId r:id="rId117"/>
  </p:notesMasterIdLst>
  <p:sldIdLst>
    <p:sldId id="256" r:id="rId3"/>
    <p:sldId id="313" r:id="rId7"/>
    <p:sldId id="317" r:id="rId13"/>
    <p:sldId id="325" r:id="rId25"/>
    <p:sldId id="271" r:id="rId29"/>
    <p:sldId id="404" r:id="rId124"/>
    <p:sldId id="330" r:id="rId41"/>
    <p:sldId id="405" r:id="rId125"/>
    <p:sldId id="320" r:id="rId23"/>
    <p:sldId id="406" r:id="rId126"/>
    <p:sldId id="407" r:id="rId127"/>
    <p:sldId id="328" r:id="rId1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uverture" id="{9C8FC9B7-AD45-409C-8017-02DEBDF9C938}">
          <p14:sldIdLst>
            <p14:sldId id="256"/>
          </p14:sldIdLst>
        </p14:section>
        <p14:section name="Contenu" id="{41430ABC-712C-4A41-8691-5284113E2CD9}">
          <p14:sldIdLst>
            <p14:sldId id="260"/>
            <p14:sldId id="261"/>
            <p14:sldId id="310"/>
            <p14:sldId id="313"/>
            <p14:sldId id="403"/>
            <p14:sldId id="402"/>
            <p14:sldId id="291"/>
            <p14:sldId id="312"/>
            <p14:sldId id="314"/>
            <p14:sldId id="317"/>
            <p14:sldId id="315"/>
            <p14:sldId id="316"/>
            <p14:sldId id="323"/>
            <p14:sldId id="324"/>
            <p14:sldId id="321"/>
            <p14:sldId id="322"/>
            <p14:sldId id="264"/>
            <p14:sldId id="318"/>
            <p14:sldId id="319"/>
            <p14:sldId id="320"/>
            <p14:sldId id="326"/>
            <p14:sldId id="325"/>
            <p14:sldId id="266"/>
            <p14:sldId id="327"/>
            <p14:sldId id="268"/>
            <p14:sldId id="271"/>
            <p14:sldId id="287"/>
            <p14:sldId id="329"/>
            <p14:sldId id="398"/>
            <p14:sldId id="399"/>
            <p14:sldId id="391"/>
            <p14:sldId id="397"/>
            <p14:sldId id="395"/>
            <p14:sldId id="396"/>
            <p14:sldId id="393"/>
            <p14:sldId id="392"/>
            <p14:sldId id="270"/>
            <p14:sldId id="330"/>
            <p14:sldId id="331"/>
            <p14:sldId id="332"/>
            <p14:sldId id="272"/>
            <p14:sldId id="333"/>
            <p14:sldId id="289"/>
            <p14:sldId id="334"/>
            <p14:sldId id="277"/>
            <p14:sldId id="278"/>
            <p14:sldId id="274"/>
            <p14:sldId id="335"/>
            <p14:sldId id="336"/>
            <p14:sldId id="348"/>
            <p14:sldId id="341"/>
            <p14:sldId id="349"/>
            <p14:sldId id="342"/>
            <p14:sldId id="350"/>
            <p14:sldId id="343"/>
            <p14:sldId id="351"/>
            <p14:sldId id="344"/>
            <p14:sldId id="352"/>
            <p14:sldId id="345"/>
            <p14:sldId id="353"/>
            <p14:sldId id="346"/>
            <p14:sldId id="354"/>
            <p14:sldId id="347"/>
            <p14:sldId id="355"/>
            <p14:sldId id="338"/>
            <p14:sldId id="356"/>
            <p14:sldId id="337"/>
            <p14:sldId id="357"/>
            <p14:sldId id="276"/>
            <p14:sldId id="358"/>
            <p14:sldId id="339"/>
            <p14:sldId id="359"/>
            <p14:sldId id="381"/>
            <p14:sldId id="385"/>
            <p14:sldId id="382"/>
            <p14:sldId id="400"/>
            <p14:sldId id="294"/>
            <p14:sldId id="360"/>
            <p14:sldId id="285"/>
            <p14:sldId id="286"/>
            <p14:sldId id="299"/>
            <p14:sldId id="361"/>
            <p14:sldId id="362"/>
            <p14:sldId id="283"/>
            <p14:sldId id="297"/>
            <p14:sldId id="365"/>
            <p14:sldId id="364"/>
            <p14:sldId id="363"/>
            <p14:sldId id="366"/>
            <p14:sldId id="367"/>
            <p14:sldId id="368"/>
            <p14:sldId id="370"/>
            <p14:sldId id="374"/>
            <p14:sldId id="375"/>
          </p14:sldIdLst>
        </p14:section>
        <p14:section name="Graphs" id="{551B27DB-FB3B-4066-9154-1B46F0A65216}">
          <p14:sldIdLst>
            <p14:sldId id="301"/>
            <p14:sldId id="304"/>
            <p14:sldId id="303"/>
            <p14:sldId id="302"/>
            <p14:sldId id="305"/>
            <p14:sldId id="306"/>
            <p14:sldId id="378"/>
            <p14:sldId id="376"/>
            <p14:sldId id="379"/>
            <p14:sldId id="388"/>
            <p14:sldId id="307"/>
            <p14:sldId id="369"/>
            <p14:sldId id="389"/>
            <p14:sldId id="390"/>
          </p14:sldIdLst>
        </p14:section>
        <p14:section name="Merci" id="{DE1A67E5-D1FE-41AF-88BB-A85595BA690B}">
          <p14:sldIdLst>
            <p14:sldId id="328"/>
          </p14:sldIdLst>
        </p14:section>
        <p14:section name="Symboles" id="{49175908-295D-4406-8512-BB62EA88444D}">
          <p14:sldIdLst>
            <p14:sldId id="371"/>
            <p14:sldId id="373"/>
            <p14:sldId id="401"/>
            <p14:sldId id="3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AC62"/>
    <a:srgbClr val="060606"/>
    <a:srgbClr val="112A4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4BD68B-DEB5-4C72-B758-AA0E2A02C403}" v="4" dt="2026-09-23T09:25:47.7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7" Type="http://schemas.openxmlformats.org/officeDocument/2006/relationships/slide" Target="slides/slide2.xml"/><Relationship Id="rId13" Type="http://schemas.openxmlformats.org/officeDocument/2006/relationships/slide" Target="slides/slide3.xml"/><Relationship Id="rId23" Type="http://schemas.openxmlformats.org/officeDocument/2006/relationships/slide" Target="slides/slide9.xml"/><Relationship Id="rId25" Type="http://schemas.openxmlformats.org/officeDocument/2006/relationships/slide" Target="slides/slide4.xml"/><Relationship Id="rId29" Type="http://schemas.openxmlformats.org/officeDocument/2006/relationships/slide" Target="slides/slide5.xml"/><Relationship Id="rId41" Type="http://schemas.openxmlformats.org/officeDocument/2006/relationships/slide" Target="slides/slide7.xml"/><Relationship Id="rId112" Type="http://schemas.openxmlformats.org/officeDocument/2006/relationships/slide" Target="slides/slide12.xml"/><Relationship Id="rId117" Type="http://schemas.openxmlformats.org/officeDocument/2006/relationships/notesMaster" Target="notesMasters/notesMaster1.xml"/><Relationship Id="rId118" Type="http://schemas.openxmlformats.org/officeDocument/2006/relationships/presProps" Target="presProps.xml"/><Relationship Id="rId119" Type="http://schemas.openxmlformats.org/officeDocument/2006/relationships/viewProps" Target="viewProps.xml"/><Relationship Id="rId120" Type="http://schemas.openxmlformats.org/officeDocument/2006/relationships/theme" Target="theme/theme1.xml"/><Relationship Id="rId121" Type="http://schemas.openxmlformats.org/officeDocument/2006/relationships/tableStyles" Target="tableStyles.xml"/><Relationship Id="rId122" Type="http://schemas.microsoft.com/office/2016/11/relationships/changesInfo" Target="changesInfos/changesInfo1.xml"/><Relationship Id="rId123" Type="http://schemas.microsoft.com/office/2015/10/relationships/revisionInfo" Target="revisionInfo.xml"/><Relationship Id="rId124" Type="http://schemas.openxmlformats.org/officeDocument/2006/relationships/slide" Target="slides/slide6.xml"/><Relationship Id="rId125" Type="http://schemas.openxmlformats.org/officeDocument/2006/relationships/slide" Target="slides/slide8.xml"/><Relationship Id="rId126" Type="http://schemas.openxmlformats.org/officeDocument/2006/relationships/slide" Target="slides/slide10.xml"/><Relationship Id="rId127" Type="http://schemas.openxmlformats.org/officeDocument/2006/relationships/slide" Target="slides/slide1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Noel Sialou" userId="08acc5d2-3819-4be4-97e6-d593a92e8e16" providerId="ADAL" clId="{DC5A2AD4-2AC1-4F5C-A6BF-541681F7EFA2}"/>
    <pc:docChg chg="undo custSel modSld">
      <pc:chgData name="Jean-Noel Sialou" userId="08acc5d2-3819-4be4-97e6-d593a92e8e16" providerId="ADAL" clId="{DC5A2AD4-2AC1-4F5C-A6BF-541681F7EFA2}" dt="2026-09-07T10:18:25.187" v="38" actId="571"/>
      <pc:docMkLst>
        <pc:docMk/>
      </pc:docMkLst>
      <pc:sldChg chg="addSp delSp modSp mod">
        <pc:chgData name="Jean-Noel Sialou" userId="08acc5d2-3819-4be4-97e6-d593a92e8e16" providerId="ADAL" clId="{DC5A2AD4-2AC1-4F5C-A6BF-541681F7EFA2}" dt="2026-09-07T10:18:25.187" v="38" actId="571"/>
        <pc:sldMkLst>
          <pc:docMk/>
          <pc:sldMk cId="2102837376" sldId="358"/>
        </pc:sldMkLst>
        <pc:spChg chg="mod">
          <ac:chgData name="Jean-Noel Sialou" userId="08acc5d2-3819-4be4-97e6-d593a92e8e16" providerId="ADAL" clId="{DC5A2AD4-2AC1-4F5C-A6BF-541681F7EFA2}" dt="2026-09-07T10:18:15.089" v="35" actId="164"/>
          <ac:spMkLst>
            <pc:docMk/>
            <pc:sldMk cId="2102837376" sldId="358"/>
            <ac:spMk id="48"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49"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1"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4" creationId="{00000000-0000-0000-0000-000000000000}"/>
          </ac:spMkLst>
        </pc:spChg>
        <pc:grpChg chg="add mod">
          <ac:chgData name="Jean-Noel Sialou" userId="08acc5d2-3819-4be4-97e6-d593a92e8e16" providerId="ADAL" clId="{DC5A2AD4-2AC1-4F5C-A6BF-541681F7EFA2}" dt="2026-09-07T10:18:17.535" v="36" actId="164"/>
          <ac:grpSpMkLst>
            <pc:docMk/>
            <pc:sldMk cId="2102837376" sldId="358"/>
            <ac:grpSpMk id="3" creationId="{C9290073-F4B9-4E89-EC47-0D4815D405F9}"/>
          </ac:grpSpMkLst>
        </pc:grpChg>
        <pc:grpChg chg="add mod">
          <ac:chgData name="Jean-Noel Sialou" userId="08acc5d2-3819-4be4-97e6-d593a92e8e16" providerId="ADAL" clId="{DC5A2AD4-2AC1-4F5C-A6BF-541681F7EFA2}" dt="2026-09-07T10:18:17.535" v="36" actId="164"/>
          <ac:grpSpMkLst>
            <pc:docMk/>
            <pc:sldMk cId="2102837376" sldId="358"/>
            <ac:grpSpMk id="7" creationId="{D520CB44-6CB8-26BA-C481-1E6C90DCE023}"/>
          </ac:grpSpMkLst>
        </pc:grpChg>
        <pc:picChg chg="add mod">
          <ac:chgData name="Jean-Noel Sialou" userId="08acc5d2-3819-4be4-97e6-d593a92e8e16" providerId="ADAL" clId="{DC5A2AD4-2AC1-4F5C-A6BF-541681F7EFA2}" dt="2026-09-07T10:18:17.535" v="36" actId="164"/>
          <ac:picMkLst>
            <pc:docMk/>
            <pc:sldMk cId="2102837376" sldId="358"/>
            <ac:picMk id="5" creationId="{A59C829E-ED12-0019-96D2-4C72AF995693}"/>
          </ac:picMkLst>
        </pc:picChg>
        <pc:picChg chg="mod">
          <ac:chgData name="Jean-Noel Sialou" userId="08acc5d2-3819-4be4-97e6-d593a92e8e16" providerId="ADAL" clId="{DC5A2AD4-2AC1-4F5C-A6BF-541681F7EFA2}" dt="2026-09-07T10:18:15.089" v="35" actId="164"/>
          <ac:picMkLst>
            <pc:docMk/>
            <pc:sldMk cId="2102837376" sldId="358"/>
            <ac:picMk id="31" creationId="{00000000-0000-0000-0000-000000000000}"/>
          </ac:picMkLst>
        </pc:picChg>
        <pc:picChg chg="mod">
          <ac:chgData name="Jean-Noel Sialou" userId="08acc5d2-3819-4be4-97e6-d593a92e8e16" providerId="ADAL" clId="{DC5A2AD4-2AC1-4F5C-A6BF-541681F7EFA2}" dt="2026-09-07T10:18:17.535" v="36" actId="164"/>
          <ac:picMkLst>
            <pc:docMk/>
            <pc:sldMk cId="2102837376" sldId="358"/>
            <ac:picMk id="47"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0"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4"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65" creationId="{00000000-0000-0000-0000-000000000000}"/>
          </ac:picMkLst>
        </pc:picChg>
      </pc:sldChg>
    </pc:docChg>
  </pc:docChgLst>
  <pc:docChgLst>
    <pc:chgData name="Jean-Noel Sialou" userId="08acc5d2-3819-4be4-97e6-d593a92e8e16" providerId="ADAL" clId="{3E2E487B-B21A-43C3-A4E4-C31B8823D31F}"/>
    <pc:docChg chg="modSld">
      <pc:chgData name="Jean-Noel Sialou" userId="08acc5d2-3819-4be4-97e6-d593a92e8e16" providerId="ADAL" clId="{3E2E487B-B21A-43C3-A4E4-C31B8823D31F}" dt="2026-09-23T09:25:47.775" v="6" actId="164"/>
      <pc:docMkLst>
        <pc:docMk/>
      </pc:docMkLst>
      <pc:sldChg chg="modSp mod modAnim">
        <pc:chgData name="Jean-Noel Sialou" userId="08acc5d2-3819-4be4-97e6-d593a92e8e16" providerId="ADAL" clId="{3E2E487B-B21A-43C3-A4E4-C31B8823D31F}" dt="2026-09-15T10:14:35.637" v="5" actId="208"/>
        <pc:sldMkLst>
          <pc:docMk/>
          <pc:sldMk cId="2102837376" sldId="358"/>
        </pc:sldMkLst>
        <pc:spChg chg="mod">
          <ac:chgData name="Jean-Noel Sialou" userId="08acc5d2-3819-4be4-97e6-d593a92e8e16" providerId="ADAL" clId="{3E2E487B-B21A-43C3-A4E4-C31B8823D31F}" dt="2026-09-15T10:14:31.481" v="4" actId="207"/>
          <ac:spMkLst>
            <pc:docMk/>
            <pc:sldMk cId="2102837376" sldId="358"/>
            <ac:spMk id="40" creationId="{00000000-0000-0000-0000-000000000000}"/>
          </ac:spMkLst>
        </pc:spChg>
        <pc:spChg chg="mod">
          <ac:chgData name="Jean-Noel Sialou" userId="08acc5d2-3819-4be4-97e6-d593a92e8e16" providerId="ADAL" clId="{3E2E487B-B21A-43C3-A4E4-C31B8823D31F}" dt="2026-09-15T10:14:31.481" v="4" actId="207"/>
          <ac:spMkLst>
            <pc:docMk/>
            <pc:sldMk cId="2102837376" sldId="358"/>
            <ac:spMk id="41" creationId="{00000000-0000-0000-0000-000000000000}"/>
          </ac:spMkLst>
        </pc:spChg>
        <pc:grpChg chg="mod">
          <ac:chgData name="Jean-Noel Sialou" userId="08acc5d2-3819-4be4-97e6-d593a92e8e16" providerId="ADAL" clId="{3E2E487B-B21A-43C3-A4E4-C31B8823D31F}" dt="2026-09-15T10:14:06.017" v="1" actId="1076"/>
          <ac:grpSpMkLst>
            <pc:docMk/>
            <pc:sldMk cId="2102837376" sldId="358"/>
            <ac:grpSpMk id="7" creationId="{D520CB44-6CB8-26BA-C481-1E6C90DCE023}"/>
          </ac:grpSpMkLst>
        </pc:grpChg>
        <pc:cxnChg chg="mod">
          <ac:chgData name="Jean-Noel Sialou" userId="08acc5d2-3819-4be4-97e6-d593a92e8e16" providerId="ADAL" clId="{3E2E487B-B21A-43C3-A4E4-C31B8823D31F}" dt="2026-09-15T10:14:35.637" v="5" actId="208"/>
          <ac:cxnSpMkLst>
            <pc:docMk/>
            <pc:sldMk cId="2102837376" sldId="358"/>
            <ac:cxnSpMk id="77" creationId="{00000000-0000-0000-0000-000000000000}"/>
          </ac:cxnSpMkLst>
        </pc:cxnChg>
      </pc:sldChg>
      <pc:sldChg chg="addSp modSp modAnim">
        <pc:chgData name="Jean-Noel Sialou" userId="08acc5d2-3819-4be4-97e6-d593a92e8e16" providerId="ADAL" clId="{3E2E487B-B21A-43C3-A4E4-C31B8823D31F}" dt="2026-09-23T09:25:47.775" v="6" actId="164"/>
        <pc:sldMkLst>
          <pc:docMk/>
          <pc:sldMk cId="135173498" sldId="359"/>
        </pc:sldMkLst>
        <pc:spChg chg="mod">
          <ac:chgData name="Jean-Noel Sialou" userId="08acc5d2-3819-4be4-97e6-d593a92e8e16" providerId="ADAL" clId="{3E2E487B-B21A-43C3-A4E4-C31B8823D31F}" dt="2026-09-23T09:25:47.775" v="6" actId="164"/>
          <ac:spMkLst>
            <pc:docMk/>
            <pc:sldMk cId="135173498" sldId="359"/>
            <ac:spMk id="3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6"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7"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0"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9"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2"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6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E2DAE2-9FC7-48A6-84A5-82A6F426499B}" type="datetimeFigureOut">
              <a:rPr lang="fr-FR" smtClean="0"/>
              <a:t>22/09/2026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B2686-849E-4084-A991-5071DA2BBBBD}" type="slidenum">
              <a:rPr lang="fr-FR" smtClean="0"/>
              <a:t>‹N°›</a:t>
            </a:fld>
            <a:endParaRPr lang="fr-FR"/>
          </a:p>
        </p:txBody>
      </p:sp>
    </p:spTree>
    <p:extLst>
      <p:ext uri="{BB962C8B-B14F-4D97-AF65-F5344CB8AC3E}">
        <p14:creationId xmlns:p14="http://schemas.microsoft.com/office/powerpoint/2010/main" val="710728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2.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88630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322439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70939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22779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92137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75739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746722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376728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918188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7573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564129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121349794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2668261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2">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817001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04122780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52980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95068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20424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774805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696391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9657460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2965436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5393278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648537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274899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338644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55240017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1" preserve="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738263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12" preserve="1">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0582835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273835987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slideLayout" Target="../slideLayouts/slideLayout30.xml"/><Relationship Id="rId16" Type="http://schemas.openxmlformats.org/officeDocument/2006/relationships/theme" Target="../theme/theme2.xml"/><Relationship Id="rId17"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7" name="Image 16"/>
          <p:cNvPicPr>
            <a:picLocks noChangeAspect="1"/>
          </p:cNvPicPr>
          <p:nvPr userDrawn="1"/>
        </p:nvPicPr>
        <p:blipFill rotWithShape="1">
          <a:blip r:embed="rId17" cstate="print">
            <a:extLst>
              <a:ext uri="{28A0092B-C50C-407E-A947-70E740481C1C}">
                <a14:useLocalDpi xmlns:a14="http://schemas.microsoft.com/office/drawing/2010/main" val="0"/>
              </a:ext>
            </a:extLst>
          </a:blip>
          <a:srcRect l="-1" r="1564" b="34369"/>
          <a:stretch/>
        </p:blipFill>
        <p:spPr>
          <a:xfrm>
            <a:off x="-147909" y="-58723"/>
            <a:ext cx="12339909" cy="691672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
        <p:nvSpPr>
          <p:cNvPr id="15" name="ZoneTexte 14">
            <a:extLst>
              <a:ext uri="{FF2B5EF4-FFF2-40B4-BE49-F238E27FC236}">
                <a16:creationId xmlns:a16="http://schemas.microsoft.com/office/drawing/2014/main" id="{C6E7D94B-8E49-C846-A392-87DFA5EF4A9D}"/>
              </a:ext>
            </a:extLst>
          </p:cNvPr>
          <p:cNvSpPr txBox="1"/>
          <p:nvPr userDrawn="1"/>
        </p:nvSpPr>
        <p:spPr>
          <a:xfrm>
            <a:off x="221940" y="6394008"/>
            <a:ext cx="10929842" cy="261610"/>
          </a:xfrm>
          <a:prstGeom prst="rect">
            <a:avLst/>
          </a:prstGeom>
          <a:noFill/>
        </p:spPr>
        <p:txBody>
          <a:bodyPr wrap="square">
            <a:spAutoFit/>
          </a:bodyPr>
          <a:lstStyle/>
          <a:p>
            <a:r>
              <a:rPr lang="fr-FR" sz="1100">
                <a:solidFill>
                  <a:schemeClr val="bg1"/>
                </a:solidFill>
                <a:latin typeface="Helvetica" panose="020B0604020202020204" pitchFamily="34" charset="0"/>
                <a:cs typeface="Helvetica" panose="020B0604020202020204" pitchFamily="34" charset="0"/>
              </a:rPr>
              <a:t>Empreinte Africaine, Expertise Internationale</a:t>
            </a:r>
          </a:p>
        </p:txBody>
      </p:sp>
    </p:spTree>
    <p:extLst>
      <p:ext uri="{BB962C8B-B14F-4D97-AF65-F5344CB8AC3E}">
        <p14:creationId xmlns:p14="http://schemas.microsoft.com/office/powerpoint/2010/main" val="2063413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Image 7"/>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504" y="283"/>
            <a:ext cx="12190992" cy="685743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Tree>
    <p:extLst>
      <p:ext uri="{BB962C8B-B14F-4D97-AF65-F5344CB8AC3E}">
        <p14:creationId xmlns:p14="http://schemas.microsoft.com/office/powerpoint/2010/main" val="60505563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1.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18.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1.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18.png"/><Relationship Id="rId6" Type="http://schemas.openxmlformats.org/officeDocument/2006/relationships/image" Target="../media/image42.png"/><Relationship Id="rId7" Type="http://schemas.openxmlformats.org/officeDocument/2006/relationships/image" Target="../media/image4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1.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0.png"/><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cstate="print">
            <a:extLst>
              <a:ext uri="{28A0092B-C50C-407E-A947-70E740481C1C}">
                <a14:useLocalDpi xmlns:a14="http://schemas.microsoft.com/office/drawing/2010/main" val="0"/>
              </a:ext>
            </a:extLst>
          </a:blip>
          <a:srcRect l="-175" t="524" r="-2445" b="9082"/>
          <a:stretch/>
        </p:blipFill>
        <p:spPr>
          <a:xfrm>
            <a:off x="4883082" y="0"/>
            <a:ext cx="7785652" cy="6858000"/>
          </a:xfrm>
          <a:prstGeom prst="rect">
            <a:avLst/>
          </a:prstGeom>
        </p:spPr>
      </p:pic>
      <p:sp>
        <p:nvSpPr>
          <p:cNvPr id="5" name="Rectangle 4"/>
          <p:cNvSpPr/>
          <p:nvPr/>
        </p:nvSpPr>
        <p:spPr>
          <a:xfrm>
            <a:off x="13092" y="0"/>
            <a:ext cx="5740400" cy="6858000"/>
          </a:xfrm>
          <a:prstGeom prst="rect">
            <a:avLst/>
          </a:prstGeom>
          <a:solidFill>
            <a:srgbClr val="0606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8" name="Text Placeholder 4">
            <a:extLst>
              <a:ext uri="{FF2B5EF4-FFF2-40B4-BE49-F238E27FC236}">
                <a16:creationId xmlns:a16="http://schemas.microsoft.com/office/drawing/2014/main" id="{5B17207E-7FD3-4B75-ADFE-CC565F8DB8A1}"/>
              </a:ext>
            </a:extLst>
          </p:cNvPr>
          <p:cNvSpPr txBox="1">
            <a:spLocks/>
          </p:cNvSpPr>
          <p:nvPr/>
        </p:nvSpPr>
        <p:spPr>
          <a:xfrm>
            <a:off x="10506325" y="6388244"/>
            <a:ext cx="1187835" cy="337676"/>
          </a:xfrm>
          <a:prstGeom prst="rect">
            <a:avLst/>
          </a:prstGeom>
        </p:spPr>
        <p:txBody>
          <a:bodyPr vert="horz" lIns="91440" tIns="45720" rIns="91440" bIns="45720" rtlCol="0" anchor="ctr">
            <a:noAutofit/>
          </a:bodyPr>
          <a:lstStyle>
            <a:defPPr>
              <a:defRPr lang="fr-F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I" sz="1000" noProof="0">
                <a:solidFill>
                  <a:srgbClr val="FFFFFF"/>
                </a:solidFill>
                <a:latin typeface=".Helvetica"/>
                <a:ea typeface=".Helvetica Neue Interface" panose="020B0604020202020204" pitchFamily="34" charset="0"/>
                <a:cs typeface="Open Sans"/>
              </a:rPr>
              <a:t>16 octobre 2026</a:t>
            </a:r>
          </a:p>
        </p:txBody>
      </p:sp>
      <p:sp>
        <p:nvSpPr>
          <p:cNvPr id="9" name="Google Shape;138;p25"/>
          <p:cNvSpPr txBox="1"/>
          <p:nvPr/>
        </p:nvSpPr>
        <p:spPr>
          <a:xfrm>
            <a:off x="908861" y="2534894"/>
            <a:ext cx="3078453" cy="1231106"/>
          </a:xfrm>
          <a:prstGeom prst="rect">
            <a:avLst/>
          </a:prstGeom>
          <a:noFill/>
          <a:ln>
            <a:noFill/>
          </a:ln>
        </p:spPr>
        <p:txBody>
          <a:bodyPr spcFirstLastPara="1" wrap="square" lIns="0" tIns="0" rIns="0" bIns="0" anchor="t" anchorCtr="0">
            <a:spAutoFit/>
          </a:bodyPr>
          <a:lstStyle/>
          <a:p>
            <a:r>
              <a:rPr lang="fr-CI" sz="4000" b="1" noProof="0">
                <a:solidFill>
                  <a:schemeClr val="bg1"/>
                </a:solidFill>
                <a:latin typeface="Helvetica" panose="020B0604020202020204" pitchFamily="34" charset="0"/>
                <a:cs typeface="Helvetica" panose="020B0604020202020204" pitchFamily="34" charset="0"/>
              </a:rPr>
              <a:t>Entretien</a:t>
            </a:r>
          </a:p>
          <a:p>
            <a:r>
              <a:rPr lang="fr-CI" sz="4000" b="1" noProof="0">
                <a:solidFill>
                  <a:schemeClr val="bg1"/>
                </a:solidFill>
                <a:latin typeface="Helvetica" panose="020B0604020202020204" pitchFamily="34" charset="0"/>
                <a:cs typeface="Helvetica" panose="020B0604020202020204" pitchFamily="34" charset="0"/>
              </a:rPr>
              <a:t>Sinistres et</a:t>
            </a:r>
          </a:p>
          <a:p>
            <a:r>
              <a:rPr lang="fr-CI" sz="4000" b="1" noProof="0">
                <a:solidFill>
                  <a:schemeClr val="bg1"/>
                </a:solidFill>
                <a:latin typeface="Helvetica" panose="020B0604020202020204" pitchFamily="34" charset="0"/>
                <a:cs typeface="Helvetica" panose="020B0604020202020204" pitchFamily="34" charset="0"/>
              </a:rPr>
              <a:t>prestations</a:t>
            </a:r>
          </a:p>
        </p:txBody>
      </p:sp>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2" name="Rectangle 11"/>
          <p:cNvSpPr/>
          <p:nvPr/>
        </p:nvSpPr>
        <p:spPr>
          <a:xfrm>
            <a:off x="9487408" y="229231"/>
            <a:ext cx="2704592" cy="1323439"/>
          </a:xfrm>
          <a:prstGeom prst="rect">
            <a:avLst/>
          </a:prstGeom>
        </p:spPr>
        <p:txBody>
          <a:bodyPr wrap="square">
            <a:spAutoFit/>
          </a:bodyPr>
          <a:lstStyle/>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SA au Capital de 100 millions FCFA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Immeuble le 24, 3e étage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Boulevard </a:t>
            </a:r>
            <a:r>
              <a:rPr lang="fr-CI" sz="1000" noProof="0" err="1">
                <a:solidFill>
                  <a:schemeClr val="bg1"/>
                </a:solidFill>
                <a:latin typeface="Helvetica" panose="020B0604020202020204" pitchFamily="34" charset="0"/>
                <a:ea typeface="Times New Roman" panose="02020603050405020304" pitchFamily="18" charset="0"/>
                <a:cs typeface="Helvetica" panose="020B0604020202020204" pitchFamily="34" charset="0"/>
              </a:rPr>
              <a:t>Clozel</a:t>
            </a: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 Plateau, Abidjan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06 BPM 459 Abidjan 06, Côte d’ivoire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NCC : 2404702K</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RCCM : CI-ABJ-03-2024-B14-00114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Tel (225) 27 20 33 90 90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www.adenka.ci</a:t>
            </a:r>
          </a:p>
        </p:txBody>
      </p:sp>
    </p:spTree>
    <p:extLst>
      <p:ext uri="{BB962C8B-B14F-4D97-AF65-F5344CB8AC3E}">
        <p14:creationId xmlns:p14="http://schemas.microsoft.com/office/powerpoint/2010/main" val="104732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Informations de l'entretien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Entretien avec le chef de service Assurance, sinistres et prestations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entretien de 1h38, de 11h05 à 12h43, consacré aux prestations décès, au volet médical et aux contrôles</a:t>
            </a:r>
          </a:p>
        </p:txBody>
      </p:sp>
      <p:sp>
        <p:nvSpPr>
          <p:cNvPr id="30" name="Rectangle 29"/>
          <p:cNvSpPr/>
          <p:nvPr/>
        </p:nvSpPr>
        <p:spPr>
          <a:xfrm>
            <a:off x="503999" y="1386000"/>
            <a:ext cx="2682000" cy="612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7999" y="1440000"/>
            <a:ext cx="2394000" cy="503999"/>
          </a:xfrm>
          <a:prstGeom prst="rect">
            <a:avLst/>
          </a:prstGeom>
          <a:noFill/>
        </p:spPr>
        <p:txBody>
          <a:bodyPr wrap="square" lIns="0" rIns="0" tIns="0" bIns="0">
            <a:noAutofit/>
          </a:bodyPr>
          <a:lstStyle/>
          <a:p>
            <a:r>
              <a:rPr sz="1600" b="1">
                <a:solidFill>
                  <a:srgbClr val="EFAC62"/>
                </a:solidFill>
                <a:latin typeface="Helvetica"/>
              </a:rPr>
              <a:t>16 octobre 2026</a:t>
            </a:r>
          </a:p>
          <a:p>
            <a:r>
              <a:rPr sz="900" b="0">
                <a:solidFill>
                  <a:srgbClr val="53565A"/>
                </a:solidFill>
                <a:latin typeface="Helvetica"/>
              </a:rPr>
              <a:t>Date de l'entretien</a:t>
            </a:r>
          </a:p>
        </p:txBody>
      </p:sp>
      <p:sp>
        <p:nvSpPr>
          <p:cNvPr id="32" name="Rectangle 31"/>
          <p:cNvSpPr/>
          <p:nvPr/>
        </p:nvSpPr>
        <p:spPr>
          <a:xfrm>
            <a:off x="3330000" y="1386000"/>
            <a:ext cx="2682000" cy="612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4000" y="1440000"/>
            <a:ext cx="2394000" cy="503999"/>
          </a:xfrm>
          <a:prstGeom prst="rect">
            <a:avLst/>
          </a:prstGeom>
          <a:noFill/>
        </p:spPr>
        <p:txBody>
          <a:bodyPr wrap="square" lIns="0" rIns="0" tIns="0" bIns="0">
            <a:noAutofit/>
          </a:bodyPr>
          <a:lstStyle/>
          <a:p>
            <a:r>
              <a:rPr sz="1600" b="1">
                <a:solidFill>
                  <a:srgbClr val="EFAC62"/>
                </a:solidFill>
                <a:latin typeface="Helvetica"/>
              </a:rPr>
              <a:t>11h05 à 12h43</a:t>
            </a:r>
          </a:p>
          <a:p>
            <a:r>
              <a:rPr sz="900" b="0">
                <a:solidFill>
                  <a:srgbClr val="53565A"/>
                </a:solidFill>
                <a:latin typeface="Helvetica"/>
              </a:rPr>
              <a:t>Horaires, soit 1h38</a:t>
            </a:r>
          </a:p>
        </p:txBody>
      </p:sp>
      <p:sp>
        <p:nvSpPr>
          <p:cNvPr id="34" name="Rectangle 33"/>
          <p:cNvSpPr/>
          <p:nvPr/>
        </p:nvSpPr>
        <p:spPr>
          <a:xfrm>
            <a:off x="6156000" y="1386000"/>
            <a:ext cx="2682000" cy="612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0000" y="1440000"/>
            <a:ext cx="2394000" cy="503999"/>
          </a:xfrm>
          <a:prstGeom prst="rect">
            <a:avLst/>
          </a:prstGeom>
          <a:noFill/>
        </p:spPr>
        <p:txBody>
          <a:bodyPr wrap="square" lIns="0" rIns="0" tIns="0" bIns="0">
            <a:noAutofit/>
          </a:bodyPr>
          <a:lstStyle/>
          <a:p>
            <a:r>
              <a:rPr sz="1600" b="1">
                <a:solidFill>
                  <a:srgbClr val="EFAC62"/>
                </a:solidFill>
                <a:latin typeface="Helvetica"/>
              </a:rPr>
              <a:t>4 participants</a:t>
            </a:r>
          </a:p>
          <a:p>
            <a:r>
              <a:rPr sz="900" b="0">
                <a:solidFill>
                  <a:srgbClr val="53565A"/>
                </a:solidFill>
                <a:latin typeface="Helvetica"/>
              </a:rPr>
              <a:t>1 FPPN et 3 Adenka</a:t>
            </a:r>
          </a:p>
        </p:txBody>
      </p:sp>
      <p:sp>
        <p:nvSpPr>
          <p:cNvPr id="36" name="Rectangle 35"/>
          <p:cNvSpPr/>
          <p:nvPr/>
        </p:nvSpPr>
        <p:spPr>
          <a:xfrm>
            <a:off x="8982000" y="1386000"/>
            <a:ext cx="2682000" cy="612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26000" y="1440000"/>
            <a:ext cx="2394000" cy="503999"/>
          </a:xfrm>
          <a:prstGeom prst="rect">
            <a:avLst/>
          </a:prstGeom>
          <a:noFill/>
        </p:spPr>
        <p:txBody>
          <a:bodyPr wrap="square" lIns="0" rIns="0" tIns="0" bIns="0">
            <a:noAutofit/>
          </a:bodyPr>
          <a:lstStyle/>
          <a:p>
            <a:r>
              <a:rPr sz="1600" b="1">
                <a:solidFill>
                  <a:srgbClr val="EFAC62"/>
                </a:solidFill>
                <a:latin typeface="Helvetica"/>
              </a:rPr>
              <a:t>Prestations</a:t>
            </a:r>
          </a:p>
          <a:p>
            <a:r>
              <a:rPr sz="900" b="0">
                <a:solidFill>
                  <a:srgbClr val="53565A"/>
                </a:solidFill>
                <a:latin typeface="Helvetica"/>
              </a:rPr>
              <a:t>Décès, allocations, volet médical</a:t>
            </a:r>
          </a:p>
        </p:txBody>
      </p:sp>
      <p:graphicFrame>
        <p:nvGraphicFramePr>
          <p:cNvPr id="38" name="Table 37"/>
          <p:cNvGraphicFramePr>
            <a:graphicFrameLocks noGrp="1"/>
          </p:cNvGraphicFramePr>
          <p:nvPr/>
        </p:nvGraphicFramePr>
        <p:xfrm>
          <a:off x="503999" y="2232000"/>
          <a:ext cx="11160000" cy="1800000"/>
        </p:xfrm>
        <a:graphic>
          <a:graphicData uri="http://schemas.openxmlformats.org/drawingml/2006/table">
            <a:tbl>
              <a:tblPr firstRow="0" bandRow="0">
                <a:tableStyleId>{5C22544A-7EE6-4342-B048-85BDC9FD1C3A}</a:tableStyleId>
              </a:tblPr>
              <a:tblGrid>
                <a:gridCol w="1800000"/>
                <a:gridCol w="2340000"/>
                <a:gridCol w="4140000"/>
                <a:gridCol w="2880000"/>
              </a:tblGrid>
              <a:tr h="360000">
                <a:tc>
                  <a:txBody>
                    <a:bodyPr/>
                    <a:lstStyle/>
                    <a:p>
                      <a:r>
                        <a:rPr sz="1100" b="1">
                          <a:solidFill>
                            <a:srgbClr val="FFFFFF"/>
                          </a:solidFill>
                          <a:latin typeface="Helvetica"/>
                        </a:rPr>
                        <a:t>Structure</a:t>
                      </a:r>
                    </a:p>
                  </a:txBody>
                  <a:tcPr marL="90000" anchor="ctr">
                    <a:lnL w="6350">
                      <a:solidFill>
                        <a:srgbClr val="BBBCBC"/>
                      </a:solidFill>
                    </a:lnL>
                    <a:lnR w="6350">
                      <a:solidFill>
                        <a:srgbClr val="BBBCBC"/>
                      </a:solidFill>
                    </a:lnR>
                    <a:lnT w="6350">
                      <a:solidFill>
                        <a:srgbClr val="BBBCBC"/>
                      </a:solidFill>
                    </a:lnT>
                    <a:lnB w="6350">
                      <a:solidFill>
                        <a:srgbClr val="BBBCBC"/>
                      </a:solidFill>
                    </a:lnB>
                    <a:solidFill>
                      <a:srgbClr val="112A40"/>
                    </a:solidFill>
                  </a:tcPr>
                </a:tc>
                <a:tc>
                  <a:txBody>
                    <a:bodyPr/>
                    <a:lstStyle/>
                    <a:p>
                      <a:r>
                        <a:rPr sz="1100" b="1">
                          <a:solidFill>
                            <a:srgbClr val="FFFFFF"/>
                          </a:solidFill>
                          <a:latin typeface="Helvetica"/>
                        </a:rPr>
                        <a:t>Nom</a:t>
                      </a:r>
                    </a:p>
                  </a:txBody>
                  <a:tcPr marL="90000" anchor="ctr">
                    <a:lnL w="6350">
                      <a:solidFill>
                        <a:srgbClr val="BBBCBC"/>
                      </a:solidFill>
                    </a:lnL>
                    <a:lnR w="6350">
                      <a:solidFill>
                        <a:srgbClr val="BBBCBC"/>
                      </a:solidFill>
                    </a:lnR>
                    <a:lnT w="6350">
                      <a:solidFill>
                        <a:srgbClr val="BBBCBC"/>
                      </a:solidFill>
                    </a:lnT>
                    <a:lnB w="6350">
                      <a:solidFill>
                        <a:srgbClr val="BBBCBC"/>
                      </a:solidFill>
                    </a:lnB>
                    <a:solidFill>
                      <a:srgbClr val="112A40"/>
                    </a:solidFill>
                  </a:tcPr>
                </a:tc>
                <a:tc>
                  <a:txBody>
                    <a:bodyPr/>
                    <a:lstStyle/>
                    <a:p>
                      <a:r>
                        <a:rPr sz="1100" b="1">
                          <a:solidFill>
                            <a:srgbClr val="FFFFFF"/>
                          </a:solidFill>
                          <a:latin typeface="Helvetica"/>
                        </a:rPr>
                        <a:t>Fonction</a:t>
                      </a:r>
                    </a:p>
                  </a:txBody>
                  <a:tcPr marL="90000" anchor="ctr">
                    <a:lnL w="6350">
                      <a:solidFill>
                        <a:srgbClr val="BBBCBC"/>
                      </a:solidFill>
                    </a:lnL>
                    <a:lnR w="6350">
                      <a:solidFill>
                        <a:srgbClr val="BBBCBC"/>
                      </a:solidFill>
                    </a:lnR>
                    <a:lnT w="6350">
                      <a:solidFill>
                        <a:srgbClr val="BBBCBC"/>
                      </a:solidFill>
                    </a:lnT>
                    <a:lnB w="6350">
                      <a:solidFill>
                        <a:srgbClr val="BBBCBC"/>
                      </a:solidFill>
                    </a:lnB>
                    <a:solidFill>
                      <a:srgbClr val="112A40"/>
                    </a:solidFill>
                  </a:tcPr>
                </a:tc>
                <a:tc>
                  <a:txBody>
                    <a:bodyPr/>
                    <a:lstStyle/>
                    <a:p>
                      <a:r>
                        <a:rPr sz="1100" b="1">
                          <a:solidFill>
                            <a:srgbClr val="FFFFFF"/>
                          </a:solidFill>
                          <a:latin typeface="Helvetica"/>
                        </a:rPr>
                        <a:t>Rôle dans l'entretien</a:t>
                      </a:r>
                    </a:p>
                  </a:txBody>
                  <a:tcPr marL="90000" anchor="ctr">
                    <a:lnL w="6350">
                      <a:solidFill>
                        <a:srgbClr val="BBBCBC"/>
                      </a:solidFill>
                    </a:lnL>
                    <a:lnR w="6350">
                      <a:solidFill>
                        <a:srgbClr val="BBBCBC"/>
                      </a:solidFill>
                    </a:lnR>
                    <a:lnT w="6350">
                      <a:solidFill>
                        <a:srgbClr val="BBBCBC"/>
                      </a:solidFill>
                    </a:lnT>
                    <a:lnB w="6350">
                      <a:solidFill>
                        <a:srgbClr val="BBBCBC"/>
                      </a:solidFill>
                    </a:lnB>
                    <a:solidFill>
                      <a:srgbClr val="112A40"/>
                    </a:solidFill>
                  </a:tcPr>
                </a:tc>
              </a:tr>
              <a:tr h="360000">
                <a:tc>
                  <a:txBody>
                    <a:bodyPr/>
                    <a:lstStyle/>
                    <a:p>
                      <a:r>
                        <a:rPr sz="1100" b="0">
                          <a:solidFill>
                            <a:srgbClr val="060606"/>
                          </a:solidFill>
                          <a:latin typeface="Helvetica"/>
                        </a:rPr>
                        <a:t>FPPN</a:t>
                      </a:r>
                    </a:p>
                  </a:txBody>
                  <a:tcPr marL="90000" anchor="ctr">
                    <a:lnL w="6350">
                      <a:solidFill>
                        <a:srgbClr val="BBBCBC"/>
                      </a:solidFill>
                    </a:lnL>
                    <a:lnR w="6350">
                      <a:solidFill>
                        <a:srgbClr val="BBBCBC"/>
                      </a:solidFill>
                    </a:lnR>
                    <a:lnT w="6350">
                      <a:solidFill>
                        <a:srgbClr val="BBBCBC"/>
                      </a:solidFill>
                    </a:lnT>
                    <a:lnB w="6350">
                      <a:solidFill>
                        <a:srgbClr val="BBBCBC"/>
                      </a:solidFill>
                    </a:lnB>
                    <a:solidFill>
                      <a:srgbClr val="FFFFFF"/>
                    </a:solidFill>
                  </a:tcPr>
                </a:tc>
                <a:tc>
                  <a:txBody>
                    <a:bodyPr/>
                    <a:lstStyle/>
                    <a:p>
                      <a:r>
                        <a:rPr sz="1100" b="0">
                          <a:solidFill>
                            <a:srgbClr val="060606"/>
                          </a:solidFill>
                          <a:latin typeface="Helvetica"/>
                        </a:rPr>
                        <a:t>M. Soumahoro</a:t>
                      </a:r>
                    </a:p>
                  </a:txBody>
                  <a:tcPr marL="90000" anchor="ctr">
                    <a:lnL w="6350">
                      <a:solidFill>
                        <a:srgbClr val="BBBCBC"/>
                      </a:solidFill>
                    </a:lnL>
                    <a:lnR w="6350">
                      <a:solidFill>
                        <a:srgbClr val="BBBCBC"/>
                      </a:solidFill>
                    </a:lnR>
                    <a:lnT w="6350">
                      <a:solidFill>
                        <a:srgbClr val="BBBCBC"/>
                      </a:solidFill>
                    </a:lnT>
                    <a:lnB w="6350">
                      <a:solidFill>
                        <a:srgbClr val="BBBCBC"/>
                      </a:solidFill>
                    </a:lnB>
                    <a:solidFill>
                      <a:srgbClr val="FFFFFF"/>
                    </a:solidFill>
                  </a:tcPr>
                </a:tc>
                <a:tc>
                  <a:txBody>
                    <a:bodyPr/>
                    <a:lstStyle/>
                    <a:p>
                      <a:r>
                        <a:rPr sz="1100" b="0">
                          <a:solidFill>
                            <a:srgbClr val="060606"/>
                          </a:solidFill>
                          <a:latin typeface="Helvetica"/>
                        </a:rPr>
                        <a:t>Chef de service Assurance (sinistres et prestations)</a:t>
                      </a:r>
                    </a:p>
                  </a:txBody>
                  <a:tcPr marL="90000" anchor="ctr">
                    <a:lnL w="6350">
                      <a:solidFill>
                        <a:srgbClr val="BBBCBC"/>
                      </a:solidFill>
                    </a:lnL>
                    <a:lnR w="6350">
                      <a:solidFill>
                        <a:srgbClr val="BBBCBC"/>
                      </a:solidFill>
                    </a:lnR>
                    <a:lnT w="6350">
                      <a:solidFill>
                        <a:srgbClr val="BBBCBC"/>
                      </a:solidFill>
                    </a:lnT>
                    <a:lnB w="6350">
                      <a:solidFill>
                        <a:srgbClr val="BBBCBC"/>
                      </a:solidFill>
                    </a:lnB>
                    <a:solidFill>
                      <a:srgbClr val="FFFFFF"/>
                    </a:solidFill>
                  </a:tcPr>
                </a:tc>
                <a:tc>
                  <a:txBody>
                    <a:bodyPr/>
                    <a:lstStyle/>
                    <a:p>
                      <a:r>
                        <a:rPr sz="1100" b="0">
                          <a:solidFill>
                            <a:srgbClr val="060606"/>
                          </a:solidFill>
                          <a:latin typeface="Helvetica"/>
                        </a:rPr>
                        <a:t>Interlocuteur</a:t>
                      </a:r>
                    </a:p>
                  </a:txBody>
                  <a:tcPr marL="90000" anchor="ctr">
                    <a:lnL w="6350">
                      <a:solidFill>
                        <a:srgbClr val="BBBCBC"/>
                      </a:solidFill>
                    </a:lnL>
                    <a:lnR w="6350">
                      <a:solidFill>
                        <a:srgbClr val="BBBCBC"/>
                      </a:solidFill>
                    </a:lnR>
                    <a:lnT w="6350">
                      <a:solidFill>
                        <a:srgbClr val="BBBCBC"/>
                      </a:solidFill>
                    </a:lnT>
                    <a:lnB w="6350">
                      <a:solidFill>
                        <a:srgbClr val="BBBCBC"/>
                      </a:solidFill>
                    </a:lnB>
                    <a:solidFill>
                      <a:srgbClr val="FFFFFF"/>
                    </a:solidFill>
                  </a:tcPr>
                </a:tc>
              </a:tr>
              <a:tr h="360000">
                <a:tc>
                  <a:txBody>
                    <a:bodyPr/>
                    <a:lstStyle/>
                    <a:p>
                      <a:r>
                        <a:rPr sz="1100" b="0">
                          <a:solidFill>
                            <a:srgbClr val="060606"/>
                          </a:solidFill>
                          <a:latin typeface="Helvetica"/>
                        </a:rPr>
                        <a:t>Adenka</a:t>
                      </a:r>
                    </a:p>
                  </a:txBody>
                  <a:tcPr marL="90000" anchor="ctr">
                    <a:lnL w="6350">
                      <a:solidFill>
                        <a:srgbClr val="BBBCBC"/>
                      </a:solidFill>
                    </a:lnL>
                    <a:lnR w="6350">
                      <a:solidFill>
                        <a:srgbClr val="BBBCBC"/>
                      </a:solidFill>
                    </a:lnR>
                    <a:lnT w="6350">
                      <a:solidFill>
                        <a:srgbClr val="BBBCBC"/>
                      </a:solidFill>
                    </a:lnT>
                    <a:lnB w="6350">
                      <a:solidFill>
                        <a:srgbClr val="BBBCBC"/>
                      </a:solidFill>
                    </a:lnB>
                    <a:solidFill>
                      <a:srgbClr val="F2F2F2"/>
                    </a:solidFill>
                  </a:tcPr>
                </a:tc>
                <a:tc>
                  <a:txBody>
                    <a:bodyPr/>
                    <a:lstStyle/>
                    <a:p>
                      <a:r>
                        <a:rPr sz="1100" b="0">
                          <a:solidFill>
                            <a:srgbClr val="060606"/>
                          </a:solidFill>
                          <a:latin typeface="Helvetica"/>
                        </a:rPr>
                        <a:t>Issa Bamba</a:t>
                      </a:r>
                    </a:p>
                  </a:txBody>
                  <a:tcPr marL="90000" anchor="ctr">
                    <a:lnL w="6350">
                      <a:solidFill>
                        <a:srgbClr val="BBBCBC"/>
                      </a:solidFill>
                    </a:lnL>
                    <a:lnR w="6350">
                      <a:solidFill>
                        <a:srgbClr val="BBBCBC"/>
                      </a:solidFill>
                    </a:lnR>
                    <a:lnT w="6350">
                      <a:solidFill>
                        <a:srgbClr val="BBBCBC"/>
                      </a:solidFill>
                    </a:lnT>
                    <a:lnB w="6350">
                      <a:solidFill>
                        <a:srgbClr val="BBBCBC"/>
                      </a:solidFill>
                    </a:lnB>
                    <a:solidFill>
                      <a:srgbClr val="F2F2F2"/>
                    </a:solidFill>
                  </a:tcPr>
                </a:tc>
                <a:tc>
                  <a:txBody>
                    <a:bodyPr/>
                    <a:lstStyle/>
                    <a:p>
                      <a:r>
                        <a:rPr sz="1100" b="0">
                          <a:solidFill>
                            <a:srgbClr val="060606"/>
                          </a:solidFill>
                          <a:latin typeface="Helvetica"/>
                        </a:rPr>
                        <a:t>Senior, audit comptable et financier</a:t>
                      </a:r>
                    </a:p>
                  </a:txBody>
                  <a:tcPr marL="90000" anchor="ctr">
                    <a:lnL w="6350">
                      <a:solidFill>
                        <a:srgbClr val="BBBCBC"/>
                      </a:solidFill>
                    </a:lnL>
                    <a:lnR w="6350">
                      <a:solidFill>
                        <a:srgbClr val="BBBCBC"/>
                      </a:solidFill>
                    </a:lnR>
                    <a:lnT w="6350">
                      <a:solidFill>
                        <a:srgbClr val="BBBCBC"/>
                      </a:solidFill>
                    </a:lnT>
                    <a:lnB w="6350">
                      <a:solidFill>
                        <a:srgbClr val="BBBCBC"/>
                      </a:solidFill>
                    </a:lnB>
                    <a:solidFill>
                      <a:srgbClr val="F2F2F2"/>
                    </a:solidFill>
                  </a:tcPr>
                </a:tc>
                <a:tc>
                  <a:txBody>
                    <a:bodyPr/>
                    <a:lstStyle/>
                    <a:p>
                      <a:r>
                        <a:rPr sz="1100" b="0">
                          <a:solidFill>
                            <a:srgbClr val="060606"/>
                          </a:solidFill>
                          <a:latin typeface="Helvetica"/>
                        </a:rPr>
                        <a:t>Conduite de l'entretien</a:t>
                      </a:r>
                    </a:p>
                  </a:txBody>
                  <a:tcPr marL="90000" anchor="ctr">
                    <a:lnL w="6350">
                      <a:solidFill>
                        <a:srgbClr val="BBBCBC"/>
                      </a:solidFill>
                    </a:lnL>
                    <a:lnR w="6350">
                      <a:solidFill>
                        <a:srgbClr val="BBBCBC"/>
                      </a:solidFill>
                    </a:lnR>
                    <a:lnT w="6350">
                      <a:solidFill>
                        <a:srgbClr val="BBBCBC"/>
                      </a:solidFill>
                    </a:lnT>
                    <a:lnB w="6350">
                      <a:solidFill>
                        <a:srgbClr val="BBBCBC"/>
                      </a:solidFill>
                    </a:lnB>
                    <a:solidFill>
                      <a:srgbClr val="F2F2F2"/>
                    </a:solidFill>
                  </a:tcPr>
                </a:tc>
              </a:tr>
              <a:tr h="360000">
                <a:tc>
                  <a:txBody>
                    <a:bodyPr/>
                    <a:lstStyle/>
                    <a:p>
                      <a:r>
                        <a:rPr sz="1100" b="0">
                          <a:solidFill>
                            <a:srgbClr val="060606"/>
                          </a:solidFill>
                          <a:latin typeface="Helvetica"/>
                        </a:rPr>
                        <a:t>Adenka</a:t>
                      </a:r>
                    </a:p>
                  </a:txBody>
                  <a:tcPr marL="90000" anchor="ctr">
                    <a:lnL w="6350">
                      <a:solidFill>
                        <a:srgbClr val="BBBCBC"/>
                      </a:solidFill>
                    </a:lnL>
                    <a:lnR w="6350">
                      <a:solidFill>
                        <a:srgbClr val="BBBCBC"/>
                      </a:solidFill>
                    </a:lnR>
                    <a:lnT w="6350">
                      <a:solidFill>
                        <a:srgbClr val="BBBCBC"/>
                      </a:solidFill>
                    </a:lnT>
                    <a:lnB w="6350">
                      <a:solidFill>
                        <a:srgbClr val="BBBCBC"/>
                      </a:solidFill>
                    </a:lnB>
                    <a:solidFill>
                      <a:srgbClr val="FFFFFF"/>
                    </a:solidFill>
                  </a:tcPr>
                </a:tc>
                <a:tc>
                  <a:txBody>
                    <a:bodyPr/>
                    <a:lstStyle/>
                    <a:p>
                      <a:r>
                        <a:rPr sz="1100" b="0">
                          <a:solidFill>
                            <a:srgbClr val="060606"/>
                          </a:solidFill>
                          <a:latin typeface="Helvetica"/>
                        </a:rPr>
                        <a:t>Jean-Noël Sialou</a:t>
                      </a:r>
                    </a:p>
                  </a:txBody>
                  <a:tcPr marL="90000" anchor="ctr">
                    <a:lnL w="6350">
                      <a:solidFill>
                        <a:srgbClr val="BBBCBC"/>
                      </a:solidFill>
                    </a:lnL>
                    <a:lnR w="6350">
                      <a:solidFill>
                        <a:srgbClr val="BBBCBC"/>
                      </a:solidFill>
                    </a:lnR>
                    <a:lnT w="6350">
                      <a:solidFill>
                        <a:srgbClr val="BBBCBC"/>
                      </a:solidFill>
                    </a:lnT>
                    <a:lnB w="6350">
                      <a:solidFill>
                        <a:srgbClr val="BBBCBC"/>
                      </a:solidFill>
                    </a:lnB>
                    <a:solidFill>
                      <a:srgbClr val="FFFFFF"/>
                    </a:solidFill>
                  </a:tcPr>
                </a:tc>
                <a:tc>
                  <a:txBody>
                    <a:bodyPr/>
                    <a:lstStyle/>
                    <a:p>
                      <a:r>
                        <a:rPr sz="1100" b="0">
                          <a:solidFill>
                            <a:srgbClr val="060606"/>
                          </a:solidFill>
                          <a:latin typeface="Helvetica"/>
                        </a:rPr>
                        <a:t>Consultant actuaire</a:t>
                      </a:r>
                    </a:p>
                  </a:txBody>
                  <a:tcPr marL="90000" anchor="ctr">
                    <a:lnL w="6350">
                      <a:solidFill>
                        <a:srgbClr val="BBBCBC"/>
                      </a:solidFill>
                    </a:lnL>
                    <a:lnR w="6350">
                      <a:solidFill>
                        <a:srgbClr val="BBBCBC"/>
                      </a:solidFill>
                    </a:lnR>
                    <a:lnT w="6350">
                      <a:solidFill>
                        <a:srgbClr val="BBBCBC"/>
                      </a:solidFill>
                    </a:lnT>
                    <a:lnB w="6350">
                      <a:solidFill>
                        <a:srgbClr val="BBBCBC"/>
                      </a:solidFill>
                    </a:lnB>
                    <a:solidFill>
                      <a:srgbClr val="FFFFFF"/>
                    </a:solidFill>
                  </a:tcPr>
                </a:tc>
                <a:tc>
                  <a:txBody>
                    <a:bodyPr/>
                    <a:lstStyle/>
                    <a:p>
                      <a:r>
                        <a:rPr sz="1100" b="0">
                          <a:solidFill>
                            <a:srgbClr val="060606"/>
                          </a:solidFill>
                          <a:latin typeface="Helvetica"/>
                        </a:rPr>
                        <a:t>Volet actuariel</a:t>
                      </a:r>
                    </a:p>
                  </a:txBody>
                  <a:tcPr marL="90000" anchor="ctr">
                    <a:lnL w="6350">
                      <a:solidFill>
                        <a:srgbClr val="BBBCBC"/>
                      </a:solidFill>
                    </a:lnL>
                    <a:lnR w="6350">
                      <a:solidFill>
                        <a:srgbClr val="BBBCBC"/>
                      </a:solidFill>
                    </a:lnR>
                    <a:lnT w="6350">
                      <a:solidFill>
                        <a:srgbClr val="BBBCBC"/>
                      </a:solidFill>
                    </a:lnT>
                    <a:lnB w="6350">
                      <a:solidFill>
                        <a:srgbClr val="BBBCBC"/>
                      </a:solidFill>
                    </a:lnB>
                    <a:solidFill>
                      <a:srgbClr val="FFFFFF"/>
                    </a:solidFill>
                  </a:tcPr>
                </a:tc>
              </a:tr>
              <a:tr h="360000">
                <a:tc>
                  <a:txBody>
                    <a:bodyPr/>
                    <a:lstStyle/>
                    <a:p>
                      <a:r>
                        <a:rPr sz="1100" b="0">
                          <a:solidFill>
                            <a:srgbClr val="060606"/>
                          </a:solidFill>
                          <a:latin typeface="Helvetica"/>
                        </a:rPr>
                        <a:t>Adenka</a:t>
                      </a:r>
                    </a:p>
                  </a:txBody>
                  <a:tcPr marL="90000" anchor="ctr">
                    <a:lnL w="6350">
                      <a:solidFill>
                        <a:srgbClr val="BBBCBC"/>
                      </a:solidFill>
                    </a:lnL>
                    <a:lnR w="6350">
                      <a:solidFill>
                        <a:srgbClr val="BBBCBC"/>
                      </a:solidFill>
                    </a:lnR>
                    <a:lnT w="6350">
                      <a:solidFill>
                        <a:srgbClr val="BBBCBC"/>
                      </a:solidFill>
                    </a:lnT>
                    <a:lnB w="6350">
                      <a:solidFill>
                        <a:srgbClr val="BBBCBC"/>
                      </a:solidFill>
                    </a:lnB>
                    <a:solidFill>
                      <a:srgbClr val="F2F2F2"/>
                    </a:solidFill>
                  </a:tcPr>
                </a:tc>
                <a:tc>
                  <a:txBody>
                    <a:bodyPr/>
                    <a:lstStyle/>
                    <a:p>
                      <a:r>
                        <a:rPr sz="1100" b="0">
                          <a:solidFill>
                            <a:srgbClr val="060606"/>
                          </a:solidFill>
                          <a:latin typeface="Helvetica"/>
                        </a:rPr>
                        <a:t>Myriam Coulibaly</a:t>
                      </a:r>
                    </a:p>
                  </a:txBody>
                  <a:tcPr marL="90000" anchor="ctr">
                    <a:lnL w="6350">
                      <a:solidFill>
                        <a:srgbClr val="BBBCBC"/>
                      </a:solidFill>
                    </a:lnL>
                    <a:lnR w="6350">
                      <a:solidFill>
                        <a:srgbClr val="BBBCBC"/>
                      </a:solidFill>
                    </a:lnR>
                    <a:lnT w="6350">
                      <a:solidFill>
                        <a:srgbClr val="BBBCBC"/>
                      </a:solidFill>
                    </a:lnT>
                    <a:lnB w="6350">
                      <a:solidFill>
                        <a:srgbClr val="BBBCBC"/>
                      </a:solidFill>
                    </a:lnB>
                    <a:solidFill>
                      <a:srgbClr val="F2F2F2"/>
                    </a:solidFill>
                  </a:tcPr>
                </a:tc>
                <a:tc>
                  <a:txBody>
                    <a:bodyPr/>
                    <a:lstStyle/>
                    <a:p>
                      <a:r>
                        <a:rPr sz="1100" b="0">
                          <a:solidFill>
                            <a:srgbClr val="060606"/>
                          </a:solidFill>
                          <a:latin typeface="Helvetica"/>
                        </a:rPr>
                        <a:t>Collaboratrice Adenka</a:t>
                      </a:r>
                    </a:p>
                  </a:txBody>
                  <a:tcPr marL="90000" anchor="ctr">
                    <a:lnL w="6350">
                      <a:solidFill>
                        <a:srgbClr val="BBBCBC"/>
                      </a:solidFill>
                    </a:lnL>
                    <a:lnR w="6350">
                      <a:solidFill>
                        <a:srgbClr val="BBBCBC"/>
                      </a:solidFill>
                    </a:lnR>
                    <a:lnT w="6350">
                      <a:solidFill>
                        <a:srgbClr val="BBBCBC"/>
                      </a:solidFill>
                    </a:lnT>
                    <a:lnB w="6350">
                      <a:solidFill>
                        <a:srgbClr val="BBBCBC"/>
                      </a:solidFill>
                    </a:lnB>
                    <a:solidFill>
                      <a:srgbClr val="F2F2F2"/>
                    </a:solidFill>
                  </a:tcPr>
                </a:tc>
                <a:tc>
                  <a:txBody>
                    <a:bodyPr/>
                    <a:lstStyle/>
                    <a:p>
                      <a:r>
                        <a:rPr sz="1100" b="0">
                          <a:solidFill>
                            <a:srgbClr val="060606"/>
                          </a:solidFill>
                          <a:latin typeface="Helvetica"/>
                        </a:rPr>
                        <a:t>Prise de notes et appui</a:t>
                      </a:r>
                    </a:p>
                  </a:txBody>
                  <a:tcPr marL="90000" anchor="ctr">
                    <a:lnL w="6350">
                      <a:solidFill>
                        <a:srgbClr val="BBBCBC"/>
                      </a:solidFill>
                    </a:lnL>
                    <a:lnR w="6350">
                      <a:solidFill>
                        <a:srgbClr val="BBBCBC"/>
                      </a:solidFill>
                    </a:lnR>
                    <a:lnT w="6350">
                      <a:solidFill>
                        <a:srgbClr val="BBBCBC"/>
                      </a:solidFill>
                    </a:lnT>
                    <a:lnB w="6350">
                      <a:solidFill>
                        <a:srgbClr val="BBBCBC"/>
                      </a:solidFill>
                    </a:lnB>
                    <a:solidFill>
                      <a:srgbClr val="F2F2F2"/>
                    </a:solidFill>
                  </a:tcPr>
                </a:tc>
              </a:tr>
            </a:tbl>
          </a:graphicData>
        </a:graphic>
      </p:graphicFrame>
      <p:sp>
        <p:nvSpPr>
          <p:cNvPr id="39" name="TextBox 38"/>
          <p:cNvSpPr txBox="1"/>
          <p:nvPr/>
        </p:nvSpPr>
        <p:spPr>
          <a:xfrm>
            <a:off x="503999" y="4392000"/>
            <a:ext cx="11160000" cy="1512000"/>
          </a:xfrm>
          <a:prstGeom prst="rect">
            <a:avLst/>
          </a:prstGeom>
          <a:noFill/>
        </p:spPr>
        <p:txBody>
          <a:bodyPr wrap="square" lIns="0" rIns="0" tIns="0" bIns="0">
            <a:noAutofit/>
          </a:bodyPr>
          <a:lstStyle/>
          <a:p>
            <a:r>
              <a:rPr sz="1200" b="1">
                <a:solidFill>
                  <a:srgbClr val="EFAC62"/>
                </a:solidFill>
                <a:latin typeface="Helvetica"/>
              </a:rPr>
              <a:t>Objet de l'entretien</a:t>
            </a:r>
          </a:p>
          <a:p>
            <a:r>
              <a:rPr sz="1100" b="0">
                <a:solidFill>
                  <a:srgbClr val="060606"/>
                </a:solidFill>
                <a:latin typeface="Helvetica"/>
              </a:rPr>
              <a:t>Comprendre l'organisation du service, les règles et l'historique des prestations décès, le traitement des dossiers, le volet médical, les contrôles en place et les données disponibles pour les travaux d'audit et actuariels.</a:t>
            </a:r>
          </a:p>
          <a:p>
            <a:r>
              <a:rPr sz="1100" b="0">
                <a:solidFill>
                  <a:srgbClr val="060606"/>
                </a:solidFill>
                <a:latin typeface="Helvetica"/>
              </a:rPr>
              <a:t>Le chef de service est en poste au FPPN depuis 2005-2006, d'abord comme conseiller technique chargé des assurances.</a:t>
            </a:r>
          </a:p>
        </p:txBody>
      </p:sp>
    </p:spTree>
    <p:extLst>
      <p:ext uri="{BB962C8B-B14F-4D97-AF65-F5344CB8AC3E}">
        <p14:creationId xmlns:p14="http://schemas.microsoft.com/office/powerpoint/2010/main" val="77577176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0" name="ZoneTexte 1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686669" y="1781664"/>
            <a:ext cx="3741376" cy="56747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chemeClr val="tx1"/>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328234" y="1707571"/>
            <a:ext cx="2554832" cy="3837962"/>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29487" y="1853338"/>
            <a:ext cx="1531188" cy="342145"/>
          </a:xfrm>
          <a:prstGeom prst="rect">
            <a:avLst/>
          </a:prstGeom>
        </p:spPr>
        <p:txBody>
          <a:bodyPr wrap="none">
            <a:spAutoFit/>
          </a:bodyPr>
          <a:lstStyle/>
          <a:p>
            <a:pPr lvl="0">
              <a:lnSpc>
                <a:spcPct val="110000"/>
              </a:lnSpc>
            </a:pPr>
            <a:r>
              <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Missions du service</a:t>
            </a:r>
          </a:p>
        </p:txBody>
      </p:sp>
      <p:sp>
        <p:nvSpPr>
          <p:cNvPr id="13" name="Google Shape;7386;p39"/>
          <p:cNvSpPr/>
          <p:nvPr/>
        </p:nvSpPr>
        <p:spPr>
          <a:xfrm rot="10800000">
            <a:off x="6665593" y="1781664"/>
            <a:ext cx="3741376" cy="56747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EFAC62"/>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4" name="Google Shape;7367;p39"/>
          <p:cNvSpPr/>
          <p:nvPr/>
        </p:nvSpPr>
        <p:spPr>
          <a:xfrm rot="16200000">
            <a:off x="7307158" y="1707571"/>
            <a:ext cx="2554832" cy="3837962"/>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softEdge rad="0"/>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7" name="Rectangle 16"/>
          <p:cNvSpPr/>
          <p:nvPr/>
        </p:nvSpPr>
        <p:spPr>
          <a:xfrm>
            <a:off x="7818980" y="1902791"/>
            <a:ext cx="1531188" cy="342145"/>
          </a:xfrm>
          <a:prstGeom prst="rect">
            <a:avLst/>
          </a:prstGeom>
        </p:spPr>
        <p:txBody>
          <a:bodyPr wrap="none">
            <a:spAutoFit/>
          </a:bodyPr>
          <a:lstStyle/>
          <a:p>
            <a:pPr lvl="0">
              <a:lnSpc>
                <a:spcPct val="110000"/>
              </a:lnSpc>
            </a:pPr>
            <a:r>
              <a:rPr lang="fr-CI" sz="1600" b="1" noProof="0">
                <a:latin typeface="Helvetica" panose="020B0604020202020204" pitchFamily="34" charset="0"/>
                <a:ea typeface="Open Sans Semibold" panose="020B0706030804020204" pitchFamily="34" charset="0"/>
                <a:cs typeface="Helvetica" panose="020B0604020202020204" pitchFamily="34" charset="0"/>
              </a:rPr>
              <a:t>Organisation</a:t>
            </a:r>
          </a:p>
        </p:txBody>
      </p:sp>
      <p:pic>
        <p:nvPicPr>
          <p:cNvPr id="31" name="Image 30">
            <a:extLst>
              <a:ext uri="{FF2B5EF4-FFF2-40B4-BE49-F238E27FC236}">
                <a16:creationId xmlns:a16="http://schemas.microsoft.com/office/drawing/2014/main" id="{593DA389-08F4-31D9-6AB9-E96812D83B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1405" y="1867136"/>
            <a:ext cx="396525" cy="396525"/>
          </a:xfrm>
          <a:prstGeom prst="rect">
            <a:avLst/>
          </a:prstGeom>
        </p:spPr>
      </p:pic>
      <p:pic>
        <p:nvPicPr>
          <p:cNvPr id="18" name="Image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3060" y="1814991"/>
            <a:ext cx="486259" cy="491723"/>
          </a:xfrm>
          <a:prstGeom prst="rect">
            <a:avLst/>
          </a:prstGeom>
        </p:spPr>
      </p:pic>
      <p:sp>
        <p:nvSpPr>
          <p:cNvPr id="21" name="Rectangle 20"/>
          <p:cNvSpPr/>
          <p:nvPr/>
        </p:nvSpPr>
        <p:spPr>
          <a:xfrm>
            <a:off x="1812412" y="2596068"/>
            <a:ext cx="3615634" cy="2100575"/>
          </a:xfrm>
          <a:prstGeom prst="rect">
            <a:avLst/>
          </a:prstGeom>
        </p:spPr>
        <p:txBody>
          <a:bodyPr wrap="square">
            <a:spAutoFit/>
          </a:bodyPr>
          <a:lstStyle/>
          <a:p>
            <a:pPr lvl="0">
              <a:spcBef>
                <a:spcPts val="300"/>
              </a:spcBef>
              <a:defRPr/>
            </a:pPr>
            <a:r>
              <a:rPr kumimoji="1" lang="fr-CI" sz="1200" b="1" noProof="0">
                <a:latin typeface="Helvetica" panose="020B0604020202020204" pitchFamily="34" charset="0"/>
                <a:cs typeface="Helvetica" panose="020B0604020202020204" pitchFamily="34" charset="0"/>
              </a:rPr>
              <a:t>Prestations sociales</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Capitaux décès et frais funéraires</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Allocations aux ayants droit</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Volet médical, confié depuis un mois environ</a:t>
            </a:r>
          </a:p>
          <a:p>
            <a:pPr lvl="0">
              <a:spcBef>
                <a:spcPts val="600"/>
              </a:spcBef>
              <a:defRPr/>
            </a:pPr>
            <a:r>
              <a:rPr kumimoji="1" lang="fr-CI" sz="1200" b="1" noProof="0">
                <a:latin typeface="Helvetica" panose="020B0604020202020204" pitchFamily="34" charset="0"/>
                <a:cs typeface="Helvetica" panose="020B0604020202020204" pitchFamily="34" charset="0"/>
              </a:rPr>
              <a:t>Autres activités</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Conception de produits (produit retraite, mai 2007)</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Flotte automobile des policiers</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Suivi des dossiers transmis aux assureurs</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Transmission des litiges au conseiller juridique</a:t>
            </a:r>
          </a:p>
        </p:txBody>
      </p:sp>
      <p:sp>
        <p:nvSpPr>
          <p:cNvPr id="24" name="Rectangle 23"/>
          <p:cNvSpPr/>
          <p:nvPr/>
        </p:nvSpPr>
        <p:spPr>
          <a:xfrm>
            <a:off x="6941405" y="2576263"/>
            <a:ext cx="3615634" cy="2100575"/>
          </a:xfrm>
          <a:prstGeom prst="rect">
            <a:avLst/>
          </a:prstGeom>
        </p:spPr>
        <p:txBody>
          <a:bodyPr wrap="square">
            <a:spAutoFit/>
          </a:bodyPr>
          <a:lstStyle/>
          <a:p>
            <a:pPr lvl="0">
              <a:spcBef>
                <a:spcPts val="300"/>
              </a:spcBef>
              <a:defRPr/>
            </a:pPr>
            <a:r>
              <a:rPr kumimoji="1" lang="fr-CI" sz="1200" b="1" noProof="0">
                <a:latin typeface="Helvetica" panose="020B0604020202020204" pitchFamily="34" charset="0"/>
                <a:cs typeface="Helvetica" panose="020B0604020202020204" pitchFamily="34" charset="0"/>
              </a:rPr>
              <a:t>Équipe actuelle</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Un agent chargé des déclarations</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Un agent chargé du traitement des dossiers</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Vérification et signature par le chef de service</a:t>
            </a:r>
          </a:p>
          <a:p>
            <a:pPr lvl="0">
              <a:spcBef>
                <a:spcPts val="600"/>
              </a:spcBef>
              <a:defRPr/>
            </a:pPr>
            <a:r>
              <a:rPr kumimoji="1" lang="fr-CI" sz="1200" b="1" noProof="0">
                <a:latin typeface="Helvetica" panose="020B0604020202020204" pitchFamily="34" charset="0"/>
                <a:cs typeface="Helvetica" panose="020B0604020202020204" pitchFamily="34" charset="0"/>
              </a:rPr>
              <a:t>Organisation souhaitée par le service</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Cellule de traitement et de contrôle des dossiers</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Cellule de suivi des litiges familiaux</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Cellule médicale : prises en charge et contrôle</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Cellule d'assistance et de suivi des malades</a:t>
            </a:r>
          </a:p>
        </p:txBody>
      </p:sp>
      <p:sp>
        <p:nvSpPr>
          <p:cNvPr id="3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Périmètre et organisation du service</a:t>
            </a:r>
          </a:p>
        </p:txBody>
      </p:sp>
      <p:sp>
        <p:nvSpPr>
          <p:cNvPr id="3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service gère les prestations décès et reprend le volet médical</a:t>
            </a:r>
          </a:p>
        </p:txBody>
      </p:sp>
      <p:sp>
        <p:nvSpPr>
          <p:cNvPr id="3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Deux agents traitent les dossiers décès, et le volet médical a été confié au service il y a environ un mois</a:t>
            </a:r>
          </a:p>
        </p:txBody>
      </p:sp>
    </p:spTree>
    <p:extLst>
      <p:ext uri="{BB962C8B-B14F-4D97-AF65-F5344CB8AC3E}">
        <p14:creationId xmlns:p14="http://schemas.microsoft.com/office/powerpoint/2010/main" val="398216794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7"/>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9" name="ZoneTexte 28">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33" name="Image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5360" y="1696495"/>
            <a:ext cx="561464" cy="561464"/>
          </a:xfrm>
          <a:prstGeom prst="rect">
            <a:avLst/>
          </a:prstGeom>
        </p:spPr>
      </p:pic>
      <p:pic>
        <p:nvPicPr>
          <p:cNvPr id="34" name="Image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28579" y="1762812"/>
            <a:ext cx="542282" cy="542282"/>
          </a:xfrm>
          <a:prstGeom prst="rect">
            <a:avLst/>
          </a:prstGeom>
        </p:spPr>
      </p:pic>
      <p:pic>
        <p:nvPicPr>
          <p:cNvPr id="35" name="Image 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5360" y="3093364"/>
            <a:ext cx="698701" cy="706825"/>
          </a:xfrm>
          <a:prstGeom prst="rect">
            <a:avLst/>
          </a:prstGeom>
        </p:spPr>
      </p:pic>
      <p:pic>
        <p:nvPicPr>
          <p:cNvPr id="36" name="Image 3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59430" y="3093364"/>
            <a:ext cx="611431" cy="624722"/>
          </a:xfrm>
          <a:prstGeom prst="rect">
            <a:avLst/>
          </a:prstGeom>
        </p:spPr>
      </p:pic>
      <p:pic>
        <p:nvPicPr>
          <p:cNvPr id="44" name="Image 4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35360" y="4454973"/>
            <a:ext cx="678177" cy="678177"/>
          </a:xfrm>
          <a:prstGeom prst="rect">
            <a:avLst/>
          </a:prstGeom>
        </p:spPr>
      </p:pic>
      <p:pic>
        <p:nvPicPr>
          <p:cNvPr id="45" name="Image 4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272615" y="4594783"/>
            <a:ext cx="598246" cy="598246"/>
          </a:xfrm>
          <a:prstGeom prst="rect">
            <a:avLst/>
          </a:prstGeom>
        </p:spPr>
      </p:pic>
      <p:sp>
        <p:nvSpPr>
          <p:cNvPr id="17" name="TextBox 49"/>
          <p:cNvSpPr txBox="1"/>
          <p:nvPr/>
        </p:nvSpPr>
        <p:spPr>
          <a:xfrm>
            <a:off x="7085829" y="1404489"/>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Capital décès</a:t>
            </a:r>
          </a:p>
          <a:p>
            <a:r>
              <a:rPr lang="fr-CI" sz="1200" noProof="0">
                <a:latin typeface="Helvetica" panose="020B0604020202020204" pitchFamily="34" charset="0"/>
                <a:ea typeface="Open Sans Light" panose="020B0306030504020204" pitchFamily="34" charset="0"/>
                <a:cs typeface="Helvetica" panose="020B0604020202020204" pitchFamily="34" charset="0"/>
              </a:rPr>
              <a:t>Versé en une fois, réparti entre les héritiers selon les documents de justice (succession).</a:t>
            </a:r>
            <a:endParaRPr lang="fr-CI" sz="1200" noProof="0">
              <a:latin typeface="Helvetica" panose="020B0604020202020204" pitchFamily="34" charset="0"/>
              <a:cs typeface="Helvetica" panose="020B0604020202020204" pitchFamily="34" charset="0"/>
            </a:endParaRPr>
          </a:p>
        </p:txBody>
      </p:sp>
      <p:sp>
        <p:nvSpPr>
          <p:cNvPr id="20" name="TextBox 49"/>
          <p:cNvSpPr txBox="1"/>
          <p:nvPr/>
        </p:nvSpPr>
        <p:spPr>
          <a:xfrm>
            <a:off x="1932614" y="2848076"/>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Cotisation</a:t>
            </a:r>
          </a:p>
          <a:p>
            <a:r>
              <a:rPr lang="fr-CI" sz="1200" noProof="0">
                <a:latin typeface="Helvetica" panose="020B0604020202020204" pitchFamily="34" charset="0"/>
                <a:ea typeface="Open Sans Light" panose="020B0306030504020204" pitchFamily="34" charset="0"/>
                <a:cs typeface="Helvetica" panose="020B0604020202020204" pitchFamily="34" charset="0"/>
              </a:rPr>
              <a:t>5 % du salaire de base : 3,5 % pour la maladie et 1,5 % pour le décès.</a:t>
            </a:r>
            <a:endParaRPr lang="fr-CI" sz="1200" noProof="0">
              <a:latin typeface="Helvetica" panose="020B0604020202020204" pitchFamily="34" charset="0"/>
              <a:cs typeface="Helvetica" panose="020B0604020202020204" pitchFamily="34" charset="0"/>
            </a:endParaRPr>
          </a:p>
        </p:txBody>
      </p:sp>
      <p:sp>
        <p:nvSpPr>
          <p:cNvPr id="21" name="TextBox 49"/>
          <p:cNvSpPr txBox="1"/>
          <p:nvPr/>
        </p:nvSpPr>
        <p:spPr>
          <a:xfrm>
            <a:off x="7085829" y="2818934"/>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Ayants droit</a:t>
            </a:r>
          </a:p>
          <a:p>
            <a:r>
              <a:rPr lang="fr-CI" sz="1200" noProof="0">
                <a:latin typeface="Helvetica" panose="020B0604020202020204" pitchFamily="34" charset="0"/>
                <a:ea typeface="Open Sans Light" panose="020B0306030504020204" pitchFamily="34" charset="0"/>
                <a:cs typeface="Helvetica" panose="020B0604020202020204" pitchFamily="34" charset="0"/>
              </a:rPr>
              <a:t>Montants propres en cas de décès du conjoint ou d'un enfant, selon le corps du policier.</a:t>
            </a:r>
            <a:endParaRPr lang="fr-CI" sz="1200" noProof="0">
              <a:latin typeface="Helvetica" panose="020B0604020202020204" pitchFamily="34" charset="0"/>
              <a:cs typeface="Helvetica" panose="020B0604020202020204" pitchFamily="34" charset="0"/>
            </a:endParaRPr>
          </a:p>
        </p:txBody>
      </p:sp>
      <p:sp>
        <p:nvSpPr>
          <p:cNvPr id="24" name="TextBox 49"/>
          <p:cNvSpPr txBox="1"/>
          <p:nvPr/>
        </p:nvSpPr>
        <p:spPr>
          <a:xfrm>
            <a:off x="1932614" y="4227172"/>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Retraités</a:t>
            </a:r>
          </a:p>
          <a:p>
            <a:r>
              <a:rPr lang="fr-CI" sz="1200" noProof="0">
                <a:latin typeface="Helvetica" panose="020B0604020202020204" pitchFamily="34" charset="0"/>
                <a:ea typeface="Open Sans Light" panose="020B0306030504020204" pitchFamily="34" charset="0"/>
                <a:cs typeface="Helvetica" panose="020B0604020202020204" pitchFamily="34" charset="0"/>
              </a:rPr>
              <a:t>Couverts pour la maladie uniquement, sous réserve de se réinscrire après le départ.</a:t>
            </a:r>
            <a:endParaRPr lang="fr-CI" sz="1200" noProof="0">
              <a:latin typeface="Helvetica" panose="020B0604020202020204" pitchFamily="34" charset="0"/>
              <a:cs typeface="Helvetica" panose="020B0604020202020204" pitchFamily="34" charset="0"/>
            </a:endParaRPr>
          </a:p>
        </p:txBody>
      </p:sp>
      <p:sp>
        <p:nvSpPr>
          <p:cNvPr id="25" name="TextBox 49"/>
          <p:cNvSpPr txBox="1"/>
          <p:nvPr/>
        </p:nvSpPr>
        <p:spPr>
          <a:xfrm>
            <a:off x="7085829" y="4198030"/>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Allocation d'accouchement</a:t>
            </a:r>
          </a:p>
          <a:p>
            <a:r>
              <a:rPr lang="fr-CI" sz="1200" noProof="0">
                <a:latin typeface="Helvetica" panose="020B0604020202020204" pitchFamily="34" charset="0"/>
                <a:ea typeface="Open Sans Light" panose="020B0306030504020204" pitchFamily="34" charset="0"/>
                <a:cs typeface="Helvetica" panose="020B0604020202020204" pitchFamily="34" charset="0"/>
              </a:rPr>
              <a:t>100 000 FCFA lorsque la grossesse n'a pas été suivie par le fonds.</a:t>
            </a:r>
            <a:endParaRPr lang="fr-CI" sz="1200" noProof="0">
              <a:latin typeface="Helvetica" panose="020B0604020202020204" pitchFamily="34" charset="0"/>
              <a:cs typeface="Helvetica" panose="020B0604020202020204" pitchFamily="34" charset="0"/>
            </a:endParaRPr>
          </a:p>
        </p:txBody>
      </p:sp>
      <p:sp>
        <p:nvSpPr>
          <p:cNvPr id="30" name="TextBox 49"/>
          <p:cNvSpPr txBox="1"/>
          <p:nvPr/>
        </p:nvSpPr>
        <p:spPr>
          <a:xfrm>
            <a:off x="1932614" y="1433631"/>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Régime obligatoire</a:t>
            </a:r>
          </a:p>
          <a:p>
            <a:r>
              <a:rPr lang="fr-CI" sz="1200" noProof="0">
                <a:latin typeface="Helvetica" panose="020B0604020202020204" pitchFamily="34" charset="0"/>
                <a:ea typeface="Open Sans Light" panose="020B0306030504020204" pitchFamily="34" charset="0"/>
                <a:cs typeface="Helvetica" panose="020B0604020202020204" pitchFamily="34" charset="0"/>
              </a:rPr>
              <a:t>Maladie, maternité, décès et invalidité. Affiliation automatique de tout policier.</a:t>
            </a:r>
            <a:endParaRPr lang="fr-CI" sz="1200" noProof="0">
              <a:latin typeface="Helvetica" panose="020B0604020202020204" pitchFamily="34" charset="0"/>
              <a:cs typeface="Helvetica" panose="020B0604020202020204" pitchFamily="34" charset="0"/>
            </a:endParaRPr>
          </a:p>
        </p:txBody>
      </p:sp>
      <p:sp>
        <p:nvSpPr>
          <p:cNvPr id="46"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Régime et cotisations</a:t>
            </a:r>
          </a:p>
        </p:txBody>
      </p:sp>
      <p:sp>
        <p:nvSpPr>
          <p:cNvPr id="47"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régime obligatoire financé par 5 % du salaire de base</a:t>
            </a:r>
          </a:p>
        </p:txBody>
      </p:sp>
      <p:sp>
        <p:nvSpPr>
          <p:cNvPr id="48"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cotisation se répartit en 3,5 % pour la maladie et 1,5 % pour le décès, sans délai de carence aujourd'hui</a:t>
            </a:r>
          </a:p>
        </p:txBody>
      </p:sp>
    </p:spTree>
    <p:extLst>
      <p:ext uri="{BB962C8B-B14F-4D97-AF65-F5344CB8AC3E}">
        <p14:creationId xmlns:p14="http://schemas.microsoft.com/office/powerpoint/2010/main" val="335583446"/>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Image 22"/>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graphicFrame>
        <p:nvGraphicFramePr>
          <p:cNvPr id="22" name="Group 3"/>
          <p:cNvGraphicFramePr>
            <a:graphicFrameLocks noGrp="1"/>
          </p:cNvGraphicFramePr>
          <p:nvPr>
            <p:extLst>
              <p:ext uri="{D42A27DB-BD31-4B8C-83A1-F6EECF244321}">
                <p14:modId xmlns:p14="http://schemas.microsoft.com/office/powerpoint/2010/main" val="2682352352"/>
              </p:ext>
            </p:extLst>
          </p:nvPr>
        </p:nvGraphicFramePr>
        <p:xfrm>
          <a:off x="601313" y="1484490"/>
          <a:ext cx="11237975" cy="3696916"/>
        </p:xfrm>
        <a:graphic>
          <a:graphicData uri="http://schemas.openxmlformats.org/drawingml/2006/table">
            <a:tbl>
              <a:tblPr/>
              <a:tblGrid>
                <a:gridCol w="3059922">
                  <a:extLst>
                    <a:ext uri="{9D8B030D-6E8A-4147-A177-3AD203B41FA5}">
                      <a16:colId xmlns:a16="http://schemas.microsoft.com/office/drawing/2014/main" val="20000"/>
                    </a:ext>
                  </a:extLst>
                </a:gridCol>
                <a:gridCol w="3059922">
                  <a:extLst>
                    <a:ext uri="{9D8B030D-6E8A-4147-A177-3AD203B41FA5}">
                      <a16:colId xmlns:a16="http://schemas.microsoft.com/office/drawing/2014/main" val="20001"/>
                    </a:ext>
                  </a:extLst>
                </a:gridCol>
                <a:gridCol w="2649375">
                  <a:extLst>
                    <a:ext uri="{9D8B030D-6E8A-4147-A177-3AD203B41FA5}">
                      <a16:colId xmlns:a16="http://schemas.microsoft.com/office/drawing/2014/main" val="20002"/>
                    </a:ext>
                  </a:extLst>
                </a:gridCol>
                <a:gridCol w="2468756">
                  <a:extLst>
                    <a:ext uri="{9D8B030D-6E8A-4147-A177-3AD203B41FA5}">
                      <a16:colId xmlns:a16="http://schemas.microsoft.com/office/drawing/2014/main" val="20003"/>
                    </a:ext>
                  </a:extLst>
                </a:gridCol>
              </a:tblGrid>
              <a:tr h="348916">
                <a:tc>
                  <a:txBody>
                    <a:bodyPr/>
                    <a:lstStyle/>
                    <a:p>
                      <a:pPr marL="0" marR="0" lvl="0" indent="0" algn="l" defTabSz="684213" rtl="0" eaLnBrk="0" fontAlgn="base" latinLnBrk="0" hangingPunct="0">
                        <a:lnSpc>
                          <a:spcPct val="100000"/>
                        </a:lnSpc>
                        <a:spcBef>
                          <a:spcPts val="400"/>
                        </a:spcBef>
                        <a:spcAft>
                          <a:spcPts val="600"/>
                        </a:spcAft>
                        <a:buClrTx/>
                        <a:buSzPct val="25000"/>
                        <a:buFont typeface="Wingdings" pitchFamily="2" charset="2"/>
                        <a:buNone/>
                        <a:tabLst/>
                      </a:pPr>
                      <a:r>
                        <a:rPr kumimoji="0" lang="fr-CI" sz="1200" b="1" u="none" strike="noStrike" cap="none" normalizeH="0" baseline="0" noProof="0">
                          <a:ln>
                            <a:noFill/>
                          </a:ln>
                          <a:solidFill>
                            <a:schemeClr val="tx1"/>
                          </a:solidFill>
                          <a:effectLst/>
                          <a:latin typeface="Helvetica" panose="020B0604020202020204" pitchFamily="34" charset="0"/>
                          <a:cs typeface="Helvetica" panose="020B0604020202020204" pitchFamily="34" charset="0"/>
                        </a:rPr>
                        <a:t>Période</a:t>
                      </a:r>
                      <a:endParaRPr kumimoji="0" lang="fr-CI" sz="1200" b="1" i="0" u="none" strike="noStrike" cap="none" normalizeH="0" baseline="0" noProof="0">
                        <a:ln>
                          <a:noFill/>
                        </a:ln>
                        <a:solidFill>
                          <a:schemeClr val="tx1"/>
                        </a:solidFill>
                        <a:effectLst/>
                        <a:latin typeface="Helvetica" panose="020B0604020202020204" pitchFamily="34" charset="0"/>
                        <a:cs typeface="Helvetica" panose="020B0604020202020204" pitchFamily="34" charset="0"/>
                      </a:endParaRPr>
                    </a:p>
                  </a:txBody>
                  <a:tcPr marT="91440" marB="91440" anchor="ctr" horzOverflow="overflow" marL="91440">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4213" rtl="0" eaLnBrk="0" fontAlgn="base" latinLnBrk="0" hangingPunct="0">
                        <a:lnSpc>
                          <a:spcPct val="100000"/>
                        </a:lnSpc>
                        <a:spcBef>
                          <a:spcPts val="400"/>
                        </a:spcBef>
                        <a:spcAft>
                          <a:spcPts val="600"/>
                        </a:spcAft>
                        <a:buClrTx/>
                        <a:buSzPct val="65000"/>
                        <a:buFont typeface="Wingdings"/>
                        <a:buNone/>
                        <a:tabLst/>
                      </a:pPr>
                      <a:r>
                        <a:rPr kumimoji="0" lang="fr-CI" sz="1200" b="1"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Gestion</a:t>
                      </a:r>
                      <a:endParaRPr kumimoji="0" lang="fr-CI" sz="1200" b="1"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anchor="ctr" horzOverflow="overflow" marL="9144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4213" rtl="0" eaLnBrk="0" fontAlgn="base" latinLnBrk="0" hangingPunct="0">
                        <a:lnSpc>
                          <a:spcPct val="100000"/>
                        </a:lnSpc>
                        <a:spcBef>
                          <a:spcPts val="400"/>
                        </a:spcBef>
                        <a:spcAft>
                          <a:spcPts val="600"/>
                        </a:spcAft>
                        <a:buClrTx/>
                        <a:buSzPct val="65000"/>
                        <a:buFont typeface="Wingdings"/>
                        <a:buNone/>
                        <a:tabLst/>
                      </a:pPr>
                      <a:r>
                        <a:rPr kumimoji="0" lang="fr-CI" sz="1200" b="1"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Capital décès du policier</a:t>
                      </a:r>
                      <a:endParaRPr kumimoji="0" lang="fr-CI" sz="1200" b="1"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anchor="ctr" horzOverflow="overflow" marL="9144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4213" rtl="0" eaLnBrk="0" fontAlgn="base" latinLnBrk="0" hangingPunct="0">
                        <a:lnSpc>
                          <a:spcPct val="100000"/>
                        </a:lnSpc>
                        <a:spcBef>
                          <a:spcPts val="400"/>
                        </a:spcBef>
                        <a:spcAft>
                          <a:spcPts val="600"/>
                        </a:spcAft>
                        <a:buClrTx/>
                        <a:buSzPct val="65000"/>
                        <a:buFont typeface="Wingdings"/>
                        <a:buNone/>
                        <a:tabLst/>
                      </a:pPr>
                      <a:r>
                        <a:rPr kumimoji="0" lang="fr-CI" sz="1200" b="1"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Frais funéraires</a:t>
                      </a:r>
                      <a:endParaRPr kumimoji="0" lang="fr-CI" sz="1200" b="1"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anchor="ctr" horzOverflow="overflow" marL="91440">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58000">
                <a:tc>
                  <a:txBody>
                    <a:bodyPr/>
                    <a:lstStyle/>
                    <a:p>
                      <a:pPr marL="0" marR="0" lvl="0" indent="0" algn="l" defTabSz="684213" rtl="0" eaLnBrk="0" fontAlgn="base" latinLnBrk="0" hangingPunct="0">
                        <a:lnSpc>
                          <a:spcPct val="100000"/>
                        </a:lnSpc>
                        <a:spcBef>
                          <a:spcPts val="300"/>
                        </a:spcBef>
                        <a:spcAft>
                          <a:spcPts val="600"/>
                        </a:spcAft>
                        <a:buClrTx/>
                        <a:buSzPct val="25000"/>
                        <a:buFont typeface="Wingdings" pitchFamily="2" charset="2"/>
                        <a:buNone/>
                        <a:tabLst/>
                      </a:pPr>
                      <a:r>
                        <a:rPr kumimoji="0" lang="fr-CI" sz="1200" b="0" u="none" strike="noStrike" cap="none" normalizeH="0" baseline="0" noProof="0">
                          <a:ln>
                            <a:noFill/>
                          </a:ln>
                          <a:solidFill>
                            <a:schemeClr val="tx1"/>
                          </a:solidFill>
                          <a:effectLst/>
                          <a:latin typeface="Helvetica" panose="020B0604020202020204" pitchFamily="34" charset="0"/>
                          <a:cs typeface="Helvetica" panose="020B0604020202020204" pitchFamily="34" charset="0"/>
                        </a:rPr>
                        <a:t>2001 à novembre 2013</a:t>
                      </a:r>
                      <a:endParaRPr kumimoji="0" lang="fr-CI" sz="1200" b="0" i="0" u="none" strike="noStrike" cap="none" normalizeH="0" baseline="0" noProof="0">
                        <a:ln>
                          <a:noFill/>
                        </a:ln>
                        <a:solidFill>
                          <a:schemeClr val="tx1"/>
                        </a:solidFill>
                        <a:effectLst/>
                        <a:latin typeface="Helvetica" panose="020B0604020202020204" pitchFamily="34" charset="0"/>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100000"/>
                        <a:buNone/>
                        <a:tabLst/>
                        <a:defRPr/>
                      </a:pPr>
                      <a:r>
                        <a:rPr kumimoji="0" lang="fr-CI" sz="1200" u="none" strike="noStrike" kern="1200" cap="none" spc="0" normalizeH="0" baseline="0" noProof="0">
                          <a:ln>
                            <a:noFill/>
                          </a:ln>
                          <a:solidFill>
                            <a:schemeClr val="tx1"/>
                          </a:solidFill>
                          <a:effectLst/>
                          <a:uLnTx/>
                          <a:uFillTx/>
                          <a:latin typeface="Helvetica" panose="020B0604020202020204" pitchFamily="34" charset="0"/>
                          <a:cs typeface="Helvetica" panose="020B0604020202020204" pitchFamily="34" charset="0"/>
                        </a:rPr>
                        <a:t>Interne</a:t>
                      </a: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Forfait par corps : 2 M FCFA (commissaires), 1 M FCFA (sous-officiers), montant des officiers à confirmer</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defRPr/>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Non distincts du capital</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58000">
                <a:tc>
                  <a:txBody>
                    <a:bodyPr/>
                    <a:lstStyle/>
                    <a:p>
                      <a:pPr marL="0" marR="0" lvl="0" indent="0" algn="l" defTabSz="684213" rtl="0" eaLnBrk="0" fontAlgn="base" latinLnBrk="0" hangingPunct="0">
                        <a:lnSpc>
                          <a:spcPct val="100000"/>
                        </a:lnSpc>
                        <a:spcBef>
                          <a:spcPts val="300"/>
                        </a:spcBef>
                        <a:spcAft>
                          <a:spcPts val="600"/>
                        </a:spcAft>
                        <a:buClrTx/>
                        <a:buSzPct val="25000"/>
                        <a:buFont typeface="Wingdings" pitchFamily="2" charset="2"/>
                        <a:buNone/>
                        <a:tabLst/>
                      </a:pPr>
                      <a:r>
                        <a:rPr kumimoji="0" lang="fr-CI" sz="1200" b="0" u="none" strike="noStrike" cap="none" normalizeH="0" baseline="0" noProof="0">
                          <a:ln>
                            <a:noFill/>
                          </a:ln>
                          <a:solidFill>
                            <a:schemeClr val="tx1"/>
                          </a:solidFill>
                          <a:effectLst/>
                          <a:latin typeface="Helvetica" panose="020B0604020202020204" pitchFamily="34" charset="0"/>
                          <a:cs typeface="Helvetica" panose="020B0604020202020204" pitchFamily="34" charset="0"/>
                        </a:rPr>
                        <a:t>Novembre 2013 à 2015</a:t>
                      </a:r>
                      <a:endParaRPr kumimoji="0" lang="fr-CI" sz="1200" b="0" i="0" u="none" strike="noStrike" cap="none" normalizeH="0" baseline="0" noProof="0">
                        <a:ln>
                          <a:noFill/>
                        </a:ln>
                        <a:solidFill>
                          <a:schemeClr val="tx1"/>
                        </a:solidFill>
                        <a:effectLst/>
                        <a:latin typeface="Helvetica" panose="020B0604020202020204" pitchFamily="34" charset="0"/>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53565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100000"/>
                        <a:buNone/>
                        <a:tabLst/>
                        <a:defRPr/>
                      </a:pPr>
                      <a:r>
                        <a:rPr kumimoji="0" lang="fr-CI" sz="1200" u="none" strike="noStrike" kern="1200" cap="none" spc="0" normalizeH="0" baseline="0" noProof="0" dirty="0">
                          <a:ln>
                            <a:noFill/>
                          </a:ln>
                          <a:solidFill>
                            <a:schemeClr val="tx1"/>
                          </a:solidFill>
                          <a:effectLst/>
                          <a:uLnTx/>
                          <a:uFillTx/>
                          <a:latin typeface="Helvetica" panose="020B0604020202020204" pitchFamily="34" charset="0"/>
                          <a:cs typeface="Helvetica" panose="020B0604020202020204" pitchFamily="34" charset="0"/>
                        </a:rPr>
                        <a:t>Externalisée auprès d'un assureur (nom à confirmer)</a:t>
                      </a: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53565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15 fois le salaire de base</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53565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defRPr/>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Ancien forfait par corps</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53565A"/>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558000">
                <a:tc>
                  <a:txBody>
                    <a:bodyPr/>
                    <a:lstStyle/>
                    <a:p>
                      <a:pPr marL="0" marR="0" lvl="0" indent="0" algn="l" defTabSz="684213" rtl="0" eaLnBrk="0" fontAlgn="base" latinLnBrk="0" hangingPunct="0">
                        <a:lnSpc>
                          <a:spcPct val="100000"/>
                        </a:lnSpc>
                        <a:spcBef>
                          <a:spcPts val="300"/>
                        </a:spcBef>
                        <a:spcAft>
                          <a:spcPts val="600"/>
                        </a:spcAft>
                        <a:buClrTx/>
                        <a:buSzPct val="25000"/>
                        <a:buFont typeface="Wingdings" pitchFamily="2" charset="2"/>
                        <a:buNone/>
                        <a:tabLst/>
                      </a:pPr>
                      <a:r>
                        <a:rPr kumimoji="0" lang="fr-CI" sz="1200" b="0" u="none" strike="noStrike" cap="none" normalizeH="0" baseline="0" noProof="0">
                          <a:ln>
                            <a:noFill/>
                          </a:ln>
                          <a:solidFill>
                            <a:schemeClr val="tx1"/>
                          </a:solidFill>
                          <a:effectLst/>
                          <a:latin typeface="Helvetica" panose="020B0604020202020204" pitchFamily="34" charset="0"/>
                          <a:cs typeface="Helvetica" panose="020B0604020202020204" pitchFamily="34" charset="0"/>
                        </a:rPr>
                        <a:t>2015 à 2020</a:t>
                      </a:r>
                      <a:endParaRPr kumimoji="0" lang="fr-CI" sz="1200" b="0" i="0" u="none" strike="noStrike" cap="none" normalizeH="0" baseline="0" noProof="0">
                        <a:ln>
                          <a:noFill/>
                        </a:ln>
                        <a:solidFill>
                          <a:schemeClr val="tx1"/>
                        </a:solidFill>
                        <a:effectLst/>
                        <a:latin typeface="Helvetica" panose="020B0604020202020204" pitchFamily="34" charset="0"/>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3565A"/>
                      </a:solidFill>
                      <a:prstDash val="solid"/>
                      <a:round/>
                      <a:headEnd type="none" w="med" len="med"/>
                      <a:tailEnd type="none" w="med" len="med"/>
                    </a:lnT>
                    <a:lnB w="6350" cap="flat" cmpd="sng" algn="ctr">
                      <a:solidFill>
                        <a:srgbClr val="53565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100000"/>
                        <a:buNone/>
                        <a:tabLst/>
                        <a:defRPr/>
                      </a:pPr>
                      <a:r>
                        <a:rPr kumimoji="0" lang="fr-CI" sz="1200" u="none" strike="noStrike" kern="1200" cap="none" spc="0" normalizeH="0" baseline="0" noProof="0">
                          <a:ln>
                            <a:noFill/>
                          </a:ln>
                          <a:solidFill>
                            <a:schemeClr val="tx1"/>
                          </a:solidFill>
                          <a:effectLst/>
                          <a:uLnTx/>
                          <a:uFillTx/>
                          <a:latin typeface="Helvetica" panose="020B0604020202020204" pitchFamily="34" charset="0"/>
                          <a:cs typeface="Helvetica" panose="020B0604020202020204" pitchFamily="34" charset="0"/>
                        </a:rPr>
                        <a:t>Externalisée après appel à la concurrence (assureur à confirmer)</a:t>
                      </a: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3565A"/>
                      </a:solidFill>
                      <a:prstDash val="solid"/>
                      <a:round/>
                      <a:headEnd type="none" w="med" len="med"/>
                      <a:tailEnd type="none" w="med" len="med"/>
                    </a:lnT>
                    <a:lnB w="6350" cap="flat" cmpd="sng" algn="ctr">
                      <a:solidFill>
                        <a:srgbClr val="53565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13 fois le salaire de base, pour ne pas consommer toute la cotisation décès</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3565A"/>
                      </a:solidFill>
                      <a:prstDash val="solid"/>
                      <a:round/>
                      <a:headEnd type="none" w="med" len="med"/>
                      <a:tailEnd type="none" w="med" len="med"/>
                    </a:lnT>
                    <a:lnB w="6350" cap="flat" cmpd="sng" algn="ctr">
                      <a:solidFill>
                        <a:srgbClr val="53565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defRPr/>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Barème par grade, de 1 M à 3 M FCFA, puis 4 M FCFA (à confirmer)</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3565A"/>
                      </a:solidFill>
                      <a:prstDash val="solid"/>
                      <a:round/>
                      <a:headEnd type="none" w="med" len="med"/>
                      <a:tailEnd type="none" w="med" len="med"/>
                    </a:lnT>
                    <a:lnB w="6350" cap="flat" cmpd="sng" algn="ctr">
                      <a:solidFill>
                        <a:srgbClr val="53565A"/>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558000">
                <a:tc>
                  <a:txBody>
                    <a:bodyPr/>
                    <a:lstStyle/>
                    <a:p>
                      <a:pPr marL="0" marR="0" lvl="0" indent="0" algn="l" defTabSz="684213" rtl="0" eaLnBrk="0" fontAlgn="base" latinLnBrk="0" hangingPunct="0">
                        <a:lnSpc>
                          <a:spcPct val="100000"/>
                        </a:lnSpc>
                        <a:spcBef>
                          <a:spcPts val="300"/>
                        </a:spcBef>
                        <a:spcAft>
                          <a:spcPts val="600"/>
                        </a:spcAft>
                        <a:buClrTx/>
                        <a:buSzPct val="25000"/>
                        <a:buFont typeface="Wingdings" pitchFamily="2" charset="2"/>
                        <a:buNone/>
                        <a:tabLst/>
                      </a:pPr>
                      <a:r>
                        <a:rPr kumimoji="0" lang="fr-CI" sz="1200" b="0" u="none" strike="noStrike" cap="none" normalizeH="0" baseline="0" noProof="0">
                          <a:ln>
                            <a:noFill/>
                          </a:ln>
                          <a:solidFill>
                            <a:schemeClr val="tx1"/>
                          </a:solidFill>
                          <a:effectLst/>
                          <a:latin typeface="Helvetica" panose="020B0604020202020204" pitchFamily="34" charset="0"/>
                          <a:cs typeface="Helvetica" panose="020B0604020202020204" pitchFamily="34" charset="0"/>
                        </a:rPr>
                        <a:t>2021 à 2023</a:t>
                      </a:r>
                      <a:endParaRPr kumimoji="0" lang="fr-CI" sz="1200" b="0" i="0" u="none" strike="noStrike" cap="none" normalizeH="0" baseline="0" noProof="0">
                        <a:ln>
                          <a:noFill/>
                        </a:ln>
                        <a:solidFill>
                          <a:schemeClr val="tx1"/>
                        </a:solidFill>
                        <a:effectLst/>
                        <a:latin typeface="Helvetica" panose="020B0604020202020204" pitchFamily="34" charset="0"/>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3565A"/>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100000"/>
                        <a:buNone/>
                        <a:tabLst/>
                        <a:defRPr/>
                      </a:pPr>
                      <a:r>
                        <a:rPr kumimoji="0" lang="fr-CI" sz="1200" u="none" strike="noStrike" kern="1200" cap="none" spc="0" normalizeH="0" baseline="0" noProof="0">
                          <a:ln>
                            <a:noFill/>
                          </a:ln>
                          <a:solidFill>
                            <a:schemeClr val="tx1"/>
                          </a:solidFill>
                          <a:effectLst/>
                          <a:uLnTx/>
                          <a:uFillTx/>
                          <a:latin typeface="Helvetica" panose="020B0604020202020204" pitchFamily="34" charset="0"/>
                          <a:cs typeface="Helvetica" panose="020B0604020202020204" pitchFamily="34" charset="0"/>
                        </a:rPr>
                        <a:t>Retour en gestion interne</a:t>
                      </a: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3565A"/>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Retour à l'ancien forfait par corps</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3565A"/>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defRPr/>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Supprimés</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3565A"/>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558000">
                <a:tc>
                  <a:txBody>
                    <a:bodyPr/>
                    <a:lstStyle/>
                    <a:p>
                      <a:pPr marL="0" marR="0" lvl="0" indent="0" algn="l" defTabSz="684213" rtl="0" eaLnBrk="0" fontAlgn="base" latinLnBrk="0" hangingPunct="0">
                        <a:lnSpc>
                          <a:spcPct val="100000"/>
                        </a:lnSpc>
                        <a:spcBef>
                          <a:spcPts val="300"/>
                        </a:spcBef>
                        <a:spcAft>
                          <a:spcPts val="600"/>
                        </a:spcAft>
                        <a:buClrTx/>
                        <a:buSzPct val="25000"/>
                        <a:buFont typeface="Wingdings" pitchFamily="2" charset="2"/>
                        <a:buNone/>
                        <a:tabLst/>
                      </a:pPr>
                      <a:r>
                        <a:rPr kumimoji="0" lang="fr-CI" sz="1200" b="0" u="none" strike="noStrike" cap="none" normalizeH="0" baseline="0" noProof="0">
                          <a:ln>
                            <a:noFill/>
                          </a:ln>
                          <a:solidFill>
                            <a:schemeClr val="tx1"/>
                          </a:solidFill>
                          <a:effectLst/>
                          <a:latin typeface="Helvetica" panose="020B0604020202020204" pitchFamily="34" charset="0"/>
                          <a:cs typeface="Helvetica" panose="020B0604020202020204" pitchFamily="34" charset="0"/>
                        </a:rPr>
                        <a:t>Depuis 2023</a:t>
                      </a:r>
                      <a:endParaRPr kumimoji="0" lang="fr-CI" sz="1200" b="0" i="0" u="none" strike="noStrike" cap="none" normalizeH="0" baseline="0" noProof="0">
                        <a:ln>
                          <a:noFill/>
                        </a:ln>
                        <a:solidFill>
                          <a:schemeClr val="tx1"/>
                        </a:solidFill>
                        <a:effectLst/>
                        <a:latin typeface="Helvetica" panose="020B0604020202020204" pitchFamily="34" charset="0"/>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100000"/>
                        <a:buNone/>
                        <a:tabLst/>
                        <a:defRPr/>
                      </a:pPr>
                      <a:r>
                        <a:rPr kumimoji="0" lang="fr-CI" sz="1200" u="none" strike="noStrike" kern="1200" cap="none" spc="0" normalizeH="0" baseline="0" noProof="0">
                          <a:ln>
                            <a:noFill/>
                          </a:ln>
                          <a:solidFill>
                            <a:schemeClr val="tx1"/>
                          </a:solidFill>
                          <a:effectLst/>
                          <a:uLnTx/>
                          <a:uFillTx/>
                          <a:latin typeface="Helvetica" panose="020B0604020202020204" pitchFamily="34" charset="0"/>
                          <a:cs typeface="Helvetica" panose="020B0604020202020204" pitchFamily="34" charset="0"/>
                        </a:rPr>
                        <a:t>Interne</a:t>
                      </a: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Ancien forfait par corps</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defRPr/>
                      </a:pPr>
                      <a:r>
                        <a:rPr kumimoji="0" lang="fr-CI" sz="1200" u="none" strike="noStrike" kern="1200" cap="none" normalizeH="0" baseline="0" noProof="0" dirty="0">
                          <a:ln>
                            <a:noFill/>
                          </a:ln>
                          <a:solidFill>
                            <a:schemeClr val="tx1"/>
                          </a:solidFill>
                          <a:effectLst/>
                          <a:latin typeface="Helvetica" panose="020B0604020202020204" pitchFamily="34" charset="0"/>
                          <a:cs typeface="Helvetica" panose="020B0604020202020204" pitchFamily="34" charset="0"/>
                        </a:rPr>
                        <a:t>Forfait unique de 300 000 FCFA</a:t>
                      </a:r>
                      <a:endParaRPr kumimoji="0" lang="fr-CI" sz="1200" b="0" i="0" u="none" strike="noStrike" kern="1200" cap="none" normalizeH="0" baseline="0" noProof="0" dirty="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558000">
                <a:tc>
                  <a:txBody>
                    <a:bodyPr/>
                    <a:lstStyle/>
                    <a:p>
                      <a:pPr marL="0" marR="0" lvl="0" indent="0" algn="l" defTabSz="684213" rtl="0" eaLnBrk="0" fontAlgn="base" latinLnBrk="0" hangingPunct="0">
                        <a:lnSpc>
                          <a:spcPct val="100000"/>
                        </a:lnSpc>
                        <a:spcBef>
                          <a:spcPts val="300"/>
                        </a:spcBef>
                        <a:spcAft>
                          <a:spcPts val="600"/>
                        </a:spcAft>
                        <a:buClrTx/>
                        <a:buSzPct val="25000"/>
                        <a:buFont typeface="Wingdings" pitchFamily="2" charset="2"/>
                        <a:buNone/>
                        <a:tabLst/>
                      </a:pPr>
                      <a:r>
                        <a:rPr kumimoji="0" lang="fr-CI" sz="1200" b="0" u="none" strike="noStrike" cap="none" normalizeH="0" baseline="0" noProof="0">
                          <a:ln>
                            <a:noFill/>
                          </a:ln>
                          <a:solidFill>
                            <a:schemeClr val="tx1"/>
                          </a:solidFill>
                          <a:effectLst/>
                          <a:latin typeface="Helvetica" panose="020B0604020202020204" pitchFamily="34" charset="0"/>
                          <a:cs typeface="Helvetica" panose="020B0604020202020204" pitchFamily="34" charset="0"/>
                        </a:rPr>
                        <a:t>2026</a:t>
                      </a:r>
                      <a:endParaRPr kumimoji="0" lang="fr-CI" sz="1200" b="0" i="0" u="none" strike="noStrike" cap="none" normalizeH="0" baseline="0" noProof="0">
                        <a:ln>
                          <a:noFill/>
                        </a:ln>
                        <a:solidFill>
                          <a:schemeClr val="tx1"/>
                        </a:solidFill>
                        <a:effectLst/>
                        <a:latin typeface="Helvetica" panose="020B0604020202020204" pitchFamily="34" charset="0"/>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100000"/>
                        <a:buNone/>
                        <a:tabLst/>
                        <a:defRPr/>
                      </a:pPr>
                      <a:r>
                        <a:rPr kumimoji="0" lang="fr-CI" sz="1200" u="none" strike="noStrike" kern="1200" cap="none" spc="0" normalizeH="0" baseline="0" noProof="0">
                          <a:ln>
                            <a:noFill/>
                          </a:ln>
                          <a:solidFill>
                            <a:schemeClr val="tx1"/>
                          </a:solidFill>
                          <a:effectLst/>
                          <a:uLnTx/>
                          <a:uFillTx/>
                          <a:latin typeface="Helvetica" panose="020B0604020202020204" pitchFamily="34" charset="0"/>
                          <a:cs typeface="Helvetica" panose="020B0604020202020204" pitchFamily="34" charset="0"/>
                        </a:rPr>
                        <a:t>Interne, nouvelle direction</a:t>
                      </a: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Revalorisation à l'étude (trois options)</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defRPr/>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À l'étude</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24" name="Rectangle 23"/>
          <p:cNvSpPr/>
          <p:nvPr/>
        </p:nvSpPr>
        <p:spPr>
          <a:xfrm>
            <a:off x="586564" y="1456893"/>
            <a:ext cx="11237975" cy="45719"/>
          </a:xfrm>
          <a:prstGeom prst="rect">
            <a:avLst/>
          </a:prstGeom>
          <a:solidFill>
            <a:srgbClr val="112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sp>
        <p:nvSpPr>
          <p:cNvPr id="2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Historique des prestations décès</a:t>
            </a:r>
          </a:p>
        </p:txBody>
      </p:sp>
      <p:sp>
        <p:nvSpPr>
          <p:cNvPr id="2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règles du capital décès ont changé cinq fois depuis le lancement du fonds</a:t>
            </a:r>
          </a:p>
        </p:txBody>
      </p:sp>
      <p:sp>
        <p:nvSpPr>
          <p:cNvPr id="2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capital est passé d'un forfait par corps à un multiple du salaire de base, puis est revenu au forfait en 2021</a:t>
            </a:r>
          </a:p>
        </p:txBody>
      </p:sp>
      <p:sp>
        <p:nvSpPr>
          <p:cNvPr id="2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16/10/2026. Montants cités de mémoire par l'interlocuteur, à vérifier sur les barèmes et décisions.</a:t>
            </a:r>
          </a:p>
        </p:txBody>
      </p:sp>
    </p:spTree>
    <p:extLst>
      <p:ext uri="{BB962C8B-B14F-4D97-AF65-F5344CB8AC3E}">
        <p14:creationId xmlns:p14="http://schemas.microsoft.com/office/powerpoint/2010/main" val="280706062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Image 22"/>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graphicFrame>
        <p:nvGraphicFramePr>
          <p:cNvPr id="22" name="Group 3"/>
          <p:cNvGraphicFramePr>
            <a:graphicFrameLocks noGrp="1"/>
          </p:cNvGraphicFramePr>
          <p:nvPr>
            <p:extLst>
              <p:ext uri="{D42A27DB-BD31-4B8C-83A1-F6EECF244321}">
                <p14:modId xmlns:p14="http://schemas.microsoft.com/office/powerpoint/2010/main" val="2682352352"/>
              </p:ext>
            </p:extLst>
          </p:nvPr>
        </p:nvGraphicFramePr>
        <p:xfrm>
          <a:off x="601313" y="1484490"/>
          <a:ext cx="11237975" cy="3480916"/>
        </p:xfrm>
        <a:graphic>
          <a:graphicData uri="http://schemas.openxmlformats.org/drawingml/2006/table">
            <a:tbl>
              <a:tblPr/>
              <a:tblGrid>
                <a:gridCol w="3059922">
                  <a:extLst>
                    <a:ext uri="{9D8B030D-6E8A-4147-A177-3AD203B41FA5}">
                      <a16:colId xmlns:a16="http://schemas.microsoft.com/office/drawing/2014/main" val="20000"/>
                    </a:ext>
                  </a:extLst>
                </a:gridCol>
                <a:gridCol w="3059922">
                  <a:extLst>
                    <a:ext uri="{9D8B030D-6E8A-4147-A177-3AD203B41FA5}">
                      <a16:colId xmlns:a16="http://schemas.microsoft.com/office/drawing/2014/main" val="20001"/>
                    </a:ext>
                  </a:extLst>
                </a:gridCol>
                <a:gridCol w="2649375">
                  <a:extLst>
                    <a:ext uri="{9D8B030D-6E8A-4147-A177-3AD203B41FA5}">
                      <a16:colId xmlns:a16="http://schemas.microsoft.com/office/drawing/2014/main" val="20002"/>
                    </a:ext>
                  </a:extLst>
                </a:gridCol>
                <a:gridCol w="2468756">
                  <a:extLst>
                    <a:ext uri="{9D8B030D-6E8A-4147-A177-3AD203B41FA5}">
                      <a16:colId xmlns:a16="http://schemas.microsoft.com/office/drawing/2014/main" val="20003"/>
                    </a:ext>
                  </a:extLst>
                </a:gridCol>
              </a:tblGrid>
              <a:tr h="348916">
                <a:tc>
                  <a:txBody>
                    <a:bodyPr/>
                    <a:lstStyle/>
                    <a:p>
                      <a:pPr marL="0" marR="0" lvl="0" indent="0" algn="l" defTabSz="684213" rtl="0" eaLnBrk="0" fontAlgn="base" latinLnBrk="0" hangingPunct="0">
                        <a:lnSpc>
                          <a:spcPct val="100000"/>
                        </a:lnSpc>
                        <a:spcBef>
                          <a:spcPts val="400"/>
                        </a:spcBef>
                        <a:spcAft>
                          <a:spcPts val="600"/>
                        </a:spcAft>
                        <a:buClrTx/>
                        <a:buSzPct val="25000"/>
                        <a:buFont typeface="Wingdings" pitchFamily="2" charset="2"/>
                        <a:buNone/>
                        <a:tabLst/>
                      </a:pPr>
                      <a:r>
                        <a:rPr kumimoji="0" lang="fr-CI" sz="1200" b="1" u="none" strike="noStrike" cap="none" normalizeH="0" baseline="0" noProof="0">
                          <a:ln>
                            <a:noFill/>
                          </a:ln>
                          <a:solidFill>
                            <a:schemeClr val="tx1"/>
                          </a:solidFill>
                          <a:effectLst/>
                          <a:latin typeface="Helvetica" panose="020B0604020202020204" pitchFamily="34" charset="0"/>
                          <a:cs typeface="Helvetica" panose="020B0604020202020204" pitchFamily="34" charset="0"/>
                        </a:rPr>
                        <a:t>Indicateur</a:t>
                      </a:r>
                      <a:endParaRPr kumimoji="0" lang="fr-CI" sz="1200" b="1" i="0" u="none" strike="noStrike" cap="none" normalizeH="0" baseline="0" noProof="0">
                        <a:ln>
                          <a:noFill/>
                        </a:ln>
                        <a:solidFill>
                          <a:schemeClr val="tx1"/>
                        </a:solidFill>
                        <a:effectLst/>
                        <a:latin typeface="Helvetica" panose="020B0604020202020204" pitchFamily="34" charset="0"/>
                        <a:cs typeface="Helvetica" panose="020B0604020202020204" pitchFamily="34" charset="0"/>
                      </a:endParaRPr>
                    </a:p>
                  </a:txBody>
                  <a:tcPr marT="91440" marB="91440" anchor="ctr" horzOverflow="overflow" marL="91440">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4213" rtl="0" eaLnBrk="0" fontAlgn="base" latinLnBrk="0" hangingPunct="0">
                        <a:lnSpc>
                          <a:spcPct val="100000"/>
                        </a:lnSpc>
                        <a:spcBef>
                          <a:spcPts val="400"/>
                        </a:spcBef>
                        <a:spcAft>
                          <a:spcPts val="600"/>
                        </a:spcAft>
                        <a:buClrTx/>
                        <a:buSzPct val="65000"/>
                        <a:buFont typeface="Wingdings"/>
                        <a:buNone/>
                        <a:tabLst/>
                      </a:pPr>
                      <a:r>
                        <a:rPr kumimoji="0" lang="fr-CI" sz="1200" b="1"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Valeur citée</a:t>
                      </a:r>
                      <a:endParaRPr kumimoji="0" lang="fr-CI" sz="1200" b="1"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anchor="ctr" horzOverflow="overflow" marL="9144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4213" rtl="0" eaLnBrk="0" fontAlgn="base" latinLnBrk="0" hangingPunct="0">
                        <a:lnSpc>
                          <a:spcPct val="100000"/>
                        </a:lnSpc>
                        <a:spcBef>
                          <a:spcPts val="400"/>
                        </a:spcBef>
                        <a:spcAft>
                          <a:spcPts val="600"/>
                        </a:spcAft>
                        <a:buClrTx/>
                        <a:buSzPct val="65000"/>
                        <a:buFont typeface="Wingdings"/>
                        <a:buNone/>
                        <a:tabLst/>
                      </a:pPr>
                      <a:r>
                        <a:rPr kumimoji="0" lang="fr-CI" sz="1200" b="1"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Commentaire de l'interlocuteur</a:t>
                      </a:r>
                      <a:endParaRPr kumimoji="0" lang="fr-CI" sz="1200" b="1"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anchor="ctr" horzOverflow="overflow" marL="9144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4213" rtl="0" eaLnBrk="0" fontAlgn="base" latinLnBrk="0" hangingPunct="0">
                        <a:lnSpc>
                          <a:spcPct val="100000"/>
                        </a:lnSpc>
                        <a:spcBef>
                          <a:spcPts val="400"/>
                        </a:spcBef>
                        <a:spcAft>
                          <a:spcPts val="600"/>
                        </a:spcAft>
                        <a:buClrTx/>
                        <a:buSzPct val="65000"/>
                        <a:buFont typeface="Wingdings"/>
                        <a:buNone/>
                        <a:tabLst/>
                      </a:pPr>
                      <a:r>
                        <a:rPr kumimoji="0" lang="fr-CI" sz="1200" b="1"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Vérification prévue</a:t>
                      </a:r>
                      <a:endParaRPr kumimoji="0" lang="fr-CI" sz="1200" b="1"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anchor="ctr" horzOverflow="overflow" marL="91440">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22000">
                <a:tc>
                  <a:txBody>
                    <a:bodyPr/>
                    <a:lstStyle/>
                    <a:p>
                      <a:pPr marL="0" marR="0" lvl="0" indent="0" algn="l" defTabSz="684213" rtl="0" eaLnBrk="0" fontAlgn="base" latinLnBrk="0" hangingPunct="0">
                        <a:lnSpc>
                          <a:spcPct val="100000"/>
                        </a:lnSpc>
                        <a:spcBef>
                          <a:spcPts val="300"/>
                        </a:spcBef>
                        <a:spcAft>
                          <a:spcPts val="600"/>
                        </a:spcAft>
                        <a:buClrTx/>
                        <a:buSzPct val="25000"/>
                        <a:buFont typeface="Wingdings" pitchFamily="2" charset="2"/>
                        <a:buNone/>
                        <a:tabLst/>
                      </a:pPr>
                      <a:r>
                        <a:rPr kumimoji="0" lang="fr-CI" sz="1200" b="0" u="none" strike="noStrike" cap="none" normalizeH="0" baseline="0" noProof="0">
                          <a:ln>
                            <a:noFill/>
                          </a:ln>
                          <a:solidFill>
                            <a:schemeClr val="tx1"/>
                          </a:solidFill>
                          <a:effectLst/>
                          <a:latin typeface="Helvetica" panose="020B0604020202020204" pitchFamily="34" charset="0"/>
                          <a:cs typeface="Helvetica" panose="020B0604020202020204" pitchFamily="34" charset="0"/>
                        </a:rPr>
                        <a:t>Sinistralité 2019</a:t>
                      </a:r>
                      <a:endParaRPr kumimoji="0" lang="fr-CI" sz="1200" b="0" i="0" u="none" strike="noStrike" cap="none" normalizeH="0" baseline="0" noProof="0">
                        <a:ln>
                          <a:noFill/>
                        </a:ln>
                        <a:solidFill>
                          <a:schemeClr val="tx1"/>
                        </a:solidFill>
                        <a:effectLst/>
                        <a:latin typeface="Helvetica" panose="020B0604020202020204" pitchFamily="34" charset="0"/>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100000"/>
                        <a:buNone/>
                        <a:tabLst/>
                        <a:defRPr/>
                      </a:pPr>
                      <a:r>
                        <a:rPr kumimoji="0" lang="fr-CI" sz="1200" u="none" strike="noStrike" kern="1200" cap="none" spc="0" normalizeH="0" baseline="0" noProof="0">
                          <a:ln>
                            <a:noFill/>
                          </a:ln>
                          <a:solidFill>
                            <a:schemeClr val="tx1"/>
                          </a:solidFill>
                          <a:effectLst/>
                          <a:uLnTx/>
                          <a:uFillTx/>
                          <a:latin typeface="Helvetica" panose="020B0604020202020204" pitchFamily="34" charset="0"/>
                          <a:cs typeface="Helvetica" panose="020B0604020202020204" pitchFamily="34" charset="0"/>
                        </a:rPr>
                        <a:t>75 à 76 %</a:t>
                      </a: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Période de gestion externalisée (13 fois le salaire de base)</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defRPr/>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Recalcul sur les données 2019</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22000">
                <a:tc>
                  <a:txBody>
                    <a:bodyPr/>
                    <a:lstStyle/>
                    <a:p>
                      <a:pPr marL="0" marR="0" lvl="0" indent="0" algn="l" defTabSz="684213" rtl="0" eaLnBrk="0" fontAlgn="base" latinLnBrk="0" hangingPunct="0">
                        <a:lnSpc>
                          <a:spcPct val="100000"/>
                        </a:lnSpc>
                        <a:spcBef>
                          <a:spcPts val="300"/>
                        </a:spcBef>
                        <a:spcAft>
                          <a:spcPts val="600"/>
                        </a:spcAft>
                        <a:buClrTx/>
                        <a:buSzPct val="25000"/>
                        <a:buFont typeface="Wingdings" pitchFamily="2" charset="2"/>
                        <a:buNone/>
                        <a:tabLst/>
                      </a:pPr>
                      <a:r>
                        <a:rPr kumimoji="0" lang="fr-CI" sz="1200" b="0" u="none" strike="noStrike" cap="none" normalizeH="0" baseline="0" noProof="0">
                          <a:ln>
                            <a:noFill/>
                          </a:ln>
                          <a:solidFill>
                            <a:schemeClr val="tx1"/>
                          </a:solidFill>
                          <a:effectLst/>
                          <a:latin typeface="Helvetica" panose="020B0604020202020204" pitchFamily="34" charset="0"/>
                          <a:cs typeface="Helvetica" panose="020B0604020202020204" pitchFamily="34" charset="0"/>
                        </a:rPr>
                        <a:t>Sinistralité 2021</a:t>
                      </a:r>
                      <a:endParaRPr kumimoji="0" lang="fr-CI" sz="1200" b="0" i="0" u="none" strike="noStrike" cap="none" normalizeH="0" baseline="0" noProof="0">
                        <a:ln>
                          <a:noFill/>
                        </a:ln>
                        <a:solidFill>
                          <a:schemeClr val="tx1"/>
                        </a:solidFill>
                        <a:effectLst/>
                        <a:latin typeface="Helvetica" panose="020B0604020202020204" pitchFamily="34" charset="0"/>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53565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100000"/>
                        <a:buNone/>
                        <a:tabLst/>
                        <a:defRPr/>
                      </a:pPr>
                      <a:r>
                        <a:rPr kumimoji="0" lang="fr-CI" sz="1200" u="none" strike="noStrike" kern="1200" cap="none" spc="0" normalizeH="0" baseline="0" noProof="0" dirty="0">
                          <a:ln>
                            <a:noFill/>
                          </a:ln>
                          <a:solidFill>
                            <a:schemeClr val="tx1"/>
                          </a:solidFill>
                          <a:effectLst/>
                          <a:uLnTx/>
                          <a:uFillTx/>
                          <a:latin typeface="Helvetica" panose="020B0604020202020204" pitchFamily="34" charset="0"/>
                          <a:cs typeface="Helvetica" panose="020B0604020202020204" pitchFamily="34" charset="0"/>
                        </a:rPr>
                        <a:t>21 %</a:t>
                      </a: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53565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Capitaux jugés trop bas après le retour à l'ancien forfait</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53565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defRPr/>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Recalcul sur les données 2021</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53565A"/>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522000">
                <a:tc>
                  <a:txBody>
                    <a:bodyPr/>
                    <a:lstStyle/>
                    <a:p>
                      <a:pPr marL="0" marR="0" lvl="0" indent="0" algn="l" defTabSz="684213" rtl="0" eaLnBrk="0" fontAlgn="base" latinLnBrk="0" hangingPunct="0">
                        <a:lnSpc>
                          <a:spcPct val="100000"/>
                        </a:lnSpc>
                        <a:spcBef>
                          <a:spcPts val="300"/>
                        </a:spcBef>
                        <a:spcAft>
                          <a:spcPts val="600"/>
                        </a:spcAft>
                        <a:buClrTx/>
                        <a:buSzPct val="25000"/>
                        <a:buFont typeface="Wingdings" pitchFamily="2" charset="2"/>
                        <a:buNone/>
                        <a:tabLst/>
                      </a:pPr>
                      <a:r>
                        <a:rPr kumimoji="0" lang="fr-CI" sz="1200" b="0" u="none" strike="noStrike" cap="none" normalizeH="0" baseline="0" noProof="0">
                          <a:ln>
                            <a:noFill/>
                          </a:ln>
                          <a:solidFill>
                            <a:schemeClr val="tx1"/>
                          </a:solidFill>
                          <a:effectLst/>
                          <a:latin typeface="Helvetica" panose="020B0604020202020204" pitchFamily="34" charset="0"/>
                          <a:cs typeface="Helvetica" panose="020B0604020202020204" pitchFamily="34" charset="0"/>
                        </a:rPr>
                        <a:t>Sinistralité juin 2026</a:t>
                      </a:r>
                      <a:endParaRPr kumimoji="0" lang="fr-CI" sz="1200" b="0" i="0" u="none" strike="noStrike" cap="none" normalizeH="0" baseline="0" noProof="0">
                        <a:ln>
                          <a:noFill/>
                        </a:ln>
                        <a:solidFill>
                          <a:schemeClr val="tx1"/>
                        </a:solidFill>
                        <a:effectLst/>
                        <a:latin typeface="Helvetica" panose="020B0604020202020204" pitchFamily="34" charset="0"/>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3565A"/>
                      </a:solidFill>
                      <a:prstDash val="solid"/>
                      <a:round/>
                      <a:headEnd type="none" w="med" len="med"/>
                      <a:tailEnd type="none" w="med" len="med"/>
                    </a:lnT>
                    <a:lnB w="6350" cap="flat" cmpd="sng" algn="ctr">
                      <a:solidFill>
                        <a:srgbClr val="53565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100000"/>
                        <a:buNone/>
                        <a:tabLst/>
                        <a:defRPr/>
                      </a:pPr>
                      <a:r>
                        <a:rPr kumimoji="0" lang="fr-CI" sz="1200" u="none" strike="noStrike" kern="1200" cap="none" spc="0" normalizeH="0" baseline="0" noProof="0">
                          <a:ln>
                            <a:noFill/>
                          </a:ln>
                          <a:solidFill>
                            <a:schemeClr val="tx1"/>
                          </a:solidFill>
                          <a:effectLst/>
                          <a:uLnTx/>
                          <a:uFillTx/>
                          <a:latin typeface="Helvetica" panose="020B0604020202020204" pitchFamily="34" charset="0"/>
                          <a:cs typeface="Helvetica" panose="020B0604020202020204" pitchFamily="34" charset="0"/>
                        </a:rPr>
                        <a:t>113 % (simulation)</a:t>
                      </a: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3565A"/>
                      </a:solidFill>
                      <a:prstDash val="solid"/>
                      <a:round/>
                      <a:headEnd type="none" w="med" len="med"/>
                      <a:tailEnd type="none" w="med" len="med"/>
                    </a:lnT>
                    <a:lnB w="6350" cap="flat" cmpd="sng" algn="ctr">
                      <a:solidFill>
                        <a:srgbClr val="53565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Calculée sur les seuls sinistres de 2026</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3565A"/>
                      </a:solidFill>
                      <a:prstDash val="solid"/>
                      <a:round/>
                      <a:headEnd type="none" w="med" len="med"/>
                      <a:tailEnd type="none" w="med" len="med"/>
                    </a:lnT>
                    <a:lnB w="6350" cap="flat" cmpd="sng" algn="ctr">
                      <a:solidFill>
                        <a:srgbClr val="53565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defRPr/>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Recalcul par année de survenance</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3565A"/>
                      </a:solidFill>
                      <a:prstDash val="solid"/>
                      <a:round/>
                      <a:headEnd type="none" w="med" len="med"/>
                      <a:tailEnd type="none" w="med" len="med"/>
                    </a:lnT>
                    <a:lnB w="6350" cap="flat" cmpd="sng" algn="ctr">
                      <a:solidFill>
                        <a:srgbClr val="53565A"/>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522000">
                <a:tc>
                  <a:txBody>
                    <a:bodyPr/>
                    <a:lstStyle/>
                    <a:p>
                      <a:pPr marL="0" marR="0" lvl="0" indent="0" algn="l" defTabSz="684213" rtl="0" eaLnBrk="0" fontAlgn="base" latinLnBrk="0" hangingPunct="0">
                        <a:lnSpc>
                          <a:spcPct val="100000"/>
                        </a:lnSpc>
                        <a:spcBef>
                          <a:spcPts val="300"/>
                        </a:spcBef>
                        <a:spcAft>
                          <a:spcPts val="600"/>
                        </a:spcAft>
                        <a:buClrTx/>
                        <a:buSzPct val="25000"/>
                        <a:buFont typeface="Wingdings" pitchFamily="2" charset="2"/>
                        <a:buNone/>
                        <a:tabLst/>
                      </a:pPr>
                      <a:r>
                        <a:rPr kumimoji="0" lang="fr-CI" sz="1200" b="0" u="none" strike="noStrike" cap="none" normalizeH="0" baseline="0" noProof="0">
                          <a:ln>
                            <a:noFill/>
                          </a:ln>
                          <a:solidFill>
                            <a:schemeClr val="tx1"/>
                          </a:solidFill>
                          <a:effectLst/>
                          <a:latin typeface="Helvetica" panose="020B0604020202020204" pitchFamily="34" charset="0"/>
                          <a:cs typeface="Helvetica" panose="020B0604020202020204" pitchFamily="34" charset="0"/>
                        </a:rPr>
                        <a:t>Fourchette visée</a:t>
                      </a:r>
                      <a:endParaRPr kumimoji="0" lang="fr-CI" sz="1200" b="0" i="0" u="none" strike="noStrike" cap="none" normalizeH="0" baseline="0" noProof="0">
                        <a:ln>
                          <a:noFill/>
                        </a:ln>
                        <a:solidFill>
                          <a:schemeClr val="tx1"/>
                        </a:solidFill>
                        <a:effectLst/>
                        <a:latin typeface="Helvetica" panose="020B0604020202020204" pitchFamily="34" charset="0"/>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3565A"/>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100000"/>
                        <a:buNone/>
                        <a:tabLst/>
                        <a:defRPr/>
                      </a:pPr>
                      <a:r>
                        <a:rPr kumimoji="0" lang="fr-CI" sz="1200" u="none" strike="noStrike" kern="1200" cap="none" spc="0" normalizeH="0" baseline="0" noProof="0">
                          <a:ln>
                            <a:noFill/>
                          </a:ln>
                          <a:solidFill>
                            <a:schemeClr val="tx1"/>
                          </a:solidFill>
                          <a:effectLst/>
                          <a:uLnTx/>
                          <a:uFillTx/>
                          <a:latin typeface="Helvetica" panose="020B0604020202020204" pitchFamily="34" charset="0"/>
                          <a:cs typeface="Helvetica" panose="020B0604020202020204" pitchFamily="34" charset="0"/>
                        </a:rPr>
                        <a:t>70 à 80 %</a:t>
                      </a: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3565A"/>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Présentée comme une exigence de la réglementation</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3565A"/>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defRPr/>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Vérifier le texte (Décision UEMOA n°05/2022, AIRMS)</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3565A"/>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522000">
                <a:tc>
                  <a:txBody>
                    <a:bodyPr/>
                    <a:lstStyle/>
                    <a:p>
                      <a:pPr marL="0" marR="0" lvl="0" indent="0" algn="l" defTabSz="684213" rtl="0" eaLnBrk="0" fontAlgn="base" latinLnBrk="0" hangingPunct="0">
                        <a:lnSpc>
                          <a:spcPct val="100000"/>
                        </a:lnSpc>
                        <a:spcBef>
                          <a:spcPts val="300"/>
                        </a:spcBef>
                        <a:spcAft>
                          <a:spcPts val="600"/>
                        </a:spcAft>
                        <a:buClrTx/>
                        <a:buSzPct val="25000"/>
                        <a:buFont typeface="Wingdings" pitchFamily="2" charset="2"/>
                        <a:buNone/>
                        <a:tabLst/>
                      </a:pPr>
                      <a:r>
                        <a:rPr kumimoji="0" lang="fr-CI" sz="1200" b="0" u="none" strike="noStrike" cap="none" normalizeH="0" baseline="0" noProof="0">
                          <a:ln>
                            <a:noFill/>
                          </a:ln>
                          <a:solidFill>
                            <a:schemeClr val="tx1"/>
                          </a:solidFill>
                          <a:effectLst/>
                          <a:latin typeface="Helvetica" panose="020B0604020202020204" pitchFamily="34" charset="0"/>
                          <a:cs typeface="Helvetica" panose="020B0604020202020204" pitchFamily="34" charset="0"/>
                        </a:rPr>
                        <a:t>Options de revalorisation</a:t>
                      </a:r>
                      <a:endParaRPr kumimoji="0" lang="fr-CI" sz="1200" b="0" i="0" u="none" strike="noStrike" cap="none" normalizeH="0" baseline="0" noProof="0">
                        <a:ln>
                          <a:noFill/>
                        </a:ln>
                        <a:solidFill>
                          <a:schemeClr val="tx1"/>
                        </a:solidFill>
                        <a:effectLst/>
                        <a:latin typeface="Helvetica" panose="020B0604020202020204" pitchFamily="34" charset="0"/>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100000"/>
                        <a:buNone/>
                        <a:tabLst/>
                        <a:defRPr/>
                      </a:pPr>
                      <a:r>
                        <a:rPr kumimoji="0" lang="fr-CI" sz="1200" u="none" strike="noStrike" kern="1200" cap="none" spc="0" normalizeH="0" baseline="0" noProof="0">
                          <a:ln>
                            <a:noFill/>
                          </a:ln>
                          <a:solidFill>
                            <a:schemeClr val="tx1"/>
                          </a:solidFill>
                          <a:effectLst/>
                          <a:uLnTx/>
                          <a:uFillTx/>
                          <a:latin typeface="Helvetica" panose="020B0604020202020204" pitchFamily="34" charset="0"/>
                          <a:cs typeface="Helvetica" panose="020B0604020202020204" pitchFamily="34" charset="0"/>
                        </a:rPr>
                        <a:t>Environ 39 %, 40 % et 55 % (à confirmer)</a:t>
                      </a: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Trois options proposées, une option à 1 M FCFA demandée</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defRPr/>
                      </a:pPr>
                      <a:r>
                        <a:rPr kumimoji="0" lang="fr-CI" sz="1200" u="none" strike="noStrike" kern="1200" cap="none" normalizeH="0" baseline="0" noProof="0" dirty="0">
                          <a:ln>
                            <a:noFill/>
                          </a:ln>
                          <a:solidFill>
                            <a:schemeClr val="tx1"/>
                          </a:solidFill>
                          <a:effectLst/>
                          <a:latin typeface="Helvetica" panose="020B0604020202020204" pitchFamily="34" charset="0"/>
                          <a:cs typeface="Helvetica" panose="020B0604020202020204" pitchFamily="34" charset="0"/>
                        </a:rPr>
                        <a:t>Revue des fichiers de simulation</a:t>
                      </a:r>
                      <a:endParaRPr kumimoji="0" lang="fr-CI" sz="1200" b="0" i="0" u="none" strike="noStrike" kern="1200" cap="none" normalizeH="0" baseline="0" noProof="0" dirty="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522000">
                <a:tc>
                  <a:txBody>
                    <a:bodyPr/>
                    <a:lstStyle/>
                    <a:p>
                      <a:pPr marL="0" marR="0" lvl="0" indent="0" algn="l" defTabSz="684213" rtl="0" eaLnBrk="0" fontAlgn="base" latinLnBrk="0" hangingPunct="0">
                        <a:lnSpc>
                          <a:spcPct val="100000"/>
                        </a:lnSpc>
                        <a:spcBef>
                          <a:spcPts val="300"/>
                        </a:spcBef>
                        <a:spcAft>
                          <a:spcPts val="600"/>
                        </a:spcAft>
                        <a:buClrTx/>
                        <a:buSzPct val="25000"/>
                        <a:buFont typeface="Wingdings" pitchFamily="2" charset="2"/>
                        <a:buNone/>
                        <a:tabLst/>
                      </a:pPr>
                      <a:r>
                        <a:rPr kumimoji="0" lang="fr-CI" sz="1200" b="0" u="none" strike="noStrike" cap="none" normalizeH="0" baseline="0" noProof="0">
                          <a:ln>
                            <a:noFill/>
                          </a:ln>
                          <a:solidFill>
                            <a:schemeClr val="tx1"/>
                          </a:solidFill>
                          <a:effectLst/>
                          <a:latin typeface="Helvetica" panose="020B0604020202020204" pitchFamily="34" charset="0"/>
                          <a:cs typeface="Helvetica" panose="020B0604020202020204" pitchFamily="34" charset="0"/>
                        </a:rPr>
                        <a:t>Nombre de décès</a:t>
                      </a:r>
                      <a:endParaRPr kumimoji="0" lang="fr-CI" sz="1200" b="0" i="0" u="none" strike="noStrike" cap="none" normalizeH="0" baseline="0" noProof="0">
                        <a:ln>
                          <a:noFill/>
                        </a:ln>
                        <a:solidFill>
                          <a:schemeClr val="tx1"/>
                        </a:solidFill>
                        <a:effectLst/>
                        <a:latin typeface="Helvetica" panose="020B0604020202020204" pitchFamily="34" charset="0"/>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100000"/>
                        <a:buNone/>
                        <a:tabLst/>
                        <a:defRPr/>
                      </a:pPr>
                      <a:r>
                        <a:rPr kumimoji="0" lang="fr-CI" sz="1200" u="none" strike="noStrike" kern="1200" cap="none" spc="0" normalizeH="0" baseline="0" noProof="0">
                          <a:ln>
                            <a:noFill/>
                          </a:ln>
                          <a:solidFill>
                            <a:schemeClr val="tx1"/>
                          </a:solidFill>
                          <a:effectLst/>
                          <a:uLnTx/>
                          <a:uFillTx/>
                          <a:latin typeface="Helvetica" panose="020B0604020202020204" pitchFamily="34" charset="0"/>
                          <a:cs typeface="Helvetica" panose="020B0604020202020204" pitchFamily="34" charset="0"/>
                        </a:rPr>
                        <a:t>Jusqu'à 125 par an en période de pic</a:t>
                      </a: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Décès peu fréquents hors pics</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defRPr/>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Comptage sur la base des sinistres</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24" name="Rectangle 23"/>
          <p:cNvSpPr/>
          <p:nvPr/>
        </p:nvSpPr>
        <p:spPr>
          <a:xfrm>
            <a:off x="586564" y="1456893"/>
            <a:ext cx="11237975" cy="45719"/>
          </a:xfrm>
          <a:prstGeom prst="rect">
            <a:avLst/>
          </a:prstGeom>
          <a:solidFill>
            <a:srgbClr val="112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sp>
        <p:nvSpPr>
          <p:cNvPr id="2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citée par l'interlocuteur</a:t>
            </a:r>
          </a:p>
        </p:txBody>
      </p:sp>
      <p:sp>
        <p:nvSpPr>
          <p:cNvPr id="2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ratio de sinistralité a fortement varié et dépasse 100 % en 2026</a:t>
            </a:r>
          </a:p>
        </p:txBody>
      </p:sp>
      <p:sp>
        <p:nvSpPr>
          <p:cNvPr id="2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chiffres cités seront recalculés à partir des données de sinistres et de cotisations demandées</a:t>
            </a:r>
          </a:p>
        </p:txBody>
      </p:sp>
      <p:sp>
        <p:nvSpPr>
          <p:cNvPr id="2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16/10/2026. Sinistralité = prestations décès ÷ cotisations décès (définition à confirmer avec l'interlocuteur).</a:t>
            </a:r>
          </a:p>
        </p:txBody>
      </p:sp>
    </p:spTree>
    <p:extLst>
      <p:ext uri="{BB962C8B-B14F-4D97-AF65-F5344CB8AC3E}">
        <p14:creationId xmlns:p14="http://schemas.microsoft.com/office/powerpoint/2010/main" val="280546145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5" name="Google Shape;7418;p41"/>
          <p:cNvSpPr/>
          <p:nvPr/>
        </p:nvSpPr>
        <p:spPr>
          <a:xfrm rot="21013821">
            <a:off x="6297998" y="4033104"/>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295963" y="1764647"/>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008889" y="4032906"/>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044421" y="1769072"/>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238167">
            <a:off x="1055515" y="1925819"/>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395864">
            <a:off x="1055515" y="4170923"/>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354388">
            <a:off x="6338696" y="1925819"/>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76429">
            <a:off x="6338696" y="4170923"/>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312337" y="1350000"/>
            <a:ext cx="3277758" cy="1840504"/>
          </a:xfrm>
          <a:prstGeom prst="rect">
            <a:avLst/>
          </a:prstGeom>
        </p:spPr>
        <p:txBody>
          <a:bodyPr wrap="square">
            <a:spAutoFit/>
          </a:bodyPr>
          <a:lstStyle/>
          <a:p>
            <a:pPr lvl="0">
              <a:lnSpc>
                <a:spcPct val="110000"/>
              </a:lnSpc>
            </a:pPr>
            <a:r>
              <a:rPr lang="fr-CI" sz="16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Déclaration</a:t>
            </a:r>
          </a:p>
          <a:p>
            <a:r>
              <a:rPr lang="fr-CI" sz="1600" noProof="0">
                <a:latin typeface="Helvetica" panose="020B0604020202020204" pitchFamily="34" charset="0"/>
                <a:ea typeface="Open Sans Light" panose="020B0306030504020204" pitchFamily="34" charset="0"/>
                <a:cs typeface="Helvetica" panose="020B0604020202020204" pitchFamily="34" charset="0"/>
              </a:rPr>
              <a:t>Le chef hiérarchique (officier de police judiciaire) informe le FPPN du décès par courrier.</a:t>
            </a:r>
            <a:endParaRPr lang="fr-CI" sz="1600" noProof="0"/>
          </a:p>
        </p:txBody>
      </p:sp>
      <p:sp>
        <p:nvSpPr>
          <p:cNvPr id="20" name="Rectangle 19"/>
          <p:cNvSpPr/>
          <p:nvPr/>
        </p:nvSpPr>
        <p:spPr>
          <a:xfrm>
            <a:off x="2312337" y="3769850"/>
            <a:ext cx="3277758" cy="1840504"/>
          </a:xfrm>
          <a:prstGeom prst="rect">
            <a:avLst/>
          </a:prstGeom>
        </p:spPr>
        <p:txBody>
          <a:bodyPr wrap="square">
            <a:spAutoFit/>
          </a:bodyPr>
          <a:lstStyle/>
          <a:p>
            <a:pPr lvl="0">
              <a:lnSpc>
                <a:spcPct val="110000"/>
              </a:lnSpc>
            </a:pPr>
            <a:r>
              <a:rPr lang="fr-CI" sz="16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Constitution du dossier</a:t>
            </a:r>
          </a:p>
          <a:p>
            <a:r>
              <a:rPr lang="fr-CI" sz="1600" noProof="0">
                <a:latin typeface="Helvetica" panose="020B0604020202020204" pitchFamily="34" charset="0"/>
                <a:ea typeface="Open Sans Light" panose="020B0306030504020204" pitchFamily="34" charset="0"/>
                <a:cs typeface="Helvetica" panose="020B0604020202020204" pitchFamily="34" charset="0"/>
              </a:rPr>
              <a:t>La famille reçoit la liste des pièces : documents de justice, certificat de décès, état civil.</a:t>
            </a:r>
            <a:endParaRPr lang="fr-CI" sz="1600" noProof="0"/>
          </a:p>
        </p:txBody>
      </p:sp>
      <p:sp>
        <p:nvSpPr>
          <p:cNvPr id="22" name="Rectangle 21"/>
          <p:cNvSpPr/>
          <p:nvPr/>
        </p:nvSpPr>
        <p:spPr>
          <a:xfrm>
            <a:off x="7611772" y="1354300"/>
            <a:ext cx="3277758" cy="1840504"/>
          </a:xfrm>
          <a:prstGeom prst="rect">
            <a:avLst/>
          </a:prstGeom>
        </p:spPr>
        <p:txBody>
          <a:bodyPr wrap="square">
            <a:spAutoFit/>
          </a:bodyPr>
          <a:lstStyle/>
          <a:p>
            <a:pPr lvl="0">
              <a:lnSpc>
                <a:spcPct val="110000"/>
              </a:lnSpc>
            </a:pPr>
            <a:r>
              <a:rPr lang="fr-CI" sz="16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Traitement et validation</a:t>
            </a:r>
          </a:p>
          <a:p>
            <a:r>
              <a:rPr lang="fr-CI" sz="1600" noProof="0">
                <a:latin typeface="Helvetica" panose="020B0604020202020204" pitchFamily="34" charset="0"/>
                <a:ea typeface="Open Sans Light" panose="020B0306030504020204" pitchFamily="34" charset="0"/>
                <a:cs typeface="Helvetica" panose="020B0604020202020204" pitchFamily="34" charset="0"/>
              </a:rPr>
              <a:t>Un agent enregistre, un agent traite, le chef de service vérifie, met à jour son tableau de bord et signe.</a:t>
            </a:r>
            <a:endParaRPr lang="fr-CI" sz="1600" noProof="0"/>
          </a:p>
        </p:txBody>
      </p:sp>
      <p:sp>
        <p:nvSpPr>
          <p:cNvPr id="23" name="Rectangle 22"/>
          <p:cNvSpPr/>
          <p:nvPr/>
        </p:nvSpPr>
        <p:spPr>
          <a:xfrm>
            <a:off x="7611772" y="3774150"/>
            <a:ext cx="3277758" cy="1840504"/>
          </a:xfrm>
          <a:prstGeom prst="rect">
            <a:avLst/>
          </a:prstGeom>
        </p:spPr>
        <p:txBody>
          <a:bodyPr wrap="square">
            <a:spAutoFit/>
          </a:bodyPr>
          <a:lstStyle/>
          <a:p>
            <a:pPr lvl="0">
              <a:lnSpc>
                <a:spcPct val="110000"/>
              </a:lnSpc>
            </a:pPr>
            <a:r>
              <a:rPr lang="fr-CI" sz="16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Paiement</a:t>
            </a:r>
          </a:p>
          <a:p>
            <a:r>
              <a:rPr lang="fr-CI" sz="1600" noProof="0">
                <a:latin typeface="Helvetica" panose="020B0604020202020204" pitchFamily="34" charset="0"/>
                <a:ea typeface="Open Sans Light" panose="020B0306030504020204" pitchFamily="34" charset="0"/>
                <a:cs typeface="Helvetica" panose="020B0604020202020204" pitchFamily="34" charset="0"/>
              </a:rPr>
              <a:t>La comptabilité paie selon sa programmation. Les dossiers transmis aux assureurs sont signés par le DG.</a:t>
            </a:r>
            <a:endParaRPr lang="fr-CI" sz="1600" noProof="0"/>
          </a:p>
        </p:txBody>
      </p:sp>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Traitement d'un dossier décès</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délai de traitement dépend surtout des pièces fournies par les familles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paiement est programmé par la comptabilité, sans contrôle intermédiaire décrit avant paiement</a:t>
            </a:r>
          </a:p>
        </p:txBody>
      </p:sp>
    </p:spTree>
    <p:extLst>
      <p:ext uri="{BB962C8B-B14F-4D97-AF65-F5344CB8AC3E}">
        <p14:creationId xmlns:p14="http://schemas.microsoft.com/office/powerpoint/2010/main" val="213771860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0" name="ZoneTexte 1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686669" y="1781664"/>
            <a:ext cx="3741376" cy="56747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chemeClr val="tx1"/>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328234" y="1707571"/>
            <a:ext cx="2554832" cy="3837962"/>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29487" y="1853338"/>
            <a:ext cx="1531188" cy="342145"/>
          </a:xfrm>
          <a:prstGeom prst="rect">
            <a:avLst/>
          </a:prstGeom>
        </p:spPr>
        <p:txBody>
          <a:bodyPr wrap="none">
            <a:spAutoFit/>
          </a:bodyPr>
          <a:lstStyle/>
          <a:p>
            <a:pPr lvl="0">
              <a:lnSpc>
                <a:spcPct val="110000"/>
              </a:lnSpc>
            </a:pPr>
            <a:r>
              <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Fonctionnement actuel</a:t>
            </a:r>
          </a:p>
        </p:txBody>
      </p:sp>
      <p:sp>
        <p:nvSpPr>
          <p:cNvPr id="13" name="Google Shape;7386;p39"/>
          <p:cNvSpPr/>
          <p:nvPr/>
        </p:nvSpPr>
        <p:spPr>
          <a:xfrm rot="10800000">
            <a:off x="6665593" y="1781664"/>
            <a:ext cx="3741376" cy="56747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EFAC62"/>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4" name="Google Shape;7367;p39"/>
          <p:cNvSpPr/>
          <p:nvPr/>
        </p:nvSpPr>
        <p:spPr>
          <a:xfrm rot="16200000">
            <a:off x="7307158" y="1707571"/>
            <a:ext cx="2554832" cy="3837962"/>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softEdge rad="0"/>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7" name="Rectangle 16"/>
          <p:cNvSpPr/>
          <p:nvPr/>
        </p:nvSpPr>
        <p:spPr>
          <a:xfrm>
            <a:off x="7818980" y="1902791"/>
            <a:ext cx="1531188" cy="342145"/>
          </a:xfrm>
          <a:prstGeom prst="rect">
            <a:avLst/>
          </a:prstGeom>
        </p:spPr>
        <p:txBody>
          <a:bodyPr wrap="none">
            <a:spAutoFit/>
          </a:bodyPr>
          <a:lstStyle/>
          <a:p>
            <a:pPr lvl="0">
              <a:lnSpc>
                <a:spcPct val="110000"/>
              </a:lnSpc>
            </a:pPr>
            <a:r>
              <a:rPr lang="fr-CI" sz="1600" b="1" noProof="0">
                <a:latin typeface="Helvetica" panose="020B0604020202020204" pitchFamily="34" charset="0"/>
                <a:ea typeface="Open Sans Semibold" panose="020B0706030804020204" pitchFamily="34" charset="0"/>
                <a:cs typeface="Helvetica" panose="020B0604020202020204" pitchFamily="34" charset="0"/>
              </a:rPr>
              <a:t>Risques cités</a:t>
            </a:r>
          </a:p>
        </p:txBody>
      </p:sp>
      <p:pic>
        <p:nvPicPr>
          <p:cNvPr id="31" name="Image 30">
            <a:extLst>
              <a:ext uri="{FF2B5EF4-FFF2-40B4-BE49-F238E27FC236}">
                <a16:creationId xmlns:a16="http://schemas.microsoft.com/office/drawing/2014/main" id="{593DA389-08F4-31D9-6AB9-E96812D83B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1405" y="1867136"/>
            <a:ext cx="396525" cy="396525"/>
          </a:xfrm>
          <a:prstGeom prst="rect">
            <a:avLst/>
          </a:prstGeom>
        </p:spPr>
      </p:pic>
      <p:pic>
        <p:nvPicPr>
          <p:cNvPr id="18" name="Image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3060" y="1814991"/>
            <a:ext cx="486259" cy="491723"/>
          </a:xfrm>
          <a:prstGeom prst="rect">
            <a:avLst/>
          </a:prstGeom>
        </p:spPr>
      </p:pic>
      <p:sp>
        <p:nvSpPr>
          <p:cNvPr id="21" name="Rectangle 20"/>
          <p:cNvSpPr/>
          <p:nvPr/>
        </p:nvSpPr>
        <p:spPr>
          <a:xfrm>
            <a:off x="1812412" y="2596068"/>
            <a:ext cx="3615634" cy="2100575"/>
          </a:xfrm>
          <a:prstGeom prst="rect">
            <a:avLst/>
          </a:prstGeom>
        </p:spPr>
        <p:txBody>
          <a:bodyPr wrap="square">
            <a:spAutoFit/>
          </a:bodyPr>
          <a:lstStyle/>
          <a:p>
            <a:pPr lvl="0">
              <a:spcBef>
                <a:spcPts val="300"/>
              </a:spcBef>
              <a:defRPr/>
            </a:pPr>
            <a:r>
              <a:rPr kumimoji="1" lang="fr-CI" sz="1200" b="1" noProof="0">
                <a:latin typeface="Helvetica" panose="020B0604020202020204" pitchFamily="34" charset="0"/>
                <a:cs typeface="Helvetica" panose="020B0604020202020204" pitchFamily="34" charset="0"/>
              </a:rPr>
              <a:t>Circuit</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Médecin : prises en charge, orientations</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Factures directes à la comptabilité</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Aucune vérification des dossiers</a:t>
            </a:r>
          </a:p>
          <a:p>
            <a:pPr lvl="0">
              <a:spcBef>
                <a:spcPts val="600"/>
              </a:spcBef>
              <a:defRPr/>
            </a:pPr>
            <a:r>
              <a:rPr kumimoji="1" lang="fr-CI" sz="1200" b="1" noProof="0">
                <a:latin typeface="Helvetica" panose="020B0604020202020204" pitchFamily="34" charset="0"/>
                <a:cs typeface="Helvetica" panose="020B0604020202020204" pitchFamily="34" charset="0"/>
              </a:rPr>
              <a:t>Contrôles</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Pas de procédure formalisée</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Pas de poste de contrôleur</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Exclusions non vérifiées</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Contrôle infirmier avant 2003 (à confirmer)</a:t>
            </a:r>
          </a:p>
        </p:txBody>
      </p:sp>
      <p:sp>
        <p:nvSpPr>
          <p:cNvPr id="24" name="Rectangle 23"/>
          <p:cNvSpPr/>
          <p:nvPr/>
        </p:nvSpPr>
        <p:spPr>
          <a:xfrm>
            <a:off x="6941405" y="2576263"/>
            <a:ext cx="3615634" cy="2100575"/>
          </a:xfrm>
          <a:prstGeom prst="rect">
            <a:avLst/>
          </a:prstGeom>
        </p:spPr>
        <p:txBody>
          <a:bodyPr wrap="square">
            <a:spAutoFit/>
          </a:bodyPr>
          <a:lstStyle/>
          <a:p>
            <a:pPr lvl="0">
              <a:spcBef>
                <a:spcPts val="300"/>
              </a:spcBef>
              <a:defRPr/>
            </a:pPr>
            <a:r>
              <a:rPr kumimoji="1" lang="fr-CI" sz="1200" b="1" noProof="0">
                <a:latin typeface="Helvetica" panose="020B0604020202020204" pitchFamily="34" charset="0"/>
                <a:cs typeface="Helvetica" panose="020B0604020202020204" pitchFamily="34" charset="0"/>
              </a:rPr>
              <a:t>Bénéficiaires</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Cartes utilisées après le départ à la retraite</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Ayants droit non éligibles déclarés</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Faux bénéficiaires</a:t>
            </a:r>
          </a:p>
          <a:p>
            <a:pPr lvl="0">
              <a:spcBef>
                <a:spcPts val="600"/>
              </a:spcBef>
              <a:defRPr/>
            </a:pPr>
            <a:r>
              <a:rPr kumimoji="1" lang="fr-CI" sz="1200" b="1" noProof="0">
                <a:latin typeface="Helvetica" panose="020B0604020202020204" pitchFamily="34" charset="0"/>
                <a:cs typeface="Helvetica" panose="020B0604020202020204" pitchFamily="34" charset="0"/>
              </a:rPr>
              <a:t>Prestataires</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Surprescription</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Surfacturation</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Documents de complaisance</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Factures non contrôlées avant paiement</a:t>
            </a:r>
          </a:p>
        </p:txBody>
      </p:sp>
      <p:sp>
        <p:nvSpPr>
          <p:cNvPr id="3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Volet médical</a:t>
            </a:r>
          </a:p>
        </p:txBody>
      </p:sp>
      <p:sp>
        <p:nvSpPr>
          <p:cNvPr id="3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dépenses de santé sont payées sans vérification préalable des dossiers</a:t>
            </a:r>
          </a:p>
        </p:txBody>
      </p:sp>
      <p:sp>
        <p:nvSpPr>
          <p:cNvPr id="3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circuit va du médecin à la comptabilité, sans procédure, sans contrôleur et sans contrôle des exclusions</a:t>
            </a:r>
          </a:p>
        </p:txBody>
      </p:sp>
    </p:spTree>
    <p:extLst>
      <p:ext uri="{BB962C8B-B14F-4D97-AF65-F5344CB8AC3E}">
        <p14:creationId xmlns:p14="http://schemas.microsoft.com/office/powerpoint/2010/main" val="237012174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9" name="ZoneTexte 38">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18" name="Google Shape;310;p43"/>
          <p:cNvSpPr txBox="1">
            <a:spLocks/>
          </p:cNvSpPr>
          <p:nvPr/>
        </p:nvSpPr>
        <p:spPr>
          <a:xfrm>
            <a:off x="3029407" y="1474720"/>
            <a:ext cx="1965220" cy="493057"/>
          </a:xfrm>
          <a:prstGeom prst="rect">
            <a:avLst/>
          </a:prstGeom>
        </p:spPr>
        <p:txBody>
          <a:bodyPr spcFirstLastPara="1" wrap="square" lIns="91425" tIns="91425" rIns="91425" bIns="91425"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10000"/>
              </a:lnSpc>
              <a:buNone/>
            </a:pPr>
            <a:r>
              <a:rPr lang="fr-CI" sz="1200" b="1" noProof="0">
                <a:latin typeface="Helvetica" panose="020B0604020202020204" pitchFamily="34" charset="0"/>
                <a:ea typeface="Open Sans Semibold" panose="020B0706030804020204" pitchFamily="34" charset="0"/>
                <a:cs typeface="Helvetica" panose="020B0604020202020204" pitchFamily="34" charset="0"/>
              </a:rPr>
              <a:t>Provisionnement</a:t>
            </a:r>
          </a:p>
        </p:txBody>
      </p:sp>
      <p:pic>
        <p:nvPicPr>
          <p:cNvPr id="59" name="Image 5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17095" y="1350000"/>
            <a:ext cx="318216" cy="318216"/>
          </a:xfrm>
          <a:prstGeom prst="rect">
            <a:avLst/>
          </a:prstGeom>
        </p:spPr>
      </p:pic>
      <p:pic>
        <p:nvPicPr>
          <p:cNvPr id="15" name="Image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01925" y="1351707"/>
            <a:ext cx="342732" cy="342732"/>
          </a:xfrm>
          <a:prstGeom prst="rect">
            <a:avLst/>
          </a:prstGeom>
        </p:spPr>
      </p:pic>
      <p:sp>
        <p:nvSpPr>
          <p:cNvPr id="14" name="Google Shape;310;p43"/>
          <p:cNvSpPr txBox="1">
            <a:spLocks/>
          </p:cNvSpPr>
          <p:nvPr/>
        </p:nvSpPr>
        <p:spPr>
          <a:xfrm>
            <a:off x="7040981" y="1474720"/>
            <a:ext cx="1965220" cy="493057"/>
          </a:xfrm>
          <a:prstGeom prst="rect">
            <a:avLst/>
          </a:prstGeom>
        </p:spPr>
        <p:txBody>
          <a:bodyPr spcFirstLastPara="1" wrap="square" lIns="91425" tIns="91425" rIns="91425" bIns="91425"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10000"/>
              </a:lnSpc>
              <a:buNone/>
            </a:pPr>
            <a:r>
              <a:rPr lang="fr-CI" sz="1200" b="1" noProof="0">
                <a:latin typeface="Helvetica" panose="020B0604020202020204" pitchFamily="34" charset="0"/>
                <a:ea typeface="Open Sans Semibold" panose="020B0706030804020204" pitchFamily="34" charset="0"/>
                <a:cs typeface="Helvetica" panose="020B0604020202020204" pitchFamily="34" charset="0"/>
              </a:rPr>
              <a:t>Séparation des années</a:t>
            </a:r>
          </a:p>
        </p:txBody>
      </p:sp>
      <p:sp>
        <p:nvSpPr>
          <p:cNvPr id="22" name="Rectangle 21"/>
          <p:cNvSpPr/>
          <p:nvPr/>
        </p:nvSpPr>
        <p:spPr>
          <a:xfrm>
            <a:off x="6449942" y="2197866"/>
            <a:ext cx="3046699" cy="1214147"/>
          </a:xfrm>
          <a:prstGeom prst="rect">
            <a:avLst/>
          </a:prstGeom>
        </p:spPr>
        <p:txBody>
          <a:bodyPr wrap="square">
            <a:spAutoFit/>
          </a:bodyPr>
          <a:lstStyle/>
          <a:p>
            <a:r>
              <a:rPr lang="fr-CI" sz="1200" noProof="0">
                <a:latin typeface="Helvetica" panose="020B0604020202020204" pitchFamily="34" charset="0"/>
                <a:ea typeface="Open Sans Light" panose="020B0306030504020204" pitchFamily="34" charset="0"/>
                <a:cs typeface="Helvetica" panose="020B0604020202020204" pitchFamily="34" charset="0"/>
              </a:rPr>
              <a:t>Les sinistres de 2022 à 2026 sont mélangés. Le chef de service a demandé un tri des sinistres de 2026.</a:t>
            </a:r>
            <a:endParaRPr lang="fr-CI" sz="1200" noProof="0"/>
          </a:p>
        </p:txBody>
      </p:sp>
      <p:sp>
        <p:nvSpPr>
          <p:cNvPr id="23" name="Google Shape;310;p43"/>
          <p:cNvSpPr txBox="1">
            <a:spLocks/>
          </p:cNvSpPr>
          <p:nvPr/>
        </p:nvSpPr>
        <p:spPr>
          <a:xfrm>
            <a:off x="3029407" y="3965821"/>
            <a:ext cx="1965220" cy="493057"/>
          </a:xfrm>
          <a:prstGeom prst="rect">
            <a:avLst/>
          </a:prstGeom>
        </p:spPr>
        <p:txBody>
          <a:bodyPr spcFirstLastPara="1" wrap="square" lIns="91425" tIns="91425" rIns="91425" bIns="91425"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10000"/>
              </a:lnSpc>
              <a:buNone/>
            </a:pPr>
            <a:r>
              <a:rPr lang="fr-CI" sz="1200" b="1" noProof="0">
                <a:latin typeface="Helvetica" panose="020B0604020202020204" pitchFamily="34" charset="0"/>
                <a:ea typeface="Open Sans Semibold" panose="020B0706030804020204" pitchFamily="34" charset="0"/>
                <a:cs typeface="Helvetica" panose="020B0604020202020204" pitchFamily="34" charset="0"/>
              </a:rPr>
              <a:t>Report des provisions</a:t>
            </a:r>
          </a:p>
        </p:txBody>
      </p:sp>
      <p:pic>
        <p:nvPicPr>
          <p:cNvPr id="24" name="Image 2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17156" y="3813457"/>
            <a:ext cx="318092" cy="321790"/>
          </a:xfrm>
          <a:prstGeom prst="rect">
            <a:avLst/>
          </a:prstGeom>
        </p:spPr>
      </p:pic>
      <p:pic>
        <p:nvPicPr>
          <p:cNvPr id="25" name="Image 2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805571" y="3799713"/>
            <a:ext cx="335439" cy="342731"/>
          </a:xfrm>
          <a:prstGeom prst="rect">
            <a:avLst/>
          </a:prstGeom>
        </p:spPr>
      </p:pic>
      <p:sp>
        <p:nvSpPr>
          <p:cNvPr id="28" name="Google Shape;310;p43"/>
          <p:cNvSpPr txBox="1">
            <a:spLocks/>
          </p:cNvSpPr>
          <p:nvPr/>
        </p:nvSpPr>
        <p:spPr>
          <a:xfrm>
            <a:off x="7040981" y="3965821"/>
            <a:ext cx="1965220" cy="493057"/>
          </a:xfrm>
          <a:prstGeom prst="rect">
            <a:avLst/>
          </a:prstGeom>
        </p:spPr>
        <p:txBody>
          <a:bodyPr spcFirstLastPara="1" wrap="square" lIns="91425" tIns="91425" rIns="91425" bIns="91425"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10000"/>
              </a:lnSpc>
              <a:buNone/>
            </a:pPr>
            <a:r>
              <a:rPr lang="fr-CI" sz="1200" b="1" noProof="0">
                <a:latin typeface="Helvetica" panose="020B0604020202020204" pitchFamily="34" charset="0"/>
                <a:ea typeface="Open Sans Semibold" panose="020B0706030804020204" pitchFamily="34" charset="0"/>
                <a:cs typeface="Helvetica" panose="020B0604020202020204" pitchFamily="34" charset="0"/>
              </a:rPr>
              <a:t>Dossiers anciens</a:t>
            </a:r>
          </a:p>
        </p:txBody>
      </p:sp>
      <p:sp>
        <p:nvSpPr>
          <p:cNvPr id="29" name="Rectangle 28"/>
          <p:cNvSpPr/>
          <p:nvPr/>
        </p:nvSpPr>
        <p:spPr>
          <a:xfrm>
            <a:off x="2562525" y="4622972"/>
            <a:ext cx="3046699" cy="1214147"/>
          </a:xfrm>
          <a:prstGeom prst="rect">
            <a:avLst/>
          </a:prstGeom>
        </p:spPr>
        <p:txBody>
          <a:bodyPr wrap="square">
            <a:spAutoFit/>
          </a:bodyPr>
          <a:lstStyle/>
          <a:p>
            <a:r>
              <a:rPr lang="fr-CI" sz="1200" noProof="0">
                <a:latin typeface="Helvetica" panose="020B0604020202020204" pitchFamily="34" charset="0"/>
                <a:ea typeface="Open Sans Light" panose="020B0306030504020204" pitchFamily="34" charset="0"/>
                <a:cs typeface="Helvetica" panose="020B0604020202020204" pitchFamily="34" charset="0"/>
              </a:rPr>
              <a:t>Selon l'interlocuteur, les provisions d'une année ne sont pas reportées : les sinistres anciens sont payés sur les cotisations courantes.</a:t>
            </a:r>
            <a:endParaRPr lang="fr-CI" sz="1200" noProof="0"/>
          </a:p>
        </p:txBody>
      </p:sp>
      <p:sp>
        <p:nvSpPr>
          <p:cNvPr id="30" name="Rectangle 29"/>
          <p:cNvSpPr/>
          <p:nvPr/>
        </p:nvSpPr>
        <p:spPr>
          <a:xfrm>
            <a:off x="6449942" y="4654491"/>
            <a:ext cx="3046699" cy="1214147"/>
          </a:xfrm>
          <a:prstGeom prst="rect">
            <a:avLst/>
          </a:prstGeom>
        </p:spPr>
        <p:txBody>
          <a:bodyPr wrap="square">
            <a:spAutoFit/>
          </a:bodyPr>
          <a:lstStyle/>
          <a:p>
            <a:r>
              <a:rPr lang="fr-CI" sz="1200" noProof="0">
                <a:latin typeface="Helvetica" panose="020B0604020202020204" pitchFamily="34" charset="0"/>
                <a:ea typeface="Open Sans Light" panose="020B0306030504020204" pitchFamily="34" charset="0"/>
                <a:cs typeface="Helvetica" panose="020B0604020202020204" pitchFamily="34" charset="0"/>
              </a:rPr>
              <a:t>Des sinistres antérieurs à 2013 n'ont pas été payés. Des dossiers de 2004 restent en attente, souvent du fait de litiges familiaux.</a:t>
            </a:r>
            <a:endParaRPr lang="fr-CI" sz="1200" noProof="0"/>
          </a:p>
        </p:txBody>
      </p:sp>
      <p:pic>
        <p:nvPicPr>
          <p:cNvPr id="21" name="Image 2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90556" y="1945889"/>
            <a:ext cx="3279277" cy="1695649"/>
          </a:xfrm>
          <a:prstGeom prst="rect">
            <a:avLst/>
          </a:prstGeom>
        </p:spPr>
      </p:pic>
      <p:pic>
        <p:nvPicPr>
          <p:cNvPr id="32" name="Image 3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16142" y="1945889"/>
            <a:ext cx="3279277" cy="1695649"/>
          </a:xfrm>
          <a:prstGeom prst="rect">
            <a:avLst/>
          </a:prstGeom>
        </p:spPr>
      </p:pic>
      <p:pic>
        <p:nvPicPr>
          <p:cNvPr id="34" name="Image 3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16141" y="4410448"/>
            <a:ext cx="3279277" cy="1695649"/>
          </a:xfrm>
          <a:prstGeom prst="rect">
            <a:avLst/>
          </a:prstGeom>
        </p:spPr>
      </p:pic>
      <p:pic>
        <p:nvPicPr>
          <p:cNvPr id="36" name="Image 3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90555" y="4424350"/>
            <a:ext cx="3279277" cy="1695649"/>
          </a:xfrm>
          <a:prstGeom prst="rect">
            <a:avLst/>
          </a:prstGeom>
        </p:spPr>
      </p:pic>
      <p:sp>
        <p:nvSpPr>
          <p:cNvPr id="37" name="Rectangle 36"/>
          <p:cNvSpPr/>
          <p:nvPr/>
        </p:nvSpPr>
        <p:spPr>
          <a:xfrm>
            <a:off x="2619203" y="2203649"/>
            <a:ext cx="3046699" cy="1214147"/>
          </a:xfrm>
          <a:prstGeom prst="rect">
            <a:avLst/>
          </a:prstGeom>
        </p:spPr>
        <p:txBody>
          <a:bodyPr wrap="square">
            <a:spAutoFit/>
          </a:bodyPr>
          <a:lstStyle/>
          <a:p>
            <a:r>
              <a:rPr lang="fr-CI" sz="1200" noProof="0">
                <a:latin typeface="Helvetica" panose="020B0604020202020204" pitchFamily="34" charset="0"/>
                <a:ea typeface="Open Sans Light" panose="020B0306030504020204" pitchFamily="34" charset="0"/>
                <a:cs typeface="Helvetica" panose="020B0604020202020204" pitchFamily="34" charset="0"/>
              </a:rPr>
              <a:t>Le service n'est pas associé au calcul des provisions ni des engagements réglementés. Le sujet relève de la comptabilité.</a:t>
            </a:r>
            <a:endParaRPr lang="fr-CI" sz="1200" noProof="0"/>
          </a:p>
        </p:txBody>
      </p:sp>
      <p:sp>
        <p:nvSpPr>
          <p:cNvPr id="60"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et engagements</a:t>
            </a:r>
          </a:p>
        </p:txBody>
      </p:sp>
      <p:sp>
        <p:nvSpPr>
          <p:cNvPr id="61"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sinistres ne sont pas suivis par année de survenance</a:t>
            </a:r>
          </a:p>
        </p:txBody>
      </p:sp>
      <p:sp>
        <p:nvSpPr>
          <p:cNvPr id="62"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service n'est pas associé au provisionnement, et des dossiers anciens, dont certains de 2004, restent en attente</a:t>
            </a:r>
          </a:p>
        </p:txBody>
      </p:sp>
    </p:spTree>
    <p:extLst>
      <p:ext uri="{BB962C8B-B14F-4D97-AF65-F5344CB8AC3E}">
        <p14:creationId xmlns:p14="http://schemas.microsoft.com/office/powerpoint/2010/main" val="49501797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0" name="ZoneTexte 1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686669" y="1781664"/>
            <a:ext cx="3741376" cy="56747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chemeClr val="tx1"/>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328234" y="1707571"/>
            <a:ext cx="2554832" cy="3837962"/>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29487" y="1853338"/>
            <a:ext cx="1531188" cy="342145"/>
          </a:xfrm>
          <a:prstGeom prst="rect">
            <a:avLst/>
          </a:prstGeom>
        </p:spPr>
        <p:txBody>
          <a:bodyPr wrap="none">
            <a:spAutoFit/>
          </a:bodyPr>
          <a:lstStyle/>
          <a:p>
            <a:pPr lvl="0">
              <a:lnSpc>
                <a:spcPct val="110000"/>
              </a:lnSpc>
            </a:pPr>
            <a:r>
              <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Procédures et contrôles</a:t>
            </a:r>
          </a:p>
        </p:txBody>
      </p:sp>
      <p:sp>
        <p:nvSpPr>
          <p:cNvPr id="13" name="Google Shape;7386;p39"/>
          <p:cNvSpPr/>
          <p:nvPr/>
        </p:nvSpPr>
        <p:spPr>
          <a:xfrm rot="10800000">
            <a:off x="6665593" y="1781664"/>
            <a:ext cx="3741376" cy="56747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EFAC62"/>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4" name="Google Shape;7367;p39"/>
          <p:cNvSpPr/>
          <p:nvPr/>
        </p:nvSpPr>
        <p:spPr>
          <a:xfrm rot="16200000">
            <a:off x="7307158" y="1707571"/>
            <a:ext cx="2554832" cy="3837962"/>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softEdge rad="0"/>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7" name="Rectangle 16"/>
          <p:cNvSpPr/>
          <p:nvPr/>
        </p:nvSpPr>
        <p:spPr>
          <a:xfrm>
            <a:off x="7818980" y="1902791"/>
            <a:ext cx="1531188" cy="342145"/>
          </a:xfrm>
          <a:prstGeom prst="rect">
            <a:avLst/>
          </a:prstGeom>
        </p:spPr>
        <p:txBody>
          <a:bodyPr wrap="none">
            <a:spAutoFit/>
          </a:bodyPr>
          <a:lstStyle/>
          <a:p>
            <a:pPr lvl="0">
              <a:lnSpc>
                <a:spcPct val="110000"/>
              </a:lnSpc>
            </a:pPr>
            <a:r>
              <a:rPr lang="fr-CI" sz="1600" b="1" noProof="0">
                <a:latin typeface="Helvetica" panose="020B0604020202020204" pitchFamily="34" charset="0"/>
                <a:ea typeface="Open Sans Semibold" panose="020B0706030804020204" pitchFamily="34" charset="0"/>
                <a:cs typeface="Helvetica" panose="020B0604020202020204" pitchFamily="34" charset="0"/>
              </a:rPr>
              <a:t>Fraude et outils</a:t>
            </a:r>
          </a:p>
        </p:txBody>
      </p:sp>
      <p:pic>
        <p:nvPicPr>
          <p:cNvPr id="31" name="Image 30">
            <a:extLst>
              <a:ext uri="{FF2B5EF4-FFF2-40B4-BE49-F238E27FC236}">
                <a16:creationId xmlns:a16="http://schemas.microsoft.com/office/drawing/2014/main" id="{593DA389-08F4-31D9-6AB9-E96812D83B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1405" y="1867136"/>
            <a:ext cx="396525" cy="396525"/>
          </a:xfrm>
          <a:prstGeom prst="rect">
            <a:avLst/>
          </a:prstGeom>
        </p:spPr>
      </p:pic>
      <p:pic>
        <p:nvPicPr>
          <p:cNvPr id="18" name="Image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3060" y="1814991"/>
            <a:ext cx="486259" cy="491723"/>
          </a:xfrm>
          <a:prstGeom prst="rect">
            <a:avLst/>
          </a:prstGeom>
        </p:spPr>
      </p:pic>
      <p:sp>
        <p:nvSpPr>
          <p:cNvPr id="21" name="Rectangle 20"/>
          <p:cNvSpPr/>
          <p:nvPr/>
        </p:nvSpPr>
        <p:spPr>
          <a:xfrm>
            <a:off x="1812412" y="2596068"/>
            <a:ext cx="3615634" cy="2100575"/>
          </a:xfrm>
          <a:prstGeom prst="rect">
            <a:avLst/>
          </a:prstGeom>
        </p:spPr>
        <p:txBody>
          <a:bodyPr wrap="square">
            <a:spAutoFit/>
          </a:bodyPr>
          <a:lstStyle/>
          <a:p>
            <a:pPr lvl="0">
              <a:spcBef>
                <a:spcPts val="300"/>
              </a:spcBef>
              <a:defRPr/>
            </a:pPr>
            <a:r>
              <a:rPr kumimoji="1" lang="fr-CI" sz="1200" b="1" noProof="0">
                <a:latin typeface="Helvetica" panose="020B0604020202020204" pitchFamily="34" charset="0"/>
                <a:cs typeface="Helvetica" panose="020B0604020202020204" pitchFamily="34" charset="0"/>
              </a:rPr>
              <a:t>Procédures</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Manuel de 2014 non validé</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Cahier du régime des prestations</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Pas de fiches de poste</a:t>
            </a:r>
          </a:p>
          <a:p>
            <a:pPr lvl="0">
              <a:spcBef>
                <a:spcPts val="600"/>
              </a:spcBef>
              <a:defRPr/>
            </a:pPr>
            <a:r>
              <a:rPr kumimoji="1" lang="fr-CI" sz="1200" b="1" noProof="0">
                <a:latin typeface="Helvetica" panose="020B0604020202020204" pitchFamily="34" charset="0"/>
                <a:cs typeface="Helvetica" panose="020B0604020202020204" pitchFamily="34" charset="0"/>
              </a:rPr>
              <a:t>Contrôles</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Signature du chef de service</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Décès suspects approfondis</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Pas de contrôle avant paiement</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Redressement AIRMS en cours</a:t>
            </a:r>
          </a:p>
        </p:txBody>
      </p:sp>
      <p:sp>
        <p:nvSpPr>
          <p:cNvPr id="24" name="Rectangle 23"/>
          <p:cNvSpPr/>
          <p:nvPr/>
        </p:nvSpPr>
        <p:spPr>
          <a:xfrm>
            <a:off x="6941405" y="2576263"/>
            <a:ext cx="3615634" cy="2100575"/>
          </a:xfrm>
          <a:prstGeom prst="rect">
            <a:avLst/>
          </a:prstGeom>
        </p:spPr>
        <p:txBody>
          <a:bodyPr wrap="square">
            <a:spAutoFit/>
          </a:bodyPr>
          <a:lstStyle/>
          <a:p>
            <a:pPr lvl="0">
              <a:spcBef>
                <a:spcPts val="300"/>
              </a:spcBef>
              <a:defRPr/>
            </a:pPr>
            <a:r>
              <a:rPr kumimoji="1" lang="fr-CI" sz="1200" b="1" noProof="0">
                <a:latin typeface="Helvetica" panose="020B0604020202020204" pitchFamily="34" charset="0"/>
                <a:cs typeface="Helvetica" panose="020B0604020202020204" pitchFamily="34" charset="0"/>
              </a:rPr>
              <a:t>Fraude citée</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Faux actes d'état civil</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Dossiers passés en interne</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Montants majorés (ayants droit)</a:t>
            </a:r>
          </a:p>
          <a:p>
            <a:pPr lvl="0">
              <a:spcBef>
                <a:spcPts val="600"/>
              </a:spcBef>
              <a:defRPr/>
            </a:pPr>
            <a:r>
              <a:rPr kumimoji="1" lang="fr-CI" sz="1200" b="1" noProof="0">
                <a:latin typeface="Helvetica" panose="020B0604020202020204" pitchFamily="34" charset="0"/>
                <a:cs typeface="Helvetica" panose="020B0604020202020204" pitchFamily="34" charset="0"/>
              </a:rPr>
              <a:t>Outils</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Pas de logiciel dédié</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Tableau de bord personnel</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Logiciel en projet</a:t>
            </a:r>
          </a:p>
          <a:p>
            <a:pPr marL="252000" lvl="0" indent="-144000">
              <a:spcBef>
                <a:spcPts val="300"/>
              </a:spcBef>
              <a:buFont typeface="Wingdings" panose="05000000000000000000" pitchFamily="2" charset="2"/>
              <a:buChar char="n"/>
              <a:defRPr/>
            </a:pPr>
            <a:r>
              <a:rPr kumimoji="1" lang="fr-CI" sz="1200" noProof="0">
                <a:latin typeface="Helvetica" panose="020B0604020202020204" pitchFamily="34" charset="0"/>
                <a:cs typeface="Helvetica" panose="020B0604020202020204" pitchFamily="34" charset="0"/>
              </a:rPr>
              <a:t>Pas de reporting périodique</a:t>
            </a:r>
          </a:p>
        </p:txBody>
      </p:sp>
      <p:sp>
        <p:nvSpPr>
          <p:cNvPr id="3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Contrôles, fraude et outils</a:t>
            </a:r>
          </a:p>
        </p:txBody>
      </p:sp>
      <p:sp>
        <p:nvSpPr>
          <p:cNvPr id="3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contrôles reposent sur le chef de service, sans procédure validée</a:t>
            </a:r>
          </a:p>
        </p:txBody>
      </p:sp>
      <p:sp>
        <p:nvSpPr>
          <p:cNvPr id="3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manuel de procédures proposé en 2014 n'a pas été validé à sa connaissance, et aucun logiciel dédié n'existe</a:t>
            </a:r>
          </a:p>
        </p:txBody>
      </p:sp>
    </p:spTree>
    <p:extLst>
      <p:ext uri="{BB962C8B-B14F-4D97-AF65-F5344CB8AC3E}">
        <p14:creationId xmlns:p14="http://schemas.microsoft.com/office/powerpoint/2010/main" val="130740461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Image 22"/>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graphicFrame>
        <p:nvGraphicFramePr>
          <p:cNvPr id="22" name="Group 3"/>
          <p:cNvGraphicFramePr>
            <a:graphicFrameLocks noGrp="1"/>
          </p:cNvGraphicFramePr>
          <p:nvPr>
            <p:extLst>
              <p:ext uri="{D42A27DB-BD31-4B8C-83A1-F6EECF244321}">
                <p14:modId xmlns:p14="http://schemas.microsoft.com/office/powerpoint/2010/main" val="2682352352"/>
              </p:ext>
            </p:extLst>
          </p:nvPr>
        </p:nvGraphicFramePr>
        <p:xfrm>
          <a:off x="601313" y="1484490"/>
          <a:ext cx="11237975" cy="3498916"/>
        </p:xfrm>
        <a:graphic>
          <a:graphicData uri="http://schemas.openxmlformats.org/drawingml/2006/table">
            <a:tbl>
              <a:tblPr/>
              <a:tblGrid>
                <a:gridCol w="3059922">
                  <a:extLst>
                    <a:ext uri="{9D8B030D-6E8A-4147-A177-3AD203B41FA5}">
                      <a16:colId xmlns:a16="http://schemas.microsoft.com/office/drawing/2014/main" val="20000"/>
                    </a:ext>
                  </a:extLst>
                </a:gridCol>
                <a:gridCol w="3059922">
                  <a:extLst>
                    <a:ext uri="{9D8B030D-6E8A-4147-A177-3AD203B41FA5}">
                      <a16:colId xmlns:a16="http://schemas.microsoft.com/office/drawing/2014/main" val="20001"/>
                    </a:ext>
                  </a:extLst>
                </a:gridCol>
                <a:gridCol w="2649375">
                  <a:extLst>
                    <a:ext uri="{9D8B030D-6E8A-4147-A177-3AD203B41FA5}">
                      <a16:colId xmlns:a16="http://schemas.microsoft.com/office/drawing/2014/main" val="20002"/>
                    </a:ext>
                  </a:extLst>
                </a:gridCol>
                <a:gridCol w="2468756">
                  <a:extLst>
                    <a:ext uri="{9D8B030D-6E8A-4147-A177-3AD203B41FA5}">
                      <a16:colId xmlns:a16="http://schemas.microsoft.com/office/drawing/2014/main" val="20003"/>
                    </a:ext>
                  </a:extLst>
                </a:gridCol>
              </a:tblGrid>
              <a:tr h="348916">
                <a:tc>
                  <a:txBody>
                    <a:bodyPr/>
                    <a:lstStyle/>
                    <a:p>
                      <a:pPr marL="0" marR="0" lvl="0" indent="0" algn="l" defTabSz="684213" rtl="0" eaLnBrk="0" fontAlgn="base" latinLnBrk="0" hangingPunct="0">
                        <a:lnSpc>
                          <a:spcPct val="100000"/>
                        </a:lnSpc>
                        <a:spcBef>
                          <a:spcPts val="400"/>
                        </a:spcBef>
                        <a:spcAft>
                          <a:spcPts val="600"/>
                        </a:spcAft>
                        <a:buClrTx/>
                        <a:buSzPct val="25000"/>
                        <a:buFont typeface="Wingdings" pitchFamily="2" charset="2"/>
                        <a:buNone/>
                        <a:tabLst/>
                      </a:pPr>
                      <a:r>
                        <a:rPr kumimoji="0" lang="fr-CI" sz="1200" b="1" u="none" strike="noStrike" cap="none" normalizeH="0" baseline="0" noProof="0">
                          <a:ln>
                            <a:noFill/>
                          </a:ln>
                          <a:solidFill>
                            <a:schemeClr val="tx1"/>
                          </a:solidFill>
                          <a:effectLst/>
                          <a:latin typeface="Helvetica" panose="020B0604020202020204" pitchFamily="34" charset="0"/>
                          <a:cs typeface="Helvetica" panose="020B0604020202020204" pitchFamily="34" charset="0"/>
                        </a:rPr>
                        <a:t>Sujet</a:t>
                      </a:r>
                      <a:endParaRPr kumimoji="0" lang="fr-CI" sz="1200" b="1" i="0" u="none" strike="noStrike" cap="none" normalizeH="0" baseline="0" noProof="0">
                        <a:ln>
                          <a:noFill/>
                        </a:ln>
                        <a:solidFill>
                          <a:schemeClr val="tx1"/>
                        </a:solidFill>
                        <a:effectLst/>
                        <a:latin typeface="Helvetica" panose="020B0604020202020204" pitchFamily="34" charset="0"/>
                        <a:cs typeface="Helvetica" panose="020B0604020202020204" pitchFamily="34" charset="0"/>
                      </a:endParaRPr>
                    </a:p>
                  </a:txBody>
                  <a:tcPr marT="91440" marB="91440" anchor="ctr" horzOverflow="overflow" marL="91440">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4213" rtl="0" eaLnBrk="0" fontAlgn="base" latinLnBrk="0" hangingPunct="0">
                        <a:lnSpc>
                          <a:spcPct val="100000"/>
                        </a:lnSpc>
                        <a:spcBef>
                          <a:spcPts val="400"/>
                        </a:spcBef>
                        <a:spcAft>
                          <a:spcPts val="600"/>
                        </a:spcAft>
                        <a:buClrTx/>
                        <a:buSzPct val="65000"/>
                        <a:buFont typeface="Wingdings"/>
                        <a:buNone/>
                        <a:tabLst/>
                      </a:pPr>
                      <a:r>
                        <a:rPr kumimoji="0" lang="fr-CI" sz="1200" b="1"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Constat ou engagement</a:t>
                      </a:r>
                      <a:endParaRPr kumimoji="0" lang="fr-CI" sz="1200" b="1"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anchor="ctr" horzOverflow="overflow" marL="9144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4213" rtl="0" eaLnBrk="0" fontAlgn="base" latinLnBrk="0" hangingPunct="0">
                        <a:lnSpc>
                          <a:spcPct val="100000"/>
                        </a:lnSpc>
                        <a:spcBef>
                          <a:spcPts val="400"/>
                        </a:spcBef>
                        <a:spcAft>
                          <a:spcPts val="600"/>
                        </a:spcAft>
                        <a:buClrTx/>
                        <a:buSzPct val="65000"/>
                        <a:buFont typeface="Wingdings"/>
                        <a:buNone/>
                        <a:tabLst/>
                      </a:pPr>
                      <a:r>
                        <a:rPr kumimoji="0" lang="fr-CI" sz="1200" b="1"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Conséquence pour la mission</a:t>
                      </a:r>
                      <a:endParaRPr kumimoji="0" lang="fr-CI" sz="1200" b="1"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anchor="ctr" horzOverflow="overflow" marL="9144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4213" rtl="0" eaLnBrk="0" fontAlgn="base" latinLnBrk="0" hangingPunct="0">
                        <a:lnSpc>
                          <a:spcPct val="100000"/>
                        </a:lnSpc>
                        <a:spcBef>
                          <a:spcPts val="400"/>
                        </a:spcBef>
                        <a:spcAft>
                          <a:spcPts val="600"/>
                        </a:spcAft>
                        <a:buClrTx/>
                        <a:buSzPct val="65000"/>
                        <a:buFont typeface="Wingdings"/>
                        <a:buNone/>
                        <a:tabLst/>
                      </a:pPr>
                      <a:r>
                        <a:rPr kumimoji="0" lang="fr-CI" sz="1200" b="1"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Suite</a:t>
                      </a:r>
                      <a:endParaRPr kumimoji="0" lang="fr-CI" sz="1200" b="1"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anchor="ctr" horzOverflow="overflow" marL="91440">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0000">
                <a:tc>
                  <a:txBody>
                    <a:bodyPr/>
                    <a:lstStyle/>
                    <a:p>
                      <a:pPr marL="0" marR="0" lvl="0" indent="0" algn="l" defTabSz="684213" rtl="0" eaLnBrk="0" fontAlgn="base" latinLnBrk="0" hangingPunct="0">
                        <a:lnSpc>
                          <a:spcPct val="100000"/>
                        </a:lnSpc>
                        <a:spcBef>
                          <a:spcPts val="300"/>
                        </a:spcBef>
                        <a:spcAft>
                          <a:spcPts val="600"/>
                        </a:spcAft>
                        <a:buClrTx/>
                        <a:buSzPct val="25000"/>
                        <a:buFont typeface="Wingdings" pitchFamily="2" charset="2"/>
                        <a:buNone/>
                        <a:tabLst/>
                      </a:pPr>
                      <a:r>
                        <a:rPr kumimoji="0" lang="fr-CI" sz="1200" b="0" u="none" strike="noStrike" cap="none" normalizeH="0" baseline="0" noProof="0">
                          <a:ln>
                            <a:noFill/>
                          </a:ln>
                          <a:solidFill>
                            <a:schemeClr val="tx1"/>
                          </a:solidFill>
                          <a:effectLst/>
                          <a:latin typeface="Helvetica" panose="020B0604020202020204" pitchFamily="34" charset="0"/>
                          <a:cs typeface="Helvetica" panose="020B0604020202020204" pitchFamily="34" charset="0"/>
                        </a:rPr>
                        <a:t>Sinistralité 2019-2026</a:t>
                      </a:r>
                      <a:endParaRPr kumimoji="0" lang="fr-CI" sz="1200" b="0" i="0" u="none" strike="noStrike" cap="none" normalizeH="0" baseline="0" noProof="0">
                        <a:ln>
                          <a:noFill/>
                        </a:ln>
                        <a:solidFill>
                          <a:schemeClr val="tx1"/>
                        </a:solidFill>
                        <a:effectLst/>
                        <a:latin typeface="Helvetica" panose="020B0604020202020204" pitchFamily="34" charset="0"/>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100000"/>
                        <a:buNone/>
                        <a:tabLst/>
                        <a:defRPr/>
                      </a:pPr>
                      <a:r>
                        <a:rPr kumimoji="0" lang="fr-CI" sz="1200" u="none" strike="noStrike" kern="1200" cap="none" spc="0" normalizeH="0" baseline="0" noProof="0">
                          <a:ln>
                            <a:noFill/>
                          </a:ln>
                          <a:solidFill>
                            <a:schemeClr val="tx1"/>
                          </a:solidFill>
                          <a:effectLst/>
                          <a:uLnTx/>
                          <a:uFillTx/>
                          <a:latin typeface="Helvetica" panose="020B0604020202020204" pitchFamily="34" charset="0"/>
                          <a:cs typeface="Helvetica" panose="020B0604020202020204" pitchFamily="34" charset="0"/>
                        </a:rPr>
                        <a:t>Fichiers promis par l'interlocuteur</a:t>
                      </a: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Base du recalcul des ratios</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defRPr/>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Demande complémentaire n°27</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50000">
                <a:tc>
                  <a:txBody>
                    <a:bodyPr/>
                    <a:lstStyle/>
                    <a:p>
                      <a:pPr marL="0" marR="0" lvl="0" indent="0" algn="l" defTabSz="684213" rtl="0" eaLnBrk="0" fontAlgn="base" latinLnBrk="0" hangingPunct="0">
                        <a:lnSpc>
                          <a:spcPct val="100000"/>
                        </a:lnSpc>
                        <a:spcBef>
                          <a:spcPts val="300"/>
                        </a:spcBef>
                        <a:spcAft>
                          <a:spcPts val="600"/>
                        </a:spcAft>
                        <a:buClrTx/>
                        <a:buSzPct val="25000"/>
                        <a:buFont typeface="Wingdings" pitchFamily="2" charset="2"/>
                        <a:buNone/>
                        <a:tabLst/>
                      </a:pPr>
                      <a:r>
                        <a:rPr kumimoji="0" lang="fr-CI" sz="1200" b="0" u="none" strike="noStrike" cap="none" normalizeH="0" baseline="0" noProof="0">
                          <a:ln>
                            <a:noFill/>
                          </a:ln>
                          <a:solidFill>
                            <a:schemeClr val="tx1"/>
                          </a:solidFill>
                          <a:effectLst/>
                          <a:latin typeface="Helvetica" panose="020B0604020202020204" pitchFamily="34" charset="0"/>
                          <a:cs typeface="Helvetica" panose="020B0604020202020204" pitchFamily="34" charset="0"/>
                        </a:rPr>
                        <a:t>Base des sinistres</a:t>
                      </a:r>
                      <a:endParaRPr kumimoji="0" lang="fr-CI" sz="1200" b="0" i="0" u="none" strike="noStrike" cap="none" normalizeH="0" baseline="0" noProof="0">
                        <a:ln>
                          <a:noFill/>
                        </a:ln>
                        <a:solidFill>
                          <a:schemeClr val="tx1"/>
                        </a:solidFill>
                        <a:effectLst/>
                        <a:latin typeface="Helvetica" panose="020B0604020202020204" pitchFamily="34" charset="0"/>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53565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100000"/>
                        <a:buNone/>
                        <a:tabLst/>
                        <a:defRPr/>
                      </a:pPr>
                      <a:r>
                        <a:rPr kumimoji="0" lang="fr-CI" sz="1200" u="none" strike="noStrike" kern="1200" cap="none" spc="0" normalizeH="0" baseline="0" noProof="0" dirty="0">
                          <a:ln>
                            <a:noFill/>
                          </a:ln>
                          <a:solidFill>
                            <a:schemeClr val="tx1"/>
                          </a:solidFill>
                          <a:effectLst/>
                          <a:uLnTx/>
                          <a:uFillTx/>
                          <a:latin typeface="Helvetica" panose="020B0604020202020204" pitchFamily="34" charset="0"/>
                          <a:cs typeface="Helvetica" panose="020B0604020202020204" pitchFamily="34" charset="0"/>
                        </a:rPr>
                        <a:t>Sinistres non séparés par année</a:t>
                      </a: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53565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Calcul des sinistres tardifs impossible sans retraitement</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53565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defRPr/>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Modèle de données joint (n°28)</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53565A"/>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50000">
                <a:tc>
                  <a:txBody>
                    <a:bodyPr/>
                    <a:lstStyle/>
                    <a:p>
                      <a:pPr marL="0" marR="0" lvl="0" indent="0" algn="l" defTabSz="684213" rtl="0" eaLnBrk="0" fontAlgn="base" latinLnBrk="0" hangingPunct="0">
                        <a:lnSpc>
                          <a:spcPct val="100000"/>
                        </a:lnSpc>
                        <a:spcBef>
                          <a:spcPts val="300"/>
                        </a:spcBef>
                        <a:spcAft>
                          <a:spcPts val="600"/>
                        </a:spcAft>
                        <a:buClrTx/>
                        <a:buSzPct val="25000"/>
                        <a:buFont typeface="Wingdings" pitchFamily="2" charset="2"/>
                        <a:buNone/>
                        <a:tabLst/>
                      </a:pPr>
                      <a:r>
                        <a:rPr kumimoji="0" lang="fr-CI" sz="1200" b="0" u="none" strike="noStrike" cap="none" normalizeH="0" baseline="0" noProof="0">
                          <a:ln>
                            <a:noFill/>
                          </a:ln>
                          <a:solidFill>
                            <a:schemeClr val="tx1"/>
                          </a:solidFill>
                          <a:effectLst/>
                          <a:latin typeface="Helvetica" panose="020B0604020202020204" pitchFamily="34" charset="0"/>
                          <a:cs typeface="Helvetica" panose="020B0604020202020204" pitchFamily="34" charset="0"/>
                        </a:rPr>
                        <a:t>Revalorisation</a:t>
                      </a:r>
                      <a:endParaRPr kumimoji="0" lang="fr-CI" sz="1200" b="0" i="0" u="none" strike="noStrike" cap="none" normalizeH="0" baseline="0" noProof="0">
                        <a:ln>
                          <a:noFill/>
                        </a:ln>
                        <a:solidFill>
                          <a:schemeClr val="tx1"/>
                        </a:solidFill>
                        <a:effectLst/>
                        <a:latin typeface="Helvetica" panose="020B0604020202020204" pitchFamily="34" charset="0"/>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3565A"/>
                      </a:solidFill>
                      <a:prstDash val="solid"/>
                      <a:round/>
                      <a:headEnd type="none" w="med" len="med"/>
                      <a:tailEnd type="none" w="med" len="med"/>
                    </a:lnT>
                    <a:lnB w="6350" cap="flat" cmpd="sng" algn="ctr">
                      <a:solidFill>
                        <a:srgbClr val="53565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100000"/>
                        <a:buNone/>
                        <a:tabLst/>
                        <a:defRPr/>
                      </a:pPr>
                      <a:r>
                        <a:rPr kumimoji="0" lang="fr-CI" sz="1200" u="none" strike="noStrike" kern="1200" cap="none" spc="0" normalizeH="0" baseline="0" noProof="0">
                          <a:ln>
                            <a:noFill/>
                          </a:ln>
                          <a:solidFill>
                            <a:schemeClr val="tx1"/>
                          </a:solidFill>
                          <a:effectLst/>
                          <a:uLnTx/>
                          <a:uFillTx/>
                          <a:latin typeface="Helvetica" panose="020B0604020202020204" pitchFamily="34" charset="0"/>
                          <a:cs typeface="Helvetica" panose="020B0604020202020204" pitchFamily="34" charset="0"/>
                        </a:rPr>
                        <a:t>Trois options chiffrées en 2026</a:t>
                      </a: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3565A"/>
                      </a:solidFill>
                      <a:prstDash val="solid"/>
                      <a:round/>
                      <a:headEnd type="none" w="med" len="med"/>
                      <a:tailEnd type="none" w="med" len="med"/>
                    </a:lnT>
                    <a:lnB w="6350" cap="flat" cmpd="sng" algn="ctr">
                      <a:solidFill>
                        <a:srgbClr val="53565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Revue des hypothèses et du respect des ratios</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3565A"/>
                      </a:solidFill>
                      <a:prstDash val="solid"/>
                      <a:round/>
                      <a:headEnd type="none" w="med" len="med"/>
                      <a:tailEnd type="none" w="med" len="med"/>
                    </a:lnT>
                    <a:lnB w="6350" cap="flat" cmpd="sng" algn="ctr">
                      <a:solidFill>
                        <a:srgbClr val="53565A"/>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defRPr/>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Demande n°31</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3565A"/>
                      </a:solidFill>
                      <a:prstDash val="solid"/>
                      <a:round/>
                      <a:headEnd type="none" w="med" len="med"/>
                      <a:tailEnd type="none" w="med" len="med"/>
                    </a:lnT>
                    <a:lnB w="6350" cap="flat" cmpd="sng" algn="ctr">
                      <a:solidFill>
                        <a:srgbClr val="53565A"/>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50000">
                <a:tc>
                  <a:txBody>
                    <a:bodyPr/>
                    <a:lstStyle/>
                    <a:p>
                      <a:pPr marL="0" marR="0" lvl="0" indent="0" algn="l" defTabSz="684213" rtl="0" eaLnBrk="0" fontAlgn="base" latinLnBrk="0" hangingPunct="0">
                        <a:lnSpc>
                          <a:spcPct val="100000"/>
                        </a:lnSpc>
                        <a:spcBef>
                          <a:spcPts val="300"/>
                        </a:spcBef>
                        <a:spcAft>
                          <a:spcPts val="600"/>
                        </a:spcAft>
                        <a:buClrTx/>
                        <a:buSzPct val="25000"/>
                        <a:buFont typeface="Wingdings" pitchFamily="2" charset="2"/>
                        <a:buNone/>
                        <a:tabLst/>
                      </a:pPr>
                      <a:r>
                        <a:rPr kumimoji="0" lang="fr-CI" sz="1200" b="0" u="none" strike="noStrike" cap="none" normalizeH="0" baseline="0" noProof="0">
                          <a:ln>
                            <a:noFill/>
                          </a:ln>
                          <a:solidFill>
                            <a:schemeClr val="tx1"/>
                          </a:solidFill>
                          <a:effectLst/>
                          <a:latin typeface="Helvetica" panose="020B0604020202020204" pitchFamily="34" charset="0"/>
                          <a:cs typeface="Helvetica" panose="020B0604020202020204" pitchFamily="34" charset="0"/>
                        </a:rPr>
                        <a:t>Rapport de l'AIRMS</a:t>
                      </a:r>
                      <a:endParaRPr kumimoji="0" lang="fr-CI" sz="1200" b="0" i="0" u="none" strike="noStrike" cap="none" normalizeH="0" baseline="0" noProof="0">
                        <a:ln>
                          <a:noFill/>
                        </a:ln>
                        <a:solidFill>
                          <a:schemeClr val="tx1"/>
                        </a:solidFill>
                        <a:effectLst/>
                        <a:latin typeface="Helvetica" panose="020B0604020202020204" pitchFamily="34" charset="0"/>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3565A"/>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100000"/>
                        <a:buNone/>
                        <a:tabLst/>
                        <a:defRPr/>
                      </a:pPr>
                      <a:r>
                        <a:rPr kumimoji="0" lang="fr-CI" sz="1200" u="none" strike="noStrike" kern="1200" cap="none" spc="0" normalizeH="0" baseline="0" noProof="0">
                          <a:ln>
                            <a:noFill/>
                          </a:ln>
                          <a:solidFill>
                            <a:schemeClr val="tx1"/>
                          </a:solidFill>
                          <a:effectLst/>
                          <a:uLnTx/>
                          <a:uFillTx/>
                          <a:latin typeface="Helvetica" panose="020B0604020202020204" pitchFamily="34" charset="0"/>
                          <a:cs typeface="Helvetica" panose="020B0604020202020204" pitchFamily="34" charset="0"/>
                        </a:rPr>
                        <a:t>Redressement en cours</a:t>
                      </a: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3565A"/>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Exigences du régulateur à intégrer</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3565A"/>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defRPr/>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Demande n°35</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53565A"/>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450000">
                <a:tc>
                  <a:txBody>
                    <a:bodyPr/>
                    <a:lstStyle/>
                    <a:p>
                      <a:pPr marL="0" marR="0" lvl="0" indent="0" algn="l" defTabSz="684213" rtl="0" eaLnBrk="0" fontAlgn="base" latinLnBrk="0" hangingPunct="0">
                        <a:lnSpc>
                          <a:spcPct val="100000"/>
                        </a:lnSpc>
                        <a:spcBef>
                          <a:spcPts val="300"/>
                        </a:spcBef>
                        <a:spcAft>
                          <a:spcPts val="600"/>
                        </a:spcAft>
                        <a:buClrTx/>
                        <a:buSzPct val="25000"/>
                        <a:buFont typeface="Wingdings" pitchFamily="2" charset="2"/>
                        <a:buNone/>
                        <a:tabLst/>
                      </a:pPr>
                      <a:r>
                        <a:rPr kumimoji="0" lang="fr-CI" sz="1200" b="0" u="none" strike="noStrike" cap="none" normalizeH="0" baseline="0" noProof="0">
                          <a:ln>
                            <a:noFill/>
                          </a:ln>
                          <a:solidFill>
                            <a:schemeClr val="tx1"/>
                          </a:solidFill>
                          <a:effectLst/>
                          <a:latin typeface="Helvetica" panose="020B0604020202020204" pitchFamily="34" charset="0"/>
                          <a:cs typeface="Helvetica" panose="020B0604020202020204" pitchFamily="34" charset="0"/>
                        </a:rPr>
                        <a:t>Volet médical</a:t>
                      </a:r>
                      <a:endParaRPr kumimoji="0" lang="fr-CI" sz="1200" b="0" i="0" u="none" strike="noStrike" cap="none" normalizeH="0" baseline="0" noProof="0">
                        <a:ln>
                          <a:noFill/>
                        </a:ln>
                        <a:solidFill>
                          <a:schemeClr val="tx1"/>
                        </a:solidFill>
                        <a:effectLst/>
                        <a:latin typeface="Helvetica" panose="020B0604020202020204" pitchFamily="34" charset="0"/>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100000"/>
                        <a:buNone/>
                        <a:tabLst/>
                        <a:defRPr/>
                      </a:pPr>
                      <a:r>
                        <a:rPr kumimoji="0" lang="fr-CI" sz="1200" u="none" strike="noStrike" kern="1200" cap="none" spc="0" normalizeH="0" baseline="0" noProof="0">
                          <a:ln>
                            <a:noFill/>
                          </a:ln>
                          <a:solidFill>
                            <a:schemeClr val="tx1"/>
                          </a:solidFill>
                          <a:effectLst/>
                          <a:uLnTx/>
                          <a:uFillTx/>
                          <a:latin typeface="Helvetica" panose="020B0604020202020204" pitchFamily="34" charset="0"/>
                          <a:cs typeface="Helvetica" panose="020B0604020202020204" pitchFamily="34" charset="0"/>
                        </a:rPr>
                        <a:t>Aucun contrôle avant paiement</a:t>
                      </a: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Risque sur l'éligibilité et les montants payés</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defRPr/>
                      </a:pPr>
                      <a:r>
                        <a:rPr kumimoji="0" lang="fr-CI" sz="1200" u="none" strike="noStrike" kern="1200" cap="none" normalizeH="0" baseline="0" noProof="0" dirty="0">
                          <a:ln>
                            <a:noFill/>
                          </a:ln>
                          <a:solidFill>
                            <a:schemeClr val="tx1"/>
                          </a:solidFill>
                          <a:effectLst/>
                          <a:latin typeface="Helvetica" panose="020B0604020202020204" pitchFamily="34" charset="0"/>
                          <a:cs typeface="Helvetica" panose="020B0604020202020204" pitchFamily="34" charset="0"/>
                        </a:rPr>
                        <a:t>Tests et analyses santé (n°40 à 43)</a:t>
                      </a:r>
                      <a:endParaRPr kumimoji="0" lang="fr-CI" sz="1200" b="0" i="0" u="none" strike="noStrike" kern="1200" cap="none" normalizeH="0" baseline="0" noProof="0" dirty="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450000">
                <a:tc>
                  <a:txBody>
                    <a:bodyPr/>
                    <a:lstStyle/>
                    <a:p>
                      <a:pPr marL="0" marR="0" lvl="0" indent="0" algn="l" defTabSz="684213" rtl="0" eaLnBrk="0" fontAlgn="base" latinLnBrk="0" hangingPunct="0">
                        <a:lnSpc>
                          <a:spcPct val="100000"/>
                        </a:lnSpc>
                        <a:spcBef>
                          <a:spcPts val="300"/>
                        </a:spcBef>
                        <a:spcAft>
                          <a:spcPts val="600"/>
                        </a:spcAft>
                        <a:buClrTx/>
                        <a:buSzPct val="25000"/>
                        <a:buFont typeface="Wingdings" pitchFamily="2" charset="2"/>
                        <a:buNone/>
                        <a:tabLst/>
                      </a:pPr>
                      <a:r>
                        <a:rPr kumimoji="0" lang="fr-CI" sz="1200" b="0" u="none" strike="noStrike" cap="none" normalizeH="0" baseline="0" noProof="0">
                          <a:ln>
                            <a:noFill/>
                          </a:ln>
                          <a:solidFill>
                            <a:schemeClr val="tx1"/>
                          </a:solidFill>
                          <a:effectLst/>
                          <a:latin typeface="Helvetica" panose="020B0604020202020204" pitchFamily="34" charset="0"/>
                          <a:cs typeface="Helvetica" panose="020B0604020202020204" pitchFamily="34" charset="0"/>
                        </a:rPr>
                        <a:t>Procédures</a:t>
                      </a:r>
                      <a:endParaRPr kumimoji="0" lang="fr-CI" sz="1200" b="0" i="0" u="none" strike="noStrike" cap="none" normalizeH="0" baseline="0" noProof="0">
                        <a:ln>
                          <a:noFill/>
                        </a:ln>
                        <a:solidFill>
                          <a:schemeClr val="tx1"/>
                        </a:solidFill>
                        <a:effectLst/>
                        <a:latin typeface="Helvetica" panose="020B0604020202020204" pitchFamily="34" charset="0"/>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100000"/>
                        <a:buNone/>
                        <a:tabLst/>
                        <a:defRPr/>
                      </a:pPr>
                      <a:r>
                        <a:rPr kumimoji="0" lang="fr-CI" sz="1200" u="none" strike="noStrike" kern="1200" cap="none" spc="0" normalizeH="0" baseline="0" noProof="0">
                          <a:ln>
                            <a:noFill/>
                          </a:ln>
                          <a:solidFill>
                            <a:schemeClr val="tx1"/>
                          </a:solidFill>
                          <a:effectLst/>
                          <a:uLnTx/>
                          <a:uFillTx/>
                          <a:latin typeface="Helvetica" panose="020B0604020202020204" pitchFamily="34" charset="0"/>
                          <a:cs typeface="Helvetica" panose="020B0604020202020204" pitchFamily="34" charset="0"/>
                        </a:rPr>
                        <a:t>Manuel de 2014 non validé</a:t>
                      </a: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Contrôle interne à apprécier sur pièces</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defRPr/>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Échantillon de dossiers à tester</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50000">
                <a:tc>
                  <a:txBody>
                    <a:bodyPr/>
                    <a:lstStyle/>
                    <a:p>
                      <a:pPr marL="0" marR="0" lvl="0" indent="0" algn="l" defTabSz="684213" rtl="0" eaLnBrk="0" fontAlgn="base" latinLnBrk="0" hangingPunct="0">
                        <a:lnSpc>
                          <a:spcPct val="100000"/>
                        </a:lnSpc>
                        <a:spcBef>
                          <a:spcPts val="300"/>
                        </a:spcBef>
                        <a:spcAft>
                          <a:spcPts val="600"/>
                        </a:spcAft>
                        <a:buClrTx/>
                        <a:buSzPct val="25000"/>
                        <a:buFont typeface="Wingdings" pitchFamily="2" charset="2"/>
                        <a:buNone/>
                        <a:tabLst/>
                      </a:pPr>
                      <a:r>
                        <a:rPr kumimoji="0" lang="fr-CI" sz="1200" b="0" u="none" strike="noStrike" cap="none" normalizeH="0" baseline="0" noProof="0">
                          <a:ln>
                            <a:noFill/>
                          </a:ln>
                          <a:solidFill>
                            <a:schemeClr val="tx1"/>
                          </a:solidFill>
                          <a:effectLst/>
                          <a:latin typeface="Helvetica" panose="020B0604020202020204" pitchFamily="34" charset="0"/>
                          <a:cs typeface="Helvetica" panose="020B0604020202020204" pitchFamily="34" charset="0"/>
                        </a:rPr>
                        <a:t>Accès à l'espace documentaire</a:t>
                      </a:r>
                      <a:endParaRPr kumimoji="0" lang="fr-CI" sz="1200" b="0" i="0" u="none" strike="noStrike" cap="none" normalizeH="0" baseline="0" noProof="0">
                        <a:ln>
                          <a:noFill/>
                        </a:ln>
                        <a:solidFill>
                          <a:schemeClr val="tx1"/>
                        </a:solidFill>
                        <a:effectLst/>
                        <a:latin typeface="Helvetica" panose="020B0604020202020204" pitchFamily="34" charset="0"/>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100000"/>
                        <a:buNone/>
                        <a:tabLst/>
                        <a:defRPr/>
                      </a:pPr>
                      <a:r>
                        <a:rPr kumimoji="0" lang="fr-CI" sz="1200" u="none" strike="noStrike" kern="1200" cap="none" spc="0" normalizeH="0" baseline="0" noProof="0">
                          <a:ln>
                            <a:noFill/>
                          </a:ln>
                          <a:solidFill>
                            <a:schemeClr val="tx1"/>
                          </a:solidFill>
                          <a:effectLst/>
                          <a:uLnTx/>
                          <a:uFillTx/>
                          <a:latin typeface="Helvetica" panose="020B0604020202020204" pitchFamily="34" charset="0"/>
                          <a:cs typeface="Helvetica" panose="020B0604020202020204" pitchFamily="34" charset="0"/>
                        </a:rPr>
                        <a:t>Interlocuteur à ajouter</a:t>
                      </a: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Dépôt des documents par le service</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ts val="600"/>
                        </a:spcAft>
                        <a:buClrTx/>
                        <a:buSzPct val="65000"/>
                        <a:buFont typeface="Wingdings"/>
                        <a:buNone/>
                        <a:tabLst/>
                        <a:defRPr/>
                      </a:pPr>
                      <a:r>
                        <a:rPr kumimoji="0" lang="fr-CI" sz="1200" u="none" strike="noStrike" kern="1200" cap="none" normalizeH="0" baseline="0" noProof="0">
                          <a:ln>
                            <a:noFill/>
                          </a:ln>
                          <a:solidFill>
                            <a:schemeClr val="tx1"/>
                          </a:solidFill>
                          <a:effectLst/>
                          <a:latin typeface="Helvetica" panose="020B0604020202020204" pitchFamily="34" charset="0"/>
                          <a:cs typeface="Helvetica" panose="020B0604020202020204" pitchFamily="34" charset="0"/>
                        </a:rPr>
                        <a:t>Échéance au 21/10/2026</a:t>
                      </a:r>
                      <a:endParaRPr kumimoji="0" lang="fr-CI" sz="1200" b="0" i="0" u="none" strike="noStrike" kern="1200" cap="none" normalizeH="0" baseline="0" noProof="0">
                        <a:ln>
                          <a:noFill/>
                        </a:ln>
                        <a:solidFill>
                          <a:schemeClr val="tx1"/>
                        </a:solidFill>
                        <a:effectLst/>
                        <a:latin typeface="Helvetica" panose="020B0604020202020204" pitchFamily="34" charset="0"/>
                        <a:ea typeface="+mn-ea"/>
                        <a:cs typeface="Helvetica" panose="020B0604020202020204" pitchFamily="34" charset="0"/>
                      </a:endParaRPr>
                    </a:p>
                  </a:txBody>
                  <a:tcPr marT="91440" marB="91440" horzOverflow="overflow" marL="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24" name="Rectangle 23"/>
          <p:cNvSpPr/>
          <p:nvPr/>
        </p:nvSpPr>
        <p:spPr>
          <a:xfrm>
            <a:off x="586564" y="1456893"/>
            <a:ext cx="11237975" cy="45719"/>
          </a:xfrm>
          <a:prstGeom prst="rect">
            <a:avLst/>
          </a:prstGeom>
          <a:solidFill>
            <a:srgbClr val="112A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sp>
        <p:nvSpPr>
          <p:cNvPr id="2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Documents et points d'attention</a:t>
            </a:r>
          </a:p>
        </p:txBody>
      </p:sp>
      <p:sp>
        <p:nvSpPr>
          <p:cNvPr id="2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données de sinistres doivent être reconstituées par année de survenance</a:t>
            </a:r>
          </a:p>
        </p:txBody>
      </p:sp>
      <p:sp>
        <p:nvSpPr>
          <p:cNvPr id="2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documents promis et les points relevés orientent les analyses actuarielles et les tests d'audit</a:t>
            </a:r>
          </a:p>
        </p:txBody>
      </p:sp>
      <p:sp>
        <p:nvSpPr>
          <p:cNvPr id="2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16/10/2026.</a:t>
            </a:r>
          </a:p>
        </p:txBody>
      </p:sp>
    </p:spTree>
    <p:extLst>
      <p:ext uri="{BB962C8B-B14F-4D97-AF65-F5344CB8AC3E}">
        <p14:creationId xmlns:p14="http://schemas.microsoft.com/office/powerpoint/2010/main" val="335569716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40667" y="-1240"/>
            <a:ext cx="6858000" cy="6858000"/>
          </a:xfrm>
          <a:prstGeom prst="rect">
            <a:avLst/>
          </a:prstGeom>
        </p:spPr>
      </p:pic>
      <p:sp>
        <p:nvSpPr>
          <p:cNvPr id="15" name="Rectangle 14"/>
          <p:cNvSpPr/>
          <p:nvPr/>
        </p:nvSpPr>
        <p:spPr>
          <a:xfrm>
            <a:off x="0" y="0"/>
            <a:ext cx="6045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3" name="Google Shape;138;p25"/>
          <p:cNvSpPr txBox="1"/>
          <p:nvPr/>
        </p:nvSpPr>
        <p:spPr>
          <a:xfrm>
            <a:off x="920037" y="3088600"/>
            <a:ext cx="5800971" cy="615553"/>
          </a:xfrm>
          <a:prstGeom prst="rect">
            <a:avLst/>
          </a:prstGeom>
          <a:noFill/>
          <a:ln>
            <a:noFill/>
          </a:ln>
        </p:spPr>
        <p:txBody>
          <a:bodyPr spcFirstLastPara="1" wrap="square" lIns="0" tIns="0" rIns="0" bIns="0" anchor="t" anchorCtr="0">
            <a:spAutoFit/>
          </a:bodyPr>
          <a:lstStyle/>
          <a:p>
            <a:r>
              <a:rPr lang="fr-CI" sz="4000" noProof="0">
                <a:solidFill>
                  <a:schemeClr val="bg1"/>
                </a:solidFill>
                <a:latin typeface="Helvetica" panose="020B0604020202020204" pitchFamily="34" charset="0"/>
                <a:cs typeface="Helvetica" panose="020B0604020202020204" pitchFamily="34" charset="0"/>
              </a:rPr>
              <a:t>Merci </a:t>
            </a:r>
          </a:p>
        </p:txBody>
      </p:sp>
    </p:spTree>
    <p:extLst>
      <p:ext uri="{BB962C8B-B14F-4D97-AF65-F5344CB8AC3E}">
        <p14:creationId xmlns:p14="http://schemas.microsoft.com/office/powerpoint/2010/main" val="21165902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2509</TotalTime>
  <Words>16641</Words>
  <Application>Microsoft Office PowerPoint</Application>
  <PresentationFormat>Grand écran</PresentationFormat>
  <Paragraphs>1935</Paragraphs>
  <Slides>12</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Adenka Consulting</dc:creator>
  <cp:lastModifiedBy>Adenka Consulting</cp:lastModifiedBy>
  <cp:revision>1</cp:revision>
  <dcterms:created xsi:type="dcterms:W3CDTF">2025-10-22T15:02:15Z</dcterms:created>
  <dcterms:modified xsi:type="dcterms:W3CDTF">2026-09-23T09:25:57Z</dcterms:modified>
  <dc:subject/>
  <cp:keywords/>
  <dc:description/>
</cp:coreProperties>
</file>