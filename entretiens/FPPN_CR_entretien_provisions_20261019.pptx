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117"/>
  </p:notesMasterIdLst>
  <p:sldIdLst>
    <p:sldId id="256" r:id="rId3"/>
    <p:sldId id="313" r:id="rId7"/>
    <p:sldId id="404" r:id="rId124"/>
    <p:sldId id="405" r:id="rId125"/>
    <p:sldId id="406" r:id="rId126"/>
    <p:sldId id="407" r:id="rId127"/>
    <p:sldId id="408" r:id="rId128"/>
    <p:sldId id="328" r:id="rId1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9C8FC9B7-AD45-409C-8017-02DEBDF9C938}">
          <p14:sldIdLst>
            <p14:sldId id="256"/>
          </p14:sldIdLst>
        </p14:section>
        <p14:section name="Contenu" id="{41430ABC-712C-4A41-8691-5284113E2CD9}">
          <p14:sldIdLst>
            <p14:sldId id="260"/>
            <p14:sldId id="261"/>
            <p14:sldId id="310"/>
            <p14:sldId id="313"/>
            <p14:sldId id="403"/>
            <p14:sldId id="402"/>
            <p14:sldId id="291"/>
            <p14:sldId id="312"/>
            <p14:sldId id="314"/>
            <p14:sldId id="317"/>
            <p14:sldId id="315"/>
            <p14:sldId id="316"/>
            <p14:sldId id="323"/>
            <p14:sldId id="324"/>
            <p14:sldId id="321"/>
            <p14:sldId id="322"/>
            <p14:sldId id="264"/>
            <p14:sldId id="318"/>
            <p14:sldId id="319"/>
            <p14:sldId id="320"/>
            <p14:sldId id="326"/>
            <p14:sldId id="325"/>
            <p14:sldId id="266"/>
            <p14:sldId id="327"/>
            <p14:sldId id="268"/>
            <p14:sldId id="271"/>
            <p14:sldId id="287"/>
            <p14:sldId id="329"/>
            <p14:sldId id="398"/>
            <p14:sldId id="399"/>
            <p14:sldId id="391"/>
            <p14:sldId id="397"/>
            <p14:sldId id="395"/>
            <p14:sldId id="396"/>
            <p14:sldId id="393"/>
            <p14:sldId id="392"/>
            <p14:sldId id="270"/>
            <p14:sldId id="330"/>
            <p14:sldId id="331"/>
            <p14:sldId id="332"/>
            <p14:sldId id="272"/>
            <p14:sldId id="333"/>
            <p14:sldId id="289"/>
            <p14:sldId id="334"/>
            <p14:sldId id="277"/>
            <p14:sldId id="278"/>
            <p14:sldId id="274"/>
            <p14:sldId id="335"/>
            <p14:sldId id="336"/>
            <p14:sldId id="348"/>
            <p14:sldId id="341"/>
            <p14:sldId id="349"/>
            <p14:sldId id="342"/>
            <p14:sldId id="350"/>
            <p14:sldId id="343"/>
            <p14:sldId id="351"/>
            <p14:sldId id="344"/>
            <p14:sldId id="352"/>
            <p14:sldId id="345"/>
            <p14:sldId id="353"/>
            <p14:sldId id="346"/>
            <p14:sldId id="354"/>
            <p14:sldId id="347"/>
            <p14:sldId id="355"/>
            <p14:sldId id="338"/>
            <p14:sldId id="356"/>
            <p14:sldId id="337"/>
            <p14:sldId id="357"/>
            <p14:sldId id="276"/>
            <p14:sldId id="358"/>
            <p14:sldId id="339"/>
            <p14:sldId id="359"/>
            <p14:sldId id="381"/>
            <p14:sldId id="385"/>
            <p14:sldId id="382"/>
            <p14:sldId id="400"/>
            <p14:sldId id="294"/>
            <p14:sldId id="360"/>
            <p14:sldId id="285"/>
            <p14:sldId id="286"/>
            <p14:sldId id="299"/>
            <p14:sldId id="361"/>
            <p14:sldId id="362"/>
            <p14:sldId id="283"/>
            <p14:sldId id="297"/>
            <p14:sldId id="365"/>
            <p14:sldId id="364"/>
            <p14:sldId id="363"/>
            <p14:sldId id="366"/>
            <p14:sldId id="367"/>
            <p14:sldId id="368"/>
            <p14:sldId id="370"/>
            <p14:sldId id="374"/>
            <p14:sldId id="375"/>
          </p14:sldIdLst>
        </p14:section>
        <p14:section name="Graphs" id="{551B27DB-FB3B-4066-9154-1B46F0A65216}">
          <p14:sldIdLst>
            <p14:sldId id="301"/>
            <p14:sldId id="304"/>
            <p14:sldId id="303"/>
            <p14:sldId id="302"/>
            <p14:sldId id="305"/>
            <p14:sldId id="306"/>
            <p14:sldId id="378"/>
            <p14:sldId id="376"/>
            <p14:sldId id="379"/>
            <p14:sldId id="388"/>
            <p14:sldId id="307"/>
            <p14:sldId id="369"/>
            <p14:sldId id="389"/>
            <p14:sldId id="390"/>
          </p14:sldIdLst>
        </p14:section>
        <p14:section name="Merci" id="{DE1A67E5-D1FE-41AF-88BB-A85595BA690B}">
          <p14:sldIdLst>
            <p14:sldId id="328"/>
          </p14:sldIdLst>
        </p14:section>
        <p14:section name="Symboles" id="{49175908-295D-4406-8512-BB62EA88444D}">
          <p14:sldIdLst>
            <p14:sldId id="371"/>
            <p14:sldId id="373"/>
            <p14:sldId id="401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AC62"/>
    <a:srgbClr val="060606"/>
    <a:srgbClr val="112A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BD68B-DEB5-4C72-B758-AA0E2A02C403}" v="4" dt="2026-09-23T09:25:47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7" Type="http://schemas.openxmlformats.org/officeDocument/2006/relationships/slide" Target="slides/slide2.xml"/><Relationship Id="rId112" Type="http://schemas.openxmlformats.org/officeDocument/2006/relationships/slide" Target="slides/slide8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Relationship Id="rId122" Type="http://schemas.microsoft.com/office/2016/11/relationships/changesInfo" Target="changesInfos/changesInfo1.xml"/><Relationship Id="rId123" Type="http://schemas.microsoft.com/office/2015/10/relationships/revisionInfo" Target="revisionInfo.xml"/><Relationship Id="rId124" Type="http://schemas.openxmlformats.org/officeDocument/2006/relationships/slide" Target="slides/slide3.xml"/><Relationship Id="rId125" Type="http://schemas.openxmlformats.org/officeDocument/2006/relationships/slide" Target="slides/slide4.xml"/><Relationship Id="rId126" Type="http://schemas.openxmlformats.org/officeDocument/2006/relationships/slide" Target="slides/slide5.xml"/><Relationship Id="rId127" Type="http://schemas.openxmlformats.org/officeDocument/2006/relationships/slide" Target="slides/slide6.xml"/><Relationship Id="rId12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Noel Sialou" userId="08acc5d2-3819-4be4-97e6-d593a92e8e16" providerId="ADAL" clId="{DC5A2AD4-2AC1-4F5C-A6BF-541681F7EFA2}"/>
    <pc:docChg chg="undo custSel modSld">
      <pc:chgData name="Jean-Noel Sialou" userId="08acc5d2-3819-4be4-97e6-d593a92e8e16" providerId="ADAL" clId="{DC5A2AD4-2AC1-4F5C-A6BF-541681F7EFA2}" dt="2026-09-07T10:18:25.187" v="38" actId="571"/>
      <pc:docMkLst>
        <pc:docMk/>
      </pc:docMkLst>
      <pc:sldChg chg="addSp delSp modSp mod">
        <pc:chgData name="Jean-Noel Sialou" userId="08acc5d2-3819-4be4-97e6-d593a92e8e16" providerId="ADAL" clId="{DC5A2AD4-2AC1-4F5C-A6BF-541681F7EFA2}" dt="2026-09-07T10:18:25.187" v="38" actId="571"/>
        <pc:sldMkLst>
          <pc:docMk/>
          <pc:sldMk cId="2102837376" sldId="358"/>
        </pc:sldMkLst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8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9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1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4" creationId="{00000000-0000-0000-0000-000000000000}"/>
          </ac:spMkLst>
        </pc:s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3" creationId="{C9290073-F4B9-4E89-EC47-0D4815D405F9}"/>
          </ac:grpSpMkLst>
        </pc:gr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7" creationId="{D520CB44-6CB8-26BA-C481-1E6C90DCE023}"/>
          </ac:grpSpMkLst>
        </pc:grpChg>
        <pc:picChg chg="add 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5" creationId="{A59C829E-ED12-0019-96D2-4C72AF995693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31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47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0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4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65" creationId="{00000000-0000-0000-0000-000000000000}"/>
          </ac:picMkLst>
        </pc:picChg>
      </pc:sldChg>
    </pc:docChg>
  </pc:docChgLst>
  <pc:docChgLst>
    <pc:chgData name="Jean-Noel Sialou" userId="08acc5d2-3819-4be4-97e6-d593a92e8e16" providerId="ADAL" clId="{3E2E487B-B21A-43C3-A4E4-C31B8823D31F}"/>
    <pc:docChg chg="modSld">
      <pc:chgData name="Jean-Noel Sialou" userId="08acc5d2-3819-4be4-97e6-d593a92e8e16" providerId="ADAL" clId="{3E2E487B-B21A-43C3-A4E4-C31B8823D31F}" dt="2026-09-23T09:25:47.775" v="6" actId="164"/>
      <pc:docMkLst>
        <pc:docMk/>
      </pc:docMkLst>
      <pc:sldChg chg="modSp mod modAnim">
        <pc:chgData name="Jean-Noel Sialou" userId="08acc5d2-3819-4be4-97e6-d593a92e8e16" providerId="ADAL" clId="{3E2E487B-B21A-43C3-A4E4-C31B8823D31F}" dt="2026-09-15T10:14:35.637" v="5" actId="208"/>
        <pc:sldMkLst>
          <pc:docMk/>
          <pc:sldMk cId="2102837376" sldId="358"/>
        </pc:sldMkLst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1" creationId="{00000000-0000-0000-0000-000000000000}"/>
          </ac:spMkLst>
        </pc:spChg>
        <pc:grpChg chg="mod">
          <ac:chgData name="Jean-Noel Sialou" userId="08acc5d2-3819-4be4-97e6-d593a92e8e16" providerId="ADAL" clId="{3E2E487B-B21A-43C3-A4E4-C31B8823D31F}" dt="2026-09-15T10:14:06.017" v="1" actId="1076"/>
          <ac:grpSpMkLst>
            <pc:docMk/>
            <pc:sldMk cId="2102837376" sldId="358"/>
            <ac:grpSpMk id="7" creationId="{D520CB44-6CB8-26BA-C481-1E6C90DCE023}"/>
          </ac:grpSpMkLst>
        </pc:grpChg>
        <pc:cxnChg chg="mod">
          <ac:chgData name="Jean-Noel Sialou" userId="08acc5d2-3819-4be4-97e6-d593a92e8e16" providerId="ADAL" clId="{3E2E487B-B21A-43C3-A4E4-C31B8823D31F}" dt="2026-09-15T10:14:35.637" v="5" actId="208"/>
          <ac:cxnSpMkLst>
            <pc:docMk/>
            <pc:sldMk cId="2102837376" sldId="358"/>
            <ac:cxnSpMk id="77" creationId="{00000000-0000-0000-0000-000000000000}"/>
          </ac:cxnSpMkLst>
        </pc:cxnChg>
      </pc:sldChg>
      <pc:sldChg chg="addSp modSp modAnim">
        <pc:chgData name="Jean-Noel Sialou" userId="08acc5d2-3819-4be4-97e6-d593a92e8e16" providerId="ADAL" clId="{3E2E487B-B21A-43C3-A4E4-C31B8823D31F}" dt="2026-09-23T09:25:47.775" v="6" actId="164"/>
        <pc:sldMkLst>
          <pc:docMk/>
          <pc:sldMk cId="135173498" sldId="359"/>
        </pc:sldMkLst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6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7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9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2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6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2DAE2-9FC7-48A6-84A5-82A6F426499B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B2686-849E-4084-A991-5071DA2BB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72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Logigramme modifiable. Le montant de l'allocation des officiers n'est pas lisible dans la transcription : il est à confirmer.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863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43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93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77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3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73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72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72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18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57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129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1349794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2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7001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41227808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980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506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42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480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639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746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543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327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853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489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864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524001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8263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 preserve="1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28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8359873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theme" Target="../theme/theme2.xml"/><Relationship Id="rId1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564" b="34369"/>
          <a:stretch/>
        </p:blipFill>
        <p:spPr>
          <a:xfrm>
            <a:off x="-147909" y="-58723"/>
            <a:ext cx="12339909" cy="691672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 userDrawn="1"/>
        </p:nvSpPr>
        <p:spPr>
          <a:xfrm>
            <a:off x="221940" y="6394008"/>
            <a:ext cx="10929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</p:spTree>
    <p:extLst>
      <p:ext uri="{BB962C8B-B14F-4D97-AF65-F5344CB8AC3E}">
        <p14:creationId xmlns:p14="http://schemas.microsoft.com/office/powerpoint/2010/main" val="206341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05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0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" t="524" r="-2445" b="9082"/>
          <a:stretch/>
        </p:blipFill>
        <p:spPr>
          <a:xfrm>
            <a:off x="4883082" y="0"/>
            <a:ext cx="778565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092" y="0"/>
            <a:ext cx="5740400" cy="68580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B17207E-7FD3-4B75-ADFE-CC565F8DB8A1}"/>
              </a:ext>
            </a:extLst>
          </p:cNvPr>
          <p:cNvSpPr txBox="1">
            <a:spLocks/>
          </p:cNvSpPr>
          <p:nvPr/>
        </p:nvSpPr>
        <p:spPr>
          <a:xfrm>
            <a:off x="10506325" y="6388244"/>
            <a:ext cx="1187835" cy="33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I" sz="1000" noProof="0">
                <a:solidFill>
                  <a:srgbClr val="FFFFFF"/>
                </a:solidFill>
                <a:latin typeface=".Helvetica"/>
                <a:ea typeface=".Helvetica Neue Interface" panose="020B0604020202020204" pitchFamily="34" charset="0"/>
                <a:cs typeface="Open Sans"/>
              </a:rPr>
              <a:t>19 octobre 2026</a:t>
            </a:r>
          </a:p>
        </p:txBody>
      </p:sp>
      <p:sp>
        <p:nvSpPr>
          <p:cNvPr id="9" name="Google Shape;138;p25"/>
          <p:cNvSpPr txBox="1"/>
          <p:nvPr/>
        </p:nvSpPr>
        <p:spPr>
          <a:xfrm>
            <a:off x="908861" y="2534894"/>
            <a:ext cx="46080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Entretien</a:t>
            </a:r>
          </a:p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Provisions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87408" y="229231"/>
            <a:ext cx="27045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SA au Capital de 100 millions FCFA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Immeuble le 24, 3e étage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Boulevard </a:t>
            </a:r>
            <a:r>
              <a:rPr lang="fr-CI" sz="1000" noProof="0" err="1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Clozel</a:t>
            </a: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, Plateau, Abidjan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06 BPM 459 Abidjan 06, Côte d’ivoire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NCC : 2404702K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RCCM : CI-ABJ-03-2024-B14-00114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Tel (225) 27 20 33 90 90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www.adenka.ci</a:t>
            </a:r>
          </a:p>
        </p:txBody>
      </p:sp>
    </p:spTree>
    <p:extLst>
      <p:ext uri="{BB962C8B-B14F-4D97-AF65-F5344CB8AC3E}">
        <p14:creationId xmlns:p14="http://schemas.microsoft.com/office/powerpoint/2010/main" val="104732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Informations de l'entretien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Entretien avec le chef comptable sur les provisions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Un entretien consacré aux provisions techniques, à la provision pour départ à la retraite et à l'épargne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(16h)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999" y="1386000"/>
            <a:ext cx="2700000" cy="64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000" y="1422000"/>
            <a:ext cx="2484000" cy="288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500" b="1">
                <a:solidFill>
                  <a:srgbClr val="EFAC62"/>
                </a:solidFill>
                <a:latin typeface="Helvetica"/>
              </a:rPr>
              <a:t>19 octobre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000" y="1745999"/>
            <a:ext cx="2484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Entretien de 16h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48000" y="1386000"/>
            <a:ext cx="2700000" cy="64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56000" y="1422000"/>
            <a:ext cx="2484000" cy="288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500" b="1">
                <a:solidFill>
                  <a:srgbClr val="EFAC62"/>
                </a:solidFill>
                <a:latin typeface="Helvetica"/>
              </a:rPr>
              <a:t>Provisions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000" y="1745999"/>
            <a:ext cx="2484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Maladie, décès, retraite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2000" y="1386000"/>
            <a:ext cx="2700000" cy="64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000" y="1422000"/>
            <a:ext cx="2484000" cy="288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500" b="1">
                <a:solidFill>
                  <a:srgbClr val="EFAC62"/>
                </a:solidFill>
                <a:latin typeface="Helvetica"/>
              </a:rPr>
              <a:t>M. Koffi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000" y="1745999"/>
            <a:ext cx="2484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Chef comptable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6000" y="1386000"/>
            <a:ext cx="2700000" cy="64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422000"/>
            <a:ext cx="2484000" cy="288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500" b="1">
                <a:solidFill>
                  <a:srgbClr val="EFAC62"/>
                </a:solidFill>
                <a:latin typeface="Helvetica"/>
              </a:rPr>
              <a:t>Documents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1745999"/>
            <a:ext cx="2484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Demande complémentaire, items 92 et suivants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503999" y="2232000"/>
          <a:ext cx="11231999" cy="901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5999"/>
                <a:gridCol w="2520000"/>
                <a:gridCol w="3816000"/>
                <a:gridCol w="3240000"/>
              </a:tblGrid>
              <a:tr h="225250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Structure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Nom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Fonction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Rôle dans l'entretien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25250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FPPN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M. Koffi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Chef comptable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Interlocuteur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25250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Adenka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Issa Bamba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Équipe Adenka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Conduite de l'entretien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25250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Adenka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Jean-Noël Sialou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Consultant actuaire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Provisions et engagements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503999" y="3313002"/>
            <a:ext cx="11232000" cy="2554997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200" b="1">
                <a:solidFill>
                  <a:srgbClr val="060606"/>
                </a:solidFill>
                <a:latin typeface="Helvetica"/>
              </a:rPr>
              <a:t>Objet de l'entretien.</a:t>
            </a:r>
            <a:r>
              <a:rPr sz="1200" b="0">
                <a:solidFill>
                  <a:srgbClr val="060606"/>
                </a:solidFill>
                <a:latin typeface="Helvetica"/>
              </a:rPr>
              <a:t> Comprendre comment les provisions maladie, décès et retraite sont calculées, validées et comptabilisées.</a:t>
            </a:r>
          </a:p>
          <a:p>
            <a:pPr algn="just">
              <a:spcAft>
                <a:spcPts val="600"/>
              </a:spcAft>
            </a:pPr>
            <a:r>
              <a:rPr sz="1200" b="1">
                <a:solidFill>
                  <a:srgbClr val="060606"/>
                </a:solidFill>
                <a:latin typeface="Helvetica"/>
              </a:rPr>
              <a:t>Méthode.</a:t>
            </a:r>
            <a:r>
              <a:rPr sz="1200" b="0">
                <a:solidFill>
                  <a:srgbClr val="060606"/>
                </a:solidFill>
                <a:latin typeface="Helvetica"/>
              </a:rPr>
              <a:t> Chaque déclaration est présentée comme telle et confrontée aux balances des comptes reçues le 15/10/2026. Les documents manquants sont repris dans la demande complémentaire.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</a:t>
            </a:r>
          </a:p>
        </p:txBody>
      </p:sp>
    </p:spTree>
    <p:extLst>
      <p:ext uri="{BB962C8B-B14F-4D97-AF65-F5344CB8AC3E}">
        <p14:creationId xmlns:p14="http://schemas.microsoft.com/office/powerpoint/2010/main" val="7757717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Provisions maladie et montants hérités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FPPN ne constitue aucune provision maladie. Les montants au bilan datent de 2004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Maladie 2 867 602 878 FCFA et obsèques 1 961 695 412 FCFA : montants hérités, jamais recalculés selon le chef comptable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(16h) avec M. Koffi, chef comptable ; déclarations à confirmer par document ; balances des comptes du FPPN (Sage 100), 2020 au 31/08/2026, reçues le 15/10/2026 ; traitements Adenka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Provisions : déclarations et balances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181209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72000"/>
                <a:gridCol w="5040000"/>
                <a:gridCol w="4320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Sujet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Déclaration du chef comptable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Ce que montrent les balances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Maladie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Aucune provision : les factures de l'année reçues jusqu'en mars de l'année suivante sont rattachées à l'exercice.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Dettes envers les cliniques (40110000) à chaque clôture (rapport, partie 9).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51482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Montants hérités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Provisions passées vers 2004, avant le PCMS, selon une méthode de l'époque. Plusieurs tentatives d'annulation. Archives perdues lors d'un sinistre en 2010.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Mêmes montants de 2020 au 31/08/2026 : 2 867 602 878 FCFA et 1 961 695 412 FCFA.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Reclassement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Reclassement du compte 19 vers le compte 158 à la demande de l'AIRMS, date non précisée.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Reclassement visible dans la balance 2024.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Gestion du décès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Allocation décès confiée à LMAI, puis à Sanlam, avant le retour en gestion interne, au même barème.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Prime d'assurance (65180000) : 574 393 861 FCFA en 2020, aucune ensuite.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3999" y="3594095"/>
            <a:ext cx="11232000" cy="2273904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100" b="1">
                <a:solidFill>
                  <a:srgbClr val="060606"/>
                </a:solidFill>
                <a:latin typeface="Helvetica"/>
              </a:rPr>
              <a:t>Les provisions au bilan ne sont pas des estimations : ce sont des montants hérités que personne ne sait plus justifier.</a:t>
            </a:r>
            <a:r>
              <a:rPr sz="1100" b="0">
                <a:solidFill>
                  <a:srgbClr val="060606"/>
                </a:solidFill>
                <a:latin typeface="Helvetica"/>
              </a:rPr>
              <a:t> Les factures de maladie reçues jusqu'en mars couvrent une partie des soins survenus. Les soins facturés plus tard ne sont couverts par rien.</a:t>
            </a:r>
          </a:p>
          <a:p>
            <a:pPr algn="just">
              <a:spcAft>
                <a:spcPts val="600"/>
              </a:spcAft>
            </a:pPr>
            <a:r>
              <a:rPr sz="1100" b="0">
                <a:solidFill>
                  <a:srgbClr val="060606"/>
                </a:solidFill>
                <a:latin typeface="Helvetica"/>
              </a:rPr>
              <a:t>Le recalcul des provisions selon le règlement d'exécution n° 004/2022 (art. 10) suppose la base des prestations avec les dates de soins et de déclaration.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AIRMS : Agence ivoirienne de régulation de la mutualité sociale | PCMS : plan comptable des mutuelles sociales</a:t>
            </a:r>
          </a:p>
        </p:txBody>
      </p:sp>
    </p:spTree>
    <p:extLst>
      <p:ext uri="{BB962C8B-B14F-4D97-AF65-F5344CB8AC3E}">
        <p14:creationId xmlns:p14="http://schemas.microsoft.com/office/powerpoint/2010/main" val="375286933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Allocations décès en fin d'année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calcul part de la liste des décès transmise par la direction du personnel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Les dossiers non payés sont valorisés au barème par grade. Le compte où ce montant est passé reste à préciser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(16h) avec M. Koffi, chef comptable ; déclarations à confirmer par document</a:t>
            </a:r>
          </a:p>
        </p:txBody>
      </p:sp>
      <p:sp>
        <p:nvSpPr>
          <p:cNvPr id="31" name="Logigramme d1"/>
          <p:cNvSpPr/>
          <p:nvPr/>
        </p:nvSpPr>
        <p:spPr>
          <a:xfrm>
            <a:off x="576000" y="1655999"/>
            <a:ext cx="1296000" cy="576000"/>
          </a:xfrm>
          <a:prstGeom prst="flowChartTerminator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Liste des décès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(direction du personnel)</a:t>
            </a:r>
          </a:p>
        </p:txBody>
      </p:sp>
      <p:sp>
        <p:nvSpPr>
          <p:cNvPr id="32" name="Logigramme d2"/>
          <p:cNvSpPr/>
          <p:nvPr/>
        </p:nvSpPr>
        <p:spPr>
          <a:xfrm>
            <a:off x="2178000" y="1655999"/>
            <a:ext cx="1296000" cy="57600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11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900" b="1">
                <a:solidFill>
                  <a:srgbClr val="060606"/>
                </a:solidFill>
                <a:latin typeface="Helvetica"/>
              </a:rPr>
              <a:t>Informaticien :</a:t>
            </a:r>
          </a:p>
          <a:p>
            <a:pPr algn="ctr"/>
            <a:r>
              <a:rPr sz="900" b="0">
                <a:solidFill>
                  <a:srgbClr val="060606"/>
                </a:solidFill>
                <a:latin typeface="Helvetica"/>
              </a:rPr>
              <a:t>arrêt du précompte</a:t>
            </a:r>
          </a:p>
        </p:txBody>
      </p:sp>
      <p:sp>
        <p:nvSpPr>
          <p:cNvPr id="33" name="Logigramme d3"/>
          <p:cNvSpPr/>
          <p:nvPr/>
        </p:nvSpPr>
        <p:spPr>
          <a:xfrm>
            <a:off x="3780000" y="1655999"/>
            <a:ext cx="1296000" cy="576000"/>
          </a:xfrm>
          <a:prstGeom prst="flowChartDocument">
            <a:avLst/>
          </a:prstGeom>
          <a:solidFill>
            <a:srgbClr val="F2F2F2"/>
          </a:solidFill>
          <a:ln w="15875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900" b="1">
                <a:solidFill>
                  <a:srgbClr val="060606"/>
                </a:solidFill>
                <a:latin typeface="Helvetica"/>
              </a:rPr>
              <a:t>Liste annuelle</a:t>
            </a:r>
          </a:p>
          <a:p>
            <a:pPr algn="ctr"/>
            <a:r>
              <a:rPr sz="900" b="0">
                <a:solidFill>
                  <a:srgbClr val="060606"/>
                </a:solidFill>
                <a:latin typeface="Helvetica"/>
              </a:rPr>
              <a:t>au chef comptable</a:t>
            </a:r>
          </a:p>
        </p:txBody>
      </p:sp>
      <p:sp>
        <p:nvSpPr>
          <p:cNvPr id="34" name="Logigramme d4"/>
          <p:cNvSpPr/>
          <p:nvPr/>
        </p:nvSpPr>
        <p:spPr>
          <a:xfrm>
            <a:off x="5382000" y="1655999"/>
            <a:ext cx="1296000" cy="57600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11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900" b="1">
                <a:solidFill>
                  <a:srgbClr val="060606"/>
                </a:solidFill>
                <a:latin typeface="Helvetica"/>
              </a:rPr>
              <a:t>Pointage avec les</a:t>
            </a:r>
          </a:p>
          <a:p>
            <a:pPr algn="ctr"/>
            <a:r>
              <a:rPr sz="900" b="0">
                <a:solidFill>
                  <a:srgbClr val="060606"/>
                </a:solidFill>
                <a:latin typeface="Helvetica"/>
              </a:rPr>
              <a:t>allocations payées</a:t>
            </a:r>
          </a:p>
        </p:txBody>
      </p:sp>
      <p:sp>
        <p:nvSpPr>
          <p:cNvPr id="35" name="Logigramme d5"/>
          <p:cNvSpPr/>
          <p:nvPr/>
        </p:nvSpPr>
        <p:spPr>
          <a:xfrm>
            <a:off x="6984000" y="1601999"/>
            <a:ext cx="1296000" cy="684000"/>
          </a:xfrm>
          <a:prstGeom prst="flowChartDecision">
            <a:avLst/>
          </a:prstGeom>
          <a:solidFill>
            <a:srgbClr val="EFA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060606"/>
                </a:solidFill>
                <a:latin typeface="Helvetica"/>
              </a:rPr>
              <a:t>Allocation</a:t>
            </a:r>
          </a:p>
          <a:p>
            <a:pPr algn="ctr"/>
            <a:r>
              <a:rPr sz="850" b="0">
                <a:solidFill>
                  <a:srgbClr val="060606"/>
                </a:solidFill>
                <a:latin typeface="Helvetica"/>
              </a:rPr>
              <a:t>payée ?</a:t>
            </a:r>
          </a:p>
        </p:txBody>
      </p:sp>
      <p:sp>
        <p:nvSpPr>
          <p:cNvPr id="36" name="Logigramme d6"/>
          <p:cNvSpPr/>
          <p:nvPr/>
        </p:nvSpPr>
        <p:spPr>
          <a:xfrm>
            <a:off x="8586000" y="1655999"/>
            <a:ext cx="1296000" cy="576000"/>
          </a:xfrm>
          <a:prstGeom prst="flowChartTerminator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Charge de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l'exercice</a:t>
            </a:r>
          </a:p>
        </p:txBody>
      </p:sp>
      <p:sp>
        <p:nvSpPr>
          <p:cNvPr id="37" name="Logigramme d7"/>
          <p:cNvSpPr/>
          <p:nvPr/>
        </p:nvSpPr>
        <p:spPr>
          <a:xfrm>
            <a:off x="6984000" y="2951999"/>
            <a:ext cx="1296000" cy="57600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11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900" b="1">
                <a:solidFill>
                  <a:srgbClr val="060606"/>
                </a:solidFill>
                <a:latin typeface="Helvetica"/>
              </a:rPr>
              <a:t>Valorisation au</a:t>
            </a:r>
          </a:p>
          <a:p>
            <a:pPr algn="ctr"/>
            <a:r>
              <a:rPr sz="900" b="0">
                <a:solidFill>
                  <a:srgbClr val="060606"/>
                </a:solidFill>
                <a:latin typeface="Helvetica"/>
              </a:rPr>
              <a:t>barème par grade</a:t>
            </a:r>
          </a:p>
        </p:txBody>
      </p:sp>
      <p:sp>
        <p:nvSpPr>
          <p:cNvPr id="38" name="Logigramme d8"/>
          <p:cNvSpPr/>
          <p:nvPr/>
        </p:nvSpPr>
        <p:spPr>
          <a:xfrm>
            <a:off x="8586000" y="2951999"/>
            <a:ext cx="1296000" cy="5760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900" b="1">
                <a:solidFill>
                  <a:srgbClr val="C00000"/>
                </a:solidFill>
                <a:latin typeface="Helvetica"/>
              </a:rPr>
              <a:t>Compte de la</a:t>
            </a:r>
          </a:p>
          <a:p>
            <a:pPr algn="ctr"/>
            <a:r>
              <a:rPr sz="900" b="1">
                <a:solidFill>
                  <a:srgbClr val="C00000"/>
                </a:solidFill>
                <a:latin typeface="Helvetica"/>
              </a:rPr>
              <a:t>provision à préciser</a:t>
            </a:r>
          </a:p>
        </p:txBody>
      </p:sp>
      <p:sp>
        <p:nvSpPr>
          <p:cNvPr id="39" name="Logigramme d9"/>
          <p:cNvSpPr/>
          <p:nvPr/>
        </p:nvSpPr>
        <p:spPr>
          <a:xfrm>
            <a:off x="576000" y="2951999"/>
            <a:ext cx="1296000" cy="5760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900" b="1">
                <a:solidFill>
                  <a:srgbClr val="C00000"/>
                </a:solidFill>
                <a:latin typeface="Helvetica"/>
              </a:rPr>
              <a:t>Décès d'ayants droit</a:t>
            </a:r>
          </a:p>
          <a:p>
            <a:pPr algn="ctr"/>
            <a:r>
              <a:rPr sz="900" b="1">
                <a:solidFill>
                  <a:srgbClr val="C00000"/>
                </a:solidFill>
                <a:latin typeface="Helvetica"/>
              </a:rPr>
              <a:t>non déclarés</a:t>
            </a:r>
          </a:p>
        </p:txBody>
      </p:sp>
      <p:cxnSp>
        <p:nvCxnSpPr>
          <p:cNvPr id="40" name="Flèche d1 vers d2"/>
          <p:cNvCxnSpPr>
            <a:stCxn id="31" idx="3"/>
            <a:endCxn id="32" idx="1"/>
          </p:cNvCxnSpPr>
          <p:nvPr/>
        </p:nvCxnSpPr>
        <p:spPr>
          <a:xfrm flipV="1">
            <a:off x="1872000" y="1943999"/>
            <a:ext cx="306000" cy="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èche d2 vers d3"/>
          <p:cNvCxnSpPr>
            <a:stCxn id="32" idx="3"/>
            <a:endCxn id="33" idx="1"/>
          </p:cNvCxnSpPr>
          <p:nvPr/>
        </p:nvCxnSpPr>
        <p:spPr>
          <a:xfrm flipV="1">
            <a:off x="3474000" y="1943999"/>
            <a:ext cx="306000" cy="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Flèche d3 vers d4"/>
          <p:cNvCxnSpPr>
            <a:stCxn id="33" idx="3"/>
            <a:endCxn id="34" idx="1"/>
          </p:cNvCxnSpPr>
          <p:nvPr/>
        </p:nvCxnSpPr>
        <p:spPr>
          <a:xfrm flipV="1">
            <a:off x="5076000" y="1943999"/>
            <a:ext cx="306000" cy="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Flèche d4 vers d5"/>
          <p:cNvCxnSpPr>
            <a:stCxn id="34" idx="3"/>
            <a:endCxn id="35" idx="1"/>
          </p:cNvCxnSpPr>
          <p:nvPr/>
        </p:nvCxnSpPr>
        <p:spPr>
          <a:xfrm flipV="1">
            <a:off x="6678000" y="1943999"/>
            <a:ext cx="306000" cy="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Flèche d5 vers d6"/>
          <p:cNvCxnSpPr>
            <a:stCxn id="35" idx="3"/>
            <a:endCxn id="36" idx="1"/>
          </p:cNvCxnSpPr>
          <p:nvPr/>
        </p:nvCxnSpPr>
        <p:spPr>
          <a:xfrm flipV="1">
            <a:off x="8280000" y="1943999"/>
            <a:ext cx="306000" cy="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323200" y="1763998"/>
            <a:ext cx="864000" cy="162000"/>
          </a:xfrm>
          <a:prstGeom prst="rect">
            <a:avLst/>
          </a:prstGeom>
          <a:noFill/>
        </p:spPr>
        <p:txBody>
          <a:bodyPr wrap="square" anchor="t" lIns="28800" rIns="28800" tIns="10800" bIns="10800">
            <a:spAutoFit/>
          </a:bodyPr>
          <a:lstStyle/>
          <a:p>
            <a:pPr algn="l"/>
            <a:r>
              <a:rPr sz="750" b="1">
                <a:solidFill>
                  <a:srgbClr val="53565A"/>
                </a:solidFill>
                <a:latin typeface="Helvetica"/>
              </a:rPr>
              <a:t>oui</a:t>
            </a:r>
          </a:p>
        </p:txBody>
      </p:sp>
      <p:cxnSp>
        <p:nvCxnSpPr>
          <p:cNvPr id="46" name="Flèche d5 vers d7"/>
          <p:cNvCxnSpPr>
            <a:stCxn id="35" idx="2"/>
            <a:endCxn id="37" idx="0"/>
          </p:cNvCxnSpPr>
          <p:nvPr/>
        </p:nvCxnSpPr>
        <p:spPr>
          <a:xfrm flipH="1">
            <a:off x="7632000" y="2285999"/>
            <a:ext cx="0" cy="66600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685999" y="2303999"/>
            <a:ext cx="864000" cy="162000"/>
          </a:xfrm>
          <a:prstGeom prst="rect">
            <a:avLst/>
          </a:prstGeom>
          <a:noFill/>
        </p:spPr>
        <p:txBody>
          <a:bodyPr wrap="square" anchor="t" lIns="28800" rIns="28800" tIns="10800" bIns="10800">
            <a:spAutoFit/>
          </a:bodyPr>
          <a:lstStyle/>
          <a:p>
            <a:pPr algn="l"/>
            <a:r>
              <a:rPr sz="750" b="1">
                <a:solidFill>
                  <a:srgbClr val="53565A"/>
                </a:solidFill>
                <a:latin typeface="Helvetica"/>
              </a:rPr>
              <a:t>non</a:t>
            </a:r>
          </a:p>
        </p:txBody>
      </p:sp>
      <p:cxnSp>
        <p:nvCxnSpPr>
          <p:cNvPr id="48" name="Flèche d7 vers d8"/>
          <p:cNvCxnSpPr>
            <a:stCxn id="37" idx="3"/>
            <a:endCxn id="38" idx="1"/>
          </p:cNvCxnSpPr>
          <p:nvPr/>
        </p:nvCxnSpPr>
        <p:spPr>
          <a:xfrm flipV="1">
            <a:off x="8280000" y="3239999"/>
            <a:ext cx="306000" cy="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Flèche d1 vers d9"/>
          <p:cNvCxnSpPr>
            <a:stCxn id="31" idx="2"/>
            <a:endCxn id="39" idx="0"/>
          </p:cNvCxnSpPr>
          <p:nvPr/>
        </p:nvCxnSpPr>
        <p:spPr>
          <a:xfrm flipH="1">
            <a:off x="1224000" y="2231999"/>
            <a:ext cx="0" cy="720000"/>
          </a:xfrm>
          <a:prstGeom prst="line">
            <a:avLst/>
          </a:prstGeom>
          <a:ln w="22225">
            <a:solidFill>
              <a:srgbClr val="5356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78000" y="2249999"/>
            <a:ext cx="864000" cy="162000"/>
          </a:xfrm>
          <a:prstGeom prst="rect">
            <a:avLst/>
          </a:prstGeom>
          <a:noFill/>
        </p:spPr>
        <p:txBody>
          <a:bodyPr wrap="square" anchor="t" lIns="28800" rIns="28800" tIns="10800" bIns="10800">
            <a:spAutoFit/>
          </a:bodyPr>
          <a:lstStyle/>
          <a:p>
            <a:pPr algn="l"/>
            <a:r>
              <a:rPr sz="750" b="1">
                <a:solidFill>
                  <a:srgbClr val="53565A"/>
                </a:solidFill>
                <a:latin typeface="Helvetica"/>
              </a:rPr>
              <a:t>hors liste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3999" y="3816000"/>
            <a:ext cx="11232000" cy="2052000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100" b="1">
                <a:solidFill>
                  <a:srgbClr val="060606"/>
                </a:solidFill>
                <a:latin typeface="Helvetica"/>
              </a:rPr>
              <a:t>Chaque mois, l'informaticien reçoit la liste des policiers décédés, pour arrêter leurs précomptes.</a:t>
            </a:r>
            <a:r>
              <a:rPr sz="1100" b="0">
                <a:solidFill>
                  <a:srgbClr val="060606"/>
                </a:solidFill>
                <a:latin typeface="Helvetica"/>
              </a:rPr>
              <a:t> En fin d'année, le chef comptable la rapproche des allocations payées. Les dossiers restants sont valorisés au barème : sous-officier 1 000 000 FCFA, commissaire 2 000 000 FCFA, officier à confirmer.</a:t>
            </a:r>
          </a:p>
          <a:p>
            <a:pPr algn="just">
              <a:spcAft>
                <a:spcPts val="600"/>
              </a:spcAft>
            </a:pPr>
            <a:r>
              <a:rPr sz="1100" b="1">
                <a:solidFill>
                  <a:srgbClr val="060606"/>
                </a:solidFill>
                <a:latin typeface="Helvetica"/>
              </a:rPr>
              <a:t>Les décès de conjoints et d'enfants échappent à cette liste tant qu'ils ne sont pas déclarés.</a:t>
            </a:r>
            <a:r>
              <a:rPr sz="1100" b="0">
                <a:solidFill>
                  <a:srgbClr val="060606"/>
                </a:solidFill>
                <a:latin typeface="Helvetica"/>
              </a:rPr>
              <a:t> Ils forment une part des sinistres tardifs, à estimer avec la méthode retenue pour la provision.</a:t>
            </a:r>
          </a:p>
          <a:p>
            <a:pPr algn="just">
              <a:spcAft>
                <a:spcPts val="600"/>
              </a:spcAft>
            </a:pPr>
            <a:r>
              <a:rPr sz="1100" b="0">
                <a:solidFill>
                  <a:srgbClr val="060606"/>
                </a:solidFill>
                <a:latin typeface="Helvetica"/>
              </a:rPr>
              <a:t>Le seul compte de provision décès des balances (15802000) ne bouge pas : il faut savoir où ce calcul annuel est comptabilisé.</a:t>
            </a:r>
          </a:p>
        </p:txBody>
      </p:sp>
    </p:spTree>
    <p:extLst>
      <p:ext uri="{BB962C8B-B14F-4D97-AF65-F5344CB8AC3E}">
        <p14:creationId xmlns:p14="http://schemas.microsoft.com/office/powerpoint/2010/main" val="77014126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Départ à la retraite du personnel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 provision suit la convention collective, à l'ancienneté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Provision au compte 196 : 24 155 943 FCFA en 2020, 43 666 678 FCFA en 2025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(16h) avec M. Koffi, chef comptable ; déclarations à confirmer par document ; balances des comptes du FPPN (Sage 100), 2020 au 31/08/2026, reçues le 15/10/2026 ; traitements Adenka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Éléments de calcul de la provision pour départ à la retraite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1774883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20000"/>
                <a:gridCol w="5472000"/>
                <a:gridCol w="3240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Élément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Valeur ou déclaration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Source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Barème de l'indemnité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Pourcentage du salaire mensuel par année d'ancienneté, selon la convention collective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Chef comptable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Charges fiscales patronales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2,80 % : IS 1,20 %, FDFP 0,40 % et 1,20 %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Note de taux Adenka (source à préciser)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Retraite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7,70 %, plafonné à 3 375 000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Note de taux Adenka (source à préciser)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Prestations familiales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5,75 %, plafonné à 75 000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Note de taux Adenka (source à préciser)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Risques professionnels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2 % au FPPN (3 % dans la note de taux), plafonné à 75 000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Chef comptable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Documents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Notification du taux de risques professionnels, déclarations CNPS, fichier de calcul 2020 à 2026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Demandés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3999" y="3556886"/>
            <a:ext cx="11232000" cy="2311113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100" b="1">
                <a:solidFill>
                  <a:srgbClr val="060606"/>
                </a:solidFill>
                <a:latin typeface="Helvetica"/>
              </a:rPr>
              <a:t>Selon la description, la méthode du FPPN applique la convention collective à l'ancienneté acquise.</a:t>
            </a:r>
            <a:r>
              <a:rPr sz="1100" b="0">
                <a:solidFill>
                  <a:srgbClr val="060606"/>
                </a:solidFill>
                <a:latin typeface="Helvetica"/>
              </a:rPr>
              <a:t> Elle ne mentionne ni la probabilité d'être présent au départ, ni l'actualisation, que prévoit la méthode actuarielle des unités de crédit projetées.</a:t>
            </a:r>
          </a:p>
          <a:p>
            <a:pPr algn="just">
              <a:spcAft>
                <a:spcPts val="600"/>
              </a:spcAft>
            </a:pPr>
            <a:r>
              <a:rPr sz="1100" b="0">
                <a:solidFill>
                  <a:srgbClr val="060606"/>
                </a:solidFill>
                <a:latin typeface="Helvetica"/>
              </a:rPr>
              <a:t>Le recalcul attend le fichier du personnel et le fichier de calcul du FPPN.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CNPS : Caisse nationale de prévoyance sociale | IS : impôt sur les salaires (part patronale) | FDFP : Fonds de développement de la formation professionnelle</a:t>
            </a:r>
          </a:p>
        </p:txBody>
      </p:sp>
    </p:spTree>
    <p:extLst>
      <p:ext uri="{BB962C8B-B14F-4D97-AF65-F5344CB8AC3E}">
        <p14:creationId xmlns:p14="http://schemas.microsoft.com/office/powerpoint/2010/main" val="21779912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Autres points abordés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Épargne, réserve de réévaluation, Grenier et cotisations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Points utiles au rapport, à confirmer par document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(16h) avec M. Koffi, chef comptable ; déclarations à confirmer par 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Autres déclarations du chef comptable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14124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44000"/>
                <a:gridCol w="6696000"/>
                <a:gridCol w="2592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Sujet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Déclaration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Suite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Taux servi sur l'épargne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3,5 % par an sur le PEP et l'EFC.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Décision fixant le taux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Compte 10620000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Réévaluation du terrain du siège par un expert.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Rapport de réévaluation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Clé de répartition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3,5 % maladie et 1,5 % décès, sans document qui la fixe.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Barème officiel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Grenier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Comptabilité propre dans un logiciel de microfinance. Lien avec le FPPN par un compte 47 où sont retracées les charges payées pour lui depuis novembre 2021.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Comptes du Grenier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Arriérés du Trésor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Virements parfois partiels. Le reste peut tarder.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État des arriérés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3999" y="3194467"/>
            <a:ext cx="11232000" cy="2673532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200" b="1">
                <a:solidFill>
                  <a:srgbClr val="060606"/>
                </a:solidFill>
                <a:latin typeface="Helvetica"/>
              </a:rPr>
              <a:t>Le taux de 3,5 % servi sur l'épargne est un engagement de rendement.</a:t>
            </a:r>
            <a:r>
              <a:rPr sz="1200" b="0">
                <a:solidFill>
                  <a:srgbClr val="060606"/>
                </a:solidFill>
                <a:latin typeface="Helvetica"/>
              </a:rPr>
              <a:t> Il doit être couvert par les produits des placements, ce que le rapport mesurera.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PEP : Plan Épargne Plus | EFC : entraide fin de carrière</a:t>
            </a:r>
          </a:p>
        </p:txBody>
      </p:sp>
    </p:spTree>
    <p:extLst>
      <p:ext uri="{BB962C8B-B14F-4D97-AF65-F5344CB8AC3E}">
        <p14:creationId xmlns:p14="http://schemas.microsoft.com/office/powerpoint/2010/main" val="367311287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Documents et points d'attention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provisions héritées ne peuvent être justifiées que par des documents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Les documents demandés sont repris dans la demande complémentaire (items 92 et suivants)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(16h) avec M. Koffi, chef comptable ; déclarations à confirmer par 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Documents demandés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14124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60000"/>
                <a:gridCol w="6552000"/>
                <a:gridCol w="2520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Sujet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Document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Suite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Décès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Fichier des décès de l'année et calcul des allocations restant à payer. Barème des allocations par grade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items 92 et 93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Gestion déléguée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Contrats avec LMAI et Sanlam, et décomptes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 94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Reclassement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Courrier de l'AIRMS demandant le reclassement en compte 158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 95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Retraite du personnel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Notification du taux de risques professionnels, déclarations CNPS, fichier de calcul 2020 à 2026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items 96 à 98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Épargne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Décision fixant le taux servi de 3,5 %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 99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3999" y="3194467"/>
            <a:ext cx="11232000" cy="2673532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200" b="1">
                <a:solidFill>
                  <a:srgbClr val="060606"/>
                </a:solidFill>
                <a:latin typeface="Helvetica"/>
              </a:rPr>
              <a:t>Le compte où est passé le calcul annuel des allocations décès est la question prioritaire.</a:t>
            </a:r>
            <a:r>
              <a:rPr sz="1200" b="0">
                <a:solidFill>
                  <a:srgbClr val="060606"/>
                </a:solidFill>
                <a:latin typeface="Helvetica"/>
              </a:rPr>
              <a:t> Sans lui, le rapport ne peut pas dire si le FPPN constate ses allocations restant à payer.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AIRMS : Agence ivoirienne de régulation de la mutualité sociale | CNPS : Caisse nationale de prévoyance sociale | PBC : liste des documents demandés au client</a:t>
            </a:r>
          </a:p>
        </p:txBody>
      </p:sp>
    </p:spTree>
    <p:extLst>
      <p:ext uri="{BB962C8B-B14F-4D97-AF65-F5344CB8AC3E}">
        <p14:creationId xmlns:p14="http://schemas.microsoft.com/office/powerpoint/2010/main" val="124454370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67" y="-1240"/>
            <a:ext cx="6858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6045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3" name="Google Shape;138;p25"/>
          <p:cNvSpPr txBox="1"/>
          <p:nvPr/>
        </p:nvSpPr>
        <p:spPr>
          <a:xfrm>
            <a:off x="920037" y="3088600"/>
            <a:ext cx="580097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Merci </a:t>
            </a:r>
          </a:p>
        </p:txBody>
      </p:sp>
    </p:spTree>
    <p:extLst>
      <p:ext uri="{BB962C8B-B14F-4D97-AF65-F5344CB8AC3E}">
        <p14:creationId xmlns:p14="http://schemas.microsoft.com/office/powerpoint/2010/main" val="2116590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16641</Words>
  <Application>Microsoft Office PowerPoint</Application>
  <PresentationFormat>Grand écran</PresentationFormat>
  <Paragraphs>1935</Paragraphs>
  <Slides>8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Adenka Consulting</dc:creator>
  <cp:lastModifiedBy>Adenka Consulting</cp:lastModifiedBy>
  <cp:revision>1</cp:revision>
  <dcterms:created xsi:type="dcterms:W3CDTF">2025-10-22T15:02:15Z</dcterms:created>
  <dcterms:modified xsi:type="dcterms:W3CDTF">2026-09-23T09:25:57Z</dcterms:modified>
  <dc:subject/>
  <cp:keywords/>
  <dc:description/>
</cp:coreProperties>
</file>